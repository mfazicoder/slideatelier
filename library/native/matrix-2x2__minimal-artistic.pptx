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767809" y="685800"/>
            <a:ext cx="4602358" cy="2468880"/>
          </a:xfrm>
          <a:prstGeom prst="rect">
            <a:avLst/>
          </a:prstGeom>
          <a:solidFill>
            <a:srgbClr val="FAF7F2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101600" rIns="101600" bIns="101600"/>
          <a:lstStyle/>
          <a:p>
            <a:pPr algn="ctr"/>
            <a:r>
              <a:rPr sz="1300">
                <a:solidFill>
                  <a:srgbClr val="1A1A1A"/>
                </a:solidFill>
                <a:latin typeface="Fraunces"/>
              </a:rPr>
              <a:t>Low / 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370167" y="685800"/>
            <a:ext cx="4602358" cy="2468880"/>
          </a:xfrm>
          <a:prstGeom prst="rect">
            <a:avLst/>
          </a:prstGeom>
          <a:solidFill>
            <a:srgbClr val="ECECEC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101600" rIns="101600" bIns="101600"/>
          <a:lstStyle/>
          <a:p>
            <a:pPr algn="ctr"/>
            <a:r>
              <a:rPr sz="1300">
                <a:solidFill>
                  <a:srgbClr val="1A1A1A"/>
                </a:solidFill>
                <a:latin typeface="Fraunces"/>
              </a:rPr>
              <a:t>High / 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1767809" y="3154680"/>
            <a:ext cx="4602358" cy="2468880"/>
          </a:xfrm>
          <a:prstGeom prst="rect">
            <a:avLst/>
          </a:prstGeom>
          <a:solidFill>
            <a:srgbClr val="ECECEC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101600" rIns="101600" bIns="101600"/>
          <a:lstStyle/>
          <a:p>
            <a:pPr algn="ctr"/>
            <a:r>
              <a:rPr sz="1300">
                <a:solidFill>
                  <a:srgbClr val="1A1A1A"/>
                </a:solidFill>
                <a:latin typeface="Fraunces"/>
              </a:rPr>
              <a:t>Low / High</a:t>
            </a:r>
          </a:p>
        </p:txBody>
      </p:sp>
      <p:sp>
        <p:nvSpPr>
          <p:cNvPr id="5" name="Rectangle 4"/>
          <p:cNvSpPr/>
          <p:nvPr/>
        </p:nvSpPr>
        <p:spPr>
          <a:xfrm>
            <a:off x="6370167" y="3154680"/>
            <a:ext cx="4602358" cy="2468880"/>
          </a:xfrm>
          <a:prstGeom prst="rect">
            <a:avLst/>
          </a:prstGeom>
          <a:solidFill>
            <a:srgbClr val="1A1A1A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101600" rIns="101600" bIns="101600"/>
          <a:lstStyle/>
          <a:p>
            <a:pPr algn="ctr"/>
            <a:r>
              <a:rPr sz="1300">
                <a:solidFill>
                  <a:srgbClr val="FAF7F2"/>
                </a:solidFill>
                <a:latin typeface="Fraunces"/>
              </a:rPr>
              <a:t>High / High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169" y="685800"/>
            <a:ext cx="548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737373"/>
                </a:solidFill>
                <a:latin typeface="Inter"/>
              </a:rPr>
              <a:t>Y axis 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7809" y="5623560"/>
            <a:ext cx="920471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37373"/>
                </a:solidFill>
                <a:latin typeface="Inter"/>
              </a:rPr>
              <a:t>X axis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