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Sprint base</c:v>
                </c:pt>
              </c:strCache>
            </c:strRef>
          </c:tx>
          <c:spPr>
            <a:solidFill>
              <a:srgbClr val="4F46E5"/>
            </a:solidFill>
            <a:ln w="38100" cap="flat">
              <a:solidFill>
                <a:srgbClr val="4F46E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4F46E5"/>
              </a:solidFill>
              <a:ln w="9525" cap="flat">
                <a:solidFill>
                  <a:srgbClr val="4F46E5"/>
                </a:solidFill>
                <a:prstDash val="solid"/>
                <a:round/>
              </a:ln>
              <a:effectLst/>
            </c:spPr>
          </c:marker>
          <c:cat>
            <c:multiLvlStrRef>
              <c:f>Sheet1!$A$2:$A$9</c:f>
              <c:multiLvlStrCache>
                <c:ptCount val="8"/>
                <c:lvl>
                  <c:pt idx="0">
                    <c:v>M0</c:v>
                  </c:pt>
                  <c:pt idx="1">
                    <c:v>M2</c:v>
                  </c:pt>
                  <c:pt idx="2">
                    <c:v>M4</c:v>
                  </c:pt>
                  <c:pt idx="3">
                    <c:v>M6</c:v>
                  </c:pt>
                  <c:pt idx="4">
                    <c:v>M9</c:v>
                  </c:pt>
                  <c:pt idx="5">
                    <c:v>M12</c:v>
                  </c:pt>
                  <c:pt idx="6">
                    <c:v>M15</c:v>
                  </c:pt>
                  <c:pt idx="7">
                    <c:v>M18</c:v>
                  </c:pt>
                </c:lvl>
              </c:multiLvlStrCache>
            </c:multiLvlStrRef>
          </c:cat>
          <c:val>
            <c:numRef>
              <c:f>Sheet1!$B$2:$B$9</c:f>
              <c:numCache>
                <c:formatCode>General</c:formatCode>
                <c:ptCount val="8"/>
                <c:pt idx="0">
                  <c:v>0</c:v>
                </c:pt>
                <c:pt idx="1">
                  <c:v>5</c:v>
                </c:pt>
                <c:pt idx="2">
                  <c:v>15</c:v>
                </c:pt>
                <c:pt idx="3">
                  <c:v>35</c:v>
                </c:pt>
                <c:pt idx="4">
                  <c:v>60</c:v>
                </c:pt>
                <c:pt idx="5">
                  <c:v>90</c:v>
                </c:pt>
                <c:pt idx="6">
                  <c:v>115</c:v>
                </c:pt>
                <c:pt idx="7">
                  <c:v>135</c:v>
                </c:pt>
              </c:numCache>
            </c:numRef>
          </c:val>
          <c:smooth val="0"/>
        </c:ser>
        <c:ser>
          <c:idx val="1"/>
          <c:order val="1"/>
          <c:tx>
            <c:strRef>
              <c:f>Sheet1!$C$1</c:f>
              <c:strCache>
                <c:ptCount val="1"/>
                <c:pt idx="0">
                  <c:v>Sprint upside</c:v>
                </c:pt>
              </c:strCache>
            </c:strRef>
          </c:tx>
          <c:spPr>
            <a:solidFill>
              <a:srgbClr val="F59E0B"/>
            </a:solidFill>
            <a:ln w="38100" cap="flat">
              <a:solidFill>
                <a:srgbClr val="F59E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F59E0B"/>
              </a:solidFill>
              <a:ln w="9525" cap="flat">
                <a:solidFill>
                  <a:srgbClr val="F59E0B"/>
                </a:solidFill>
                <a:prstDash val="solid"/>
                <a:round/>
              </a:ln>
              <a:effectLst/>
            </c:spPr>
          </c:marker>
          <c:cat>
            <c:multiLvlStrRef>
              <c:f>Sheet1!$A$2:$A$9</c:f>
              <c:multiLvlStrCache>
                <c:ptCount val="8"/>
                <c:lvl>
                  <c:pt idx="0">
                    <c:v>M0</c:v>
                  </c:pt>
                  <c:pt idx="1">
                    <c:v>M2</c:v>
                  </c:pt>
                  <c:pt idx="2">
                    <c:v>M4</c:v>
                  </c:pt>
                  <c:pt idx="3">
                    <c:v>M6</c:v>
                  </c:pt>
                  <c:pt idx="4">
                    <c:v>M9</c:v>
                  </c:pt>
                  <c:pt idx="5">
                    <c:v>M12</c:v>
                  </c:pt>
                  <c:pt idx="6">
                    <c:v>M15</c:v>
                  </c:pt>
                  <c:pt idx="7">
                    <c:v>M18</c:v>
                  </c:pt>
                </c:lvl>
              </c:multiLvlStrCache>
            </c:multiLvlStrRef>
          </c:cat>
          <c:val>
            <c:numRef>
              <c:f>Sheet1!$C$2:$C$9</c:f>
              <c:numCache>
                <c:formatCode>General</c:formatCode>
                <c:ptCount val="8"/>
                <c:pt idx="0">
                  <c:v>0</c:v>
                </c:pt>
                <c:pt idx="1">
                  <c:v>8</c:v>
                </c:pt>
                <c:pt idx="2">
                  <c:v>30</c:v>
                </c:pt>
                <c:pt idx="3">
                  <c:v>80</c:v>
                </c:pt>
                <c:pt idx="4">
                  <c:v>150</c:v>
                </c:pt>
                <c:pt idx="5">
                  <c:v>240</c:v>
                </c:pt>
                <c:pt idx="6">
                  <c:v>320</c:v>
                </c:pt>
                <c:pt idx="7">
                  <c:v>380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64748B"/>
                    </a:solidFill>
                    <a:latin typeface="JetBrains Mono"/>
                  </a:defRPr>
                </a:pPr>
                <a:r>
                  <a:rPr sz="1000" b="0" i="0" u="none" strike="noStrike">
                    <a:solidFill>
                      <a:srgbClr val="64748B"/>
                    </a:solidFill>
                    <a:latin typeface="JetBrains Mono"/>
                  </a:rPr>
                  <a:t>Months from launch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JetBrains Mono"/>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title>
          <c:tx>
            <c:rich>
              <a:bodyPr/>
              <a:lstStyle/>
              <a:p>
                <a:pPr>
                  <a:defRPr sz="1000" b="0" i="0" u="none" strike="noStrike">
                    <a:solidFill>
                      <a:srgbClr val="64748B"/>
                    </a:solidFill>
                    <a:latin typeface="JetBrains Mono"/>
                  </a:defRPr>
                </a:pPr>
                <a:r>
                  <a:rPr sz="1000" b="0" i="0" u="none" strike="noStrike">
                    <a:solidFill>
                      <a:srgbClr val="64748B"/>
                    </a:solidFill>
                    <a:latin typeface="JetBrains Mono"/>
                  </a:rPr>
                  <a:t>MRR (£K)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JetBrains Mono"/>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100">
              <a:solidFill>
                <a:srgbClr val="1E293B"/>
              </a:solidFill>
              <a:latin typeface="Inter"/>
              <a:cs typeface="Inter"/>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Hatchik is the production substrate AI coding tools (Claude Code, Cursor, Windsurf) build on. Operating entity is a registered Omani company; payments handled by Paddle as merchant of record. Deck doubles as investor pitch and partner/customer collateral. Founder is Farhan Irshad.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personas pulled from the marketing site (hatchik.com): PT building meal-prep, consultant building framework demo, designer building tool-they-always-wanted. Each gets to ‘looks working’ then plateaus on infrastructure. The plateau is the wedge.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Sandbox is fully automated by sandbox-orchestrator/provision.py — 9-container compose stack per tenant, per-tenant GitHub repo with deploy token, push-to-redeploy webhook plus direct curl-by-AI redeploy endpoint. Source of truth: FIRST_CUSTOMER_RUNBOOK.md.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vs the original deck: the prior version cited Cursor / Copilot / Claude Code paid-user counts. Those numbers are still true, but they understate the shape of the curve. Cursor went 0 → 1M+ paid in ~24 months. Lovable went 0 → $5M MRR in ~12. Bolt 0 → 1M users in &lt;12. These are sprint trajectories, not steady-state SaaS. The right Hatchik plan rides that shape, not a 3-year orderly buildout.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screens from the production marketing site (/start wizard) and orchestrator. Substituted clean mockups here to keep the deck legible at email-thumbnail size. Live demo: hatchik.com  →  /start  →  end-to-end in under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here ships in the substrate template that every tenant boots with. Mailboxes are Launch-tier (Infomaniak); mobile builds are unsigned IPA/APK via GitHub Actions, customer brings their own Apple Developer / Android keystore secrets to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and SAM unchanged — those were market sizing and still hold. SOM reframed from 3-year scenarios to a 12-18 month sprint window. Sprint base = ~5K paying by month 12 (the original 'Base' number, now hit a year earlier). Sprint upside = ~15K paying by month 18 (between original Base and Aggressive, but compressed). Crucially: SOM at acquisition is not the same number as SOM at steady-state — at month 12-18 an acquirer often values the trajectory, not the run-rate. See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differentiating rows from MARKETING_PLAN §9 / hatchik.com/vs. Hatchik column highlighted in amber. Three rows competitors cannot tick at all: your-existing-AI-tool, take-stack-elsewhere, mobile-builds. MoR billing is also rare in this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differentiators competitors structurally cannot copy quickly: (1) shipping someone else's AI tool would cannibalise their own; (2) giving the customer their repo + VPS undermines their lock-in moat; (3) wiring real prod stack is operational work, not a feature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change vs original deck: Launch £9/mo → £14/mo. Growth £24/mo → £39/mo. Setup fee £79 → £89. Rationale: original was founder-empathy underpricing. Audience is conditioned to $25–100/mo from Cursor Pro ($25), Lovable ($25-100), Replit ($25), Windsurf ($15-60). At £14/mo Launch we sit comfortably below the band as the cheapest production-ready option, while ongoing margin on Growth roughly doubles. Setup bump is mild enough not to add friction Sandbox→Launch.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Reframed from 'four channels' to 'sprint cadence'. Same channels — YouTube creator sponsorships, Reddit, X build-in-public, Product Hunt + Show HN — but phased and 3× more intense than a conservative steady-state plan. Months 2-4 are the hype-injection window. Months 4-6 are word-of-mouth compounding. Month 6 is the decision point: raise pre-seed, signal availability to acquirers, or run lean. Month 9-15 is when you capitalise — either through a major partnership, an exit, or full paid acquisition. Founder must own first ~50 posts personally to seed authenticity — AI-drafted but human-published.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Funnel mechanics unchanged from MARKETING_PLAN §6. Reframe is on urgency: by signup #100 we have real conversion + churn + upgrade numbers. By month 6 we make the raise-or-exit call. LTV and CAC ceiling at the £14/£39 band (MARKETING_PLAN §6 basis): blended LTV ≈ £515, CAC ceiling ~£170 at 3:1 — meaningful unlock for paid acquisition in months 9-15.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replaces the 3-year ARR chart with an MRR-by-month sprint chart. Both scenarios start at zero. Sprint base reaches ~£60K MRR by month 9 and plateaus ~£135K by month 18 — a real business but not on a 'capitalise' trajectory. Sprint upside compounds harder (50%+ MoM through months 2-6) and reaches ~£380K MRR by month 18, the band where pre-seed → seed conversation or acquisition discussions become live. Numbers are projections anchored on Cursor/Lovable/Bolt curves — not forecasts. Real velocity moves these 2-3× in either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Margin reality after the reprice (Launch £9 → £14, Growth £24 → £39) on MARKETING_PLAN §6 cost basis (~£9.60/mo per customer): Launch ongoing margin lifts from ~£0.50/mo to ~£4.40/mo (~£53/yr); Growth from ~£15.50/mo to ~£28.50/mo (~£353/yr) — roughly doubles. Crossed with sprint MRR scenarios from slide 13: Sprint base = ~£1.6M ARR by month 18 (solo founder income); Sprint upside = ~£4.5M ARR by month 18 (acquirable or fundable). Year-1 OPEX ≈£90K decomposed on the slide; EBITDA figures are pre-founder-comp. Sprint base clears £300K+ EBITDA at month 12 with ~5,000 paying. Prior deck's £216K-£1.87M Y3 ARR was on £9/£24, which structurally underpriced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sensitive slide. Framing is deliberate: acquisition is positioned as the most plausible upside path, not as a guarantee. Category precedents are real — Vercel acquired Nuxt Labs and Splitbee; GitHub acquired Copilot-adjacent tools; Anthropic does not yet own a deployment layer for Claude Code, which is exactly the Hatchik wedge. The hypergrowth-raise zone is the second-most-plausible outcome and the natural alternative if acquirer conversations don't land. The lifestyle zone is the floor — described honestly as 'fine consolation outcome', not target. Founder should not promise acquisition in a verbal pitch — frame as 'has happened repeatedly in this category, and we are positioned to be a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maps to a shipped agent / service. Recent commits: lifecycle agent (30-day idle archive + restore), GitHub agent (per-tenant repo + AI-tool handoff), shell agent (one active sandbox per email), status agent (self-hosted status.hatchik.com). All built in ~3 weeks with heavy AI augmentation.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honesty: these are real and known. Each has a concrete mitigation. Hype-window risk is the biggest existential risk in the sprint frame — if a major AI tool vendor ships their own deployment layer in the next 6 months, the wedge tightens. The mitigation is offensive, not defensive: we approach those same vendors as a partnership/acquisition candidate before they build internally. Infrastructure risk is contained by tenant-isolation + scheduled second-region rollout. Mobile signing is intentionally out-of-band — Hatchik never holds signing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12-month sprint capital, not 'runway to year 3'. Suggested band £500K-£1M for 12 months — sized to fund paid acquisition through months 2-9 plus two first hires. Founder fills the final number. Decision point is month 6: do the numbers compound (raise the next round / signal to acquirers), or do they plateau (lifestyle landing zone)? Skip this slide entirely when the deck is being used for partner conversations (Anthropic, Cursor, Windsurf,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Tagline restated. Founder fills personal email + LinkedIn before sending. hello@hatchik.com is monitored. hatchik.com hosts the live wizard, /vs page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828800" y="-1828800"/>
            <a:ext cx="6400800" cy="6400800"/>
          </a:xfrm>
          <a:prstGeom prst="ellipse">
            <a:avLst/>
          </a:prstGeom>
          <a:solidFill>
            <a:srgbClr val="4F46E5">
              <a:alpha val="30000"/>
            </a:srgbClr>
          </a:solidFill>
          <a:ln w="12700">
            <a:solidFill>
              <a:srgbClr val="4F46E5">
                <a:alpha val="0"/>
              </a:srgbClr>
            </a:solidFill>
            <a:prstDash val="solid"/>
          </a:ln>
        </p:spPr>
        <p:txBody>
          <a:bodyPr/>
          <a:p/>
        </p:txBody>
      </p:sp>
      <p:sp>
        <p:nvSpPr>
          <p:cNvPr id="3" name="Shape 1"/>
          <p:cNvSpPr/>
          <p:nvPr/>
        </p:nvSpPr>
        <p:spPr>
          <a:xfrm>
            <a:off x="8534095" y="3200400"/>
            <a:ext cx="6400800" cy="6400800"/>
          </a:xfrm>
          <a:prstGeom prst="ellipse">
            <a:avLst/>
          </a:prstGeom>
          <a:solidFill>
            <a:srgbClr val="F59E0B">
              <a:alpha val="20000"/>
            </a:srgbClr>
          </a:solidFill>
          <a:ln w="12700">
            <a:solidFill>
              <a:srgbClr val="F59E0B">
                <a:alpha val="0"/>
              </a:srgbClr>
            </a:solidFill>
            <a:prstDash val="solid"/>
          </a:ln>
        </p:spPr>
        <p:txBody>
          <a:bodyPr/>
          <a:p/>
        </p:txBody>
      </p:sp>
      <p:sp>
        <p:nvSpPr>
          <p:cNvPr id="4" name="Shape 2"/>
          <p:cNvSpPr/>
          <p:nvPr/>
        </p:nvSpPr>
        <p:spPr>
          <a:xfrm>
            <a:off x="548640" y="502920"/>
            <a:ext cx="201168" cy="201168"/>
          </a:xfrm>
          <a:prstGeom prst="ellipse">
            <a:avLst/>
          </a:prstGeom>
          <a:solidFill>
            <a:srgbClr val="4F46E5"/>
          </a:solidFill>
          <a:ln w="12700">
            <a:solidFill>
              <a:srgbClr val="4F46E5"/>
            </a:solidFill>
            <a:prstDash val="solid"/>
          </a:ln>
        </p:spPr>
        <p:txBody>
          <a:bodyPr/>
          <a:p/>
        </p:txBody>
      </p:sp>
      <p:sp>
        <p:nvSpPr>
          <p:cNvPr id="5" name="Shape 3"/>
          <p:cNvSpPr/>
          <p:nvPr/>
        </p:nvSpPr>
        <p:spPr>
          <a:xfrm>
            <a:off x="694944" y="502920"/>
            <a:ext cx="201168" cy="201168"/>
          </a:xfrm>
          <a:prstGeom prst="ellipse">
            <a:avLst/>
          </a:prstGeom>
          <a:solidFill>
            <a:srgbClr val="F59E0B"/>
          </a:solidFill>
          <a:ln w="12700">
            <a:solidFill>
              <a:srgbClr val="F59E0B"/>
            </a:solidFill>
            <a:prstDash val="solid"/>
          </a:ln>
        </p:spPr>
        <p:txBody>
          <a:bodyPr/>
          <a:p/>
        </p:txBody>
      </p:sp>
      <p:sp>
        <p:nvSpPr>
          <p:cNvPr id="6" name="Text 4"/>
          <p:cNvSpPr/>
          <p:nvPr/>
        </p:nvSpPr>
        <p:spPr>
          <a:xfrm>
            <a:off x="960120" y="466344"/>
            <a:ext cx="1463040" cy="274320"/>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Hatchik</a:t>
            </a:r>
            <a:endParaRPr lang="en-US" sz="1300" dirty="0"/>
          </a:p>
        </p:txBody>
      </p:sp>
      <p:sp>
        <p:nvSpPr>
          <p:cNvPr id="7" name="Text 5"/>
          <p:cNvSpPr/>
          <p:nvPr/>
        </p:nvSpPr>
        <p:spPr>
          <a:xfrm>
            <a:off x="548640" y="2194560"/>
            <a:ext cx="10972800" cy="365760"/>
          </a:xfrm>
          <a:prstGeom prst="rect">
            <a:avLst/>
          </a:prstGeom>
          <a:noFill/>
          <a:ln/>
        </p:spPr>
        <p:txBody>
          <a:bodyPr wrap="square" lIns="0" tIns="0" rIns="0" bIns="0" rtlCol="0" anchor="ctr"/>
          <a:lstStyle/>
          <a:p>
            <a:pPr indent="0" marL="0">
              <a:buNone/>
            </a:pPr>
            <a:r>
              <a:rPr lang="en-US" sz="1200" b="1" spc="600" kern="0" dirty="0">
                <a:solidFill>
                  <a:srgbClr val="A5B4FC"/>
                </a:solidFill>
                <a:latin typeface="JetBrains Mono" pitchFamily="34" charset="0"/>
                <a:ea typeface="JetBrains Mono" pitchFamily="34" charset="-122"/>
                <a:cs typeface="JetBrains Mono" pitchFamily="34" charset="-120"/>
              </a:rPr>
              <a:t>THE PRODUCTION SUBSTRATE FOR AI-BUILT SAAS</a:t>
            </a:r>
            <a:endParaRPr lang="en-US" sz="1200" dirty="0"/>
          </a:p>
        </p:txBody>
      </p:sp>
      <p:sp>
        <p:nvSpPr>
          <p:cNvPr id="8" name="Text 6"/>
          <p:cNvSpPr/>
          <p:nvPr/>
        </p:nvSpPr>
        <p:spPr>
          <a:xfrm>
            <a:off x="548640" y="2606040"/>
            <a:ext cx="10972800" cy="1280160"/>
          </a:xfrm>
          <a:prstGeom prst="rect">
            <a:avLst/>
          </a:prstGeom>
          <a:noFill/>
          <a:ln/>
        </p:spPr>
        <p:txBody>
          <a:bodyPr wrap="square" lIns="0" tIns="0" rIns="0" bIns="0" rtlCol="0" anchor="ctr"/>
          <a:lstStyle/>
          <a:p>
            <a:pPr indent="0" marL="0">
              <a:buNone/>
            </a:pPr>
            <a:r>
              <a:rPr lang="en-US" sz="9600" b="1" dirty="0">
                <a:solidFill>
                  <a:srgbClr val="FFFFFF"/>
                </a:solidFill>
                <a:latin typeface="Inter" pitchFamily="34" charset="0"/>
                <a:ea typeface="Inter" pitchFamily="34" charset="-122"/>
                <a:cs typeface="Inter" pitchFamily="34" charset="-120"/>
              </a:rPr>
              <a:t>Hatchik</a:t>
            </a:r>
            <a:endParaRPr lang="en-US" sz="9600" dirty="0"/>
          </a:p>
        </p:txBody>
      </p:sp>
      <p:sp>
        <p:nvSpPr>
          <p:cNvPr id="9" name="Text 7"/>
          <p:cNvSpPr/>
          <p:nvPr/>
        </p:nvSpPr>
        <p:spPr>
          <a:xfrm>
            <a:off x="548640" y="4069080"/>
            <a:ext cx="10515600" cy="822960"/>
          </a:xfrm>
          <a:prstGeom prst="rect">
            <a:avLst/>
          </a:prstGeom>
          <a:noFill/>
          <a:ln/>
        </p:spPr>
        <p:txBody>
          <a:bodyPr wrap="square" lIns="0" tIns="0" rIns="0" bIns="0" rtlCol="0" anchor="ctr"/>
          <a:lstStyle/>
          <a:p>
            <a:pPr indent="0" marL="0">
              <a:buNone/>
            </a:pPr>
            <a:r>
              <a:rPr lang="en-US" sz="2200" dirty="0">
                <a:solidFill>
                  <a:srgbClr val="FFFFFF"/>
                </a:solidFill>
                <a:latin typeface="Inter" pitchFamily="34" charset="0"/>
                <a:ea typeface="Inter" pitchFamily="34" charset="-122"/>
                <a:cs typeface="Inter" pitchFamily="34" charset="-120"/>
              </a:rPr>
              <a:t>The production substrate your AI coder builds on — </a:t>
            </a:r>
            <a:pPr indent="0" marL="0">
              <a:buNone/>
            </a:pPr>
            <a:r>
              <a:rPr lang="en-US" sz="2200" i="1" dirty="0">
                <a:solidFill>
                  <a:srgbClr val="FCD34D"/>
                </a:solidFill>
                <a:latin typeface="Inter" pitchFamily="34" charset="0"/>
                <a:ea typeface="Inter" pitchFamily="34" charset="-122"/>
                <a:cs typeface="Inter" pitchFamily="34" charset="-120"/>
              </a:rPr>
              <a:t>no platform, no lock-in, no demos.</a:t>
            </a:r>
            <a:endParaRPr lang="en-US" sz="2200" dirty="0"/>
          </a:p>
        </p:txBody>
      </p:sp>
      <p:sp>
        <p:nvSpPr>
          <p:cNvPr id="10" name="Text 8"/>
          <p:cNvSpPr/>
          <p:nvPr/>
        </p:nvSpPr>
        <p:spPr>
          <a:xfrm>
            <a:off x="548640" y="5806440"/>
            <a:ext cx="7315200" cy="640080"/>
          </a:xfrm>
          <a:prstGeom prst="rect">
            <a:avLst/>
          </a:prstGeom>
          <a:noFill/>
          <a:ln/>
        </p:spPr>
        <p:txBody>
          <a:bodyPr wrap="square" lIns="0" tIns="0" rIns="0" bIns="0" rtlCol="0" anchor="ctr"/>
          <a:lstStyle/>
          <a:p>
            <a:pPr indent="0" marL="0">
              <a:buNone/>
            </a:pPr>
            <a:r>
              <a:rPr lang="en-US" sz="1200" b="1" dirty="0">
                <a:solidFill>
                  <a:srgbClr val="FFFFFF"/>
                </a:solidFill>
                <a:latin typeface="Inter" pitchFamily="34" charset="0"/>
                <a:ea typeface="Inter" pitchFamily="34" charset="-122"/>
                <a:cs typeface="Inter" pitchFamily="34" charset="-120"/>
              </a:rPr>
              <a:t>Farhan Irshad</a:t>
            </a:r>
            <a:endParaRPr lang="en-US" sz="1200" dirty="0"/>
          </a:p>
          <a:p>
            <a:pPr indent="0" marL="0">
              <a:buNone/>
            </a:pPr>
            <a:r>
              <a:rPr lang="en-US" sz="1200" dirty="0">
                <a:solidFill>
                  <a:srgbClr val="94A3B8"/>
                </a:solidFill>
                <a:latin typeface="Inter" pitchFamily="34" charset="0"/>
                <a:ea typeface="Inter" pitchFamily="34" charset="-122"/>
                <a:cs typeface="Inter" pitchFamily="34" charset="-120"/>
              </a:rPr>
              <a:t>Founder  ·  Operating entity: Omani-registered company</a:t>
            </a:r>
            <a:endParaRPr lang="en-US" sz="1200" dirty="0"/>
          </a:p>
        </p:txBody>
      </p:sp>
      <p:sp>
        <p:nvSpPr>
          <p:cNvPr id="11" name="Text 9"/>
          <p:cNvSpPr/>
          <p:nvPr/>
        </p:nvSpPr>
        <p:spPr>
          <a:xfrm>
            <a:off x="7985455" y="5989320"/>
            <a:ext cx="3657600" cy="320040"/>
          </a:xfrm>
          <a:prstGeom prst="rect">
            <a:avLst/>
          </a:prstGeom>
          <a:noFill/>
          <a:ln/>
        </p:spPr>
        <p:txBody>
          <a:bodyPr wrap="square" lIns="0" tIns="0" rIns="0" bIns="0" rtlCol="0" anchor="ctr"/>
          <a:lstStyle/>
          <a:p>
            <a:pPr algn="r" indent="0" marL="0">
              <a:buNone/>
            </a:pPr>
            <a:r>
              <a:rPr lang="en-US" sz="1100" dirty="0">
                <a:solidFill>
                  <a:srgbClr val="94A3B8"/>
                </a:solidFill>
                <a:latin typeface="JetBrains Mono" pitchFamily="34" charset="0"/>
                <a:ea typeface="JetBrains Mono" pitchFamily="34" charset="-122"/>
                <a:cs typeface="JetBrains Mono" pitchFamily="34" charset="-120"/>
              </a:rPr>
              <a:t>May 2026  ·  hatchik.com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02  ·  THE PROBLEM</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AI builds the prototype. Then they hit a wall.</a:t>
            </a:r>
            <a:endParaRPr lang="en-US" sz="3000" dirty="0"/>
          </a:p>
        </p:txBody>
      </p:sp>
      <p:sp>
        <p:nvSpPr>
          <p:cNvPr id="4" name="Text 2"/>
          <p:cNvSpPr/>
          <p:nvPr/>
        </p:nvSpPr>
        <p:spPr>
          <a:xfrm>
            <a:off x="548640" y="1828800"/>
            <a:ext cx="10972800" cy="914400"/>
          </a:xfrm>
          <a:prstGeom prst="rect">
            <a:avLst/>
          </a:prstGeom>
          <a:noFill/>
          <a:ln/>
        </p:spPr>
        <p:txBody>
          <a:bodyPr wrap="square" lIns="0" tIns="0" rIns="0" bIns="0" rtlCol="0" anchor="ctr"/>
          <a:lstStyle/>
          <a:p>
            <a:pPr indent="0" marL="0">
              <a:buNone/>
            </a:pPr>
            <a:r>
              <a:rPr lang="en-US" sz="1600" dirty="0">
                <a:solidFill>
                  <a:srgbClr val="475569"/>
                </a:solidFill>
                <a:latin typeface="Inter" pitchFamily="34" charset="0"/>
                <a:ea typeface="Inter" pitchFamily="34" charset="-122"/>
                <a:cs typeface="Inter" pitchFamily="34" charset="-120"/>
              </a:rPr>
              <a:t>Non-technical founders are using AI coding tools to ship working prototypes. Then they get stuck on the infrastructure step — auth, payments, mailboxes, mobile, a real database — and the project quietly dies between “looks working” and “a real business.”</a:t>
            </a:r>
            <a:endParaRPr lang="en-US" sz="1600" dirty="0"/>
          </a:p>
        </p:txBody>
      </p:sp>
      <p:sp>
        <p:nvSpPr>
          <p:cNvPr id="5" name="Shape 3"/>
          <p:cNvSpPr/>
          <p:nvPr/>
        </p:nvSpPr>
        <p:spPr>
          <a:xfrm>
            <a:off x="548640" y="3108960"/>
            <a:ext cx="3611880" cy="2743200"/>
          </a:xfrm>
          <a:prstGeom prst="rect">
            <a:avLst/>
          </a:prstGeom>
          <a:solidFill>
            <a:srgbClr val="FFFFFF"/>
          </a:solidFill>
          <a:ln w="12700">
            <a:solidFill>
              <a:srgbClr val="E2E8F0"/>
            </a:solidFill>
            <a:prstDash val="solid"/>
          </a:ln>
        </p:spPr>
        <p:txBody>
          <a:bodyPr/>
          <a:p/>
        </p:txBody>
      </p:sp>
      <p:sp>
        <p:nvSpPr>
          <p:cNvPr id="6" name="Shape 4"/>
          <p:cNvSpPr/>
          <p:nvPr/>
        </p:nvSpPr>
        <p:spPr>
          <a:xfrm>
            <a:off x="548640" y="3108960"/>
            <a:ext cx="3611880" cy="73152"/>
          </a:xfrm>
          <a:prstGeom prst="rect">
            <a:avLst/>
          </a:prstGeom>
          <a:solidFill>
            <a:srgbClr val="4F46E5"/>
          </a:solidFill>
          <a:ln w="12700">
            <a:solidFill>
              <a:srgbClr val="4F46E5"/>
            </a:solidFill>
            <a:prstDash val="solid"/>
          </a:ln>
        </p:spPr>
        <p:txBody>
          <a:bodyPr/>
          <a:p/>
        </p:txBody>
      </p:sp>
      <p:sp>
        <p:nvSpPr>
          <p:cNvPr id="7" name="Text 5"/>
          <p:cNvSpPr/>
          <p:nvPr/>
        </p:nvSpPr>
        <p:spPr>
          <a:xfrm>
            <a:off x="822960" y="3337560"/>
            <a:ext cx="3063240"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PERSONAL TRAINER</a:t>
            </a:r>
            <a:endParaRPr lang="en-US" sz="900" dirty="0"/>
          </a:p>
        </p:txBody>
      </p:sp>
      <p:sp>
        <p:nvSpPr>
          <p:cNvPr id="8" name="Text 6"/>
          <p:cNvSpPr/>
          <p:nvPr/>
        </p:nvSpPr>
        <p:spPr>
          <a:xfrm>
            <a:off x="822960" y="3657600"/>
            <a:ext cx="3063240" cy="64008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Meal-prep app for PT clients</a:t>
            </a:r>
            <a:endParaRPr lang="en-US" sz="1800" dirty="0"/>
          </a:p>
        </p:txBody>
      </p:sp>
      <p:sp>
        <p:nvSpPr>
          <p:cNvPr id="9" name="Text 7"/>
          <p:cNvSpPr/>
          <p:nvPr/>
        </p:nvSpPr>
        <p:spPr>
          <a:xfrm>
            <a:off x="822960" y="4434840"/>
            <a:ext cx="3063240" cy="228600"/>
          </a:xfrm>
          <a:prstGeom prst="rect">
            <a:avLst/>
          </a:prstGeom>
          <a:noFill/>
          <a:ln/>
        </p:spPr>
        <p:txBody>
          <a:bodyPr wrap="square" lIns="0" tIns="0" rIns="0" bIns="0" rtlCol="0" anchor="ctr"/>
          <a:lstStyle/>
          <a:p>
            <a:pPr indent="0" marL="0">
              <a:buNone/>
            </a:pPr>
            <a:r>
              <a:rPr lang="en-US" sz="800" b="1" spc="400" kern="0" dirty="0">
                <a:solidFill>
                  <a:srgbClr val="64748B"/>
                </a:solidFill>
                <a:latin typeface="JetBrains Mono" pitchFamily="34" charset="0"/>
                <a:ea typeface="JetBrains Mono" pitchFamily="34" charset="-122"/>
                <a:cs typeface="JetBrains Mono" pitchFamily="34" charset="-120"/>
              </a:rPr>
              <a:t>WHERE THEY PLATEAU</a:t>
            </a:r>
            <a:endParaRPr lang="en-US" sz="800" dirty="0"/>
          </a:p>
        </p:txBody>
      </p:sp>
      <p:sp>
        <p:nvSpPr>
          <p:cNvPr id="10" name="Text 8"/>
          <p:cNvSpPr/>
          <p:nvPr/>
        </p:nvSpPr>
        <p:spPr>
          <a:xfrm>
            <a:off x="822960" y="4709160"/>
            <a:ext cx="3063240" cy="100584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Prototype generates meal plans. Cannot bill clients, cannot send weekly emails, cannot ship a mobile build.</a:t>
            </a:r>
            <a:endParaRPr lang="en-US" sz="1200" dirty="0"/>
          </a:p>
        </p:txBody>
      </p:sp>
      <p:sp>
        <p:nvSpPr>
          <p:cNvPr id="11" name="Shape 9"/>
          <p:cNvSpPr/>
          <p:nvPr/>
        </p:nvSpPr>
        <p:spPr>
          <a:xfrm>
            <a:off x="4389120" y="3108960"/>
            <a:ext cx="3611880" cy="2743200"/>
          </a:xfrm>
          <a:prstGeom prst="rect">
            <a:avLst/>
          </a:prstGeom>
          <a:solidFill>
            <a:srgbClr val="FFFFFF"/>
          </a:solidFill>
          <a:ln w="12700">
            <a:solidFill>
              <a:srgbClr val="E2E8F0"/>
            </a:solidFill>
            <a:prstDash val="solid"/>
          </a:ln>
        </p:spPr>
        <p:txBody>
          <a:bodyPr/>
          <a:p/>
        </p:txBody>
      </p:sp>
      <p:sp>
        <p:nvSpPr>
          <p:cNvPr id="12" name="Shape 10"/>
          <p:cNvSpPr/>
          <p:nvPr/>
        </p:nvSpPr>
        <p:spPr>
          <a:xfrm>
            <a:off x="4389120" y="3108960"/>
            <a:ext cx="3611880" cy="73152"/>
          </a:xfrm>
          <a:prstGeom prst="rect">
            <a:avLst/>
          </a:prstGeom>
          <a:solidFill>
            <a:srgbClr val="4F46E5"/>
          </a:solidFill>
          <a:ln w="12700">
            <a:solidFill>
              <a:srgbClr val="4F46E5"/>
            </a:solidFill>
            <a:prstDash val="solid"/>
          </a:ln>
        </p:spPr>
        <p:txBody>
          <a:bodyPr/>
          <a:p/>
        </p:txBody>
      </p:sp>
      <p:sp>
        <p:nvSpPr>
          <p:cNvPr id="13" name="Text 11"/>
          <p:cNvSpPr/>
          <p:nvPr/>
        </p:nvSpPr>
        <p:spPr>
          <a:xfrm>
            <a:off x="4663440" y="3337560"/>
            <a:ext cx="3063240"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CONSULTANT</a:t>
            </a:r>
            <a:endParaRPr lang="en-US" sz="900" dirty="0"/>
          </a:p>
        </p:txBody>
      </p:sp>
      <p:sp>
        <p:nvSpPr>
          <p:cNvPr id="14" name="Text 12"/>
          <p:cNvSpPr/>
          <p:nvPr/>
        </p:nvSpPr>
        <p:spPr>
          <a:xfrm>
            <a:off x="4663440" y="3657600"/>
            <a:ext cx="3063240" cy="64008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Interactive framework demo</a:t>
            </a:r>
            <a:endParaRPr lang="en-US" sz="1800" dirty="0"/>
          </a:p>
        </p:txBody>
      </p:sp>
      <p:sp>
        <p:nvSpPr>
          <p:cNvPr id="15" name="Text 13"/>
          <p:cNvSpPr/>
          <p:nvPr/>
        </p:nvSpPr>
        <p:spPr>
          <a:xfrm>
            <a:off x="4663440" y="4434840"/>
            <a:ext cx="3063240" cy="228600"/>
          </a:xfrm>
          <a:prstGeom prst="rect">
            <a:avLst/>
          </a:prstGeom>
          <a:noFill/>
          <a:ln/>
        </p:spPr>
        <p:txBody>
          <a:bodyPr wrap="square" lIns="0" tIns="0" rIns="0" bIns="0" rtlCol="0" anchor="ctr"/>
          <a:lstStyle/>
          <a:p>
            <a:pPr indent="0" marL="0">
              <a:buNone/>
            </a:pPr>
            <a:r>
              <a:rPr lang="en-US" sz="800" b="1" spc="400" kern="0" dirty="0">
                <a:solidFill>
                  <a:srgbClr val="64748B"/>
                </a:solidFill>
                <a:latin typeface="JetBrains Mono" pitchFamily="34" charset="0"/>
                <a:ea typeface="JetBrains Mono" pitchFamily="34" charset="-122"/>
                <a:cs typeface="JetBrains Mono" pitchFamily="34" charset="-120"/>
              </a:rPr>
              <a:t>WHERE THEY PLATEAU</a:t>
            </a:r>
            <a:endParaRPr lang="en-US" sz="800" dirty="0"/>
          </a:p>
        </p:txBody>
      </p:sp>
      <p:sp>
        <p:nvSpPr>
          <p:cNvPr id="16" name="Text 14"/>
          <p:cNvSpPr/>
          <p:nvPr/>
        </p:nvSpPr>
        <p:spPr>
          <a:xfrm>
            <a:off x="4663440" y="4709160"/>
            <a:ext cx="3063240" cy="100584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Slick interaction. No login, no usage limits, no way to charge enterprise prospects the £5K it’s worth.</a:t>
            </a:r>
            <a:endParaRPr lang="en-US" sz="1200" dirty="0"/>
          </a:p>
        </p:txBody>
      </p:sp>
      <p:sp>
        <p:nvSpPr>
          <p:cNvPr id="17" name="Shape 15"/>
          <p:cNvSpPr/>
          <p:nvPr/>
        </p:nvSpPr>
        <p:spPr>
          <a:xfrm>
            <a:off x="8229600" y="3108960"/>
            <a:ext cx="3611880" cy="2743200"/>
          </a:xfrm>
          <a:prstGeom prst="rect">
            <a:avLst/>
          </a:prstGeom>
          <a:solidFill>
            <a:srgbClr val="FFFFFF"/>
          </a:solidFill>
          <a:ln w="12700">
            <a:solidFill>
              <a:srgbClr val="E2E8F0"/>
            </a:solidFill>
            <a:prstDash val="solid"/>
          </a:ln>
        </p:spPr>
        <p:txBody>
          <a:bodyPr/>
          <a:p/>
        </p:txBody>
      </p:sp>
      <p:sp>
        <p:nvSpPr>
          <p:cNvPr id="18" name="Shape 16"/>
          <p:cNvSpPr/>
          <p:nvPr/>
        </p:nvSpPr>
        <p:spPr>
          <a:xfrm>
            <a:off x="8229600" y="3108960"/>
            <a:ext cx="3611880" cy="73152"/>
          </a:xfrm>
          <a:prstGeom prst="rect">
            <a:avLst/>
          </a:prstGeom>
          <a:solidFill>
            <a:srgbClr val="4F46E5"/>
          </a:solidFill>
          <a:ln w="12700">
            <a:solidFill>
              <a:srgbClr val="4F46E5"/>
            </a:solidFill>
            <a:prstDash val="solid"/>
          </a:ln>
        </p:spPr>
        <p:txBody>
          <a:bodyPr/>
          <a:p/>
        </p:txBody>
      </p:sp>
      <p:sp>
        <p:nvSpPr>
          <p:cNvPr id="19" name="Text 17"/>
          <p:cNvSpPr/>
          <p:nvPr/>
        </p:nvSpPr>
        <p:spPr>
          <a:xfrm>
            <a:off x="8503920" y="3337560"/>
            <a:ext cx="3063240"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DESIGNER</a:t>
            </a:r>
            <a:endParaRPr lang="en-US" sz="900" dirty="0"/>
          </a:p>
        </p:txBody>
      </p:sp>
      <p:sp>
        <p:nvSpPr>
          <p:cNvPr id="20" name="Text 18"/>
          <p:cNvSpPr/>
          <p:nvPr/>
        </p:nvSpPr>
        <p:spPr>
          <a:xfrm>
            <a:off x="8503920" y="3657600"/>
            <a:ext cx="3063240" cy="64008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The tool they always wanted</a:t>
            </a:r>
            <a:endParaRPr lang="en-US" sz="1800" dirty="0"/>
          </a:p>
        </p:txBody>
      </p:sp>
      <p:sp>
        <p:nvSpPr>
          <p:cNvPr id="21" name="Text 19"/>
          <p:cNvSpPr/>
          <p:nvPr/>
        </p:nvSpPr>
        <p:spPr>
          <a:xfrm>
            <a:off x="8503920" y="4434840"/>
            <a:ext cx="3063240" cy="228600"/>
          </a:xfrm>
          <a:prstGeom prst="rect">
            <a:avLst/>
          </a:prstGeom>
          <a:noFill/>
          <a:ln/>
        </p:spPr>
        <p:txBody>
          <a:bodyPr wrap="square" lIns="0" tIns="0" rIns="0" bIns="0" rtlCol="0" anchor="ctr"/>
          <a:lstStyle/>
          <a:p>
            <a:pPr indent="0" marL="0">
              <a:buNone/>
            </a:pPr>
            <a:r>
              <a:rPr lang="en-US" sz="800" b="1" spc="400" kern="0" dirty="0">
                <a:solidFill>
                  <a:srgbClr val="64748B"/>
                </a:solidFill>
                <a:latin typeface="JetBrains Mono" pitchFamily="34" charset="0"/>
                <a:ea typeface="JetBrains Mono" pitchFamily="34" charset="-122"/>
                <a:cs typeface="JetBrains Mono" pitchFamily="34" charset="-120"/>
              </a:rPr>
              <a:t>WHERE THEY PLATEAU</a:t>
            </a:r>
            <a:endParaRPr lang="en-US" sz="800" dirty="0"/>
          </a:p>
        </p:txBody>
      </p:sp>
      <p:sp>
        <p:nvSpPr>
          <p:cNvPr id="22" name="Text 20"/>
          <p:cNvSpPr/>
          <p:nvPr/>
        </p:nvSpPr>
        <p:spPr>
          <a:xfrm>
            <a:off x="8503920" y="4709160"/>
            <a:ext cx="3063240" cy="100584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Lovely UI. No real database, no auth, no signed mobile build to show on a phone in a room.</a:t>
            </a:r>
            <a:endParaRPr lang="en-US" sz="1200" dirty="0"/>
          </a:p>
        </p:txBody>
      </p:sp>
      <p:sp>
        <p:nvSpPr>
          <p:cNvPr id="23" name="Text 21"/>
          <p:cNvSpPr/>
          <p:nvPr/>
        </p:nvSpPr>
        <p:spPr>
          <a:xfrm>
            <a:off x="548640" y="6080760"/>
            <a:ext cx="10972800" cy="320040"/>
          </a:xfrm>
          <a:prstGeom prst="rect">
            <a:avLst/>
          </a:prstGeom>
          <a:noFill/>
          <a:ln/>
        </p:spPr>
        <p:txBody>
          <a:bodyPr wrap="square" lIns="0" tIns="0" rIns="0" bIns="0" rtlCol="0" anchor="ctr"/>
          <a:lstStyle/>
          <a:p>
            <a:pPr indent="0" marL="0">
              <a:buNone/>
            </a:pPr>
            <a:r>
              <a:rPr lang="en-US" sz="1200" i="1" dirty="0">
                <a:solidFill>
                  <a:srgbClr val="F59E0B"/>
                </a:solidFill>
                <a:latin typeface="Inter" pitchFamily="34" charset="0"/>
                <a:ea typeface="Inter" pitchFamily="34" charset="-122"/>
                <a:cs typeface="Inter" pitchFamily="34" charset="-120"/>
              </a:rPr>
              <a:t>Every persona above ships a working-looking thing. None of them ship a business.</a:t>
            </a:r>
            <a:endParaRPr lang="en-US" sz="1200" dirty="0"/>
          </a:p>
        </p:txBody>
      </p:sp>
      <p:sp>
        <p:nvSpPr>
          <p:cNvPr id="24" name="Text 22"/>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5" name="Text 23"/>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03  ·  THE SOLUTION</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We give the AI tool a real SaaS to build on.</a:t>
            </a:r>
            <a:endParaRPr lang="en-US" sz="3000" dirty="0"/>
          </a:p>
        </p:txBody>
      </p:sp>
      <p:sp>
        <p:nvSpPr>
          <p:cNvPr id="4" name="Text 2"/>
          <p:cNvSpPr/>
          <p:nvPr/>
        </p:nvSpPr>
        <p:spPr>
          <a:xfrm>
            <a:off x="548640" y="1828800"/>
            <a:ext cx="5852160" cy="2011680"/>
          </a:xfrm>
          <a:prstGeom prst="rect">
            <a:avLst/>
          </a:prstGeom>
          <a:noFill/>
          <a:ln/>
        </p:spPr>
        <p:txBody>
          <a:bodyPr wrap="square" lIns="0" tIns="0" rIns="0" bIns="0" rtlCol="0" anchor="ctr"/>
          <a:lstStyle/>
          <a:p>
            <a:pPr indent="0" marL="0">
              <a:buNone/>
            </a:pPr>
            <a:r>
              <a:rPr lang="en-US" sz="1500" dirty="0">
                <a:solidFill>
                  <a:srgbClr val="475569"/>
                </a:solidFill>
                <a:latin typeface="Inter" pitchFamily="34" charset="0"/>
                <a:ea typeface="Inter" pitchFamily="34" charset="-122"/>
                <a:cs typeface="Inter" pitchFamily="34" charset="-120"/>
              </a:rPr>
              <a:t>Customer signs up. In ~60 seconds they have a sandbox at &lt;slug&gt;.hatchik.com with auth, Postgres, payments, mail, mobile and a GitHub repo all wired. Their AI tool reads the AI_CONTEXT.md handoff file, knows the layout, pushes changes into the repo. We redeploy in ~30 seconds.</a:t>
            </a:r>
            <a:endParaRPr lang="en-US" sz="1500" dirty="0"/>
          </a:p>
        </p:txBody>
      </p:sp>
      <p:sp>
        <p:nvSpPr>
          <p:cNvPr id="5" name="Text 3"/>
          <p:cNvSpPr/>
          <p:nvPr/>
        </p:nvSpPr>
        <p:spPr>
          <a:xfrm>
            <a:off x="548640" y="4023360"/>
            <a:ext cx="5852160" cy="1097280"/>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Customer goes from “looks working” to “real product” without learning infrastructure.</a:t>
            </a:r>
            <a:endParaRPr lang="en-US" sz="1600" dirty="0"/>
          </a:p>
        </p:txBody>
      </p:sp>
      <p:sp>
        <p:nvSpPr>
          <p:cNvPr id="6" name="Shape 4"/>
          <p:cNvSpPr/>
          <p:nvPr/>
        </p:nvSpPr>
        <p:spPr>
          <a:xfrm>
            <a:off x="548640" y="5349240"/>
            <a:ext cx="2340864" cy="329184"/>
          </a:xfrm>
          <a:prstGeom prst="roundRect">
            <a:avLst>
              <a:gd name="adj" fmla="val 22222"/>
            </a:avLst>
          </a:prstGeom>
          <a:solidFill>
            <a:srgbClr val="EEF2FF"/>
          </a:solidFill>
          <a:ln w="12700">
            <a:solidFill>
              <a:srgbClr val="EEF2FF"/>
            </a:solidFill>
            <a:prstDash val="solid"/>
          </a:ln>
        </p:spPr>
        <p:txBody>
          <a:bodyPr/>
          <a:p/>
        </p:txBody>
      </p:sp>
      <p:sp>
        <p:nvSpPr>
          <p:cNvPr id="7" name="Text 5"/>
          <p:cNvSpPr/>
          <p:nvPr/>
        </p:nvSpPr>
        <p:spPr>
          <a:xfrm>
            <a:off x="548640" y="5349240"/>
            <a:ext cx="2340864" cy="329184"/>
          </a:xfrm>
          <a:prstGeom prst="rect">
            <a:avLst/>
          </a:prstGeom>
          <a:noFill/>
          <a:ln/>
        </p:spPr>
        <p:txBody>
          <a:bodyPr wrap="square" lIns="0" tIns="0" rIns="0" bIns="0" rtlCol="0" anchor="ctr"/>
          <a:lstStyle/>
          <a:p>
            <a:pPr algn="ctr" indent="0" marL="0">
              <a:buNone/>
            </a:pPr>
            <a:r>
              <a:rPr lang="en-US" sz="900" b="1" dirty="0">
                <a:solidFill>
                  <a:srgbClr val="3730A3"/>
                </a:solidFill>
                <a:latin typeface="Inter" pitchFamily="34" charset="0"/>
                <a:ea typeface="Inter" pitchFamily="34" charset="-122"/>
                <a:cs typeface="Inter" pitchFamily="34" charset="-120"/>
              </a:rPr>
              <a:t>Your AI tool</a:t>
            </a:r>
            <a:endParaRPr lang="en-US" sz="900" dirty="0"/>
          </a:p>
        </p:txBody>
      </p:sp>
      <p:sp>
        <p:nvSpPr>
          <p:cNvPr id="8" name="Shape 6"/>
          <p:cNvSpPr/>
          <p:nvPr/>
        </p:nvSpPr>
        <p:spPr>
          <a:xfrm>
            <a:off x="3026664" y="5349240"/>
            <a:ext cx="1847088" cy="329184"/>
          </a:xfrm>
          <a:prstGeom prst="roundRect">
            <a:avLst>
              <a:gd name="adj" fmla="val 22222"/>
            </a:avLst>
          </a:prstGeom>
          <a:solidFill>
            <a:srgbClr val="EEF2FF"/>
          </a:solidFill>
          <a:ln w="12700">
            <a:solidFill>
              <a:srgbClr val="EEF2FF"/>
            </a:solidFill>
            <a:prstDash val="solid"/>
          </a:ln>
        </p:spPr>
        <p:txBody>
          <a:bodyPr/>
          <a:p/>
        </p:txBody>
      </p:sp>
      <p:sp>
        <p:nvSpPr>
          <p:cNvPr id="9" name="Text 7"/>
          <p:cNvSpPr/>
          <p:nvPr/>
        </p:nvSpPr>
        <p:spPr>
          <a:xfrm>
            <a:off x="3026664" y="5349240"/>
            <a:ext cx="1847088" cy="329184"/>
          </a:xfrm>
          <a:prstGeom prst="rect">
            <a:avLst/>
          </a:prstGeom>
          <a:noFill/>
          <a:ln/>
        </p:spPr>
        <p:txBody>
          <a:bodyPr wrap="square" lIns="0" tIns="0" rIns="0" bIns="0" rtlCol="0" anchor="ctr"/>
          <a:lstStyle/>
          <a:p>
            <a:pPr algn="ctr" indent="0" marL="0">
              <a:buNone/>
            </a:pPr>
            <a:r>
              <a:rPr lang="en-US" sz="900" b="1" dirty="0">
                <a:solidFill>
                  <a:srgbClr val="3730A3"/>
                </a:solidFill>
                <a:latin typeface="Inter" pitchFamily="34" charset="0"/>
                <a:ea typeface="Inter" pitchFamily="34" charset="-122"/>
                <a:cs typeface="Inter" pitchFamily="34" charset="-120"/>
              </a:rPr>
              <a:t>Your code</a:t>
            </a:r>
            <a:endParaRPr lang="en-US" sz="900" dirty="0"/>
          </a:p>
        </p:txBody>
      </p:sp>
      <p:sp>
        <p:nvSpPr>
          <p:cNvPr id="10" name="Shape 8"/>
          <p:cNvSpPr/>
          <p:nvPr/>
        </p:nvSpPr>
        <p:spPr>
          <a:xfrm>
            <a:off x="5010912" y="5349240"/>
            <a:ext cx="1847088" cy="329184"/>
          </a:xfrm>
          <a:prstGeom prst="roundRect">
            <a:avLst>
              <a:gd name="adj" fmla="val 22222"/>
            </a:avLst>
          </a:prstGeom>
          <a:solidFill>
            <a:srgbClr val="EEF2FF"/>
          </a:solidFill>
          <a:ln w="12700">
            <a:solidFill>
              <a:srgbClr val="EEF2FF"/>
            </a:solidFill>
            <a:prstDash val="solid"/>
          </a:ln>
        </p:spPr>
        <p:txBody>
          <a:bodyPr/>
          <a:p/>
        </p:txBody>
      </p:sp>
      <p:sp>
        <p:nvSpPr>
          <p:cNvPr id="11" name="Text 9"/>
          <p:cNvSpPr/>
          <p:nvPr/>
        </p:nvSpPr>
        <p:spPr>
          <a:xfrm>
            <a:off x="5010912" y="5349240"/>
            <a:ext cx="1847088" cy="329184"/>
          </a:xfrm>
          <a:prstGeom prst="rect">
            <a:avLst/>
          </a:prstGeom>
          <a:noFill/>
          <a:ln/>
        </p:spPr>
        <p:txBody>
          <a:bodyPr wrap="square" lIns="0" tIns="0" rIns="0" bIns="0" rtlCol="0" anchor="ctr"/>
          <a:lstStyle/>
          <a:p>
            <a:pPr algn="ctr" indent="0" marL="0">
              <a:buNone/>
            </a:pPr>
            <a:r>
              <a:rPr lang="en-US" sz="900" b="1" dirty="0">
                <a:solidFill>
                  <a:srgbClr val="3730A3"/>
                </a:solidFill>
                <a:latin typeface="Inter" pitchFamily="34" charset="0"/>
                <a:ea typeface="Inter" pitchFamily="34" charset="-122"/>
                <a:cs typeface="Inter" pitchFamily="34" charset="-120"/>
              </a:rPr>
              <a:t>Your repo</a:t>
            </a:r>
            <a:endParaRPr lang="en-US" sz="900" dirty="0"/>
          </a:p>
        </p:txBody>
      </p:sp>
      <p:sp>
        <p:nvSpPr>
          <p:cNvPr id="12" name="Shape 10"/>
          <p:cNvSpPr/>
          <p:nvPr/>
        </p:nvSpPr>
        <p:spPr>
          <a:xfrm>
            <a:off x="6995160" y="5349240"/>
            <a:ext cx="3822192" cy="329184"/>
          </a:xfrm>
          <a:prstGeom prst="roundRect">
            <a:avLst>
              <a:gd name="adj" fmla="val 22222"/>
            </a:avLst>
          </a:prstGeom>
          <a:solidFill>
            <a:srgbClr val="FFFBEB"/>
          </a:solidFill>
          <a:ln w="12700">
            <a:solidFill>
              <a:srgbClr val="FFFBEB"/>
            </a:solidFill>
            <a:prstDash val="solid"/>
          </a:ln>
        </p:spPr>
        <p:txBody>
          <a:bodyPr/>
          <a:p/>
        </p:txBody>
      </p:sp>
      <p:sp>
        <p:nvSpPr>
          <p:cNvPr id="13" name="Text 11"/>
          <p:cNvSpPr/>
          <p:nvPr/>
        </p:nvSpPr>
        <p:spPr>
          <a:xfrm>
            <a:off x="6995160" y="5349240"/>
            <a:ext cx="3822192" cy="329184"/>
          </a:xfrm>
          <a:prstGeom prst="rect">
            <a:avLst/>
          </a:prstGeom>
          <a:noFill/>
          <a:ln/>
        </p:spPr>
        <p:txBody>
          <a:bodyPr wrap="square" lIns="0" tIns="0" rIns="0" bIns="0" rtlCol="0" anchor="ctr"/>
          <a:lstStyle/>
          <a:p>
            <a:pPr algn="ctr" indent="0" marL="0">
              <a:buNone/>
            </a:pPr>
            <a:r>
              <a:rPr lang="en-US" sz="900" b="1" dirty="0">
                <a:solidFill>
                  <a:srgbClr val="92400E"/>
                </a:solidFill>
                <a:latin typeface="Inter" pitchFamily="34" charset="0"/>
                <a:ea typeface="Inter" pitchFamily="34" charset="-122"/>
                <a:cs typeface="Inter" pitchFamily="34" charset="-120"/>
              </a:rPr>
              <a:t>Real production stack</a:t>
            </a:r>
            <a:endParaRPr lang="en-US" sz="900" dirty="0"/>
          </a:p>
        </p:txBody>
      </p:sp>
      <p:sp>
        <p:nvSpPr>
          <p:cNvPr id="14" name="Shape 12"/>
          <p:cNvSpPr/>
          <p:nvPr/>
        </p:nvSpPr>
        <p:spPr>
          <a:xfrm>
            <a:off x="6858000" y="1828800"/>
            <a:ext cx="594360" cy="594360"/>
          </a:xfrm>
          <a:prstGeom prst="ellipse">
            <a:avLst/>
          </a:prstGeom>
          <a:solidFill>
            <a:srgbClr val="4F46E5"/>
          </a:solidFill>
          <a:ln w="12700">
            <a:solidFill>
              <a:srgbClr val="4F46E5"/>
            </a:solidFill>
            <a:prstDash val="solid"/>
          </a:ln>
        </p:spPr>
        <p:txBody>
          <a:bodyPr/>
          <a:p/>
        </p:txBody>
      </p:sp>
      <p:sp>
        <p:nvSpPr>
          <p:cNvPr id="15" name="Text 13"/>
          <p:cNvSpPr/>
          <p:nvPr/>
        </p:nvSpPr>
        <p:spPr>
          <a:xfrm>
            <a:off x="6858000" y="18288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1</a:t>
            </a:r>
            <a:endParaRPr lang="en-US" sz="1800" dirty="0"/>
          </a:p>
        </p:txBody>
      </p:sp>
      <p:sp>
        <p:nvSpPr>
          <p:cNvPr id="16" name="Text 14"/>
          <p:cNvSpPr/>
          <p:nvPr/>
        </p:nvSpPr>
        <p:spPr>
          <a:xfrm>
            <a:off x="7680960" y="1792224"/>
            <a:ext cx="4023360" cy="32004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Sign up wizard</a:t>
            </a:r>
            <a:endParaRPr lang="en-US" sz="1400" dirty="0"/>
          </a:p>
        </p:txBody>
      </p:sp>
      <p:sp>
        <p:nvSpPr>
          <p:cNvPr id="17" name="Text 15"/>
          <p:cNvSpPr/>
          <p:nvPr/>
        </p:nvSpPr>
        <p:spPr>
          <a:xfrm>
            <a:off x="7680960" y="2121408"/>
            <a:ext cx="4023360" cy="32004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Email + product idea + tier</a:t>
            </a:r>
            <a:endParaRPr lang="en-US" sz="1100" dirty="0"/>
          </a:p>
        </p:txBody>
      </p:sp>
      <p:sp>
        <p:nvSpPr>
          <p:cNvPr id="18" name="Shape 16"/>
          <p:cNvSpPr/>
          <p:nvPr/>
        </p:nvSpPr>
        <p:spPr>
          <a:xfrm>
            <a:off x="7155180" y="2468880"/>
            <a:ext cx="0" cy="164592"/>
          </a:xfrm>
          <a:prstGeom prst="line">
            <a:avLst/>
          </a:prstGeom>
          <a:noFill/>
          <a:ln w="25400">
            <a:solidFill>
              <a:srgbClr val="E2E8F0"/>
            </a:solidFill>
            <a:prstDash val="solid"/>
          </a:ln>
        </p:spPr>
        <p:txBody>
          <a:bodyPr/>
          <a:p/>
        </p:txBody>
      </p:sp>
      <p:sp>
        <p:nvSpPr>
          <p:cNvPr id="19" name="Shape 17"/>
          <p:cNvSpPr/>
          <p:nvPr/>
        </p:nvSpPr>
        <p:spPr>
          <a:xfrm>
            <a:off x="6858000" y="2834640"/>
            <a:ext cx="594360" cy="594360"/>
          </a:xfrm>
          <a:prstGeom prst="ellipse">
            <a:avLst/>
          </a:prstGeom>
          <a:solidFill>
            <a:srgbClr val="4F46E5"/>
          </a:solidFill>
          <a:ln w="12700">
            <a:solidFill>
              <a:srgbClr val="4F46E5"/>
            </a:solidFill>
            <a:prstDash val="solid"/>
          </a:ln>
        </p:spPr>
        <p:txBody>
          <a:bodyPr/>
          <a:p/>
        </p:txBody>
      </p:sp>
      <p:sp>
        <p:nvSpPr>
          <p:cNvPr id="20" name="Text 18"/>
          <p:cNvSpPr/>
          <p:nvPr/>
        </p:nvSpPr>
        <p:spPr>
          <a:xfrm>
            <a:off x="6858000" y="28346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2</a:t>
            </a:r>
            <a:endParaRPr lang="en-US" sz="1800" dirty="0"/>
          </a:p>
        </p:txBody>
      </p:sp>
      <p:sp>
        <p:nvSpPr>
          <p:cNvPr id="21" name="Text 19"/>
          <p:cNvSpPr/>
          <p:nvPr/>
        </p:nvSpPr>
        <p:spPr>
          <a:xfrm>
            <a:off x="7680960" y="2798064"/>
            <a:ext cx="4023360" cy="32004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Sandbox provisioned</a:t>
            </a:r>
            <a:endParaRPr lang="en-US" sz="1400" dirty="0"/>
          </a:p>
        </p:txBody>
      </p:sp>
      <p:sp>
        <p:nvSpPr>
          <p:cNvPr id="22" name="Text 20"/>
          <p:cNvSpPr/>
          <p:nvPr/>
        </p:nvSpPr>
        <p:spPr>
          <a:xfrm>
            <a:off x="7680960" y="3127248"/>
            <a:ext cx="4023360" cy="32004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~60s, 9 containers, wildcard TLS</a:t>
            </a:r>
            <a:endParaRPr lang="en-US" sz="1100" dirty="0"/>
          </a:p>
        </p:txBody>
      </p:sp>
      <p:sp>
        <p:nvSpPr>
          <p:cNvPr id="23" name="Shape 21"/>
          <p:cNvSpPr/>
          <p:nvPr/>
        </p:nvSpPr>
        <p:spPr>
          <a:xfrm>
            <a:off x="7155180" y="3474720"/>
            <a:ext cx="0" cy="164592"/>
          </a:xfrm>
          <a:prstGeom prst="line">
            <a:avLst/>
          </a:prstGeom>
          <a:noFill/>
          <a:ln w="25400">
            <a:solidFill>
              <a:srgbClr val="E2E8F0"/>
            </a:solidFill>
            <a:prstDash val="solid"/>
          </a:ln>
        </p:spPr>
        <p:txBody>
          <a:bodyPr/>
          <a:p/>
        </p:txBody>
      </p:sp>
      <p:sp>
        <p:nvSpPr>
          <p:cNvPr id="24" name="Shape 22"/>
          <p:cNvSpPr/>
          <p:nvPr/>
        </p:nvSpPr>
        <p:spPr>
          <a:xfrm>
            <a:off x="6858000" y="3840480"/>
            <a:ext cx="594360" cy="594360"/>
          </a:xfrm>
          <a:prstGeom prst="ellipse">
            <a:avLst/>
          </a:prstGeom>
          <a:solidFill>
            <a:srgbClr val="4F46E5"/>
          </a:solidFill>
          <a:ln w="12700">
            <a:solidFill>
              <a:srgbClr val="4F46E5"/>
            </a:solidFill>
            <a:prstDash val="solid"/>
          </a:ln>
        </p:spPr>
        <p:txBody>
          <a:bodyPr/>
          <a:p/>
        </p:txBody>
      </p:sp>
      <p:sp>
        <p:nvSpPr>
          <p:cNvPr id="25" name="Text 23"/>
          <p:cNvSpPr/>
          <p:nvPr/>
        </p:nvSpPr>
        <p:spPr>
          <a:xfrm>
            <a:off x="6858000" y="38404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3</a:t>
            </a:r>
            <a:endParaRPr lang="en-US" sz="1800" dirty="0"/>
          </a:p>
        </p:txBody>
      </p:sp>
      <p:sp>
        <p:nvSpPr>
          <p:cNvPr id="26" name="Text 24"/>
          <p:cNvSpPr/>
          <p:nvPr/>
        </p:nvSpPr>
        <p:spPr>
          <a:xfrm>
            <a:off x="7680960" y="3803904"/>
            <a:ext cx="4023360" cy="32004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AI tool reads AI_CONTEXT.md</a:t>
            </a:r>
            <a:endParaRPr lang="en-US" sz="1400" dirty="0"/>
          </a:p>
        </p:txBody>
      </p:sp>
      <p:sp>
        <p:nvSpPr>
          <p:cNvPr id="27" name="Text 25"/>
          <p:cNvSpPr/>
          <p:nvPr/>
        </p:nvSpPr>
        <p:spPr>
          <a:xfrm>
            <a:off x="7680960" y="4133088"/>
            <a:ext cx="4023360" cy="32004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Knows the layout, pushes to repo</a:t>
            </a:r>
            <a:endParaRPr lang="en-US" sz="1100" dirty="0"/>
          </a:p>
        </p:txBody>
      </p:sp>
      <p:sp>
        <p:nvSpPr>
          <p:cNvPr id="28" name="Shape 26"/>
          <p:cNvSpPr/>
          <p:nvPr/>
        </p:nvSpPr>
        <p:spPr>
          <a:xfrm>
            <a:off x="7155180" y="4480560"/>
            <a:ext cx="0" cy="164592"/>
          </a:xfrm>
          <a:prstGeom prst="line">
            <a:avLst/>
          </a:prstGeom>
          <a:noFill/>
          <a:ln w="25400">
            <a:solidFill>
              <a:srgbClr val="E2E8F0"/>
            </a:solidFill>
            <a:prstDash val="solid"/>
          </a:ln>
        </p:spPr>
        <p:txBody>
          <a:bodyPr/>
          <a:p/>
        </p:txBody>
      </p:sp>
      <p:sp>
        <p:nvSpPr>
          <p:cNvPr id="29" name="Shape 27"/>
          <p:cNvSpPr/>
          <p:nvPr/>
        </p:nvSpPr>
        <p:spPr>
          <a:xfrm>
            <a:off x="6858000" y="4846320"/>
            <a:ext cx="594360" cy="594360"/>
          </a:xfrm>
          <a:prstGeom prst="ellipse">
            <a:avLst/>
          </a:prstGeom>
          <a:solidFill>
            <a:srgbClr val="4F46E5"/>
          </a:solidFill>
          <a:ln w="12700">
            <a:solidFill>
              <a:srgbClr val="4F46E5"/>
            </a:solidFill>
            <a:prstDash val="solid"/>
          </a:ln>
        </p:spPr>
        <p:txBody>
          <a:bodyPr/>
          <a:p/>
        </p:txBody>
      </p:sp>
      <p:sp>
        <p:nvSpPr>
          <p:cNvPr id="30" name="Text 28"/>
          <p:cNvSpPr/>
          <p:nvPr/>
        </p:nvSpPr>
        <p:spPr>
          <a:xfrm>
            <a:off x="6858000" y="48463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4</a:t>
            </a:r>
            <a:endParaRPr lang="en-US" sz="1800" dirty="0"/>
          </a:p>
        </p:txBody>
      </p:sp>
      <p:sp>
        <p:nvSpPr>
          <p:cNvPr id="31" name="Text 29"/>
          <p:cNvSpPr/>
          <p:nvPr/>
        </p:nvSpPr>
        <p:spPr>
          <a:xfrm>
            <a:off x="7680960" y="4809744"/>
            <a:ext cx="4023360" cy="32004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Push-to-deploy</a:t>
            </a:r>
            <a:endParaRPr lang="en-US" sz="1400" dirty="0"/>
          </a:p>
        </p:txBody>
      </p:sp>
      <p:sp>
        <p:nvSpPr>
          <p:cNvPr id="32" name="Text 30"/>
          <p:cNvSpPr/>
          <p:nvPr/>
        </p:nvSpPr>
        <p:spPr>
          <a:xfrm>
            <a:off x="7680960" y="5138928"/>
            <a:ext cx="4023360" cy="32004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~30s redeploy via webhook</a:t>
            </a:r>
            <a:endParaRPr lang="en-US" sz="1100" dirty="0"/>
          </a:p>
        </p:txBody>
      </p:sp>
      <p:sp>
        <p:nvSpPr>
          <p:cNvPr id="33" name="Text 31"/>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34" name="Text 32"/>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04  ·  WHY NOW</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This isn't 3-year SaaS. It's a 12-18 month hype-cycle sprint.</a:t>
            </a:r>
            <a:endParaRPr lang="en-US" sz="3000" dirty="0"/>
          </a:p>
        </p:txBody>
      </p:sp>
      <p:sp>
        <p:nvSpPr>
          <p:cNvPr id="4" name="Shape 2"/>
          <p:cNvSpPr/>
          <p:nvPr/>
        </p:nvSpPr>
        <p:spPr>
          <a:xfrm>
            <a:off x="548640" y="1783080"/>
            <a:ext cx="3611880" cy="219456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783080"/>
            <a:ext cx="3611880" cy="73152"/>
          </a:xfrm>
          <a:prstGeom prst="rect">
            <a:avLst/>
          </a:prstGeom>
          <a:solidFill>
            <a:srgbClr val="F59E0B"/>
          </a:solidFill>
          <a:ln w="12700">
            <a:solidFill>
              <a:srgbClr val="F59E0B"/>
            </a:solidFill>
            <a:prstDash val="solid"/>
          </a:ln>
        </p:spPr>
        <p:txBody>
          <a:bodyPr/>
          <a:p/>
        </p:txBody>
      </p:sp>
      <p:sp>
        <p:nvSpPr>
          <p:cNvPr id="6" name="Text 4"/>
          <p:cNvSpPr/>
          <p:nvPr/>
        </p:nvSpPr>
        <p:spPr>
          <a:xfrm>
            <a:off x="822960" y="1984248"/>
            <a:ext cx="3063240" cy="274320"/>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CURSOR</a:t>
            </a:r>
            <a:endParaRPr lang="en-US" sz="1000" dirty="0"/>
          </a:p>
        </p:txBody>
      </p:sp>
      <p:sp>
        <p:nvSpPr>
          <p:cNvPr id="7" name="Text 5"/>
          <p:cNvSpPr/>
          <p:nvPr/>
        </p:nvSpPr>
        <p:spPr>
          <a:xfrm>
            <a:off x="822960" y="2286000"/>
            <a:ext cx="3063240" cy="868680"/>
          </a:xfrm>
          <a:prstGeom prst="rect">
            <a:avLst/>
          </a:prstGeom>
          <a:noFill/>
          <a:ln/>
        </p:spPr>
        <p:txBody>
          <a:bodyPr wrap="square" lIns="0" tIns="0" rIns="0" bIns="0" rtlCol="0" anchor="ctr"/>
          <a:lstStyle/>
          <a:p>
            <a:pPr indent="0" marL="0">
              <a:buNone/>
            </a:pPr>
            <a:r>
              <a:rPr lang="en-US" sz="5200" b="1" dirty="0">
                <a:solidFill>
                  <a:srgbClr val="1E293B"/>
                </a:solidFill>
                <a:latin typeface="Inter" pitchFamily="34" charset="0"/>
                <a:ea typeface="Inter" pitchFamily="34" charset="-122"/>
                <a:cs typeface="Inter" pitchFamily="34" charset="-120"/>
              </a:rPr>
              <a:t>1M+</a:t>
            </a:r>
            <a:endParaRPr lang="en-US" sz="5200" dirty="0"/>
          </a:p>
        </p:txBody>
      </p:sp>
      <p:sp>
        <p:nvSpPr>
          <p:cNvPr id="8" name="Text 6"/>
          <p:cNvSpPr/>
          <p:nvPr/>
        </p:nvSpPr>
        <p:spPr>
          <a:xfrm>
            <a:off x="822960" y="3154680"/>
            <a:ext cx="3063240" cy="320040"/>
          </a:xfrm>
          <a:prstGeom prst="rect">
            <a:avLst/>
          </a:prstGeom>
          <a:noFill/>
          <a:ln/>
        </p:spPr>
        <p:txBody>
          <a:bodyPr wrap="square" lIns="0" tIns="0" rIns="0" bIns="0" rtlCol="0" anchor="ctr"/>
          <a:lstStyle/>
          <a:p>
            <a:pPr indent="0" marL="0">
              <a:buNone/>
            </a:pPr>
            <a:r>
              <a:rPr lang="en-US" sz="1200" b="1" dirty="0">
                <a:solidFill>
                  <a:srgbClr val="1E293B"/>
                </a:solidFill>
                <a:latin typeface="Inter" pitchFamily="34" charset="0"/>
                <a:ea typeface="Inter" pitchFamily="34" charset="-122"/>
                <a:cs typeface="Inter" pitchFamily="34" charset="-120"/>
              </a:rPr>
              <a:t>paid users in ~24 months</a:t>
            </a:r>
            <a:endParaRPr lang="en-US" sz="1200" dirty="0"/>
          </a:p>
        </p:txBody>
      </p:sp>
      <p:sp>
        <p:nvSpPr>
          <p:cNvPr id="9" name="Text 7"/>
          <p:cNvSpPr/>
          <p:nvPr/>
        </p:nvSpPr>
        <p:spPr>
          <a:xfrm>
            <a:off x="822960" y="3474720"/>
            <a:ext cx="3063240" cy="45720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≈40–50%/month compounding through the hype peak.</a:t>
            </a:r>
            <a:endParaRPr lang="en-US" sz="1000" dirty="0"/>
          </a:p>
        </p:txBody>
      </p:sp>
      <p:sp>
        <p:nvSpPr>
          <p:cNvPr id="10" name="Shape 8"/>
          <p:cNvSpPr/>
          <p:nvPr/>
        </p:nvSpPr>
        <p:spPr>
          <a:xfrm>
            <a:off x="4389120" y="1783080"/>
            <a:ext cx="3611880" cy="2194560"/>
          </a:xfrm>
          <a:prstGeom prst="rect">
            <a:avLst/>
          </a:prstGeom>
          <a:solidFill>
            <a:srgbClr val="FFFFFF"/>
          </a:solidFill>
          <a:ln w="12700">
            <a:solidFill>
              <a:srgbClr val="E2E8F0"/>
            </a:solidFill>
            <a:prstDash val="solid"/>
          </a:ln>
        </p:spPr>
        <p:txBody>
          <a:bodyPr/>
          <a:p/>
        </p:txBody>
      </p:sp>
      <p:sp>
        <p:nvSpPr>
          <p:cNvPr id="11" name="Shape 9"/>
          <p:cNvSpPr/>
          <p:nvPr/>
        </p:nvSpPr>
        <p:spPr>
          <a:xfrm>
            <a:off x="4389120" y="1783080"/>
            <a:ext cx="3611880" cy="73152"/>
          </a:xfrm>
          <a:prstGeom prst="rect">
            <a:avLst/>
          </a:prstGeom>
          <a:solidFill>
            <a:srgbClr val="F59E0B"/>
          </a:solidFill>
          <a:ln w="12700">
            <a:solidFill>
              <a:srgbClr val="F59E0B"/>
            </a:solidFill>
            <a:prstDash val="solid"/>
          </a:ln>
        </p:spPr>
        <p:txBody>
          <a:bodyPr/>
          <a:p/>
        </p:txBody>
      </p:sp>
      <p:sp>
        <p:nvSpPr>
          <p:cNvPr id="12" name="Text 10"/>
          <p:cNvSpPr/>
          <p:nvPr/>
        </p:nvSpPr>
        <p:spPr>
          <a:xfrm>
            <a:off x="4663440" y="1984248"/>
            <a:ext cx="3063240" cy="274320"/>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LOVABLE.DEV</a:t>
            </a:r>
            <a:endParaRPr lang="en-US" sz="1000" dirty="0"/>
          </a:p>
        </p:txBody>
      </p:sp>
      <p:sp>
        <p:nvSpPr>
          <p:cNvPr id="13" name="Text 11"/>
          <p:cNvSpPr/>
          <p:nvPr/>
        </p:nvSpPr>
        <p:spPr>
          <a:xfrm>
            <a:off x="4663440" y="2286000"/>
            <a:ext cx="3063240" cy="868680"/>
          </a:xfrm>
          <a:prstGeom prst="rect">
            <a:avLst/>
          </a:prstGeom>
          <a:noFill/>
          <a:ln/>
        </p:spPr>
        <p:txBody>
          <a:bodyPr wrap="square" lIns="0" tIns="0" rIns="0" bIns="0" rtlCol="0" anchor="ctr"/>
          <a:lstStyle/>
          <a:p>
            <a:pPr indent="0" marL="0">
              <a:buNone/>
            </a:pPr>
            <a:r>
              <a:rPr lang="en-US" sz="5200" b="1" dirty="0">
                <a:solidFill>
                  <a:srgbClr val="1E293B"/>
                </a:solidFill>
                <a:latin typeface="Inter" pitchFamily="34" charset="0"/>
                <a:ea typeface="Inter" pitchFamily="34" charset="-122"/>
                <a:cs typeface="Inter" pitchFamily="34" charset="-120"/>
              </a:rPr>
              <a:t>$5M+</a:t>
            </a:r>
            <a:endParaRPr lang="en-US" sz="5200" dirty="0"/>
          </a:p>
        </p:txBody>
      </p:sp>
      <p:sp>
        <p:nvSpPr>
          <p:cNvPr id="14" name="Text 12"/>
          <p:cNvSpPr/>
          <p:nvPr/>
        </p:nvSpPr>
        <p:spPr>
          <a:xfrm>
            <a:off x="4663440" y="3154680"/>
            <a:ext cx="3063240" cy="320040"/>
          </a:xfrm>
          <a:prstGeom prst="rect">
            <a:avLst/>
          </a:prstGeom>
          <a:noFill/>
          <a:ln/>
        </p:spPr>
        <p:txBody>
          <a:bodyPr wrap="square" lIns="0" tIns="0" rIns="0" bIns="0" rtlCol="0" anchor="ctr"/>
          <a:lstStyle/>
          <a:p>
            <a:pPr indent="0" marL="0">
              <a:buNone/>
            </a:pPr>
            <a:r>
              <a:rPr lang="en-US" sz="1200" b="1" dirty="0">
                <a:solidFill>
                  <a:srgbClr val="1E293B"/>
                </a:solidFill>
                <a:latin typeface="Inter" pitchFamily="34" charset="0"/>
                <a:ea typeface="Inter" pitchFamily="34" charset="-122"/>
                <a:cs typeface="Inter" pitchFamily="34" charset="-120"/>
              </a:rPr>
              <a:t>MRR in ~12 months</a:t>
            </a:r>
            <a:endParaRPr lang="en-US" sz="1200" dirty="0"/>
          </a:p>
        </p:txBody>
      </p:sp>
      <p:sp>
        <p:nvSpPr>
          <p:cNvPr id="15" name="Text 13"/>
          <p:cNvSpPr/>
          <p:nvPr/>
        </p:nvSpPr>
        <p:spPr>
          <a:xfrm>
            <a:off x="4663440" y="3474720"/>
            <a:ext cx="3063240" cy="45720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≈50K paying users from a standing start.</a:t>
            </a:r>
            <a:endParaRPr lang="en-US" sz="1000" dirty="0"/>
          </a:p>
        </p:txBody>
      </p:sp>
      <p:sp>
        <p:nvSpPr>
          <p:cNvPr id="16" name="Shape 14"/>
          <p:cNvSpPr/>
          <p:nvPr/>
        </p:nvSpPr>
        <p:spPr>
          <a:xfrm>
            <a:off x="8229600" y="1783080"/>
            <a:ext cx="3611880" cy="2194560"/>
          </a:xfrm>
          <a:prstGeom prst="rect">
            <a:avLst/>
          </a:prstGeom>
          <a:solidFill>
            <a:srgbClr val="FFFFFF"/>
          </a:solidFill>
          <a:ln w="12700">
            <a:solidFill>
              <a:srgbClr val="E2E8F0"/>
            </a:solidFill>
            <a:prstDash val="solid"/>
          </a:ln>
        </p:spPr>
        <p:txBody>
          <a:bodyPr/>
          <a:p/>
        </p:txBody>
      </p:sp>
      <p:sp>
        <p:nvSpPr>
          <p:cNvPr id="17" name="Shape 15"/>
          <p:cNvSpPr/>
          <p:nvPr/>
        </p:nvSpPr>
        <p:spPr>
          <a:xfrm>
            <a:off x="8229600" y="1783080"/>
            <a:ext cx="3611880" cy="73152"/>
          </a:xfrm>
          <a:prstGeom prst="rect">
            <a:avLst/>
          </a:prstGeom>
          <a:solidFill>
            <a:srgbClr val="F59E0B"/>
          </a:solidFill>
          <a:ln w="12700">
            <a:solidFill>
              <a:srgbClr val="F59E0B"/>
            </a:solidFill>
            <a:prstDash val="solid"/>
          </a:ln>
        </p:spPr>
        <p:txBody>
          <a:bodyPr/>
          <a:p/>
        </p:txBody>
      </p:sp>
      <p:sp>
        <p:nvSpPr>
          <p:cNvPr id="18" name="Text 16"/>
          <p:cNvSpPr/>
          <p:nvPr/>
        </p:nvSpPr>
        <p:spPr>
          <a:xfrm>
            <a:off x="8503920" y="1984248"/>
            <a:ext cx="3063240" cy="274320"/>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BOLT.NEW</a:t>
            </a:r>
            <a:endParaRPr lang="en-US" sz="1000" dirty="0"/>
          </a:p>
        </p:txBody>
      </p:sp>
      <p:sp>
        <p:nvSpPr>
          <p:cNvPr id="19" name="Text 17"/>
          <p:cNvSpPr/>
          <p:nvPr/>
        </p:nvSpPr>
        <p:spPr>
          <a:xfrm>
            <a:off x="8503920" y="2286000"/>
            <a:ext cx="3063240" cy="868680"/>
          </a:xfrm>
          <a:prstGeom prst="rect">
            <a:avLst/>
          </a:prstGeom>
          <a:noFill/>
          <a:ln/>
        </p:spPr>
        <p:txBody>
          <a:bodyPr wrap="square" lIns="0" tIns="0" rIns="0" bIns="0" rtlCol="0" anchor="ctr"/>
          <a:lstStyle/>
          <a:p>
            <a:pPr indent="0" marL="0">
              <a:buNone/>
            </a:pPr>
            <a:r>
              <a:rPr lang="en-US" sz="5200" b="1" dirty="0">
                <a:solidFill>
                  <a:srgbClr val="1E293B"/>
                </a:solidFill>
                <a:latin typeface="Inter" pitchFamily="34" charset="0"/>
                <a:ea typeface="Inter" pitchFamily="34" charset="-122"/>
                <a:cs typeface="Inter" pitchFamily="34" charset="-120"/>
              </a:rPr>
              <a:t>1M</a:t>
            </a:r>
            <a:endParaRPr lang="en-US" sz="5200" dirty="0"/>
          </a:p>
        </p:txBody>
      </p:sp>
      <p:sp>
        <p:nvSpPr>
          <p:cNvPr id="20" name="Text 18"/>
          <p:cNvSpPr/>
          <p:nvPr/>
        </p:nvSpPr>
        <p:spPr>
          <a:xfrm>
            <a:off x="8503920" y="3154680"/>
            <a:ext cx="3063240" cy="320040"/>
          </a:xfrm>
          <a:prstGeom prst="rect">
            <a:avLst/>
          </a:prstGeom>
          <a:noFill/>
          <a:ln/>
        </p:spPr>
        <p:txBody>
          <a:bodyPr wrap="square" lIns="0" tIns="0" rIns="0" bIns="0" rtlCol="0" anchor="ctr"/>
          <a:lstStyle/>
          <a:p>
            <a:pPr indent="0" marL="0">
              <a:buNone/>
            </a:pPr>
            <a:r>
              <a:rPr lang="en-US" sz="1200" b="1" dirty="0">
                <a:solidFill>
                  <a:srgbClr val="1E293B"/>
                </a:solidFill>
                <a:latin typeface="Inter" pitchFamily="34" charset="0"/>
                <a:ea typeface="Inter" pitchFamily="34" charset="-122"/>
                <a:cs typeface="Inter" pitchFamily="34" charset="-120"/>
              </a:rPr>
              <a:t>users in &lt;12 months</a:t>
            </a:r>
            <a:endParaRPr lang="en-US" sz="1200" dirty="0"/>
          </a:p>
        </p:txBody>
      </p:sp>
      <p:sp>
        <p:nvSpPr>
          <p:cNvPr id="21" name="Text 19"/>
          <p:cNvSpPr/>
          <p:nvPr/>
        </p:nvSpPr>
        <p:spPr>
          <a:xfrm>
            <a:off x="8503920" y="3474720"/>
            <a:ext cx="3063240" cy="45720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Peak weeks hit 4–5 figure signups per day.</a:t>
            </a:r>
            <a:endParaRPr lang="en-US" sz="1000" dirty="0"/>
          </a:p>
        </p:txBody>
      </p:sp>
      <p:sp>
        <p:nvSpPr>
          <p:cNvPr id="22" name="Shape 20"/>
          <p:cNvSpPr/>
          <p:nvPr/>
        </p:nvSpPr>
        <p:spPr>
          <a:xfrm>
            <a:off x="548640" y="4206240"/>
            <a:ext cx="11064240" cy="1600200"/>
          </a:xfrm>
          <a:prstGeom prst="rect">
            <a:avLst/>
          </a:prstGeom>
          <a:solidFill>
            <a:srgbClr val="0B1020"/>
          </a:solidFill>
          <a:ln w="12700">
            <a:solidFill>
              <a:srgbClr val="0B1020"/>
            </a:solidFill>
            <a:prstDash val="solid"/>
          </a:ln>
        </p:spPr>
        <p:txBody>
          <a:bodyPr/>
          <a:p/>
        </p:txBody>
      </p:sp>
      <p:sp>
        <p:nvSpPr>
          <p:cNvPr id="23" name="Text 21"/>
          <p:cNvSpPr/>
          <p:nvPr/>
        </p:nvSpPr>
        <p:spPr>
          <a:xfrm>
            <a:off x="777240" y="4343400"/>
            <a:ext cx="10607040" cy="365760"/>
          </a:xfrm>
          <a:prstGeom prst="rect">
            <a:avLst/>
          </a:prstGeom>
          <a:noFill/>
          <a:ln/>
        </p:spPr>
        <p:txBody>
          <a:bodyPr wrap="square" lIns="0" tIns="0" rIns="0" bIns="0" rtlCol="0" anchor="ctr"/>
          <a:lstStyle/>
          <a:p>
            <a:pPr indent="0" marL="0">
              <a:buNone/>
            </a:pPr>
            <a:r>
              <a:rPr lang="en-US" sz="1100" b="1" spc="400" kern="0" dirty="0">
                <a:solidFill>
                  <a:srgbClr val="FCD34D"/>
                </a:solidFill>
                <a:latin typeface="JetBrains Mono" pitchFamily="34" charset="0"/>
                <a:ea typeface="JetBrains Mono" pitchFamily="34" charset="-122"/>
                <a:cs typeface="JetBrains Mono" pitchFamily="34" charset="-120"/>
              </a:rPr>
              <a:t>THIS WINDOW IS NOW  ·  THE INFRASTRUCTURE LAYER IS UNOWNED</a:t>
            </a:r>
            <a:endParaRPr lang="en-US" sz="1100" dirty="0"/>
          </a:p>
        </p:txBody>
      </p:sp>
      <p:sp>
        <p:nvSpPr>
          <p:cNvPr id="24" name="Text 22"/>
          <p:cNvSpPr/>
          <p:nvPr/>
        </p:nvSpPr>
        <p:spPr>
          <a:xfrm>
            <a:off x="777240" y="4754880"/>
            <a:ext cx="10607040" cy="1005840"/>
          </a:xfrm>
          <a:prstGeom prst="rect">
            <a:avLst/>
          </a:prstGeom>
          <a:noFill/>
          <a:ln/>
        </p:spPr>
        <p:txBody>
          <a:bodyPr wrap="square" lIns="0" tIns="0" rIns="0" bIns="0" rtlCol="0" anchor="ctr"/>
          <a:lstStyle/>
          <a:p>
            <a:pPr indent="0" marL="0">
              <a:buNone/>
            </a:pPr>
            <a:r>
              <a:rPr lang="en-US" sz="1500" dirty="0">
                <a:solidFill>
                  <a:srgbClr val="FFFFFF"/>
                </a:solidFill>
                <a:latin typeface="Inter" pitchFamily="34" charset="0"/>
                <a:ea typeface="Inter" pitchFamily="34" charset="-122"/>
                <a:cs typeface="Inter" pitchFamily="34" charset="-120"/>
              </a:rPr>
              <a:t>AI coding tools are doing hyper-growth right now — not gradually, not eventually. Someone is going to own the production substrate every Cursor, Lovable and Bolt user graduates to. Founders who waited on Cursor's 2023 curve are not catching it in 2026.</a:t>
            </a:r>
            <a:endParaRPr lang="en-US" sz="1500" dirty="0"/>
          </a:p>
        </p:txBody>
      </p:sp>
      <p:sp>
        <p:nvSpPr>
          <p:cNvPr id="25" name="Text 23"/>
          <p:cNvSpPr/>
          <p:nvPr/>
        </p:nvSpPr>
        <p:spPr>
          <a:xfrm>
            <a:off x="548640" y="5989320"/>
            <a:ext cx="10972800" cy="274320"/>
          </a:xfrm>
          <a:prstGeom prst="rect">
            <a:avLst/>
          </a:prstGeom>
          <a:noFill/>
          <a:ln/>
        </p:spPr>
        <p:txBody>
          <a:bodyPr wrap="square" lIns="0" tIns="0" rIns="0" bIns="0" rtlCol="0" anchor="ctr"/>
          <a:lstStyle/>
          <a:p>
            <a:pPr indent="0" marL="0">
              <a:buNone/>
            </a:pPr>
            <a:r>
              <a:rPr lang="en-US" sz="900" i="1" dirty="0">
                <a:solidFill>
                  <a:srgbClr val="64748B"/>
                </a:solidFill>
                <a:latin typeface="JetBrains Mono" pitchFamily="34" charset="0"/>
                <a:ea typeface="JetBrains Mono" pitchFamily="34" charset="-122"/>
                <a:cs typeface="JetBrains Mono" pitchFamily="34" charset="-120"/>
              </a:rPr>
              <a:t>Sources: Cursor public statements 2024–2025; Lovable.dev / Anton Osika public posts mid-2025; Bolt.new / StackBlitz public claims 2024.</a:t>
            </a:r>
            <a:endParaRPr lang="en-US" sz="900" dirty="0"/>
          </a:p>
        </p:txBody>
      </p:sp>
      <p:sp>
        <p:nvSpPr>
          <p:cNvPr id="26" name="Text 24"/>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7" name="Text 25"/>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05  ·  PRODUCT FLOW</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Four steps. Real product live in a single sitting.</a:t>
            </a:r>
            <a:endParaRPr lang="en-US" sz="3000" dirty="0"/>
          </a:p>
        </p:txBody>
      </p:sp>
      <p:sp>
        <p:nvSpPr>
          <p:cNvPr id="4" name="Text 2"/>
          <p:cNvSpPr/>
          <p:nvPr/>
        </p:nvSpPr>
        <p:spPr>
          <a:xfrm>
            <a:off x="548640" y="1874520"/>
            <a:ext cx="640080" cy="365760"/>
          </a:xfrm>
          <a:prstGeom prst="rect">
            <a:avLst/>
          </a:prstGeom>
          <a:noFill/>
          <a:ln/>
        </p:spPr>
        <p:txBody>
          <a:bodyPr wrap="square" lIns="0" tIns="0" rIns="0" bIns="0" rtlCol="0" anchor="ctr"/>
          <a:lstStyle/>
          <a:p>
            <a:pPr indent="0" marL="0">
              <a:buNone/>
            </a:pPr>
            <a:r>
              <a:rPr lang="en-US" sz="1100" b="1" spc="400" kern="0" dirty="0">
                <a:solidFill>
                  <a:srgbClr val="F59E0B"/>
                </a:solidFill>
                <a:latin typeface="JetBrains Mono" pitchFamily="34" charset="0"/>
                <a:ea typeface="JetBrains Mono" pitchFamily="34" charset="-122"/>
                <a:cs typeface="JetBrains Mono" pitchFamily="34" charset="-120"/>
              </a:rPr>
              <a:t>01</a:t>
            </a:r>
            <a:endParaRPr lang="en-US" sz="1100" dirty="0"/>
          </a:p>
        </p:txBody>
      </p:sp>
      <p:sp>
        <p:nvSpPr>
          <p:cNvPr id="5" name="Text 3"/>
          <p:cNvSpPr/>
          <p:nvPr/>
        </p:nvSpPr>
        <p:spPr>
          <a:xfrm>
            <a:off x="548640" y="2194560"/>
            <a:ext cx="2743200" cy="384048"/>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Wizard at /start</a:t>
            </a:r>
            <a:endParaRPr lang="en-US" sz="1600" dirty="0"/>
          </a:p>
        </p:txBody>
      </p:sp>
      <p:sp>
        <p:nvSpPr>
          <p:cNvPr id="6" name="Text 4"/>
          <p:cNvSpPr/>
          <p:nvPr/>
        </p:nvSpPr>
        <p:spPr>
          <a:xfrm>
            <a:off x="548640" y="2560320"/>
            <a:ext cx="274320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60 seconds</a:t>
            </a:r>
            <a:endParaRPr lang="en-US" sz="1000" dirty="0"/>
          </a:p>
        </p:txBody>
      </p:sp>
      <p:sp>
        <p:nvSpPr>
          <p:cNvPr id="7" name="Shape 5"/>
          <p:cNvSpPr/>
          <p:nvPr/>
        </p:nvSpPr>
        <p:spPr>
          <a:xfrm>
            <a:off x="548640" y="2971800"/>
            <a:ext cx="2743200" cy="3017520"/>
          </a:xfrm>
          <a:prstGeom prst="rect">
            <a:avLst/>
          </a:prstGeom>
          <a:solidFill>
            <a:srgbClr val="0B1020"/>
          </a:solidFill>
          <a:ln w="12700">
            <a:solidFill>
              <a:srgbClr val="0B1020"/>
            </a:solidFill>
            <a:prstDash val="solid"/>
          </a:ln>
        </p:spPr>
        <p:txBody>
          <a:bodyPr/>
          <a:p/>
        </p:txBody>
      </p:sp>
      <p:sp>
        <p:nvSpPr>
          <p:cNvPr id="8" name="Shape 6"/>
          <p:cNvSpPr/>
          <p:nvPr/>
        </p:nvSpPr>
        <p:spPr>
          <a:xfrm>
            <a:off x="713232" y="3136392"/>
            <a:ext cx="146304" cy="146304"/>
          </a:xfrm>
          <a:prstGeom prst="ellipse">
            <a:avLst/>
          </a:prstGeom>
          <a:solidFill>
            <a:srgbClr val="EF4444"/>
          </a:solidFill>
          <a:ln w="12700">
            <a:solidFill>
              <a:srgbClr val="EF4444"/>
            </a:solidFill>
            <a:prstDash val="solid"/>
          </a:ln>
        </p:spPr>
        <p:txBody>
          <a:bodyPr/>
          <a:p/>
        </p:txBody>
      </p:sp>
      <p:sp>
        <p:nvSpPr>
          <p:cNvPr id="9" name="Shape 7"/>
          <p:cNvSpPr/>
          <p:nvPr/>
        </p:nvSpPr>
        <p:spPr>
          <a:xfrm>
            <a:off x="914400" y="3136392"/>
            <a:ext cx="146304" cy="146304"/>
          </a:xfrm>
          <a:prstGeom prst="ellipse">
            <a:avLst/>
          </a:prstGeom>
          <a:solidFill>
            <a:srgbClr val="F59E0B"/>
          </a:solidFill>
          <a:ln w="12700">
            <a:solidFill>
              <a:srgbClr val="F59E0B"/>
            </a:solidFill>
            <a:prstDash val="solid"/>
          </a:ln>
        </p:spPr>
        <p:txBody>
          <a:bodyPr/>
          <a:p/>
        </p:txBody>
      </p:sp>
      <p:sp>
        <p:nvSpPr>
          <p:cNvPr id="10" name="Shape 8"/>
          <p:cNvSpPr/>
          <p:nvPr/>
        </p:nvSpPr>
        <p:spPr>
          <a:xfrm>
            <a:off x="1115568" y="3136392"/>
            <a:ext cx="146304" cy="146304"/>
          </a:xfrm>
          <a:prstGeom prst="ellipse">
            <a:avLst/>
          </a:prstGeom>
          <a:solidFill>
            <a:srgbClr val="10B981"/>
          </a:solidFill>
          <a:ln w="12700">
            <a:solidFill>
              <a:srgbClr val="10B981"/>
            </a:solidFill>
            <a:prstDash val="solid"/>
          </a:ln>
        </p:spPr>
        <p:txBody>
          <a:bodyPr/>
          <a:p/>
        </p:txBody>
      </p:sp>
      <p:sp>
        <p:nvSpPr>
          <p:cNvPr id="11" name="Shape 9"/>
          <p:cNvSpPr/>
          <p:nvPr/>
        </p:nvSpPr>
        <p:spPr>
          <a:xfrm>
            <a:off x="548640" y="3474720"/>
            <a:ext cx="2743200" cy="0"/>
          </a:xfrm>
          <a:prstGeom prst="line">
            <a:avLst/>
          </a:prstGeom>
          <a:noFill/>
          <a:ln w="12700">
            <a:solidFill>
              <a:srgbClr val="1E293B"/>
            </a:solidFill>
            <a:prstDash val="solid"/>
          </a:ln>
        </p:spPr>
        <p:txBody>
          <a:bodyPr/>
          <a:p/>
        </p:txBody>
      </p:sp>
      <p:sp>
        <p:nvSpPr>
          <p:cNvPr id="12" name="Text 10"/>
          <p:cNvSpPr/>
          <p:nvPr/>
        </p:nvSpPr>
        <p:spPr>
          <a:xfrm>
            <a:off x="713232" y="3657600"/>
            <a:ext cx="822960" cy="274320"/>
          </a:xfrm>
          <a:prstGeom prst="rect">
            <a:avLst/>
          </a:prstGeom>
          <a:noFill/>
          <a:ln/>
        </p:spPr>
        <p:txBody>
          <a:bodyPr wrap="square" lIns="0" tIns="0" rIns="0" bIns="0" rtlCol="0" anchor="ctr"/>
          <a:lstStyle/>
          <a:p>
            <a:pPr indent="0" marL="0">
              <a:buNone/>
            </a:pPr>
            <a:r>
              <a:rPr lang="en-US" sz="900" dirty="0">
                <a:solidFill>
                  <a:srgbClr val="94A3B8"/>
                </a:solidFill>
                <a:latin typeface="JetBrains Mono" pitchFamily="34" charset="0"/>
                <a:ea typeface="JetBrains Mono" pitchFamily="34" charset="-122"/>
                <a:cs typeface="JetBrains Mono" pitchFamily="34" charset="-120"/>
              </a:rPr>
              <a:t>product:</a:t>
            </a:r>
            <a:endParaRPr lang="en-US" sz="900" dirty="0"/>
          </a:p>
        </p:txBody>
      </p:sp>
      <p:sp>
        <p:nvSpPr>
          <p:cNvPr id="13" name="Text 11"/>
          <p:cNvSpPr/>
          <p:nvPr/>
        </p:nvSpPr>
        <p:spPr>
          <a:xfrm>
            <a:off x="1508760" y="3657600"/>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PrepSheet — meals for PT clients</a:t>
            </a:r>
            <a:endParaRPr lang="en-US" sz="1000" dirty="0"/>
          </a:p>
        </p:txBody>
      </p:sp>
      <p:sp>
        <p:nvSpPr>
          <p:cNvPr id="14" name="Text 12"/>
          <p:cNvSpPr/>
          <p:nvPr/>
        </p:nvSpPr>
        <p:spPr>
          <a:xfrm>
            <a:off x="713232" y="4069080"/>
            <a:ext cx="822960" cy="274320"/>
          </a:xfrm>
          <a:prstGeom prst="rect">
            <a:avLst/>
          </a:prstGeom>
          <a:noFill/>
          <a:ln/>
        </p:spPr>
        <p:txBody>
          <a:bodyPr wrap="square" lIns="0" tIns="0" rIns="0" bIns="0" rtlCol="0" anchor="ctr"/>
          <a:lstStyle/>
          <a:p>
            <a:pPr indent="0" marL="0">
              <a:buNone/>
            </a:pPr>
            <a:r>
              <a:rPr lang="en-US" sz="900" dirty="0">
                <a:solidFill>
                  <a:srgbClr val="94A3B8"/>
                </a:solidFill>
                <a:latin typeface="JetBrains Mono" pitchFamily="34" charset="0"/>
                <a:ea typeface="JetBrains Mono" pitchFamily="34" charset="-122"/>
                <a:cs typeface="JetBrains Mono" pitchFamily="34" charset="-120"/>
              </a:rPr>
              <a:t>email:</a:t>
            </a:r>
            <a:endParaRPr lang="en-US" sz="900" dirty="0"/>
          </a:p>
        </p:txBody>
      </p:sp>
      <p:sp>
        <p:nvSpPr>
          <p:cNvPr id="15" name="Text 13"/>
          <p:cNvSpPr/>
          <p:nvPr/>
        </p:nvSpPr>
        <p:spPr>
          <a:xfrm>
            <a:off x="1508760" y="4069080"/>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alex@prep-pt.uk</a:t>
            </a:r>
            <a:endParaRPr lang="en-US" sz="1000" dirty="0"/>
          </a:p>
        </p:txBody>
      </p:sp>
      <p:sp>
        <p:nvSpPr>
          <p:cNvPr id="16" name="Text 14"/>
          <p:cNvSpPr/>
          <p:nvPr/>
        </p:nvSpPr>
        <p:spPr>
          <a:xfrm>
            <a:off x="713232" y="4480560"/>
            <a:ext cx="822960" cy="274320"/>
          </a:xfrm>
          <a:prstGeom prst="rect">
            <a:avLst/>
          </a:prstGeom>
          <a:noFill/>
          <a:ln/>
        </p:spPr>
        <p:txBody>
          <a:bodyPr wrap="square" lIns="0" tIns="0" rIns="0" bIns="0" rtlCol="0" anchor="ctr"/>
          <a:lstStyle/>
          <a:p>
            <a:pPr indent="0" marL="0">
              <a:buNone/>
            </a:pPr>
            <a:r>
              <a:rPr lang="en-US" sz="900" dirty="0">
                <a:solidFill>
                  <a:srgbClr val="94A3B8"/>
                </a:solidFill>
                <a:latin typeface="JetBrains Mono" pitchFamily="34" charset="0"/>
                <a:ea typeface="JetBrains Mono" pitchFamily="34" charset="-122"/>
                <a:cs typeface="JetBrains Mono" pitchFamily="34" charset="-120"/>
              </a:rPr>
              <a:t>plan:</a:t>
            </a:r>
            <a:endParaRPr lang="en-US" sz="900" dirty="0"/>
          </a:p>
        </p:txBody>
      </p:sp>
      <p:sp>
        <p:nvSpPr>
          <p:cNvPr id="17" name="Text 15"/>
          <p:cNvSpPr/>
          <p:nvPr/>
        </p:nvSpPr>
        <p:spPr>
          <a:xfrm>
            <a:off x="1508760" y="4480560"/>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Sandbox  (free, 30-day idle)</a:t>
            </a:r>
            <a:endParaRPr lang="en-US" sz="1000" dirty="0"/>
          </a:p>
        </p:txBody>
      </p:sp>
      <p:sp>
        <p:nvSpPr>
          <p:cNvPr id="18" name="Shape 16"/>
          <p:cNvSpPr/>
          <p:nvPr/>
        </p:nvSpPr>
        <p:spPr>
          <a:xfrm>
            <a:off x="713232" y="5074920"/>
            <a:ext cx="2414016" cy="411480"/>
          </a:xfrm>
          <a:prstGeom prst="roundRect">
            <a:avLst>
              <a:gd name="adj" fmla="val 13333"/>
            </a:avLst>
          </a:prstGeom>
          <a:solidFill>
            <a:srgbClr val="4F46E5"/>
          </a:solidFill>
          <a:ln w="12700">
            <a:solidFill>
              <a:srgbClr val="4F46E5"/>
            </a:solidFill>
            <a:prstDash val="solid"/>
          </a:ln>
        </p:spPr>
        <p:txBody>
          <a:bodyPr/>
          <a:p/>
        </p:txBody>
      </p:sp>
      <p:sp>
        <p:nvSpPr>
          <p:cNvPr id="19" name="Text 17"/>
          <p:cNvSpPr/>
          <p:nvPr/>
        </p:nvSpPr>
        <p:spPr>
          <a:xfrm>
            <a:off x="713232" y="5074920"/>
            <a:ext cx="2414016"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Start building →</a:t>
            </a:r>
            <a:endParaRPr lang="en-US" sz="1100" dirty="0"/>
          </a:p>
        </p:txBody>
      </p:sp>
      <p:sp>
        <p:nvSpPr>
          <p:cNvPr id="20" name="Text 18"/>
          <p:cNvSpPr/>
          <p:nvPr/>
        </p:nvSpPr>
        <p:spPr>
          <a:xfrm>
            <a:off x="3383280" y="1874520"/>
            <a:ext cx="640080" cy="365760"/>
          </a:xfrm>
          <a:prstGeom prst="rect">
            <a:avLst/>
          </a:prstGeom>
          <a:noFill/>
          <a:ln/>
        </p:spPr>
        <p:txBody>
          <a:bodyPr wrap="square" lIns="0" tIns="0" rIns="0" bIns="0" rtlCol="0" anchor="ctr"/>
          <a:lstStyle/>
          <a:p>
            <a:pPr indent="0" marL="0">
              <a:buNone/>
            </a:pPr>
            <a:r>
              <a:rPr lang="en-US" sz="1100" b="1" spc="400" kern="0" dirty="0">
                <a:solidFill>
                  <a:srgbClr val="F59E0B"/>
                </a:solidFill>
                <a:latin typeface="JetBrains Mono" pitchFamily="34" charset="0"/>
                <a:ea typeface="JetBrains Mono" pitchFamily="34" charset="-122"/>
                <a:cs typeface="JetBrains Mono" pitchFamily="34" charset="-120"/>
              </a:rPr>
              <a:t>02</a:t>
            </a:r>
            <a:endParaRPr lang="en-US" sz="1100" dirty="0"/>
          </a:p>
        </p:txBody>
      </p:sp>
      <p:sp>
        <p:nvSpPr>
          <p:cNvPr id="21" name="Text 19"/>
          <p:cNvSpPr/>
          <p:nvPr/>
        </p:nvSpPr>
        <p:spPr>
          <a:xfrm>
            <a:off x="3383280" y="2194560"/>
            <a:ext cx="2743200" cy="384048"/>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Sandbox live</a:t>
            </a:r>
            <a:endParaRPr lang="en-US" sz="1600" dirty="0"/>
          </a:p>
        </p:txBody>
      </p:sp>
      <p:sp>
        <p:nvSpPr>
          <p:cNvPr id="22" name="Text 20"/>
          <p:cNvSpPr/>
          <p:nvPr/>
        </p:nvSpPr>
        <p:spPr>
          <a:xfrm>
            <a:off x="3383280" y="2560320"/>
            <a:ext cx="274320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auto-provisioned</a:t>
            </a:r>
            <a:endParaRPr lang="en-US" sz="1000" dirty="0"/>
          </a:p>
        </p:txBody>
      </p:sp>
      <p:sp>
        <p:nvSpPr>
          <p:cNvPr id="23" name="Shape 21"/>
          <p:cNvSpPr/>
          <p:nvPr/>
        </p:nvSpPr>
        <p:spPr>
          <a:xfrm>
            <a:off x="3383280" y="2971800"/>
            <a:ext cx="2743200" cy="3017520"/>
          </a:xfrm>
          <a:prstGeom prst="rect">
            <a:avLst/>
          </a:prstGeom>
          <a:solidFill>
            <a:srgbClr val="0B1020"/>
          </a:solidFill>
          <a:ln w="12700">
            <a:solidFill>
              <a:srgbClr val="0B1020"/>
            </a:solidFill>
            <a:prstDash val="solid"/>
          </a:ln>
        </p:spPr>
        <p:txBody>
          <a:bodyPr/>
          <a:p/>
        </p:txBody>
      </p:sp>
      <p:sp>
        <p:nvSpPr>
          <p:cNvPr id="24" name="Shape 22"/>
          <p:cNvSpPr/>
          <p:nvPr/>
        </p:nvSpPr>
        <p:spPr>
          <a:xfrm>
            <a:off x="3547872" y="3136392"/>
            <a:ext cx="146304" cy="146304"/>
          </a:xfrm>
          <a:prstGeom prst="ellipse">
            <a:avLst/>
          </a:prstGeom>
          <a:solidFill>
            <a:srgbClr val="EF4444"/>
          </a:solidFill>
          <a:ln w="12700">
            <a:solidFill>
              <a:srgbClr val="EF4444"/>
            </a:solidFill>
            <a:prstDash val="solid"/>
          </a:ln>
        </p:spPr>
        <p:txBody>
          <a:bodyPr/>
          <a:p/>
        </p:txBody>
      </p:sp>
      <p:sp>
        <p:nvSpPr>
          <p:cNvPr id="25" name="Shape 23"/>
          <p:cNvSpPr/>
          <p:nvPr/>
        </p:nvSpPr>
        <p:spPr>
          <a:xfrm>
            <a:off x="3749040" y="3136392"/>
            <a:ext cx="146304" cy="146304"/>
          </a:xfrm>
          <a:prstGeom prst="ellipse">
            <a:avLst/>
          </a:prstGeom>
          <a:solidFill>
            <a:srgbClr val="F59E0B"/>
          </a:solidFill>
          <a:ln w="12700">
            <a:solidFill>
              <a:srgbClr val="F59E0B"/>
            </a:solidFill>
            <a:prstDash val="solid"/>
          </a:ln>
        </p:spPr>
        <p:txBody>
          <a:bodyPr/>
          <a:p/>
        </p:txBody>
      </p:sp>
      <p:sp>
        <p:nvSpPr>
          <p:cNvPr id="26" name="Shape 24"/>
          <p:cNvSpPr/>
          <p:nvPr/>
        </p:nvSpPr>
        <p:spPr>
          <a:xfrm>
            <a:off x="3950208" y="3136392"/>
            <a:ext cx="146304" cy="146304"/>
          </a:xfrm>
          <a:prstGeom prst="ellipse">
            <a:avLst/>
          </a:prstGeom>
          <a:solidFill>
            <a:srgbClr val="10B981"/>
          </a:solidFill>
          <a:ln w="12700">
            <a:solidFill>
              <a:srgbClr val="10B981"/>
            </a:solidFill>
            <a:prstDash val="solid"/>
          </a:ln>
        </p:spPr>
        <p:txBody>
          <a:bodyPr/>
          <a:p/>
        </p:txBody>
      </p:sp>
      <p:sp>
        <p:nvSpPr>
          <p:cNvPr id="27" name="Shape 25"/>
          <p:cNvSpPr/>
          <p:nvPr/>
        </p:nvSpPr>
        <p:spPr>
          <a:xfrm>
            <a:off x="3383280" y="3474720"/>
            <a:ext cx="2743200" cy="0"/>
          </a:xfrm>
          <a:prstGeom prst="line">
            <a:avLst/>
          </a:prstGeom>
          <a:noFill/>
          <a:ln w="12700">
            <a:solidFill>
              <a:srgbClr val="1E293B"/>
            </a:solidFill>
            <a:prstDash val="solid"/>
          </a:ln>
        </p:spPr>
        <p:txBody>
          <a:bodyPr/>
          <a:p/>
        </p:txBody>
      </p:sp>
      <p:sp>
        <p:nvSpPr>
          <p:cNvPr id="28" name="Text 26"/>
          <p:cNvSpPr/>
          <p:nvPr/>
        </p:nvSpPr>
        <p:spPr>
          <a:xfrm>
            <a:off x="3547872" y="3657600"/>
            <a:ext cx="2414016" cy="274320"/>
          </a:xfrm>
          <a:prstGeom prst="rect">
            <a:avLst/>
          </a:prstGeom>
          <a:noFill/>
          <a:ln/>
        </p:spPr>
        <p:txBody>
          <a:bodyPr wrap="square" lIns="0" tIns="0" rIns="0" bIns="0" rtlCol="0" anchor="ctr"/>
          <a:lstStyle/>
          <a:p>
            <a:pPr indent="0" marL="0">
              <a:buNone/>
            </a:pPr>
            <a:r>
              <a:rPr lang="en-US" sz="1000" dirty="0">
                <a:solidFill>
                  <a:srgbClr val="A5B4FC"/>
                </a:solidFill>
                <a:latin typeface="JetBrains Mono" pitchFamily="34" charset="0"/>
                <a:ea typeface="JetBrains Mono" pitchFamily="34" charset="-122"/>
                <a:cs typeface="JetBrains Mono" pitchFamily="34" charset="-120"/>
              </a:rPr>
              <a:t>https://prepsheet.hatchik.com</a:t>
            </a:r>
            <a:endParaRPr lang="en-US" sz="1000" dirty="0"/>
          </a:p>
        </p:txBody>
      </p:sp>
      <p:sp>
        <p:nvSpPr>
          <p:cNvPr id="29" name="Text 27"/>
          <p:cNvSpPr/>
          <p:nvPr/>
        </p:nvSpPr>
        <p:spPr>
          <a:xfrm>
            <a:off x="3547872" y="4023360"/>
            <a:ext cx="2414016" cy="45720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PrepSheet</a:t>
            </a:r>
            <a:endParaRPr lang="en-US" sz="1800" dirty="0"/>
          </a:p>
        </p:txBody>
      </p:sp>
      <p:sp>
        <p:nvSpPr>
          <p:cNvPr id="30" name="Text 28"/>
          <p:cNvSpPr/>
          <p:nvPr/>
        </p:nvSpPr>
        <p:spPr>
          <a:xfrm>
            <a:off x="3547872" y="4434840"/>
            <a:ext cx="2414016" cy="274320"/>
          </a:xfrm>
          <a:prstGeom prst="rect">
            <a:avLst/>
          </a:prstGeom>
          <a:noFill/>
          <a:ln/>
        </p:spPr>
        <p:txBody>
          <a:bodyPr wrap="square" lIns="0" tIns="0" rIns="0" bIns="0" rtlCol="0" anchor="ctr"/>
          <a:lstStyle/>
          <a:p>
            <a:pPr indent="0" marL="0">
              <a:buNone/>
            </a:pPr>
            <a:r>
              <a:rPr lang="en-US" sz="1000" dirty="0">
                <a:solidFill>
                  <a:srgbClr val="94A3B8"/>
                </a:solidFill>
                <a:latin typeface="Inter" pitchFamily="34" charset="0"/>
                <a:ea typeface="Inter" pitchFamily="34" charset="-122"/>
                <a:cs typeface="Inter" pitchFamily="34" charset="-120"/>
              </a:rPr>
              <a:t>Meals for PT clients</a:t>
            </a:r>
            <a:endParaRPr lang="en-US" sz="1000" dirty="0"/>
          </a:p>
        </p:txBody>
      </p:sp>
      <p:sp>
        <p:nvSpPr>
          <p:cNvPr id="31" name="Text 29"/>
          <p:cNvSpPr/>
          <p:nvPr/>
        </p:nvSpPr>
        <p:spPr>
          <a:xfrm>
            <a:off x="3547872" y="4846320"/>
            <a:ext cx="2414016" cy="1463040"/>
          </a:xfrm>
          <a:prstGeom prst="rect">
            <a:avLst/>
          </a:prstGeom>
          <a:noFill/>
          <a:ln/>
        </p:spPr>
        <p:txBody>
          <a:bodyPr wrap="square" lIns="0" tIns="0" rIns="0" bIns="0" rtlCol="0" anchor="ctr"/>
          <a:lstStyle/>
          <a:p>
            <a:pPr indent="0" marL="0">
              <a:buNone/>
            </a:pPr>
            <a:r>
              <a:rPr lang="en-US" sz="900" dirty="0">
                <a:solidFill>
                  <a:srgbClr val="CBD5E1"/>
                </a:solidFill>
                <a:latin typeface="JetBrains Mono" pitchFamily="34" charset="0"/>
                <a:ea typeface="JetBrains Mono" pitchFamily="34" charset="-122"/>
                <a:cs typeface="JetBrains Mono" pitchFamily="34" charset="-120"/>
              </a:rPr>
              <a:t>9 containers up.  Auth, Postgres, Storage, Realtime, Stripe stub, Resend, Caddy + wildcard TLS.</a:t>
            </a:r>
            <a:endParaRPr lang="en-US" sz="900" dirty="0"/>
          </a:p>
        </p:txBody>
      </p:sp>
      <p:sp>
        <p:nvSpPr>
          <p:cNvPr id="32" name="Text 30"/>
          <p:cNvSpPr/>
          <p:nvPr/>
        </p:nvSpPr>
        <p:spPr>
          <a:xfrm>
            <a:off x="6217920" y="1874520"/>
            <a:ext cx="640080" cy="365760"/>
          </a:xfrm>
          <a:prstGeom prst="rect">
            <a:avLst/>
          </a:prstGeom>
          <a:noFill/>
          <a:ln/>
        </p:spPr>
        <p:txBody>
          <a:bodyPr wrap="square" lIns="0" tIns="0" rIns="0" bIns="0" rtlCol="0" anchor="ctr"/>
          <a:lstStyle/>
          <a:p>
            <a:pPr indent="0" marL="0">
              <a:buNone/>
            </a:pPr>
            <a:r>
              <a:rPr lang="en-US" sz="1100" b="1" spc="400" kern="0" dirty="0">
                <a:solidFill>
                  <a:srgbClr val="F59E0B"/>
                </a:solidFill>
                <a:latin typeface="JetBrains Mono" pitchFamily="34" charset="0"/>
                <a:ea typeface="JetBrains Mono" pitchFamily="34" charset="-122"/>
                <a:cs typeface="JetBrains Mono" pitchFamily="34" charset="-120"/>
              </a:rPr>
              <a:t>03</a:t>
            </a:r>
            <a:endParaRPr lang="en-US" sz="1100" dirty="0"/>
          </a:p>
        </p:txBody>
      </p:sp>
      <p:sp>
        <p:nvSpPr>
          <p:cNvPr id="33" name="Text 31"/>
          <p:cNvSpPr/>
          <p:nvPr/>
        </p:nvSpPr>
        <p:spPr>
          <a:xfrm>
            <a:off x="6217920" y="2194560"/>
            <a:ext cx="2743200" cy="384048"/>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AI reads handoff</a:t>
            </a:r>
            <a:endParaRPr lang="en-US" sz="1600" dirty="0"/>
          </a:p>
        </p:txBody>
      </p:sp>
      <p:sp>
        <p:nvSpPr>
          <p:cNvPr id="34" name="Text 32"/>
          <p:cNvSpPr/>
          <p:nvPr/>
        </p:nvSpPr>
        <p:spPr>
          <a:xfrm>
            <a:off x="6217920" y="2560320"/>
            <a:ext cx="274320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AI_CONTEXT.md</a:t>
            </a:r>
            <a:endParaRPr lang="en-US" sz="1000" dirty="0"/>
          </a:p>
        </p:txBody>
      </p:sp>
      <p:sp>
        <p:nvSpPr>
          <p:cNvPr id="35" name="Shape 33"/>
          <p:cNvSpPr/>
          <p:nvPr/>
        </p:nvSpPr>
        <p:spPr>
          <a:xfrm>
            <a:off x="6217920" y="2971800"/>
            <a:ext cx="2743200" cy="3017520"/>
          </a:xfrm>
          <a:prstGeom prst="rect">
            <a:avLst/>
          </a:prstGeom>
          <a:solidFill>
            <a:srgbClr val="0B1020"/>
          </a:solidFill>
          <a:ln w="12700">
            <a:solidFill>
              <a:srgbClr val="0B1020"/>
            </a:solidFill>
            <a:prstDash val="solid"/>
          </a:ln>
        </p:spPr>
        <p:txBody>
          <a:bodyPr/>
          <a:p/>
        </p:txBody>
      </p:sp>
      <p:sp>
        <p:nvSpPr>
          <p:cNvPr id="36" name="Shape 34"/>
          <p:cNvSpPr/>
          <p:nvPr/>
        </p:nvSpPr>
        <p:spPr>
          <a:xfrm>
            <a:off x="6382512" y="3136392"/>
            <a:ext cx="146304" cy="146304"/>
          </a:xfrm>
          <a:prstGeom prst="ellipse">
            <a:avLst/>
          </a:prstGeom>
          <a:solidFill>
            <a:srgbClr val="EF4444"/>
          </a:solidFill>
          <a:ln w="12700">
            <a:solidFill>
              <a:srgbClr val="EF4444"/>
            </a:solidFill>
            <a:prstDash val="solid"/>
          </a:ln>
        </p:spPr>
        <p:txBody>
          <a:bodyPr/>
          <a:p/>
        </p:txBody>
      </p:sp>
      <p:sp>
        <p:nvSpPr>
          <p:cNvPr id="37" name="Shape 35"/>
          <p:cNvSpPr/>
          <p:nvPr/>
        </p:nvSpPr>
        <p:spPr>
          <a:xfrm>
            <a:off x="6583680" y="3136392"/>
            <a:ext cx="146304" cy="146304"/>
          </a:xfrm>
          <a:prstGeom prst="ellipse">
            <a:avLst/>
          </a:prstGeom>
          <a:solidFill>
            <a:srgbClr val="F59E0B"/>
          </a:solidFill>
          <a:ln w="12700">
            <a:solidFill>
              <a:srgbClr val="F59E0B"/>
            </a:solidFill>
            <a:prstDash val="solid"/>
          </a:ln>
        </p:spPr>
        <p:txBody>
          <a:bodyPr/>
          <a:p/>
        </p:txBody>
      </p:sp>
      <p:sp>
        <p:nvSpPr>
          <p:cNvPr id="38" name="Shape 36"/>
          <p:cNvSpPr/>
          <p:nvPr/>
        </p:nvSpPr>
        <p:spPr>
          <a:xfrm>
            <a:off x="6784848" y="3136392"/>
            <a:ext cx="146304" cy="146304"/>
          </a:xfrm>
          <a:prstGeom prst="ellipse">
            <a:avLst/>
          </a:prstGeom>
          <a:solidFill>
            <a:srgbClr val="10B981"/>
          </a:solidFill>
          <a:ln w="12700">
            <a:solidFill>
              <a:srgbClr val="10B981"/>
            </a:solidFill>
            <a:prstDash val="solid"/>
          </a:ln>
        </p:spPr>
        <p:txBody>
          <a:bodyPr/>
          <a:p/>
        </p:txBody>
      </p:sp>
      <p:sp>
        <p:nvSpPr>
          <p:cNvPr id="39" name="Shape 37"/>
          <p:cNvSpPr/>
          <p:nvPr/>
        </p:nvSpPr>
        <p:spPr>
          <a:xfrm>
            <a:off x="6217920" y="3474720"/>
            <a:ext cx="2743200" cy="0"/>
          </a:xfrm>
          <a:prstGeom prst="line">
            <a:avLst/>
          </a:prstGeom>
          <a:noFill/>
          <a:ln w="12700">
            <a:solidFill>
              <a:srgbClr val="1E293B"/>
            </a:solidFill>
            <a:prstDash val="solid"/>
          </a:ln>
        </p:spPr>
        <p:txBody>
          <a:bodyPr/>
          <a:p/>
        </p:txBody>
      </p:sp>
      <p:sp>
        <p:nvSpPr>
          <p:cNvPr id="40" name="Text 38"/>
          <p:cNvSpPr/>
          <p:nvPr/>
        </p:nvSpPr>
        <p:spPr>
          <a:xfrm>
            <a:off x="6382512" y="3657600"/>
            <a:ext cx="365760" cy="274320"/>
          </a:xfrm>
          <a:prstGeom prst="rect">
            <a:avLst/>
          </a:prstGeom>
          <a:noFill/>
          <a:ln/>
        </p:spPr>
        <p:txBody>
          <a:bodyPr wrap="square" lIns="0" tIns="0" rIns="0" bIns="0" rtlCol="0" anchor="ctr"/>
          <a:lstStyle/>
          <a:p>
            <a:pPr indent="0" marL="0">
              <a:buNone/>
            </a:pPr>
            <a:r>
              <a:rPr lang="en-US" sz="1000" dirty="0">
                <a:solidFill>
                  <a:srgbClr val="F59E0B"/>
                </a:solidFill>
                <a:latin typeface="JetBrains Mono" pitchFamily="34" charset="0"/>
                <a:ea typeface="JetBrains Mono" pitchFamily="34" charset="-122"/>
                <a:cs typeface="JetBrains Mono" pitchFamily="34" charset="-120"/>
              </a:rPr>
              <a:t>$</a:t>
            </a:r>
            <a:endParaRPr lang="en-US" sz="1000" dirty="0"/>
          </a:p>
        </p:txBody>
      </p:sp>
      <p:sp>
        <p:nvSpPr>
          <p:cNvPr id="41" name="Text 39"/>
          <p:cNvSpPr/>
          <p:nvPr/>
        </p:nvSpPr>
        <p:spPr>
          <a:xfrm>
            <a:off x="6675120" y="3657600"/>
            <a:ext cx="219456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claude code</a:t>
            </a:r>
            <a:endParaRPr lang="en-US" sz="1000" dirty="0"/>
          </a:p>
        </p:txBody>
      </p:sp>
      <p:sp>
        <p:nvSpPr>
          <p:cNvPr id="42" name="Text 40"/>
          <p:cNvSpPr/>
          <p:nvPr/>
        </p:nvSpPr>
        <p:spPr>
          <a:xfrm>
            <a:off x="6382512" y="4023360"/>
            <a:ext cx="365760" cy="274320"/>
          </a:xfrm>
          <a:prstGeom prst="rect">
            <a:avLst/>
          </a:prstGeom>
          <a:noFill/>
          <a:ln/>
        </p:spPr>
        <p:txBody>
          <a:bodyPr wrap="square" lIns="0" tIns="0" rIns="0" bIns="0" rtlCol="0" anchor="ctr"/>
          <a:lstStyle/>
          <a:p>
            <a:pPr indent="0" marL="0">
              <a:buNone/>
            </a:pPr>
            <a:endParaRPr lang="en-US" sz="1000" dirty="0"/>
          </a:p>
        </p:txBody>
      </p:sp>
      <p:sp>
        <p:nvSpPr>
          <p:cNvPr id="43" name="Text 41"/>
          <p:cNvSpPr/>
          <p:nvPr/>
        </p:nvSpPr>
        <p:spPr>
          <a:xfrm>
            <a:off x="6675120" y="4023360"/>
            <a:ext cx="219456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reading AI_CONTEXT.md…</a:t>
            </a:r>
            <a:endParaRPr lang="en-US" sz="1000" dirty="0"/>
          </a:p>
        </p:txBody>
      </p:sp>
      <p:sp>
        <p:nvSpPr>
          <p:cNvPr id="44" name="Text 42"/>
          <p:cNvSpPr/>
          <p:nvPr/>
        </p:nvSpPr>
        <p:spPr>
          <a:xfrm>
            <a:off x="6382512" y="4389120"/>
            <a:ext cx="365760" cy="274320"/>
          </a:xfrm>
          <a:prstGeom prst="rect">
            <a:avLst/>
          </a:prstGeom>
          <a:noFill/>
          <a:ln/>
        </p:spPr>
        <p:txBody>
          <a:bodyPr wrap="square" lIns="0" tIns="0" rIns="0" bIns="0" rtlCol="0" anchor="ctr"/>
          <a:lstStyle/>
          <a:p>
            <a:pPr indent="0" marL="0">
              <a:buNone/>
            </a:pPr>
            <a:r>
              <a:rPr lang="en-US" sz="1000" dirty="0">
                <a:solidFill>
                  <a:srgbClr val="F59E0B"/>
                </a:solidFill>
                <a:latin typeface="JetBrains Mono" pitchFamily="34" charset="0"/>
                <a:ea typeface="JetBrains Mono" pitchFamily="34" charset="-122"/>
                <a:cs typeface="JetBrains Mono" pitchFamily="34" charset="-120"/>
              </a:rPr>
              <a:t>&gt;</a:t>
            </a:r>
            <a:endParaRPr lang="en-US" sz="1000" dirty="0"/>
          </a:p>
        </p:txBody>
      </p:sp>
      <p:sp>
        <p:nvSpPr>
          <p:cNvPr id="45" name="Text 43"/>
          <p:cNvSpPr/>
          <p:nvPr/>
        </p:nvSpPr>
        <p:spPr>
          <a:xfrm>
            <a:off x="6675120" y="4389120"/>
            <a:ext cx="219456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edit apps/web/src/product/</a:t>
            </a:r>
            <a:endParaRPr lang="en-US" sz="1000" dirty="0"/>
          </a:p>
        </p:txBody>
      </p:sp>
      <p:sp>
        <p:nvSpPr>
          <p:cNvPr id="46" name="Text 44"/>
          <p:cNvSpPr/>
          <p:nvPr/>
        </p:nvSpPr>
        <p:spPr>
          <a:xfrm>
            <a:off x="6382512" y="4754880"/>
            <a:ext cx="365760" cy="274320"/>
          </a:xfrm>
          <a:prstGeom prst="rect">
            <a:avLst/>
          </a:prstGeom>
          <a:noFill/>
          <a:ln/>
        </p:spPr>
        <p:txBody>
          <a:bodyPr wrap="square" lIns="0" tIns="0" rIns="0" bIns="0" rtlCol="0" anchor="ctr"/>
          <a:lstStyle/>
          <a:p>
            <a:pPr indent="0" marL="0">
              <a:buNone/>
            </a:pPr>
            <a:r>
              <a:rPr lang="en-US" sz="1000" dirty="0">
                <a:solidFill>
                  <a:srgbClr val="F59E0B"/>
                </a:solidFill>
                <a:latin typeface="JetBrains Mono" pitchFamily="34" charset="0"/>
                <a:ea typeface="JetBrains Mono" pitchFamily="34" charset="-122"/>
                <a:cs typeface="JetBrains Mono" pitchFamily="34" charset="-120"/>
              </a:rPr>
              <a:t>&gt;</a:t>
            </a:r>
            <a:endParaRPr lang="en-US" sz="1000" dirty="0"/>
          </a:p>
        </p:txBody>
      </p:sp>
      <p:sp>
        <p:nvSpPr>
          <p:cNvPr id="47" name="Text 45"/>
          <p:cNvSpPr/>
          <p:nvPr/>
        </p:nvSpPr>
        <p:spPr>
          <a:xfrm>
            <a:off x="6675120" y="4754880"/>
            <a:ext cx="2194560" cy="274320"/>
          </a:xfrm>
          <a:prstGeom prst="rect">
            <a:avLst/>
          </a:prstGeom>
          <a:noFill/>
          <a:ln/>
        </p:spPr>
        <p:txBody>
          <a:bodyPr wrap="square" lIns="0" tIns="0" rIns="0" bIns="0" rtlCol="0" anchor="ctr"/>
          <a:lstStyle/>
          <a:p>
            <a:pPr indent="0" marL="0">
              <a:buNone/>
            </a:pPr>
            <a:r>
              <a:rPr lang="en-US" sz="1000" dirty="0">
                <a:solidFill>
                  <a:srgbClr val="FFFFFF"/>
                </a:solidFill>
                <a:latin typeface="JetBrains Mono" pitchFamily="34" charset="0"/>
                <a:ea typeface="JetBrains Mono" pitchFamily="34" charset="-122"/>
                <a:cs typeface="JetBrains Mono" pitchFamily="34" charset="-120"/>
              </a:rPr>
              <a:t>git push</a:t>
            </a:r>
            <a:endParaRPr lang="en-US" sz="1000" dirty="0"/>
          </a:p>
        </p:txBody>
      </p:sp>
      <p:sp>
        <p:nvSpPr>
          <p:cNvPr id="48" name="Text 46"/>
          <p:cNvSpPr/>
          <p:nvPr/>
        </p:nvSpPr>
        <p:spPr>
          <a:xfrm>
            <a:off x="9052560" y="1874520"/>
            <a:ext cx="640080" cy="365760"/>
          </a:xfrm>
          <a:prstGeom prst="rect">
            <a:avLst/>
          </a:prstGeom>
          <a:noFill/>
          <a:ln/>
        </p:spPr>
        <p:txBody>
          <a:bodyPr wrap="square" lIns="0" tIns="0" rIns="0" bIns="0" rtlCol="0" anchor="ctr"/>
          <a:lstStyle/>
          <a:p>
            <a:pPr indent="0" marL="0">
              <a:buNone/>
            </a:pPr>
            <a:r>
              <a:rPr lang="en-US" sz="1100" b="1" spc="400" kern="0" dirty="0">
                <a:solidFill>
                  <a:srgbClr val="F59E0B"/>
                </a:solidFill>
                <a:latin typeface="JetBrains Mono" pitchFamily="34" charset="0"/>
                <a:ea typeface="JetBrains Mono" pitchFamily="34" charset="-122"/>
                <a:cs typeface="JetBrains Mono" pitchFamily="34" charset="-120"/>
              </a:rPr>
              <a:t>04</a:t>
            </a:r>
            <a:endParaRPr lang="en-US" sz="1100" dirty="0"/>
          </a:p>
        </p:txBody>
      </p:sp>
      <p:sp>
        <p:nvSpPr>
          <p:cNvPr id="49" name="Text 47"/>
          <p:cNvSpPr/>
          <p:nvPr/>
        </p:nvSpPr>
        <p:spPr>
          <a:xfrm>
            <a:off x="9052560" y="2194560"/>
            <a:ext cx="2743200" cy="384048"/>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Push to deploy</a:t>
            </a:r>
            <a:endParaRPr lang="en-US" sz="1600" dirty="0"/>
          </a:p>
        </p:txBody>
      </p:sp>
      <p:sp>
        <p:nvSpPr>
          <p:cNvPr id="50" name="Text 48"/>
          <p:cNvSpPr/>
          <p:nvPr/>
        </p:nvSpPr>
        <p:spPr>
          <a:xfrm>
            <a:off x="9052560" y="2560320"/>
            <a:ext cx="274320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~30 seconds</a:t>
            </a:r>
            <a:endParaRPr lang="en-US" sz="1000" dirty="0"/>
          </a:p>
        </p:txBody>
      </p:sp>
      <p:sp>
        <p:nvSpPr>
          <p:cNvPr id="51" name="Shape 49"/>
          <p:cNvSpPr/>
          <p:nvPr/>
        </p:nvSpPr>
        <p:spPr>
          <a:xfrm>
            <a:off x="9052560" y="2971800"/>
            <a:ext cx="2743200" cy="3017520"/>
          </a:xfrm>
          <a:prstGeom prst="rect">
            <a:avLst/>
          </a:prstGeom>
          <a:solidFill>
            <a:srgbClr val="0B1020"/>
          </a:solidFill>
          <a:ln w="12700">
            <a:solidFill>
              <a:srgbClr val="0B1020"/>
            </a:solidFill>
            <a:prstDash val="solid"/>
          </a:ln>
        </p:spPr>
        <p:txBody>
          <a:bodyPr/>
          <a:p/>
        </p:txBody>
      </p:sp>
      <p:sp>
        <p:nvSpPr>
          <p:cNvPr id="52" name="Shape 50"/>
          <p:cNvSpPr/>
          <p:nvPr/>
        </p:nvSpPr>
        <p:spPr>
          <a:xfrm>
            <a:off x="9217152" y="3136392"/>
            <a:ext cx="146304" cy="146304"/>
          </a:xfrm>
          <a:prstGeom prst="ellipse">
            <a:avLst/>
          </a:prstGeom>
          <a:solidFill>
            <a:srgbClr val="EF4444"/>
          </a:solidFill>
          <a:ln w="12700">
            <a:solidFill>
              <a:srgbClr val="EF4444"/>
            </a:solidFill>
            <a:prstDash val="solid"/>
          </a:ln>
        </p:spPr>
        <p:txBody>
          <a:bodyPr/>
          <a:p/>
        </p:txBody>
      </p:sp>
      <p:sp>
        <p:nvSpPr>
          <p:cNvPr id="53" name="Shape 51"/>
          <p:cNvSpPr/>
          <p:nvPr/>
        </p:nvSpPr>
        <p:spPr>
          <a:xfrm>
            <a:off x="9418320" y="3136392"/>
            <a:ext cx="146304" cy="146304"/>
          </a:xfrm>
          <a:prstGeom prst="ellipse">
            <a:avLst/>
          </a:prstGeom>
          <a:solidFill>
            <a:srgbClr val="F59E0B"/>
          </a:solidFill>
          <a:ln w="12700">
            <a:solidFill>
              <a:srgbClr val="F59E0B"/>
            </a:solidFill>
            <a:prstDash val="solid"/>
          </a:ln>
        </p:spPr>
        <p:txBody>
          <a:bodyPr/>
          <a:p/>
        </p:txBody>
      </p:sp>
      <p:sp>
        <p:nvSpPr>
          <p:cNvPr id="54" name="Shape 52"/>
          <p:cNvSpPr/>
          <p:nvPr/>
        </p:nvSpPr>
        <p:spPr>
          <a:xfrm>
            <a:off x="9619488" y="3136392"/>
            <a:ext cx="146304" cy="146304"/>
          </a:xfrm>
          <a:prstGeom prst="ellipse">
            <a:avLst/>
          </a:prstGeom>
          <a:solidFill>
            <a:srgbClr val="10B981"/>
          </a:solidFill>
          <a:ln w="12700">
            <a:solidFill>
              <a:srgbClr val="10B981"/>
            </a:solidFill>
            <a:prstDash val="solid"/>
          </a:ln>
        </p:spPr>
        <p:txBody>
          <a:bodyPr/>
          <a:p/>
        </p:txBody>
      </p:sp>
      <p:sp>
        <p:nvSpPr>
          <p:cNvPr id="55" name="Shape 53"/>
          <p:cNvSpPr/>
          <p:nvPr/>
        </p:nvSpPr>
        <p:spPr>
          <a:xfrm>
            <a:off x="9052560" y="3474720"/>
            <a:ext cx="2743200" cy="0"/>
          </a:xfrm>
          <a:prstGeom prst="line">
            <a:avLst/>
          </a:prstGeom>
          <a:noFill/>
          <a:ln w="12700">
            <a:solidFill>
              <a:srgbClr val="1E293B"/>
            </a:solidFill>
            <a:prstDash val="solid"/>
          </a:ln>
        </p:spPr>
        <p:txBody>
          <a:bodyPr/>
          <a:p/>
        </p:txBody>
      </p:sp>
      <p:sp>
        <p:nvSpPr>
          <p:cNvPr id="56" name="Text 54"/>
          <p:cNvSpPr/>
          <p:nvPr/>
        </p:nvSpPr>
        <p:spPr>
          <a:xfrm>
            <a:off x="9217152" y="3657600"/>
            <a:ext cx="914400" cy="274320"/>
          </a:xfrm>
          <a:prstGeom prst="rect">
            <a:avLst/>
          </a:prstGeom>
          <a:noFill/>
          <a:ln/>
        </p:spPr>
        <p:txBody>
          <a:bodyPr wrap="square" lIns="0" tIns="0" rIns="0" bIns="0" rtlCol="0" anchor="ctr"/>
          <a:lstStyle/>
          <a:p>
            <a:pPr indent="0" marL="0">
              <a:buNone/>
            </a:pPr>
            <a:r>
              <a:rPr lang="en-US" sz="900" dirty="0">
                <a:solidFill>
                  <a:srgbClr val="A5B4FC"/>
                </a:solidFill>
                <a:latin typeface="JetBrains Mono" pitchFamily="34" charset="0"/>
                <a:ea typeface="JetBrains Mono" pitchFamily="34" charset="-122"/>
                <a:cs typeface="JetBrains Mono" pitchFamily="34" charset="-120"/>
              </a:rPr>
              <a:t>webhook</a:t>
            </a:r>
            <a:endParaRPr lang="en-US" sz="900" dirty="0"/>
          </a:p>
        </p:txBody>
      </p:sp>
      <p:sp>
        <p:nvSpPr>
          <p:cNvPr id="57" name="Text 55"/>
          <p:cNvSpPr/>
          <p:nvPr/>
        </p:nvSpPr>
        <p:spPr>
          <a:xfrm>
            <a:off x="9829800" y="3657600"/>
            <a:ext cx="1828800" cy="274320"/>
          </a:xfrm>
          <a:prstGeom prst="rect">
            <a:avLst/>
          </a:prstGeom>
          <a:noFill/>
          <a:ln/>
        </p:spPr>
        <p:txBody>
          <a:bodyPr wrap="square" lIns="0" tIns="0" rIns="0" bIns="0" rtlCol="0" anchor="ctr"/>
          <a:lstStyle/>
          <a:p>
            <a:pPr indent="0" marL="0">
              <a:buNone/>
            </a:pPr>
            <a:r>
              <a:rPr lang="en-US" sz="900" dirty="0">
                <a:solidFill>
                  <a:srgbClr val="FFFFFF"/>
                </a:solidFill>
                <a:latin typeface="JetBrains Mono" pitchFamily="34" charset="0"/>
                <a:ea typeface="JetBrains Mono" pitchFamily="34" charset="-122"/>
                <a:cs typeface="JetBrains Mono" pitchFamily="34" charset="-120"/>
              </a:rPr>
              <a:t>received  sha=a12c4e1</a:t>
            </a:r>
            <a:endParaRPr lang="en-US" sz="900" dirty="0"/>
          </a:p>
        </p:txBody>
      </p:sp>
      <p:sp>
        <p:nvSpPr>
          <p:cNvPr id="58" name="Text 56"/>
          <p:cNvSpPr/>
          <p:nvPr/>
        </p:nvSpPr>
        <p:spPr>
          <a:xfrm>
            <a:off x="9217152" y="4023360"/>
            <a:ext cx="914400" cy="274320"/>
          </a:xfrm>
          <a:prstGeom prst="rect">
            <a:avLst/>
          </a:prstGeom>
          <a:noFill/>
          <a:ln/>
        </p:spPr>
        <p:txBody>
          <a:bodyPr wrap="square" lIns="0" tIns="0" rIns="0" bIns="0" rtlCol="0" anchor="ctr"/>
          <a:lstStyle/>
          <a:p>
            <a:pPr indent="0" marL="0">
              <a:buNone/>
            </a:pPr>
            <a:r>
              <a:rPr lang="en-US" sz="900" dirty="0">
                <a:solidFill>
                  <a:srgbClr val="A5B4FC"/>
                </a:solidFill>
                <a:latin typeface="JetBrains Mono" pitchFamily="34" charset="0"/>
                <a:ea typeface="JetBrains Mono" pitchFamily="34" charset="-122"/>
                <a:cs typeface="JetBrains Mono" pitchFamily="34" charset="-120"/>
              </a:rPr>
              <a:t>docker</a:t>
            </a:r>
            <a:endParaRPr lang="en-US" sz="900" dirty="0"/>
          </a:p>
        </p:txBody>
      </p:sp>
      <p:sp>
        <p:nvSpPr>
          <p:cNvPr id="59" name="Text 57"/>
          <p:cNvSpPr/>
          <p:nvPr/>
        </p:nvSpPr>
        <p:spPr>
          <a:xfrm>
            <a:off x="9829800" y="4023360"/>
            <a:ext cx="1828800" cy="274320"/>
          </a:xfrm>
          <a:prstGeom prst="rect">
            <a:avLst/>
          </a:prstGeom>
          <a:noFill/>
          <a:ln/>
        </p:spPr>
        <p:txBody>
          <a:bodyPr wrap="square" lIns="0" tIns="0" rIns="0" bIns="0" rtlCol="0" anchor="ctr"/>
          <a:lstStyle/>
          <a:p>
            <a:pPr indent="0" marL="0">
              <a:buNone/>
            </a:pPr>
            <a:r>
              <a:rPr lang="en-US" sz="900" dirty="0">
                <a:solidFill>
                  <a:srgbClr val="FFFFFF"/>
                </a:solidFill>
                <a:latin typeface="JetBrains Mono" pitchFamily="34" charset="0"/>
                <a:ea typeface="JetBrains Mono" pitchFamily="34" charset="-122"/>
                <a:cs typeface="JetBrains Mono" pitchFamily="34" charset="-120"/>
              </a:rPr>
              <a:t>compose up -d  rebuilt 2/9</a:t>
            </a:r>
            <a:endParaRPr lang="en-US" sz="900" dirty="0"/>
          </a:p>
        </p:txBody>
      </p:sp>
      <p:sp>
        <p:nvSpPr>
          <p:cNvPr id="60" name="Text 58"/>
          <p:cNvSpPr/>
          <p:nvPr/>
        </p:nvSpPr>
        <p:spPr>
          <a:xfrm>
            <a:off x="9217152" y="4389120"/>
            <a:ext cx="914400" cy="274320"/>
          </a:xfrm>
          <a:prstGeom prst="rect">
            <a:avLst/>
          </a:prstGeom>
          <a:noFill/>
          <a:ln/>
        </p:spPr>
        <p:txBody>
          <a:bodyPr wrap="square" lIns="0" tIns="0" rIns="0" bIns="0" rtlCol="0" anchor="ctr"/>
          <a:lstStyle/>
          <a:p>
            <a:pPr indent="0" marL="0">
              <a:buNone/>
            </a:pPr>
            <a:r>
              <a:rPr lang="en-US" sz="900" dirty="0">
                <a:solidFill>
                  <a:srgbClr val="A5B4FC"/>
                </a:solidFill>
                <a:latin typeface="JetBrains Mono" pitchFamily="34" charset="0"/>
                <a:ea typeface="JetBrains Mono" pitchFamily="34" charset="-122"/>
                <a:cs typeface="JetBrains Mono" pitchFamily="34" charset="-120"/>
              </a:rPr>
              <a:t>status</a:t>
            </a:r>
            <a:endParaRPr lang="en-US" sz="900" dirty="0"/>
          </a:p>
        </p:txBody>
      </p:sp>
      <p:sp>
        <p:nvSpPr>
          <p:cNvPr id="61" name="Text 59"/>
          <p:cNvSpPr/>
          <p:nvPr/>
        </p:nvSpPr>
        <p:spPr>
          <a:xfrm>
            <a:off x="9829800" y="4389120"/>
            <a:ext cx="1828800" cy="274320"/>
          </a:xfrm>
          <a:prstGeom prst="rect">
            <a:avLst/>
          </a:prstGeom>
          <a:noFill/>
          <a:ln/>
        </p:spPr>
        <p:txBody>
          <a:bodyPr wrap="square" lIns="0" tIns="0" rIns="0" bIns="0" rtlCol="0" anchor="ctr"/>
          <a:lstStyle/>
          <a:p>
            <a:pPr indent="0" marL="0">
              <a:buNone/>
            </a:pPr>
            <a:r>
              <a:rPr lang="en-US" sz="900" dirty="0">
                <a:solidFill>
                  <a:srgbClr val="FFFFFF"/>
                </a:solidFill>
                <a:latin typeface="JetBrains Mono" pitchFamily="34" charset="0"/>
                <a:ea typeface="JetBrains Mono" pitchFamily="34" charset="-122"/>
                <a:cs typeface="JetBrains Mono" pitchFamily="34" charset="-120"/>
              </a:rPr>
              <a:t>deployed_at: 2026-05-13T10:14:02Z</a:t>
            </a:r>
            <a:endParaRPr lang="en-US" sz="900" dirty="0"/>
          </a:p>
        </p:txBody>
      </p:sp>
      <p:sp>
        <p:nvSpPr>
          <p:cNvPr id="62" name="Text 60"/>
          <p:cNvSpPr/>
          <p:nvPr/>
        </p:nvSpPr>
        <p:spPr>
          <a:xfrm>
            <a:off x="9217152" y="4937760"/>
            <a:ext cx="2414016" cy="365760"/>
          </a:xfrm>
          <a:prstGeom prst="rect">
            <a:avLst/>
          </a:prstGeom>
          <a:noFill/>
          <a:ln/>
        </p:spPr>
        <p:txBody>
          <a:bodyPr wrap="square" lIns="0" tIns="0" rIns="0" bIns="0" rtlCol="0" anchor="ctr"/>
          <a:lstStyle/>
          <a:p>
            <a:pPr indent="0" marL="0">
              <a:buNone/>
            </a:pPr>
            <a:r>
              <a:rPr lang="en-US" sz="1200" b="1" dirty="0">
                <a:solidFill>
                  <a:srgbClr val="10B981"/>
                </a:solidFill>
                <a:latin typeface="JetBrains Mono" pitchFamily="34" charset="0"/>
                <a:ea typeface="JetBrains Mono" pitchFamily="34" charset="-122"/>
                <a:cs typeface="JetBrains Mono" pitchFamily="34" charset="-120"/>
              </a:rPr>
              <a:t>deployed</a:t>
            </a:r>
            <a:endParaRPr lang="en-US" sz="1200" dirty="0"/>
          </a:p>
        </p:txBody>
      </p:sp>
      <p:sp>
        <p:nvSpPr>
          <p:cNvPr id="63" name="Text 61"/>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64" name="Text 62"/>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06  ·  WHAT'S WIRED</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Twelve production pieces. Day one. No DIY.</a:t>
            </a:r>
            <a:endParaRPr lang="en-US" sz="3000" dirty="0"/>
          </a:p>
        </p:txBody>
      </p:sp>
      <p:sp>
        <p:nvSpPr>
          <p:cNvPr id="4" name="Shape 2"/>
          <p:cNvSpPr/>
          <p:nvPr/>
        </p:nvSpPr>
        <p:spPr>
          <a:xfrm>
            <a:off x="548640" y="1828800"/>
            <a:ext cx="2650160" cy="105156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828800"/>
            <a:ext cx="73152" cy="1051560"/>
          </a:xfrm>
          <a:prstGeom prst="rect">
            <a:avLst/>
          </a:prstGeom>
          <a:solidFill>
            <a:srgbClr val="4F46E5"/>
          </a:solidFill>
          <a:ln w="12700">
            <a:solidFill>
              <a:srgbClr val="4F46E5"/>
            </a:solidFill>
            <a:prstDash val="solid"/>
          </a:ln>
        </p:spPr>
        <p:txBody>
          <a:bodyPr/>
          <a:p/>
        </p:txBody>
      </p:sp>
      <p:sp>
        <p:nvSpPr>
          <p:cNvPr id="6" name="Text 4"/>
          <p:cNvSpPr/>
          <p:nvPr/>
        </p:nvSpPr>
        <p:spPr>
          <a:xfrm>
            <a:off x="804672" y="2011680"/>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Auth</a:t>
            </a:r>
            <a:endParaRPr lang="en-US" sz="1400" dirty="0"/>
          </a:p>
        </p:txBody>
      </p:sp>
      <p:sp>
        <p:nvSpPr>
          <p:cNvPr id="7" name="Text 5"/>
          <p:cNvSpPr/>
          <p:nvPr/>
        </p:nvSpPr>
        <p:spPr>
          <a:xfrm>
            <a:off x="804672" y="2377440"/>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Supabase, magic-link + JWT</a:t>
            </a:r>
            <a:endParaRPr lang="en-US" sz="1000" dirty="0"/>
          </a:p>
        </p:txBody>
      </p:sp>
      <p:sp>
        <p:nvSpPr>
          <p:cNvPr id="8" name="Shape 6"/>
          <p:cNvSpPr/>
          <p:nvPr/>
        </p:nvSpPr>
        <p:spPr>
          <a:xfrm>
            <a:off x="3363392" y="1828800"/>
            <a:ext cx="2650160" cy="1051560"/>
          </a:xfrm>
          <a:prstGeom prst="rect">
            <a:avLst/>
          </a:prstGeom>
          <a:solidFill>
            <a:srgbClr val="FFFFFF"/>
          </a:solidFill>
          <a:ln w="12700">
            <a:solidFill>
              <a:srgbClr val="E2E8F0"/>
            </a:solidFill>
            <a:prstDash val="solid"/>
          </a:ln>
        </p:spPr>
        <p:txBody>
          <a:bodyPr/>
          <a:p/>
        </p:txBody>
      </p:sp>
      <p:sp>
        <p:nvSpPr>
          <p:cNvPr id="9" name="Shape 7"/>
          <p:cNvSpPr/>
          <p:nvPr/>
        </p:nvSpPr>
        <p:spPr>
          <a:xfrm>
            <a:off x="3363392" y="1828800"/>
            <a:ext cx="73152" cy="1051560"/>
          </a:xfrm>
          <a:prstGeom prst="rect">
            <a:avLst/>
          </a:prstGeom>
          <a:solidFill>
            <a:srgbClr val="F59E0B"/>
          </a:solidFill>
          <a:ln w="12700">
            <a:solidFill>
              <a:srgbClr val="F59E0B"/>
            </a:solidFill>
            <a:prstDash val="solid"/>
          </a:ln>
        </p:spPr>
        <p:txBody>
          <a:bodyPr/>
          <a:p/>
        </p:txBody>
      </p:sp>
      <p:sp>
        <p:nvSpPr>
          <p:cNvPr id="10" name="Text 8"/>
          <p:cNvSpPr/>
          <p:nvPr/>
        </p:nvSpPr>
        <p:spPr>
          <a:xfrm>
            <a:off x="3619424" y="2011680"/>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Postgres</a:t>
            </a:r>
            <a:endParaRPr lang="en-US" sz="1400" dirty="0"/>
          </a:p>
        </p:txBody>
      </p:sp>
      <p:sp>
        <p:nvSpPr>
          <p:cNvPr id="11" name="Text 9"/>
          <p:cNvSpPr/>
          <p:nvPr/>
        </p:nvSpPr>
        <p:spPr>
          <a:xfrm>
            <a:off x="3619424" y="2377440"/>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Supabase, RLS-scoped</a:t>
            </a:r>
            <a:endParaRPr lang="en-US" sz="1000" dirty="0"/>
          </a:p>
        </p:txBody>
      </p:sp>
      <p:sp>
        <p:nvSpPr>
          <p:cNvPr id="12" name="Shape 10"/>
          <p:cNvSpPr/>
          <p:nvPr/>
        </p:nvSpPr>
        <p:spPr>
          <a:xfrm>
            <a:off x="6178144" y="1828800"/>
            <a:ext cx="2650160" cy="1051560"/>
          </a:xfrm>
          <a:prstGeom prst="rect">
            <a:avLst/>
          </a:prstGeom>
          <a:solidFill>
            <a:srgbClr val="FFFFFF"/>
          </a:solidFill>
          <a:ln w="12700">
            <a:solidFill>
              <a:srgbClr val="E2E8F0"/>
            </a:solidFill>
            <a:prstDash val="solid"/>
          </a:ln>
        </p:spPr>
        <p:txBody>
          <a:bodyPr/>
          <a:p/>
        </p:txBody>
      </p:sp>
      <p:sp>
        <p:nvSpPr>
          <p:cNvPr id="13" name="Shape 11"/>
          <p:cNvSpPr/>
          <p:nvPr/>
        </p:nvSpPr>
        <p:spPr>
          <a:xfrm>
            <a:off x="6178144" y="1828800"/>
            <a:ext cx="73152" cy="1051560"/>
          </a:xfrm>
          <a:prstGeom prst="rect">
            <a:avLst/>
          </a:prstGeom>
          <a:solidFill>
            <a:srgbClr val="4F46E5"/>
          </a:solidFill>
          <a:ln w="12700">
            <a:solidFill>
              <a:srgbClr val="4F46E5"/>
            </a:solidFill>
            <a:prstDash val="solid"/>
          </a:ln>
        </p:spPr>
        <p:txBody>
          <a:bodyPr/>
          <a:p/>
        </p:txBody>
      </p:sp>
      <p:sp>
        <p:nvSpPr>
          <p:cNvPr id="14" name="Text 12"/>
          <p:cNvSpPr/>
          <p:nvPr/>
        </p:nvSpPr>
        <p:spPr>
          <a:xfrm>
            <a:off x="6434176" y="2011680"/>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Storage</a:t>
            </a:r>
            <a:endParaRPr lang="en-US" sz="1400" dirty="0"/>
          </a:p>
        </p:txBody>
      </p:sp>
      <p:sp>
        <p:nvSpPr>
          <p:cNvPr id="15" name="Text 13"/>
          <p:cNvSpPr/>
          <p:nvPr/>
        </p:nvSpPr>
        <p:spPr>
          <a:xfrm>
            <a:off x="6434176" y="2377440"/>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Supabase Storage</a:t>
            </a:r>
            <a:endParaRPr lang="en-US" sz="1000" dirty="0"/>
          </a:p>
        </p:txBody>
      </p:sp>
      <p:sp>
        <p:nvSpPr>
          <p:cNvPr id="16" name="Shape 14"/>
          <p:cNvSpPr/>
          <p:nvPr/>
        </p:nvSpPr>
        <p:spPr>
          <a:xfrm>
            <a:off x="8992895" y="1828800"/>
            <a:ext cx="2650160" cy="1051560"/>
          </a:xfrm>
          <a:prstGeom prst="rect">
            <a:avLst/>
          </a:prstGeom>
          <a:solidFill>
            <a:srgbClr val="FFFFFF"/>
          </a:solidFill>
          <a:ln w="12700">
            <a:solidFill>
              <a:srgbClr val="E2E8F0"/>
            </a:solidFill>
            <a:prstDash val="solid"/>
          </a:ln>
        </p:spPr>
        <p:txBody>
          <a:bodyPr/>
          <a:p/>
        </p:txBody>
      </p:sp>
      <p:sp>
        <p:nvSpPr>
          <p:cNvPr id="17" name="Shape 15"/>
          <p:cNvSpPr/>
          <p:nvPr/>
        </p:nvSpPr>
        <p:spPr>
          <a:xfrm>
            <a:off x="8992895" y="1828800"/>
            <a:ext cx="73152" cy="1051560"/>
          </a:xfrm>
          <a:prstGeom prst="rect">
            <a:avLst/>
          </a:prstGeom>
          <a:solidFill>
            <a:srgbClr val="F59E0B"/>
          </a:solidFill>
          <a:ln w="12700">
            <a:solidFill>
              <a:srgbClr val="F59E0B"/>
            </a:solidFill>
            <a:prstDash val="solid"/>
          </a:ln>
        </p:spPr>
        <p:txBody>
          <a:bodyPr/>
          <a:p/>
        </p:txBody>
      </p:sp>
      <p:sp>
        <p:nvSpPr>
          <p:cNvPr id="18" name="Text 16"/>
          <p:cNvSpPr/>
          <p:nvPr/>
        </p:nvSpPr>
        <p:spPr>
          <a:xfrm>
            <a:off x="9248927" y="2011680"/>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Realtime</a:t>
            </a:r>
            <a:endParaRPr lang="en-US" sz="1400" dirty="0"/>
          </a:p>
        </p:txBody>
      </p:sp>
      <p:sp>
        <p:nvSpPr>
          <p:cNvPr id="19" name="Text 17"/>
          <p:cNvSpPr/>
          <p:nvPr/>
        </p:nvSpPr>
        <p:spPr>
          <a:xfrm>
            <a:off x="9248927" y="2377440"/>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Postgres CDC channels</a:t>
            </a:r>
            <a:endParaRPr lang="en-US" sz="1000" dirty="0"/>
          </a:p>
        </p:txBody>
      </p:sp>
      <p:sp>
        <p:nvSpPr>
          <p:cNvPr id="20" name="Shape 18"/>
          <p:cNvSpPr/>
          <p:nvPr/>
        </p:nvSpPr>
        <p:spPr>
          <a:xfrm>
            <a:off x="548640" y="3044952"/>
            <a:ext cx="2650160" cy="1051560"/>
          </a:xfrm>
          <a:prstGeom prst="rect">
            <a:avLst/>
          </a:prstGeom>
          <a:solidFill>
            <a:srgbClr val="FFFFFF"/>
          </a:solidFill>
          <a:ln w="12700">
            <a:solidFill>
              <a:srgbClr val="E2E8F0"/>
            </a:solidFill>
            <a:prstDash val="solid"/>
          </a:ln>
        </p:spPr>
        <p:txBody>
          <a:bodyPr/>
          <a:p/>
        </p:txBody>
      </p:sp>
      <p:sp>
        <p:nvSpPr>
          <p:cNvPr id="21" name="Shape 19"/>
          <p:cNvSpPr/>
          <p:nvPr/>
        </p:nvSpPr>
        <p:spPr>
          <a:xfrm>
            <a:off x="548640" y="3044952"/>
            <a:ext cx="73152" cy="1051560"/>
          </a:xfrm>
          <a:prstGeom prst="rect">
            <a:avLst/>
          </a:prstGeom>
          <a:solidFill>
            <a:srgbClr val="4F46E5"/>
          </a:solidFill>
          <a:ln w="12700">
            <a:solidFill>
              <a:srgbClr val="4F46E5"/>
            </a:solidFill>
            <a:prstDash val="solid"/>
          </a:ln>
        </p:spPr>
        <p:txBody>
          <a:bodyPr/>
          <a:p/>
        </p:txBody>
      </p:sp>
      <p:sp>
        <p:nvSpPr>
          <p:cNvPr id="22" name="Text 20"/>
          <p:cNvSpPr/>
          <p:nvPr/>
        </p:nvSpPr>
        <p:spPr>
          <a:xfrm>
            <a:off x="804672" y="3227832"/>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Stripe checkout</a:t>
            </a:r>
            <a:endParaRPr lang="en-US" sz="1400" dirty="0"/>
          </a:p>
        </p:txBody>
      </p:sp>
      <p:sp>
        <p:nvSpPr>
          <p:cNvPr id="23" name="Text 21"/>
          <p:cNvSpPr/>
          <p:nvPr/>
        </p:nvSpPr>
        <p:spPr>
          <a:xfrm>
            <a:off x="804672" y="3593592"/>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Test + live keys</a:t>
            </a:r>
            <a:endParaRPr lang="en-US" sz="1000" dirty="0"/>
          </a:p>
        </p:txBody>
      </p:sp>
      <p:sp>
        <p:nvSpPr>
          <p:cNvPr id="24" name="Shape 22"/>
          <p:cNvSpPr/>
          <p:nvPr/>
        </p:nvSpPr>
        <p:spPr>
          <a:xfrm>
            <a:off x="3363392" y="3044952"/>
            <a:ext cx="2650160" cy="1051560"/>
          </a:xfrm>
          <a:prstGeom prst="rect">
            <a:avLst/>
          </a:prstGeom>
          <a:solidFill>
            <a:srgbClr val="FFFFFF"/>
          </a:solidFill>
          <a:ln w="12700">
            <a:solidFill>
              <a:srgbClr val="E2E8F0"/>
            </a:solidFill>
            <a:prstDash val="solid"/>
          </a:ln>
        </p:spPr>
        <p:txBody>
          <a:bodyPr/>
          <a:p/>
        </p:txBody>
      </p:sp>
      <p:sp>
        <p:nvSpPr>
          <p:cNvPr id="25" name="Shape 23"/>
          <p:cNvSpPr/>
          <p:nvPr/>
        </p:nvSpPr>
        <p:spPr>
          <a:xfrm>
            <a:off x="3363392" y="3044952"/>
            <a:ext cx="73152" cy="1051560"/>
          </a:xfrm>
          <a:prstGeom prst="rect">
            <a:avLst/>
          </a:prstGeom>
          <a:solidFill>
            <a:srgbClr val="F59E0B"/>
          </a:solidFill>
          <a:ln w="12700">
            <a:solidFill>
              <a:srgbClr val="F59E0B"/>
            </a:solidFill>
            <a:prstDash val="solid"/>
          </a:ln>
        </p:spPr>
        <p:txBody>
          <a:bodyPr/>
          <a:p/>
        </p:txBody>
      </p:sp>
      <p:sp>
        <p:nvSpPr>
          <p:cNvPr id="26" name="Text 24"/>
          <p:cNvSpPr/>
          <p:nvPr/>
        </p:nvSpPr>
        <p:spPr>
          <a:xfrm>
            <a:off x="3619424" y="3227832"/>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Paddle MoR</a:t>
            </a:r>
            <a:endParaRPr lang="en-US" sz="1400" dirty="0"/>
          </a:p>
        </p:txBody>
      </p:sp>
      <p:sp>
        <p:nvSpPr>
          <p:cNvPr id="27" name="Text 25"/>
          <p:cNvSpPr/>
          <p:nvPr/>
        </p:nvSpPr>
        <p:spPr>
          <a:xfrm>
            <a:off x="3619424" y="3593592"/>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Global tax handled</a:t>
            </a:r>
            <a:endParaRPr lang="en-US" sz="1000" dirty="0"/>
          </a:p>
        </p:txBody>
      </p:sp>
      <p:sp>
        <p:nvSpPr>
          <p:cNvPr id="28" name="Shape 26"/>
          <p:cNvSpPr/>
          <p:nvPr/>
        </p:nvSpPr>
        <p:spPr>
          <a:xfrm>
            <a:off x="6178144" y="3044952"/>
            <a:ext cx="2650160" cy="1051560"/>
          </a:xfrm>
          <a:prstGeom prst="rect">
            <a:avLst/>
          </a:prstGeom>
          <a:solidFill>
            <a:srgbClr val="FFFFFF"/>
          </a:solidFill>
          <a:ln w="12700">
            <a:solidFill>
              <a:srgbClr val="E2E8F0"/>
            </a:solidFill>
            <a:prstDash val="solid"/>
          </a:ln>
        </p:spPr>
        <p:txBody>
          <a:bodyPr/>
          <a:p/>
        </p:txBody>
      </p:sp>
      <p:sp>
        <p:nvSpPr>
          <p:cNvPr id="29" name="Shape 27"/>
          <p:cNvSpPr/>
          <p:nvPr/>
        </p:nvSpPr>
        <p:spPr>
          <a:xfrm>
            <a:off x="6178144" y="3044952"/>
            <a:ext cx="73152" cy="1051560"/>
          </a:xfrm>
          <a:prstGeom prst="rect">
            <a:avLst/>
          </a:prstGeom>
          <a:solidFill>
            <a:srgbClr val="4F46E5"/>
          </a:solidFill>
          <a:ln w="12700">
            <a:solidFill>
              <a:srgbClr val="4F46E5"/>
            </a:solidFill>
            <a:prstDash val="solid"/>
          </a:ln>
        </p:spPr>
        <p:txBody>
          <a:bodyPr/>
          <a:p/>
        </p:txBody>
      </p:sp>
      <p:sp>
        <p:nvSpPr>
          <p:cNvPr id="30" name="Text 28"/>
          <p:cNvSpPr/>
          <p:nvPr/>
        </p:nvSpPr>
        <p:spPr>
          <a:xfrm>
            <a:off x="6434176" y="3227832"/>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Resend mail</a:t>
            </a:r>
            <a:endParaRPr lang="en-US" sz="1400" dirty="0"/>
          </a:p>
        </p:txBody>
      </p:sp>
      <p:sp>
        <p:nvSpPr>
          <p:cNvPr id="31" name="Text 29"/>
          <p:cNvSpPr/>
          <p:nvPr/>
        </p:nvSpPr>
        <p:spPr>
          <a:xfrm>
            <a:off x="6434176" y="3593592"/>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Transactional + DKIM</a:t>
            </a:r>
            <a:endParaRPr lang="en-US" sz="1000" dirty="0"/>
          </a:p>
        </p:txBody>
      </p:sp>
      <p:sp>
        <p:nvSpPr>
          <p:cNvPr id="32" name="Shape 30"/>
          <p:cNvSpPr/>
          <p:nvPr/>
        </p:nvSpPr>
        <p:spPr>
          <a:xfrm>
            <a:off x="8992895" y="3044952"/>
            <a:ext cx="2650160" cy="1051560"/>
          </a:xfrm>
          <a:prstGeom prst="rect">
            <a:avLst/>
          </a:prstGeom>
          <a:solidFill>
            <a:srgbClr val="FFFFFF"/>
          </a:solidFill>
          <a:ln w="12700">
            <a:solidFill>
              <a:srgbClr val="E2E8F0"/>
            </a:solidFill>
            <a:prstDash val="solid"/>
          </a:ln>
        </p:spPr>
        <p:txBody>
          <a:bodyPr/>
          <a:p/>
        </p:txBody>
      </p:sp>
      <p:sp>
        <p:nvSpPr>
          <p:cNvPr id="33" name="Shape 31"/>
          <p:cNvSpPr/>
          <p:nvPr/>
        </p:nvSpPr>
        <p:spPr>
          <a:xfrm>
            <a:off x="8992895" y="3044952"/>
            <a:ext cx="73152" cy="1051560"/>
          </a:xfrm>
          <a:prstGeom prst="rect">
            <a:avLst/>
          </a:prstGeom>
          <a:solidFill>
            <a:srgbClr val="F59E0B"/>
          </a:solidFill>
          <a:ln w="12700">
            <a:solidFill>
              <a:srgbClr val="F59E0B"/>
            </a:solidFill>
            <a:prstDash val="solid"/>
          </a:ln>
        </p:spPr>
        <p:txBody>
          <a:bodyPr/>
          <a:p/>
        </p:txBody>
      </p:sp>
      <p:sp>
        <p:nvSpPr>
          <p:cNvPr id="34" name="Text 32"/>
          <p:cNvSpPr/>
          <p:nvPr/>
        </p:nvSpPr>
        <p:spPr>
          <a:xfrm>
            <a:off x="9248927" y="3227832"/>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Mailboxes</a:t>
            </a:r>
            <a:endParaRPr lang="en-US" sz="1400" dirty="0"/>
          </a:p>
        </p:txBody>
      </p:sp>
      <p:sp>
        <p:nvSpPr>
          <p:cNvPr id="35" name="Text 33"/>
          <p:cNvSpPr/>
          <p:nvPr/>
        </p:nvSpPr>
        <p:spPr>
          <a:xfrm>
            <a:off x="9248927" y="3593592"/>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Infomaniak, Launch tier</a:t>
            </a:r>
            <a:endParaRPr lang="en-US" sz="1000" dirty="0"/>
          </a:p>
        </p:txBody>
      </p:sp>
      <p:sp>
        <p:nvSpPr>
          <p:cNvPr id="36" name="Shape 34"/>
          <p:cNvSpPr/>
          <p:nvPr/>
        </p:nvSpPr>
        <p:spPr>
          <a:xfrm>
            <a:off x="548640" y="4261104"/>
            <a:ext cx="2650160" cy="1051560"/>
          </a:xfrm>
          <a:prstGeom prst="rect">
            <a:avLst/>
          </a:prstGeom>
          <a:solidFill>
            <a:srgbClr val="FFFFFF"/>
          </a:solidFill>
          <a:ln w="12700">
            <a:solidFill>
              <a:srgbClr val="E2E8F0"/>
            </a:solidFill>
            <a:prstDash val="solid"/>
          </a:ln>
        </p:spPr>
        <p:txBody>
          <a:bodyPr/>
          <a:p/>
        </p:txBody>
      </p:sp>
      <p:sp>
        <p:nvSpPr>
          <p:cNvPr id="37" name="Shape 35"/>
          <p:cNvSpPr/>
          <p:nvPr/>
        </p:nvSpPr>
        <p:spPr>
          <a:xfrm>
            <a:off x="548640" y="4261104"/>
            <a:ext cx="73152" cy="1051560"/>
          </a:xfrm>
          <a:prstGeom prst="rect">
            <a:avLst/>
          </a:prstGeom>
          <a:solidFill>
            <a:srgbClr val="4F46E5"/>
          </a:solidFill>
          <a:ln w="12700">
            <a:solidFill>
              <a:srgbClr val="4F46E5"/>
            </a:solidFill>
            <a:prstDash val="solid"/>
          </a:ln>
        </p:spPr>
        <p:txBody>
          <a:bodyPr/>
          <a:p/>
        </p:txBody>
      </p:sp>
      <p:sp>
        <p:nvSpPr>
          <p:cNvPr id="38" name="Text 36"/>
          <p:cNvSpPr/>
          <p:nvPr/>
        </p:nvSpPr>
        <p:spPr>
          <a:xfrm>
            <a:off x="804672" y="4443984"/>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Capacitor</a:t>
            </a:r>
            <a:endParaRPr lang="en-US" sz="1400" dirty="0"/>
          </a:p>
        </p:txBody>
      </p:sp>
      <p:sp>
        <p:nvSpPr>
          <p:cNvPr id="39" name="Text 37"/>
          <p:cNvSpPr/>
          <p:nvPr/>
        </p:nvSpPr>
        <p:spPr>
          <a:xfrm>
            <a:off x="804672" y="4809744"/>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iOS IPA + Android APK</a:t>
            </a:r>
            <a:endParaRPr lang="en-US" sz="1000" dirty="0"/>
          </a:p>
        </p:txBody>
      </p:sp>
      <p:sp>
        <p:nvSpPr>
          <p:cNvPr id="40" name="Shape 38"/>
          <p:cNvSpPr/>
          <p:nvPr/>
        </p:nvSpPr>
        <p:spPr>
          <a:xfrm>
            <a:off x="3363392" y="4261104"/>
            <a:ext cx="2650160" cy="1051560"/>
          </a:xfrm>
          <a:prstGeom prst="rect">
            <a:avLst/>
          </a:prstGeom>
          <a:solidFill>
            <a:srgbClr val="FFFFFF"/>
          </a:solidFill>
          <a:ln w="12700">
            <a:solidFill>
              <a:srgbClr val="E2E8F0"/>
            </a:solidFill>
            <a:prstDash val="solid"/>
          </a:ln>
        </p:spPr>
        <p:txBody>
          <a:bodyPr/>
          <a:p/>
        </p:txBody>
      </p:sp>
      <p:sp>
        <p:nvSpPr>
          <p:cNvPr id="41" name="Shape 39"/>
          <p:cNvSpPr/>
          <p:nvPr/>
        </p:nvSpPr>
        <p:spPr>
          <a:xfrm>
            <a:off x="3363392" y="4261104"/>
            <a:ext cx="73152" cy="1051560"/>
          </a:xfrm>
          <a:prstGeom prst="rect">
            <a:avLst/>
          </a:prstGeom>
          <a:solidFill>
            <a:srgbClr val="F59E0B"/>
          </a:solidFill>
          <a:ln w="12700">
            <a:solidFill>
              <a:srgbClr val="F59E0B"/>
            </a:solidFill>
            <a:prstDash val="solid"/>
          </a:ln>
        </p:spPr>
        <p:txBody>
          <a:bodyPr/>
          <a:p/>
        </p:txBody>
      </p:sp>
      <p:sp>
        <p:nvSpPr>
          <p:cNvPr id="42" name="Text 40"/>
          <p:cNvSpPr/>
          <p:nvPr/>
        </p:nvSpPr>
        <p:spPr>
          <a:xfrm>
            <a:off x="3619424" y="4443984"/>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GitHub repo</a:t>
            </a:r>
            <a:endParaRPr lang="en-US" sz="1400" dirty="0"/>
          </a:p>
        </p:txBody>
      </p:sp>
      <p:sp>
        <p:nvSpPr>
          <p:cNvPr id="43" name="Text 41"/>
          <p:cNvSpPr/>
          <p:nvPr/>
        </p:nvSpPr>
        <p:spPr>
          <a:xfrm>
            <a:off x="3619424" y="4809744"/>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Per-tenant, private</a:t>
            </a:r>
            <a:endParaRPr lang="en-US" sz="1000" dirty="0"/>
          </a:p>
        </p:txBody>
      </p:sp>
      <p:sp>
        <p:nvSpPr>
          <p:cNvPr id="44" name="Shape 42"/>
          <p:cNvSpPr/>
          <p:nvPr/>
        </p:nvSpPr>
        <p:spPr>
          <a:xfrm>
            <a:off x="6178144" y="4261104"/>
            <a:ext cx="2650160" cy="1051560"/>
          </a:xfrm>
          <a:prstGeom prst="rect">
            <a:avLst/>
          </a:prstGeom>
          <a:solidFill>
            <a:srgbClr val="FFFFFF"/>
          </a:solidFill>
          <a:ln w="12700">
            <a:solidFill>
              <a:srgbClr val="E2E8F0"/>
            </a:solidFill>
            <a:prstDash val="solid"/>
          </a:ln>
        </p:spPr>
        <p:txBody>
          <a:bodyPr/>
          <a:p/>
        </p:txBody>
      </p:sp>
      <p:sp>
        <p:nvSpPr>
          <p:cNvPr id="45" name="Shape 43"/>
          <p:cNvSpPr/>
          <p:nvPr/>
        </p:nvSpPr>
        <p:spPr>
          <a:xfrm>
            <a:off x="6178144" y="4261104"/>
            <a:ext cx="73152" cy="1051560"/>
          </a:xfrm>
          <a:prstGeom prst="rect">
            <a:avLst/>
          </a:prstGeom>
          <a:solidFill>
            <a:srgbClr val="4F46E5"/>
          </a:solidFill>
          <a:ln w="12700">
            <a:solidFill>
              <a:srgbClr val="4F46E5"/>
            </a:solidFill>
            <a:prstDash val="solid"/>
          </a:ln>
        </p:spPr>
        <p:txBody>
          <a:bodyPr/>
          <a:p/>
        </p:txBody>
      </p:sp>
      <p:sp>
        <p:nvSpPr>
          <p:cNvPr id="46" name="Text 44"/>
          <p:cNvSpPr/>
          <p:nvPr/>
        </p:nvSpPr>
        <p:spPr>
          <a:xfrm>
            <a:off x="6434176" y="4443984"/>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Push-to-deploy</a:t>
            </a:r>
            <a:endParaRPr lang="en-US" sz="1400" dirty="0"/>
          </a:p>
        </p:txBody>
      </p:sp>
      <p:sp>
        <p:nvSpPr>
          <p:cNvPr id="47" name="Text 45"/>
          <p:cNvSpPr/>
          <p:nvPr/>
        </p:nvSpPr>
        <p:spPr>
          <a:xfrm>
            <a:off x="6434176" y="4809744"/>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Webhook + AI deploy token</a:t>
            </a:r>
            <a:endParaRPr lang="en-US" sz="1000" dirty="0"/>
          </a:p>
        </p:txBody>
      </p:sp>
      <p:sp>
        <p:nvSpPr>
          <p:cNvPr id="48" name="Shape 46"/>
          <p:cNvSpPr/>
          <p:nvPr/>
        </p:nvSpPr>
        <p:spPr>
          <a:xfrm>
            <a:off x="8992895" y="4261104"/>
            <a:ext cx="2650160" cy="1051560"/>
          </a:xfrm>
          <a:prstGeom prst="rect">
            <a:avLst/>
          </a:prstGeom>
          <a:solidFill>
            <a:srgbClr val="FFFFFF"/>
          </a:solidFill>
          <a:ln w="12700">
            <a:solidFill>
              <a:srgbClr val="E2E8F0"/>
            </a:solidFill>
            <a:prstDash val="solid"/>
          </a:ln>
        </p:spPr>
        <p:txBody>
          <a:bodyPr/>
          <a:p/>
        </p:txBody>
      </p:sp>
      <p:sp>
        <p:nvSpPr>
          <p:cNvPr id="49" name="Shape 47"/>
          <p:cNvSpPr/>
          <p:nvPr/>
        </p:nvSpPr>
        <p:spPr>
          <a:xfrm>
            <a:off x="8992895" y="4261104"/>
            <a:ext cx="73152" cy="1051560"/>
          </a:xfrm>
          <a:prstGeom prst="rect">
            <a:avLst/>
          </a:prstGeom>
          <a:solidFill>
            <a:srgbClr val="F59E0B"/>
          </a:solidFill>
          <a:ln w="12700">
            <a:solidFill>
              <a:srgbClr val="F59E0B"/>
            </a:solidFill>
            <a:prstDash val="solid"/>
          </a:ln>
        </p:spPr>
        <p:txBody>
          <a:bodyPr/>
          <a:p/>
        </p:txBody>
      </p:sp>
      <p:sp>
        <p:nvSpPr>
          <p:cNvPr id="50" name="Text 48"/>
          <p:cNvSpPr/>
          <p:nvPr/>
        </p:nvSpPr>
        <p:spPr>
          <a:xfrm>
            <a:off x="9248927" y="4443984"/>
            <a:ext cx="2284400" cy="3657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Status page</a:t>
            </a:r>
            <a:endParaRPr lang="en-US" sz="1400" dirty="0"/>
          </a:p>
        </p:txBody>
      </p:sp>
      <p:sp>
        <p:nvSpPr>
          <p:cNvPr id="51" name="Text 49"/>
          <p:cNvSpPr/>
          <p:nvPr/>
        </p:nvSpPr>
        <p:spPr>
          <a:xfrm>
            <a:off x="9248927" y="4809744"/>
            <a:ext cx="2284400" cy="41148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status.hatchik.com</a:t>
            </a:r>
            <a:endParaRPr lang="en-US" sz="1000" dirty="0"/>
          </a:p>
        </p:txBody>
      </p:sp>
      <p:sp>
        <p:nvSpPr>
          <p:cNvPr id="52" name="Text 50"/>
          <p:cNvSpPr/>
          <p:nvPr/>
        </p:nvSpPr>
        <p:spPr>
          <a:xfrm>
            <a:off x="548640" y="6080760"/>
            <a:ext cx="10972800" cy="274320"/>
          </a:xfrm>
          <a:prstGeom prst="rect">
            <a:avLst/>
          </a:prstGeom>
          <a:noFill/>
          <a:ln/>
        </p:spPr>
        <p:txBody>
          <a:bodyPr wrap="square" lIns="0" tIns="0" rIns="0" bIns="0" rtlCol="0" anchor="ctr"/>
          <a:lstStyle/>
          <a:p>
            <a:pPr indent="0" marL="0">
              <a:buNone/>
            </a:pPr>
            <a:r>
              <a:rPr lang="en-US" sz="1000" i="1" dirty="0">
                <a:solidFill>
                  <a:srgbClr val="64748B"/>
                </a:solidFill>
                <a:latin typeface="Inter" pitchFamily="34" charset="0"/>
                <a:ea typeface="Inter" pitchFamily="34" charset="-122"/>
                <a:cs typeface="Inter" pitchFamily="34" charset="-120"/>
              </a:rPr>
              <a:t>Every tile is shipping today. Cross-referenced against FIRST_CUSTOMER_RUNBOOK.md.</a:t>
            </a:r>
            <a:endParaRPr lang="en-US" sz="1000" dirty="0"/>
          </a:p>
        </p:txBody>
      </p:sp>
      <p:sp>
        <p:nvSpPr>
          <p:cNvPr id="53" name="Text 51"/>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54" name="Text 52"/>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07  ·  MARKET</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TAM, SAM, SOM — sized from public AI-coder tool numbers.</a:t>
            </a:r>
            <a:endParaRPr lang="en-US" sz="3000" dirty="0"/>
          </a:p>
        </p:txBody>
      </p:sp>
      <p:sp>
        <p:nvSpPr>
          <p:cNvPr id="4" name="Shape 2"/>
          <p:cNvSpPr/>
          <p:nvPr/>
        </p:nvSpPr>
        <p:spPr>
          <a:xfrm>
            <a:off x="731520" y="1920240"/>
            <a:ext cx="4754880" cy="4754880"/>
          </a:xfrm>
          <a:prstGeom prst="ellipse">
            <a:avLst/>
          </a:prstGeom>
          <a:solidFill>
            <a:srgbClr val="EEF2FF"/>
          </a:solidFill>
          <a:ln w="12700">
            <a:solidFill>
              <a:srgbClr val="4F46E5"/>
            </a:solidFill>
            <a:prstDash val="solid"/>
          </a:ln>
        </p:spPr>
        <p:txBody>
          <a:bodyPr/>
          <a:p/>
        </p:txBody>
      </p:sp>
      <p:sp>
        <p:nvSpPr>
          <p:cNvPr id="5" name="Shape 3"/>
          <p:cNvSpPr/>
          <p:nvPr/>
        </p:nvSpPr>
        <p:spPr>
          <a:xfrm>
            <a:off x="1371600" y="2560320"/>
            <a:ext cx="3474720" cy="3474720"/>
          </a:xfrm>
          <a:prstGeom prst="ellipse">
            <a:avLst/>
          </a:prstGeom>
          <a:solidFill>
            <a:srgbClr val="DBEAFE"/>
          </a:solidFill>
          <a:ln w="12700">
            <a:solidFill>
              <a:srgbClr val="4F46E5"/>
            </a:solidFill>
            <a:prstDash val="solid"/>
          </a:ln>
        </p:spPr>
        <p:txBody>
          <a:bodyPr/>
          <a:p/>
        </p:txBody>
      </p:sp>
      <p:sp>
        <p:nvSpPr>
          <p:cNvPr id="6" name="Shape 4"/>
          <p:cNvSpPr/>
          <p:nvPr/>
        </p:nvSpPr>
        <p:spPr>
          <a:xfrm>
            <a:off x="2194560" y="3383280"/>
            <a:ext cx="1828800" cy="1828800"/>
          </a:xfrm>
          <a:prstGeom prst="ellipse">
            <a:avLst/>
          </a:prstGeom>
          <a:solidFill>
            <a:srgbClr val="FFFBEB"/>
          </a:solidFill>
          <a:ln w="25400">
            <a:solidFill>
              <a:srgbClr val="F59E0B"/>
            </a:solidFill>
            <a:prstDash val="solid"/>
          </a:ln>
        </p:spPr>
        <p:txBody>
          <a:bodyPr/>
          <a:p/>
        </p:txBody>
      </p:sp>
      <p:sp>
        <p:nvSpPr>
          <p:cNvPr id="7" name="Text 5"/>
          <p:cNvSpPr/>
          <p:nvPr/>
        </p:nvSpPr>
        <p:spPr>
          <a:xfrm>
            <a:off x="4526280" y="2103120"/>
            <a:ext cx="1097280" cy="365760"/>
          </a:xfrm>
          <a:prstGeom prst="rect">
            <a:avLst/>
          </a:prstGeom>
          <a:noFill/>
          <a:ln/>
        </p:spPr>
        <p:txBody>
          <a:bodyPr wrap="square" lIns="0" tIns="0" rIns="0" bIns="0" rtlCol="0" anchor="ctr"/>
          <a:lstStyle/>
          <a:p>
            <a:pPr indent="0" marL="0">
              <a:buNone/>
            </a:pPr>
            <a:r>
              <a:rPr lang="en-US" sz="1300" b="1" spc="300" kern="0" dirty="0">
                <a:solidFill>
                  <a:srgbClr val="3730A3"/>
                </a:solidFill>
                <a:latin typeface="JetBrains Mono" pitchFamily="34" charset="0"/>
                <a:ea typeface="JetBrains Mono" pitchFamily="34" charset="-122"/>
                <a:cs typeface="JetBrains Mono" pitchFamily="34" charset="-120"/>
              </a:rPr>
              <a:t>TAM</a:t>
            </a:r>
            <a:endParaRPr lang="en-US" sz="1300" dirty="0"/>
          </a:p>
        </p:txBody>
      </p:sp>
      <p:sp>
        <p:nvSpPr>
          <p:cNvPr id="8" name="Text 6"/>
          <p:cNvSpPr/>
          <p:nvPr/>
        </p:nvSpPr>
        <p:spPr>
          <a:xfrm>
            <a:off x="4069080" y="2788920"/>
            <a:ext cx="1097280" cy="365760"/>
          </a:xfrm>
          <a:prstGeom prst="rect">
            <a:avLst/>
          </a:prstGeom>
          <a:noFill/>
          <a:ln/>
        </p:spPr>
        <p:txBody>
          <a:bodyPr wrap="square" lIns="0" tIns="0" rIns="0" bIns="0" rtlCol="0" anchor="ctr"/>
          <a:lstStyle/>
          <a:p>
            <a:pPr indent="0" marL="0">
              <a:buNone/>
            </a:pPr>
            <a:r>
              <a:rPr lang="en-US" sz="1200" b="1" spc="300" kern="0" dirty="0">
                <a:solidFill>
                  <a:srgbClr val="3730A3"/>
                </a:solidFill>
                <a:latin typeface="JetBrains Mono" pitchFamily="34" charset="0"/>
                <a:ea typeface="JetBrains Mono" pitchFamily="34" charset="-122"/>
                <a:cs typeface="JetBrains Mono" pitchFamily="34" charset="-120"/>
              </a:rPr>
              <a:t>SAM</a:t>
            </a:r>
            <a:endParaRPr lang="en-US" sz="1200" dirty="0"/>
          </a:p>
        </p:txBody>
      </p:sp>
      <p:sp>
        <p:nvSpPr>
          <p:cNvPr id="9" name="Text 7"/>
          <p:cNvSpPr/>
          <p:nvPr/>
        </p:nvSpPr>
        <p:spPr>
          <a:xfrm>
            <a:off x="2697480" y="4133088"/>
            <a:ext cx="914400" cy="365760"/>
          </a:xfrm>
          <a:prstGeom prst="rect">
            <a:avLst/>
          </a:prstGeom>
          <a:noFill/>
          <a:ln/>
        </p:spPr>
        <p:txBody>
          <a:bodyPr wrap="square" lIns="0" tIns="0" rIns="0" bIns="0" rtlCol="0" anchor="ctr"/>
          <a:lstStyle/>
          <a:p>
            <a:pPr algn="ctr" indent="0" marL="0">
              <a:buNone/>
            </a:pPr>
            <a:r>
              <a:rPr lang="en-US" sz="1200" b="1" spc="300" kern="0" dirty="0">
                <a:solidFill>
                  <a:srgbClr val="92400E"/>
                </a:solidFill>
                <a:latin typeface="JetBrains Mono" pitchFamily="34" charset="0"/>
                <a:ea typeface="JetBrains Mono" pitchFamily="34" charset="-122"/>
                <a:cs typeface="JetBrains Mono" pitchFamily="34" charset="-120"/>
              </a:rPr>
              <a:t>SOM</a:t>
            </a:r>
            <a:endParaRPr lang="en-US" sz="1200" dirty="0"/>
          </a:p>
        </p:txBody>
      </p:sp>
      <p:sp>
        <p:nvSpPr>
          <p:cNvPr id="10" name="Text 8"/>
          <p:cNvSpPr/>
          <p:nvPr/>
        </p:nvSpPr>
        <p:spPr>
          <a:xfrm>
            <a:off x="6766560" y="1828800"/>
            <a:ext cx="5120640" cy="320040"/>
          </a:xfrm>
          <a:prstGeom prst="rect">
            <a:avLst/>
          </a:prstGeom>
          <a:noFill/>
          <a:ln/>
        </p:spPr>
        <p:txBody>
          <a:bodyPr wrap="square" lIns="0" tIns="0" rIns="0" bIns="0" rtlCol="0" anchor="ctr"/>
          <a:lstStyle/>
          <a:p>
            <a:pPr indent="0" marL="0">
              <a:buNone/>
            </a:pPr>
            <a:r>
              <a:rPr lang="en-US" sz="1100" b="1" spc="300" kern="0" dirty="0">
                <a:solidFill>
                  <a:srgbClr val="4F46E5"/>
                </a:solidFill>
                <a:latin typeface="JetBrains Mono" pitchFamily="34" charset="0"/>
                <a:ea typeface="JetBrains Mono" pitchFamily="34" charset="-122"/>
                <a:cs typeface="JetBrains Mono" pitchFamily="34" charset="-120"/>
              </a:rPr>
              <a:t>TAM — total addressable</a:t>
            </a:r>
            <a:endParaRPr lang="en-US" sz="1100" dirty="0"/>
          </a:p>
        </p:txBody>
      </p:sp>
      <p:sp>
        <p:nvSpPr>
          <p:cNvPr id="11" name="Text 9"/>
          <p:cNvSpPr/>
          <p:nvPr/>
        </p:nvSpPr>
        <p:spPr>
          <a:xfrm>
            <a:off x="6766560" y="2121408"/>
            <a:ext cx="5120640" cy="640080"/>
          </a:xfrm>
          <a:prstGeom prst="rect">
            <a:avLst/>
          </a:prstGeom>
          <a:noFill/>
          <a:ln/>
        </p:spPr>
        <p:txBody>
          <a:bodyPr wrap="square" lIns="0" tIns="0" rIns="0" bIns="0" rtlCol="0" anchor="ctr"/>
          <a:lstStyle/>
          <a:p>
            <a:pPr indent="0" marL="0">
              <a:buNone/>
            </a:pPr>
            <a:r>
              <a:rPr lang="en-US" sz="2800" b="1" dirty="0">
                <a:solidFill>
                  <a:srgbClr val="1E293B"/>
                </a:solidFill>
                <a:latin typeface="Inter" pitchFamily="34" charset="0"/>
                <a:ea typeface="Inter" pitchFamily="34" charset="-122"/>
                <a:cs typeface="Inter" pitchFamily="34" charset="-120"/>
              </a:rPr>
              <a:t>~310K</a:t>
            </a:r>
            <a:pPr indent="0" marL="0">
              <a:buNone/>
            </a:pPr>
            <a:r>
              <a:rPr lang="en-US" sz="1400" dirty="0">
                <a:solidFill>
                  <a:srgbClr val="475569"/>
                </a:solidFill>
                <a:latin typeface="Inter" pitchFamily="34" charset="0"/>
                <a:ea typeface="Inter" pitchFamily="34" charset="-122"/>
                <a:cs typeface="Inter" pitchFamily="34" charset="-120"/>
              </a:rPr>
              <a:t>  users globally  ·  </a:t>
            </a:r>
            <a:pPr indent="0" marL="0">
              <a:buNone/>
            </a:pPr>
            <a:r>
              <a:rPr lang="en-US" sz="1600" b="1" dirty="0">
                <a:solidFill>
                  <a:srgbClr val="1E293B"/>
                </a:solidFill>
                <a:latin typeface="Inter" pitchFamily="34" charset="0"/>
                <a:ea typeface="Inter" pitchFamily="34" charset="-122"/>
                <a:cs typeface="Inter" pitchFamily="34" charset="-120"/>
              </a:rPr>
              <a:t>£56M/yr today</a:t>
            </a:r>
            <a:endParaRPr lang="en-US" sz="2800" dirty="0"/>
          </a:p>
        </p:txBody>
      </p:sp>
      <p:sp>
        <p:nvSpPr>
          <p:cNvPr id="12" name="Text 10"/>
          <p:cNvSpPr/>
          <p:nvPr/>
        </p:nvSpPr>
        <p:spPr>
          <a:xfrm>
            <a:off x="6766560" y="2788920"/>
            <a:ext cx="5120640" cy="365760"/>
          </a:xfrm>
          <a:prstGeom prst="rect">
            <a:avLst/>
          </a:prstGeom>
          <a:noFill/>
          <a:ln/>
        </p:spPr>
        <p:txBody>
          <a:bodyPr wrap="square" lIns="0" tIns="0" rIns="0" bIns="0" rtlCol="0" anchor="ctr"/>
          <a:lstStyle/>
          <a:p>
            <a:pPr indent="0" marL="0">
              <a:buNone/>
            </a:pPr>
            <a:r>
              <a:rPr lang="en-US" sz="1100" dirty="0">
                <a:solidFill>
                  <a:srgbClr val="64748B"/>
                </a:solidFill>
                <a:latin typeface="Inter" pitchFamily="34" charset="0"/>
                <a:ea typeface="Inter" pitchFamily="34" charset="-122"/>
                <a:cs typeface="Inter" pitchFamily="34" charset="-120"/>
              </a:rPr>
              <a:t>AI-coder ICP, blended £180 ARPU. 2027 projection: £200M+/yr.</a:t>
            </a:r>
            <a:endParaRPr lang="en-US" sz="1100" dirty="0"/>
          </a:p>
        </p:txBody>
      </p:sp>
      <p:sp>
        <p:nvSpPr>
          <p:cNvPr id="13" name="Text 11"/>
          <p:cNvSpPr/>
          <p:nvPr/>
        </p:nvSpPr>
        <p:spPr>
          <a:xfrm>
            <a:off x="6766560" y="3246120"/>
            <a:ext cx="5120640" cy="320040"/>
          </a:xfrm>
          <a:prstGeom prst="rect">
            <a:avLst/>
          </a:prstGeom>
          <a:noFill/>
          <a:ln/>
        </p:spPr>
        <p:txBody>
          <a:bodyPr wrap="square" lIns="0" tIns="0" rIns="0" bIns="0" rtlCol="0" anchor="ctr"/>
          <a:lstStyle/>
          <a:p>
            <a:pPr indent="0" marL="0">
              <a:buNone/>
            </a:pPr>
            <a:r>
              <a:rPr lang="en-US" sz="1100" b="1" spc="300" kern="0" dirty="0">
                <a:solidFill>
                  <a:srgbClr val="4F46E5"/>
                </a:solidFill>
                <a:latin typeface="JetBrains Mono" pitchFamily="34" charset="0"/>
                <a:ea typeface="JetBrains Mono" pitchFamily="34" charset="-122"/>
                <a:cs typeface="JetBrains Mono" pitchFamily="34" charset="-120"/>
              </a:rPr>
              <a:t>SAM — serviceable</a:t>
            </a:r>
            <a:endParaRPr lang="en-US" sz="1100" dirty="0"/>
          </a:p>
        </p:txBody>
      </p:sp>
      <p:sp>
        <p:nvSpPr>
          <p:cNvPr id="14" name="Text 12"/>
          <p:cNvSpPr/>
          <p:nvPr/>
        </p:nvSpPr>
        <p:spPr>
          <a:xfrm>
            <a:off x="6766560" y="3538728"/>
            <a:ext cx="5120640" cy="640080"/>
          </a:xfrm>
          <a:prstGeom prst="rect">
            <a:avLst/>
          </a:prstGeom>
          <a:noFill/>
          <a:ln/>
        </p:spPr>
        <p:txBody>
          <a:bodyPr wrap="square" lIns="0" tIns="0" rIns="0" bIns="0" rtlCol="0" anchor="ctr"/>
          <a:lstStyle/>
          <a:p>
            <a:pPr indent="0" marL="0">
              <a:buNone/>
            </a:pPr>
            <a:r>
              <a:rPr lang="en-US" sz="2800" b="1" dirty="0">
                <a:solidFill>
                  <a:srgbClr val="1E293B"/>
                </a:solidFill>
                <a:latin typeface="Inter" pitchFamily="34" charset="0"/>
                <a:ea typeface="Inter" pitchFamily="34" charset="-122"/>
                <a:cs typeface="Inter" pitchFamily="34" charset="-120"/>
              </a:rPr>
              <a:t>~190K</a:t>
            </a:r>
            <a:pPr indent="0" marL="0">
              <a:buNone/>
            </a:pPr>
            <a:r>
              <a:rPr lang="en-US" sz="1400" dirty="0">
                <a:solidFill>
                  <a:srgbClr val="475569"/>
                </a:solidFill>
                <a:latin typeface="Inter" pitchFamily="34" charset="0"/>
                <a:ea typeface="Inter" pitchFamily="34" charset="-122"/>
                <a:cs typeface="Inter" pitchFamily="34" charset="-120"/>
              </a:rPr>
              <a:t>  users  ·  </a:t>
            </a:r>
            <a:pPr indent="0" marL="0">
              <a:buNone/>
            </a:pPr>
            <a:r>
              <a:rPr lang="en-US" sz="1400" b="1" dirty="0">
                <a:solidFill>
                  <a:srgbClr val="1E293B"/>
                </a:solidFill>
                <a:latin typeface="Inter" pitchFamily="34" charset="0"/>
                <a:ea typeface="Inter" pitchFamily="34" charset="-122"/>
                <a:cs typeface="Inter" pitchFamily="34" charset="-120"/>
              </a:rPr>
              <a:t>£34M/yr  →  £120M/yr by 2027</a:t>
            </a:r>
            <a:endParaRPr lang="en-US" sz="2800" dirty="0"/>
          </a:p>
        </p:txBody>
      </p:sp>
      <p:sp>
        <p:nvSpPr>
          <p:cNvPr id="15" name="Text 13"/>
          <p:cNvSpPr/>
          <p:nvPr/>
        </p:nvSpPr>
        <p:spPr>
          <a:xfrm>
            <a:off x="6766560" y="4206240"/>
            <a:ext cx="5120640" cy="365760"/>
          </a:xfrm>
          <a:prstGeom prst="rect">
            <a:avLst/>
          </a:prstGeom>
          <a:noFill/>
          <a:ln/>
        </p:spPr>
        <p:txBody>
          <a:bodyPr wrap="square" lIns="0" tIns="0" rIns="0" bIns="0" rtlCol="0" anchor="ctr"/>
          <a:lstStyle/>
          <a:p>
            <a:pPr indent="0" marL="0">
              <a:buNone/>
            </a:pPr>
            <a:r>
              <a:rPr lang="en-US" sz="1100" dirty="0">
                <a:solidFill>
                  <a:srgbClr val="64748B"/>
                </a:solidFill>
                <a:latin typeface="Inter" pitchFamily="34" charset="0"/>
                <a:ea typeface="Inter" pitchFamily="34" charset="-122"/>
                <a:cs typeface="Inter" pitchFamily="34" charset="-120"/>
              </a:rPr>
              <a:t>English-first, Paddle-eligible geo, &lt;200ms latency from Hetzner NBG1.</a:t>
            </a:r>
            <a:endParaRPr lang="en-US" sz="1100" dirty="0"/>
          </a:p>
        </p:txBody>
      </p:sp>
      <p:sp>
        <p:nvSpPr>
          <p:cNvPr id="16" name="Text 14"/>
          <p:cNvSpPr/>
          <p:nvPr/>
        </p:nvSpPr>
        <p:spPr>
          <a:xfrm>
            <a:off x="6766560" y="4663440"/>
            <a:ext cx="5120640" cy="320040"/>
          </a:xfrm>
          <a:prstGeom prst="rect">
            <a:avLst/>
          </a:prstGeom>
          <a:noFill/>
          <a:ln/>
        </p:spPr>
        <p:txBody>
          <a:bodyPr wrap="square" lIns="0" tIns="0" rIns="0" bIns="0" rtlCol="0" anchor="ctr"/>
          <a:lstStyle/>
          <a:p>
            <a:pPr indent="0" marL="0">
              <a:buNone/>
            </a:pPr>
            <a:r>
              <a:rPr lang="en-US" sz="1100" b="1" spc="300" kern="0" dirty="0">
                <a:solidFill>
                  <a:srgbClr val="F59E0B"/>
                </a:solidFill>
                <a:latin typeface="JetBrains Mono" pitchFamily="34" charset="0"/>
                <a:ea typeface="JetBrains Mono" pitchFamily="34" charset="-122"/>
                <a:cs typeface="JetBrains Mono" pitchFamily="34" charset="-120"/>
              </a:rPr>
              <a:t>SOM — 12-18 month sprint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66560" y="4983480"/>
          <a:ext cx="5120640" cy="914400"/>
        </p:xfrm>
        <a:graphic>
          <a:graphicData uri="http://schemas.openxmlformats.org/drawingml/2006/table">
            <a:tbl>
              <a:tblPr/>
              <a:tblGrid>
                <a:gridCol w="1645920"/>
                <a:gridCol w="1645920"/>
                <a:gridCol w="1828800"/>
              </a:tblGrid>
              <a:tr h="347472">
                <a:tc>
                  <a:txBody>
                    <a:bodyPr/>
                    <a:lstStyle/>
                    <a:p>
                      <a:pPr indent="0" marL="0">
                        <a:buNone/>
                      </a:pPr>
                      <a:r>
                        <a:rPr lang="en-US" sz="1200" b="1" dirty="0">
                          <a:solidFill>
                            <a:srgbClr val="1E293B"/>
                          </a:solidFill>
                          <a:latin typeface="Inter" pitchFamily="34" charset="0"/>
                          <a:ea typeface="Inter" pitchFamily="34" charset="-122"/>
                          <a:cs typeface="Inter" pitchFamily="34" charset="-120"/>
                        </a:rPr>
                        <a:t>Sprint base</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Inter" pitchFamily="34" charset="0"/>
                          <a:ea typeface="Inter" pitchFamily="34" charset="-122"/>
                          <a:cs typeface="Inter" pitchFamily="34" charset="-120"/>
                        </a:rPr>
                        <a:t>~5K paying</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Inter" pitchFamily="34" charset="0"/>
                          <a:ea typeface="Inter" pitchFamily="34" charset="-122"/>
                          <a:cs typeface="Inter" pitchFamily="34" charset="-120"/>
                        </a:rPr>
                        <a:t>by month 12</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47472">
                <a:tc>
                  <a:txBody>
                    <a:bodyPr/>
                    <a:lstStyle/>
                    <a:p>
                      <a:pPr indent="0" marL="0">
                        <a:buNone/>
                      </a:pPr>
                      <a:r>
                        <a:rPr lang="en-US" sz="1200" b="1" dirty="0">
                          <a:solidFill>
                            <a:srgbClr val="1E293B"/>
                          </a:solidFill>
                          <a:latin typeface="Inter" pitchFamily="34" charset="0"/>
                          <a:ea typeface="Inter" pitchFamily="34" charset="-122"/>
                          <a:cs typeface="Inter" pitchFamily="34" charset="-120"/>
                        </a:rPr>
                        <a:t>Sprint upside</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Inter" pitchFamily="34" charset="0"/>
                          <a:ea typeface="Inter" pitchFamily="34" charset="-122"/>
                          <a:cs typeface="Inter" pitchFamily="34" charset="-120"/>
                        </a:rPr>
                        <a:t>~15K paying</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Inter" pitchFamily="34" charset="0"/>
                          <a:ea typeface="Inter" pitchFamily="34" charset="-122"/>
                          <a:cs typeface="Inter" pitchFamily="34" charset="-120"/>
                        </a:rPr>
                        <a:t>by month 18</a:t>
                      </a:r>
                      <a:endParaRPr lang="en-US" sz="1200" dirty="0">
                        <a:latin typeface="Inter" charset="0"/>
                        <a:ea typeface="Inter" charset="0"/>
                        <a:cs typeface="Inter" charset="0"/>
                      </a:endParaRPr>
                    </a:p>
                  </a:txBody>
                  <a:tcPr marL="91440" marR="91440" marT="45720" marB="45720">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
        <p:nvSpPr>
          <p:cNvPr id="18" name="Text 15"/>
          <p:cNvSpPr/>
          <p:nvPr/>
        </p:nvSpPr>
        <p:spPr>
          <a:xfrm>
            <a:off x="6766560" y="5760720"/>
            <a:ext cx="5120640" cy="365760"/>
          </a:xfrm>
          <a:prstGeom prst="rect">
            <a:avLst/>
          </a:prstGeom>
          <a:noFill/>
          <a:ln/>
        </p:spPr>
        <p:txBody>
          <a:bodyPr wrap="square" lIns="0" tIns="0" rIns="0" bIns="0" rtlCol="0" anchor="ctr"/>
          <a:lstStyle/>
          <a:p>
            <a:pPr indent="0" marL="0">
              <a:buNone/>
            </a:pPr>
            <a:r>
              <a:rPr lang="en-US" sz="900" i="1" dirty="0">
                <a:solidFill>
                  <a:srgbClr val="64748B"/>
                </a:solidFill>
                <a:latin typeface="JetBrains Mono" pitchFamily="34" charset="0"/>
                <a:ea typeface="JetBrains Mono" pitchFamily="34" charset="-122"/>
                <a:cs typeface="JetBrains Mono" pitchFamily="34" charset="-120"/>
              </a:rPr>
              <a:t>Note: SOM at acquisition is a different number than SOM at steady-state — see slide 15 landing zones.</a:t>
            </a:r>
            <a:endParaRPr lang="en-US" sz="900" dirty="0"/>
          </a:p>
        </p:txBody>
      </p:sp>
      <p:sp>
        <p:nvSpPr>
          <p:cNvPr id="19" name="Text 16"/>
          <p:cNvSpPr/>
          <p:nvPr/>
        </p:nvSpPr>
        <p:spPr>
          <a:xfrm>
            <a:off x="6766560" y="6446520"/>
            <a:ext cx="5120640" cy="274320"/>
          </a:xfrm>
          <a:prstGeom prst="rect">
            <a:avLst/>
          </a:prstGeom>
          <a:noFill/>
          <a:ln/>
        </p:spPr>
        <p:txBody>
          <a:bodyPr wrap="square" lIns="0" tIns="0" rIns="0" bIns="0" rtlCol="0" anchor="ctr"/>
          <a:lstStyle/>
          <a:p>
            <a:pPr indent="0" marL="0">
              <a:buNone/>
            </a:pPr>
            <a:r>
              <a:rPr lang="en-US" sz="800" i="1" dirty="0">
                <a:solidFill>
                  <a:srgbClr val="64748B"/>
                </a:solidFill>
                <a:latin typeface="JetBrains Mono" pitchFamily="34" charset="0"/>
                <a:ea typeface="JetBrains Mono" pitchFamily="34" charset="-122"/>
                <a:cs typeface="JetBrains Mono" pitchFamily="34" charset="-120"/>
              </a:rPr>
              <a:t>Sources: TAM/SAM from MARKETING_PLAN §2-3. Sprint scenarios anchored on Cursor / Lovable / Bolt curves.</a:t>
            </a:r>
            <a:endParaRPr lang="en-US" sz="800" dirty="0"/>
          </a:p>
        </p:txBody>
      </p:sp>
      <p:sp>
        <p:nvSpPr>
          <p:cNvPr id="20" name="Text 17"/>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1" name="Text 18"/>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08  ·  COMPETITIVE LANDSCAPE</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Hatchik vs the AI-app-builder pack.</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00400"/>
                <a:gridCol w="1463040"/>
                <a:gridCol w="1280160"/>
                <a:gridCol w="1280160"/>
                <a:gridCol w="1463040"/>
                <a:gridCol w="1280160"/>
                <a:gridCol w="1097280"/>
              </a:tblGrid>
              <a:tr h="384048">
                <a:tc>
                  <a:txBody>
                    <a:bodyPr/>
                    <a:lstStyle/>
                    <a:p>
                      <a:pPr indent="0" marL="0">
                        <a:buNone/>
                      </a:pPr>
                      <a:endParaRPr lang="en-US" sz="1000" dirty="0">
                        <a:latin typeface="Inter" charset="0"/>
                        <a:ea typeface="Inter" charset="0"/>
                        <a:cs typeface="Inter"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6F5F1"/>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Hatchik</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59E0B"/>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Bolt</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4F46E5"/>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Lovable</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4F46E5"/>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Replit Agent</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4F46E5"/>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Bubble</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4F46E5"/>
                    </a:solidFill>
                  </a:tcPr>
                </a:tc>
                <a:tc>
                  <a:txBody>
                    <a:bodyPr/>
                    <a:lstStyle/>
                    <a:p>
                      <a:pPr algn="ctr" indent="0" marL="0">
                        <a:buNone/>
                      </a:pPr>
                      <a:r>
                        <a:rPr lang="en-US" sz="1100" b="1" dirty="0">
                          <a:solidFill>
                            <a:srgbClr val="FFFFFF"/>
                          </a:solidFill>
                          <a:latin typeface="Inter" pitchFamily="34" charset="0"/>
                          <a:ea typeface="Inter" pitchFamily="34" charset="-122"/>
                          <a:cs typeface="Inter" pitchFamily="34" charset="-120"/>
                        </a:rPr>
                        <a:t>ShipFast</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4F46E5"/>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Your existing AI tool works</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Auth + payments + mail wired</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You own the code (GitHub)</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Take your stack elsewhere</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Provisioned for you (no DIY)</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Mobile builds (iOS + Android)</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59E0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Merchant-of-record billing</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0B981"/>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64748B"/>
                          </a:solidFill>
                          <a:latin typeface="Inter" pitchFamily="34" charset="0"/>
                          <a:ea typeface="Inter" pitchFamily="34" charset="-122"/>
                          <a:cs typeface="Inter" pitchFamily="34" charset="-120"/>
                        </a:rPr>
                        <a:t>—</a:t>
                      </a:r>
                      <a:endParaRPr lang="en-US" sz="14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93B"/>
                          </a:solidFill>
                          <a:latin typeface="Inter" pitchFamily="34" charset="0"/>
                          <a:ea typeface="Inter" pitchFamily="34" charset="-122"/>
                          <a:cs typeface="Inter" pitchFamily="34" charset="-120"/>
                        </a:rPr>
                        <a:t>Launch price (£/mo)</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92400E"/>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BEB"/>
                    </a:solidFill>
                  </a:tcPr>
                </a:tc>
                <a:tc>
                  <a:txBody>
                    <a:bodyPr/>
                    <a:lstStyle/>
                    <a:p>
                      <a:pPr algn="ctr" indent="0" marL="0">
                        <a:buNone/>
                      </a:pPr>
                      <a:r>
                        <a:rPr lang="en-US" sz="1100" dirty="0">
                          <a:solidFill>
                            <a:srgbClr val="475569"/>
                          </a:solidFill>
                          <a:latin typeface="Inter" pitchFamily="34" charset="0"/>
                          <a:ea typeface="Inter" pitchFamily="34" charset="-122"/>
                          <a:cs typeface="Inter" pitchFamily="34" charset="-120"/>
                        </a:rPr>
                        <a:t>$20+</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475569"/>
                          </a:solidFill>
                          <a:latin typeface="Inter" pitchFamily="34" charset="0"/>
                          <a:ea typeface="Inter" pitchFamily="34" charset="-122"/>
                          <a:cs typeface="Inter" pitchFamily="34" charset="-120"/>
                        </a:rPr>
                        <a:t>$25+</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475569"/>
                          </a:solidFill>
                          <a:latin typeface="Inter" pitchFamily="34" charset="0"/>
                          <a:ea typeface="Inter" pitchFamily="34" charset="-122"/>
                          <a:cs typeface="Inter" pitchFamily="34" charset="-120"/>
                        </a:rPr>
                        <a:t>$25+</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475569"/>
                          </a:solidFill>
                          <a:latin typeface="Inter" pitchFamily="34" charset="0"/>
                          <a:ea typeface="Inter" pitchFamily="34" charset="-122"/>
                          <a:cs typeface="Inter" pitchFamily="34" charset="-120"/>
                        </a:rPr>
                        <a:t>$39+</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475569"/>
                          </a:solidFill>
                          <a:latin typeface="Inter" pitchFamily="34" charset="0"/>
                          <a:ea typeface="Inter" pitchFamily="34" charset="-122"/>
                          <a:cs typeface="Inter" pitchFamily="34" charset="-120"/>
                        </a:rPr>
                        <a:t>one-off</a:t>
                      </a:r>
                      <a:endParaRPr lang="en-US" sz="1100" dirty="0">
                        <a:latin typeface="Inter" charset="0"/>
                        <a:ea typeface="Inter" charset="0"/>
                        <a:cs typeface="Inter" charset="0"/>
                      </a:endParaRPr>
                    </a:p>
                  </a:txBody>
                  <a:tcPr marL="91440" marR="91440" marT="45720" marB="4572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5943600"/>
            <a:ext cx="10972800" cy="274320"/>
          </a:xfrm>
          <a:prstGeom prst="rect">
            <a:avLst/>
          </a:prstGeom>
          <a:noFill/>
          <a:ln/>
        </p:spPr>
        <p:txBody>
          <a:bodyPr wrap="square" lIns="0" tIns="0" rIns="0" bIns="0" rtlCol="0" anchor="ctr"/>
          <a:lstStyle/>
          <a:p>
            <a:pPr indent="0" marL="0">
              <a:buNone/>
            </a:pPr>
            <a:r>
              <a:rPr lang="en-US" sz="1000" b="1" dirty="0">
                <a:solidFill>
                  <a:srgbClr val="10B981"/>
                </a:solidFill>
                <a:latin typeface="Inter" pitchFamily="34" charset="0"/>
                <a:ea typeface="Inter" pitchFamily="34" charset="-122"/>
                <a:cs typeface="Inter" pitchFamily="34" charset="-120"/>
              </a:rPr>
              <a:t>✓</a:t>
            </a:r>
            <a:pPr indent="0" marL="0">
              <a:buNone/>
            </a:pPr>
            <a:r>
              <a:rPr lang="en-US" sz="1000" dirty="0">
                <a:solidFill>
                  <a:srgbClr val="64748B"/>
                </a:solidFill>
                <a:latin typeface="Inter" pitchFamily="34" charset="0"/>
                <a:ea typeface="Inter" pitchFamily="34" charset="-122"/>
                <a:cs typeface="Inter" pitchFamily="34" charset="-120"/>
              </a:rPr>
              <a:t>  full  </a:t>
            </a:r>
            <a:pPr indent="0" marL="0">
              <a:buNone/>
            </a:pPr>
            <a:r>
              <a:rPr lang="en-US" sz="1000" b="1" dirty="0">
                <a:solidFill>
                  <a:srgbClr val="F59E0B"/>
                </a:solidFill>
                <a:latin typeface="Inter" pitchFamily="34" charset="0"/>
                <a:ea typeface="Inter" pitchFamily="34" charset="-122"/>
                <a:cs typeface="Inter" pitchFamily="34" charset="-120"/>
              </a:rPr>
              <a:t>~</a:t>
            </a:r>
            <a:pPr indent="0" marL="0">
              <a:buNone/>
            </a:pPr>
            <a:r>
              <a:rPr lang="en-US" sz="1000" dirty="0">
                <a:solidFill>
                  <a:srgbClr val="64748B"/>
                </a:solidFill>
                <a:latin typeface="Inter" pitchFamily="34" charset="0"/>
                <a:ea typeface="Inter" pitchFamily="34" charset="-122"/>
                <a:cs typeface="Inter" pitchFamily="34" charset="-120"/>
              </a:rPr>
              <a:t>  partial  </a:t>
            </a:r>
            <a:pPr indent="0" marL="0">
              <a:buNone/>
            </a:pPr>
            <a:r>
              <a:rPr lang="en-US" sz="1000" dirty="0">
                <a:solidFill>
                  <a:srgbClr val="64748B"/>
                </a:solidFill>
                <a:latin typeface="Inter" pitchFamily="34" charset="0"/>
                <a:ea typeface="Inter" pitchFamily="34" charset="-122"/>
                <a:cs typeface="Inter" pitchFamily="34" charset="-120"/>
              </a:rPr>
              <a:t>—</a:t>
            </a:r>
            <a:pPr indent="0" marL="0">
              <a:buNone/>
            </a:pPr>
            <a:r>
              <a:rPr lang="en-US" sz="1000" dirty="0">
                <a:solidFill>
                  <a:srgbClr val="64748B"/>
                </a:solidFill>
                <a:latin typeface="Inter" pitchFamily="34" charset="0"/>
                <a:ea typeface="Inter" pitchFamily="34" charset="-122"/>
                <a:cs typeface="Inter" pitchFamily="34" charset="-120"/>
              </a:rPr>
              <a:t>  not supported</a:t>
            </a:r>
            <a:endParaRPr lang="en-US" sz="1000" dirty="0"/>
          </a:p>
        </p:txBody>
      </p:sp>
      <p:sp>
        <p:nvSpPr>
          <p:cNvPr id="6" name="Text 3"/>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7" name="Text 4"/>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09  ·  WHERE WE WIN</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Three things no competitor combines.</a:t>
            </a:r>
            <a:endParaRPr lang="en-US" sz="3000" dirty="0"/>
          </a:p>
        </p:txBody>
      </p:sp>
      <p:sp>
        <p:nvSpPr>
          <p:cNvPr id="4" name="Shape 2"/>
          <p:cNvSpPr/>
          <p:nvPr/>
        </p:nvSpPr>
        <p:spPr>
          <a:xfrm>
            <a:off x="548640" y="1828800"/>
            <a:ext cx="3545738" cy="393192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828800"/>
            <a:ext cx="3545738" cy="1280160"/>
          </a:xfrm>
          <a:prstGeom prst="rect">
            <a:avLst/>
          </a:prstGeom>
          <a:solidFill>
            <a:srgbClr val="4F46E5"/>
          </a:solidFill>
          <a:ln w="12700">
            <a:solidFill>
              <a:srgbClr val="4F46E5"/>
            </a:solidFill>
            <a:prstDash val="solid"/>
          </a:ln>
        </p:spPr>
        <p:txBody>
          <a:bodyPr/>
          <a:p/>
        </p:txBody>
      </p:sp>
      <p:sp>
        <p:nvSpPr>
          <p:cNvPr id="6" name="Text 4"/>
          <p:cNvSpPr/>
          <p:nvPr/>
        </p:nvSpPr>
        <p:spPr>
          <a:xfrm>
            <a:off x="868680" y="2057400"/>
            <a:ext cx="2905658" cy="320040"/>
          </a:xfrm>
          <a:prstGeom prst="rect">
            <a:avLst/>
          </a:prstGeom>
          <a:noFill/>
          <a:ln/>
        </p:spPr>
        <p:txBody>
          <a:bodyPr wrap="square" lIns="0" tIns="0" rIns="0" bIns="0" rtlCol="0" anchor="ctr"/>
          <a:lstStyle/>
          <a:p>
            <a:pPr indent="0" marL="0">
              <a:buNone/>
            </a:pPr>
            <a:r>
              <a:rPr lang="en-US" sz="1000" b="1" spc="400" kern="0" dirty="0">
                <a:solidFill>
                  <a:srgbClr val="FCD34D"/>
                </a:solidFill>
                <a:latin typeface="JetBrains Mono" pitchFamily="34" charset="0"/>
                <a:ea typeface="JetBrains Mono" pitchFamily="34" charset="-122"/>
                <a:cs typeface="JetBrains Mono" pitchFamily="34" charset="-120"/>
              </a:rPr>
              <a:t>WEDGE 01</a:t>
            </a:r>
            <a:endParaRPr lang="en-US" sz="1000" dirty="0"/>
          </a:p>
        </p:txBody>
      </p:sp>
      <p:sp>
        <p:nvSpPr>
          <p:cNvPr id="7" name="Text 5"/>
          <p:cNvSpPr/>
          <p:nvPr/>
        </p:nvSpPr>
        <p:spPr>
          <a:xfrm>
            <a:off x="868680" y="2331720"/>
            <a:ext cx="2905658" cy="77724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01</a:t>
            </a:r>
            <a:endParaRPr lang="en-US" sz="4400" dirty="0"/>
          </a:p>
        </p:txBody>
      </p:sp>
      <p:sp>
        <p:nvSpPr>
          <p:cNvPr id="8" name="Text 6"/>
          <p:cNvSpPr/>
          <p:nvPr/>
        </p:nvSpPr>
        <p:spPr>
          <a:xfrm>
            <a:off x="868680" y="3337560"/>
            <a:ext cx="2905658" cy="1097280"/>
          </a:xfrm>
          <a:prstGeom prst="rect">
            <a:avLst/>
          </a:prstGeom>
          <a:noFill/>
          <a:ln/>
        </p:spPr>
        <p:txBody>
          <a:bodyPr wrap="square" lIns="0" tIns="0" rIns="0" bIns="0" rtlCol="0" anchor="ctr"/>
          <a:lstStyle/>
          <a:p>
            <a:pPr indent="0" marL="0">
              <a:buNone/>
            </a:pPr>
            <a:r>
              <a:rPr lang="en-US" sz="2000" b="1" dirty="0">
                <a:solidFill>
                  <a:srgbClr val="1E293B"/>
                </a:solidFill>
                <a:latin typeface="Inter" pitchFamily="34" charset="0"/>
                <a:ea typeface="Inter" pitchFamily="34" charset="-122"/>
                <a:cs typeface="Inter" pitchFamily="34" charset="-120"/>
              </a:rPr>
              <a:t>Your AI tool, not ours.</a:t>
            </a:r>
            <a:endParaRPr lang="en-US" sz="2000" dirty="0"/>
          </a:p>
        </p:txBody>
      </p:sp>
      <p:sp>
        <p:nvSpPr>
          <p:cNvPr id="9" name="Text 7"/>
          <p:cNvSpPr/>
          <p:nvPr/>
        </p:nvSpPr>
        <p:spPr>
          <a:xfrm>
            <a:off x="868680" y="4480560"/>
            <a:ext cx="2905658" cy="118872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Every other AI builder ships its own chat. We plug into the one your customer already trusts — Claude Code, Cursor, Windsurf, Copilot. Zero context switching, zero retraining.</a:t>
            </a:r>
            <a:endParaRPr lang="en-US" sz="1200" dirty="0"/>
          </a:p>
        </p:txBody>
      </p:sp>
      <p:sp>
        <p:nvSpPr>
          <p:cNvPr id="10" name="Shape 8"/>
          <p:cNvSpPr/>
          <p:nvPr/>
        </p:nvSpPr>
        <p:spPr>
          <a:xfrm>
            <a:off x="4322978" y="1828800"/>
            <a:ext cx="3545738" cy="3931920"/>
          </a:xfrm>
          <a:prstGeom prst="rect">
            <a:avLst/>
          </a:prstGeom>
          <a:solidFill>
            <a:srgbClr val="FFFFFF"/>
          </a:solidFill>
          <a:ln w="12700">
            <a:solidFill>
              <a:srgbClr val="E2E8F0"/>
            </a:solidFill>
            <a:prstDash val="solid"/>
          </a:ln>
        </p:spPr>
        <p:txBody>
          <a:bodyPr/>
          <a:p/>
        </p:txBody>
      </p:sp>
      <p:sp>
        <p:nvSpPr>
          <p:cNvPr id="11" name="Shape 9"/>
          <p:cNvSpPr/>
          <p:nvPr/>
        </p:nvSpPr>
        <p:spPr>
          <a:xfrm>
            <a:off x="4322978" y="1828800"/>
            <a:ext cx="3545738" cy="1280160"/>
          </a:xfrm>
          <a:prstGeom prst="rect">
            <a:avLst/>
          </a:prstGeom>
          <a:solidFill>
            <a:srgbClr val="4F46E5"/>
          </a:solidFill>
          <a:ln w="12700">
            <a:solidFill>
              <a:srgbClr val="4F46E5"/>
            </a:solidFill>
            <a:prstDash val="solid"/>
          </a:ln>
        </p:spPr>
        <p:txBody>
          <a:bodyPr/>
          <a:p/>
        </p:txBody>
      </p:sp>
      <p:sp>
        <p:nvSpPr>
          <p:cNvPr id="12" name="Text 10"/>
          <p:cNvSpPr/>
          <p:nvPr/>
        </p:nvSpPr>
        <p:spPr>
          <a:xfrm>
            <a:off x="4643018" y="2057400"/>
            <a:ext cx="2905658" cy="320040"/>
          </a:xfrm>
          <a:prstGeom prst="rect">
            <a:avLst/>
          </a:prstGeom>
          <a:noFill/>
          <a:ln/>
        </p:spPr>
        <p:txBody>
          <a:bodyPr wrap="square" lIns="0" tIns="0" rIns="0" bIns="0" rtlCol="0" anchor="ctr"/>
          <a:lstStyle/>
          <a:p>
            <a:pPr indent="0" marL="0">
              <a:buNone/>
            </a:pPr>
            <a:r>
              <a:rPr lang="en-US" sz="1000" b="1" spc="400" kern="0" dirty="0">
                <a:solidFill>
                  <a:srgbClr val="FCD34D"/>
                </a:solidFill>
                <a:latin typeface="JetBrains Mono" pitchFamily="34" charset="0"/>
                <a:ea typeface="JetBrains Mono" pitchFamily="34" charset="-122"/>
                <a:cs typeface="JetBrains Mono" pitchFamily="34" charset="-120"/>
              </a:rPr>
              <a:t>WEDGE 02</a:t>
            </a:r>
            <a:endParaRPr lang="en-US" sz="1000" dirty="0"/>
          </a:p>
        </p:txBody>
      </p:sp>
      <p:sp>
        <p:nvSpPr>
          <p:cNvPr id="13" name="Text 11"/>
          <p:cNvSpPr/>
          <p:nvPr/>
        </p:nvSpPr>
        <p:spPr>
          <a:xfrm>
            <a:off x="4643018" y="2331720"/>
            <a:ext cx="2905658" cy="77724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02</a:t>
            </a:r>
            <a:endParaRPr lang="en-US" sz="4400" dirty="0"/>
          </a:p>
        </p:txBody>
      </p:sp>
      <p:sp>
        <p:nvSpPr>
          <p:cNvPr id="14" name="Text 12"/>
          <p:cNvSpPr/>
          <p:nvPr/>
        </p:nvSpPr>
        <p:spPr>
          <a:xfrm>
            <a:off x="4643018" y="3337560"/>
            <a:ext cx="2905658" cy="1097280"/>
          </a:xfrm>
          <a:prstGeom prst="rect">
            <a:avLst/>
          </a:prstGeom>
          <a:noFill/>
          <a:ln/>
        </p:spPr>
        <p:txBody>
          <a:bodyPr wrap="square" lIns="0" tIns="0" rIns="0" bIns="0" rtlCol="0" anchor="ctr"/>
          <a:lstStyle/>
          <a:p>
            <a:pPr indent="0" marL="0">
              <a:buNone/>
            </a:pPr>
            <a:r>
              <a:rPr lang="en-US" sz="2000" b="1" dirty="0">
                <a:solidFill>
                  <a:srgbClr val="1E293B"/>
                </a:solidFill>
                <a:latin typeface="Inter" pitchFamily="34" charset="0"/>
                <a:ea typeface="Inter" pitchFamily="34" charset="-122"/>
                <a:cs typeface="Inter" pitchFamily="34" charset="-120"/>
              </a:rPr>
              <a:t>Your code, your repo, your VPS.</a:t>
            </a:r>
            <a:endParaRPr lang="en-US" sz="2000" dirty="0"/>
          </a:p>
        </p:txBody>
      </p:sp>
      <p:sp>
        <p:nvSpPr>
          <p:cNvPr id="15" name="Text 13"/>
          <p:cNvSpPr/>
          <p:nvPr/>
        </p:nvSpPr>
        <p:spPr>
          <a:xfrm>
            <a:off x="4643018" y="4480560"/>
            <a:ext cx="2905658" cy="118872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Every tenant gets a private GitHub repo on day one. Want to leave? You already own everything. Exit cost is zero — which is exactly why our customers stay.</a:t>
            </a:r>
            <a:endParaRPr lang="en-US" sz="1200" dirty="0"/>
          </a:p>
        </p:txBody>
      </p:sp>
      <p:sp>
        <p:nvSpPr>
          <p:cNvPr id="16" name="Shape 14"/>
          <p:cNvSpPr/>
          <p:nvPr/>
        </p:nvSpPr>
        <p:spPr>
          <a:xfrm>
            <a:off x="8097317" y="1828800"/>
            <a:ext cx="3545738" cy="3931920"/>
          </a:xfrm>
          <a:prstGeom prst="rect">
            <a:avLst/>
          </a:prstGeom>
          <a:solidFill>
            <a:srgbClr val="FFFFFF"/>
          </a:solidFill>
          <a:ln w="12700">
            <a:solidFill>
              <a:srgbClr val="E2E8F0"/>
            </a:solidFill>
            <a:prstDash val="solid"/>
          </a:ln>
        </p:spPr>
        <p:txBody>
          <a:bodyPr/>
          <a:p/>
        </p:txBody>
      </p:sp>
      <p:sp>
        <p:nvSpPr>
          <p:cNvPr id="17" name="Shape 15"/>
          <p:cNvSpPr/>
          <p:nvPr/>
        </p:nvSpPr>
        <p:spPr>
          <a:xfrm>
            <a:off x="8097317" y="1828800"/>
            <a:ext cx="3545738" cy="1280160"/>
          </a:xfrm>
          <a:prstGeom prst="rect">
            <a:avLst/>
          </a:prstGeom>
          <a:solidFill>
            <a:srgbClr val="4F46E5"/>
          </a:solidFill>
          <a:ln w="12700">
            <a:solidFill>
              <a:srgbClr val="4F46E5"/>
            </a:solidFill>
            <a:prstDash val="solid"/>
          </a:ln>
        </p:spPr>
        <p:txBody>
          <a:bodyPr/>
          <a:p/>
        </p:txBody>
      </p:sp>
      <p:sp>
        <p:nvSpPr>
          <p:cNvPr id="18" name="Text 16"/>
          <p:cNvSpPr/>
          <p:nvPr/>
        </p:nvSpPr>
        <p:spPr>
          <a:xfrm>
            <a:off x="8417357" y="2057400"/>
            <a:ext cx="2905658" cy="320040"/>
          </a:xfrm>
          <a:prstGeom prst="rect">
            <a:avLst/>
          </a:prstGeom>
          <a:noFill/>
          <a:ln/>
        </p:spPr>
        <p:txBody>
          <a:bodyPr wrap="square" lIns="0" tIns="0" rIns="0" bIns="0" rtlCol="0" anchor="ctr"/>
          <a:lstStyle/>
          <a:p>
            <a:pPr indent="0" marL="0">
              <a:buNone/>
            </a:pPr>
            <a:r>
              <a:rPr lang="en-US" sz="1000" b="1" spc="400" kern="0" dirty="0">
                <a:solidFill>
                  <a:srgbClr val="FCD34D"/>
                </a:solidFill>
                <a:latin typeface="JetBrains Mono" pitchFamily="34" charset="0"/>
                <a:ea typeface="JetBrains Mono" pitchFamily="34" charset="-122"/>
                <a:cs typeface="JetBrains Mono" pitchFamily="34" charset="-120"/>
              </a:rPr>
              <a:t>WEDGE 03</a:t>
            </a:r>
            <a:endParaRPr lang="en-US" sz="1000" dirty="0"/>
          </a:p>
        </p:txBody>
      </p:sp>
      <p:sp>
        <p:nvSpPr>
          <p:cNvPr id="19" name="Text 17"/>
          <p:cNvSpPr/>
          <p:nvPr/>
        </p:nvSpPr>
        <p:spPr>
          <a:xfrm>
            <a:off x="8417357" y="2331720"/>
            <a:ext cx="2905658" cy="77724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03</a:t>
            </a:r>
            <a:endParaRPr lang="en-US" sz="4400" dirty="0"/>
          </a:p>
        </p:txBody>
      </p:sp>
      <p:sp>
        <p:nvSpPr>
          <p:cNvPr id="20" name="Text 18"/>
          <p:cNvSpPr/>
          <p:nvPr/>
        </p:nvSpPr>
        <p:spPr>
          <a:xfrm>
            <a:off x="8417357" y="3337560"/>
            <a:ext cx="2905658" cy="1097280"/>
          </a:xfrm>
          <a:prstGeom prst="rect">
            <a:avLst/>
          </a:prstGeom>
          <a:noFill/>
          <a:ln/>
        </p:spPr>
        <p:txBody>
          <a:bodyPr wrap="square" lIns="0" tIns="0" rIns="0" bIns="0" rtlCol="0" anchor="ctr"/>
          <a:lstStyle/>
          <a:p>
            <a:pPr indent="0" marL="0">
              <a:buNone/>
            </a:pPr>
            <a:r>
              <a:rPr lang="en-US" sz="2000" b="1" dirty="0">
                <a:solidFill>
                  <a:srgbClr val="1E293B"/>
                </a:solidFill>
                <a:latin typeface="Inter" pitchFamily="34" charset="0"/>
                <a:ea typeface="Inter" pitchFamily="34" charset="-122"/>
                <a:cs typeface="Inter" pitchFamily="34" charset="-120"/>
              </a:rPr>
              <a:t>Pre-wired production stack.</a:t>
            </a:r>
            <a:endParaRPr lang="en-US" sz="2000" dirty="0"/>
          </a:p>
        </p:txBody>
      </p:sp>
      <p:sp>
        <p:nvSpPr>
          <p:cNvPr id="21" name="Text 19"/>
          <p:cNvSpPr/>
          <p:nvPr/>
        </p:nvSpPr>
        <p:spPr>
          <a:xfrm>
            <a:off x="8417357" y="4480560"/>
            <a:ext cx="2905658" cy="1188720"/>
          </a:xfrm>
          <a:prstGeom prst="rect">
            <a:avLst/>
          </a:prstGeom>
          <a:noFill/>
          <a:ln/>
        </p:spPr>
        <p:txBody>
          <a:bodyPr wrap="square" lIns="0" tIns="0" rIns="0" bIns="0" rtlCol="0" anchor="ctr"/>
          <a:lstStyle/>
          <a:p>
            <a:pPr indent="0" marL="0">
              <a:buNone/>
            </a:pPr>
            <a:r>
              <a:rPr lang="en-US" sz="1200" dirty="0">
                <a:solidFill>
                  <a:srgbClr val="475569"/>
                </a:solidFill>
                <a:latin typeface="Inter" pitchFamily="34" charset="0"/>
                <a:ea typeface="Inter" pitchFamily="34" charset="-122"/>
                <a:cs typeface="Inter" pitchFamily="34" charset="-120"/>
              </a:rPr>
              <a:t>Auth, Postgres, payments, mail, mobile, MoR billing — all wired and live on day one. It’s a working SaaS the moment they sign up, not a sandbox to graduate from.</a:t>
            </a:r>
            <a:endParaRPr lang="en-US" sz="1200" dirty="0"/>
          </a:p>
        </p:txBody>
      </p:sp>
      <p:sp>
        <p:nvSpPr>
          <p:cNvPr id="22" name="Text 20"/>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3" name="Text 21"/>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10  ·  BUSINESS MODEL</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Three tiers. Paddle as merchant of record. Repriced for the hype window.</a:t>
            </a:r>
            <a:endParaRPr lang="en-US" sz="3000" dirty="0"/>
          </a:p>
        </p:txBody>
      </p:sp>
      <p:sp>
        <p:nvSpPr>
          <p:cNvPr id="4" name="Shape 2"/>
          <p:cNvSpPr/>
          <p:nvPr/>
        </p:nvSpPr>
        <p:spPr>
          <a:xfrm>
            <a:off x="548640" y="1828800"/>
            <a:ext cx="3545738" cy="3520440"/>
          </a:xfrm>
          <a:prstGeom prst="rect">
            <a:avLst/>
          </a:prstGeom>
          <a:solidFill>
            <a:srgbClr val="FFFFFF"/>
          </a:solidFill>
          <a:ln w="12700">
            <a:solidFill>
              <a:srgbClr val="E2E8F0"/>
            </a:solidFill>
            <a:prstDash val="solid"/>
          </a:ln>
        </p:spPr>
        <p:txBody>
          <a:bodyPr/>
          <a:p/>
        </p:txBody>
      </p:sp>
      <p:sp>
        <p:nvSpPr>
          <p:cNvPr id="5" name="Text 3"/>
          <p:cNvSpPr/>
          <p:nvPr/>
        </p:nvSpPr>
        <p:spPr>
          <a:xfrm>
            <a:off x="914400" y="2103120"/>
            <a:ext cx="2814218"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FREE  ·  EVALUATION</a:t>
            </a:r>
            <a:endParaRPr lang="en-US" sz="900" dirty="0"/>
          </a:p>
        </p:txBody>
      </p:sp>
      <p:sp>
        <p:nvSpPr>
          <p:cNvPr id="6" name="Text 4"/>
          <p:cNvSpPr/>
          <p:nvPr/>
        </p:nvSpPr>
        <p:spPr>
          <a:xfrm>
            <a:off x="914400" y="2331720"/>
            <a:ext cx="2814218" cy="457200"/>
          </a:xfrm>
          <a:prstGeom prst="rect">
            <a:avLst/>
          </a:prstGeom>
          <a:noFill/>
          <a:ln/>
        </p:spPr>
        <p:txBody>
          <a:bodyPr wrap="square" lIns="0" tIns="0" rIns="0" bIns="0" rtlCol="0" anchor="ctr"/>
          <a:lstStyle/>
          <a:p>
            <a:pPr indent="0" marL="0">
              <a:buNone/>
            </a:pPr>
            <a:r>
              <a:rPr lang="en-US" sz="2200" b="1" dirty="0">
                <a:solidFill>
                  <a:srgbClr val="1E293B"/>
                </a:solidFill>
                <a:latin typeface="Inter" pitchFamily="34" charset="0"/>
                <a:ea typeface="Inter" pitchFamily="34" charset="-122"/>
                <a:cs typeface="Inter" pitchFamily="34" charset="-120"/>
              </a:rPr>
              <a:t>Sandbox</a:t>
            </a:r>
            <a:endParaRPr lang="en-US" sz="2200" dirty="0"/>
          </a:p>
        </p:txBody>
      </p:sp>
      <p:sp>
        <p:nvSpPr>
          <p:cNvPr id="7" name="Text 5"/>
          <p:cNvSpPr/>
          <p:nvPr/>
        </p:nvSpPr>
        <p:spPr>
          <a:xfrm>
            <a:off x="914400" y="2834640"/>
            <a:ext cx="2814218" cy="822960"/>
          </a:xfrm>
          <a:prstGeom prst="rect">
            <a:avLst/>
          </a:prstGeom>
          <a:noFill/>
          <a:ln/>
        </p:spPr>
        <p:txBody>
          <a:bodyPr wrap="square" lIns="0" tIns="0" rIns="0" bIns="0" rtlCol="0" anchor="ctr"/>
          <a:lstStyle/>
          <a:p>
            <a:pPr indent="0" marL="0">
              <a:buNone/>
            </a:pPr>
            <a:r>
              <a:rPr lang="en-US" sz="4400" b="1" dirty="0">
                <a:solidFill>
                  <a:srgbClr val="1E293B"/>
                </a:solidFill>
                <a:latin typeface="Inter" pitchFamily="34" charset="0"/>
                <a:ea typeface="Inter" pitchFamily="34" charset="-122"/>
                <a:cs typeface="Inter" pitchFamily="34" charset="-120"/>
              </a:rPr>
              <a:t>£0</a:t>
            </a:r>
            <a:endParaRPr lang="en-US" sz="4400" dirty="0"/>
          </a:p>
        </p:txBody>
      </p:sp>
      <p:sp>
        <p:nvSpPr>
          <p:cNvPr id="8" name="Text 6"/>
          <p:cNvSpPr/>
          <p:nvPr/>
        </p:nvSpPr>
        <p:spPr>
          <a:xfrm>
            <a:off x="914400" y="3611880"/>
            <a:ext cx="2814218" cy="274320"/>
          </a:xfrm>
          <a:prstGeom prst="rect">
            <a:avLst/>
          </a:prstGeom>
          <a:noFill/>
          <a:ln/>
        </p:spPr>
        <p:txBody>
          <a:bodyPr wrap="square" lIns="0" tIns="0" rIns="0" bIns="0" rtlCol="0" anchor="ctr"/>
          <a:lstStyle/>
          <a:p>
            <a:pPr indent="0" marL="0">
              <a:buNone/>
            </a:pPr>
            <a:endParaRPr lang="en-US" sz="1000" dirty="0"/>
          </a:p>
        </p:txBody>
      </p:sp>
      <p:sp>
        <p:nvSpPr>
          <p:cNvPr id="9" name="Text 7"/>
          <p:cNvSpPr/>
          <p:nvPr/>
        </p:nvSpPr>
        <p:spPr>
          <a:xfrm>
            <a:off x="914400" y="3886200"/>
            <a:ext cx="2814218" cy="274320"/>
          </a:xfrm>
          <a:prstGeom prst="rect">
            <a:avLst/>
          </a:prstGeom>
          <a:noFill/>
          <a:ln/>
        </p:spPr>
        <p:txBody>
          <a:bodyPr wrap="square" lIns="0" tIns="0" rIns="0" bIns="0" rtlCol="0" anchor="ctr"/>
          <a:lstStyle/>
          <a:p>
            <a:pPr indent="0" marL="0">
              <a:buNone/>
            </a:pPr>
            <a:r>
              <a:rPr lang="en-US" sz="1100" i="1" dirty="0">
                <a:solidFill>
                  <a:srgbClr val="475569"/>
                </a:solidFill>
                <a:latin typeface="Inter" pitchFamily="34" charset="0"/>
                <a:ea typeface="Inter" pitchFamily="34" charset="-122"/>
                <a:cs typeface="Inter" pitchFamily="34" charset="-120"/>
              </a:rPr>
              <a:t>30-day idle auto-archive</a:t>
            </a:r>
            <a:endParaRPr lang="en-US" sz="1100" dirty="0"/>
          </a:p>
        </p:txBody>
      </p:sp>
      <p:sp>
        <p:nvSpPr>
          <p:cNvPr id="10" name="Text 8"/>
          <p:cNvSpPr/>
          <p:nvPr/>
        </p:nvSpPr>
        <p:spPr>
          <a:xfrm>
            <a:off x="914400" y="4251960"/>
            <a:ext cx="2814218" cy="10515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Sandbox at &lt;slug&gt;.hatchik.com</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Shared host (Hetzner CAX21)</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GitHub repo + AI handoff</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Capped: one active per email</a:t>
            </a:r>
            <a:endParaRPr lang="en-US" sz="1000" dirty="0"/>
          </a:p>
        </p:txBody>
      </p:sp>
      <p:sp>
        <p:nvSpPr>
          <p:cNvPr id="11" name="Shape 9"/>
          <p:cNvSpPr/>
          <p:nvPr/>
        </p:nvSpPr>
        <p:spPr>
          <a:xfrm>
            <a:off x="4322978" y="1828800"/>
            <a:ext cx="3545738" cy="3520440"/>
          </a:xfrm>
          <a:prstGeom prst="rect">
            <a:avLst/>
          </a:prstGeom>
          <a:solidFill>
            <a:srgbClr val="0B1020"/>
          </a:solidFill>
          <a:ln w="25400">
            <a:solidFill>
              <a:srgbClr val="F59E0B"/>
            </a:solidFill>
            <a:prstDash val="solid"/>
          </a:ln>
        </p:spPr>
        <p:txBody>
          <a:bodyPr/>
          <a:p/>
        </p:txBody>
      </p:sp>
      <p:sp>
        <p:nvSpPr>
          <p:cNvPr id="12" name="Text 10"/>
          <p:cNvSpPr/>
          <p:nvPr/>
        </p:nvSpPr>
        <p:spPr>
          <a:xfrm>
            <a:off x="4688738" y="2103120"/>
            <a:ext cx="2814218"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PRODUCTION  ·  SOLO</a:t>
            </a:r>
            <a:endParaRPr lang="en-US" sz="900" dirty="0"/>
          </a:p>
        </p:txBody>
      </p:sp>
      <p:sp>
        <p:nvSpPr>
          <p:cNvPr id="13" name="Text 11"/>
          <p:cNvSpPr/>
          <p:nvPr/>
        </p:nvSpPr>
        <p:spPr>
          <a:xfrm>
            <a:off x="4688738" y="2331720"/>
            <a:ext cx="2814218"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Launch</a:t>
            </a:r>
            <a:endParaRPr lang="en-US" sz="2200" dirty="0"/>
          </a:p>
        </p:txBody>
      </p:sp>
      <p:sp>
        <p:nvSpPr>
          <p:cNvPr id="14" name="Text 12"/>
          <p:cNvSpPr/>
          <p:nvPr/>
        </p:nvSpPr>
        <p:spPr>
          <a:xfrm>
            <a:off x="4688738" y="2834640"/>
            <a:ext cx="2814218" cy="82296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£89</a:t>
            </a:r>
            <a:endParaRPr lang="en-US" sz="4400" dirty="0"/>
          </a:p>
        </p:txBody>
      </p:sp>
      <p:sp>
        <p:nvSpPr>
          <p:cNvPr id="15" name="Text 13"/>
          <p:cNvSpPr/>
          <p:nvPr/>
        </p:nvSpPr>
        <p:spPr>
          <a:xfrm>
            <a:off x="4688738" y="3611880"/>
            <a:ext cx="2814218" cy="274320"/>
          </a:xfrm>
          <a:prstGeom prst="rect">
            <a:avLst/>
          </a:prstGeom>
          <a:noFill/>
          <a:ln/>
        </p:spPr>
        <p:txBody>
          <a:bodyPr wrap="square" lIns="0" tIns="0" rIns="0" bIns="0" rtlCol="0" anchor="ctr"/>
          <a:lstStyle/>
          <a:p>
            <a:pPr indent="0" marL="0">
              <a:buNone/>
            </a:pPr>
            <a:r>
              <a:rPr lang="en-US" sz="1000" dirty="0">
                <a:solidFill>
                  <a:srgbClr val="FCD34D"/>
                </a:solidFill>
                <a:latin typeface="JetBrains Mono" pitchFamily="34" charset="0"/>
                <a:ea typeface="JetBrains Mono" pitchFamily="34" charset="-122"/>
                <a:cs typeface="JetBrains Mono" pitchFamily="34" charset="-120"/>
              </a:rPr>
              <a:t>setup, then £14/mo</a:t>
            </a:r>
            <a:endParaRPr lang="en-US" sz="1000" dirty="0"/>
          </a:p>
        </p:txBody>
      </p:sp>
      <p:sp>
        <p:nvSpPr>
          <p:cNvPr id="16" name="Text 14"/>
          <p:cNvSpPr/>
          <p:nvPr/>
        </p:nvSpPr>
        <p:spPr>
          <a:xfrm>
            <a:off x="4688738" y="3886200"/>
            <a:ext cx="2814218" cy="274320"/>
          </a:xfrm>
          <a:prstGeom prst="rect">
            <a:avLst/>
          </a:prstGeom>
          <a:noFill/>
          <a:ln/>
        </p:spPr>
        <p:txBody>
          <a:bodyPr wrap="square" lIns="0" tIns="0" rIns="0" bIns="0" rtlCol="0" anchor="ctr"/>
          <a:lstStyle/>
          <a:p>
            <a:pPr indent="0" marL="0">
              <a:buNone/>
            </a:pPr>
            <a:r>
              <a:rPr lang="en-US" sz="1100" i="1" dirty="0">
                <a:solidFill>
                  <a:srgbClr val="CBD5E1"/>
                </a:solidFill>
                <a:latin typeface="Inter" pitchFamily="34" charset="0"/>
                <a:ea typeface="Inter" pitchFamily="34" charset="-122"/>
                <a:cs typeface="Inter" pitchFamily="34" charset="-120"/>
              </a:rPr>
              <a:t>Dedicated VPS + domain + mailboxes</a:t>
            </a:r>
            <a:endParaRPr lang="en-US" sz="1100" dirty="0"/>
          </a:p>
        </p:txBody>
      </p:sp>
      <p:sp>
        <p:nvSpPr>
          <p:cNvPr id="17" name="Text 15"/>
          <p:cNvSpPr/>
          <p:nvPr/>
        </p:nvSpPr>
        <p:spPr>
          <a:xfrm>
            <a:off x="4688738" y="4251960"/>
            <a:ext cx="2814218" cy="10515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FFFFFF"/>
                </a:solidFill>
                <a:latin typeface="Inter" pitchFamily="34" charset="0"/>
                <a:ea typeface="Inter" pitchFamily="34" charset="-122"/>
                <a:cs typeface="Inter" pitchFamily="34" charset="-120"/>
              </a:rPr>
              <a:t>Own VPS in customer region</a:t>
            </a:r>
            <a:endParaRPr lang="en-US" sz="1000" dirty="0"/>
          </a:p>
          <a:p>
            <a:pPr marL="342900" indent="-342900">
              <a:spcAft>
                <a:spcPts val="300"/>
              </a:spcAft>
              <a:buSzPct val="100000"/>
              <a:buChar char="•"/>
            </a:pPr>
            <a:r>
              <a:rPr lang="en-US" sz="1000" dirty="0">
                <a:solidFill>
                  <a:srgbClr val="FFFFFF"/>
                </a:solidFill>
                <a:latin typeface="Inter" pitchFamily="34" charset="0"/>
                <a:ea typeface="Inter" pitchFamily="34" charset="-122"/>
                <a:cs typeface="Inter" pitchFamily="34" charset="-120"/>
              </a:rPr>
              <a:t>Five mailboxes (Infomaniak)</a:t>
            </a:r>
            <a:endParaRPr lang="en-US" sz="1000" dirty="0"/>
          </a:p>
          <a:p>
            <a:pPr marL="342900" indent="-342900">
              <a:spcAft>
                <a:spcPts val="300"/>
              </a:spcAft>
              <a:buSzPct val="100000"/>
              <a:buChar char="•"/>
            </a:pPr>
            <a:r>
              <a:rPr lang="en-US" sz="1000" dirty="0">
                <a:solidFill>
                  <a:srgbClr val="FFFFFF"/>
                </a:solidFill>
                <a:latin typeface="Inter" pitchFamily="34" charset="0"/>
                <a:ea typeface="Inter" pitchFamily="34" charset="-122"/>
                <a:cs typeface="Inter" pitchFamily="34" charset="-120"/>
              </a:rPr>
              <a:t>BYO or registered domain</a:t>
            </a:r>
            <a:endParaRPr lang="en-US" sz="1000" dirty="0"/>
          </a:p>
          <a:p>
            <a:pPr marL="342900" indent="-342900">
              <a:spcAft>
                <a:spcPts val="300"/>
              </a:spcAft>
              <a:buSzPct val="100000"/>
              <a:buChar char="•"/>
            </a:pPr>
            <a:r>
              <a:rPr lang="en-US" sz="1000" dirty="0">
                <a:solidFill>
                  <a:srgbClr val="FFFFFF"/>
                </a:solidFill>
                <a:latin typeface="Inter" pitchFamily="34" charset="0"/>
                <a:ea typeface="Inter" pitchFamily="34" charset="-122"/>
                <a:cs typeface="Inter" pitchFamily="34" charset="-120"/>
              </a:rPr>
              <a:t>Push-to-deploy + mobile builds</a:t>
            </a:r>
            <a:endParaRPr lang="en-US" sz="1000" dirty="0"/>
          </a:p>
        </p:txBody>
      </p:sp>
      <p:sp>
        <p:nvSpPr>
          <p:cNvPr id="18" name="Shape 16"/>
          <p:cNvSpPr/>
          <p:nvPr/>
        </p:nvSpPr>
        <p:spPr>
          <a:xfrm>
            <a:off x="8097317" y="1828800"/>
            <a:ext cx="3545738" cy="3520440"/>
          </a:xfrm>
          <a:prstGeom prst="rect">
            <a:avLst/>
          </a:prstGeom>
          <a:solidFill>
            <a:srgbClr val="FFFFFF"/>
          </a:solidFill>
          <a:ln w="12700">
            <a:solidFill>
              <a:srgbClr val="E2E8F0"/>
            </a:solidFill>
            <a:prstDash val="solid"/>
          </a:ln>
        </p:spPr>
        <p:txBody>
          <a:bodyPr/>
          <a:p/>
        </p:txBody>
      </p:sp>
      <p:sp>
        <p:nvSpPr>
          <p:cNvPr id="19" name="Text 17"/>
          <p:cNvSpPr/>
          <p:nvPr/>
        </p:nvSpPr>
        <p:spPr>
          <a:xfrm>
            <a:off x="8463077" y="2103120"/>
            <a:ext cx="2814218"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PRODUCTION  ·  SCALE</a:t>
            </a:r>
            <a:endParaRPr lang="en-US" sz="900" dirty="0"/>
          </a:p>
        </p:txBody>
      </p:sp>
      <p:sp>
        <p:nvSpPr>
          <p:cNvPr id="20" name="Text 18"/>
          <p:cNvSpPr/>
          <p:nvPr/>
        </p:nvSpPr>
        <p:spPr>
          <a:xfrm>
            <a:off x="8463077" y="2331720"/>
            <a:ext cx="2814218" cy="457200"/>
          </a:xfrm>
          <a:prstGeom prst="rect">
            <a:avLst/>
          </a:prstGeom>
          <a:noFill/>
          <a:ln/>
        </p:spPr>
        <p:txBody>
          <a:bodyPr wrap="square" lIns="0" tIns="0" rIns="0" bIns="0" rtlCol="0" anchor="ctr"/>
          <a:lstStyle/>
          <a:p>
            <a:pPr indent="0" marL="0">
              <a:buNone/>
            </a:pPr>
            <a:r>
              <a:rPr lang="en-US" sz="2200" b="1" dirty="0">
                <a:solidFill>
                  <a:srgbClr val="1E293B"/>
                </a:solidFill>
                <a:latin typeface="Inter" pitchFamily="34" charset="0"/>
                <a:ea typeface="Inter" pitchFamily="34" charset="-122"/>
                <a:cs typeface="Inter" pitchFamily="34" charset="-120"/>
              </a:rPr>
              <a:t>Growth</a:t>
            </a:r>
            <a:endParaRPr lang="en-US" sz="2200" dirty="0"/>
          </a:p>
        </p:txBody>
      </p:sp>
      <p:sp>
        <p:nvSpPr>
          <p:cNvPr id="21" name="Text 19"/>
          <p:cNvSpPr/>
          <p:nvPr/>
        </p:nvSpPr>
        <p:spPr>
          <a:xfrm>
            <a:off x="8463077" y="2834640"/>
            <a:ext cx="2814218" cy="822960"/>
          </a:xfrm>
          <a:prstGeom prst="rect">
            <a:avLst/>
          </a:prstGeom>
          <a:noFill/>
          <a:ln/>
        </p:spPr>
        <p:txBody>
          <a:bodyPr wrap="square" lIns="0" tIns="0" rIns="0" bIns="0" rtlCol="0" anchor="ctr"/>
          <a:lstStyle/>
          <a:p>
            <a:pPr indent="0" marL="0">
              <a:buNone/>
            </a:pPr>
            <a:r>
              <a:rPr lang="en-US" sz="4400" b="1" dirty="0">
                <a:solidFill>
                  <a:srgbClr val="1E293B"/>
                </a:solidFill>
                <a:latin typeface="Inter" pitchFamily="34" charset="0"/>
                <a:ea typeface="Inter" pitchFamily="34" charset="-122"/>
                <a:cs typeface="Inter" pitchFamily="34" charset="-120"/>
              </a:rPr>
              <a:t>£39</a:t>
            </a:r>
            <a:endParaRPr lang="en-US" sz="4400" dirty="0"/>
          </a:p>
        </p:txBody>
      </p:sp>
      <p:sp>
        <p:nvSpPr>
          <p:cNvPr id="22" name="Text 20"/>
          <p:cNvSpPr/>
          <p:nvPr/>
        </p:nvSpPr>
        <p:spPr>
          <a:xfrm>
            <a:off x="8463077" y="3611880"/>
            <a:ext cx="2814218"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per month</a:t>
            </a:r>
            <a:endParaRPr lang="en-US" sz="1000" dirty="0"/>
          </a:p>
        </p:txBody>
      </p:sp>
      <p:sp>
        <p:nvSpPr>
          <p:cNvPr id="23" name="Text 21"/>
          <p:cNvSpPr/>
          <p:nvPr/>
        </p:nvSpPr>
        <p:spPr>
          <a:xfrm>
            <a:off x="8463077" y="3886200"/>
            <a:ext cx="2814218" cy="274320"/>
          </a:xfrm>
          <a:prstGeom prst="rect">
            <a:avLst/>
          </a:prstGeom>
          <a:noFill/>
          <a:ln/>
        </p:spPr>
        <p:txBody>
          <a:bodyPr wrap="square" lIns="0" tIns="0" rIns="0" bIns="0" rtlCol="0" anchor="ctr"/>
          <a:lstStyle/>
          <a:p>
            <a:pPr indent="0" marL="0">
              <a:buNone/>
            </a:pPr>
            <a:r>
              <a:rPr lang="en-US" sz="1100" i="1" dirty="0">
                <a:solidFill>
                  <a:srgbClr val="475569"/>
                </a:solidFill>
                <a:latin typeface="Inter" pitchFamily="34" charset="0"/>
                <a:ea typeface="Inter" pitchFamily="34" charset="-122"/>
                <a:cs typeface="Inter" pitchFamily="34" charset="-120"/>
              </a:rPr>
              <a:t>Healthier monthly margin</a:t>
            </a:r>
            <a:endParaRPr lang="en-US" sz="1100" dirty="0"/>
          </a:p>
        </p:txBody>
      </p:sp>
      <p:sp>
        <p:nvSpPr>
          <p:cNvPr id="24" name="Text 22"/>
          <p:cNvSpPr/>
          <p:nvPr/>
        </p:nvSpPr>
        <p:spPr>
          <a:xfrm>
            <a:off x="8463077" y="4251960"/>
            <a:ext cx="2814218" cy="10515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Larger VPS class</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Priority redeploy queue</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Cohort analytics access</a:t>
            </a:r>
            <a:endParaRPr lang="en-US" sz="1000" dirty="0"/>
          </a:p>
          <a:p>
            <a:pPr marL="342900" indent="-342900">
              <a:spcAft>
                <a:spcPts val="300"/>
              </a:spcAft>
              <a:buSzPct val="100000"/>
              <a:buChar char="•"/>
            </a:pPr>
            <a:r>
              <a:rPr lang="en-US" sz="1000" dirty="0">
                <a:solidFill>
                  <a:srgbClr val="475569"/>
                </a:solidFill>
                <a:latin typeface="Inter" pitchFamily="34" charset="0"/>
                <a:ea typeface="Inter" pitchFamily="34" charset="-122"/>
                <a:cs typeface="Inter" pitchFamily="34" charset="-120"/>
              </a:rPr>
              <a:t>Founder support window</a:t>
            </a:r>
            <a:endParaRPr lang="en-US" sz="1000" dirty="0"/>
          </a:p>
        </p:txBody>
      </p:sp>
      <p:sp>
        <p:nvSpPr>
          <p:cNvPr id="25" name="Shape 23"/>
          <p:cNvSpPr/>
          <p:nvPr/>
        </p:nvSpPr>
        <p:spPr>
          <a:xfrm>
            <a:off x="548640" y="5532120"/>
            <a:ext cx="11064240" cy="868680"/>
          </a:xfrm>
          <a:prstGeom prst="rect">
            <a:avLst/>
          </a:prstGeom>
          <a:solidFill>
            <a:srgbClr val="EEF2FF"/>
          </a:solidFill>
          <a:ln w="12700">
            <a:solidFill>
              <a:srgbClr val="4F46E5"/>
            </a:solidFill>
            <a:prstDash val="solid"/>
          </a:ln>
        </p:spPr>
        <p:txBody>
          <a:bodyPr/>
          <a:p/>
        </p:txBody>
      </p:sp>
      <p:sp>
        <p:nvSpPr>
          <p:cNvPr id="26" name="Text 24"/>
          <p:cNvSpPr/>
          <p:nvPr/>
        </p:nvSpPr>
        <p:spPr>
          <a:xfrm>
            <a:off x="777240" y="5623560"/>
            <a:ext cx="4572000"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REPRICED  ·  UP FROM £9 / £24</a:t>
            </a:r>
            <a:endParaRPr lang="en-US" sz="900" dirty="0"/>
          </a:p>
        </p:txBody>
      </p:sp>
      <p:sp>
        <p:nvSpPr>
          <p:cNvPr id="27" name="Text 25"/>
          <p:cNvSpPr/>
          <p:nvPr/>
        </p:nvSpPr>
        <p:spPr>
          <a:xfrm>
            <a:off x="777240" y="5870448"/>
            <a:ext cx="10698480" cy="548640"/>
          </a:xfrm>
          <a:prstGeom prst="rect">
            <a:avLst/>
          </a:prstGeom>
          <a:noFill/>
          <a:ln/>
        </p:spPr>
        <p:txBody>
          <a:bodyPr wrap="square" lIns="0" tIns="0" rIns="0" bIns="0" rtlCol="0" anchor="ctr"/>
          <a:lstStyle/>
          <a:p>
            <a:pPr indent="0" marL="0">
              <a:buNone/>
            </a:pPr>
            <a:r>
              <a:rPr lang="en-US" sz="1100" dirty="0">
                <a:solidFill>
                  <a:srgbClr val="1E293B"/>
                </a:solidFill>
                <a:latin typeface="Inter" pitchFamily="34" charset="0"/>
                <a:ea typeface="Inter" pitchFamily="34" charset="-122"/>
                <a:cs typeface="Inter" pitchFamily="34" charset="-120"/>
              </a:rPr>
              <a:t>Original pricing was founder-empathy underpricing. Repriced to capture value in the hype window. Cursor Pro $25/mo and Lovable $25-100/mo precedents support the band. Bump lifts ongoing margin: Launch ~£0.50/mo → ~£4.40/mo; Growth ~£15.50/mo → ~£28.50/mo. Paddle handles MoR.</a:t>
            </a:r>
            <a:endParaRPr lang="en-US" sz="1100" dirty="0"/>
          </a:p>
        </p:txBody>
      </p:sp>
      <p:sp>
        <p:nvSpPr>
          <p:cNvPr id="28" name="Text 26"/>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9" name="Text 27"/>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11  ·  GO-TO-MARKET</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Sprint cadence. 3× heavier in months 2-6.</a:t>
            </a:r>
            <a:endParaRPr lang="en-US" sz="3000" dirty="0"/>
          </a:p>
        </p:txBody>
      </p:sp>
      <p:sp>
        <p:nvSpPr>
          <p:cNvPr id="4" name="Shape 2"/>
          <p:cNvSpPr/>
          <p:nvPr/>
        </p:nvSpPr>
        <p:spPr>
          <a:xfrm>
            <a:off x="548640" y="1828800"/>
            <a:ext cx="5455768" cy="178308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828800"/>
            <a:ext cx="73152" cy="1783080"/>
          </a:xfrm>
          <a:prstGeom prst="rect">
            <a:avLst/>
          </a:prstGeom>
          <a:solidFill>
            <a:srgbClr val="4F46E5"/>
          </a:solidFill>
          <a:ln w="12700">
            <a:solidFill>
              <a:srgbClr val="4F46E5"/>
            </a:solidFill>
            <a:prstDash val="solid"/>
          </a:ln>
        </p:spPr>
        <p:txBody>
          <a:bodyPr/>
          <a:p/>
        </p:txBody>
      </p:sp>
      <p:sp>
        <p:nvSpPr>
          <p:cNvPr id="6" name="Text 4"/>
          <p:cNvSpPr/>
          <p:nvPr/>
        </p:nvSpPr>
        <p:spPr>
          <a:xfrm>
            <a:off x="868680" y="2029968"/>
            <a:ext cx="4815688"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MONTHS 0-2  ·  BETA + LAUNCH</a:t>
            </a:r>
            <a:endParaRPr lang="en-US" sz="900" dirty="0"/>
          </a:p>
        </p:txBody>
      </p:sp>
      <p:sp>
        <p:nvSpPr>
          <p:cNvPr id="7" name="Text 5"/>
          <p:cNvSpPr/>
          <p:nvPr/>
        </p:nvSpPr>
        <p:spPr>
          <a:xfrm>
            <a:off x="868680" y="2331720"/>
            <a:ext cx="4815688" cy="502920"/>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Founder-led, 100 friendly users</a:t>
            </a:r>
            <a:endParaRPr lang="en-US" sz="1600" dirty="0"/>
          </a:p>
        </p:txBody>
      </p:sp>
      <p:sp>
        <p:nvSpPr>
          <p:cNvPr id="8" name="Text 6"/>
          <p:cNvSpPr/>
          <p:nvPr/>
        </p:nvSpPr>
        <p:spPr>
          <a:xfrm>
            <a:off x="868680" y="2880360"/>
            <a:ext cx="4815688" cy="68580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Polished sandbox, pricing tested on first 50 paying. Tight feedback loop. No marketing spend yet.</a:t>
            </a:r>
            <a:endParaRPr lang="en-US" sz="1100" dirty="0"/>
          </a:p>
        </p:txBody>
      </p:sp>
      <p:sp>
        <p:nvSpPr>
          <p:cNvPr id="9" name="Shape 7"/>
          <p:cNvSpPr/>
          <p:nvPr/>
        </p:nvSpPr>
        <p:spPr>
          <a:xfrm>
            <a:off x="6187288" y="1828800"/>
            <a:ext cx="5455768" cy="1783080"/>
          </a:xfrm>
          <a:prstGeom prst="rect">
            <a:avLst/>
          </a:prstGeom>
          <a:solidFill>
            <a:srgbClr val="FFFFFF"/>
          </a:solidFill>
          <a:ln w="12700">
            <a:solidFill>
              <a:srgbClr val="E2E8F0"/>
            </a:solidFill>
            <a:prstDash val="solid"/>
          </a:ln>
        </p:spPr>
        <p:txBody>
          <a:bodyPr/>
          <a:p/>
        </p:txBody>
      </p:sp>
      <p:sp>
        <p:nvSpPr>
          <p:cNvPr id="10" name="Shape 8"/>
          <p:cNvSpPr/>
          <p:nvPr/>
        </p:nvSpPr>
        <p:spPr>
          <a:xfrm>
            <a:off x="6187288" y="1828800"/>
            <a:ext cx="73152" cy="1783080"/>
          </a:xfrm>
          <a:prstGeom prst="rect">
            <a:avLst/>
          </a:prstGeom>
          <a:solidFill>
            <a:srgbClr val="F59E0B"/>
          </a:solidFill>
          <a:ln w="12700">
            <a:solidFill>
              <a:srgbClr val="F59E0B"/>
            </a:solidFill>
            <a:prstDash val="solid"/>
          </a:ln>
        </p:spPr>
        <p:txBody>
          <a:bodyPr/>
          <a:p/>
        </p:txBody>
      </p:sp>
      <p:sp>
        <p:nvSpPr>
          <p:cNvPr id="11" name="Text 9"/>
          <p:cNvSpPr/>
          <p:nvPr/>
        </p:nvSpPr>
        <p:spPr>
          <a:xfrm>
            <a:off x="6507328" y="2029968"/>
            <a:ext cx="4815688" cy="274320"/>
          </a:xfrm>
          <a:prstGeom prst="rect">
            <a:avLst/>
          </a:prstGeom>
          <a:noFill/>
          <a:ln/>
        </p:spPr>
        <p:txBody>
          <a:bodyPr wrap="square" lIns="0" tIns="0" rIns="0" bIns="0" rtlCol="0" anchor="ctr"/>
          <a:lstStyle/>
          <a:p>
            <a:pPr indent="0" marL="0">
              <a:buNone/>
            </a:pPr>
            <a:r>
              <a:rPr lang="en-US" sz="900" b="1" spc="400" kern="0" dirty="0">
                <a:solidFill>
                  <a:srgbClr val="92400E"/>
                </a:solidFill>
                <a:latin typeface="JetBrains Mono" pitchFamily="34" charset="0"/>
                <a:ea typeface="JetBrains Mono" pitchFamily="34" charset="-122"/>
                <a:cs typeface="JetBrains Mono" pitchFamily="34" charset="-120"/>
              </a:rPr>
              <a:t>MONTHS 2-4  ·  HYPE INJECTION</a:t>
            </a:r>
            <a:endParaRPr lang="en-US" sz="900" dirty="0"/>
          </a:p>
        </p:txBody>
      </p:sp>
      <p:sp>
        <p:nvSpPr>
          <p:cNvPr id="12" name="Text 10"/>
          <p:cNvSpPr/>
          <p:nvPr/>
        </p:nvSpPr>
        <p:spPr>
          <a:xfrm>
            <a:off x="6507328" y="2331720"/>
            <a:ext cx="4815688" cy="502920"/>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Product Hunt + Show HN + 5× YouTube</a:t>
            </a:r>
            <a:endParaRPr lang="en-US" sz="1600" dirty="0"/>
          </a:p>
        </p:txBody>
      </p:sp>
      <p:sp>
        <p:nvSpPr>
          <p:cNvPr id="13" name="Text 11"/>
          <p:cNvSpPr/>
          <p:nvPr/>
        </p:nvSpPr>
        <p:spPr>
          <a:xfrm>
            <a:off x="6507328" y="2880360"/>
            <a:ext cx="4815688" cy="68580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All four channels lit at once. Theo, Fireship-adjacents, indie-hacker channels. Target 5K signups, 250-500 paying.</a:t>
            </a:r>
            <a:endParaRPr lang="en-US" sz="1100" dirty="0"/>
          </a:p>
        </p:txBody>
      </p:sp>
      <p:sp>
        <p:nvSpPr>
          <p:cNvPr id="14" name="Shape 12"/>
          <p:cNvSpPr/>
          <p:nvPr/>
        </p:nvSpPr>
        <p:spPr>
          <a:xfrm>
            <a:off x="548640" y="3794760"/>
            <a:ext cx="5455768" cy="1783080"/>
          </a:xfrm>
          <a:prstGeom prst="rect">
            <a:avLst/>
          </a:prstGeom>
          <a:solidFill>
            <a:srgbClr val="FFFFFF"/>
          </a:solidFill>
          <a:ln w="12700">
            <a:solidFill>
              <a:srgbClr val="E2E8F0"/>
            </a:solidFill>
            <a:prstDash val="solid"/>
          </a:ln>
        </p:spPr>
        <p:txBody>
          <a:bodyPr/>
          <a:p/>
        </p:txBody>
      </p:sp>
      <p:sp>
        <p:nvSpPr>
          <p:cNvPr id="15" name="Shape 13"/>
          <p:cNvSpPr/>
          <p:nvPr/>
        </p:nvSpPr>
        <p:spPr>
          <a:xfrm>
            <a:off x="548640" y="3794760"/>
            <a:ext cx="73152" cy="1783080"/>
          </a:xfrm>
          <a:prstGeom prst="rect">
            <a:avLst/>
          </a:prstGeom>
          <a:solidFill>
            <a:srgbClr val="F59E0B"/>
          </a:solidFill>
          <a:ln w="12700">
            <a:solidFill>
              <a:srgbClr val="F59E0B"/>
            </a:solidFill>
            <a:prstDash val="solid"/>
          </a:ln>
        </p:spPr>
        <p:txBody>
          <a:bodyPr/>
          <a:p/>
        </p:txBody>
      </p:sp>
      <p:sp>
        <p:nvSpPr>
          <p:cNvPr id="16" name="Text 14"/>
          <p:cNvSpPr/>
          <p:nvPr/>
        </p:nvSpPr>
        <p:spPr>
          <a:xfrm>
            <a:off x="868680" y="3995928"/>
            <a:ext cx="4815688" cy="274320"/>
          </a:xfrm>
          <a:prstGeom prst="rect">
            <a:avLst/>
          </a:prstGeom>
          <a:noFill/>
          <a:ln/>
        </p:spPr>
        <p:txBody>
          <a:bodyPr wrap="square" lIns="0" tIns="0" rIns="0" bIns="0" rtlCol="0" anchor="ctr"/>
          <a:lstStyle/>
          <a:p>
            <a:pPr indent="0" marL="0">
              <a:buNone/>
            </a:pPr>
            <a:r>
              <a:rPr lang="en-US" sz="900" b="1" spc="400" kern="0" dirty="0">
                <a:solidFill>
                  <a:srgbClr val="92400E"/>
                </a:solidFill>
                <a:latin typeface="JetBrains Mono" pitchFamily="34" charset="0"/>
                <a:ea typeface="JetBrains Mono" pitchFamily="34" charset="-122"/>
                <a:cs typeface="JetBrains Mono" pitchFamily="34" charset="-120"/>
              </a:rPr>
              <a:t>MONTHS 4-6  ·  COMPOUND</a:t>
            </a:r>
            <a:endParaRPr lang="en-US" sz="900" dirty="0"/>
          </a:p>
        </p:txBody>
      </p:sp>
      <p:sp>
        <p:nvSpPr>
          <p:cNvPr id="17" name="Text 15"/>
          <p:cNvSpPr/>
          <p:nvPr/>
        </p:nvSpPr>
        <p:spPr>
          <a:xfrm>
            <a:off x="868680" y="4297680"/>
            <a:ext cx="4815688" cy="502920"/>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Reddit + X build-in-public + newsletters</a:t>
            </a:r>
            <a:endParaRPr lang="en-US" sz="1600" dirty="0"/>
          </a:p>
        </p:txBody>
      </p:sp>
      <p:sp>
        <p:nvSpPr>
          <p:cNvPr id="18" name="Text 16"/>
          <p:cNvSpPr/>
          <p:nvPr/>
        </p:nvSpPr>
        <p:spPr>
          <a:xfrm>
            <a:off x="868680" y="4846320"/>
            <a:ext cx="4815688" cy="68580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r/ClaudeAI, r/cursor value content. Weekly MRR posts on X. First partnership signal. Target 15K signups, 1.5-2K paying.</a:t>
            </a:r>
            <a:endParaRPr lang="en-US" sz="1100" dirty="0"/>
          </a:p>
        </p:txBody>
      </p:sp>
      <p:sp>
        <p:nvSpPr>
          <p:cNvPr id="19" name="Shape 17"/>
          <p:cNvSpPr/>
          <p:nvPr/>
        </p:nvSpPr>
        <p:spPr>
          <a:xfrm>
            <a:off x="6187288" y="3794760"/>
            <a:ext cx="5455768" cy="1783080"/>
          </a:xfrm>
          <a:prstGeom prst="rect">
            <a:avLst/>
          </a:prstGeom>
          <a:solidFill>
            <a:srgbClr val="FFFFFF"/>
          </a:solidFill>
          <a:ln w="12700">
            <a:solidFill>
              <a:srgbClr val="E2E8F0"/>
            </a:solidFill>
            <a:prstDash val="solid"/>
          </a:ln>
        </p:spPr>
        <p:txBody>
          <a:bodyPr/>
          <a:p/>
        </p:txBody>
      </p:sp>
      <p:sp>
        <p:nvSpPr>
          <p:cNvPr id="20" name="Shape 18"/>
          <p:cNvSpPr/>
          <p:nvPr/>
        </p:nvSpPr>
        <p:spPr>
          <a:xfrm>
            <a:off x="6187288" y="3794760"/>
            <a:ext cx="73152" cy="1783080"/>
          </a:xfrm>
          <a:prstGeom prst="rect">
            <a:avLst/>
          </a:prstGeom>
          <a:solidFill>
            <a:srgbClr val="4F46E5"/>
          </a:solidFill>
          <a:ln w="12700">
            <a:solidFill>
              <a:srgbClr val="4F46E5"/>
            </a:solidFill>
            <a:prstDash val="solid"/>
          </a:ln>
        </p:spPr>
        <p:txBody>
          <a:bodyPr/>
          <a:p/>
        </p:txBody>
      </p:sp>
      <p:sp>
        <p:nvSpPr>
          <p:cNvPr id="21" name="Text 19"/>
          <p:cNvSpPr/>
          <p:nvPr/>
        </p:nvSpPr>
        <p:spPr>
          <a:xfrm>
            <a:off x="6507328" y="3995928"/>
            <a:ext cx="4815688" cy="274320"/>
          </a:xfrm>
          <a:prstGeom prst="rect">
            <a:avLst/>
          </a:prstGeom>
          <a:noFill/>
          <a:ln/>
        </p:spPr>
        <p:txBody>
          <a:bodyPr wrap="square" lIns="0" tIns="0" rIns="0" bIns="0" rtlCol="0" anchor="ctr"/>
          <a:lstStyle/>
          <a:p>
            <a:pPr indent="0" marL="0">
              <a:buNone/>
            </a:pPr>
            <a:r>
              <a:rPr lang="en-US" sz="900" b="1" spc="400" kern="0" dirty="0">
                <a:solidFill>
                  <a:srgbClr val="4F46E5"/>
                </a:solidFill>
                <a:latin typeface="JetBrains Mono" pitchFamily="34" charset="0"/>
                <a:ea typeface="JetBrains Mono" pitchFamily="34" charset="-122"/>
                <a:cs typeface="JetBrains Mono" pitchFamily="34" charset="-120"/>
              </a:rPr>
              <a:t>MONTHS 6-15  ·  DECISION + CAPITALISE</a:t>
            </a:r>
            <a:endParaRPr lang="en-US" sz="900" dirty="0"/>
          </a:p>
        </p:txBody>
      </p:sp>
      <p:sp>
        <p:nvSpPr>
          <p:cNvPr id="22" name="Text 20"/>
          <p:cNvSpPr/>
          <p:nvPr/>
        </p:nvSpPr>
        <p:spPr>
          <a:xfrm>
            <a:off x="6507328" y="4297680"/>
            <a:ext cx="4815688" cy="502920"/>
          </a:xfrm>
          <a:prstGeom prst="rect">
            <a:avLst/>
          </a:prstGeom>
          <a:noFill/>
          <a:ln/>
        </p:spPr>
        <p:txBody>
          <a:bodyPr wrap="square" lIns="0" tIns="0" rIns="0" bIns="0" rtlCol="0" anchor="ctr"/>
          <a:lstStyle/>
          <a:p>
            <a:pPr indent="0" marL="0">
              <a:buNone/>
            </a:pPr>
            <a:r>
              <a:rPr lang="en-US" sz="1600" b="1" dirty="0">
                <a:solidFill>
                  <a:srgbClr val="1E293B"/>
                </a:solidFill>
                <a:latin typeface="Inter" pitchFamily="34" charset="0"/>
                <a:ea typeface="Inter" pitchFamily="34" charset="-122"/>
                <a:cs typeface="Inter" pitchFamily="34" charset="-120"/>
              </a:rPr>
              <a:t>Raise, exit, or stay lean</a:t>
            </a:r>
            <a:endParaRPr lang="en-US" sz="1600" dirty="0"/>
          </a:p>
        </p:txBody>
      </p:sp>
      <p:sp>
        <p:nvSpPr>
          <p:cNvPr id="23" name="Text 21"/>
          <p:cNvSpPr/>
          <p:nvPr/>
        </p:nvSpPr>
        <p:spPr>
          <a:xfrm>
            <a:off x="6507328" y="4846320"/>
            <a:ext cx="4815688" cy="68580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Month 6-9: pre-seed conversation, acquirer signalling, or run lean. Month 9-15: paid acquisition engine if numbers support it.</a:t>
            </a:r>
            <a:endParaRPr lang="en-US" sz="1100" dirty="0"/>
          </a:p>
        </p:txBody>
      </p:sp>
      <p:sp>
        <p:nvSpPr>
          <p:cNvPr id="24" name="Shape 22"/>
          <p:cNvSpPr/>
          <p:nvPr/>
        </p:nvSpPr>
        <p:spPr>
          <a:xfrm>
            <a:off x="548640" y="5715000"/>
            <a:ext cx="11064240" cy="685800"/>
          </a:xfrm>
          <a:prstGeom prst="rect">
            <a:avLst/>
          </a:prstGeom>
          <a:solidFill>
            <a:srgbClr val="0B1020"/>
          </a:solidFill>
          <a:ln w="12700">
            <a:solidFill>
              <a:srgbClr val="0B1020"/>
            </a:solidFill>
            <a:prstDash val="solid"/>
          </a:ln>
        </p:spPr>
        <p:txBody>
          <a:bodyPr/>
          <a:p/>
        </p:txBody>
      </p:sp>
      <p:sp>
        <p:nvSpPr>
          <p:cNvPr id="25" name="Text 23"/>
          <p:cNvSpPr/>
          <p:nvPr/>
        </p:nvSpPr>
        <p:spPr>
          <a:xfrm>
            <a:off x="777240" y="5852160"/>
            <a:ext cx="10698480" cy="457200"/>
          </a:xfrm>
          <a:prstGeom prst="rect">
            <a:avLst/>
          </a:prstGeom>
          <a:noFill/>
          <a:ln/>
        </p:spPr>
        <p:txBody>
          <a:bodyPr wrap="square" lIns="0" tIns="0" rIns="0" bIns="0" rtlCol="0" anchor="ctr"/>
          <a:lstStyle/>
          <a:p>
            <a:pPr indent="0" marL="0">
              <a:buNone/>
            </a:pPr>
            <a:r>
              <a:rPr lang="en-US" sz="1200" dirty="0">
                <a:solidFill>
                  <a:srgbClr val="FFFFFF"/>
                </a:solidFill>
                <a:latin typeface="Inter" pitchFamily="34" charset="0"/>
                <a:ea typeface="Inter" pitchFamily="34" charset="-122"/>
                <a:cs typeface="Inter" pitchFamily="34" charset="-120"/>
              </a:rPr>
              <a:t>The four channels stay. The intensity is 3× heavier in months 2-6 than a steady-state launch. The window doesn't reopen.</a:t>
            </a:r>
            <a:endParaRPr lang="en-US" sz="1200" dirty="0"/>
          </a:p>
        </p:txBody>
      </p:sp>
      <p:sp>
        <p:nvSpPr>
          <p:cNvPr id="26" name="Text 24"/>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7" name="Text 25"/>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12  ·  FUNNEL + ASSUMPTIONS</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Validate by signup #100. Decide raise-or-exit by month 6.</a:t>
            </a:r>
            <a:endParaRPr lang="en-US" sz="3000" dirty="0"/>
          </a:p>
        </p:txBody>
      </p:sp>
      <p:sp>
        <p:nvSpPr>
          <p:cNvPr id="4" name="Shape 2"/>
          <p:cNvSpPr/>
          <p:nvPr/>
        </p:nvSpPr>
        <p:spPr>
          <a:xfrm>
            <a:off x="548640" y="1828800"/>
            <a:ext cx="5486400" cy="777240"/>
          </a:xfrm>
          <a:prstGeom prst="rect">
            <a:avLst/>
          </a:prstGeom>
          <a:solidFill>
            <a:srgbClr val="4F46E5"/>
          </a:solidFill>
          <a:ln w="12700">
            <a:solidFill>
              <a:srgbClr val="4F46E5"/>
            </a:solidFill>
            <a:prstDash val="solid"/>
          </a:ln>
        </p:spPr>
        <p:txBody>
          <a:bodyPr/>
          <a:p/>
        </p:txBody>
      </p:sp>
      <p:sp>
        <p:nvSpPr>
          <p:cNvPr id="5" name="Text 3"/>
          <p:cNvSpPr/>
          <p:nvPr/>
        </p:nvSpPr>
        <p:spPr>
          <a:xfrm>
            <a:off x="777240" y="1828800"/>
            <a:ext cx="4023360" cy="7772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Sandbox signups</a:t>
            </a:r>
            <a:endParaRPr lang="en-US" sz="1400" dirty="0"/>
          </a:p>
        </p:txBody>
      </p:sp>
      <p:sp>
        <p:nvSpPr>
          <p:cNvPr id="6" name="Text 4"/>
          <p:cNvSpPr/>
          <p:nvPr/>
        </p:nvSpPr>
        <p:spPr>
          <a:xfrm>
            <a:off x="4754880" y="1828800"/>
            <a:ext cx="1143000" cy="777240"/>
          </a:xfrm>
          <a:prstGeom prst="rect">
            <a:avLst/>
          </a:prstGeom>
          <a:noFill/>
          <a:ln/>
        </p:spPr>
        <p:txBody>
          <a:bodyPr wrap="square" lIns="0" tIns="0" rIns="0" bIns="0" rtlCol="0" anchor="ctr"/>
          <a:lstStyle/>
          <a:p>
            <a:pPr algn="r" indent="0" marL="0">
              <a:buNone/>
            </a:pPr>
            <a:r>
              <a:rPr lang="en-US" sz="1800" b="1" dirty="0">
                <a:solidFill>
                  <a:srgbClr val="FFFFFF"/>
                </a:solidFill>
                <a:latin typeface="Inter" pitchFamily="34" charset="0"/>
                <a:ea typeface="Inter" pitchFamily="34" charset="-122"/>
                <a:cs typeface="Inter" pitchFamily="34" charset="-120"/>
              </a:rPr>
              <a:t>100%</a:t>
            </a:r>
            <a:endParaRPr lang="en-US" sz="1800" dirty="0"/>
          </a:p>
        </p:txBody>
      </p:sp>
      <p:sp>
        <p:nvSpPr>
          <p:cNvPr id="7" name="Shape 5"/>
          <p:cNvSpPr/>
          <p:nvPr/>
        </p:nvSpPr>
        <p:spPr>
          <a:xfrm>
            <a:off x="548640" y="2743200"/>
            <a:ext cx="4114800" cy="777240"/>
          </a:xfrm>
          <a:prstGeom prst="rect">
            <a:avLst/>
          </a:prstGeom>
          <a:solidFill>
            <a:srgbClr val="3730A3"/>
          </a:solidFill>
          <a:ln w="12700">
            <a:solidFill>
              <a:srgbClr val="3730A3"/>
            </a:solidFill>
            <a:prstDash val="solid"/>
          </a:ln>
        </p:spPr>
        <p:txBody>
          <a:bodyPr/>
          <a:p/>
        </p:txBody>
      </p:sp>
      <p:sp>
        <p:nvSpPr>
          <p:cNvPr id="8" name="Text 6"/>
          <p:cNvSpPr/>
          <p:nvPr/>
        </p:nvSpPr>
        <p:spPr>
          <a:xfrm>
            <a:off x="777240" y="2743200"/>
            <a:ext cx="2651760" cy="7772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Convert to Launch</a:t>
            </a:r>
            <a:endParaRPr lang="en-US" sz="1400" dirty="0"/>
          </a:p>
        </p:txBody>
      </p:sp>
      <p:sp>
        <p:nvSpPr>
          <p:cNvPr id="9" name="Text 7"/>
          <p:cNvSpPr/>
          <p:nvPr/>
        </p:nvSpPr>
        <p:spPr>
          <a:xfrm>
            <a:off x="3383280" y="2743200"/>
            <a:ext cx="1143000" cy="777240"/>
          </a:xfrm>
          <a:prstGeom prst="rect">
            <a:avLst/>
          </a:prstGeom>
          <a:noFill/>
          <a:ln/>
        </p:spPr>
        <p:txBody>
          <a:bodyPr wrap="square" lIns="0" tIns="0" rIns="0" bIns="0" rtlCol="0" anchor="ctr"/>
          <a:lstStyle/>
          <a:p>
            <a:pPr algn="r" indent="0" marL="0">
              <a:buNone/>
            </a:pPr>
            <a:r>
              <a:rPr lang="en-US" sz="1800" b="1" dirty="0">
                <a:solidFill>
                  <a:srgbClr val="FFFFFF"/>
                </a:solidFill>
                <a:latin typeface="Inter" pitchFamily="34" charset="0"/>
                <a:ea typeface="Inter" pitchFamily="34" charset="-122"/>
                <a:cs typeface="Inter" pitchFamily="34" charset="-120"/>
              </a:rPr>
              <a:t>5%</a:t>
            </a:r>
            <a:endParaRPr lang="en-US" sz="1800" dirty="0"/>
          </a:p>
        </p:txBody>
      </p:sp>
      <p:sp>
        <p:nvSpPr>
          <p:cNvPr id="10" name="Shape 8"/>
          <p:cNvSpPr/>
          <p:nvPr/>
        </p:nvSpPr>
        <p:spPr>
          <a:xfrm>
            <a:off x="548640" y="3657600"/>
            <a:ext cx="3017520" cy="777240"/>
          </a:xfrm>
          <a:prstGeom prst="rect">
            <a:avLst/>
          </a:prstGeom>
          <a:solidFill>
            <a:srgbClr val="F59E0B"/>
          </a:solidFill>
          <a:ln w="12700">
            <a:solidFill>
              <a:srgbClr val="F59E0B"/>
            </a:solidFill>
            <a:prstDash val="solid"/>
          </a:ln>
        </p:spPr>
        <p:txBody>
          <a:bodyPr/>
          <a:p/>
        </p:txBody>
      </p:sp>
      <p:sp>
        <p:nvSpPr>
          <p:cNvPr id="11" name="Text 9"/>
          <p:cNvSpPr/>
          <p:nvPr/>
        </p:nvSpPr>
        <p:spPr>
          <a:xfrm>
            <a:off x="777240" y="3657600"/>
            <a:ext cx="1554480" cy="7772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Upgrade to Growth</a:t>
            </a:r>
            <a:endParaRPr lang="en-US" sz="1400" dirty="0"/>
          </a:p>
        </p:txBody>
      </p:sp>
      <p:sp>
        <p:nvSpPr>
          <p:cNvPr id="12" name="Text 10"/>
          <p:cNvSpPr/>
          <p:nvPr/>
        </p:nvSpPr>
        <p:spPr>
          <a:xfrm>
            <a:off x="2286000" y="3657600"/>
            <a:ext cx="1143000" cy="777240"/>
          </a:xfrm>
          <a:prstGeom prst="rect">
            <a:avLst/>
          </a:prstGeom>
          <a:noFill/>
          <a:ln/>
        </p:spPr>
        <p:txBody>
          <a:bodyPr wrap="square" lIns="0" tIns="0" rIns="0" bIns="0" rtlCol="0" anchor="ctr"/>
          <a:lstStyle/>
          <a:p>
            <a:pPr algn="r" indent="0" marL="0">
              <a:buNone/>
            </a:pPr>
            <a:r>
              <a:rPr lang="en-US" sz="1800" b="1" dirty="0">
                <a:solidFill>
                  <a:srgbClr val="FFFFFF"/>
                </a:solidFill>
                <a:latin typeface="Inter" pitchFamily="34" charset="0"/>
                <a:ea typeface="Inter" pitchFamily="34" charset="-122"/>
                <a:cs typeface="Inter" pitchFamily="34" charset="-120"/>
              </a:rPr>
              <a:t>1%</a:t>
            </a:r>
            <a:endParaRPr lang="en-US" sz="1800" dirty="0"/>
          </a:p>
        </p:txBody>
      </p:sp>
      <p:sp>
        <p:nvSpPr>
          <p:cNvPr id="13" name="Text 11"/>
          <p:cNvSpPr/>
          <p:nvPr/>
        </p:nvSpPr>
        <p:spPr>
          <a:xfrm>
            <a:off x="6583680" y="1828800"/>
            <a:ext cx="5120640" cy="320040"/>
          </a:xfrm>
          <a:prstGeom prst="rect">
            <a:avLst/>
          </a:prstGeom>
          <a:noFill/>
          <a:ln/>
        </p:spPr>
        <p:txBody>
          <a:bodyPr wrap="square" lIns="0" tIns="0" rIns="0" bIns="0" rtlCol="0" anchor="ctr"/>
          <a:lstStyle/>
          <a:p>
            <a:pPr indent="0" marL="0">
              <a:buNone/>
            </a:pPr>
            <a:r>
              <a:rPr lang="en-US" sz="1000" b="1" spc="400" kern="0" dirty="0">
                <a:solidFill>
                  <a:srgbClr val="F59E0B"/>
                </a:solidFill>
                <a:latin typeface="JetBrains Mono" pitchFamily="34" charset="0"/>
                <a:ea typeface="JetBrains Mono" pitchFamily="34" charset="-122"/>
                <a:cs typeface="JetBrains Mono" pitchFamily="34" charset="-120"/>
              </a:rPr>
              <a:t>VALIDATE BY SIGNUP #100  ·  DECIDE BY MONTH 6</a:t>
            </a:r>
            <a:endParaRPr lang="en-US" sz="1000" dirty="0"/>
          </a:p>
        </p:txBody>
      </p:sp>
      <p:sp>
        <p:nvSpPr>
          <p:cNvPr id="14" name="Shape 12"/>
          <p:cNvSpPr/>
          <p:nvPr/>
        </p:nvSpPr>
        <p:spPr>
          <a:xfrm>
            <a:off x="6583680" y="2194560"/>
            <a:ext cx="5120640" cy="731520"/>
          </a:xfrm>
          <a:prstGeom prst="rect">
            <a:avLst/>
          </a:prstGeom>
          <a:solidFill>
            <a:srgbClr val="FFFFFF"/>
          </a:solidFill>
          <a:ln w="12700">
            <a:solidFill>
              <a:srgbClr val="E2E8F0"/>
            </a:solidFill>
            <a:prstDash val="solid"/>
          </a:ln>
        </p:spPr>
        <p:txBody>
          <a:bodyPr/>
          <a:p/>
        </p:txBody>
      </p:sp>
      <p:sp>
        <p:nvSpPr>
          <p:cNvPr id="15" name="Text 13"/>
          <p:cNvSpPr/>
          <p:nvPr/>
        </p:nvSpPr>
        <p:spPr>
          <a:xfrm>
            <a:off x="6720840" y="2359152"/>
            <a:ext cx="457200" cy="411480"/>
          </a:xfrm>
          <a:prstGeom prst="rect">
            <a:avLst/>
          </a:prstGeom>
          <a:noFill/>
          <a:ln/>
        </p:spPr>
        <p:txBody>
          <a:bodyPr wrap="square" lIns="0" tIns="0" rIns="0" bIns="0" rtlCol="0" anchor="ctr"/>
          <a:lstStyle/>
          <a:p>
            <a:pPr indent="0" marL="0">
              <a:buNone/>
            </a:pPr>
            <a:r>
              <a:rPr lang="en-US" sz="1600" b="1" dirty="0">
                <a:solidFill>
                  <a:srgbClr val="4F46E5"/>
                </a:solidFill>
                <a:latin typeface="Inter" pitchFamily="34" charset="0"/>
                <a:ea typeface="Inter" pitchFamily="34" charset="-122"/>
                <a:cs typeface="Inter" pitchFamily="34" charset="-120"/>
              </a:rPr>
              <a:t>01</a:t>
            </a:r>
            <a:endParaRPr lang="en-US" sz="1600" dirty="0"/>
          </a:p>
        </p:txBody>
      </p:sp>
      <p:sp>
        <p:nvSpPr>
          <p:cNvPr id="16" name="Text 14"/>
          <p:cNvSpPr/>
          <p:nvPr/>
        </p:nvSpPr>
        <p:spPr>
          <a:xfrm>
            <a:off x="7269480" y="2304288"/>
            <a:ext cx="4389120" cy="32004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Sandbox → Launch conversion</a:t>
            </a:r>
            <a:endParaRPr lang="en-US" sz="1300" dirty="0"/>
          </a:p>
        </p:txBody>
      </p:sp>
      <p:sp>
        <p:nvSpPr>
          <p:cNvPr id="17" name="Text 15"/>
          <p:cNvSpPr/>
          <p:nvPr/>
        </p:nvSpPr>
        <p:spPr>
          <a:xfrm>
            <a:off x="7269480" y="2578608"/>
            <a:ext cx="438912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Assumed 5%  ·  industry 3–10%</a:t>
            </a:r>
            <a:endParaRPr lang="en-US" sz="1000" dirty="0"/>
          </a:p>
        </p:txBody>
      </p:sp>
      <p:sp>
        <p:nvSpPr>
          <p:cNvPr id="18" name="Shape 16"/>
          <p:cNvSpPr/>
          <p:nvPr/>
        </p:nvSpPr>
        <p:spPr>
          <a:xfrm>
            <a:off x="6583680" y="3063240"/>
            <a:ext cx="5120640" cy="731520"/>
          </a:xfrm>
          <a:prstGeom prst="rect">
            <a:avLst/>
          </a:prstGeom>
          <a:solidFill>
            <a:srgbClr val="FFFFFF"/>
          </a:solidFill>
          <a:ln w="12700">
            <a:solidFill>
              <a:srgbClr val="E2E8F0"/>
            </a:solidFill>
            <a:prstDash val="solid"/>
          </a:ln>
        </p:spPr>
        <p:txBody>
          <a:bodyPr/>
          <a:p/>
        </p:txBody>
      </p:sp>
      <p:sp>
        <p:nvSpPr>
          <p:cNvPr id="19" name="Text 17"/>
          <p:cNvSpPr/>
          <p:nvPr/>
        </p:nvSpPr>
        <p:spPr>
          <a:xfrm>
            <a:off x="6720840" y="3227832"/>
            <a:ext cx="457200" cy="411480"/>
          </a:xfrm>
          <a:prstGeom prst="rect">
            <a:avLst/>
          </a:prstGeom>
          <a:noFill/>
          <a:ln/>
        </p:spPr>
        <p:txBody>
          <a:bodyPr wrap="square" lIns="0" tIns="0" rIns="0" bIns="0" rtlCol="0" anchor="ctr"/>
          <a:lstStyle/>
          <a:p>
            <a:pPr indent="0" marL="0">
              <a:buNone/>
            </a:pPr>
            <a:r>
              <a:rPr lang="en-US" sz="1600" b="1" dirty="0">
                <a:solidFill>
                  <a:srgbClr val="4F46E5"/>
                </a:solidFill>
                <a:latin typeface="Inter" pitchFamily="34" charset="0"/>
                <a:ea typeface="Inter" pitchFamily="34" charset="-122"/>
                <a:cs typeface="Inter" pitchFamily="34" charset="-120"/>
              </a:rPr>
              <a:t>02</a:t>
            </a:r>
            <a:endParaRPr lang="en-US" sz="1600" dirty="0"/>
          </a:p>
        </p:txBody>
      </p:sp>
      <p:sp>
        <p:nvSpPr>
          <p:cNvPr id="20" name="Text 18"/>
          <p:cNvSpPr/>
          <p:nvPr/>
        </p:nvSpPr>
        <p:spPr>
          <a:xfrm>
            <a:off x="7269480" y="3172968"/>
            <a:ext cx="4389120" cy="32004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Launch monthly churn</a:t>
            </a:r>
            <a:endParaRPr lang="en-US" sz="1300" dirty="0"/>
          </a:p>
        </p:txBody>
      </p:sp>
      <p:sp>
        <p:nvSpPr>
          <p:cNvPr id="21" name="Text 19"/>
          <p:cNvSpPr/>
          <p:nvPr/>
        </p:nvSpPr>
        <p:spPr>
          <a:xfrm>
            <a:off x="7269480" y="3447288"/>
            <a:ext cx="438912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Assumed ~3%/mo  ·  signal in 60-90 days</a:t>
            </a:r>
            <a:endParaRPr lang="en-US" sz="1000" dirty="0"/>
          </a:p>
        </p:txBody>
      </p:sp>
      <p:sp>
        <p:nvSpPr>
          <p:cNvPr id="22" name="Shape 20"/>
          <p:cNvSpPr/>
          <p:nvPr/>
        </p:nvSpPr>
        <p:spPr>
          <a:xfrm>
            <a:off x="6583680" y="3931920"/>
            <a:ext cx="5120640" cy="731520"/>
          </a:xfrm>
          <a:prstGeom prst="rect">
            <a:avLst/>
          </a:prstGeom>
          <a:solidFill>
            <a:srgbClr val="FFFFFF"/>
          </a:solidFill>
          <a:ln w="12700">
            <a:solidFill>
              <a:srgbClr val="E2E8F0"/>
            </a:solidFill>
            <a:prstDash val="solid"/>
          </a:ln>
        </p:spPr>
        <p:txBody>
          <a:bodyPr/>
          <a:p/>
        </p:txBody>
      </p:sp>
      <p:sp>
        <p:nvSpPr>
          <p:cNvPr id="23" name="Text 21"/>
          <p:cNvSpPr/>
          <p:nvPr/>
        </p:nvSpPr>
        <p:spPr>
          <a:xfrm>
            <a:off x="6720840" y="4096512"/>
            <a:ext cx="457200" cy="411480"/>
          </a:xfrm>
          <a:prstGeom prst="rect">
            <a:avLst/>
          </a:prstGeom>
          <a:noFill/>
          <a:ln/>
        </p:spPr>
        <p:txBody>
          <a:bodyPr wrap="square" lIns="0" tIns="0" rIns="0" bIns="0" rtlCol="0" anchor="ctr"/>
          <a:lstStyle/>
          <a:p>
            <a:pPr indent="0" marL="0">
              <a:buNone/>
            </a:pPr>
            <a:r>
              <a:rPr lang="en-US" sz="1600" b="1" dirty="0">
                <a:solidFill>
                  <a:srgbClr val="4F46E5"/>
                </a:solidFill>
                <a:latin typeface="Inter" pitchFamily="34" charset="0"/>
                <a:ea typeface="Inter" pitchFamily="34" charset="-122"/>
                <a:cs typeface="Inter" pitchFamily="34" charset="-120"/>
              </a:rPr>
              <a:t>03</a:t>
            </a:r>
            <a:endParaRPr lang="en-US" sz="1600" dirty="0"/>
          </a:p>
        </p:txBody>
      </p:sp>
      <p:sp>
        <p:nvSpPr>
          <p:cNvPr id="24" name="Text 22"/>
          <p:cNvSpPr/>
          <p:nvPr/>
        </p:nvSpPr>
        <p:spPr>
          <a:xfrm>
            <a:off x="7269480" y="4041648"/>
            <a:ext cx="4389120" cy="32004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Time to Launch → Growth</a:t>
            </a:r>
            <a:endParaRPr lang="en-US" sz="1300" dirty="0"/>
          </a:p>
        </p:txBody>
      </p:sp>
      <p:sp>
        <p:nvSpPr>
          <p:cNvPr id="25" name="Text 23"/>
          <p:cNvSpPr/>
          <p:nvPr/>
        </p:nvSpPr>
        <p:spPr>
          <a:xfrm>
            <a:off x="7269480" y="4315968"/>
            <a:ext cx="4389120" cy="274320"/>
          </a:xfrm>
          <a:prstGeom prst="rect">
            <a:avLst/>
          </a:prstGeom>
          <a:noFill/>
          <a:ln/>
        </p:spPr>
        <p:txBody>
          <a:bodyPr wrap="square" lIns="0" tIns="0" rIns="0" bIns="0" rtlCol="0" anchor="ctr"/>
          <a:lstStyle/>
          <a:p>
            <a:pPr indent="0" marL="0">
              <a:buNone/>
            </a:pPr>
            <a:r>
              <a:rPr lang="en-US" sz="1000" dirty="0">
                <a:solidFill>
                  <a:srgbClr val="64748B"/>
                </a:solidFill>
                <a:latin typeface="JetBrains Mono" pitchFamily="34" charset="0"/>
                <a:ea typeface="JetBrains Mono" pitchFamily="34" charset="-122"/>
                <a:cs typeface="JetBrains Mono" pitchFamily="34" charset="-120"/>
              </a:rPr>
              <a:t>Assumed 6 months in sprint mode</a:t>
            </a:r>
            <a:endParaRPr lang="en-US" sz="1000" dirty="0"/>
          </a:p>
        </p:txBody>
      </p:sp>
      <p:sp>
        <p:nvSpPr>
          <p:cNvPr id="26" name="Shape 24"/>
          <p:cNvSpPr/>
          <p:nvPr/>
        </p:nvSpPr>
        <p:spPr>
          <a:xfrm>
            <a:off x="548640" y="4983480"/>
            <a:ext cx="11064240" cy="1417320"/>
          </a:xfrm>
          <a:prstGeom prst="rect">
            <a:avLst/>
          </a:prstGeom>
          <a:solidFill>
            <a:srgbClr val="EEF2FF"/>
          </a:solidFill>
          <a:ln w="12700">
            <a:solidFill>
              <a:srgbClr val="4F46E5"/>
            </a:solidFill>
            <a:prstDash val="solid"/>
          </a:ln>
        </p:spPr>
        <p:txBody>
          <a:bodyPr/>
          <a:p/>
        </p:txBody>
      </p:sp>
      <p:sp>
        <p:nvSpPr>
          <p:cNvPr id="27" name="Text 25"/>
          <p:cNvSpPr/>
          <p:nvPr/>
        </p:nvSpPr>
        <p:spPr>
          <a:xfrm>
            <a:off x="777240" y="5120640"/>
            <a:ext cx="3566160"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Blended LTV (repriced)</a:t>
            </a:r>
            <a:endParaRPr lang="en-US" sz="900" dirty="0"/>
          </a:p>
        </p:txBody>
      </p:sp>
      <p:sp>
        <p:nvSpPr>
          <p:cNvPr id="28" name="Text 26"/>
          <p:cNvSpPr/>
          <p:nvPr/>
        </p:nvSpPr>
        <p:spPr>
          <a:xfrm>
            <a:off x="777240" y="5394960"/>
            <a:ext cx="3566160" cy="868680"/>
          </a:xfrm>
          <a:prstGeom prst="rect">
            <a:avLst/>
          </a:prstGeom>
          <a:noFill/>
          <a:ln/>
        </p:spPr>
        <p:txBody>
          <a:bodyPr wrap="square" lIns="0" tIns="0" rIns="0" bIns="0" rtlCol="0" anchor="ctr"/>
          <a:lstStyle/>
          <a:p>
            <a:pPr indent="0" marL="0">
              <a:buNone/>
            </a:pPr>
            <a:r>
              <a:rPr lang="en-US" sz="3600" b="1" dirty="0">
                <a:solidFill>
                  <a:srgbClr val="1E293B"/>
                </a:solidFill>
                <a:latin typeface="Inter" pitchFamily="34" charset="0"/>
                <a:ea typeface="Inter" pitchFamily="34" charset="-122"/>
                <a:cs typeface="Inter" pitchFamily="34" charset="-120"/>
              </a:rPr>
              <a:t>£520</a:t>
            </a:r>
            <a:endParaRPr lang="en-US" sz="3600" dirty="0"/>
          </a:p>
        </p:txBody>
      </p:sp>
      <p:sp>
        <p:nvSpPr>
          <p:cNvPr id="29" name="Text 27"/>
          <p:cNvSpPr/>
          <p:nvPr/>
        </p:nvSpPr>
        <p:spPr>
          <a:xfrm>
            <a:off x="4526280" y="5120640"/>
            <a:ext cx="3566160"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CAC ceiling (3:1)</a:t>
            </a:r>
            <a:endParaRPr lang="en-US" sz="900" dirty="0"/>
          </a:p>
        </p:txBody>
      </p:sp>
      <p:sp>
        <p:nvSpPr>
          <p:cNvPr id="30" name="Text 28"/>
          <p:cNvSpPr/>
          <p:nvPr/>
        </p:nvSpPr>
        <p:spPr>
          <a:xfrm>
            <a:off x="4526280" y="5394960"/>
            <a:ext cx="3566160" cy="868680"/>
          </a:xfrm>
          <a:prstGeom prst="rect">
            <a:avLst/>
          </a:prstGeom>
          <a:noFill/>
          <a:ln/>
        </p:spPr>
        <p:txBody>
          <a:bodyPr wrap="square" lIns="0" tIns="0" rIns="0" bIns="0" rtlCol="0" anchor="ctr"/>
          <a:lstStyle/>
          <a:p>
            <a:pPr indent="0" marL="0">
              <a:buNone/>
            </a:pPr>
            <a:r>
              <a:rPr lang="en-US" sz="3600" b="1" dirty="0">
                <a:solidFill>
                  <a:srgbClr val="1E293B"/>
                </a:solidFill>
                <a:latin typeface="Inter" pitchFamily="34" charset="0"/>
                <a:ea typeface="Inter" pitchFamily="34" charset="-122"/>
                <a:cs typeface="Inter" pitchFamily="34" charset="-120"/>
              </a:rPr>
              <a:t>£175</a:t>
            </a:r>
            <a:endParaRPr lang="en-US" sz="3600" dirty="0"/>
          </a:p>
        </p:txBody>
      </p:sp>
      <p:sp>
        <p:nvSpPr>
          <p:cNvPr id="31" name="Text 29"/>
          <p:cNvSpPr/>
          <p:nvPr/>
        </p:nvSpPr>
        <p:spPr>
          <a:xfrm>
            <a:off x="8275320" y="5120640"/>
            <a:ext cx="3566160"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Cohort dashboard</a:t>
            </a:r>
            <a:endParaRPr lang="en-US" sz="900" dirty="0"/>
          </a:p>
        </p:txBody>
      </p:sp>
      <p:sp>
        <p:nvSpPr>
          <p:cNvPr id="32" name="Text 30"/>
          <p:cNvSpPr/>
          <p:nvPr/>
        </p:nvSpPr>
        <p:spPr>
          <a:xfrm>
            <a:off x="8275320" y="5394960"/>
            <a:ext cx="3566160" cy="868680"/>
          </a:xfrm>
          <a:prstGeom prst="rect">
            <a:avLst/>
          </a:prstGeom>
          <a:noFill/>
          <a:ln/>
        </p:spPr>
        <p:txBody>
          <a:bodyPr wrap="square" lIns="0" tIns="0" rIns="0" bIns="0" rtlCol="0" anchor="ctr"/>
          <a:lstStyle/>
          <a:p>
            <a:pPr indent="0" marL="0">
              <a:buNone/>
            </a:pPr>
            <a:r>
              <a:rPr lang="en-US" sz="3600" b="1" dirty="0">
                <a:solidFill>
                  <a:srgbClr val="1E293B"/>
                </a:solidFill>
                <a:latin typeface="Inter" pitchFamily="34" charset="0"/>
                <a:ea typeface="Inter" pitchFamily="34" charset="-122"/>
                <a:cs typeface="Inter" pitchFamily="34" charset="-120"/>
              </a:rPr>
              <a:t>Live</a:t>
            </a:r>
            <a:endParaRPr lang="en-US" sz="3600" dirty="0"/>
          </a:p>
        </p:txBody>
      </p:sp>
      <p:sp>
        <p:nvSpPr>
          <p:cNvPr id="33" name="Text 31"/>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34" name="Text 32"/>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13  ·  REVENUE TRAJECTORY</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MRR month 0-18. Two sprint scenarios.</a:t>
            </a:r>
            <a:endParaRPr lang="en-US" sz="3000" dirty="0"/>
          </a:p>
        </p:txBody>
      </p:sp>
      <p:graphicFrame>
        <p:nvGraphicFramePr>
          <p:cNvPr id="4" name="Chart 0" descr=""/>
          <p:cNvGraphicFramePr/>
          <p:nvPr/>
        </p:nvGraphicFramePr>
        <p:xfrm>
          <a:off x="548640" y="1828800"/>
          <a:ext cx="731520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29600" y="1828800"/>
            <a:ext cx="3383280" cy="1828800"/>
          </a:xfrm>
          <a:prstGeom prst="rect">
            <a:avLst/>
          </a:prstGeom>
          <a:solidFill>
            <a:srgbClr val="FFFFFF"/>
          </a:solidFill>
          <a:ln w="12700">
            <a:solidFill>
              <a:srgbClr val="E2E8F0"/>
            </a:solidFill>
            <a:prstDash val="solid"/>
          </a:ln>
        </p:spPr>
        <p:txBody>
          <a:bodyPr/>
          <a:p/>
        </p:txBody>
      </p:sp>
      <p:sp>
        <p:nvSpPr>
          <p:cNvPr id="6" name="Shape 3"/>
          <p:cNvSpPr/>
          <p:nvPr/>
        </p:nvSpPr>
        <p:spPr>
          <a:xfrm>
            <a:off x="8229600" y="1828800"/>
            <a:ext cx="73152" cy="1828800"/>
          </a:xfrm>
          <a:prstGeom prst="rect">
            <a:avLst/>
          </a:prstGeom>
          <a:solidFill>
            <a:srgbClr val="4F46E5"/>
          </a:solidFill>
          <a:ln w="12700">
            <a:solidFill>
              <a:srgbClr val="4F46E5"/>
            </a:solidFill>
            <a:prstDash val="solid"/>
          </a:ln>
        </p:spPr>
        <p:txBody>
          <a:bodyPr/>
          <a:p/>
        </p:txBody>
      </p:sp>
      <p:sp>
        <p:nvSpPr>
          <p:cNvPr id="7" name="Text 4"/>
          <p:cNvSpPr/>
          <p:nvPr/>
        </p:nvSpPr>
        <p:spPr>
          <a:xfrm>
            <a:off x="8458200" y="1965960"/>
            <a:ext cx="2011680" cy="32004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Sprint base</a:t>
            </a:r>
            <a:endParaRPr lang="en-US" sz="1300" dirty="0"/>
          </a:p>
        </p:txBody>
      </p:sp>
      <p:sp>
        <p:nvSpPr>
          <p:cNvPr id="8" name="Text 5"/>
          <p:cNvSpPr/>
          <p:nvPr/>
        </p:nvSpPr>
        <p:spPr>
          <a:xfrm>
            <a:off x="10287000" y="1965960"/>
            <a:ext cx="1188720" cy="228600"/>
          </a:xfrm>
          <a:prstGeom prst="rect">
            <a:avLst/>
          </a:prstGeom>
          <a:noFill/>
          <a:ln/>
        </p:spPr>
        <p:txBody>
          <a:bodyPr wrap="square" lIns="0" tIns="0" rIns="0" bIns="0" rtlCol="0" anchor="ctr"/>
          <a:lstStyle/>
          <a:p>
            <a:pPr algn="r" indent="0" marL="0">
              <a:buNone/>
            </a:pPr>
            <a:r>
              <a:rPr lang="en-US" sz="800" dirty="0">
                <a:solidFill>
                  <a:srgbClr val="64748B"/>
                </a:solidFill>
                <a:latin typeface="JetBrains Mono" pitchFamily="34" charset="0"/>
                <a:ea typeface="JetBrains Mono" pitchFamily="34" charset="-122"/>
                <a:cs typeface="JetBrains Mono" pitchFamily="34" charset="-120"/>
              </a:rPr>
              <a:t>M18 MRR</a:t>
            </a:r>
            <a:endParaRPr lang="en-US" sz="800" dirty="0"/>
          </a:p>
        </p:txBody>
      </p:sp>
      <p:sp>
        <p:nvSpPr>
          <p:cNvPr id="9" name="Text 6"/>
          <p:cNvSpPr/>
          <p:nvPr/>
        </p:nvSpPr>
        <p:spPr>
          <a:xfrm>
            <a:off x="10287000" y="2176272"/>
            <a:ext cx="1188720" cy="411480"/>
          </a:xfrm>
          <a:prstGeom prst="rect">
            <a:avLst/>
          </a:prstGeom>
          <a:noFill/>
          <a:ln/>
        </p:spPr>
        <p:txBody>
          <a:bodyPr wrap="square" lIns="0" tIns="0" rIns="0" bIns="0" rtlCol="0" anchor="ctr"/>
          <a:lstStyle/>
          <a:p>
            <a:pPr algn="r" indent="0" marL="0">
              <a:buNone/>
            </a:pPr>
            <a:r>
              <a:rPr lang="en-US" sz="1800" b="1" dirty="0">
                <a:solidFill>
                  <a:srgbClr val="1E293B"/>
                </a:solidFill>
                <a:latin typeface="Inter" pitchFamily="34" charset="0"/>
                <a:ea typeface="Inter" pitchFamily="34" charset="-122"/>
                <a:cs typeface="Inter" pitchFamily="34" charset="-120"/>
              </a:rPr>
              <a:t>~£135K</a:t>
            </a:r>
            <a:endParaRPr lang="en-US" sz="1800" dirty="0"/>
          </a:p>
        </p:txBody>
      </p:sp>
      <p:sp>
        <p:nvSpPr>
          <p:cNvPr id="10" name="Text 7"/>
          <p:cNvSpPr/>
          <p:nvPr/>
        </p:nvSpPr>
        <p:spPr>
          <a:xfrm>
            <a:off x="8458200" y="2651760"/>
            <a:ext cx="3017520" cy="96012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Organic + creator sponsorships. Hits £40-80K MRR by month 9, plateaus ~£100-150K by month 18.</a:t>
            </a:r>
            <a:endParaRPr lang="en-US" sz="1000" dirty="0"/>
          </a:p>
        </p:txBody>
      </p:sp>
      <p:sp>
        <p:nvSpPr>
          <p:cNvPr id="11" name="Shape 8"/>
          <p:cNvSpPr/>
          <p:nvPr/>
        </p:nvSpPr>
        <p:spPr>
          <a:xfrm>
            <a:off x="8229600" y="3840480"/>
            <a:ext cx="3383280" cy="1828800"/>
          </a:xfrm>
          <a:prstGeom prst="rect">
            <a:avLst/>
          </a:prstGeom>
          <a:solidFill>
            <a:srgbClr val="FFFFFF"/>
          </a:solidFill>
          <a:ln w="12700">
            <a:solidFill>
              <a:srgbClr val="E2E8F0"/>
            </a:solidFill>
            <a:prstDash val="solid"/>
          </a:ln>
        </p:spPr>
        <p:txBody>
          <a:bodyPr/>
          <a:p/>
        </p:txBody>
      </p:sp>
      <p:sp>
        <p:nvSpPr>
          <p:cNvPr id="12" name="Shape 9"/>
          <p:cNvSpPr/>
          <p:nvPr/>
        </p:nvSpPr>
        <p:spPr>
          <a:xfrm>
            <a:off x="8229600" y="3840480"/>
            <a:ext cx="73152" cy="1828800"/>
          </a:xfrm>
          <a:prstGeom prst="rect">
            <a:avLst/>
          </a:prstGeom>
          <a:solidFill>
            <a:srgbClr val="F59E0B"/>
          </a:solidFill>
          <a:ln w="12700">
            <a:solidFill>
              <a:srgbClr val="F59E0B"/>
            </a:solidFill>
            <a:prstDash val="solid"/>
          </a:ln>
        </p:spPr>
        <p:txBody>
          <a:bodyPr/>
          <a:p/>
        </p:txBody>
      </p:sp>
      <p:sp>
        <p:nvSpPr>
          <p:cNvPr id="13" name="Text 10"/>
          <p:cNvSpPr/>
          <p:nvPr/>
        </p:nvSpPr>
        <p:spPr>
          <a:xfrm>
            <a:off x="8458200" y="3977640"/>
            <a:ext cx="2011680" cy="32004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Sprint upside</a:t>
            </a:r>
            <a:endParaRPr lang="en-US" sz="1300" dirty="0"/>
          </a:p>
        </p:txBody>
      </p:sp>
      <p:sp>
        <p:nvSpPr>
          <p:cNvPr id="14" name="Text 11"/>
          <p:cNvSpPr/>
          <p:nvPr/>
        </p:nvSpPr>
        <p:spPr>
          <a:xfrm>
            <a:off x="10287000" y="3977640"/>
            <a:ext cx="1188720" cy="228600"/>
          </a:xfrm>
          <a:prstGeom prst="rect">
            <a:avLst/>
          </a:prstGeom>
          <a:noFill/>
          <a:ln/>
        </p:spPr>
        <p:txBody>
          <a:bodyPr wrap="square" lIns="0" tIns="0" rIns="0" bIns="0" rtlCol="0" anchor="ctr"/>
          <a:lstStyle/>
          <a:p>
            <a:pPr algn="r" indent="0" marL="0">
              <a:buNone/>
            </a:pPr>
            <a:r>
              <a:rPr lang="en-US" sz="800" dirty="0">
                <a:solidFill>
                  <a:srgbClr val="64748B"/>
                </a:solidFill>
                <a:latin typeface="JetBrains Mono" pitchFamily="34" charset="0"/>
                <a:ea typeface="JetBrains Mono" pitchFamily="34" charset="-122"/>
                <a:cs typeface="JetBrains Mono" pitchFamily="34" charset="-120"/>
              </a:rPr>
              <a:t>M18 MRR</a:t>
            </a:r>
            <a:endParaRPr lang="en-US" sz="800" dirty="0"/>
          </a:p>
        </p:txBody>
      </p:sp>
      <p:sp>
        <p:nvSpPr>
          <p:cNvPr id="15" name="Text 12"/>
          <p:cNvSpPr/>
          <p:nvPr/>
        </p:nvSpPr>
        <p:spPr>
          <a:xfrm>
            <a:off x="10287000" y="4187952"/>
            <a:ext cx="1188720" cy="411480"/>
          </a:xfrm>
          <a:prstGeom prst="rect">
            <a:avLst/>
          </a:prstGeom>
          <a:noFill/>
          <a:ln/>
        </p:spPr>
        <p:txBody>
          <a:bodyPr wrap="square" lIns="0" tIns="0" rIns="0" bIns="0" rtlCol="0" anchor="ctr"/>
          <a:lstStyle/>
          <a:p>
            <a:pPr algn="r" indent="0" marL="0">
              <a:buNone/>
            </a:pPr>
            <a:r>
              <a:rPr lang="en-US" sz="1800" b="1" dirty="0">
                <a:solidFill>
                  <a:srgbClr val="1E293B"/>
                </a:solidFill>
                <a:latin typeface="Inter" pitchFamily="34" charset="0"/>
                <a:ea typeface="Inter" pitchFamily="34" charset="-122"/>
                <a:cs typeface="Inter" pitchFamily="34" charset="-120"/>
              </a:rPr>
              <a:t>~£380K</a:t>
            </a:r>
            <a:endParaRPr lang="en-US" sz="1800" dirty="0"/>
          </a:p>
        </p:txBody>
      </p:sp>
      <p:sp>
        <p:nvSpPr>
          <p:cNvPr id="16" name="Text 13"/>
          <p:cNvSpPr/>
          <p:nvPr/>
        </p:nvSpPr>
        <p:spPr>
          <a:xfrm>
            <a:off x="8458200" y="4663440"/>
            <a:ext cx="3017520" cy="96012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Full sprint executes. Hits £200-400K MRR by month 18. Capitalise window opens at month 9-12.</a:t>
            </a:r>
            <a:endParaRPr lang="en-US" sz="1000" dirty="0"/>
          </a:p>
        </p:txBody>
      </p:sp>
      <p:sp>
        <p:nvSpPr>
          <p:cNvPr id="17" name="Text 14"/>
          <p:cNvSpPr/>
          <p:nvPr/>
        </p:nvSpPr>
        <p:spPr>
          <a:xfrm>
            <a:off x="548640" y="6126480"/>
            <a:ext cx="10972800" cy="256032"/>
          </a:xfrm>
          <a:prstGeom prst="rect">
            <a:avLst/>
          </a:prstGeom>
          <a:noFill/>
          <a:ln/>
        </p:spPr>
        <p:txBody>
          <a:bodyPr wrap="square" lIns="0" tIns="0" rIns="0" bIns="0" rtlCol="0" anchor="ctr"/>
          <a:lstStyle/>
          <a:p>
            <a:pPr indent="0" marL="0">
              <a:buNone/>
            </a:pPr>
            <a:r>
              <a:rPr lang="en-US" sz="900" i="1" dirty="0">
                <a:solidFill>
                  <a:srgbClr val="64748B"/>
                </a:solidFill>
                <a:latin typeface="JetBrains Mono" pitchFamily="34" charset="0"/>
                <a:ea typeface="JetBrains Mono" pitchFamily="34" charset="-122"/>
                <a:cs typeface="JetBrains Mono" pitchFamily="34" charset="-120"/>
              </a:rPr>
              <a:t>Trajectories anchored on Cursor / Lovable / Bolt growth curves at comparable product maturity. Pricing assumes Launch £14/mo, Growth £39/mo.</a:t>
            </a:r>
            <a:endParaRPr lang="en-US" sz="900" dirty="0"/>
          </a:p>
        </p:txBody>
      </p:sp>
      <p:sp>
        <p:nvSpPr>
          <p:cNvPr id="18" name="Text 15"/>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19" name="Text 16"/>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14  ·  MARGIN REALITY</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Repriced unit economics × sprint MRR.</a:t>
            </a:r>
            <a:endParaRPr lang="en-US" sz="3000" dirty="0"/>
          </a:p>
        </p:txBody>
      </p:sp>
      <p:sp>
        <p:nvSpPr>
          <p:cNvPr id="4" name="Shape 2"/>
          <p:cNvSpPr/>
          <p:nvPr/>
        </p:nvSpPr>
        <p:spPr>
          <a:xfrm>
            <a:off x="548640" y="1828800"/>
            <a:ext cx="5486400" cy="237744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828800"/>
            <a:ext cx="5486400" cy="73152"/>
          </a:xfrm>
          <a:prstGeom prst="rect">
            <a:avLst/>
          </a:prstGeom>
          <a:solidFill>
            <a:srgbClr val="F59E0B"/>
          </a:solidFill>
          <a:ln w="12700">
            <a:solidFill>
              <a:srgbClr val="F59E0B"/>
            </a:solidFill>
            <a:prstDash val="solid"/>
          </a:ln>
        </p:spPr>
        <p:txBody>
          <a:bodyPr/>
          <a:p/>
        </p:txBody>
      </p:sp>
      <p:sp>
        <p:nvSpPr>
          <p:cNvPr id="6" name="Text 4"/>
          <p:cNvSpPr/>
          <p:nvPr/>
        </p:nvSpPr>
        <p:spPr>
          <a:xfrm>
            <a:off x="822960" y="2011680"/>
            <a:ext cx="4937760" cy="274320"/>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PER-CUSTOMER MARGIN  ·  BEFORE → AFTER REPRICE</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2960" y="2377440"/>
          <a:ext cx="4937760" cy="914400"/>
        </p:xfrm>
        <a:graphic>
          <a:graphicData uri="http://schemas.openxmlformats.org/drawingml/2006/table">
            <a:tbl>
              <a:tblPr/>
              <a:tblGrid>
                <a:gridCol w="2011680"/>
                <a:gridCol w="1463040"/>
                <a:gridCol w="1463040"/>
              </a:tblGrid>
              <a:tr h="384048">
                <a:tc>
                  <a:txBody>
                    <a:bodyPr/>
                    <a:lstStyle/>
                    <a:p>
                      <a:pPr indent="0" marL="0">
                        <a:buNone/>
                      </a:pPr>
                      <a:endParaRPr lang="en-US" sz="10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64748B"/>
                          </a:solidFill>
                          <a:latin typeface="Inter" pitchFamily="34" charset="0"/>
                          <a:ea typeface="Inter" pitchFamily="34" charset="-122"/>
                          <a:cs typeface="Inter" pitchFamily="34" charset="-120"/>
                        </a:rPr>
                        <a:t>Before (£9 / £24)</a:t>
                      </a:r>
                      <a:endParaRPr lang="en-US" sz="11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730A3"/>
                          </a:solidFill>
                          <a:latin typeface="Inter" pitchFamily="34" charset="0"/>
                          <a:ea typeface="Inter" pitchFamily="34" charset="-122"/>
                          <a:cs typeface="Inter" pitchFamily="34" charset="-120"/>
                        </a:rPr>
                        <a:t>After (£14 / £39)</a:t>
                      </a:r>
                      <a:endParaRPr lang="en-US" sz="11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EF2FF"/>
                    </a:solidFill>
                  </a:tcPr>
                </a:tc>
              </a:tr>
              <a:tr h="384048">
                <a:tc>
                  <a:txBody>
                    <a:bodyPr/>
                    <a:lstStyle/>
                    <a:p>
                      <a:pPr indent="0" marL="0">
                        <a:buNone/>
                      </a:pPr>
                      <a:r>
                        <a:rPr lang="en-US" sz="1100" dirty="0">
                          <a:solidFill>
                            <a:srgbClr val="1E293B"/>
                          </a:solidFill>
                          <a:latin typeface="Inter" pitchFamily="34" charset="0"/>
                          <a:ea typeface="Inter" pitchFamily="34" charset="-122"/>
                          <a:cs typeface="Inter" pitchFamily="34" charset="-120"/>
                        </a:rPr>
                        <a:t>Launch ongoing/mo</a:t>
                      </a:r>
                      <a:endParaRPr lang="en-US" sz="11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64748B"/>
                          </a:solidFill>
                          <a:latin typeface="Inter" pitchFamily="34" charset="0"/>
                          <a:ea typeface="Inter" pitchFamily="34" charset="-122"/>
                          <a:cs typeface="Inter" pitchFamily="34" charset="-120"/>
                        </a:rPr>
                        <a:t>~£0.50</a:t>
                      </a:r>
                      <a:endParaRPr lang="en-US" sz="13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Inter" pitchFamily="34" charset="0"/>
                          <a:ea typeface="Inter" pitchFamily="34" charset="-122"/>
                          <a:cs typeface="Inter" pitchFamily="34" charset="-120"/>
                        </a:rPr>
                        <a:t>~£4.40</a:t>
                      </a:r>
                      <a:endParaRPr lang="en-US" sz="13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EF2FF"/>
                    </a:solidFill>
                  </a:tcPr>
                </a:tc>
              </a:tr>
              <a:tr h="384048">
                <a:tc>
                  <a:txBody>
                    <a:bodyPr/>
                    <a:lstStyle/>
                    <a:p>
                      <a:pPr indent="0" marL="0">
                        <a:buNone/>
                      </a:pPr>
                      <a:r>
                        <a:rPr lang="en-US" sz="1100" dirty="0">
                          <a:solidFill>
                            <a:srgbClr val="1E293B"/>
                          </a:solidFill>
                          <a:latin typeface="Inter" pitchFamily="34" charset="0"/>
                          <a:ea typeface="Inter" pitchFamily="34" charset="-122"/>
                          <a:cs typeface="Inter" pitchFamily="34" charset="-120"/>
                        </a:rPr>
                        <a:t>Launch ongoing/yr</a:t>
                      </a:r>
                      <a:endParaRPr lang="en-US" sz="11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64748B"/>
                          </a:solidFill>
                          <a:latin typeface="Inter" pitchFamily="34" charset="0"/>
                          <a:ea typeface="Inter" pitchFamily="34" charset="-122"/>
                          <a:cs typeface="Inter" pitchFamily="34" charset="-120"/>
                        </a:rPr>
                        <a:t>~£6</a:t>
                      </a:r>
                      <a:endParaRPr lang="en-US" sz="13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Inter" pitchFamily="34" charset="0"/>
                          <a:ea typeface="Inter" pitchFamily="34" charset="-122"/>
                          <a:cs typeface="Inter" pitchFamily="34" charset="-120"/>
                        </a:rPr>
                        <a:t>~£53</a:t>
                      </a:r>
                      <a:endParaRPr lang="en-US" sz="13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EF2FF"/>
                    </a:solidFill>
                  </a:tcPr>
                </a:tc>
              </a:tr>
              <a:tr h="384048">
                <a:tc>
                  <a:txBody>
                    <a:bodyPr/>
                    <a:lstStyle/>
                    <a:p>
                      <a:pPr indent="0" marL="0">
                        <a:buNone/>
                      </a:pPr>
                      <a:r>
                        <a:rPr lang="en-US" sz="1100" dirty="0">
                          <a:solidFill>
                            <a:srgbClr val="1E293B"/>
                          </a:solidFill>
                          <a:latin typeface="Inter" pitchFamily="34" charset="0"/>
                          <a:ea typeface="Inter" pitchFamily="34" charset="-122"/>
                          <a:cs typeface="Inter" pitchFamily="34" charset="-120"/>
                        </a:rPr>
                        <a:t>Growth ongoing/yr</a:t>
                      </a:r>
                      <a:endParaRPr lang="en-US" sz="11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64748B"/>
                          </a:solidFill>
                          <a:latin typeface="Inter" pitchFamily="34" charset="0"/>
                          <a:ea typeface="Inter" pitchFamily="34" charset="-122"/>
                          <a:cs typeface="Inter" pitchFamily="34" charset="-120"/>
                        </a:rPr>
                        <a:t>~£186</a:t>
                      </a:r>
                      <a:endParaRPr lang="en-US" sz="13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Inter" pitchFamily="34" charset="0"/>
                          <a:ea typeface="Inter" pitchFamily="34" charset="-122"/>
                          <a:cs typeface="Inter" pitchFamily="34" charset="-120"/>
                        </a:rPr>
                        <a:t>~£353</a:t>
                      </a:r>
                      <a:endParaRPr lang="en-US" sz="1300" dirty="0">
                        <a:latin typeface="Inter" charset="0"/>
                        <a:ea typeface="Inter" charset="0"/>
                        <a:cs typeface="Inter"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EF2FF"/>
                    </a:solidFill>
                  </a:tcPr>
                </a:tc>
              </a:tr>
            </a:tbl>
          </a:graphicData>
        </a:graphic>
      </p:graphicFrame>
      <p:sp>
        <p:nvSpPr>
          <p:cNvPr id="8" name="Shape 5"/>
          <p:cNvSpPr/>
          <p:nvPr/>
        </p:nvSpPr>
        <p:spPr>
          <a:xfrm>
            <a:off x="6400800" y="1828800"/>
            <a:ext cx="5212080" cy="2377440"/>
          </a:xfrm>
          <a:prstGeom prst="rect">
            <a:avLst/>
          </a:prstGeom>
          <a:solidFill>
            <a:srgbClr val="FFFFFF"/>
          </a:solidFill>
          <a:ln w="12700">
            <a:solidFill>
              <a:srgbClr val="E2E8F0"/>
            </a:solidFill>
            <a:prstDash val="solid"/>
          </a:ln>
        </p:spPr>
        <p:txBody>
          <a:bodyPr/>
          <a:p/>
        </p:txBody>
      </p:sp>
      <p:sp>
        <p:nvSpPr>
          <p:cNvPr id="9" name="Shape 6"/>
          <p:cNvSpPr/>
          <p:nvPr/>
        </p:nvSpPr>
        <p:spPr>
          <a:xfrm>
            <a:off x="6400800" y="1828800"/>
            <a:ext cx="5212080" cy="73152"/>
          </a:xfrm>
          <a:prstGeom prst="rect">
            <a:avLst/>
          </a:prstGeom>
          <a:solidFill>
            <a:srgbClr val="4F46E5"/>
          </a:solidFill>
          <a:ln w="12700">
            <a:solidFill>
              <a:srgbClr val="4F46E5"/>
            </a:solidFill>
            <a:prstDash val="solid"/>
          </a:ln>
        </p:spPr>
        <p:txBody>
          <a:bodyPr/>
          <a:p/>
        </p:txBody>
      </p:sp>
      <p:sp>
        <p:nvSpPr>
          <p:cNvPr id="10" name="Text 7"/>
          <p:cNvSpPr/>
          <p:nvPr/>
        </p:nvSpPr>
        <p:spPr>
          <a:xfrm>
            <a:off x="6675120" y="2011680"/>
            <a:ext cx="4663440" cy="274320"/>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WHAT THIS MEANS AT MONTH 18</a:t>
            </a:r>
            <a:endParaRPr lang="en-US" sz="1000" dirty="0"/>
          </a:p>
        </p:txBody>
      </p:sp>
      <p:sp>
        <p:nvSpPr>
          <p:cNvPr id="11" name="Text 8"/>
          <p:cNvSpPr/>
          <p:nvPr/>
        </p:nvSpPr>
        <p:spPr>
          <a:xfrm>
            <a:off x="6675120" y="2377440"/>
            <a:ext cx="4663440" cy="1737360"/>
          </a:xfrm>
          <a:prstGeom prst="rect">
            <a:avLst/>
          </a:prstGeom>
          <a:noFill/>
          <a:ln/>
        </p:spPr>
        <p:txBody>
          <a:bodyPr wrap="square" lIns="0" tIns="0" rIns="0" bIns="0" rtlCol="0" anchor="ctr"/>
          <a:lstStyle/>
          <a:p>
            <a:pPr indent="0" marL="0">
              <a:buNone/>
            </a:pPr>
            <a:r>
              <a:rPr lang="en-US" sz="1400" b="1" dirty="0">
                <a:solidFill>
                  <a:srgbClr val="1E293B"/>
                </a:solidFill>
                <a:latin typeface="Inter" pitchFamily="34" charset="0"/>
                <a:ea typeface="Inter" pitchFamily="34" charset="-122"/>
                <a:cs typeface="Inter" pitchFamily="34" charset="-120"/>
              </a:rPr>
              <a:t>Sprint base  ·  ~£135K MRR  ·  ~£1.6M ARR</a:t>
            </a:r>
            <a:endParaRPr lang="en-US" sz="1400" dirty="0"/>
          </a:p>
          <a:p>
            <a:pPr indent="0" marL="0">
              <a:buNone/>
            </a:pPr>
            <a:r>
              <a:rPr lang="en-US" sz="1100" dirty="0">
                <a:solidFill>
                  <a:srgbClr val="475569"/>
                </a:solidFill>
                <a:latin typeface="Inter" pitchFamily="34" charset="0"/>
                <a:ea typeface="Inter" pitchFamily="34" charset="-122"/>
                <a:cs typeface="Inter" pitchFamily="34" charset="-120"/>
              </a:rPr>
              <a:t>Real business at solo-founder scale. Profitable from ~month 6.</a:t>
            </a:r>
            <a:endParaRPr lang="en-US" sz="1400" dirty="0"/>
          </a:p>
          <a:p>
            <a:pPr indent="0" marL="0">
              <a:buNone/>
            </a:pPr>
            <a:r>
              <a:rPr lang="en-US" sz="600" dirty="0">
                <a:solidFill>
                  <a:srgbClr val="000000"/>
                </a:solidFill>
                <a:latin typeface="Inter" pitchFamily="34" charset="0"/>
                <a:ea typeface="Inter" pitchFamily="34" charset="-122"/>
                <a:cs typeface="Inter" pitchFamily="34" charset="-120"/>
              </a:rPr>
              <a:t> </a:t>
            </a:r>
            <a:endParaRPr lang="en-US" sz="1400" dirty="0"/>
          </a:p>
          <a:p>
            <a:pPr indent="0" marL="0">
              <a:buNone/>
            </a:pPr>
            <a:r>
              <a:rPr lang="en-US" sz="1400" b="1" dirty="0">
                <a:solidFill>
                  <a:srgbClr val="3730A3"/>
                </a:solidFill>
                <a:latin typeface="Inter" pitchFamily="34" charset="0"/>
                <a:ea typeface="Inter" pitchFamily="34" charset="-122"/>
                <a:cs typeface="Inter" pitchFamily="34" charset="-120"/>
              </a:rPr>
              <a:t>Sprint upside  ·  ~£380K MRR  ·  ~£4.5M ARR</a:t>
            </a:r>
            <a:endParaRPr lang="en-US" sz="1400" dirty="0"/>
          </a:p>
          <a:p>
            <a:pPr indent="0" marL="0">
              <a:buNone/>
            </a:pPr>
            <a:r>
              <a:rPr lang="en-US" sz="1100" dirty="0">
                <a:solidFill>
                  <a:srgbClr val="475569"/>
                </a:solidFill>
                <a:latin typeface="Inter" pitchFamily="34" charset="0"/>
                <a:ea typeface="Inter" pitchFamily="34" charset="-122"/>
                <a:cs typeface="Inter" pitchFamily="34" charset="-120"/>
              </a:rPr>
              <a:t>Acquirable or fundable. The capitalise window from slide 15.</a:t>
            </a:r>
            <a:endParaRPr lang="en-US" sz="1400" dirty="0"/>
          </a:p>
        </p:txBody>
      </p:sp>
      <p:sp>
        <p:nvSpPr>
          <p:cNvPr id="12" name="Shape 9"/>
          <p:cNvSpPr/>
          <p:nvPr/>
        </p:nvSpPr>
        <p:spPr>
          <a:xfrm>
            <a:off x="548640" y="4526280"/>
            <a:ext cx="11064240" cy="1874520"/>
          </a:xfrm>
          <a:prstGeom prst="rect">
            <a:avLst/>
          </a:prstGeom>
          <a:solidFill>
            <a:srgbClr val="0B1020"/>
          </a:solidFill>
          <a:ln w="12700">
            <a:solidFill>
              <a:srgbClr val="0B1020"/>
            </a:solidFill>
            <a:prstDash val="solid"/>
          </a:ln>
        </p:spPr>
        <p:txBody>
          <a:bodyPr/>
          <a:p/>
        </p:txBody>
      </p:sp>
      <p:sp>
        <p:nvSpPr>
          <p:cNvPr id="13" name="Text 10"/>
          <p:cNvSpPr/>
          <p:nvPr/>
        </p:nvSpPr>
        <p:spPr>
          <a:xfrm>
            <a:off x="777240" y="4663440"/>
            <a:ext cx="4572000"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HONEST FRAMING</a:t>
            </a:r>
            <a:endParaRPr lang="en-US" sz="900" dirty="0"/>
          </a:p>
        </p:txBody>
      </p:sp>
      <p:sp>
        <p:nvSpPr>
          <p:cNvPr id="14" name="Text 11"/>
          <p:cNvSpPr/>
          <p:nvPr/>
        </p:nvSpPr>
        <p:spPr>
          <a:xfrm>
            <a:off x="777240" y="4937760"/>
            <a:ext cx="10698480" cy="1417320"/>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Sprint base = real business. Sprint upside = acquirable or fundable.</a:t>
            </a:r>
            <a:endParaRPr lang="en-US" sz="1600" dirty="0"/>
          </a:p>
          <a:p>
            <a:pPr indent="0" marL="0">
              <a:buNone/>
            </a:pPr>
            <a:r>
              <a:rPr lang="en-US" sz="600" dirty="0">
                <a:solidFill>
                  <a:srgbClr val="000000"/>
                </a:solidFill>
                <a:latin typeface="Inter" pitchFamily="34" charset="0"/>
                <a:ea typeface="Inter" pitchFamily="34" charset="-122"/>
                <a:cs typeface="Inter" pitchFamily="34" charset="-120"/>
              </a:rPr>
              <a:t> </a:t>
            </a:r>
            <a:endParaRPr lang="en-US" sz="1600" dirty="0"/>
          </a:p>
          <a:p>
            <a:pPr indent="0" marL="0">
              <a:buNone/>
            </a:pPr>
            <a:r>
              <a:rPr lang="en-US" sz="1200" dirty="0">
                <a:solidFill>
                  <a:srgbClr val="CBD5E1"/>
                </a:solidFill>
                <a:latin typeface="Inter" pitchFamily="34" charset="0"/>
                <a:ea typeface="Inter" pitchFamily="34" charset="-122"/>
                <a:cs typeface="Inter" pitchFamily="34" charset="-120"/>
              </a:rPr>
              <a:t>Repricing lifts Launch margin ~9× and roughly doubles Growth margin per customer. </a:t>
            </a:r>
            <a:pPr indent="0" marL="0">
              <a:buNone/>
            </a:pPr>
            <a:r>
              <a:rPr lang="en-US" sz="1200" dirty="0">
                <a:solidFill>
                  <a:srgbClr val="CBD5E1"/>
                </a:solidFill>
                <a:latin typeface="Inter" pitchFamily="34" charset="0"/>
                <a:ea typeface="Inter" pitchFamily="34" charset="-122"/>
                <a:cs typeface="Inter" pitchFamily="34" charset="-120"/>
              </a:rPr>
              <a:t>Year-1 OPEX target ≈£90K (marketing £35K · modest hires £25K · legal/accounting £10K · sandbox overruns £8K · contingency £8K · tools £3K · support £1K) — no founder draw included; EBITDA figures are pre-comp. Sprint base clears £300K+ EBITDA at month 12 with ~5,000 paying. Sprint upside produces the metric profile that triggers pre-seed-into-seed or strategic-acquisition conversations.</a:t>
            </a:r>
            <a:endParaRPr lang="en-US" sz="1600" dirty="0"/>
          </a:p>
        </p:txBody>
      </p:sp>
      <p:sp>
        <p:nvSpPr>
          <p:cNvPr id="15" name="Text 12"/>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16" name="Text 13"/>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15  ·  THREE LANDING ZONES</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Where this lands at month 12-18.</a:t>
            </a:r>
            <a:endParaRPr lang="en-US" sz="3000" dirty="0"/>
          </a:p>
        </p:txBody>
      </p:sp>
      <p:sp>
        <p:nvSpPr>
          <p:cNvPr id="4" name="Shape 2"/>
          <p:cNvSpPr/>
          <p:nvPr/>
        </p:nvSpPr>
        <p:spPr>
          <a:xfrm>
            <a:off x="548640" y="1783080"/>
            <a:ext cx="3545738" cy="4160520"/>
          </a:xfrm>
          <a:prstGeom prst="rect">
            <a:avLst/>
          </a:prstGeom>
          <a:solidFill>
            <a:srgbClr val="FFFBEB"/>
          </a:solidFill>
          <a:ln w="25400">
            <a:solidFill>
              <a:srgbClr val="F59E0B"/>
            </a:solidFill>
            <a:prstDash val="solid"/>
          </a:ln>
        </p:spPr>
        <p:txBody>
          <a:bodyPr/>
          <a:p/>
        </p:txBody>
      </p:sp>
      <p:sp>
        <p:nvSpPr>
          <p:cNvPr id="5" name="Shape 3"/>
          <p:cNvSpPr/>
          <p:nvPr/>
        </p:nvSpPr>
        <p:spPr>
          <a:xfrm>
            <a:off x="548640" y="1783080"/>
            <a:ext cx="3545738" cy="292608"/>
          </a:xfrm>
          <a:prstGeom prst="rect">
            <a:avLst/>
          </a:prstGeom>
          <a:solidFill>
            <a:srgbClr val="F59E0B"/>
          </a:solidFill>
          <a:ln w="12700">
            <a:solidFill>
              <a:srgbClr val="F59E0B"/>
            </a:solidFill>
            <a:prstDash val="solid"/>
          </a:ln>
        </p:spPr>
        <p:txBody>
          <a:bodyPr/>
          <a:p/>
        </p:txBody>
      </p:sp>
      <p:sp>
        <p:nvSpPr>
          <p:cNvPr id="6" name="Text 4"/>
          <p:cNvSpPr/>
          <p:nvPr/>
        </p:nvSpPr>
        <p:spPr>
          <a:xfrm>
            <a:off x="685800" y="1801368"/>
            <a:ext cx="3271418" cy="256032"/>
          </a:xfrm>
          <a:prstGeom prst="rect">
            <a:avLst/>
          </a:prstGeom>
          <a:noFill/>
          <a:ln/>
        </p:spPr>
        <p:txBody>
          <a:bodyPr wrap="square" lIns="0" tIns="0" rIns="0" bIns="0" rtlCol="0" anchor="ctr"/>
          <a:lstStyle/>
          <a:p>
            <a:pPr algn="ctr" indent="0" marL="0">
              <a:buNone/>
            </a:pPr>
            <a:r>
              <a:rPr lang="en-US" sz="800" b="1" spc="400" kern="0" dirty="0">
                <a:solidFill>
                  <a:srgbClr val="92400E"/>
                </a:solidFill>
                <a:latin typeface="JetBrains Mono" pitchFamily="34" charset="0"/>
                <a:ea typeface="JetBrains Mono" pitchFamily="34" charset="-122"/>
                <a:cs typeface="JetBrains Mono" pitchFamily="34" charset="-120"/>
              </a:rPr>
              <a:t>MOST PLAUSIBLE UPSIDE PATH</a:t>
            </a:r>
            <a:endParaRPr lang="en-US" sz="800" dirty="0"/>
          </a:p>
        </p:txBody>
      </p:sp>
      <p:sp>
        <p:nvSpPr>
          <p:cNvPr id="7" name="Text 5"/>
          <p:cNvSpPr/>
          <p:nvPr/>
        </p:nvSpPr>
        <p:spPr>
          <a:xfrm>
            <a:off x="822960" y="2194560"/>
            <a:ext cx="2997098" cy="274320"/>
          </a:xfrm>
          <a:prstGeom prst="rect">
            <a:avLst/>
          </a:prstGeom>
          <a:noFill/>
          <a:ln/>
        </p:spPr>
        <p:txBody>
          <a:bodyPr wrap="square" lIns="0" tIns="0" rIns="0" bIns="0" rtlCol="0" anchor="ctr"/>
          <a:lstStyle/>
          <a:p>
            <a:pPr indent="0" marL="0">
              <a:buNone/>
            </a:pPr>
            <a:r>
              <a:rPr lang="en-US" sz="900" b="1" spc="400" kern="0" dirty="0">
                <a:solidFill>
                  <a:srgbClr val="92400E"/>
                </a:solidFill>
                <a:latin typeface="JetBrains Mono" pitchFamily="34" charset="0"/>
                <a:ea typeface="JetBrains Mono" pitchFamily="34" charset="-122"/>
                <a:cs typeface="JetBrains Mono" pitchFamily="34" charset="-120"/>
              </a:rPr>
              <a:t>PRIMARY UPSIDE</a:t>
            </a:r>
            <a:endParaRPr lang="en-US" sz="900" dirty="0"/>
          </a:p>
        </p:txBody>
      </p:sp>
      <p:sp>
        <p:nvSpPr>
          <p:cNvPr id="8" name="Text 6"/>
          <p:cNvSpPr/>
          <p:nvPr/>
        </p:nvSpPr>
        <p:spPr>
          <a:xfrm>
            <a:off x="822960" y="2468880"/>
            <a:ext cx="2997098" cy="45720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Strategic acquisition</a:t>
            </a:r>
            <a:endParaRPr lang="en-US" sz="1800" dirty="0"/>
          </a:p>
        </p:txBody>
      </p:sp>
      <p:sp>
        <p:nvSpPr>
          <p:cNvPr id="9" name="Text 7"/>
          <p:cNvSpPr/>
          <p:nvPr/>
        </p:nvSpPr>
        <p:spPr>
          <a:xfrm>
            <a:off x="822960" y="2971800"/>
            <a:ext cx="2997098" cy="640080"/>
          </a:xfrm>
          <a:prstGeom prst="rect">
            <a:avLst/>
          </a:prstGeom>
          <a:noFill/>
          <a:ln/>
        </p:spPr>
        <p:txBody>
          <a:bodyPr wrap="square" lIns="0" tIns="0" rIns="0" bIns="0" rtlCol="0" anchor="ctr"/>
          <a:lstStyle/>
          <a:p>
            <a:pPr indent="0" marL="0">
              <a:buNone/>
            </a:pPr>
            <a:r>
              <a:rPr lang="en-US" sz="3200" b="1" dirty="0">
                <a:solidFill>
                  <a:srgbClr val="1E293B"/>
                </a:solidFill>
                <a:latin typeface="Inter" pitchFamily="34" charset="0"/>
                <a:ea typeface="Inter" pitchFamily="34" charset="-122"/>
                <a:cs typeface="Inter" pitchFamily="34" charset="-120"/>
              </a:rPr>
              <a:t>$20-100M</a:t>
            </a:r>
            <a:endParaRPr lang="en-US" sz="3200" dirty="0"/>
          </a:p>
        </p:txBody>
      </p:sp>
      <p:sp>
        <p:nvSpPr>
          <p:cNvPr id="10" name="Text 8"/>
          <p:cNvSpPr/>
          <p:nvPr/>
        </p:nvSpPr>
        <p:spPr>
          <a:xfrm>
            <a:off x="822960" y="3611880"/>
            <a:ext cx="2997098" cy="228600"/>
          </a:xfrm>
          <a:prstGeom prst="rect">
            <a:avLst/>
          </a:prstGeom>
          <a:noFill/>
          <a:ln/>
        </p:spPr>
        <p:txBody>
          <a:bodyPr wrap="square" lIns="0" tIns="0" rIns="0" bIns="0" rtlCol="0" anchor="ctr"/>
          <a:lstStyle/>
          <a:p>
            <a:pPr indent="0" marL="0">
              <a:buNone/>
            </a:pPr>
            <a:r>
              <a:rPr lang="en-US" sz="900" dirty="0">
                <a:solidFill>
                  <a:srgbClr val="64748B"/>
                </a:solidFill>
                <a:latin typeface="JetBrains Mono" pitchFamily="34" charset="0"/>
                <a:ea typeface="JetBrains Mono" pitchFamily="34" charset="-122"/>
                <a:cs typeface="JetBrains Mono" pitchFamily="34" charset="-120"/>
              </a:rPr>
              <a:t>category precedents</a:t>
            </a:r>
            <a:endParaRPr lang="en-US" sz="900" dirty="0"/>
          </a:p>
        </p:txBody>
      </p:sp>
      <p:sp>
        <p:nvSpPr>
          <p:cNvPr id="11" name="Text 9"/>
          <p:cNvSpPr/>
          <p:nvPr/>
        </p:nvSpPr>
        <p:spPr>
          <a:xfrm>
            <a:off x="822960" y="3931920"/>
            <a:ext cx="2997098" cy="73152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5-15K active users, clean positioning, strategic alignment with a major AI tool vendor at month 12-18.</a:t>
            </a:r>
            <a:endParaRPr lang="en-US" sz="1000" dirty="0"/>
          </a:p>
        </p:txBody>
      </p:sp>
      <p:sp>
        <p:nvSpPr>
          <p:cNvPr id="12" name="Text 10"/>
          <p:cNvSpPr/>
          <p:nvPr/>
        </p:nvSpPr>
        <p:spPr>
          <a:xfrm>
            <a:off x="822960" y="4663440"/>
            <a:ext cx="2997098" cy="594360"/>
          </a:xfrm>
          <a:prstGeom prst="rect">
            <a:avLst/>
          </a:prstGeom>
          <a:noFill/>
          <a:ln/>
        </p:spPr>
        <p:txBody>
          <a:bodyPr wrap="square" lIns="0" tIns="0" rIns="0" bIns="0" rtlCol="0" anchor="ctr"/>
          <a:lstStyle/>
          <a:p>
            <a:pPr indent="0" marL="0">
              <a:buNone/>
            </a:pPr>
            <a:r>
              <a:rPr lang="en-US" sz="1000" i="1" dirty="0">
                <a:solidFill>
                  <a:srgbClr val="475569"/>
                </a:solidFill>
                <a:latin typeface="Inter" pitchFamily="34" charset="0"/>
                <a:ea typeface="Inter" pitchFamily="34" charset="-122"/>
                <a:cs typeface="Inter" pitchFamily="34" charset="-120"/>
              </a:rPr>
              <a:t>Plausible acquirers: Anthropic, Cursor, Windsurf, Vercel, Supabase, Stripe.</a:t>
            </a:r>
            <a:endParaRPr lang="en-US" sz="1000" dirty="0"/>
          </a:p>
        </p:txBody>
      </p:sp>
      <p:sp>
        <p:nvSpPr>
          <p:cNvPr id="13" name="Text 11"/>
          <p:cNvSpPr/>
          <p:nvPr/>
        </p:nvSpPr>
        <p:spPr>
          <a:xfrm>
            <a:off x="822960" y="5212080"/>
            <a:ext cx="2997098" cy="685800"/>
          </a:xfrm>
          <a:prstGeom prst="rect">
            <a:avLst/>
          </a:prstGeom>
          <a:noFill/>
          <a:ln/>
        </p:spPr>
        <p:txBody>
          <a:bodyPr wrap="square" lIns="0" tIns="0" rIns="0" bIns="0" rtlCol="0" anchor="ctr"/>
          <a:lstStyle/>
          <a:p>
            <a:pPr indent="0" marL="0">
              <a:buNone/>
            </a:pPr>
            <a:r>
              <a:rPr lang="en-US" sz="900" dirty="0">
                <a:solidFill>
                  <a:srgbClr val="475569"/>
                </a:solidFill>
                <a:latin typeface="Inter" pitchFamily="34" charset="0"/>
                <a:ea typeface="Inter" pitchFamily="34" charset="-122"/>
                <a:cs typeface="Inter" pitchFamily="34" charset="-120"/>
              </a:rPr>
              <a:t>Anthropic: Claude Code needs a deployment layer it doesn't own. Vercel: precedent of acquiring rivals (Nuxt Labs, Splitbee). Supabase: deepens platform stickiness. Stripe: payments-side bundling.</a:t>
            </a:r>
            <a:endParaRPr lang="en-US" sz="900" dirty="0"/>
          </a:p>
        </p:txBody>
      </p:sp>
      <p:sp>
        <p:nvSpPr>
          <p:cNvPr id="14" name="Shape 12"/>
          <p:cNvSpPr/>
          <p:nvPr/>
        </p:nvSpPr>
        <p:spPr>
          <a:xfrm>
            <a:off x="4322978" y="1783080"/>
            <a:ext cx="3545738" cy="4160520"/>
          </a:xfrm>
          <a:prstGeom prst="rect">
            <a:avLst/>
          </a:prstGeom>
          <a:solidFill>
            <a:srgbClr val="EEF2FF"/>
          </a:solidFill>
          <a:ln w="25400">
            <a:solidFill>
              <a:srgbClr val="4F46E5"/>
            </a:solidFill>
            <a:prstDash val="solid"/>
          </a:ln>
        </p:spPr>
        <p:txBody>
          <a:bodyPr/>
          <a:p/>
        </p:txBody>
      </p:sp>
      <p:sp>
        <p:nvSpPr>
          <p:cNvPr id="15" name="Shape 13"/>
          <p:cNvSpPr/>
          <p:nvPr/>
        </p:nvSpPr>
        <p:spPr>
          <a:xfrm>
            <a:off x="4322978" y="1783080"/>
            <a:ext cx="3545738" cy="292608"/>
          </a:xfrm>
          <a:prstGeom prst="rect">
            <a:avLst/>
          </a:prstGeom>
          <a:solidFill>
            <a:srgbClr val="4F46E5"/>
          </a:solidFill>
          <a:ln w="12700">
            <a:solidFill>
              <a:srgbClr val="4F46E5"/>
            </a:solidFill>
            <a:prstDash val="solid"/>
          </a:ln>
        </p:spPr>
        <p:txBody>
          <a:bodyPr/>
          <a:p/>
        </p:txBody>
      </p:sp>
      <p:sp>
        <p:nvSpPr>
          <p:cNvPr id="16" name="Text 14"/>
          <p:cNvSpPr/>
          <p:nvPr/>
        </p:nvSpPr>
        <p:spPr>
          <a:xfrm>
            <a:off x="4460138" y="1801368"/>
            <a:ext cx="3271418" cy="25603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JetBrains Mono" pitchFamily="34" charset="0"/>
                <a:ea typeface="JetBrains Mono" pitchFamily="34" charset="-122"/>
                <a:cs typeface="JetBrains Mono" pitchFamily="34" charset="-120"/>
              </a:rPr>
              <a:t>IF METRICS COMPOUND</a:t>
            </a:r>
            <a:endParaRPr lang="en-US" sz="800" dirty="0"/>
          </a:p>
        </p:txBody>
      </p:sp>
      <p:sp>
        <p:nvSpPr>
          <p:cNvPr id="17" name="Text 15"/>
          <p:cNvSpPr/>
          <p:nvPr/>
        </p:nvSpPr>
        <p:spPr>
          <a:xfrm>
            <a:off x="4597298" y="2194560"/>
            <a:ext cx="2997098"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HYPERGROWTH</a:t>
            </a:r>
            <a:endParaRPr lang="en-US" sz="900" dirty="0"/>
          </a:p>
        </p:txBody>
      </p:sp>
      <p:sp>
        <p:nvSpPr>
          <p:cNvPr id="18" name="Text 16"/>
          <p:cNvSpPr/>
          <p:nvPr/>
        </p:nvSpPr>
        <p:spPr>
          <a:xfrm>
            <a:off x="4597298" y="2468880"/>
            <a:ext cx="2997098" cy="45720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Pre-seed → seed raise</a:t>
            </a:r>
            <a:endParaRPr lang="en-US" sz="1800" dirty="0"/>
          </a:p>
        </p:txBody>
      </p:sp>
      <p:sp>
        <p:nvSpPr>
          <p:cNvPr id="19" name="Text 17"/>
          <p:cNvSpPr/>
          <p:nvPr/>
        </p:nvSpPr>
        <p:spPr>
          <a:xfrm>
            <a:off x="4597298" y="2971800"/>
            <a:ext cx="2997098" cy="640080"/>
          </a:xfrm>
          <a:prstGeom prst="rect">
            <a:avLst/>
          </a:prstGeom>
          <a:noFill/>
          <a:ln/>
        </p:spPr>
        <p:txBody>
          <a:bodyPr wrap="square" lIns="0" tIns="0" rIns="0" bIns="0" rtlCol="0" anchor="ctr"/>
          <a:lstStyle/>
          <a:p>
            <a:pPr indent="0" marL="0">
              <a:buNone/>
            </a:pPr>
            <a:r>
              <a:rPr lang="en-US" sz="3200" b="1" dirty="0">
                <a:solidFill>
                  <a:srgbClr val="1E293B"/>
                </a:solidFill>
                <a:latin typeface="Inter" pitchFamily="34" charset="0"/>
                <a:ea typeface="Inter" pitchFamily="34" charset="-122"/>
                <a:cs typeface="Inter" pitchFamily="34" charset="-120"/>
              </a:rPr>
              <a:t>£20-50M</a:t>
            </a:r>
            <a:endParaRPr lang="en-US" sz="3200" dirty="0"/>
          </a:p>
        </p:txBody>
      </p:sp>
      <p:sp>
        <p:nvSpPr>
          <p:cNvPr id="20" name="Text 18"/>
          <p:cNvSpPr/>
          <p:nvPr/>
        </p:nvSpPr>
        <p:spPr>
          <a:xfrm>
            <a:off x="4597298" y="3611880"/>
            <a:ext cx="2997098" cy="228600"/>
          </a:xfrm>
          <a:prstGeom prst="rect">
            <a:avLst/>
          </a:prstGeom>
          <a:noFill/>
          <a:ln/>
        </p:spPr>
        <p:txBody>
          <a:bodyPr wrap="square" lIns="0" tIns="0" rIns="0" bIns="0" rtlCol="0" anchor="ctr"/>
          <a:lstStyle/>
          <a:p>
            <a:pPr indent="0" marL="0">
              <a:buNone/>
            </a:pPr>
            <a:r>
              <a:rPr lang="en-US" sz="900" dirty="0">
                <a:solidFill>
                  <a:srgbClr val="64748B"/>
                </a:solidFill>
                <a:latin typeface="JetBrains Mono" pitchFamily="34" charset="0"/>
                <a:ea typeface="JetBrains Mono" pitchFamily="34" charset="-122"/>
                <a:cs typeface="JetBrains Mono" pitchFamily="34" charset="-120"/>
              </a:rPr>
              <a:t>valuation band</a:t>
            </a:r>
            <a:endParaRPr lang="en-US" sz="900" dirty="0"/>
          </a:p>
        </p:txBody>
      </p:sp>
      <p:sp>
        <p:nvSpPr>
          <p:cNvPr id="21" name="Text 19"/>
          <p:cNvSpPr/>
          <p:nvPr/>
        </p:nvSpPr>
        <p:spPr>
          <a:xfrm>
            <a:off x="4597298" y="3931920"/>
            <a:ext cx="2997098" cy="73152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£100-300K MRR. 30%+ MoM growth still compounding at month 12-15.</a:t>
            </a:r>
            <a:endParaRPr lang="en-US" sz="1000" dirty="0"/>
          </a:p>
        </p:txBody>
      </p:sp>
      <p:sp>
        <p:nvSpPr>
          <p:cNvPr id="22" name="Text 20"/>
          <p:cNvSpPr/>
          <p:nvPr/>
        </p:nvSpPr>
        <p:spPr>
          <a:xfrm>
            <a:off x="4597298" y="4663440"/>
            <a:ext cx="2997098" cy="594360"/>
          </a:xfrm>
          <a:prstGeom prst="rect">
            <a:avLst/>
          </a:prstGeom>
          <a:noFill/>
          <a:ln/>
        </p:spPr>
        <p:txBody>
          <a:bodyPr wrap="square" lIns="0" tIns="0" rIns="0" bIns="0" rtlCol="0" anchor="ctr"/>
          <a:lstStyle/>
          <a:p>
            <a:pPr indent="0" marL="0">
              <a:buNone/>
            </a:pPr>
            <a:r>
              <a:rPr lang="en-US" sz="1000" i="1" dirty="0">
                <a:solidFill>
                  <a:srgbClr val="475569"/>
                </a:solidFill>
                <a:latin typeface="Inter" pitchFamily="34" charset="0"/>
                <a:ea typeface="Inter" pitchFamily="34" charset="-122"/>
                <a:cs typeface="Inter" pitchFamily="34" charset="-120"/>
              </a:rPr>
              <a:t>Targets: Earlybird AI, Index, Seedcamp, EF, Antler. Targeted founder-led intros via creator network.</a:t>
            </a:r>
            <a:endParaRPr lang="en-US" sz="1000" dirty="0"/>
          </a:p>
        </p:txBody>
      </p:sp>
      <p:sp>
        <p:nvSpPr>
          <p:cNvPr id="23" name="Text 21"/>
          <p:cNvSpPr/>
          <p:nvPr/>
        </p:nvSpPr>
        <p:spPr>
          <a:xfrm>
            <a:off x="4597298" y="5212080"/>
            <a:ext cx="2997098" cy="685800"/>
          </a:xfrm>
          <a:prstGeom prst="rect">
            <a:avLst/>
          </a:prstGeom>
          <a:noFill/>
          <a:ln/>
        </p:spPr>
        <p:txBody>
          <a:bodyPr wrap="square" lIns="0" tIns="0" rIns="0" bIns="0" rtlCol="0" anchor="ctr"/>
          <a:lstStyle/>
          <a:p>
            <a:pPr indent="0" marL="0">
              <a:buNone/>
            </a:pPr>
            <a:r>
              <a:rPr lang="en-US" sz="900" dirty="0">
                <a:solidFill>
                  <a:srgbClr val="475569"/>
                </a:solidFill>
                <a:latin typeface="Inter" pitchFamily="34" charset="0"/>
                <a:ea typeface="Inter" pitchFamily="34" charset="-122"/>
                <a:cs typeface="Inter" pitchFamily="34" charset="-120"/>
              </a:rPr>
              <a:t>Funds team expansion (5-8 hires), full paid-acquisition engine, product expansion (second region, signed mobile builds, partnership integrations).</a:t>
            </a:r>
            <a:endParaRPr lang="en-US" sz="900" dirty="0"/>
          </a:p>
        </p:txBody>
      </p:sp>
      <p:sp>
        <p:nvSpPr>
          <p:cNvPr id="24" name="Shape 22"/>
          <p:cNvSpPr/>
          <p:nvPr/>
        </p:nvSpPr>
        <p:spPr>
          <a:xfrm>
            <a:off x="8097317" y="1783080"/>
            <a:ext cx="3545738" cy="4160520"/>
          </a:xfrm>
          <a:prstGeom prst="rect">
            <a:avLst/>
          </a:prstGeom>
          <a:solidFill>
            <a:srgbClr val="F8FAFC"/>
          </a:solidFill>
          <a:ln w="25400">
            <a:solidFill>
              <a:srgbClr val="94A3B8"/>
            </a:solidFill>
            <a:prstDash val="solid"/>
          </a:ln>
        </p:spPr>
        <p:txBody>
          <a:bodyPr/>
          <a:p/>
        </p:txBody>
      </p:sp>
      <p:sp>
        <p:nvSpPr>
          <p:cNvPr id="25" name="Shape 23"/>
          <p:cNvSpPr/>
          <p:nvPr/>
        </p:nvSpPr>
        <p:spPr>
          <a:xfrm>
            <a:off x="8097317" y="1783080"/>
            <a:ext cx="3545738" cy="292608"/>
          </a:xfrm>
          <a:prstGeom prst="rect">
            <a:avLst/>
          </a:prstGeom>
          <a:solidFill>
            <a:srgbClr val="94A3B8"/>
          </a:solidFill>
          <a:ln w="12700">
            <a:solidFill>
              <a:srgbClr val="94A3B8"/>
            </a:solidFill>
            <a:prstDash val="solid"/>
          </a:ln>
        </p:spPr>
        <p:txBody>
          <a:bodyPr/>
          <a:p/>
        </p:txBody>
      </p:sp>
      <p:sp>
        <p:nvSpPr>
          <p:cNvPr id="26" name="Text 24"/>
          <p:cNvSpPr/>
          <p:nvPr/>
        </p:nvSpPr>
        <p:spPr>
          <a:xfrm>
            <a:off x="8234477" y="1801368"/>
            <a:ext cx="3271418" cy="25603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JetBrains Mono" pitchFamily="34" charset="0"/>
                <a:ea typeface="JetBrains Mono" pitchFamily="34" charset="-122"/>
                <a:cs typeface="JetBrains Mono" pitchFamily="34" charset="-120"/>
              </a:rPr>
              <a:t>THE FLOOR IF HYPERGROWTH MISSES</a:t>
            </a:r>
            <a:endParaRPr lang="en-US" sz="800" dirty="0"/>
          </a:p>
        </p:txBody>
      </p:sp>
      <p:sp>
        <p:nvSpPr>
          <p:cNvPr id="27" name="Text 25"/>
          <p:cNvSpPr/>
          <p:nvPr/>
        </p:nvSpPr>
        <p:spPr>
          <a:xfrm>
            <a:off x="8371637" y="2194560"/>
            <a:ext cx="2997098" cy="274320"/>
          </a:xfrm>
          <a:prstGeom prst="rect">
            <a:avLst/>
          </a:prstGeom>
          <a:noFill/>
          <a:ln/>
        </p:spPr>
        <p:txBody>
          <a:bodyPr wrap="square" lIns="0" tIns="0" rIns="0" bIns="0" rtlCol="0" anchor="ctr"/>
          <a:lstStyle/>
          <a:p>
            <a:pPr indent="0" marL="0">
              <a:buNone/>
            </a:pPr>
            <a:r>
              <a:rPr lang="en-US" sz="900" b="1" spc="400" kern="0" dirty="0">
                <a:solidFill>
                  <a:srgbClr val="64748B"/>
                </a:solidFill>
                <a:latin typeface="JetBrains Mono" pitchFamily="34" charset="0"/>
                <a:ea typeface="JetBrains Mono" pitchFamily="34" charset="-122"/>
                <a:cs typeface="JetBrains Mono" pitchFamily="34" charset="-120"/>
              </a:rPr>
              <a:t>CONSOLATION</a:t>
            </a:r>
            <a:endParaRPr lang="en-US" sz="900" dirty="0"/>
          </a:p>
        </p:txBody>
      </p:sp>
      <p:sp>
        <p:nvSpPr>
          <p:cNvPr id="28" name="Text 26"/>
          <p:cNvSpPr/>
          <p:nvPr/>
        </p:nvSpPr>
        <p:spPr>
          <a:xfrm>
            <a:off x="8371637" y="2468880"/>
            <a:ext cx="2997098" cy="457200"/>
          </a:xfrm>
          <a:prstGeom prst="rect">
            <a:avLst/>
          </a:prstGeom>
          <a:noFill/>
          <a:ln/>
        </p:spPr>
        <p:txBody>
          <a:bodyPr wrap="square" lIns="0" tIns="0" rIns="0" bIns="0" rtlCol="0" anchor="ctr"/>
          <a:lstStyle/>
          <a:p>
            <a:pPr indent="0" marL="0">
              <a:buNone/>
            </a:pPr>
            <a:r>
              <a:rPr lang="en-US" sz="1800" b="1" dirty="0">
                <a:solidFill>
                  <a:srgbClr val="1E293B"/>
                </a:solidFill>
                <a:latin typeface="Inter" pitchFamily="34" charset="0"/>
                <a:ea typeface="Inter" pitchFamily="34" charset="-122"/>
                <a:cs typeface="Inter" pitchFamily="34" charset="-120"/>
              </a:rPr>
              <a:t>Lifestyle landing zone</a:t>
            </a:r>
            <a:endParaRPr lang="en-US" sz="1800" dirty="0"/>
          </a:p>
        </p:txBody>
      </p:sp>
      <p:sp>
        <p:nvSpPr>
          <p:cNvPr id="29" name="Text 27"/>
          <p:cNvSpPr/>
          <p:nvPr/>
        </p:nvSpPr>
        <p:spPr>
          <a:xfrm>
            <a:off x="8371637" y="2971800"/>
            <a:ext cx="2997098" cy="640080"/>
          </a:xfrm>
          <a:prstGeom prst="rect">
            <a:avLst/>
          </a:prstGeom>
          <a:noFill/>
          <a:ln/>
        </p:spPr>
        <p:txBody>
          <a:bodyPr wrap="square" lIns="0" tIns="0" rIns="0" bIns="0" rtlCol="0" anchor="ctr"/>
          <a:lstStyle/>
          <a:p>
            <a:pPr indent="0" marL="0">
              <a:buNone/>
            </a:pPr>
            <a:r>
              <a:rPr lang="en-US" sz="3200" b="1" dirty="0">
                <a:solidFill>
                  <a:srgbClr val="1E293B"/>
                </a:solidFill>
                <a:latin typeface="Inter" pitchFamily="34" charset="0"/>
                <a:ea typeface="Inter" pitchFamily="34" charset="-122"/>
                <a:cs typeface="Inter" pitchFamily="34" charset="-120"/>
              </a:rPr>
              <a:t>£25-65K</a:t>
            </a:r>
            <a:endParaRPr lang="en-US" sz="3200" dirty="0"/>
          </a:p>
        </p:txBody>
      </p:sp>
      <p:sp>
        <p:nvSpPr>
          <p:cNvPr id="30" name="Text 28"/>
          <p:cNvSpPr/>
          <p:nvPr/>
        </p:nvSpPr>
        <p:spPr>
          <a:xfrm>
            <a:off x="8371637" y="3611880"/>
            <a:ext cx="2997098" cy="228600"/>
          </a:xfrm>
          <a:prstGeom prst="rect">
            <a:avLst/>
          </a:prstGeom>
          <a:noFill/>
          <a:ln/>
        </p:spPr>
        <p:txBody>
          <a:bodyPr wrap="square" lIns="0" tIns="0" rIns="0" bIns="0" rtlCol="0" anchor="ctr"/>
          <a:lstStyle/>
          <a:p>
            <a:pPr indent="0" marL="0">
              <a:buNone/>
            </a:pPr>
            <a:r>
              <a:rPr lang="en-US" sz="900" dirty="0">
                <a:solidFill>
                  <a:srgbClr val="64748B"/>
                </a:solidFill>
                <a:latin typeface="JetBrains Mono" pitchFamily="34" charset="0"/>
                <a:ea typeface="JetBrains Mono" pitchFamily="34" charset="-122"/>
                <a:cs typeface="JetBrains Mono" pitchFamily="34" charset="-120"/>
              </a:rPr>
              <a:t>solo income / month</a:t>
            </a:r>
            <a:endParaRPr lang="en-US" sz="900" dirty="0"/>
          </a:p>
        </p:txBody>
      </p:sp>
      <p:sp>
        <p:nvSpPr>
          <p:cNvPr id="31" name="Text 29"/>
          <p:cNvSpPr/>
          <p:nvPr/>
        </p:nvSpPr>
        <p:spPr>
          <a:xfrm>
            <a:off x="8371637" y="3931920"/>
            <a:ext cx="2997098" cy="73152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£30-80K MRR plateaued at month 12-18. Sprint base outcome.</a:t>
            </a:r>
            <a:endParaRPr lang="en-US" sz="1000" dirty="0"/>
          </a:p>
        </p:txBody>
      </p:sp>
      <p:sp>
        <p:nvSpPr>
          <p:cNvPr id="32" name="Text 30"/>
          <p:cNvSpPr/>
          <p:nvPr/>
        </p:nvSpPr>
        <p:spPr>
          <a:xfrm>
            <a:off x="8371637" y="4663440"/>
            <a:ext cx="2997098" cy="594360"/>
          </a:xfrm>
          <a:prstGeom prst="rect">
            <a:avLst/>
          </a:prstGeom>
          <a:noFill/>
          <a:ln/>
        </p:spPr>
        <p:txBody>
          <a:bodyPr wrap="square" lIns="0" tIns="0" rIns="0" bIns="0" rtlCol="0" anchor="ctr"/>
          <a:lstStyle/>
          <a:p>
            <a:pPr indent="0" marL="0">
              <a:buNone/>
            </a:pPr>
            <a:r>
              <a:rPr lang="en-US" sz="1000" i="1" dirty="0">
                <a:solidFill>
                  <a:srgbClr val="475569"/>
                </a:solidFill>
                <a:latin typeface="Inter" pitchFamily="34" charset="0"/>
                <a:ea typeface="Inter" pitchFamily="34" charset="-122"/>
                <a:cs typeface="Inter" pitchFamily="34" charset="-120"/>
              </a:rPr>
              <a:t>No external capital, no team. Founder-led indefinitely. Capacity for incremental product investment from cashflow.</a:t>
            </a:r>
            <a:endParaRPr lang="en-US" sz="1000" dirty="0"/>
          </a:p>
        </p:txBody>
      </p:sp>
      <p:sp>
        <p:nvSpPr>
          <p:cNvPr id="33" name="Text 31"/>
          <p:cNvSpPr/>
          <p:nvPr/>
        </p:nvSpPr>
        <p:spPr>
          <a:xfrm>
            <a:off x="8371637" y="5212080"/>
            <a:ext cx="2997098" cy="685800"/>
          </a:xfrm>
          <a:prstGeom prst="rect">
            <a:avLst/>
          </a:prstGeom>
          <a:noFill/>
          <a:ln/>
        </p:spPr>
        <p:txBody>
          <a:bodyPr wrap="square" lIns="0" tIns="0" rIns="0" bIns="0" rtlCol="0" anchor="ctr"/>
          <a:lstStyle/>
          <a:p>
            <a:pPr indent="0" marL="0">
              <a:buNone/>
            </a:pPr>
            <a:r>
              <a:rPr lang="en-US" sz="900" dirty="0">
                <a:solidFill>
                  <a:srgbClr val="475569"/>
                </a:solidFill>
                <a:latin typeface="Inter" pitchFamily="34" charset="0"/>
                <a:ea typeface="Inter" pitchFamily="34" charset="-122"/>
                <a:cs typeface="Inter" pitchFamily="34" charset="-120"/>
              </a:rPr>
              <a:t>Fine consolation outcome. Don't target this — this is where you land if both the acquisition window and the hypergrowth raise miss. Decision: continue solo, or wind down.</a:t>
            </a:r>
            <a:endParaRPr lang="en-US" sz="900" dirty="0"/>
          </a:p>
        </p:txBody>
      </p:sp>
      <p:sp>
        <p:nvSpPr>
          <p:cNvPr id="34" name="Text 32"/>
          <p:cNvSpPr/>
          <p:nvPr/>
        </p:nvSpPr>
        <p:spPr>
          <a:xfrm>
            <a:off x="548640" y="6126480"/>
            <a:ext cx="10972800" cy="274320"/>
          </a:xfrm>
          <a:prstGeom prst="rect">
            <a:avLst/>
          </a:prstGeom>
          <a:noFill/>
          <a:ln/>
        </p:spPr>
        <p:txBody>
          <a:bodyPr wrap="square" lIns="0" tIns="0" rIns="0" bIns="0" rtlCol="0" anchor="ctr"/>
          <a:lstStyle/>
          <a:p>
            <a:pPr indent="0" marL="0">
              <a:buNone/>
            </a:pPr>
            <a:r>
              <a:rPr lang="en-US" sz="900" i="1" dirty="0">
                <a:solidFill>
                  <a:srgbClr val="64748B"/>
                </a:solidFill>
                <a:latin typeface="JetBrains Mono" pitchFamily="34" charset="0"/>
                <a:ea typeface="JetBrains Mono" pitchFamily="34" charset="-122"/>
                <a:cs typeface="JetBrains Mono" pitchFamily="34" charset="-120"/>
              </a:rPr>
              <a:t>Acquisition framing is a credible upside scenario with category precedents (Vercel ⊃ Nuxt Labs / Splitbee; GitHub ⊃ Copilot-adjacent acquisitions). Not a guarantee, not a forecast.</a:t>
            </a:r>
            <a:endParaRPr lang="en-US" sz="900" dirty="0"/>
          </a:p>
        </p:txBody>
      </p:sp>
      <p:sp>
        <p:nvSpPr>
          <p:cNvPr id="35" name="Text 33"/>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36" name="Text 34"/>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16  ·  WHAT'S ALREADY BUILT</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Not a pitch deck for a slide. A pitch deck for a working product.</a:t>
            </a:r>
            <a:endParaRPr lang="en-US" sz="3000" dirty="0"/>
          </a:p>
        </p:txBody>
      </p:sp>
      <p:sp>
        <p:nvSpPr>
          <p:cNvPr id="4" name="Shape 2"/>
          <p:cNvSpPr/>
          <p:nvPr/>
        </p:nvSpPr>
        <p:spPr>
          <a:xfrm>
            <a:off x="548640" y="1883664"/>
            <a:ext cx="201168" cy="201168"/>
          </a:xfrm>
          <a:prstGeom prst="ellipse">
            <a:avLst/>
          </a:prstGeom>
          <a:solidFill>
            <a:srgbClr val="4F46E5"/>
          </a:solidFill>
          <a:ln w="12700">
            <a:solidFill>
              <a:srgbClr val="4F46E5"/>
            </a:solidFill>
            <a:prstDash val="solid"/>
          </a:ln>
        </p:spPr>
        <p:txBody>
          <a:bodyPr/>
          <a:p/>
        </p:txBody>
      </p:sp>
      <p:sp>
        <p:nvSpPr>
          <p:cNvPr id="5" name="Text 3"/>
          <p:cNvSpPr/>
          <p:nvPr/>
        </p:nvSpPr>
        <p:spPr>
          <a:xfrm>
            <a:off x="548640" y="1883664"/>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6" name="Text 4"/>
          <p:cNvSpPr/>
          <p:nvPr/>
        </p:nvSpPr>
        <p:spPr>
          <a:xfrm>
            <a:off x="868680" y="1828800"/>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End-to-end automated Sandbox provisioning (~60s)</a:t>
            </a:r>
            <a:endParaRPr lang="en-US" sz="1200" dirty="0"/>
          </a:p>
        </p:txBody>
      </p:sp>
      <p:sp>
        <p:nvSpPr>
          <p:cNvPr id="7" name="Shape 5"/>
          <p:cNvSpPr/>
          <p:nvPr/>
        </p:nvSpPr>
        <p:spPr>
          <a:xfrm>
            <a:off x="548640" y="2276856"/>
            <a:ext cx="201168" cy="201168"/>
          </a:xfrm>
          <a:prstGeom prst="ellipse">
            <a:avLst/>
          </a:prstGeom>
          <a:solidFill>
            <a:srgbClr val="4F46E5"/>
          </a:solidFill>
          <a:ln w="12700">
            <a:solidFill>
              <a:srgbClr val="4F46E5"/>
            </a:solidFill>
            <a:prstDash val="solid"/>
          </a:ln>
        </p:spPr>
        <p:txBody>
          <a:bodyPr/>
          <a:p/>
        </p:txBody>
      </p:sp>
      <p:sp>
        <p:nvSpPr>
          <p:cNvPr id="8" name="Text 6"/>
          <p:cNvSpPr/>
          <p:nvPr/>
        </p:nvSpPr>
        <p:spPr>
          <a:xfrm>
            <a:off x="548640" y="2276856"/>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9" name="Text 7"/>
          <p:cNvSpPr/>
          <p:nvPr/>
        </p:nvSpPr>
        <p:spPr>
          <a:xfrm>
            <a:off x="868680" y="2221992"/>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Magic-link + verification-code Hatchik account</a:t>
            </a:r>
            <a:endParaRPr lang="en-US" sz="1200" dirty="0"/>
          </a:p>
        </p:txBody>
      </p:sp>
      <p:sp>
        <p:nvSpPr>
          <p:cNvPr id="10" name="Shape 8"/>
          <p:cNvSpPr/>
          <p:nvPr/>
        </p:nvSpPr>
        <p:spPr>
          <a:xfrm>
            <a:off x="548640" y="2670048"/>
            <a:ext cx="201168" cy="201168"/>
          </a:xfrm>
          <a:prstGeom prst="ellipse">
            <a:avLst/>
          </a:prstGeom>
          <a:solidFill>
            <a:srgbClr val="4F46E5"/>
          </a:solidFill>
          <a:ln w="12700">
            <a:solidFill>
              <a:srgbClr val="4F46E5"/>
            </a:solidFill>
            <a:prstDash val="solid"/>
          </a:ln>
        </p:spPr>
        <p:txBody>
          <a:bodyPr/>
          <a:p/>
        </p:txBody>
      </p:sp>
      <p:sp>
        <p:nvSpPr>
          <p:cNvPr id="11" name="Text 9"/>
          <p:cNvSpPr/>
          <p:nvPr/>
        </p:nvSpPr>
        <p:spPr>
          <a:xfrm>
            <a:off x="548640" y="2670048"/>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12" name="Text 10"/>
          <p:cNvSpPr/>
          <p:nvPr/>
        </p:nvSpPr>
        <p:spPr>
          <a:xfrm>
            <a:off x="868680" y="2615184"/>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Self-serve sandbox deletion + admin lifecycle (30-day archive)</a:t>
            </a:r>
            <a:endParaRPr lang="en-US" sz="1200" dirty="0"/>
          </a:p>
        </p:txBody>
      </p:sp>
      <p:sp>
        <p:nvSpPr>
          <p:cNvPr id="13" name="Shape 11"/>
          <p:cNvSpPr/>
          <p:nvPr/>
        </p:nvSpPr>
        <p:spPr>
          <a:xfrm>
            <a:off x="548640" y="3063240"/>
            <a:ext cx="201168" cy="201168"/>
          </a:xfrm>
          <a:prstGeom prst="ellipse">
            <a:avLst/>
          </a:prstGeom>
          <a:solidFill>
            <a:srgbClr val="4F46E5"/>
          </a:solidFill>
          <a:ln w="12700">
            <a:solidFill>
              <a:srgbClr val="4F46E5"/>
            </a:solidFill>
            <a:prstDash val="solid"/>
          </a:ln>
        </p:spPr>
        <p:txBody>
          <a:bodyPr/>
          <a:p/>
        </p:txBody>
      </p:sp>
      <p:sp>
        <p:nvSpPr>
          <p:cNvPr id="14" name="Text 12"/>
          <p:cNvSpPr/>
          <p:nvPr/>
        </p:nvSpPr>
        <p:spPr>
          <a:xfrm>
            <a:off x="548640" y="3063240"/>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15" name="Text 13"/>
          <p:cNvSpPr/>
          <p:nvPr/>
        </p:nvSpPr>
        <p:spPr>
          <a:xfrm>
            <a:off x="868680" y="3008376"/>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Per-tenant private GitHub repo + push-to-deploy webhook</a:t>
            </a:r>
            <a:endParaRPr lang="en-US" sz="1200" dirty="0"/>
          </a:p>
        </p:txBody>
      </p:sp>
      <p:sp>
        <p:nvSpPr>
          <p:cNvPr id="16" name="Shape 14"/>
          <p:cNvSpPr/>
          <p:nvPr/>
        </p:nvSpPr>
        <p:spPr>
          <a:xfrm>
            <a:off x="548640" y="3456432"/>
            <a:ext cx="201168" cy="201168"/>
          </a:xfrm>
          <a:prstGeom prst="ellipse">
            <a:avLst/>
          </a:prstGeom>
          <a:solidFill>
            <a:srgbClr val="4F46E5"/>
          </a:solidFill>
          <a:ln w="12700">
            <a:solidFill>
              <a:srgbClr val="4F46E5"/>
            </a:solidFill>
            <a:prstDash val="solid"/>
          </a:ln>
        </p:spPr>
        <p:txBody>
          <a:bodyPr/>
          <a:p/>
        </p:txBody>
      </p:sp>
      <p:sp>
        <p:nvSpPr>
          <p:cNvPr id="17" name="Text 15"/>
          <p:cNvSpPr/>
          <p:nvPr/>
        </p:nvSpPr>
        <p:spPr>
          <a:xfrm>
            <a:off x="548640" y="3456432"/>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18" name="Text 16"/>
          <p:cNvSpPr/>
          <p:nvPr/>
        </p:nvSpPr>
        <p:spPr>
          <a:xfrm>
            <a:off x="868680" y="3401568"/>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AI deploy token — Claude / Cursor / Windsurf can ship directly</a:t>
            </a:r>
            <a:endParaRPr lang="en-US" sz="1200" dirty="0"/>
          </a:p>
        </p:txBody>
      </p:sp>
      <p:sp>
        <p:nvSpPr>
          <p:cNvPr id="19" name="Shape 17"/>
          <p:cNvSpPr/>
          <p:nvPr/>
        </p:nvSpPr>
        <p:spPr>
          <a:xfrm>
            <a:off x="548640" y="3849624"/>
            <a:ext cx="201168" cy="201168"/>
          </a:xfrm>
          <a:prstGeom prst="ellipse">
            <a:avLst/>
          </a:prstGeom>
          <a:solidFill>
            <a:srgbClr val="4F46E5"/>
          </a:solidFill>
          <a:ln w="12700">
            <a:solidFill>
              <a:srgbClr val="4F46E5"/>
            </a:solidFill>
            <a:prstDash val="solid"/>
          </a:ln>
        </p:spPr>
        <p:txBody>
          <a:bodyPr/>
          <a:p/>
        </p:txBody>
      </p:sp>
      <p:sp>
        <p:nvSpPr>
          <p:cNvPr id="20" name="Text 18"/>
          <p:cNvSpPr/>
          <p:nvPr/>
        </p:nvSpPr>
        <p:spPr>
          <a:xfrm>
            <a:off x="548640" y="3849624"/>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21" name="Text 19"/>
          <p:cNvSpPr/>
          <p:nvPr/>
        </p:nvSpPr>
        <p:spPr>
          <a:xfrm>
            <a:off x="868680" y="3794760"/>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Mobile build pipeline (GitHub Actions, unsigned IPA + APK)</a:t>
            </a:r>
            <a:endParaRPr lang="en-US" sz="1200" dirty="0"/>
          </a:p>
        </p:txBody>
      </p:sp>
      <p:sp>
        <p:nvSpPr>
          <p:cNvPr id="22" name="Shape 20"/>
          <p:cNvSpPr/>
          <p:nvPr/>
        </p:nvSpPr>
        <p:spPr>
          <a:xfrm>
            <a:off x="6446520" y="1883664"/>
            <a:ext cx="201168" cy="201168"/>
          </a:xfrm>
          <a:prstGeom prst="ellipse">
            <a:avLst/>
          </a:prstGeom>
          <a:solidFill>
            <a:srgbClr val="4F46E5"/>
          </a:solidFill>
          <a:ln w="12700">
            <a:solidFill>
              <a:srgbClr val="4F46E5"/>
            </a:solidFill>
            <a:prstDash val="solid"/>
          </a:ln>
        </p:spPr>
        <p:txBody>
          <a:bodyPr/>
          <a:p/>
        </p:txBody>
      </p:sp>
      <p:sp>
        <p:nvSpPr>
          <p:cNvPr id="23" name="Text 21"/>
          <p:cNvSpPr/>
          <p:nvPr/>
        </p:nvSpPr>
        <p:spPr>
          <a:xfrm>
            <a:off x="6446520" y="1883664"/>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24" name="Text 22"/>
          <p:cNvSpPr/>
          <p:nvPr/>
        </p:nvSpPr>
        <p:spPr>
          <a:xfrm>
            <a:off x="6766560" y="1828800"/>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Status page (status.hatchik.com)</a:t>
            </a:r>
            <a:endParaRPr lang="en-US" sz="1200" dirty="0"/>
          </a:p>
        </p:txBody>
      </p:sp>
      <p:sp>
        <p:nvSpPr>
          <p:cNvPr id="25" name="Shape 23"/>
          <p:cNvSpPr/>
          <p:nvPr/>
        </p:nvSpPr>
        <p:spPr>
          <a:xfrm>
            <a:off x="6446520" y="2276856"/>
            <a:ext cx="201168" cy="201168"/>
          </a:xfrm>
          <a:prstGeom prst="ellipse">
            <a:avLst/>
          </a:prstGeom>
          <a:solidFill>
            <a:srgbClr val="4F46E5"/>
          </a:solidFill>
          <a:ln w="12700">
            <a:solidFill>
              <a:srgbClr val="4F46E5"/>
            </a:solidFill>
            <a:prstDash val="solid"/>
          </a:ln>
        </p:spPr>
        <p:txBody>
          <a:bodyPr/>
          <a:p/>
        </p:txBody>
      </p:sp>
      <p:sp>
        <p:nvSpPr>
          <p:cNvPr id="26" name="Text 24"/>
          <p:cNvSpPr/>
          <p:nvPr/>
        </p:nvSpPr>
        <p:spPr>
          <a:xfrm>
            <a:off x="6446520" y="2276856"/>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27" name="Text 25"/>
          <p:cNvSpPr/>
          <p:nvPr/>
        </p:nvSpPr>
        <p:spPr>
          <a:xfrm>
            <a:off x="6766560" y="2221992"/>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Docs site (docs.hatchik.com)</a:t>
            </a:r>
            <a:endParaRPr lang="en-US" sz="1200" dirty="0"/>
          </a:p>
        </p:txBody>
      </p:sp>
      <p:sp>
        <p:nvSpPr>
          <p:cNvPr id="28" name="Shape 26"/>
          <p:cNvSpPr/>
          <p:nvPr/>
        </p:nvSpPr>
        <p:spPr>
          <a:xfrm>
            <a:off x="6446520" y="2670048"/>
            <a:ext cx="201168" cy="201168"/>
          </a:xfrm>
          <a:prstGeom prst="ellipse">
            <a:avLst/>
          </a:prstGeom>
          <a:solidFill>
            <a:srgbClr val="4F46E5"/>
          </a:solidFill>
          <a:ln w="12700">
            <a:solidFill>
              <a:srgbClr val="4F46E5"/>
            </a:solidFill>
            <a:prstDash val="solid"/>
          </a:ln>
        </p:spPr>
        <p:txBody>
          <a:bodyPr/>
          <a:p/>
        </p:txBody>
      </p:sp>
      <p:sp>
        <p:nvSpPr>
          <p:cNvPr id="29" name="Text 27"/>
          <p:cNvSpPr/>
          <p:nvPr/>
        </p:nvSpPr>
        <p:spPr>
          <a:xfrm>
            <a:off x="6446520" y="2670048"/>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0" name="Text 28"/>
          <p:cNvSpPr/>
          <p:nvPr/>
        </p:nvSpPr>
        <p:spPr>
          <a:xfrm>
            <a:off x="6766560" y="2615184"/>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Cohort analytics dashboard (admin)</a:t>
            </a:r>
            <a:endParaRPr lang="en-US" sz="1200" dirty="0"/>
          </a:p>
        </p:txBody>
      </p:sp>
      <p:sp>
        <p:nvSpPr>
          <p:cNvPr id="31" name="Shape 29"/>
          <p:cNvSpPr/>
          <p:nvPr/>
        </p:nvSpPr>
        <p:spPr>
          <a:xfrm>
            <a:off x="6446520" y="3063240"/>
            <a:ext cx="201168" cy="201168"/>
          </a:xfrm>
          <a:prstGeom prst="ellipse">
            <a:avLst/>
          </a:prstGeom>
          <a:solidFill>
            <a:srgbClr val="4F46E5"/>
          </a:solidFill>
          <a:ln w="12700">
            <a:solidFill>
              <a:srgbClr val="4F46E5"/>
            </a:solidFill>
            <a:prstDash val="solid"/>
          </a:ln>
        </p:spPr>
        <p:txBody>
          <a:bodyPr/>
          <a:p/>
        </p:txBody>
      </p:sp>
      <p:sp>
        <p:nvSpPr>
          <p:cNvPr id="32" name="Text 30"/>
          <p:cNvSpPr/>
          <p:nvPr/>
        </p:nvSpPr>
        <p:spPr>
          <a:xfrm>
            <a:off x="6446520" y="3063240"/>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3" name="Text 31"/>
          <p:cNvSpPr/>
          <p:nvPr/>
        </p:nvSpPr>
        <p:spPr>
          <a:xfrm>
            <a:off x="6766560" y="3008376"/>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Abuse protection (Turnstile, geo-IP, disposable-email block, throttle)</a:t>
            </a:r>
            <a:endParaRPr lang="en-US" sz="1200" dirty="0"/>
          </a:p>
        </p:txBody>
      </p:sp>
      <p:sp>
        <p:nvSpPr>
          <p:cNvPr id="34" name="Shape 32"/>
          <p:cNvSpPr/>
          <p:nvPr/>
        </p:nvSpPr>
        <p:spPr>
          <a:xfrm>
            <a:off x="6446520" y="3456432"/>
            <a:ext cx="201168" cy="201168"/>
          </a:xfrm>
          <a:prstGeom prst="ellipse">
            <a:avLst/>
          </a:prstGeom>
          <a:solidFill>
            <a:srgbClr val="4F46E5"/>
          </a:solidFill>
          <a:ln w="12700">
            <a:solidFill>
              <a:srgbClr val="4F46E5"/>
            </a:solidFill>
            <a:prstDash val="solid"/>
          </a:ln>
        </p:spPr>
        <p:txBody>
          <a:bodyPr/>
          <a:p/>
        </p:txBody>
      </p:sp>
      <p:sp>
        <p:nvSpPr>
          <p:cNvPr id="35" name="Text 33"/>
          <p:cNvSpPr/>
          <p:nvPr/>
        </p:nvSpPr>
        <p:spPr>
          <a:xfrm>
            <a:off x="6446520" y="3456432"/>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6" name="Text 34"/>
          <p:cNvSpPr/>
          <p:nvPr/>
        </p:nvSpPr>
        <p:spPr>
          <a:xfrm>
            <a:off x="6766560" y="3401568"/>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Stripe customer-portal endpoint (test/live mode aware)</a:t>
            </a:r>
            <a:endParaRPr lang="en-US" sz="1200" dirty="0"/>
          </a:p>
        </p:txBody>
      </p:sp>
      <p:sp>
        <p:nvSpPr>
          <p:cNvPr id="37" name="Shape 35"/>
          <p:cNvSpPr/>
          <p:nvPr/>
        </p:nvSpPr>
        <p:spPr>
          <a:xfrm>
            <a:off x="6446520" y="3849624"/>
            <a:ext cx="201168" cy="201168"/>
          </a:xfrm>
          <a:prstGeom prst="ellipse">
            <a:avLst/>
          </a:prstGeom>
          <a:solidFill>
            <a:srgbClr val="4F46E5"/>
          </a:solidFill>
          <a:ln w="12700">
            <a:solidFill>
              <a:srgbClr val="4F46E5"/>
            </a:solidFill>
            <a:prstDash val="solid"/>
          </a:ln>
        </p:spPr>
        <p:txBody>
          <a:bodyPr/>
          <a:p/>
        </p:txBody>
      </p:sp>
      <p:sp>
        <p:nvSpPr>
          <p:cNvPr id="38" name="Text 36"/>
          <p:cNvSpPr/>
          <p:nvPr/>
        </p:nvSpPr>
        <p:spPr>
          <a:xfrm>
            <a:off x="6446520" y="3849624"/>
            <a:ext cx="201168" cy="201168"/>
          </a:xfrm>
          <a:prstGeom prst="rect">
            <a:avLst/>
          </a:prstGeom>
          <a:no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9" name="Text 37"/>
          <p:cNvSpPr/>
          <p:nvPr/>
        </p:nvSpPr>
        <p:spPr>
          <a:xfrm>
            <a:off x="6766560" y="3794760"/>
            <a:ext cx="5029200" cy="365760"/>
          </a:xfrm>
          <a:prstGeom prst="rect">
            <a:avLst/>
          </a:prstGeom>
          <a:noFill/>
          <a:ln/>
        </p:spPr>
        <p:txBody>
          <a:bodyPr wrap="square" lIns="0" tIns="0" rIns="0" bIns="0" rtlCol="0" anchor="ctr"/>
          <a:lstStyle/>
          <a:p>
            <a:pPr indent="0" marL="0">
              <a:buNone/>
            </a:pPr>
            <a:r>
              <a:rPr lang="en-US" sz="1200" dirty="0">
                <a:solidFill>
                  <a:srgbClr val="1E293B"/>
                </a:solidFill>
                <a:latin typeface="Inter" pitchFamily="34" charset="0"/>
                <a:ea typeface="Inter" pitchFamily="34" charset="-122"/>
                <a:cs typeface="Inter" pitchFamily="34" charset="-120"/>
              </a:rPr>
              <a:t>Idle-archive + restore lifecycle (snapshot + 7-day grace)</a:t>
            </a:r>
            <a:endParaRPr lang="en-US" sz="1200" dirty="0"/>
          </a:p>
        </p:txBody>
      </p:sp>
      <p:sp>
        <p:nvSpPr>
          <p:cNvPr id="40" name="Shape 38"/>
          <p:cNvSpPr/>
          <p:nvPr/>
        </p:nvSpPr>
        <p:spPr>
          <a:xfrm>
            <a:off x="548640" y="5852160"/>
            <a:ext cx="11064240" cy="594360"/>
          </a:xfrm>
          <a:prstGeom prst="rect">
            <a:avLst/>
          </a:prstGeom>
          <a:solidFill>
            <a:srgbClr val="FFFBEB"/>
          </a:solidFill>
          <a:ln w="12700">
            <a:solidFill>
              <a:srgbClr val="F59E0B"/>
            </a:solidFill>
            <a:prstDash val="solid"/>
          </a:ln>
        </p:spPr>
        <p:txBody>
          <a:bodyPr/>
          <a:p/>
        </p:txBody>
      </p:sp>
      <p:sp>
        <p:nvSpPr>
          <p:cNvPr id="41" name="Text 39"/>
          <p:cNvSpPr/>
          <p:nvPr/>
        </p:nvSpPr>
        <p:spPr>
          <a:xfrm>
            <a:off x="777240" y="5852160"/>
            <a:ext cx="10698480" cy="594360"/>
          </a:xfrm>
          <a:prstGeom prst="rect">
            <a:avLst/>
          </a:prstGeom>
          <a:noFill/>
          <a:ln/>
        </p:spPr>
        <p:txBody>
          <a:bodyPr wrap="square" lIns="0" tIns="0" rIns="0" bIns="0" rtlCol="0" anchor="ctr"/>
          <a:lstStyle/>
          <a:p>
            <a:pPr indent="0" marL="0">
              <a:buNone/>
            </a:pPr>
            <a:r>
              <a:rPr lang="en-US" sz="1100" i="1" dirty="0">
                <a:solidFill>
                  <a:srgbClr val="92400E"/>
                </a:solidFill>
                <a:latin typeface="Inter" pitchFamily="34" charset="0"/>
                <a:ea typeface="Inter" pitchFamily="34" charset="-122"/>
                <a:cs typeface="Inter" pitchFamily="34" charset="-120"/>
              </a:rPr>
              <a:t>Built solo + AI-augmented in ~3 weeks. Every item above is in production today. Cross-referenced against the agent commit log.</a:t>
            </a:r>
            <a:endParaRPr lang="en-US" sz="1100" dirty="0"/>
          </a:p>
        </p:txBody>
      </p:sp>
      <p:sp>
        <p:nvSpPr>
          <p:cNvPr id="42" name="Text 40"/>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43" name="Text 41"/>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17  ·  RISKS  ·  WHAT WE'RE WATCHING</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We are not pretending these don't exist.</a:t>
            </a:r>
            <a:endParaRPr lang="en-US" sz="3000" dirty="0"/>
          </a:p>
        </p:txBody>
      </p:sp>
      <p:sp>
        <p:nvSpPr>
          <p:cNvPr id="4" name="Shape 2"/>
          <p:cNvSpPr/>
          <p:nvPr/>
        </p:nvSpPr>
        <p:spPr>
          <a:xfrm>
            <a:off x="548640" y="1828800"/>
            <a:ext cx="3545738" cy="4206240"/>
          </a:xfrm>
          <a:prstGeom prst="rect">
            <a:avLst/>
          </a:prstGeom>
          <a:solidFill>
            <a:srgbClr val="FFFFFF"/>
          </a:solidFill>
          <a:ln w="12700">
            <a:solidFill>
              <a:srgbClr val="E2E8F0"/>
            </a:solidFill>
            <a:prstDash val="solid"/>
          </a:ln>
        </p:spPr>
        <p:txBody>
          <a:bodyPr/>
          <a:p/>
        </p:txBody>
      </p:sp>
      <p:sp>
        <p:nvSpPr>
          <p:cNvPr id="5" name="Shape 3"/>
          <p:cNvSpPr/>
          <p:nvPr/>
        </p:nvSpPr>
        <p:spPr>
          <a:xfrm>
            <a:off x="548640" y="1828800"/>
            <a:ext cx="3545738" cy="73152"/>
          </a:xfrm>
          <a:prstGeom prst="rect">
            <a:avLst/>
          </a:prstGeom>
          <a:solidFill>
            <a:srgbClr val="EF4444"/>
          </a:solidFill>
          <a:ln w="12700">
            <a:solidFill>
              <a:srgbClr val="EF4444"/>
            </a:solidFill>
            <a:prstDash val="solid"/>
          </a:ln>
        </p:spPr>
        <p:txBody>
          <a:bodyPr/>
          <a:p/>
        </p:txBody>
      </p:sp>
      <p:sp>
        <p:nvSpPr>
          <p:cNvPr id="6" name="Text 4"/>
          <p:cNvSpPr/>
          <p:nvPr/>
        </p:nvSpPr>
        <p:spPr>
          <a:xfrm>
            <a:off x="868680" y="2103120"/>
            <a:ext cx="2905658" cy="411480"/>
          </a:xfrm>
          <a:prstGeom prst="rect">
            <a:avLst/>
          </a:prstGeom>
          <a:noFill/>
          <a:ln/>
        </p:spPr>
        <p:txBody>
          <a:bodyPr wrap="square" lIns="0" tIns="0" rIns="0" bIns="0" rtlCol="0" anchor="ctr"/>
          <a:lstStyle/>
          <a:p>
            <a:pPr indent="0" marL="0">
              <a:buNone/>
            </a:pPr>
            <a:r>
              <a:rPr lang="en-US" sz="1100" b="1" spc="400" kern="0" dirty="0">
                <a:solidFill>
                  <a:srgbClr val="EF4444"/>
                </a:solidFill>
                <a:latin typeface="JetBrains Mono" pitchFamily="34" charset="0"/>
                <a:ea typeface="JetBrains Mono" pitchFamily="34" charset="-122"/>
                <a:cs typeface="JetBrains Mono" pitchFamily="34" charset="-120"/>
              </a:rPr>
              <a:t>01</a:t>
            </a:r>
            <a:endParaRPr lang="en-US" sz="1100" dirty="0"/>
          </a:p>
        </p:txBody>
      </p:sp>
      <p:sp>
        <p:nvSpPr>
          <p:cNvPr id="7" name="Text 5"/>
          <p:cNvSpPr/>
          <p:nvPr/>
        </p:nvSpPr>
        <p:spPr>
          <a:xfrm>
            <a:off x="868680" y="2423160"/>
            <a:ext cx="2905658" cy="777240"/>
          </a:xfrm>
          <a:prstGeom prst="rect">
            <a:avLst/>
          </a:prstGeom>
          <a:noFill/>
          <a:ln/>
        </p:spPr>
        <p:txBody>
          <a:bodyPr wrap="square" lIns="0" tIns="0" rIns="0" bIns="0" rtlCol="0" anchor="ctr"/>
          <a:lstStyle/>
          <a:p>
            <a:pPr indent="0" marL="0">
              <a:buNone/>
            </a:pPr>
            <a:r>
              <a:rPr lang="en-US" sz="1700" b="1" dirty="0">
                <a:solidFill>
                  <a:srgbClr val="1E293B"/>
                </a:solidFill>
                <a:latin typeface="Inter" pitchFamily="34" charset="0"/>
                <a:ea typeface="Inter" pitchFamily="34" charset="-122"/>
                <a:cs typeface="Inter" pitchFamily="34" charset="-120"/>
              </a:rPr>
              <a:t>Hype window closes</a:t>
            </a:r>
            <a:endParaRPr lang="en-US" sz="1700" dirty="0"/>
          </a:p>
        </p:txBody>
      </p:sp>
      <p:sp>
        <p:nvSpPr>
          <p:cNvPr id="8" name="Text 6"/>
          <p:cNvSpPr/>
          <p:nvPr/>
        </p:nvSpPr>
        <p:spPr>
          <a:xfrm>
            <a:off x="868680" y="3291840"/>
            <a:ext cx="2905658" cy="155448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If Anthropic / Cursor / Windsurf release their own deployment layer in the next 6 months, our wedge tightens dramatically. The category goes from open to claimed.</a:t>
            </a:r>
            <a:endParaRPr lang="en-US" sz="1100" dirty="0"/>
          </a:p>
        </p:txBody>
      </p:sp>
      <p:sp>
        <p:nvSpPr>
          <p:cNvPr id="9" name="Shape 7"/>
          <p:cNvSpPr/>
          <p:nvPr/>
        </p:nvSpPr>
        <p:spPr>
          <a:xfrm>
            <a:off x="868680" y="4846320"/>
            <a:ext cx="2905658" cy="1051560"/>
          </a:xfrm>
          <a:prstGeom prst="rect">
            <a:avLst/>
          </a:prstGeom>
          <a:solidFill>
            <a:srgbClr val="EEF2FF"/>
          </a:solidFill>
          <a:ln w="12700">
            <a:solidFill>
              <a:srgbClr val="EEF2FF"/>
            </a:solidFill>
            <a:prstDash val="solid"/>
          </a:ln>
        </p:spPr>
        <p:txBody>
          <a:bodyPr/>
          <a:p/>
        </p:txBody>
      </p:sp>
      <p:sp>
        <p:nvSpPr>
          <p:cNvPr id="10" name="Text 8"/>
          <p:cNvSpPr/>
          <p:nvPr/>
        </p:nvSpPr>
        <p:spPr>
          <a:xfrm>
            <a:off x="1005840" y="4937760"/>
            <a:ext cx="2677058"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MITIGATION</a:t>
            </a:r>
            <a:endParaRPr lang="en-US" sz="900" dirty="0"/>
          </a:p>
        </p:txBody>
      </p:sp>
      <p:sp>
        <p:nvSpPr>
          <p:cNvPr id="11" name="Text 9"/>
          <p:cNvSpPr/>
          <p:nvPr/>
        </p:nvSpPr>
        <p:spPr>
          <a:xfrm>
            <a:off x="1005840" y="5166360"/>
            <a:ext cx="2677058" cy="68580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Aggressive partnership outreach in months 0-4. Position as their deployment surface, not their competitor.</a:t>
            </a:r>
            <a:endParaRPr lang="en-US" sz="1000" dirty="0"/>
          </a:p>
        </p:txBody>
      </p:sp>
      <p:sp>
        <p:nvSpPr>
          <p:cNvPr id="12" name="Shape 10"/>
          <p:cNvSpPr/>
          <p:nvPr/>
        </p:nvSpPr>
        <p:spPr>
          <a:xfrm>
            <a:off x="4322978" y="1828800"/>
            <a:ext cx="3545738" cy="4206240"/>
          </a:xfrm>
          <a:prstGeom prst="rect">
            <a:avLst/>
          </a:prstGeom>
          <a:solidFill>
            <a:srgbClr val="FFFFFF"/>
          </a:solidFill>
          <a:ln w="12700">
            <a:solidFill>
              <a:srgbClr val="E2E8F0"/>
            </a:solidFill>
            <a:prstDash val="solid"/>
          </a:ln>
        </p:spPr>
        <p:txBody>
          <a:bodyPr/>
          <a:p/>
        </p:txBody>
      </p:sp>
      <p:sp>
        <p:nvSpPr>
          <p:cNvPr id="13" name="Shape 11"/>
          <p:cNvSpPr/>
          <p:nvPr/>
        </p:nvSpPr>
        <p:spPr>
          <a:xfrm>
            <a:off x="4322978" y="1828800"/>
            <a:ext cx="3545738" cy="73152"/>
          </a:xfrm>
          <a:prstGeom prst="rect">
            <a:avLst/>
          </a:prstGeom>
          <a:solidFill>
            <a:srgbClr val="EF4444"/>
          </a:solidFill>
          <a:ln w="12700">
            <a:solidFill>
              <a:srgbClr val="EF4444"/>
            </a:solidFill>
            <a:prstDash val="solid"/>
          </a:ln>
        </p:spPr>
        <p:txBody>
          <a:bodyPr/>
          <a:p/>
        </p:txBody>
      </p:sp>
      <p:sp>
        <p:nvSpPr>
          <p:cNvPr id="14" name="Text 12"/>
          <p:cNvSpPr/>
          <p:nvPr/>
        </p:nvSpPr>
        <p:spPr>
          <a:xfrm>
            <a:off x="4643018" y="2103120"/>
            <a:ext cx="2905658" cy="411480"/>
          </a:xfrm>
          <a:prstGeom prst="rect">
            <a:avLst/>
          </a:prstGeom>
          <a:noFill/>
          <a:ln/>
        </p:spPr>
        <p:txBody>
          <a:bodyPr wrap="square" lIns="0" tIns="0" rIns="0" bIns="0" rtlCol="0" anchor="ctr"/>
          <a:lstStyle/>
          <a:p>
            <a:pPr indent="0" marL="0">
              <a:buNone/>
            </a:pPr>
            <a:r>
              <a:rPr lang="en-US" sz="1100" b="1" spc="400" kern="0" dirty="0">
                <a:solidFill>
                  <a:srgbClr val="EF4444"/>
                </a:solidFill>
                <a:latin typeface="JetBrains Mono" pitchFamily="34" charset="0"/>
                <a:ea typeface="JetBrains Mono" pitchFamily="34" charset="-122"/>
                <a:cs typeface="JetBrains Mono" pitchFamily="34" charset="-120"/>
              </a:rPr>
              <a:t>02</a:t>
            </a:r>
            <a:endParaRPr lang="en-US" sz="1100" dirty="0"/>
          </a:p>
        </p:txBody>
      </p:sp>
      <p:sp>
        <p:nvSpPr>
          <p:cNvPr id="15" name="Text 13"/>
          <p:cNvSpPr/>
          <p:nvPr/>
        </p:nvSpPr>
        <p:spPr>
          <a:xfrm>
            <a:off x="4643018" y="2423160"/>
            <a:ext cx="2905658" cy="777240"/>
          </a:xfrm>
          <a:prstGeom prst="rect">
            <a:avLst/>
          </a:prstGeom>
          <a:noFill/>
          <a:ln/>
        </p:spPr>
        <p:txBody>
          <a:bodyPr wrap="square" lIns="0" tIns="0" rIns="0" bIns="0" rtlCol="0" anchor="ctr"/>
          <a:lstStyle/>
          <a:p>
            <a:pPr indent="0" marL="0">
              <a:buNone/>
            </a:pPr>
            <a:r>
              <a:rPr lang="en-US" sz="1700" b="1" dirty="0">
                <a:solidFill>
                  <a:srgbClr val="1E293B"/>
                </a:solidFill>
                <a:latin typeface="Inter" pitchFamily="34" charset="0"/>
                <a:ea typeface="Inter" pitchFamily="34" charset="-122"/>
                <a:cs typeface="Inter" pitchFamily="34" charset="-120"/>
              </a:rPr>
              <a:t>Single-VPS infrastructure</a:t>
            </a:r>
            <a:endParaRPr lang="en-US" sz="1700" dirty="0"/>
          </a:p>
        </p:txBody>
      </p:sp>
      <p:sp>
        <p:nvSpPr>
          <p:cNvPr id="16" name="Text 14"/>
          <p:cNvSpPr/>
          <p:nvPr/>
        </p:nvSpPr>
        <p:spPr>
          <a:xfrm>
            <a:off x="4643018" y="3291840"/>
            <a:ext cx="2905658" cy="155448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Sandbox tier runs on one Hetzner CAX21. Capacity caps at 4–5 concurrent active tenants before swap pressure.</a:t>
            </a:r>
            <a:endParaRPr lang="en-US" sz="1100" dirty="0"/>
          </a:p>
        </p:txBody>
      </p:sp>
      <p:sp>
        <p:nvSpPr>
          <p:cNvPr id="17" name="Shape 15"/>
          <p:cNvSpPr/>
          <p:nvPr/>
        </p:nvSpPr>
        <p:spPr>
          <a:xfrm>
            <a:off x="4643018" y="4846320"/>
            <a:ext cx="2905658" cy="1051560"/>
          </a:xfrm>
          <a:prstGeom prst="rect">
            <a:avLst/>
          </a:prstGeom>
          <a:solidFill>
            <a:srgbClr val="EEF2FF"/>
          </a:solidFill>
          <a:ln w="12700">
            <a:solidFill>
              <a:srgbClr val="EEF2FF"/>
            </a:solidFill>
            <a:prstDash val="solid"/>
          </a:ln>
        </p:spPr>
        <p:txBody>
          <a:bodyPr/>
          <a:p/>
        </p:txBody>
      </p:sp>
      <p:sp>
        <p:nvSpPr>
          <p:cNvPr id="18" name="Text 16"/>
          <p:cNvSpPr/>
          <p:nvPr/>
        </p:nvSpPr>
        <p:spPr>
          <a:xfrm>
            <a:off x="4780178" y="4937760"/>
            <a:ext cx="2677058"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MITIGATION</a:t>
            </a:r>
            <a:endParaRPr lang="en-US" sz="900" dirty="0"/>
          </a:p>
        </p:txBody>
      </p:sp>
      <p:sp>
        <p:nvSpPr>
          <p:cNvPr id="19" name="Text 17"/>
          <p:cNvSpPr/>
          <p:nvPr/>
        </p:nvSpPr>
        <p:spPr>
          <a:xfrm>
            <a:off x="4780178" y="5166360"/>
            <a:ext cx="2677058" cy="68580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DR plan written but unautomated. Second-region rollout (India/SEA latency) on month-6 roadmap.</a:t>
            </a:r>
            <a:endParaRPr lang="en-US" sz="1000" dirty="0"/>
          </a:p>
        </p:txBody>
      </p:sp>
      <p:sp>
        <p:nvSpPr>
          <p:cNvPr id="20" name="Shape 18"/>
          <p:cNvSpPr/>
          <p:nvPr/>
        </p:nvSpPr>
        <p:spPr>
          <a:xfrm>
            <a:off x="8097317" y="1828800"/>
            <a:ext cx="3545738" cy="4206240"/>
          </a:xfrm>
          <a:prstGeom prst="rect">
            <a:avLst/>
          </a:prstGeom>
          <a:solidFill>
            <a:srgbClr val="FFFFFF"/>
          </a:solidFill>
          <a:ln w="12700">
            <a:solidFill>
              <a:srgbClr val="E2E8F0"/>
            </a:solidFill>
            <a:prstDash val="solid"/>
          </a:ln>
        </p:spPr>
        <p:txBody>
          <a:bodyPr/>
          <a:p/>
        </p:txBody>
      </p:sp>
      <p:sp>
        <p:nvSpPr>
          <p:cNvPr id="21" name="Shape 19"/>
          <p:cNvSpPr/>
          <p:nvPr/>
        </p:nvSpPr>
        <p:spPr>
          <a:xfrm>
            <a:off x="8097317" y="1828800"/>
            <a:ext cx="3545738" cy="73152"/>
          </a:xfrm>
          <a:prstGeom prst="rect">
            <a:avLst/>
          </a:prstGeom>
          <a:solidFill>
            <a:srgbClr val="EF4444"/>
          </a:solidFill>
          <a:ln w="12700">
            <a:solidFill>
              <a:srgbClr val="EF4444"/>
            </a:solidFill>
            <a:prstDash val="solid"/>
          </a:ln>
        </p:spPr>
        <p:txBody>
          <a:bodyPr/>
          <a:p/>
        </p:txBody>
      </p:sp>
      <p:sp>
        <p:nvSpPr>
          <p:cNvPr id="22" name="Text 20"/>
          <p:cNvSpPr/>
          <p:nvPr/>
        </p:nvSpPr>
        <p:spPr>
          <a:xfrm>
            <a:off x="8417357" y="2103120"/>
            <a:ext cx="2905658" cy="411480"/>
          </a:xfrm>
          <a:prstGeom prst="rect">
            <a:avLst/>
          </a:prstGeom>
          <a:noFill/>
          <a:ln/>
        </p:spPr>
        <p:txBody>
          <a:bodyPr wrap="square" lIns="0" tIns="0" rIns="0" bIns="0" rtlCol="0" anchor="ctr"/>
          <a:lstStyle/>
          <a:p>
            <a:pPr indent="0" marL="0">
              <a:buNone/>
            </a:pPr>
            <a:r>
              <a:rPr lang="en-US" sz="1100" b="1" spc="400" kern="0" dirty="0">
                <a:solidFill>
                  <a:srgbClr val="EF4444"/>
                </a:solidFill>
                <a:latin typeface="JetBrains Mono" pitchFamily="34" charset="0"/>
                <a:ea typeface="JetBrains Mono" pitchFamily="34" charset="-122"/>
                <a:cs typeface="JetBrains Mono" pitchFamily="34" charset="-120"/>
              </a:rPr>
              <a:t>03</a:t>
            </a:r>
            <a:endParaRPr lang="en-US" sz="1100" dirty="0"/>
          </a:p>
        </p:txBody>
      </p:sp>
      <p:sp>
        <p:nvSpPr>
          <p:cNvPr id="23" name="Text 21"/>
          <p:cNvSpPr/>
          <p:nvPr/>
        </p:nvSpPr>
        <p:spPr>
          <a:xfrm>
            <a:off x="8417357" y="2423160"/>
            <a:ext cx="2905658" cy="777240"/>
          </a:xfrm>
          <a:prstGeom prst="rect">
            <a:avLst/>
          </a:prstGeom>
          <a:noFill/>
          <a:ln/>
        </p:spPr>
        <p:txBody>
          <a:bodyPr wrap="square" lIns="0" tIns="0" rIns="0" bIns="0" rtlCol="0" anchor="ctr"/>
          <a:lstStyle/>
          <a:p>
            <a:pPr indent="0" marL="0">
              <a:buNone/>
            </a:pPr>
            <a:r>
              <a:rPr lang="en-US" sz="1700" b="1" dirty="0">
                <a:solidFill>
                  <a:srgbClr val="1E293B"/>
                </a:solidFill>
                <a:latin typeface="Inter" pitchFamily="34" charset="0"/>
                <a:ea typeface="Inter" pitchFamily="34" charset="-122"/>
                <a:cs typeface="Inter" pitchFamily="34" charset="-120"/>
              </a:rPr>
              <a:t>Mobile signing out-of-band</a:t>
            </a:r>
            <a:endParaRPr lang="en-US" sz="1700" dirty="0"/>
          </a:p>
        </p:txBody>
      </p:sp>
      <p:sp>
        <p:nvSpPr>
          <p:cNvPr id="24" name="Text 22"/>
          <p:cNvSpPr/>
          <p:nvPr/>
        </p:nvSpPr>
        <p:spPr>
          <a:xfrm>
            <a:off x="8417357" y="3291840"/>
            <a:ext cx="2905658" cy="1554480"/>
          </a:xfrm>
          <a:prstGeom prst="rect">
            <a:avLst/>
          </a:prstGeom>
          <a:noFill/>
          <a:ln/>
        </p:spPr>
        <p:txBody>
          <a:bodyPr wrap="square" lIns="0" tIns="0" rIns="0" bIns="0" rtlCol="0" anchor="ctr"/>
          <a:lstStyle/>
          <a:p>
            <a:pPr indent="0" marL="0">
              <a:buNone/>
            </a:pPr>
            <a:r>
              <a:rPr lang="en-US" sz="1100" dirty="0">
                <a:solidFill>
                  <a:srgbClr val="475569"/>
                </a:solidFill>
                <a:latin typeface="Inter" pitchFamily="34" charset="0"/>
                <a:ea typeface="Inter" pitchFamily="34" charset="-122"/>
                <a:cs typeface="Inter" pitchFamily="34" charset="-120"/>
              </a:rPr>
              <a:t>Customer must bring their own Apple Developer + Android keystore credentials to ship signed binaries.</a:t>
            </a:r>
            <a:endParaRPr lang="en-US" sz="1100" dirty="0"/>
          </a:p>
        </p:txBody>
      </p:sp>
      <p:sp>
        <p:nvSpPr>
          <p:cNvPr id="25" name="Shape 23"/>
          <p:cNvSpPr/>
          <p:nvPr/>
        </p:nvSpPr>
        <p:spPr>
          <a:xfrm>
            <a:off x="8417357" y="4846320"/>
            <a:ext cx="2905658" cy="1051560"/>
          </a:xfrm>
          <a:prstGeom prst="rect">
            <a:avLst/>
          </a:prstGeom>
          <a:solidFill>
            <a:srgbClr val="EEF2FF"/>
          </a:solidFill>
          <a:ln w="12700">
            <a:solidFill>
              <a:srgbClr val="EEF2FF"/>
            </a:solidFill>
            <a:prstDash val="solid"/>
          </a:ln>
        </p:spPr>
        <p:txBody>
          <a:bodyPr/>
          <a:p/>
        </p:txBody>
      </p:sp>
      <p:sp>
        <p:nvSpPr>
          <p:cNvPr id="26" name="Text 24"/>
          <p:cNvSpPr/>
          <p:nvPr/>
        </p:nvSpPr>
        <p:spPr>
          <a:xfrm>
            <a:off x="8554517" y="4937760"/>
            <a:ext cx="2677058"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MITIGATION</a:t>
            </a:r>
            <a:endParaRPr lang="en-US" sz="900" dirty="0"/>
          </a:p>
        </p:txBody>
      </p:sp>
      <p:sp>
        <p:nvSpPr>
          <p:cNvPr id="27" name="Text 25"/>
          <p:cNvSpPr/>
          <p:nvPr/>
        </p:nvSpPr>
        <p:spPr>
          <a:xfrm>
            <a:off x="8554517" y="5166360"/>
            <a:ext cx="2677058" cy="685800"/>
          </a:xfrm>
          <a:prstGeom prst="rect">
            <a:avLst/>
          </a:prstGeom>
          <a:noFill/>
          <a:ln/>
        </p:spPr>
        <p:txBody>
          <a:bodyPr wrap="square" lIns="0" tIns="0" rIns="0" bIns="0" rtlCol="0" anchor="ctr"/>
          <a:lstStyle/>
          <a:p>
            <a:pPr indent="0" marL="0">
              <a:buNone/>
            </a:pPr>
            <a:r>
              <a:rPr lang="en-US" sz="1000" dirty="0">
                <a:solidFill>
                  <a:srgbClr val="1E293B"/>
                </a:solidFill>
                <a:latin typeface="Inter" pitchFamily="34" charset="0"/>
                <a:ea typeface="Inter" pitchFamily="34" charset="-122"/>
                <a:cs typeface="Inter" pitchFamily="34" charset="-120"/>
              </a:rPr>
              <a:t>Documented inline in tenant repo with cert-generation walkthroughs. Hatchik never touches signing keys.</a:t>
            </a:r>
            <a:endParaRPr lang="en-US" sz="1000" dirty="0"/>
          </a:p>
        </p:txBody>
      </p:sp>
      <p:sp>
        <p:nvSpPr>
          <p:cNvPr id="28" name="Text 26"/>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9" name="Text 27"/>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p:nvPr/>
        </p:nvSpPr>
        <p:spPr>
          <a:xfrm>
            <a:off x="548640" y="365760"/>
            <a:ext cx="7315200" cy="292608"/>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18  ·  THE ASK</a:t>
            </a:r>
            <a:endParaRPr lang="en-US" sz="1000" dirty="0"/>
          </a:p>
        </p:txBody>
      </p:sp>
      <p:sp>
        <p:nvSpPr>
          <p:cNvPr id="3" name="Text 1"/>
          <p:cNvSpPr/>
          <p:nvPr/>
        </p:nvSpPr>
        <p:spPr>
          <a:xfrm>
            <a:off x="548640" y="640080"/>
            <a:ext cx="11155680" cy="1051560"/>
          </a:xfrm>
          <a:prstGeom prst="rect">
            <a:avLst/>
          </a:prstGeom>
          <a:noFill/>
          <a:ln/>
        </p:spPr>
        <p:txBody>
          <a:bodyPr wrap="square" lIns="0" tIns="0" rIns="0" bIns="0" rtlCol="0" anchor="ctr"/>
          <a:lstStyle/>
          <a:p>
            <a:pPr indent="0" marL="0">
              <a:buNone/>
            </a:pPr>
            <a:r>
              <a:rPr lang="en-US" sz="3000" b="1" dirty="0">
                <a:solidFill>
                  <a:srgbClr val="1E293B"/>
                </a:solidFill>
                <a:latin typeface="Inter" pitchFamily="34" charset="0"/>
                <a:ea typeface="Inter" pitchFamily="34" charset="-122"/>
                <a:cs typeface="Inter" pitchFamily="34" charset="-120"/>
              </a:rPr>
              <a:t>12-month sprint capital. Decide raise-or-exit at month 6.</a:t>
            </a:r>
            <a:endParaRPr lang="en-US" sz="3000" dirty="0"/>
          </a:p>
        </p:txBody>
      </p:sp>
      <p:sp>
        <p:nvSpPr>
          <p:cNvPr id="4" name="Shape 2"/>
          <p:cNvSpPr/>
          <p:nvPr/>
        </p:nvSpPr>
        <p:spPr>
          <a:xfrm>
            <a:off x="548640" y="1783080"/>
            <a:ext cx="11064240" cy="1554480"/>
          </a:xfrm>
          <a:prstGeom prst="rect">
            <a:avLst/>
          </a:prstGeom>
          <a:solidFill>
            <a:srgbClr val="0B1020"/>
          </a:solidFill>
          <a:ln w="12700">
            <a:solidFill>
              <a:srgbClr val="0B1020"/>
            </a:solidFill>
            <a:prstDash val="solid"/>
          </a:ln>
        </p:spPr>
        <p:txBody>
          <a:bodyPr/>
          <a:p/>
        </p:txBody>
      </p:sp>
      <p:sp>
        <p:nvSpPr>
          <p:cNvPr id="5" name="Text 3"/>
          <p:cNvSpPr/>
          <p:nvPr/>
        </p:nvSpPr>
        <p:spPr>
          <a:xfrm>
            <a:off x="777240" y="1920240"/>
            <a:ext cx="4572000" cy="274320"/>
          </a:xfrm>
          <a:prstGeom prst="rect">
            <a:avLst/>
          </a:prstGeom>
          <a:noFill/>
          <a:ln/>
        </p:spPr>
        <p:txBody>
          <a:bodyPr wrap="square" lIns="0" tIns="0" rIns="0" bIns="0" rtlCol="0" anchor="ctr"/>
          <a:lstStyle/>
          <a:p>
            <a:pPr indent="0" marL="0">
              <a:buNone/>
            </a:pPr>
            <a:r>
              <a:rPr lang="en-US" sz="1000" b="1" spc="400" kern="0" dirty="0">
                <a:solidFill>
                  <a:srgbClr val="F59E0B"/>
                </a:solidFill>
                <a:latin typeface="JetBrains Mono" pitchFamily="34" charset="0"/>
                <a:ea typeface="JetBrains Mono" pitchFamily="34" charset="-122"/>
                <a:cs typeface="JetBrains Mono" pitchFamily="34" charset="-120"/>
              </a:rPr>
              <a:t>RAISING</a:t>
            </a:r>
            <a:endParaRPr lang="en-US" sz="1000" dirty="0"/>
          </a:p>
        </p:txBody>
      </p:sp>
      <p:sp>
        <p:nvSpPr>
          <p:cNvPr id="6" name="Text 4"/>
          <p:cNvSpPr/>
          <p:nvPr/>
        </p:nvSpPr>
        <p:spPr>
          <a:xfrm>
            <a:off x="777240" y="2194560"/>
            <a:ext cx="5212080" cy="914400"/>
          </a:xfrm>
          <a:prstGeom prst="rect">
            <a:avLst/>
          </a:prstGeom>
          <a:noFill/>
          <a:ln/>
        </p:spPr>
        <p:txBody>
          <a:bodyPr wrap="square" lIns="0" tIns="0" rIns="0" bIns="0" rtlCol="0" anchor="ctr"/>
          <a:lstStyle/>
          <a:p>
            <a:pPr indent="0" marL="0">
              <a:buNone/>
            </a:pPr>
            <a:r>
              <a:rPr lang="en-US" sz="5200" b="1" dirty="0">
                <a:solidFill>
                  <a:srgbClr val="FFFFFF"/>
                </a:solidFill>
                <a:latin typeface="Inter" pitchFamily="34" charset="0"/>
                <a:ea typeface="Inter" pitchFamily="34" charset="-122"/>
                <a:cs typeface="Inter" pitchFamily="34" charset="-120"/>
              </a:rPr>
              <a:t>£[ 500K - 1M ]</a:t>
            </a:r>
            <a:endParaRPr lang="en-US" sz="5200" dirty="0"/>
          </a:p>
        </p:txBody>
      </p:sp>
      <p:sp>
        <p:nvSpPr>
          <p:cNvPr id="7" name="Text 5"/>
          <p:cNvSpPr/>
          <p:nvPr/>
        </p:nvSpPr>
        <p:spPr>
          <a:xfrm>
            <a:off x="6217920" y="1920240"/>
            <a:ext cx="1828800" cy="274320"/>
          </a:xfrm>
          <a:prstGeom prst="rect">
            <a:avLst/>
          </a:prstGeom>
          <a:noFill/>
          <a:ln/>
        </p:spPr>
        <p:txBody>
          <a:bodyPr wrap="square" lIns="0" tIns="0" rIns="0" bIns="0" rtlCol="0" anchor="ctr"/>
          <a:lstStyle/>
          <a:p>
            <a:pPr indent="0" marL="0">
              <a:buNone/>
            </a:pPr>
            <a:r>
              <a:rPr lang="en-US" sz="1000" b="1" spc="400" kern="0" dirty="0">
                <a:solidFill>
                  <a:srgbClr val="F59E0B"/>
                </a:solidFill>
                <a:latin typeface="JetBrains Mono" pitchFamily="34" charset="0"/>
                <a:ea typeface="JetBrains Mono" pitchFamily="34" charset="-122"/>
                <a:cs typeface="JetBrains Mono" pitchFamily="34" charset="-120"/>
              </a:rPr>
              <a:t>HORIZON</a:t>
            </a:r>
            <a:endParaRPr lang="en-US" sz="1000" dirty="0"/>
          </a:p>
        </p:txBody>
      </p:sp>
      <p:sp>
        <p:nvSpPr>
          <p:cNvPr id="8" name="Text 6"/>
          <p:cNvSpPr/>
          <p:nvPr/>
        </p:nvSpPr>
        <p:spPr>
          <a:xfrm>
            <a:off x="6217920" y="2286000"/>
            <a:ext cx="5303520" cy="54864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12 months to decision point</a:t>
            </a:r>
            <a:endParaRPr lang="en-US" sz="2400" dirty="0"/>
          </a:p>
        </p:txBody>
      </p:sp>
      <p:sp>
        <p:nvSpPr>
          <p:cNvPr id="9" name="Text 7"/>
          <p:cNvSpPr/>
          <p:nvPr/>
        </p:nvSpPr>
        <p:spPr>
          <a:xfrm>
            <a:off x="6217920" y="2834640"/>
            <a:ext cx="5303520" cy="365760"/>
          </a:xfrm>
          <a:prstGeom prst="rect">
            <a:avLst/>
          </a:prstGeom>
          <a:noFill/>
          <a:ln/>
        </p:spPr>
        <p:txBody>
          <a:bodyPr wrap="square" lIns="0" tIns="0" rIns="0" bIns="0" rtlCol="0" anchor="ctr"/>
          <a:lstStyle/>
          <a:p>
            <a:pPr indent="0" marL="0">
              <a:buNone/>
            </a:pPr>
            <a:r>
              <a:rPr lang="en-US" sz="1100" dirty="0">
                <a:solidFill>
                  <a:srgbClr val="CBD5E1"/>
                </a:solidFill>
                <a:latin typeface="JetBrains Mono" pitchFamily="34" charset="0"/>
                <a:ea typeface="JetBrains Mono" pitchFamily="34" charset="-122"/>
                <a:cs typeface="JetBrains Mono" pitchFamily="34" charset="-120"/>
              </a:rPr>
              <a:t>Pre-seed  ·  SAFE or convertible  ·  founder fills final number</a:t>
            </a:r>
            <a:endParaRPr lang="en-US" sz="1100" dirty="0"/>
          </a:p>
        </p:txBody>
      </p:sp>
      <p:sp>
        <p:nvSpPr>
          <p:cNvPr id="10" name="Text 8"/>
          <p:cNvSpPr/>
          <p:nvPr/>
        </p:nvSpPr>
        <p:spPr>
          <a:xfrm>
            <a:off x="548640" y="3657600"/>
            <a:ext cx="6400800" cy="274320"/>
          </a:xfrm>
          <a:prstGeom prst="rect">
            <a:avLst/>
          </a:prstGeom>
          <a:noFill/>
          <a:ln/>
        </p:spPr>
        <p:txBody>
          <a:bodyPr wrap="square" lIns="0" tIns="0" rIns="0" bIns="0" rtlCol="0" anchor="ctr"/>
          <a:lstStyle/>
          <a:p>
            <a:pPr indent="0" marL="0">
              <a:buNone/>
            </a:pPr>
            <a:r>
              <a:rPr lang="en-US" sz="1000" b="1" spc="400" kern="0" dirty="0">
                <a:solidFill>
                  <a:srgbClr val="4F46E5"/>
                </a:solidFill>
                <a:latin typeface="JetBrains Mono" pitchFamily="34" charset="0"/>
                <a:ea typeface="JetBrains Mono" pitchFamily="34" charset="-122"/>
                <a:cs typeface="JetBrains Mono" pitchFamily="34" charset="-120"/>
              </a:rPr>
              <a:t>USE OF FUNDS  ·  SPRINT ALLOCATION</a:t>
            </a:r>
            <a:endParaRPr lang="en-US" sz="1000" dirty="0"/>
          </a:p>
        </p:txBody>
      </p:sp>
      <p:sp>
        <p:nvSpPr>
          <p:cNvPr id="11" name="Shape 9"/>
          <p:cNvSpPr/>
          <p:nvPr/>
        </p:nvSpPr>
        <p:spPr>
          <a:xfrm>
            <a:off x="548640" y="4023360"/>
            <a:ext cx="3576218" cy="1463040"/>
          </a:xfrm>
          <a:prstGeom prst="rect">
            <a:avLst/>
          </a:prstGeom>
          <a:solidFill>
            <a:srgbClr val="FFFFFF"/>
          </a:solidFill>
          <a:ln w="12700">
            <a:solidFill>
              <a:srgbClr val="E2E8F0"/>
            </a:solidFill>
            <a:prstDash val="solid"/>
          </a:ln>
        </p:spPr>
        <p:txBody>
          <a:bodyPr/>
          <a:p/>
        </p:txBody>
      </p:sp>
      <p:sp>
        <p:nvSpPr>
          <p:cNvPr id="12" name="Text 10"/>
          <p:cNvSpPr/>
          <p:nvPr/>
        </p:nvSpPr>
        <p:spPr>
          <a:xfrm>
            <a:off x="822960" y="4160520"/>
            <a:ext cx="3027578" cy="365760"/>
          </a:xfrm>
          <a:prstGeom prst="rect">
            <a:avLst/>
          </a:prstGeom>
          <a:noFill/>
          <a:ln/>
        </p:spPr>
        <p:txBody>
          <a:bodyPr wrap="square" lIns="0" tIns="0" rIns="0" bIns="0" rtlCol="0" anchor="ctr"/>
          <a:lstStyle/>
          <a:p>
            <a:pPr indent="0" marL="0">
              <a:buNone/>
            </a:pPr>
            <a:r>
              <a:rPr lang="en-US" sz="1600" b="1" dirty="0">
                <a:solidFill>
                  <a:srgbClr val="F59E0B"/>
                </a:solidFill>
                <a:latin typeface="Inter" pitchFamily="34" charset="0"/>
                <a:ea typeface="Inter" pitchFamily="34" charset="-122"/>
                <a:cs typeface="Inter" pitchFamily="34" charset="-120"/>
              </a:rPr>
              <a:t>60%</a:t>
            </a:r>
            <a:endParaRPr lang="en-US" sz="1600" dirty="0"/>
          </a:p>
        </p:txBody>
      </p:sp>
      <p:sp>
        <p:nvSpPr>
          <p:cNvPr id="13" name="Text 11"/>
          <p:cNvSpPr/>
          <p:nvPr/>
        </p:nvSpPr>
        <p:spPr>
          <a:xfrm>
            <a:off x="822960" y="4480560"/>
            <a:ext cx="3027578" cy="365760"/>
          </a:xfrm>
          <a:prstGeom prst="rect">
            <a:avLst/>
          </a:prstGeom>
          <a:noFill/>
          <a:ln/>
        </p:spPr>
        <p:txBody>
          <a:bodyPr wrap="square" lIns="0" tIns="0" rIns="0" bIns="0" rtlCol="0" anchor="ctr"/>
          <a:lstStyle/>
          <a:p>
            <a:pPr indent="0" marL="0">
              <a:buNone/>
            </a:pPr>
            <a:r>
              <a:rPr lang="en-US" sz="1500" b="1" dirty="0">
                <a:solidFill>
                  <a:srgbClr val="1E293B"/>
                </a:solidFill>
                <a:latin typeface="Inter" pitchFamily="34" charset="0"/>
                <a:ea typeface="Inter" pitchFamily="34" charset="-122"/>
                <a:cs typeface="Inter" pitchFamily="34" charset="-120"/>
              </a:rPr>
              <a:t>Paid acquisition</a:t>
            </a:r>
            <a:endParaRPr lang="en-US" sz="1500" dirty="0"/>
          </a:p>
        </p:txBody>
      </p:sp>
      <p:sp>
        <p:nvSpPr>
          <p:cNvPr id="14" name="Text 12"/>
          <p:cNvSpPr/>
          <p:nvPr/>
        </p:nvSpPr>
        <p:spPr>
          <a:xfrm>
            <a:off x="822960" y="4892040"/>
            <a:ext cx="3027578" cy="54864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Creator sponsorships + retargeted paid in months 2-9. At repriced LTV £520, CAC ceiling £175 — paid becomes viable.</a:t>
            </a:r>
            <a:endParaRPr lang="en-US" sz="1000" dirty="0"/>
          </a:p>
        </p:txBody>
      </p:sp>
      <p:sp>
        <p:nvSpPr>
          <p:cNvPr id="15" name="Shape 13"/>
          <p:cNvSpPr/>
          <p:nvPr/>
        </p:nvSpPr>
        <p:spPr>
          <a:xfrm>
            <a:off x="4307738" y="4023360"/>
            <a:ext cx="3576218" cy="1463040"/>
          </a:xfrm>
          <a:prstGeom prst="rect">
            <a:avLst/>
          </a:prstGeom>
          <a:solidFill>
            <a:srgbClr val="FFFFFF"/>
          </a:solidFill>
          <a:ln w="12700">
            <a:solidFill>
              <a:srgbClr val="E2E8F0"/>
            </a:solidFill>
            <a:prstDash val="solid"/>
          </a:ln>
        </p:spPr>
        <p:txBody>
          <a:bodyPr/>
          <a:p/>
        </p:txBody>
      </p:sp>
      <p:sp>
        <p:nvSpPr>
          <p:cNvPr id="16" name="Text 14"/>
          <p:cNvSpPr/>
          <p:nvPr/>
        </p:nvSpPr>
        <p:spPr>
          <a:xfrm>
            <a:off x="4582058" y="4160520"/>
            <a:ext cx="3027578" cy="365760"/>
          </a:xfrm>
          <a:prstGeom prst="rect">
            <a:avLst/>
          </a:prstGeom>
          <a:noFill/>
          <a:ln/>
        </p:spPr>
        <p:txBody>
          <a:bodyPr wrap="square" lIns="0" tIns="0" rIns="0" bIns="0" rtlCol="0" anchor="ctr"/>
          <a:lstStyle/>
          <a:p>
            <a:pPr indent="0" marL="0">
              <a:buNone/>
            </a:pPr>
            <a:r>
              <a:rPr lang="en-US" sz="1600" b="1" dirty="0">
                <a:solidFill>
                  <a:srgbClr val="F59E0B"/>
                </a:solidFill>
                <a:latin typeface="Inter" pitchFamily="34" charset="0"/>
                <a:ea typeface="Inter" pitchFamily="34" charset="-122"/>
                <a:cs typeface="Inter" pitchFamily="34" charset="-120"/>
              </a:rPr>
              <a:t>25%</a:t>
            </a:r>
            <a:endParaRPr lang="en-US" sz="1600" dirty="0"/>
          </a:p>
        </p:txBody>
      </p:sp>
      <p:sp>
        <p:nvSpPr>
          <p:cNvPr id="17" name="Text 15"/>
          <p:cNvSpPr/>
          <p:nvPr/>
        </p:nvSpPr>
        <p:spPr>
          <a:xfrm>
            <a:off x="4582058" y="4480560"/>
            <a:ext cx="3027578" cy="365760"/>
          </a:xfrm>
          <a:prstGeom prst="rect">
            <a:avLst/>
          </a:prstGeom>
          <a:noFill/>
          <a:ln/>
        </p:spPr>
        <p:txBody>
          <a:bodyPr wrap="square" lIns="0" tIns="0" rIns="0" bIns="0" rtlCol="0" anchor="ctr"/>
          <a:lstStyle/>
          <a:p>
            <a:pPr indent="0" marL="0">
              <a:buNone/>
            </a:pPr>
            <a:r>
              <a:rPr lang="en-US" sz="1500" b="1" dirty="0">
                <a:solidFill>
                  <a:srgbClr val="1E293B"/>
                </a:solidFill>
                <a:latin typeface="Inter" pitchFamily="34" charset="0"/>
                <a:ea typeface="Inter" pitchFamily="34" charset="-122"/>
                <a:cs typeface="Inter" pitchFamily="34" charset="-120"/>
              </a:rPr>
              <a:t>First hires</a:t>
            </a:r>
            <a:endParaRPr lang="en-US" sz="1500" dirty="0"/>
          </a:p>
        </p:txBody>
      </p:sp>
      <p:sp>
        <p:nvSpPr>
          <p:cNvPr id="18" name="Text 16"/>
          <p:cNvSpPr/>
          <p:nvPr/>
        </p:nvSpPr>
        <p:spPr>
          <a:xfrm>
            <a:off x="4582058" y="4892040"/>
            <a:ext cx="3027578" cy="54864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One engineer (substrate hardening, second region, signed mobile pipeline). One marketer (content engine).</a:t>
            </a:r>
            <a:endParaRPr lang="en-US" sz="1000" dirty="0"/>
          </a:p>
        </p:txBody>
      </p:sp>
      <p:sp>
        <p:nvSpPr>
          <p:cNvPr id="19" name="Shape 17"/>
          <p:cNvSpPr/>
          <p:nvPr/>
        </p:nvSpPr>
        <p:spPr>
          <a:xfrm>
            <a:off x="8066837" y="4023360"/>
            <a:ext cx="3576218" cy="1463040"/>
          </a:xfrm>
          <a:prstGeom prst="rect">
            <a:avLst/>
          </a:prstGeom>
          <a:solidFill>
            <a:srgbClr val="FFFFFF"/>
          </a:solidFill>
          <a:ln w="12700">
            <a:solidFill>
              <a:srgbClr val="E2E8F0"/>
            </a:solidFill>
            <a:prstDash val="solid"/>
          </a:ln>
        </p:spPr>
        <p:txBody>
          <a:bodyPr/>
          <a:p/>
        </p:txBody>
      </p:sp>
      <p:sp>
        <p:nvSpPr>
          <p:cNvPr id="20" name="Text 18"/>
          <p:cNvSpPr/>
          <p:nvPr/>
        </p:nvSpPr>
        <p:spPr>
          <a:xfrm>
            <a:off x="8341157" y="4160520"/>
            <a:ext cx="3027578" cy="365760"/>
          </a:xfrm>
          <a:prstGeom prst="rect">
            <a:avLst/>
          </a:prstGeom>
          <a:noFill/>
          <a:ln/>
        </p:spPr>
        <p:txBody>
          <a:bodyPr wrap="square" lIns="0" tIns="0" rIns="0" bIns="0" rtlCol="0" anchor="ctr"/>
          <a:lstStyle/>
          <a:p>
            <a:pPr indent="0" marL="0">
              <a:buNone/>
            </a:pPr>
            <a:r>
              <a:rPr lang="en-US" sz="1600" b="1" dirty="0">
                <a:solidFill>
                  <a:srgbClr val="F59E0B"/>
                </a:solidFill>
                <a:latin typeface="Inter" pitchFamily="34" charset="0"/>
                <a:ea typeface="Inter" pitchFamily="34" charset="-122"/>
                <a:cs typeface="Inter" pitchFamily="34" charset="-120"/>
              </a:rPr>
              <a:t>15%</a:t>
            </a:r>
            <a:endParaRPr lang="en-US" sz="1600" dirty="0"/>
          </a:p>
        </p:txBody>
      </p:sp>
      <p:sp>
        <p:nvSpPr>
          <p:cNvPr id="21" name="Text 19"/>
          <p:cNvSpPr/>
          <p:nvPr/>
        </p:nvSpPr>
        <p:spPr>
          <a:xfrm>
            <a:off x="8341157" y="4480560"/>
            <a:ext cx="3027578" cy="365760"/>
          </a:xfrm>
          <a:prstGeom prst="rect">
            <a:avLst/>
          </a:prstGeom>
          <a:noFill/>
          <a:ln/>
        </p:spPr>
        <p:txBody>
          <a:bodyPr wrap="square" lIns="0" tIns="0" rIns="0" bIns="0" rtlCol="0" anchor="ctr"/>
          <a:lstStyle/>
          <a:p>
            <a:pPr indent="0" marL="0">
              <a:buNone/>
            </a:pPr>
            <a:r>
              <a:rPr lang="en-US" sz="1500" b="1" dirty="0">
                <a:solidFill>
                  <a:srgbClr val="1E293B"/>
                </a:solidFill>
                <a:latin typeface="Inter" pitchFamily="34" charset="0"/>
                <a:ea typeface="Inter" pitchFamily="34" charset="-122"/>
                <a:cs typeface="Inter" pitchFamily="34" charset="-120"/>
              </a:rPr>
              <a:t>Infrastructure</a:t>
            </a:r>
            <a:endParaRPr lang="en-US" sz="1500" dirty="0"/>
          </a:p>
        </p:txBody>
      </p:sp>
      <p:sp>
        <p:nvSpPr>
          <p:cNvPr id="22" name="Text 20"/>
          <p:cNvSpPr/>
          <p:nvPr/>
        </p:nvSpPr>
        <p:spPr>
          <a:xfrm>
            <a:off x="8341157" y="4892040"/>
            <a:ext cx="3027578" cy="548640"/>
          </a:xfrm>
          <a:prstGeom prst="rect">
            <a:avLst/>
          </a:prstGeom>
          <a:noFill/>
          <a:ln/>
        </p:spPr>
        <p:txBody>
          <a:bodyPr wrap="square" lIns="0" tIns="0" rIns="0" bIns="0" rtlCol="0" anchor="ctr"/>
          <a:lstStyle/>
          <a:p>
            <a:pPr indent="0" marL="0">
              <a:buNone/>
            </a:pPr>
            <a:r>
              <a:rPr lang="en-US" sz="1000" dirty="0">
                <a:solidFill>
                  <a:srgbClr val="475569"/>
                </a:solidFill>
                <a:latin typeface="Inter" pitchFamily="34" charset="0"/>
                <a:ea typeface="Inter" pitchFamily="34" charset="-122"/>
                <a:cs typeface="Inter" pitchFamily="34" charset="-120"/>
              </a:rPr>
              <a:t>Multi-region rollout, abuse/scaling headroom, partnership-integration build for Anthropic / Cursor / Windsurf.</a:t>
            </a:r>
            <a:endParaRPr lang="en-US" sz="1000" dirty="0"/>
          </a:p>
        </p:txBody>
      </p:sp>
      <p:sp>
        <p:nvSpPr>
          <p:cNvPr id="23" name="Shape 21"/>
          <p:cNvSpPr/>
          <p:nvPr/>
        </p:nvSpPr>
        <p:spPr>
          <a:xfrm>
            <a:off x="548640" y="5669280"/>
            <a:ext cx="11064240" cy="777240"/>
          </a:xfrm>
          <a:prstGeom prst="rect">
            <a:avLst/>
          </a:prstGeom>
          <a:solidFill>
            <a:srgbClr val="EEF2FF"/>
          </a:solidFill>
          <a:ln w="12700">
            <a:solidFill>
              <a:srgbClr val="4F46E5"/>
            </a:solidFill>
            <a:prstDash val="solid"/>
          </a:ln>
        </p:spPr>
        <p:txBody>
          <a:bodyPr/>
          <a:p/>
        </p:txBody>
      </p:sp>
      <p:sp>
        <p:nvSpPr>
          <p:cNvPr id="24" name="Text 22"/>
          <p:cNvSpPr/>
          <p:nvPr/>
        </p:nvSpPr>
        <p:spPr>
          <a:xfrm>
            <a:off x="777240" y="5760720"/>
            <a:ext cx="5486400" cy="274320"/>
          </a:xfrm>
          <a:prstGeom prst="rect">
            <a:avLst/>
          </a:prstGeom>
          <a:noFill/>
          <a:ln/>
        </p:spPr>
        <p:txBody>
          <a:bodyPr wrap="square" lIns="0" tIns="0" rIns="0" bIns="0" rtlCol="0" anchor="ctr"/>
          <a:lstStyle/>
          <a:p>
            <a:pPr indent="0" marL="0">
              <a:buNone/>
            </a:pPr>
            <a:r>
              <a:rPr lang="en-US" sz="900" b="1" spc="400" kern="0" dirty="0">
                <a:solidFill>
                  <a:srgbClr val="3730A3"/>
                </a:solidFill>
                <a:latin typeface="JetBrains Mono" pitchFamily="34" charset="0"/>
                <a:ea typeface="JetBrains Mono" pitchFamily="34" charset="-122"/>
                <a:cs typeface="JetBrains Mono" pitchFamily="34" charset="-120"/>
              </a:rPr>
              <a:t>TARGET AT MONTH 12  ·  DECISION POINT</a:t>
            </a:r>
            <a:endParaRPr lang="en-US" sz="900" dirty="0"/>
          </a:p>
        </p:txBody>
      </p:sp>
      <p:sp>
        <p:nvSpPr>
          <p:cNvPr id="25" name="Text 23"/>
          <p:cNvSpPr/>
          <p:nvPr/>
        </p:nvSpPr>
        <p:spPr>
          <a:xfrm>
            <a:off x="777240" y="5989320"/>
            <a:ext cx="10698480" cy="365760"/>
          </a:xfrm>
          <a:prstGeom prst="rect">
            <a:avLst/>
          </a:prstGeom>
          <a:noFill/>
          <a:ln/>
        </p:spPr>
        <p:txBody>
          <a:bodyPr wrap="square" lIns="0" tIns="0" rIns="0" bIns="0" rtlCol="0" anchor="ctr"/>
          <a:lstStyle/>
          <a:p>
            <a:pPr indent="0" marL="0">
              <a:buNone/>
            </a:pPr>
            <a:r>
              <a:rPr lang="en-US" sz="1300" b="1" dirty="0">
                <a:solidFill>
                  <a:srgbClr val="1E293B"/>
                </a:solidFill>
                <a:latin typeface="Inter" pitchFamily="34" charset="0"/>
                <a:ea typeface="Inter" pitchFamily="34" charset="-122"/>
                <a:cs typeface="Inter" pitchFamily="34" charset="-120"/>
              </a:rPr>
              <a:t>[ fill ] paying customers  ·  £[ fill ]K MRR  ·  validated funnel  ·  acquirer + raise conversations live</a:t>
            </a:r>
            <a:endParaRPr lang="en-US" sz="1300" dirty="0"/>
          </a:p>
        </p:txBody>
      </p:sp>
      <p:sp>
        <p:nvSpPr>
          <p:cNvPr id="26" name="Text 24"/>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64748B"/>
                </a:solidFill>
                <a:latin typeface="Inter" pitchFamily="34" charset="0"/>
                <a:ea typeface="Inter" pitchFamily="34" charset="-122"/>
                <a:cs typeface="Inter" pitchFamily="34" charset="-120"/>
              </a:rPr>
              <a:t>Hatchik  ·  Investor + partner deck  ·  May 2026</a:t>
            </a:r>
            <a:endParaRPr lang="en-US" sz="900" dirty="0"/>
          </a:p>
        </p:txBody>
      </p:sp>
      <p:sp>
        <p:nvSpPr>
          <p:cNvPr id="27" name="Text 25"/>
          <p:cNvSpPr/>
          <p:nvPr/>
        </p:nvSpPr>
        <p:spPr>
          <a:xfrm>
            <a:off x="11277295" y="6492240"/>
            <a:ext cx="457200" cy="274320"/>
          </a:xfrm>
          <a:prstGeom prst="rect">
            <a:avLst/>
          </a:prstGeom>
          <a:noFill/>
          <a:ln/>
        </p:spPr>
        <p:txBody>
          <a:bodyPr wrap="square" lIns="0" tIns="0" rIns="0" bIns="0" rtlCol="0" anchor="ctr"/>
          <a:lstStyle/>
          <a:p>
            <a:pPr algn="r" indent="0" marL="0">
              <a:buNone/>
            </a:pPr>
            <a:r>
              <a:rPr lang="en-US" sz="900" dirty="0">
                <a:solidFill>
                  <a:srgbClr val="64748B"/>
                </a:solidFill>
                <a:latin typeface="Inter" pitchFamily="34" charset="0"/>
                <a:ea typeface="Inter" pitchFamily="34" charset="-122"/>
                <a:cs typeface="Inter"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619695" y="-1828800"/>
            <a:ext cx="6400800" cy="6400800"/>
          </a:xfrm>
          <a:prstGeom prst="ellipse">
            <a:avLst/>
          </a:prstGeom>
          <a:solidFill>
            <a:srgbClr val="4F46E5">
              <a:alpha val="30000"/>
            </a:srgbClr>
          </a:solidFill>
          <a:ln w="12700">
            <a:solidFill>
              <a:srgbClr val="4F46E5">
                <a:alpha val="0"/>
              </a:srgbClr>
            </a:solidFill>
            <a:prstDash val="solid"/>
          </a:ln>
        </p:spPr>
        <p:txBody>
          <a:bodyPr/>
          <a:p/>
        </p:txBody>
      </p:sp>
      <p:sp>
        <p:nvSpPr>
          <p:cNvPr id="3" name="Shape 1"/>
          <p:cNvSpPr/>
          <p:nvPr/>
        </p:nvSpPr>
        <p:spPr>
          <a:xfrm>
            <a:off x="-1828800" y="3200400"/>
            <a:ext cx="6400800" cy="6400800"/>
          </a:xfrm>
          <a:prstGeom prst="ellipse">
            <a:avLst/>
          </a:prstGeom>
          <a:solidFill>
            <a:srgbClr val="F59E0B">
              <a:alpha val="20000"/>
            </a:srgbClr>
          </a:solidFill>
          <a:ln w="12700">
            <a:solidFill>
              <a:srgbClr val="F59E0B">
                <a:alpha val="0"/>
              </a:srgbClr>
            </a:solidFill>
            <a:prstDash val="solid"/>
          </a:ln>
        </p:spPr>
        <p:txBody>
          <a:bodyPr/>
          <a:p/>
        </p:txBody>
      </p:sp>
      <p:sp>
        <p:nvSpPr>
          <p:cNvPr id="4" name="Shape 2"/>
          <p:cNvSpPr/>
          <p:nvPr/>
        </p:nvSpPr>
        <p:spPr>
          <a:xfrm>
            <a:off x="548640" y="502920"/>
            <a:ext cx="201168" cy="201168"/>
          </a:xfrm>
          <a:prstGeom prst="ellipse">
            <a:avLst/>
          </a:prstGeom>
          <a:solidFill>
            <a:srgbClr val="4F46E5"/>
          </a:solidFill>
          <a:ln w="12700">
            <a:solidFill>
              <a:srgbClr val="4F46E5"/>
            </a:solidFill>
            <a:prstDash val="solid"/>
          </a:ln>
        </p:spPr>
        <p:txBody>
          <a:bodyPr/>
          <a:p/>
        </p:txBody>
      </p:sp>
      <p:sp>
        <p:nvSpPr>
          <p:cNvPr id="5" name="Shape 3"/>
          <p:cNvSpPr/>
          <p:nvPr/>
        </p:nvSpPr>
        <p:spPr>
          <a:xfrm>
            <a:off x="694944" y="502920"/>
            <a:ext cx="201168" cy="201168"/>
          </a:xfrm>
          <a:prstGeom prst="ellipse">
            <a:avLst/>
          </a:prstGeom>
          <a:solidFill>
            <a:srgbClr val="F59E0B"/>
          </a:solidFill>
          <a:ln w="12700">
            <a:solidFill>
              <a:srgbClr val="F59E0B"/>
            </a:solidFill>
            <a:prstDash val="solid"/>
          </a:ln>
        </p:spPr>
        <p:txBody>
          <a:bodyPr/>
          <a:p/>
        </p:txBody>
      </p:sp>
      <p:sp>
        <p:nvSpPr>
          <p:cNvPr id="6" name="Text 4"/>
          <p:cNvSpPr/>
          <p:nvPr/>
        </p:nvSpPr>
        <p:spPr>
          <a:xfrm>
            <a:off x="960120" y="466344"/>
            <a:ext cx="1463040" cy="274320"/>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Hatchik</a:t>
            </a:r>
            <a:endParaRPr lang="en-US" sz="1300" dirty="0"/>
          </a:p>
        </p:txBody>
      </p:sp>
      <p:sp>
        <p:nvSpPr>
          <p:cNvPr id="7" name="Text 5"/>
          <p:cNvSpPr/>
          <p:nvPr/>
        </p:nvSpPr>
        <p:spPr>
          <a:xfrm>
            <a:off x="548640" y="2011680"/>
            <a:ext cx="10972800" cy="82296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The production substrate</a:t>
            </a:r>
            <a:endParaRPr lang="en-US" sz="4800" dirty="0"/>
          </a:p>
        </p:txBody>
      </p:sp>
      <p:sp>
        <p:nvSpPr>
          <p:cNvPr id="8" name="Text 6"/>
          <p:cNvSpPr/>
          <p:nvPr/>
        </p:nvSpPr>
        <p:spPr>
          <a:xfrm>
            <a:off x="548640" y="2788920"/>
            <a:ext cx="10972800" cy="822960"/>
          </a:xfrm>
          <a:prstGeom prst="rect">
            <a:avLst/>
          </a:prstGeom>
          <a:noFill/>
          <a:ln/>
        </p:spPr>
        <p:txBody>
          <a:bodyPr wrap="square" lIns="0" tIns="0" rIns="0" bIns="0" rtlCol="0" anchor="ctr"/>
          <a:lstStyle/>
          <a:p>
            <a:pPr indent="0" marL="0">
              <a:buNone/>
            </a:pPr>
            <a:r>
              <a:rPr lang="en-US" sz="4800" b="1" i="1" dirty="0">
                <a:solidFill>
                  <a:srgbClr val="FCD34D"/>
                </a:solidFill>
                <a:latin typeface="Inter" pitchFamily="34" charset="0"/>
                <a:ea typeface="Inter" pitchFamily="34" charset="-122"/>
                <a:cs typeface="Inter" pitchFamily="34" charset="-120"/>
              </a:rPr>
              <a:t>your AI coder builds on.</a:t>
            </a:r>
            <a:endParaRPr lang="en-US" sz="4800" dirty="0"/>
          </a:p>
        </p:txBody>
      </p:sp>
      <p:sp>
        <p:nvSpPr>
          <p:cNvPr id="9" name="Text 7"/>
          <p:cNvSpPr/>
          <p:nvPr/>
        </p:nvSpPr>
        <p:spPr>
          <a:xfrm>
            <a:off x="548640" y="3749040"/>
            <a:ext cx="10972800" cy="457200"/>
          </a:xfrm>
          <a:prstGeom prst="rect">
            <a:avLst/>
          </a:prstGeom>
          <a:noFill/>
          <a:ln/>
        </p:spPr>
        <p:txBody>
          <a:bodyPr wrap="square" lIns="0" tIns="0" rIns="0" bIns="0" rtlCol="0" anchor="ctr"/>
          <a:lstStyle/>
          <a:p>
            <a:pPr indent="0" marL="0">
              <a:buNone/>
            </a:pPr>
            <a:r>
              <a:rPr lang="en-US" sz="1800" dirty="0">
                <a:solidFill>
                  <a:srgbClr val="CBD5E1"/>
                </a:solidFill>
                <a:latin typeface="Inter" pitchFamily="34" charset="0"/>
                <a:ea typeface="Inter" pitchFamily="34" charset="-122"/>
                <a:cs typeface="Inter" pitchFamily="34" charset="-120"/>
              </a:rPr>
              <a:t>No platform. No lock-in. No demos.</a:t>
            </a:r>
            <a:endParaRPr lang="en-US" sz="1800" dirty="0"/>
          </a:p>
        </p:txBody>
      </p:sp>
      <p:sp>
        <p:nvSpPr>
          <p:cNvPr id="10" name="Shape 8"/>
          <p:cNvSpPr/>
          <p:nvPr/>
        </p:nvSpPr>
        <p:spPr>
          <a:xfrm>
            <a:off x="548640" y="4937760"/>
            <a:ext cx="11064240" cy="1417320"/>
          </a:xfrm>
          <a:prstGeom prst="rect">
            <a:avLst/>
          </a:prstGeom>
          <a:solidFill>
            <a:srgbClr val="1E293B"/>
          </a:solidFill>
          <a:ln w="12700">
            <a:solidFill>
              <a:srgbClr val="334155"/>
            </a:solidFill>
            <a:prstDash val="solid"/>
          </a:ln>
        </p:spPr>
        <p:txBody>
          <a:bodyPr/>
          <a:p/>
        </p:txBody>
      </p:sp>
      <p:sp>
        <p:nvSpPr>
          <p:cNvPr id="11" name="Text 9"/>
          <p:cNvSpPr/>
          <p:nvPr/>
        </p:nvSpPr>
        <p:spPr>
          <a:xfrm>
            <a:off x="777240" y="5120640"/>
            <a:ext cx="2560320"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GENERAL</a:t>
            </a:r>
            <a:endParaRPr lang="en-US" sz="900" dirty="0"/>
          </a:p>
        </p:txBody>
      </p:sp>
      <p:sp>
        <p:nvSpPr>
          <p:cNvPr id="12" name="Text 10"/>
          <p:cNvSpPr/>
          <p:nvPr/>
        </p:nvSpPr>
        <p:spPr>
          <a:xfrm>
            <a:off x="777240" y="5440680"/>
            <a:ext cx="256032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hello@hatchik.com</a:t>
            </a:r>
            <a:endParaRPr lang="en-US" sz="1400" dirty="0"/>
          </a:p>
        </p:txBody>
      </p:sp>
      <p:sp>
        <p:nvSpPr>
          <p:cNvPr id="13" name="Text 11"/>
          <p:cNvSpPr/>
          <p:nvPr/>
        </p:nvSpPr>
        <p:spPr>
          <a:xfrm>
            <a:off x="3520440" y="5120640"/>
            <a:ext cx="2560320"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WEB</a:t>
            </a:r>
            <a:endParaRPr lang="en-US" sz="900" dirty="0"/>
          </a:p>
        </p:txBody>
      </p:sp>
      <p:sp>
        <p:nvSpPr>
          <p:cNvPr id="14" name="Text 12"/>
          <p:cNvSpPr/>
          <p:nvPr/>
        </p:nvSpPr>
        <p:spPr>
          <a:xfrm>
            <a:off x="3520440" y="5440680"/>
            <a:ext cx="256032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hatchik.com</a:t>
            </a:r>
            <a:endParaRPr lang="en-US" sz="1400" dirty="0"/>
          </a:p>
        </p:txBody>
      </p:sp>
      <p:sp>
        <p:nvSpPr>
          <p:cNvPr id="15" name="Text 13"/>
          <p:cNvSpPr/>
          <p:nvPr/>
        </p:nvSpPr>
        <p:spPr>
          <a:xfrm>
            <a:off x="6263640" y="5120640"/>
            <a:ext cx="2560320"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FOUNDER EMAIL</a:t>
            </a:r>
            <a:endParaRPr lang="en-US" sz="900" dirty="0"/>
          </a:p>
        </p:txBody>
      </p:sp>
      <p:sp>
        <p:nvSpPr>
          <p:cNvPr id="16" name="Text 14"/>
          <p:cNvSpPr/>
          <p:nvPr/>
        </p:nvSpPr>
        <p:spPr>
          <a:xfrm>
            <a:off x="6263640" y="5440680"/>
            <a:ext cx="256032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 founder fills ]</a:t>
            </a:r>
            <a:endParaRPr lang="en-US" sz="1400" dirty="0"/>
          </a:p>
        </p:txBody>
      </p:sp>
      <p:sp>
        <p:nvSpPr>
          <p:cNvPr id="17" name="Text 15"/>
          <p:cNvSpPr/>
          <p:nvPr/>
        </p:nvSpPr>
        <p:spPr>
          <a:xfrm>
            <a:off x="9006840" y="5120640"/>
            <a:ext cx="2560320" cy="274320"/>
          </a:xfrm>
          <a:prstGeom prst="rect">
            <a:avLst/>
          </a:prstGeom>
          <a:noFill/>
          <a:ln/>
        </p:spPr>
        <p:txBody>
          <a:bodyPr wrap="square" lIns="0" tIns="0" rIns="0" bIns="0" rtlCol="0" anchor="ctr"/>
          <a:lstStyle/>
          <a:p>
            <a:pPr indent="0" marL="0">
              <a:buNone/>
            </a:pPr>
            <a:r>
              <a:rPr lang="en-US" sz="900" b="1" spc="400" kern="0" dirty="0">
                <a:solidFill>
                  <a:srgbClr val="F59E0B"/>
                </a:solidFill>
                <a:latin typeface="JetBrains Mono" pitchFamily="34" charset="0"/>
                <a:ea typeface="JetBrains Mono" pitchFamily="34" charset="-122"/>
                <a:cs typeface="JetBrains Mono" pitchFamily="34" charset="-120"/>
              </a:rPr>
              <a:t>LINKEDIN</a:t>
            </a:r>
            <a:endParaRPr lang="en-US" sz="900" dirty="0"/>
          </a:p>
        </p:txBody>
      </p:sp>
      <p:sp>
        <p:nvSpPr>
          <p:cNvPr id="18" name="Text 16"/>
          <p:cNvSpPr/>
          <p:nvPr/>
        </p:nvSpPr>
        <p:spPr>
          <a:xfrm>
            <a:off x="9006840" y="5440680"/>
            <a:ext cx="256032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 founder fills ]</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Hatchik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Hatchik — Investor + Partner Pitch</dc:title>
  <dc:subject>PptxGenJS Presentation</dc:subject>
  <dc:creator>Farhan Irshad</dc:creator>
  <cp:lastModifiedBy>Farhan Irshad</cp:lastModifiedBy>
  <cp:revision>1</cp:revision>
  <dcterms:created xsi:type="dcterms:W3CDTF">2026-05-13T13:25:09Z</dcterms:created>
  <dcterms:modified xsi:type="dcterms:W3CDTF">2026-05-13T13:25:09Z</dcterms:modified>
</cp:coreProperties>
</file>