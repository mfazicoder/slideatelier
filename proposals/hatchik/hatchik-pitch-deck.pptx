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Conservative</c:v>
                </c:pt>
              </c:strCache>
            </c:strRef>
          </c:tx>
          <c:spPr>
            <a:solidFill>
              <a:srgbClr val="94A3B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E293B"/>
                    </a:solidFill>
                    <a:latin typeface="JetBrains Mon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72</c:v>
                </c:pt>
                <c:pt idx="1">
                  <c:v>140</c:v>
                </c:pt>
                <c:pt idx="2">
                  <c:v>216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Base</c:v>
                </c:pt>
              </c:strCache>
            </c:strRef>
          </c:tx>
          <c:spPr>
            <a:solidFill>
              <a:srgbClr val="4F46E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E293B"/>
                    </a:solidFill>
                    <a:latin typeface="JetBrains Mon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180</c:v>
                </c:pt>
                <c:pt idx="1">
                  <c:v>450</c:v>
                </c:pt>
                <c:pt idx="2">
                  <c:v>720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Aggressive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E293B"/>
                    </a:solidFill>
                    <a:latin typeface="JetBrains Mon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360</c:v>
                </c:pt>
                <c:pt idx="1">
                  <c:v>1100</c:v>
                </c:pt>
                <c:pt idx="2">
                  <c:v>1870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1E293B"/>
                  </a:solidFill>
                  <a:latin typeface="JetBrains Mon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75569"/>
                </a:solidFill>
                <a:latin typeface="Inter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4748B"/>
                    </a:solidFill>
                    <a:latin typeface="JetBrains Mono"/>
                  </a:defRPr>
                </a:pPr>
                <a:r>
                  <a:rPr sz="1000" b="0" i="0" u="none" strike="noStrike">
                    <a:solidFill>
                      <a:srgbClr val="64748B"/>
                    </a:solidFill>
                    <a:latin typeface="JetBrains Mono"/>
                  </a:rPr>
                  <a:t>ARR (£K)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JetBrains Mon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E293B"/>
              </a:solidFill>
              <a:latin typeface="Inter"/>
              <a:cs typeface="Inter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Hatchik is the production substrate AI coding tools (Claude Code, Cursor, Windsurf) build on. Operating entity is a registered Omani company; payments handled by Paddle as merchant of record. Deck doubles as investor pitch and partner/customer collateral. Founder is Farhan Irshad.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personas pulled from the marketing site (hatchik.com): PT building meal-prep, consultant building framework demo, designer building tool-they-always-wanted. Each gets to ‘looks working’ then plateaus on infrastructure. The plateau is the wedge.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End-to-end: Sandbox is fully automated by sandbox-orchestrator/provision.py — 9-container compose stack per tenant, per-tenant GitHub repo with deploy token, push-to-redeploy webhook plus direct curl-by-AI redeploy endpoint. Source of truth: FIRST_CUSTOMER_RUNBOOK.md.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Cursor: 1M+ paid (public, 2025). Copilot: 1.8M paid (Microsoft Ignite 2024 keynote). Claude Code: 100Ks of devs in &lt;12 months (Anthropic). Roughly doubling YoY across the category. Critically, none of these AI tool vendors operate the production hosting/auth/payments layer — that gap is our wedge.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Real screens from the production marketing site (/start wizard) and orchestrator. Substituted clean mockups here to keep the deck legible at email-thumbnail size. Live demo: hatchik.com  →  /start  →  end-to-end in under 90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item here ships in the substrate template that every tenant boots with. Mailboxes are Launch-tier (Infomaniak); mobile builds are unsigned IPA/APK via GitHub Actions, customer brings their own Apple Developer / Android keystore secrets to sign.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TAM derived from public paid-user reports across Cursor, Copilot, Claude Code, Windsurf with ~30% dedup. ARPU £180 blended (Launch £108 ongoing + Growth £288). SOM scenarios from MARKETING_PLAN §5. Conservative = organic only; Base = active content + 1-2 sponsorships; Aggressive = paid ads + AI-tool partnerships.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Eight differentiating rows from MARKETING_PLAN §9 / hatchik.com/vs. Hatchik column highlighted in amber. Three rows competitors cannot tick at all: your-existing-AI-tool, take-stack-elsewhere, mobile-builds. MoR billing is also rare in this space.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differentiators competitors structurally cannot copy quickly: (1) shipping someone else's AI tool would cannibalise their own; (2) giving the customer their repo + VPS undermines their lock-in moat; (3) wiring real prod stack is operational work, not a feature ship.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Sandbox tier is a real lead magnet — fully automated, anti-abuse-gated. Launch unit economics are deliberately tight (£9 entry); they exist to remove the friction at the conversion moment, with the upgrade path to Growth as the margin lever. £19/mo Launch tier would roughly double ongoing margin and is the clearest pricing-move once we have conversion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Channels are sequenced: in-community organic first (months 1–3), creator sponsorships (months 3–6), launch moments (~month 6 once we have proof points). Founder must own first 50 posts personally to seed authenticity — AI-drafted but human-published until accounts are warm.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Funnel assumptions from MARKETING_PLAN §6. The cohort dashboard (admin/dashboard) is already built and live; it ground-truths every assumption per weekly cohort. By signup #50 we replace these estimates with real numbers.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values in £K. Year-3 ARR ranges from £216K (organic only) to £1.87M (paid + partnerships). Numbers scale with paying customers (500/1K/1.5K conservative; 1.5K/3K/5K base; 4K/8.5K/13K aggressive). Margin reality on the next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Conservative is honestly described as lifestyle income. Base is solo-founder territory. Aggressive only materialises if we invest in marketing — which we cannot fund pre-revenue from the £79 setups. Hence ask slide. £19/mo Launch pricing is the cleanest non-cap-raise margin lever.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line maps to a shipped agent / service. Recent commits: lifecycle agent (30-day idle archive + restore), GitHub agent (per-tenant repo + AI-tool handoff), shell agent (one active sandbox per email), status agent (self-hosted status.hatchik.com). All built in ~3 weeks with heavy AI augmentation.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Investor honesty: these are real and known. Each has a concrete mitigation. Funnel risk is the biggest — and we've already built the instrumentation to retire it. Infrastructure risk is contained by tenant-isolation + scheduled second-region rollout. Mobile signing is intentionally out-of-band — Hatchik never holds signing keys.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TEMPLATE SLIDE — founder fills the brackets. Suggested defaults to discuss: £150–250K for 12–18 months runway, target 1,500 paying customers (Base year-2), £37K MRR. Skip this slide entirely when the deck is being used for partner conversations (Anthropic, Cursor, Windsurf, etc.).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Tagline restated. Founder fills personal email + LinkedIn before sending. hello@hatchik.com is monitored. hatchik.com hosts the live wizard, /vs page and docs.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6400800" cy="6400800"/>
          </a:xfrm>
          <a:prstGeom prst="ellipse">
            <a:avLst/>
          </a:prstGeom>
          <a:solidFill>
            <a:srgbClr val="4F46E5">
              <a:alpha val="30000"/>
            </a:srgbClr>
          </a:solidFill>
          <a:ln w="12700">
            <a:solidFill>
              <a:srgbClr val="4F46E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34095" y="3200400"/>
            <a:ext cx="6400800" cy="6400800"/>
          </a:xfrm>
          <a:prstGeom prst="ellipse">
            <a:avLst/>
          </a:prstGeom>
          <a:solidFill>
            <a:srgbClr val="F59E0B">
              <a:alpha val="20000"/>
            </a:srgbClr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502920"/>
            <a:ext cx="201168" cy="201168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94944" y="502920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46634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Hatchik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1945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600" kern="0" dirty="0">
                <a:solidFill>
                  <a:srgbClr val="A5B4F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PRODUCTION SUBSTRATE FOR AI-BUILT SAAS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2606040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Hatchik</a:t>
            </a:r>
            <a:endParaRPr lang="en-US" sz="9600" dirty="0"/>
          </a:p>
        </p:txBody>
      </p:sp>
      <p:sp>
        <p:nvSpPr>
          <p:cNvPr id="9" name="Text 7"/>
          <p:cNvSpPr/>
          <p:nvPr/>
        </p:nvSpPr>
        <p:spPr>
          <a:xfrm>
            <a:off x="548640" y="40690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production substrate your AI coder builds on — </a:t>
            </a:r>
            <a:pPr indent="0" marL="0">
              <a:buNone/>
            </a:pPr>
            <a:r>
              <a:rPr lang="en-US" sz="2200" i="1" dirty="0">
                <a:solidFill>
                  <a:srgbClr val="FCD3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platform, no lock-in, no demos.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48640" y="580644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Farhan Irshad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Founder  ·  Operating entity: Omani-registered company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985455" y="5989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May 2026  ·  hatchik.com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F46E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  ·  THE PROBLEM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builds the prototype. Then they hit a wall.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Non-technical founders are using AI coding tools to ship working prototypes. Then they get stuck on the infrastructure step — auth, payments, mailboxes, mobile, a real database — and the project quietly dies between “looks working” and “a real business.”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3108960"/>
            <a:ext cx="361188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3108960"/>
            <a:ext cx="3611880" cy="73152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333756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4F46E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PERSONAL TRAINER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" y="365760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Meal-prep app for PT clients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22960" y="4434840"/>
            <a:ext cx="3063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400" kern="0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WHERE THEY PLATEAU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" y="470916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Prototype generates meal plans. Cannot bill clients, cannot send weekly emails, cannot ship a mobile build.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89120" y="3108960"/>
            <a:ext cx="361188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89120" y="3108960"/>
            <a:ext cx="3611880" cy="73152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333756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4F46E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CONSULTANT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663440" y="365760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Interactive framework demo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663440" y="4434840"/>
            <a:ext cx="3063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400" kern="0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WHERE THEY PLATEAU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663440" y="470916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Slick interaction. No login, no usage limits, no way to charge enterprise prospects the £5K it’s worth.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229600" y="3108960"/>
            <a:ext cx="361188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0" y="3108960"/>
            <a:ext cx="3611880" cy="73152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03920" y="333756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4F46E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DESIGNER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503920" y="365760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tool they always wanted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503920" y="4434840"/>
            <a:ext cx="3063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400" kern="0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WHERE THEY PLATEAU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8503920" y="470916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Lovely UI. No real database, no auth, no signed mobile build to show on a phone in a room.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48640" y="60807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59E0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persona above ships a working-looking thing. None of them ship a business.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Hatchik  ·  Investor + partner deck  ·  May 2026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F46E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  ·  THE SOLUTION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 give the AI tool a real SaaS to build on.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5852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signs up. In ~60 seconds they have a sandbox at &lt;slug&gt;.hatchik.com with auth, Postgres, payments, mail, mobile and a GitHub repo all wired. Their AI tool reads the AI_CONTEXT.md handoff file, knows the layout, pushes changes into the repo. We redeploy in ~30 seconds.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023360"/>
            <a:ext cx="5852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goes from “looks working” to “real product” without learning infrastructure.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5349240"/>
            <a:ext cx="2340864" cy="329184"/>
          </a:xfrm>
          <a:prstGeom prst="roundRect">
            <a:avLst>
              <a:gd name="adj" fmla="val 22222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5349240"/>
            <a:ext cx="2340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730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AI tool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026664" y="5349240"/>
            <a:ext cx="1847088" cy="329184"/>
          </a:xfrm>
          <a:prstGeom prst="roundRect">
            <a:avLst>
              <a:gd name="adj" fmla="val 22222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026664" y="5349240"/>
            <a:ext cx="18470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730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code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010912" y="5349240"/>
            <a:ext cx="1847088" cy="329184"/>
          </a:xfrm>
          <a:prstGeom prst="roundRect">
            <a:avLst>
              <a:gd name="adj" fmla="val 22222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10912" y="5349240"/>
            <a:ext cx="18470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730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repo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995160" y="5349240"/>
            <a:ext cx="3822192" cy="329184"/>
          </a:xfrm>
          <a:prstGeom prst="roundRect">
            <a:avLst>
              <a:gd name="adj" fmla="val 22222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995160" y="5349240"/>
            <a:ext cx="3822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2400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 production stack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858000" y="1828800"/>
            <a:ext cx="594360" cy="5943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0" y="18288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7680960" y="1792224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Sign up wizard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680960" y="2121408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Email + product idea + tier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155180" y="2468880"/>
            <a:ext cx="0" cy="164592"/>
          </a:xfrm>
          <a:prstGeom prst="line">
            <a:avLst/>
          </a:prstGeom>
          <a:noFill/>
          <a:ln w="2540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858000" y="2834640"/>
            <a:ext cx="594360" cy="5943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0" y="28346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7680960" y="2798064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Sandbox provisioned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680960" y="3127248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~60s, 9 containers, wildcard TLS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7155180" y="3474720"/>
            <a:ext cx="0" cy="164592"/>
          </a:xfrm>
          <a:prstGeom prst="line">
            <a:avLst/>
          </a:prstGeom>
          <a:noFill/>
          <a:ln w="254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858000" y="3840480"/>
            <a:ext cx="594360" cy="5943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0" y="38404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7680960" y="3803904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tool reads AI_CONTEXT.md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680960" y="4133088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Knows the layout, pushes to repo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155180" y="4480560"/>
            <a:ext cx="0" cy="164592"/>
          </a:xfrm>
          <a:prstGeom prst="line">
            <a:avLst/>
          </a:prstGeom>
          <a:noFill/>
          <a:ln w="254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858000" y="4846320"/>
            <a:ext cx="594360" cy="5943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58000" y="48463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7680960" y="4809744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Push-to-deploy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7680960" y="5138928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~30s redeploy via webhook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Hatchik  ·  Investor + partner deck  ·  May 2026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F46E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  ·  WHY NOW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coding tools are exploding. No one owns the infrastructure layer.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361188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103120"/>
            <a:ext cx="3611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4F46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1M+</a:t>
            </a:r>
            <a:endParaRPr lang="en-US" sz="56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Cursor paid users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333756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Public, 2025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389120" y="1920240"/>
            <a:ext cx="361188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389120" y="2103120"/>
            <a:ext cx="3611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4F46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1.8M</a:t>
            </a:r>
            <a:endParaRPr lang="en-US" sz="5600" dirty="0"/>
          </a:p>
        </p:txBody>
      </p:sp>
      <p:sp>
        <p:nvSpPr>
          <p:cNvPr id="10" name="Text 8"/>
          <p:cNvSpPr/>
          <p:nvPr/>
        </p:nvSpPr>
        <p:spPr>
          <a:xfrm>
            <a:off x="4389120" y="301752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GitHub Copilot paid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389120" y="333756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MS Ignite 2024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8229600" y="1920240"/>
            <a:ext cx="361188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03120"/>
            <a:ext cx="3611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4F46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100Ks</a:t>
            </a:r>
            <a:endParaRPr lang="en-US" sz="5600" dirty="0"/>
          </a:p>
        </p:txBody>
      </p:sp>
      <p:sp>
        <p:nvSpPr>
          <p:cNvPr id="14" name="Text 12"/>
          <p:cNvSpPr/>
          <p:nvPr/>
        </p:nvSpPr>
        <p:spPr>
          <a:xfrm>
            <a:off x="8229600" y="301752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Code developers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229600" y="333756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Anthropic, &lt;12 mo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48640" y="4069080"/>
            <a:ext cx="11064240" cy="1554480"/>
          </a:xfrm>
          <a:prstGeom prst="rect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420624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CD34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~doubling YoY  ·  none of these tools own the production substrate layer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77240" y="461772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 fit between the AI tool (theirs) and the production stack (ours). Every new Cursor / Claude Code user is a potential Hatchik customer the moment their prototype outgrows the playground.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48640" y="58521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Source: MARKETING_PLAN §2. Numbers triangulated from public claims; deduped at ~30% for cross-tool overlap.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Hatchik  ·  Investor + partner deck  ·  May 2026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F46E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05  ·  PRODUCT FLOW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 steps. Real product live in a single sitting.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87452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59E0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219456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Wizard at /start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2560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60 seconds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971800"/>
            <a:ext cx="2743200" cy="3017520"/>
          </a:xfrm>
          <a:prstGeom prst="rect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13232" y="3136392"/>
            <a:ext cx="146304" cy="146304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3136392"/>
            <a:ext cx="146304" cy="14630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15568" y="3136392"/>
            <a:ext cx="146304" cy="146304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3474720"/>
            <a:ext cx="2743200" cy="0"/>
          </a:xfrm>
          <a:prstGeom prst="line">
            <a:avLst/>
          </a:prstGeom>
          <a:noFill/>
          <a:ln w="12700">
            <a:solidFill>
              <a:srgbClr val="1E293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3232" y="365760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product: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508760" y="36576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PrepSheet — meals for PT clients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13232" y="40690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email: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508760" y="40690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alex@prep-pt.uk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13232" y="448056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plan: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508760" y="44805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Sandbox  (free, 30-day idle)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13232" y="5074920"/>
            <a:ext cx="2414016" cy="411480"/>
          </a:xfrm>
          <a:prstGeom prst="roundRect">
            <a:avLst>
              <a:gd name="adj" fmla="val 13333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" y="5074920"/>
            <a:ext cx="24140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Start building →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383280" y="187452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59E0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383280" y="219456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Sandbox live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3383280" y="2560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auto-provisioned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383280" y="2971800"/>
            <a:ext cx="2743200" cy="3017520"/>
          </a:xfrm>
          <a:prstGeom prst="rect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47872" y="3136392"/>
            <a:ext cx="146304" cy="146304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749040" y="3136392"/>
            <a:ext cx="146304" cy="14630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950208" y="3136392"/>
            <a:ext cx="146304" cy="146304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383280" y="3474720"/>
            <a:ext cx="2743200" cy="0"/>
          </a:xfrm>
          <a:prstGeom prst="line">
            <a:avLst/>
          </a:prstGeom>
          <a:noFill/>
          <a:ln w="12700">
            <a:solidFill>
              <a:srgbClr val="1E293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547872" y="3657600"/>
            <a:ext cx="2414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5B4F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https://prepsheet.hatchik.com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3547872" y="4023360"/>
            <a:ext cx="2414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PrepSheet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3547872" y="4434840"/>
            <a:ext cx="2414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Meals for PT clients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3547872" y="4846320"/>
            <a:ext cx="24140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9 containers up.  Auth, Postgres, Storage, Realtime, Stripe stub, Resend, Caddy + wildcard TLS.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217920" y="187452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59E0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217920" y="219456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reads handoff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6217920" y="2560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AI_CONTEXT.md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217920" y="2971800"/>
            <a:ext cx="2743200" cy="3017520"/>
          </a:xfrm>
          <a:prstGeom prst="rect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382512" y="3136392"/>
            <a:ext cx="146304" cy="146304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583680" y="3136392"/>
            <a:ext cx="146304" cy="14630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784848" y="3136392"/>
            <a:ext cx="146304" cy="146304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217920" y="3474720"/>
            <a:ext cx="2743200" cy="0"/>
          </a:xfrm>
          <a:prstGeom prst="line">
            <a:avLst/>
          </a:prstGeom>
          <a:noFill/>
          <a:ln w="12700">
            <a:solidFill>
              <a:srgbClr val="1E293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382512" y="36576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$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675120" y="36576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claude code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382512" y="40233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675120" y="40233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reading AI_CONTEXT.md…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6382512" y="43891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&gt;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6675120" y="43891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edit apps/web/src/product/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6382512" y="475488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&gt;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6675120" y="47548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git push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9052560" y="187452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59E0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9052560" y="219456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Push to deploy</a:t>
            </a:r>
            <a:endParaRPr lang="en-US" sz="1600" dirty="0"/>
          </a:p>
        </p:txBody>
      </p:sp>
      <p:sp>
        <p:nvSpPr>
          <p:cNvPr id="50" name="Text 48"/>
          <p:cNvSpPr/>
          <p:nvPr/>
        </p:nvSpPr>
        <p:spPr>
          <a:xfrm>
            <a:off x="9052560" y="2560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~30 seconds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9052560" y="2971800"/>
            <a:ext cx="2743200" cy="3017520"/>
          </a:xfrm>
          <a:prstGeom prst="rect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9217152" y="3136392"/>
            <a:ext cx="146304" cy="146304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9418320" y="3136392"/>
            <a:ext cx="146304" cy="14630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9619488" y="3136392"/>
            <a:ext cx="146304" cy="146304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9052560" y="3474720"/>
            <a:ext cx="2743200" cy="0"/>
          </a:xfrm>
          <a:prstGeom prst="line">
            <a:avLst/>
          </a:prstGeom>
          <a:noFill/>
          <a:ln w="12700">
            <a:solidFill>
              <a:srgbClr val="1E293B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9217152" y="36576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5B4F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webhook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9829800" y="3657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received  sha=a12c4e1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9217152" y="4023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5B4F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docker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9829800" y="40233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compose up -d  rebuilt 2/9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9217152" y="4389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5B4F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status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9829800" y="43891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deployed_at: 2026-05-13T10:14:02Z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9217152" y="4937760"/>
            <a:ext cx="24140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deployed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Hatchik  ·  Investor + partner deck  ·  May 2026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F46E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06  ·  WHAT'S WIRED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Twelve production pieces. Day one. No DIY.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6501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828800"/>
            <a:ext cx="73152" cy="105156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2011680"/>
            <a:ext cx="228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Auth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04672" y="2377440"/>
            <a:ext cx="228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Supabase, magic-link + JWT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63392" y="1828800"/>
            <a:ext cx="26501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363392" y="1828800"/>
            <a:ext cx="73152" cy="10515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19424" y="2011680"/>
            <a:ext cx="228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619424" y="2377440"/>
            <a:ext cx="228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Supabase, RLS-scoped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178144" y="1828800"/>
            <a:ext cx="26501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178144" y="1828800"/>
            <a:ext cx="73152" cy="105156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34176" y="2011680"/>
            <a:ext cx="228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Storage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34176" y="2377440"/>
            <a:ext cx="228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Supabase Storage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992895" y="1828800"/>
            <a:ext cx="26501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992895" y="1828800"/>
            <a:ext cx="73152" cy="10515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248927" y="2011680"/>
            <a:ext cx="228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Realtime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248927" y="2377440"/>
            <a:ext cx="228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Postgres CDC channels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640" y="3044952"/>
            <a:ext cx="26501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8640" y="3044952"/>
            <a:ext cx="73152" cy="105156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04672" y="3227832"/>
            <a:ext cx="228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Stripe checkout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04672" y="3593592"/>
            <a:ext cx="228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Test + live keys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363392" y="3044952"/>
            <a:ext cx="26501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363392" y="3044952"/>
            <a:ext cx="73152" cy="10515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19424" y="3227832"/>
            <a:ext cx="228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Paddle MoR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619424" y="3593592"/>
            <a:ext cx="228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Global tax handled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178144" y="3044952"/>
            <a:ext cx="26501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178144" y="3044952"/>
            <a:ext cx="73152" cy="105156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34176" y="3227832"/>
            <a:ext cx="228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Resend mail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434176" y="3593592"/>
            <a:ext cx="228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Transactional + DKIM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8992895" y="3044952"/>
            <a:ext cx="26501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992895" y="3044952"/>
            <a:ext cx="73152" cy="10515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248927" y="3227832"/>
            <a:ext cx="228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Mailboxes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9248927" y="3593592"/>
            <a:ext cx="228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Infomaniak, Launch tier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48640" y="4261104"/>
            <a:ext cx="26501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48640" y="4261104"/>
            <a:ext cx="73152" cy="105156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04672" y="4443984"/>
            <a:ext cx="228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Capacitor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804672" y="4809744"/>
            <a:ext cx="228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iOS IPA + Android APK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3363392" y="4261104"/>
            <a:ext cx="26501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363392" y="4261104"/>
            <a:ext cx="73152" cy="10515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19424" y="4443984"/>
            <a:ext cx="228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GitHub repo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3619424" y="4809744"/>
            <a:ext cx="228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Per-tenant, private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6178144" y="4261104"/>
            <a:ext cx="26501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178144" y="4261104"/>
            <a:ext cx="73152" cy="105156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434176" y="4443984"/>
            <a:ext cx="228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Push-to-deploy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6434176" y="4809744"/>
            <a:ext cx="228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Webhook + AI deploy token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8992895" y="4261104"/>
            <a:ext cx="26501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992895" y="4261104"/>
            <a:ext cx="73152" cy="10515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248927" y="4443984"/>
            <a:ext cx="228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Status page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9248927" y="4809744"/>
            <a:ext cx="228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status.hatchik.com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548640" y="6080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tile is shipping today. Cross-referenced against FIRST_CUSTOMER_RUNBOOK.md.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Hatchik  ·  Investor + partner deck  ·  May 2026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F46E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07  ·  MARKET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TAM, SAM, SOM — sized from public AI-coder tool numbers.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1920240"/>
            <a:ext cx="4754880" cy="4754880"/>
          </a:xfrm>
          <a:prstGeom prst="ellipse">
            <a:avLst/>
          </a:prstGeom>
          <a:solidFill>
            <a:srgbClr val="EEF2FF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1600" y="2560320"/>
            <a:ext cx="3474720" cy="347472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94560" y="3383280"/>
            <a:ext cx="1828800" cy="1828800"/>
          </a:xfrm>
          <a:prstGeom prst="ellipse">
            <a:avLst/>
          </a:prstGeom>
          <a:solidFill>
            <a:srgbClr val="FFFBEB"/>
          </a:solidFill>
          <a:ln w="25400">
            <a:solidFill>
              <a:srgbClr val="F59E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26280" y="21031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730A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TAM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069080" y="27889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730A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SAM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697480" y="413308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300" kern="0" dirty="0">
                <a:solidFill>
                  <a:srgbClr val="92400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SOM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766560" y="182880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F46E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TAM — total addressable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766560" y="2121408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~310K</a:t>
            </a:r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users globally  ·  </a:t>
            </a:r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£56M/yr today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766560" y="27889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AI-coder ICP, blended £180 ARPU. 2027 projection: £200M+/yr.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766560" y="32461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F46E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SAM — serviceable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766560" y="3538728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~190K</a:t>
            </a:r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users  ·  </a:t>
            </a:r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£34M/yr  →  £120M/yr by 2027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766560" y="42062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English-first, Paddle-eligible geo, &lt;200ms latency from Hetzner NBG1.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766560" y="4663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9E0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SOM — 3-year obtainable</a:t>
            </a:r>
            <a:endParaRPr lang="en-US" sz="11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4983480"/>
          <a:ext cx="512064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463040"/>
                <a:gridCol w="201168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Conservative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~1,500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£270K ARR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Base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~5,000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£900K ARR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Aggressive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~13,000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£2.4M ARR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6766560" y="64465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Sources: Cursor 1M paid, Copilot 1.8M paid, Anthropic Claude Code 100Ks. MARKETING_PLAN §2–5.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Hatchik  ·  Investor + partner deck  ·  May 2026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F46E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08  ·  COMPETITIVE LANDSCAPE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Hatchik vs the AI-app-builder pack.</a:t>
            </a:r>
            <a:endParaRPr lang="en-US" sz="3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463040"/>
                <a:gridCol w="1280160"/>
                <a:gridCol w="1280160"/>
                <a:gridCol w="1463040"/>
                <a:gridCol w="1280160"/>
                <a:gridCol w="10972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Hatchik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Bolt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Lovable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Replit Agent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Bubble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ShipFast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Your existing AI tool works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0B981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59E0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~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64748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59E0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~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64748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0B981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Auth + payments + mail wired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0B981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64748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59E0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~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59E0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~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0B981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59E0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~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You own the code (GitHub)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0B981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59E0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~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59E0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~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64748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64748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0B981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Take your stack elsewhere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0B981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59E0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~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59E0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~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64748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64748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0B981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Provisioned for you (no DIY)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0B981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64748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0B981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0B981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0B981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64748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Mobile builds (iOS + Android)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0B981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64748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64748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64748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59E0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~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59E0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~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Merchant-of-record billing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0B981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64748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64748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64748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64748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64748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Launch price (£/mo)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2400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£9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$20+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$25+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$25+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$39+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one-off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9436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full  </a:t>
            </a:r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partial  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not supported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Hatchik  ·  Investor + partner deck  ·  May 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F46E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09  ·  WHERE WE WIN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things no competitor combines.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545738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828800"/>
            <a:ext cx="3545738" cy="128016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057400"/>
            <a:ext cx="29056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CD34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WEDGE 01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68680" y="2331720"/>
            <a:ext cx="290565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868680" y="3337560"/>
            <a:ext cx="29056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AI tool, not ours.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868680" y="4480560"/>
            <a:ext cx="29056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other AI builder ships its own chat. We plug into the one your customer already trusts — Claude Code, Cursor, Windsurf, Copilot. Zero context switching, zero retraining.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22978" y="1828800"/>
            <a:ext cx="3545738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22978" y="1828800"/>
            <a:ext cx="3545738" cy="128016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43018" y="2057400"/>
            <a:ext cx="29056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CD34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WEDGE 02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643018" y="2331720"/>
            <a:ext cx="290565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4643018" y="3337560"/>
            <a:ext cx="29056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code, your repo, your VPS.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4643018" y="4480560"/>
            <a:ext cx="29056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tenant gets a private GitHub repo on day one. Want to leave? You already own everything. Exit cost is zero — which is exactly why our customers stay.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097317" y="1828800"/>
            <a:ext cx="3545738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97317" y="1828800"/>
            <a:ext cx="3545738" cy="128016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17357" y="2057400"/>
            <a:ext cx="29056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CD34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WEDGE 03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417357" y="2331720"/>
            <a:ext cx="290565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4400" dirty="0"/>
          </a:p>
        </p:txBody>
      </p:sp>
      <p:sp>
        <p:nvSpPr>
          <p:cNvPr id="20" name="Text 18"/>
          <p:cNvSpPr/>
          <p:nvPr/>
        </p:nvSpPr>
        <p:spPr>
          <a:xfrm>
            <a:off x="8417357" y="3337560"/>
            <a:ext cx="29056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Pre-wired production stack.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8417357" y="4480560"/>
            <a:ext cx="29056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Auth, Postgres, payments, mail, mobile, MoR billing — all wired and live on day one. It’s a working SaaS the moment they sign up, not a sandbox to graduate from.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Hatchik  ·  Investor + partner deck  ·  May 2026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F46E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10  ·  BUSINESS MODEL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tiers. Paddle as merchant of record.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545738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103120"/>
            <a:ext cx="28142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4F46E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FREE  ·  EVALUATION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14400" y="2331720"/>
            <a:ext cx="28142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Sandbox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914400" y="2834640"/>
            <a:ext cx="28142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£0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914400" y="3611880"/>
            <a:ext cx="28142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914400" y="3886200"/>
            <a:ext cx="28142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30-day idle auto-archive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14400" y="4251960"/>
            <a:ext cx="28142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Sandbox at &lt;slug&gt;.hatchik.com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Shared host (Hetzner CAX21)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GitHub repo + AI handoff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Capped: one active per email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322978" y="1828800"/>
            <a:ext cx="3545738" cy="3520440"/>
          </a:xfrm>
          <a:prstGeom prst="rect">
            <a:avLst/>
          </a:prstGeom>
          <a:solidFill>
            <a:srgbClr val="0B1020"/>
          </a:solidFill>
          <a:ln w="254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88738" y="2103120"/>
            <a:ext cx="28142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F59E0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PRODUCTION  ·  SOLO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688738" y="2331720"/>
            <a:ext cx="28142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Launch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688738" y="2834640"/>
            <a:ext cx="28142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£79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4688738" y="3611880"/>
            <a:ext cx="28142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CD34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setup, then £9/mo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688738" y="3886200"/>
            <a:ext cx="28142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Dedicated VPS + domain + mailboxes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688738" y="4251960"/>
            <a:ext cx="28142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 VPS in customer region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Five mailboxes (Infomaniak)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BYO or registered domain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Push-to-deploy + mobile builds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097317" y="1828800"/>
            <a:ext cx="3545738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463077" y="2103120"/>
            <a:ext cx="28142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4F46E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PRODUCTION  ·  SCALE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463077" y="2331720"/>
            <a:ext cx="28142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Growth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8463077" y="2834640"/>
            <a:ext cx="28142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£24</a:t>
            </a:r>
            <a:endParaRPr lang="en-US" sz="4400" dirty="0"/>
          </a:p>
        </p:txBody>
      </p:sp>
      <p:sp>
        <p:nvSpPr>
          <p:cNvPr id="22" name="Text 20"/>
          <p:cNvSpPr/>
          <p:nvPr/>
        </p:nvSpPr>
        <p:spPr>
          <a:xfrm>
            <a:off x="8463077" y="3611880"/>
            <a:ext cx="28142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per month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463077" y="3886200"/>
            <a:ext cx="28142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Healthier monthly margin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463077" y="4251960"/>
            <a:ext cx="28142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Larger VPS class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Priority redeploy queue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Cohort analytics access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Founder support window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48640" y="5532120"/>
            <a:ext cx="11064240" cy="868680"/>
          </a:xfrm>
          <a:prstGeom prst="rect">
            <a:avLst/>
          </a:prstGeom>
          <a:solidFill>
            <a:srgbClr val="EEF2FF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" y="5623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3730A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UNIT ECONOMICS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777240" y="5870448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£79 setup pays for the first ~13 months of the customer's dedicated VPS. Ongoing margin is thin on Launch (~£0.50/mo); healthy on Growth (~£15.50/mo). Paddle handles global tax + chargebacks as merchant of record.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Hatchik  ·  Investor + partner deck  ·  May 2026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F46E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11  ·  GO-TO-MARKET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Founder-led, organic-first, four channels.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455768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828800"/>
            <a:ext cx="73152" cy="17830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057400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4F46E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  ·  CREATOR SPONSORSHIPS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68680" y="2331720"/>
            <a:ext cx="48156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YouTube AI-coder ecosystem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68680" y="2880360"/>
            <a:ext cx="48156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Theo, Beyond Fireship, indie-hacker channels. One sponsored video → thousands of qualified eyeballs in the exact ICP.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187288" y="1828800"/>
            <a:ext cx="5455768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187288" y="1828800"/>
            <a:ext cx="73152" cy="17830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07328" y="2057400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4F46E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  ·  COMMUNITY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507328" y="2331720"/>
            <a:ext cx="48156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r/ClaudeAI, r/cursor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507328" y="2880360"/>
            <a:ext cx="48156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Exact ICP is there debugging workflows. Free value first (tutorials, working examples), Hatchik mentioned weeks later.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3794760"/>
            <a:ext cx="5455768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73152" cy="17830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4023360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4F46E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  ·  BUILD IN PUBLIC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68680" y="4297680"/>
            <a:ext cx="48156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 (Levels.io, Marc Lou orbit)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68680" y="4846320"/>
            <a:ext cx="48156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Weekly metric posts, build logs, candid “what broke” threads. Indie-hacker scene rewards transparency.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187288" y="3794760"/>
            <a:ext cx="5455768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187288" y="3794760"/>
            <a:ext cx="73152" cy="17830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07328" y="4023360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4F46E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  ·  LAUNCH MOMENTS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507328" y="4297680"/>
            <a:ext cx="48156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 Hunt + Show HN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507328" y="4846320"/>
            <a:ext cx="48156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 once, do well. After ~50 real customers ship through. Saves the launch dopamine for a moment we can convert.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48640" y="5715000"/>
            <a:ext cx="11064240" cy="685800"/>
          </a:xfrm>
          <a:prstGeom prst="rect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585216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Paid ads only after CAC modelled. CAC ceiling is £87 at a 3:1 LTV:CAC ratio (LTV £260).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Hatchik  ·  Investor + partner deck  ·  May 2026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F46E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12  ·  FUNNEL + ASSUMPTIONS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numbers we ground-truth by signup #50.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486400" cy="77724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828800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Sandbox signups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754880" y="1828800"/>
            <a:ext cx="1143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100%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2743200"/>
            <a:ext cx="4114800" cy="777240"/>
          </a:xfrm>
          <a:prstGeom prst="rect">
            <a:avLst/>
          </a:prstGeom>
          <a:solidFill>
            <a:srgbClr val="3730A3"/>
          </a:solidFill>
          <a:ln w="12700">
            <a:solidFill>
              <a:srgbClr val="3730A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274320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Convert to Launch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383280" y="2743200"/>
            <a:ext cx="1143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5%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48640" y="3657600"/>
            <a:ext cx="3017520" cy="7772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3657600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Upgrade to Growth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286000" y="3657600"/>
            <a:ext cx="1143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1%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583680" y="182880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59E0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TO VALIDATE BY SIGNUP #50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583680" y="2194560"/>
            <a:ext cx="51206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720840" y="2359152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F46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269480" y="2304288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Sandbox → Launch conversion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269480" y="257860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Assumed 5%  ·  industry 3–10%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583680" y="3063240"/>
            <a:ext cx="51206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20840" y="3227832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F46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7269480" y="3172968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Annual Launch churn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269480" y="344728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Assumed 30%  ·  churn-or-stay coin flip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583680" y="3931920"/>
            <a:ext cx="51206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20840" y="4096512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F46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269480" y="4041648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Time to Launch → Growth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269480" y="431596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Assumed 12 months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48640" y="4983480"/>
            <a:ext cx="11064240" cy="1417320"/>
          </a:xfrm>
          <a:prstGeom prst="rect">
            <a:avLst/>
          </a:prstGeom>
          <a:solidFill>
            <a:srgbClr val="EEF2FF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7240" y="51206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3730A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Blended LTV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77240" y="539496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£260</a:t>
            </a:r>
            <a:endParaRPr lang="en-US" sz="3600" dirty="0"/>
          </a:p>
        </p:txBody>
      </p:sp>
      <p:sp>
        <p:nvSpPr>
          <p:cNvPr id="29" name="Text 27"/>
          <p:cNvSpPr/>
          <p:nvPr/>
        </p:nvSpPr>
        <p:spPr>
          <a:xfrm>
            <a:off x="4526280" y="51206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3730A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CAC ceiling (3:1)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526280" y="539496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£87</a:t>
            </a:r>
            <a:endParaRPr lang="en-US" sz="3600" dirty="0"/>
          </a:p>
        </p:txBody>
      </p:sp>
      <p:sp>
        <p:nvSpPr>
          <p:cNvPr id="31" name="Text 29"/>
          <p:cNvSpPr/>
          <p:nvPr/>
        </p:nvSpPr>
        <p:spPr>
          <a:xfrm>
            <a:off x="8275320" y="51206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3730A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Cohort dashboard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275320" y="539496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</a:t>
            </a:r>
            <a:endParaRPr lang="en-US" sz="3600" dirty="0"/>
          </a:p>
        </p:txBody>
      </p:sp>
      <p:sp>
        <p:nvSpPr>
          <p:cNvPr id="33" name="Text 31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Hatchik  ·  Investor + partner deck  ·  May 2026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F46E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13  ·  3-YEAR ARR PROJECTION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scenarios. Honest spread.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828800"/>
          <a:ext cx="73152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29600" y="1828800"/>
            <a:ext cx="338328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229600" y="1828800"/>
            <a:ext cx="73152" cy="1234440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458200" y="1938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Conservative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0287000" y="1938528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Y3 ARR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10287000" y="212140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£216K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8458200" y="254203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1,500 customers, organic only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8229600" y="3200400"/>
            <a:ext cx="338328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229600" y="3200400"/>
            <a:ext cx="73152" cy="123444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458200" y="33101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Base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10287000" y="3310128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Y3 ARR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10287000" y="349300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£720K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8458200" y="391363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5,000 customers, content + sponsorships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8229600" y="4572000"/>
            <a:ext cx="338328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229600" y="4572000"/>
            <a:ext cx="73152" cy="12344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458200" y="46817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Aggressive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0287000" y="4681728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Y3 ARR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10287000" y="486460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£1.87M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8458200" y="528523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13,000 customers, paid + partnerships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548640" y="612648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Footnote: ARR pre-gross-margin. Margin in next slide. Customer counts (year 3): 1.5K / 5K / 13K.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Hatchik  ·  Investor + partner deck  ·  May 2026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F46E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14  ·  MARGIN REALITY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Year-3 gross + net. Honest framing.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545738" cy="3108960"/>
          </a:xfrm>
          <a:prstGeom prst="rect">
            <a:avLst/>
          </a:prstGeom>
          <a:solidFill>
            <a:srgbClr val="F8FAFC"/>
          </a:solidFill>
          <a:ln w="25400">
            <a:solidFill>
              <a:srgbClr val="94A3B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2103120"/>
            <a:ext cx="29056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CONSERVATIVE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68680" y="2514600"/>
            <a:ext cx="29056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Y3 gross margin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68680" y="2743200"/>
            <a:ext cx="290565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£100K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868680" y="3611880"/>
            <a:ext cx="29056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Net after ops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68680" y="3840480"/>
            <a:ext cx="29056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£40K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868680" y="4434840"/>
            <a:ext cx="29056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Lifestyle. Founder income only.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22978" y="1828800"/>
            <a:ext cx="3545738" cy="3108960"/>
          </a:xfrm>
          <a:prstGeom prst="rect">
            <a:avLst/>
          </a:prstGeom>
          <a:solidFill>
            <a:srgbClr val="EEF2FF"/>
          </a:solidFill>
          <a:ln w="25400">
            <a:solidFill>
              <a:srgbClr val="4F46E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43018" y="2103120"/>
            <a:ext cx="29056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F46E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BASE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643018" y="2514600"/>
            <a:ext cx="29056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Y3 gross margin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643018" y="2743200"/>
            <a:ext cx="290565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£350K</a:t>
            </a:r>
            <a:endParaRPr lang="en-US" sz="4200" dirty="0"/>
          </a:p>
        </p:txBody>
      </p:sp>
      <p:sp>
        <p:nvSpPr>
          <p:cNvPr id="15" name="Text 13"/>
          <p:cNvSpPr/>
          <p:nvPr/>
        </p:nvSpPr>
        <p:spPr>
          <a:xfrm>
            <a:off x="4643018" y="3611880"/>
            <a:ext cx="29056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Net after ops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643018" y="3840480"/>
            <a:ext cx="29056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F46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£150–200K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4643018" y="4434840"/>
            <a:ext cx="29056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Solo founder income with reinvestment.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097317" y="1828800"/>
            <a:ext cx="3545738" cy="3108960"/>
          </a:xfrm>
          <a:prstGeom prst="rect">
            <a:avLst/>
          </a:prstGeom>
          <a:solidFill>
            <a:srgbClr val="FFFBEB"/>
          </a:solidFill>
          <a:ln w="25400">
            <a:solidFill>
              <a:srgbClr val="F59E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417357" y="2103120"/>
            <a:ext cx="29056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59E0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AGGRESSIVE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417357" y="2514600"/>
            <a:ext cx="29056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Y3 gross margin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417357" y="2743200"/>
            <a:ext cx="290565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£900K</a:t>
            </a:r>
            <a:endParaRPr lang="en-US" sz="4200" dirty="0"/>
          </a:p>
        </p:txBody>
      </p:sp>
      <p:sp>
        <p:nvSpPr>
          <p:cNvPr id="22" name="Text 20"/>
          <p:cNvSpPr/>
          <p:nvPr/>
        </p:nvSpPr>
        <p:spPr>
          <a:xfrm>
            <a:off x="8417357" y="3611880"/>
            <a:ext cx="29056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Net after ops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417357" y="3840480"/>
            <a:ext cx="29056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9E0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£500K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8417357" y="4434840"/>
            <a:ext cx="29056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Needs marketing investment to materialise.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48640" y="5349240"/>
            <a:ext cx="11064240" cy="1143000"/>
          </a:xfrm>
          <a:prstGeom prst="rect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" y="54589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F59E0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BINDING CONSTRAINT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777240" y="57150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Launch tier ongoing margin is ~£0.50/month — the binding constraint on every scenario. Pricing lever: £19/mo would roughly double ongoing margin without changing the conversion price point. Clear move once we have conversion data from the first 50 paying customers.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Hatchik  ·  Investor + partner deck  ·  May 2026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F46E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  ·  WHAT'S ALREADY BUILT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a pitch deck for a slide. A pitch deck for a working product.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83664"/>
            <a:ext cx="201168" cy="201168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88366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68680" y="18288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End-to-end automated Sandbox provisioning (~60s)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276856"/>
            <a:ext cx="201168" cy="201168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227685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68680" y="222199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Magic-link + verification-code Hatchik account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2670048"/>
            <a:ext cx="201168" cy="201168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670048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68680" y="2615184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Self-serve sandbox deletion + admin lifecycle (30-day archive)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3063240"/>
            <a:ext cx="201168" cy="201168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306324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68680" y="3008376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Per-tenant private GitHub repo + push-to-deploy webhook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456432"/>
            <a:ext cx="201168" cy="201168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345643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68680" y="340156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deploy token — Claude / Cursor / Windsurf can ship directly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849624"/>
            <a:ext cx="201168" cy="201168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384962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68680" y="37947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Mobile build pipeline (GitHub Actions, unsigned IPA + APK)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46520" y="1883664"/>
            <a:ext cx="201168" cy="201168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46520" y="188366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766560" y="18288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Status page (status.hatchik.com)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446520" y="2276856"/>
            <a:ext cx="201168" cy="201168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46520" y="227685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766560" y="222199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Docs site (docs.hatchik.com)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446520" y="2670048"/>
            <a:ext cx="201168" cy="201168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46520" y="2670048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766560" y="2615184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Cohort analytics dashboard (admin)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446520" y="3063240"/>
            <a:ext cx="201168" cy="201168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46520" y="306324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766560" y="3008376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Abuse protection (Turnstile, geo-IP, disposable-email block, throttle)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446520" y="3456432"/>
            <a:ext cx="201168" cy="201168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46520" y="345643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766560" y="340156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Stripe customer-portal endpoint (test/live mode aware)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446520" y="3849624"/>
            <a:ext cx="201168" cy="201168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46520" y="384962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766560" y="37947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Idle-archive + restore lifecycle (snapshot + 7-day grace)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548640" y="5852160"/>
            <a:ext cx="11064240" cy="594360"/>
          </a:xfrm>
          <a:prstGeom prst="rect">
            <a:avLst/>
          </a:prstGeom>
          <a:solidFill>
            <a:srgbClr val="FFFBE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77240" y="5852160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2400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Built solo + AI-augmented in ~3 weeks. Every item above is in production today. Cross-referenced against the agent commit log.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Hatchik  ·  Investor + partner deck  ·  May 2026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F46E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16  ·  RISKS  ·  WHAT WE'RE WATCHING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 are not pretending these don't exist.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545738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828800"/>
            <a:ext cx="3545738" cy="73152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29056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F444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68680" y="2423160"/>
            <a:ext cx="290565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Funnel assumptions unvalidated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68680" y="3291840"/>
            <a:ext cx="290565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5% Sandbox→Launch, 30% churn, 12-mo upgrade are estimates. First 50 paying customers will move these by 2–5×.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868680" y="4846320"/>
            <a:ext cx="2905658" cy="1051560"/>
          </a:xfrm>
          <a:prstGeom prst="rect">
            <a:avLst/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4937760"/>
            <a:ext cx="26770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3730A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MITIGATION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005840" y="5166360"/>
            <a:ext cx="267705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Cohort dashboard is live and tracking from signup #1. Estimates retire by month 6.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322978" y="1828800"/>
            <a:ext cx="3545738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322978" y="1828800"/>
            <a:ext cx="3545738" cy="73152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43018" y="2103120"/>
            <a:ext cx="29056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F444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643018" y="2423160"/>
            <a:ext cx="290565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Single-VPS infrastructure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643018" y="3291840"/>
            <a:ext cx="290565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Sandbox tier runs on one Hetzner CAX21. Capacity caps at 4–5 concurrent active tenants before swap pressure.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643018" y="4846320"/>
            <a:ext cx="2905658" cy="1051560"/>
          </a:xfrm>
          <a:prstGeom prst="rect">
            <a:avLst/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80178" y="4937760"/>
            <a:ext cx="26770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3730A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MITIGATION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780178" y="5166360"/>
            <a:ext cx="267705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 plan written but unautomated. Second-region rollout (India/SEA latency) on month-6 roadmap.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8097317" y="1828800"/>
            <a:ext cx="3545738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97317" y="1828800"/>
            <a:ext cx="3545738" cy="73152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417357" y="2103120"/>
            <a:ext cx="29056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F444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417357" y="2423160"/>
            <a:ext cx="290565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Mobile signing out-of-band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8417357" y="3291840"/>
            <a:ext cx="290565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must bring their own Apple Developer + Android keystore credentials to ship signed binaries.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417357" y="4846320"/>
            <a:ext cx="2905658" cy="1051560"/>
          </a:xfrm>
          <a:prstGeom prst="rect">
            <a:avLst/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554517" y="4937760"/>
            <a:ext cx="26770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3730A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MITIGATION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554517" y="5166360"/>
            <a:ext cx="267705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Documented inline in tenant repo with cert-generation walkthroughs. Hatchik never touches signing keys.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Hatchik  ·  Investor + partner deck  ·  May 2026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F46E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17  ·  THE ASK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Raising to convert the Base scenario into reality.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64240" cy="1554480"/>
          </a:xfrm>
          <a:prstGeom prst="rect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920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59E0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RAISING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7240" y="219456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£[ amount ]</a:t>
            </a:r>
            <a:endParaRPr lang="en-US" sz="5600" dirty="0"/>
          </a:p>
        </p:txBody>
      </p:sp>
      <p:sp>
        <p:nvSpPr>
          <p:cNvPr id="7" name="Text 5"/>
          <p:cNvSpPr/>
          <p:nvPr/>
        </p:nvSpPr>
        <p:spPr>
          <a:xfrm>
            <a:off x="6035040" y="1920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59E0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FOR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035040" y="228600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N ] months runway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6035040" y="278892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Pre-seed / angel  ·  SAFE or convertible  ·  founder placeholder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36576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F46E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USE OF FUNDS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8640" y="4023360"/>
            <a:ext cx="3576218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4206240"/>
            <a:ext cx="30275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59E0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22960" y="4480560"/>
            <a:ext cx="3027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Hire one engineer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22960" y="4892040"/>
            <a:ext cx="30275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Substrate hardening, second-region rollout, signed-build pipeline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307738" y="4023360"/>
            <a:ext cx="3576218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82058" y="4206240"/>
            <a:ext cx="30275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59E0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82058" y="4480560"/>
            <a:ext cx="3027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Hire one marketer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582058" y="4892040"/>
            <a:ext cx="30275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Content engine + creator sponsorships at the £87 CAC ceiling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066837" y="4023360"/>
            <a:ext cx="3576218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41157" y="4206240"/>
            <a:ext cx="30275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59E0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341157" y="4480560"/>
            <a:ext cx="3027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Founder runway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8341157" y="4892040"/>
            <a:ext cx="30275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Full-time on customer dev + partnerships (Anthropic, Cursor, Windsurf)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5669280"/>
            <a:ext cx="11064240" cy="777240"/>
          </a:xfrm>
          <a:prstGeom prst="rect">
            <a:avLst/>
          </a:prstGeom>
          <a:solidFill>
            <a:srgbClr val="EEF2FF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57607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3730A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TARGET AT END OF ROUND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77240" y="598932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Z ] paying customers  ·  £[ MRR ] MRR  ·  validated funnel  ·  second region live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Hatchik  ·  Investor + partner deck  ·  May 2026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19695" y="-1828800"/>
            <a:ext cx="6400800" cy="6400800"/>
          </a:xfrm>
          <a:prstGeom prst="ellipse">
            <a:avLst/>
          </a:prstGeom>
          <a:solidFill>
            <a:srgbClr val="4F46E5">
              <a:alpha val="30000"/>
            </a:srgbClr>
          </a:solidFill>
          <a:ln w="12700">
            <a:solidFill>
              <a:srgbClr val="4F46E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828800" y="3200400"/>
            <a:ext cx="6400800" cy="6400800"/>
          </a:xfrm>
          <a:prstGeom prst="ellipse">
            <a:avLst/>
          </a:prstGeom>
          <a:solidFill>
            <a:srgbClr val="F59E0B">
              <a:alpha val="20000"/>
            </a:srgbClr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502920"/>
            <a:ext cx="201168" cy="201168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94944" y="502920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46634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Hatchik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011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production substrate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548640" y="27889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i="1" dirty="0">
                <a:solidFill>
                  <a:srgbClr val="FCD3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AI coder builds on.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548640" y="37490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platform. No lock-in. No demos.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48640" y="4937760"/>
            <a:ext cx="11064240" cy="14173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51206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F59E0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GENERAL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77240" y="544068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hello@hatchik.com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20440" y="51206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F59E0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WEB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520440" y="544068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hatchik.com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263640" y="51206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F59E0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FOUNDER EMAIL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263640" y="544068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founder fills ]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006840" y="51206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F59E0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LINKEDIN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006840" y="544068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founder fills ]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Hatchik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Hatchik — Investor + Partner Pitch</dc:title>
  <dc:subject>PptxGenJS Presentation</dc:subject>
  <dc:creator>Farhan Irshad</dc:creator>
  <cp:lastModifiedBy>Farhan Irshad</cp:lastModifiedBy>
  <cp:revision>1</cp:revision>
  <dcterms:created xsi:type="dcterms:W3CDTF">2026-05-13T12:47:04Z</dcterms:created>
  <dcterms:modified xsi:type="dcterms:W3CDTF">2026-05-13T12:47:04Z</dcterms:modified>
</cp:coreProperties>
</file>