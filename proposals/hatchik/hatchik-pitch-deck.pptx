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Sprint base</c:v>
                </c:pt>
              </c:strCache>
            </c:strRef>
          </c:tx>
          <c:spPr>
            <a:solidFill>
              <a:srgbClr val="4F46E5">
                <a:alpha val="100000"/>
              </a:srgbClr>
            </a:solidFill>
            <a:ln w="38100" cap="flat">
              <a:solidFill>
                <a:srgbClr val="4F46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4F46E5"/>
              </a:solidFill>
              <a:ln w="9525" cap="flat">
                <a:solidFill>
                  <a:srgbClr val="4F46E5"/>
                </a:solidFill>
                <a:prstDash val="solid"/>
                <a:round/>
              </a:ln>
              <a:effectLst/>
            </c:spPr>
          </c:marker>
          <c:cat>
            <c:multiLvlStrRef>
              <c:f>Sheet1!$A$2:$A$9</c:f>
              <c:multiLvlStrCache>
                <c:ptCount val="8"/>
                <c:lvl>
                  <c:pt idx="0">
                    <c:v>M0</c:v>
                  </c:pt>
                  <c:pt idx="1">
                    <c:v>M2</c:v>
                  </c:pt>
                  <c:pt idx="2">
                    <c:v>M4</c:v>
                  </c:pt>
                  <c:pt idx="3">
                    <c:v>M6</c:v>
                  </c:pt>
                  <c:pt idx="4">
                    <c:v>M9</c:v>
                  </c:pt>
                  <c:pt idx="5">
                    <c:v>M12</c:v>
                  </c:pt>
                  <c:pt idx="6">
                    <c:v>M15</c:v>
                  </c:pt>
                  <c:pt idx="7">
                    <c:v>M18</c:v>
                  </c:pt>
                </c:lvl>
              </c:multiLvlStrCache>
            </c:multiLvlStrRef>
          </c:cat>
          <c:val>
            <c:numRef>
              <c:f>Sheet1!$B$2:$B$9</c:f>
              <c:numCache>
                <c:formatCode>General</c:formatCode>
                <c:ptCount val="8"/>
                <c:pt idx="0">
                  <c:v>0</c:v>
                </c:pt>
                <c:pt idx="1">
                  <c:v>4</c:v>
                </c:pt>
                <c:pt idx="2">
                  <c:v>14</c:v>
                </c:pt>
                <c:pt idx="3">
                  <c:v>35</c:v>
                </c:pt>
                <c:pt idx="4">
                  <c:v>60</c:v>
                </c:pt>
                <c:pt idx="5">
                  <c:v>90</c:v>
                </c:pt>
                <c:pt idx="6">
                  <c:v>115</c:v>
                </c:pt>
                <c:pt idx="7">
                  <c:v>135</c:v>
                </c:pt>
              </c:numCache>
            </c:numRef>
          </c:val>
          <c:smooth val="0"/>
        </c:ser>
        <c:ser>
          <c:idx val="1"/>
          <c:order val="1"/>
          <c:tx>
            <c:strRef>
              <c:f>Sheet1!$C$1</c:f>
              <c:strCache>
                <c:ptCount val="1"/>
                <c:pt idx="0">
                  <c:v>Sprint upside</c:v>
                </c:pt>
              </c:strCache>
            </c:strRef>
          </c:tx>
          <c:spPr>
            <a:solidFill>
              <a:srgbClr val="F59E0B">
                <a:alpha val="100000"/>
              </a:srgbClr>
            </a:solidFill>
            <a:ln w="381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F59E0B"/>
              </a:solidFill>
              <a:ln w="9525" cap="flat">
                <a:solidFill>
                  <a:srgbClr val="F59E0B"/>
                </a:solidFill>
                <a:prstDash val="solid"/>
                <a:round/>
              </a:ln>
              <a:effectLst/>
            </c:spPr>
          </c:marker>
          <c:cat>
            <c:multiLvlStrRef>
              <c:f>Sheet1!$A$2:$A$9</c:f>
              <c:multiLvlStrCache>
                <c:ptCount val="8"/>
                <c:lvl>
                  <c:pt idx="0">
                    <c:v>M0</c:v>
                  </c:pt>
                  <c:pt idx="1">
                    <c:v>M2</c:v>
                  </c:pt>
                  <c:pt idx="2">
                    <c:v>M4</c:v>
                  </c:pt>
                  <c:pt idx="3">
                    <c:v>M6</c:v>
                  </c:pt>
                  <c:pt idx="4">
                    <c:v>M9</c:v>
                  </c:pt>
                  <c:pt idx="5">
                    <c:v>M12</c:v>
                  </c:pt>
                  <c:pt idx="6">
                    <c:v>M15</c:v>
                  </c:pt>
                  <c:pt idx="7">
                    <c:v>M18</c:v>
                  </c:pt>
                </c:lvl>
              </c:multiLvlStrCache>
            </c:multiLvlStrRef>
          </c:cat>
          <c:val>
            <c:numRef>
              <c:f>Sheet1!$C$2:$C$9</c:f>
              <c:numCache>
                <c:formatCode>General</c:formatCode>
                <c:ptCount val="8"/>
                <c:pt idx="0">
                  <c:v>0</c:v>
                </c:pt>
                <c:pt idx="1">
                  <c:v>8</c:v>
                </c:pt>
                <c:pt idx="2">
                  <c:v>30</c:v>
                </c:pt>
                <c:pt idx="3">
                  <c:v>80</c:v>
                </c:pt>
                <c:pt idx="4">
                  <c:v>150</c:v>
                </c:pt>
                <c:pt idx="5">
                  <c:v>240</c:v>
                </c:pt>
                <c:pt idx="6">
                  <c:v>320</c:v>
                </c:pt>
                <c:pt idx="7">
                  <c:v>380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4748B"/>
                    </a:solidFill>
                    <a:latin typeface="JetBrains Mono"/>
                  </a:defRPr>
                </a:pPr>
                <a:r>
                  <a:rPr sz="900" b="0" i="0" u="none" strike="noStrike">
                    <a:solidFill>
                      <a:srgbClr val="64748B"/>
                    </a:solidFill>
                    <a:latin typeface="JetBrains Mono"/>
                  </a:rPr>
                  <a:t>Months from launch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JetBrains Mono"/>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12700" cap="flat">
              <a:solidFill>
                <a:srgbClr val="888888"/>
              </a:solidFill>
              <a:prstDash val="solid"/>
              <a:round/>
            </a:ln>
          </c:spPr>
        </c:majorGridlines>
        <c:title>
          <c:tx>
            <c:rich>
              <a:bodyPr/>
              <a:lstStyle/>
              <a:p>
                <a:pPr>
                  <a:defRPr sz="900" b="0" i="0" u="none" strike="noStrike">
                    <a:solidFill>
                      <a:srgbClr val="64748B"/>
                    </a:solidFill>
                    <a:latin typeface="JetBrains Mono"/>
                  </a:defRPr>
                </a:pPr>
                <a:r>
                  <a:rPr sz="900" b="0" i="0" u="none" strike="noStrike">
                    <a:solidFill>
                      <a:srgbClr val="64748B"/>
                    </a:solidFill>
                    <a:latin typeface="JetBrains Mono"/>
                  </a:rPr>
                  <a:t>MRR (£K)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JetBrains Mono"/>
              </a:defRPr>
            </a:pPr>
            <a:endParaRPr lang="en-US"/>
          </a:p>
        </c:txPr>
        <c:crossAx val="2094734554"/>
        <c:crosses val="autoZero"/>
        <c:crossBetween val="between"/>
        <c:majorUnit val="50"/>
      </c:valAx>
      <c:spPr>
        <a:solidFill>
          <a:srgbClr val="FFFFFF"/>
        </a:solidFill>
        <a:ln w="9525" cap="flat">
          <a:solidFill>
            <a:srgbClr val="E2E8F0"/>
          </a:solidFill>
        </a:ln>
        <a:effectLst/>
      </c:spPr>
    </c:plotArea>
    <c:legend>
      <c:legendPos val="b"/>
      <c:overlay val="0"/>
      <c:txPr>
        <a:bodyPr/>
        <a:lstStyle/>
        <a:p>
          <a:pPr>
            <a:defRPr sz="1100">
              <a:solidFill>
                <a:srgbClr val="1E293B"/>
              </a:solidFill>
              <a:latin typeface="DM Sans"/>
              <a:cs typeface="DM Sa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333333"/>
            </a:solidFill>
            <a:prstDash val="solid"/>
          </a:ln>
        </p:spPr>
      </p:sp>
      <p:sp>
        <p:nvSpPr>
          <p:cNvPr id="3" name="Shape 1"/>
          <p:cNvSpPr/>
          <p:nvPr/>
        </p:nvSpPr>
        <p:spPr>
          <a:xfrm>
            <a:off x="0" y="91440"/>
            <a:ext cx="12191695" cy="36576"/>
          </a:xfrm>
          <a:prstGeom prst="rect">
            <a:avLst/>
          </a:prstGeom>
          <a:solidFill>
            <a:srgbClr val="F59E0B"/>
          </a:solidFill>
          <a:ln w="12700">
            <a:solidFill>
              <a:srgbClr val="333333"/>
            </a:solidFill>
            <a:prstDash val="solid"/>
          </a:ln>
        </p:spPr>
      </p:sp>
      <p:sp>
        <p:nvSpPr>
          <p:cNvPr id="4" name="Text 2"/>
          <p:cNvSpPr/>
          <p:nvPr/>
        </p:nvSpPr>
        <p:spPr>
          <a:xfrm>
            <a:off x="502920" y="1097280"/>
            <a:ext cx="10972800" cy="1280160"/>
          </a:xfrm>
          <a:prstGeom prst="rect">
            <a:avLst/>
          </a:prstGeom>
          <a:noFill/>
          <a:ln/>
        </p:spPr>
        <p:txBody>
          <a:bodyPr wrap="square" rtlCol="0" anchor="ctr"/>
          <a:lstStyle/>
          <a:p>
            <a:pPr indent="0" marL="0">
              <a:buNone/>
            </a:pPr>
            <a:r>
              <a:rPr lang="en-US" sz="9600" b="1" spc="-200" kern="0" dirty="0">
                <a:solidFill>
                  <a:srgbClr val="FFFFFF"/>
                </a:solidFill>
                <a:latin typeface="DM Sans" pitchFamily="34" charset="0"/>
                <a:ea typeface="DM Sans" pitchFamily="34" charset="-122"/>
                <a:cs typeface="DM Sans" pitchFamily="34" charset="-120"/>
              </a:rPr>
              <a:t>Hatchik</a:t>
            </a:r>
            <a:endParaRPr lang="en-US" sz="9600" dirty="0"/>
          </a:p>
        </p:txBody>
      </p:sp>
      <p:sp>
        <p:nvSpPr>
          <p:cNvPr id="5" name="Text 3"/>
          <p:cNvSpPr/>
          <p:nvPr/>
        </p:nvSpPr>
        <p:spPr>
          <a:xfrm>
            <a:off x="502920" y="2377440"/>
            <a:ext cx="10972800" cy="365760"/>
          </a:xfrm>
          <a:prstGeom prst="rect">
            <a:avLst/>
          </a:prstGeom>
          <a:noFill/>
          <a:ln/>
        </p:spPr>
        <p:txBody>
          <a:bodyPr wrap="square" rtlCol="0" anchor="ctr"/>
          <a:lstStyle/>
          <a:p>
            <a:pPr indent="0" marL="0">
              <a:buNone/>
            </a:pPr>
            <a:r>
              <a:rPr lang="en-US" sz="1200" b="1" spc="800" kern="0" dirty="0">
                <a:solidFill>
                  <a:srgbClr val="F59E0B"/>
                </a:solidFill>
                <a:latin typeface="JetBrains Mono" pitchFamily="34" charset="0"/>
                <a:ea typeface="JetBrains Mono" pitchFamily="34" charset="-122"/>
                <a:cs typeface="JetBrains Mono" pitchFamily="34" charset="-120"/>
              </a:rPr>
              <a:t>THE PRODUCTION SUBSTRATE FOR AI-BUILT SAAS</a:t>
            </a:r>
            <a:endParaRPr lang="en-US" sz="1200" dirty="0"/>
          </a:p>
        </p:txBody>
      </p:sp>
      <p:sp>
        <p:nvSpPr>
          <p:cNvPr id="6" name="Text 4"/>
          <p:cNvSpPr/>
          <p:nvPr/>
        </p:nvSpPr>
        <p:spPr>
          <a:xfrm>
            <a:off x="502920" y="3017520"/>
            <a:ext cx="10058400" cy="1097280"/>
          </a:xfrm>
          <a:prstGeom prst="rect">
            <a:avLst/>
          </a:prstGeom>
          <a:noFill/>
          <a:ln/>
        </p:spPr>
        <p:txBody>
          <a:bodyPr wrap="square" rtlCol="0" anchor="ctr"/>
          <a:lstStyle/>
          <a:p>
            <a:pPr indent="0" marL="0">
              <a:lnSpc>
                <a:spcPct val="130000"/>
              </a:lnSpc>
              <a:buNone/>
            </a:pPr>
            <a:r>
              <a:rPr lang="en-US" sz="2400" i="1" dirty="0">
                <a:solidFill>
                  <a:srgbClr val="FFFFFF"/>
                </a:solidFill>
                <a:latin typeface="DM Sans" pitchFamily="34" charset="0"/>
                <a:ea typeface="DM Sans" pitchFamily="34" charset="-122"/>
                <a:cs typeface="DM Sans" pitchFamily="34" charset="-120"/>
              </a:rPr>
              <a:t>The production substrate your AI coder builds on — no platform, no lock-in, no demos.</a:t>
            </a:r>
            <a:endParaRPr lang="en-US" sz="2400" dirty="0"/>
          </a:p>
        </p:txBody>
      </p:sp>
      <p:sp>
        <p:nvSpPr>
          <p:cNvPr id="7" name="Shape 5"/>
          <p:cNvSpPr/>
          <p:nvPr/>
        </p:nvSpPr>
        <p:spPr>
          <a:xfrm>
            <a:off x="502920" y="4754880"/>
            <a:ext cx="3657600" cy="18288"/>
          </a:xfrm>
          <a:prstGeom prst="rect">
            <a:avLst/>
          </a:prstGeom>
          <a:solidFill>
            <a:srgbClr val="4F46E5"/>
          </a:solidFill>
          <a:ln w="12700">
            <a:solidFill>
              <a:srgbClr val="333333"/>
            </a:solidFill>
            <a:prstDash val="solid"/>
          </a:ln>
        </p:spPr>
      </p:sp>
      <p:sp>
        <p:nvSpPr>
          <p:cNvPr id="8" name="Text 6"/>
          <p:cNvSpPr/>
          <p:nvPr/>
        </p:nvSpPr>
        <p:spPr>
          <a:xfrm>
            <a:off x="502920" y="4892040"/>
            <a:ext cx="7315200" cy="1371600"/>
          </a:xfrm>
          <a:prstGeom prst="rect">
            <a:avLst/>
          </a:prstGeom>
          <a:noFill/>
          <a:ln/>
        </p:spPr>
        <p:txBody>
          <a:bodyPr wrap="square" rtlCol="0" anchor="t"/>
          <a:lstStyle/>
          <a:p>
            <a:pPr indent="0" marL="0">
              <a:lnSpc>
                <a:spcPct val="140000"/>
              </a:lnSpc>
              <a:buNone/>
            </a:pPr>
            <a:r>
              <a:rPr lang="en-US" sz="1400" b="1" dirty="0">
                <a:solidFill>
                  <a:srgbClr val="FFFFFF"/>
                </a:solidFill>
                <a:latin typeface="DM Sans" pitchFamily="34" charset="0"/>
                <a:ea typeface="DM Sans" pitchFamily="34" charset="-122"/>
                <a:cs typeface="DM Sans" pitchFamily="34" charset="-120"/>
              </a:rPr>
              <a:t>Farhan Irshad</a:t>
            </a:r>
            <a:pPr indent="0" marL="0">
              <a:lnSpc>
                <a:spcPct val="140000"/>
              </a:lnSpc>
              <a:buNone/>
            </a:pPr>
            <a:endParaRPr lang="en-US" sz="1400" dirty="0"/>
          </a:p>
          <a:p>
            <a:pPr indent="0" marL="0">
              <a:lnSpc>
                <a:spcPct val="140000"/>
              </a:lnSpc>
              <a:buNone/>
            </a:pPr>
            <a:r>
              <a:rPr lang="en-US" sz="1100" dirty="0">
                <a:solidFill>
                  <a:srgbClr val="94A3B8"/>
                </a:solidFill>
                <a:latin typeface="DM Sans" pitchFamily="34" charset="0"/>
                <a:ea typeface="DM Sans" pitchFamily="34" charset="-122"/>
                <a:cs typeface="DM Sans" pitchFamily="34" charset="-120"/>
              </a:rPr>
              <a:t>Founder  ·  Operating entity: Omani-registered company</a:t>
            </a:r>
            <a:endParaRPr lang="en-US" sz="1400" dirty="0"/>
          </a:p>
          <a:p>
            <a:pPr indent="0" marL="0">
              <a:lnSpc>
                <a:spcPct val="140000"/>
              </a:lnSpc>
              <a:buNone/>
            </a:pPr>
            <a:endParaRPr lang="en-US" sz="1400" dirty="0"/>
          </a:p>
          <a:p>
            <a:pPr indent="0" marL="0">
              <a:lnSpc>
                <a:spcPct val="140000"/>
              </a:lnSpc>
              <a:buNone/>
            </a:pPr>
            <a:r>
              <a:rPr lang="en-US" sz="1000" dirty="0">
                <a:solidFill>
                  <a:srgbClr val="F59E0B"/>
                </a:solidFill>
                <a:latin typeface="JetBrains Mono" pitchFamily="34" charset="0"/>
                <a:ea typeface="JetBrains Mono" pitchFamily="34" charset="-122"/>
                <a:cs typeface="JetBrains Mono" pitchFamily="34" charset="-120"/>
              </a:rPr>
              <a:t>May 2026  ·  hatchik.com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02  ·  THE PROBLEM</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AI builds the prototype. Then they hit a wall.</a:t>
            </a:r>
            <a:endParaRPr lang="en-US" sz="3000" dirty="0"/>
          </a:p>
        </p:txBody>
      </p:sp>
      <p:sp>
        <p:nvSpPr>
          <p:cNvPr id="4" name="Text 2"/>
          <p:cNvSpPr/>
          <p:nvPr/>
        </p:nvSpPr>
        <p:spPr>
          <a:xfrm>
            <a:off x="502920" y="1417320"/>
            <a:ext cx="11155680" cy="82296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Non-technical founders are using AI coding tools to ship working prototypes. Then they get stuck on the infrastructure step — auth, payments, mailboxes, mobile, a real database — and the project quietly dies between "looks working" and "a real business."</a:t>
            </a:r>
            <a:endParaRPr lang="en-US" sz="1400" dirty="0"/>
          </a:p>
        </p:txBody>
      </p:sp>
      <p:sp>
        <p:nvSpPr>
          <p:cNvPr id="5" name="Shape 3"/>
          <p:cNvSpPr/>
          <p:nvPr/>
        </p:nvSpPr>
        <p:spPr>
          <a:xfrm>
            <a:off x="502920" y="2606040"/>
            <a:ext cx="3611880" cy="2971800"/>
          </a:xfrm>
          <a:prstGeom prst="roundRect">
            <a:avLst>
              <a:gd name="adj" fmla="val 2462"/>
            </a:avLst>
          </a:prstGeom>
          <a:solidFill>
            <a:srgbClr val="FFFFFF"/>
          </a:solidFill>
          <a:ln w="9525">
            <a:solidFill>
              <a:srgbClr val="E2E8F0"/>
            </a:solidFill>
            <a:prstDash val="solid"/>
          </a:ln>
        </p:spPr>
      </p:sp>
      <p:sp>
        <p:nvSpPr>
          <p:cNvPr id="6" name="Shape 4"/>
          <p:cNvSpPr/>
          <p:nvPr/>
        </p:nvSpPr>
        <p:spPr>
          <a:xfrm>
            <a:off x="502920" y="2606040"/>
            <a:ext cx="3611880" cy="54864"/>
          </a:xfrm>
          <a:prstGeom prst="rect">
            <a:avLst/>
          </a:prstGeom>
          <a:solidFill>
            <a:srgbClr val="F59E0B"/>
          </a:solidFill>
          <a:ln w="12700">
            <a:solidFill>
              <a:srgbClr val="F59E0B"/>
            </a:solidFill>
            <a:prstDash val="solid"/>
          </a:ln>
        </p:spPr>
      </p:sp>
      <p:sp>
        <p:nvSpPr>
          <p:cNvPr id="7" name="Text 5"/>
          <p:cNvSpPr/>
          <p:nvPr/>
        </p:nvSpPr>
        <p:spPr>
          <a:xfrm>
            <a:off x="777240" y="2834640"/>
            <a:ext cx="3154680" cy="256032"/>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PERSONAL TRAINER</a:t>
            </a:r>
            <a:endParaRPr lang="en-US" sz="900" dirty="0"/>
          </a:p>
        </p:txBody>
      </p:sp>
      <p:sp>
        <p:nvSpPr>
          <p:cNvPr id="8" name="Text 6"/>
          <p:cNvSpPr/>
          <p:nvPr/>
        </p:nvSpPr>
        <p:spPr>
          <a:xfrm>
            <a:off x="777240" y="31546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Meal-prep app for PT clients</a:t>
            </a:r>
            <a:endParaRPr lang="en-US" sz="1700" dirty="0"/>
          </a:p>
        </p:txBody>
      </p:sp>
      <p:sp>
        <p:nvSpPr>
          <p:cNvPr id="9" name="Text 7"/>
          <p:cNvSpPr/>
          <p:nvPr/>
        </p:nvSpPr>
        <p:spPr>
          <a:xfrm>
            <a:off x="777240" y="3977640"/>
            <a:ext cx="3154680" cy="219456"/>
          </a:xfrm>
          <a:prstGeom prst="rect">
            <a:avLst/>
          </a:prstGeom>
          <a:noFill/>
          <a:ln/>
        </p:spPr>
        <p:txBody>
          <a:bodyPr wrap="square" rtlCol="0" anchor="ctr"/>
          <a:lstStyle/>
          <a:p>
            <a:pPr indent="0" marL="0">
              <a:buNone/>
            </a:pPr>
            <a:r>
              <a:rPr lang="en-US" sz="800" b="1" spc="300" kern="0" dirty="0">
                <a:solidFill>
                  <a:srgbClr val="64748B"/>
                </a:solidFill>
                <a:latin typeface="JetBrains Mono" pitchFamily="34" charset="0"/>
                <a:ea typeface="JetBrains Mono" pitchFamily="34" charset="-122"/>
                <a:cs typeface="JetBrains Mono" pitchFamily="34" charset="-120"/>
              </a:rPr>
              <a:t>WHERE THEY PLATEAU</a:t>
            </a:r>
            <a:endParaRPr lang="en-US" sz="800" dirty="0"/>
          </a:p>
        </p:txBody>
      </p:sp>
      <p:sp>
        <p:nvSpPr>
          <p:cNvPr id="10" name="Text 8"/>
          <p:cNvSpPr/>
          <p:nvPr/>
        </p:nvSpPr>
        <p:spPr>
          <a:xfrm>
            <a:off x="777240" y="4251960"/>
            <a:ext cx="3154680" cy="1143000"/>
          </a:xfrm>
          <a:prstGeom prst="rect">
            <a:avLst/>
          </a:prstGeom>
          <a:noFill/>
          <a:ln/>
        </p:spPr>
        <p:txBody>
          <a:bodyPr wrap="square" rtlCol="0" anchor="ctr"/>
          <a:lstStyle/>
          <a:p>
            <a:pPr indent="0" marL="0">
              <a:lnSpc>
                <a:spcPct val="135000"/>
              </a:lnSpc>
              <a:buNone/>
            </a:pPr>
            <a:r>
              <a:rPr lang="en-US" sz="1200" dirty="0">
                <a:solidFill>
                  <a:srgbClr val="334155"/>
                </a:solidFill>
                <a:latin typeface="DM Sans" pitchFamily="34" charset="0"/>
                <a:ea typeface="DM Sans" pitchFamily="34" charset="-122"/>
                <a:cs typeface="DM Sans" pitchFamily="34" charset="-120"/>
              </a:rPr>
              <a:t>Prototype generates meal plans. Cannot bill clients, cannot send weekly emails, cannot ship a mobile build.</a:t>
            </a:r>
            <a:endParaRPr lang="en-US" sz="1200" dirty="0"/>
          </a:p>
        </p:txBody>
      </p:sp>
      <p:sp>
        <p:nvSpPr>
          <p:cNvPr id="11" name="Shape 9"/>
          <p:cNvSpPr/>
          <p:nvPr/>
        </p:nvSpPr>
        <p:spPr>
          <a:xfrm>
            <a:off x="4297680" y="2606040"/>
            <a:ext cx="3611880" cy="2971800"/>
          </a:xfrm>
          <a:prstGeom prst="roundRect">
            <a:avLst>
              <a:gd name="adj" fmla="val 2462"/>
            </a:avLst>
          </a:prstGeom>
          <a:solidFill>
            <a:srgbClr val="FFFFFF"/>
          </a:solidFill>
          <a:ln w="9525">
            <a:solidFill>
              <a:srgbClr val="E2E8F0"/>
            </a:solidFill>
            <a:prstDash val="solid"/>
          </a:ln>
        </p:spPr>
      </p:sp>
      <p:sp>
        <p:nvSpPr>
          <p:cNvPr id="12" name="Shape 10"/>
          <p:cNvSpPr/>
          <p:nvPr/>
        </p:nvSpPr>
        <p:spPr>
          <a:xfrm>
            <a:off x="4297680" y="2606040"/>
            <a:ext cx="3611880" cy="54864"/>
          </a:xfrm>
          <a:prstGeom prst="rect">
            <a:avLst/>
          </a:prstGeom>
          <a:solidFill>
            <a:srgbClr val="F59E0B"/>
          </a:solidFill>
          <a:ln w="12700">
            <a:solidFill>
              <a:srgbClr val="F59E0B"/>
            </a:solidFill>
            <a:prstDash val="solid"/>
          </a:ln>
        </p:spPr>
      </p:sp>
      <p:sp>
        <p:nvSpPr>
          <p:cNvPr id="13" name="Text 11"/>
          <p:cNvSpPr/>
          <p:nvPr/>
        </p:nvSpPr>
        <p:spPr>
          <a:xfrm>
            <a:off x="4572000" y="2834640"/>
            <a:ext cx="3154680" cy="256032"/>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CONSULTANT</a:t>
            </a:r>
            <a:endParaRPr lang="en-US" sz="900" dirty="0"/>
          </a:p>
        </p:txBody>
      </p:sp>
      <p:sp>
        <p:nvSpPr>
          <p:cNvPr id="14" name="Text 12"/>
          <p:cNvSpPr/>
          <p:nvPr/>
        </p:nvSpPr>
        <p:spPr>
          <a:xfrm>
            <a:off x="4572000" y="31546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Interactive framework demo</a:t>
            </a:r>
            <a:endParaRPr lang="en-US" sz="1700" dirty="0"/>
          </a:p>
        </p:txBody>
      </p:sp>
      <p:sp>
        <p:nvSpPr>
          <p:cNvPr id="15" name="Text 13"/>
          <p:cNvSpPr/>
          <p:nvPr/>
        </p:nvSpPr>
        <p:spPr>
          <a:xfrm>
            <a:off x="4572000" y="3977640"/>
            <a:ext cx="3154680" cy="219456"/>
          </a:xfrm>
          <a:prstGeom prst="rect">
            <a:avLst/>
          </a:prstGeom>
          <a:noFill/>
          <a:ln/>
        </p:spPr>
        <p:txBody>
          <a:bodyPr wrap="square" rtlCol="0" anchor="ctr"/>
          <a:lstStyle/>
          <a:p>
            <a:pPr indent="0" marL="0">
              <a:buNone/>
            </a:pPr>
            <a:r>
              <a:rPr lang="en-US" sz="800" b="1" spc="300" kern="0" dirty="0">
                <a:solidFill>
                  <a:srgbClr val="64748B"/>
                </a:solidFill>
                <a:latin typeface="JetBrains Mono" pitchFamily="34" charset="0"/>
                <a:ea typeface="JetBrains Mono" pitchFamily="34" charset="-122"/>
                <a:cs typeface="JetBrains Mono" pitchFamily="34" charset="-120"/>
              </a:rPr>
              <a:t>WHERE THEY PLATEAU</a:t>
            </a:r>
            <a:endParaRPr lang="en-US" sz="800" dirty="0"/>
          </a:p>
        </p:txBody>
      </p:sp>
      <p:sp>
        <p:nvSpPr>
          <p:cNvPr id="16" name="Text 14"/>
          <p:cNvSpPr/>
          <p:nvPr/>
        </p:nvSpPr>
        <p:spPr>
          <a:xfrm>
            <a:off x="4572000" y="4251960"/>
            <a:ext cx="3154680" cy="1143000"/>
          </a:xfrm>
          <a:prstGeom prst="rect">
            <a:avLst/>
          </a:prstGeom>
          <a:noFill/>
          <a:ln/>
        </p:spPr>
        <p:txBody>
          <a:bodyPr wrap="square" rtlCol="0" anchor="ctr"/>
          <a:lstStyle/>
          <a:p>
            <a:pPr indent="0" marL="0">
              <a:lnSpc>
                <a:spcPct val="135000"/>
              </a:lnSpc>
              <a:buNone/>
            </a:pPr>
            <a:r>
              <a:rPr lang="en-US" sz="1200" dirty="0">
                <a:solidFill>
                  <a:srgbClr val="334155"/>
                </a:solidFill>
                <a:latin typeface="DM Sans" pitchFamily="34" charset="0"/>
                <a:ea typeface="DM Sans" pitchFamily="34" charset="-122"/>
                <a:cs typeface="DM Sans" pitchFamily="34" charset="-120"/>
              </a:rPr>
              <a:t>Slick interaction. No login, no usage limits, no way to charge enterprise prospects the £5K it’s worth.</a:t>
            </a:r>
            <a:endParaRPr lang="en-US" sz="1200" dirty="0"/>
          </a:p>
        </p:txBody>
      </p:sp>
      <p:sp>
        <p:nvSpPr>
          <p:cNvPr id="17" name="Shape 15"/>
          <p:cNvSpPr/>
          <p:nvPr/>
        </p:nvSpPr>
        <p:spPr>
          <a:xfrm>
            <a:off x="8092440" y="2606040"/>
            <a:ext cx="3611880" cy="2971800"/>
          </a:xfrm>
          <a:prstGeom prst="roundRect">
            <a:avLst>
              <a:gd name="adj" fmla="val 2462"/>
            </a:avLst>
          </a:prstGeom>
          <a:solidFill>
            <a:srgbClr val="FFFFFF"/>
          </a:solidFill>
          <a:ln w="9525">
            <a:solidFill>
              <a:srgbClr val="E2E8F0"/>
            </a:solidFill>
            <a:prstDash val="solid"/>
          </a:ln>
        </p:spPr>
      </p:sp>
      <p:sp>
        <p:nvSpPr>
          <p:cNvPr id="18" name="Shape 16"/>
          <p:cNvSpPr/>
          <p:nvPr/>
        </p:nvSpPr>
        <p:spPr>
          <a:xfrm>
            <a:off x="8092440" y="2606040"/>
            <a:ext cx="3611880" cy="54864"/>
          </a:xfrm>
          <a:prstGeom prst="rect">
            <a:avLst/>
          </a:prstGeom>
          <a:solidFill>
            <a:srgbClr val="F59E0B"/>
          </a:solidFill>
          <a:ln w="12700">
            <a:solidFill>
              <a:srgbClr val="F59E0B"/>
            </a:solidFill>
            <a:prstDash val="solid"/>
          </a:ln>
        </p:spPr>
      </p:sp>
      <p:sp>
        <p:nvSpPr>
          <p:cNvPr id="19" name="Text 17"/>
          <p:cNvSpPr/>
          <p:nvPr/>
        </p:nvSpPr>
        <p:spPr>
          <a:xfrm>
            <a:off x="8366760" y="2834640"/>
            <a:ext cx="3154680" cy="256032"/>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DESIGNER</a:t>
            </a:r>
            <a:endParaRPr lang="en-US" sz="900" dirty="0"/>
          </a:p>
        </p:txBody>
      </p:sp>
      <p:sp>
        <p:nvSpPr>
          <p:cNvPr id="20" name="Text 18"/>
          <p:cNvSpPr/>
          <p:nvPr/>
        </p:nvSpPr>
        <p:spPr>
          <a:xfrm>
            <a:off x="8366760" y="31546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The tool they always wanted</a:t>
            </a:r>
            <a:endParaRPr lang="en-US" sz="1700" dirty="0"/>
          </a:p>
        </p:txBody>
      </p:sp>
      <p:sp>
        <p:nvSpPr>
          <p:cNvPr id="21" name="Text 19"/>
          <p:cNvSpPr/>
          <p:nvPr/>
        </p:nvSpPr>
        <p:spPr>
          <a:xfrm>
            <a:off x="8366760" y="3977640"/>
            <a:ext cx="3154680" cy="219456"/>
          </a:xfrm>
          <a:prstGeom prst="rect">
            <a:avLst/>
          </a:prstGeom>
          <a:noFill/>
          <a:ln/>
        </p:spPr>
        <p:txBody>
          <a:bodyPr wrap="square" rtlCol="0" anchor="ctr"/>
          <a:lstStyle/>
          <a:p>
            <a:pPr indent="0" marL="0">
              <a:buNone/>
            </a:pPr>
            <a:r>
              <a:rPr lang="en-US" sz="800" b="1" spc="300" kern="0" dirty="0">
                <a:solidFill>
                  <a:srgbClr val="64748B"/>
                </a:solidFill>
                <a:latin typeface="JetBrains Mono" pitchFamily="34" charset="0"/>
                <a:ea typeface="JetBrains Mono" pitchFamily="34" charset="-122"/>
                <a:cs typeface="JetBrains Mono" pitchFamily="34" charset="-120"/>
              </a:rPr>
              <a:t>WHERE THEY PLATEAU</a:t>
            </a:r>
            <a:endParaRPr lang="en-US" sz="800" dirty="0"/>
          </a:p>
        </p:txBody>
      </p:sp>
      <p:sp>
        <p:nvSpPr>
          <p:cNvPr id="22" name="Text 20"/>
          <p:cNvSpPr/>
          <p:nvPr/>
        </p:nvSpPr>
        <p:spPr>
          <a:xfrm>
            <a:off x="8366760" y="4251960"/>
            <a:ext cx="3154680" cy="1143000"/>
          </a:xfrm>
          <a:prstGeom prst="rect">
            <a:avLst/>
          </a:prstGeom>
          <a:noFill/>
          <a:ln/>
        </p:spPr>
        <p:txBody>
          <a:bodyPr wrap="square" rtlCol="0" anchor="ctr"/>
          <a:lstStyle/>
          <a:p>
            <a:pPr indent="0" marL="0">
              <a:lnSpc>
                <a:spcPct val="135000"/>
              </a:lnSpc>
              <a:buNone/>
            </a:pPr>
            <a:r>
              <a:rPr lang="en-US" sz="1200" dirty="0">
                <a:solidFill>
                  <a:srgbClr val="334155"/>
                </a:solidFill>
                <a:latin typeface="DM Sans" pitchFamily="34" charset="0"/>
                <a:ea typeface="DM Sans" pitchFamily="34" charset="-122"/>
                <a:cs typeface="DM Sans" pitchFamily="34" charset="-120"/>
              </a:rPr>
              <a:t>Lovely UI. No real database, no auth, no signed mobile build to show on a phone in a room.</a:t>
            </a:r>
            <a:endParaRPr lang="en-US" sz="1200" dirty="0"/>
          </a:p>
        </p:txBody>
      </p:sp>
      <p:sp>
        <p:nvSpPr>
          <p:cNvPr id="23" name="Text 21"/>
          <p:cNvSpPr/>
          <p:nvPr/>
        </p:nvSpPr>
        <p:spPr>
          <a:xfrm>
            <a:off x="502920" y="5852160"/>
            <a:ext cx="10972800" cy="365760"/>
          </a:xfrm>
          <a:prstGeom prst="rect">
            <a:avLst/>
          </a:prstGeom>
          <a:noFill/>
          <a:ln/>
        </p:spPr>
        <p:txBody>
          <a:bodyPr wrap="square" rtlCol="0" anchor="ctr"/>
          <a:lstStyle/>
          <a:p>
            <a:pPr algn="ctr" indent="0" marL="0">
              <a:buNone/>
            </a:pPr>
            <a:r>
              <a:rPr lang="en-US" sz="1300" i="1" dirty="0">
                <a:solidFill>
                  <a:srgbClr val="1E293B"/>
                </a:solidFill>
                <a:latin typeface="DM Sans" pitchFamily="34" charset="0"/>
                <a:ea typeface="DM Sans" pitchFamily="34" charset="-122"/>
                <a:cs typeface="DM Sans" pitchFamily="34" charset="-120"/>
              </a:rPr>
              <a:t>Every persona above ships a working-looking thing. None of them ship a business.</a:t>
            </a:r>
            <a:endParaRPr lang="en-US" sz="1300" dirty="0"/>
          </a:p>
        </p:txBody>
      </p:sp>
      <p:sp>
        <p:nvSpPr>
          <p:cNvPr id="24" name="Text 22"/>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5" name="Text 23"/>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03  ·  THE SOLUTION</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We give the AI tool a real SaaS to build on.</a:t>
            </a:r>
            <a:endParaRPr lang="en-US" sz="3000" dirty="0"/>
          </a:p>
        </p:txBody>
      </p:sp>
      <p:sp>
        <p:nvSpPr>
          <p:cNvPr id="4" name="Text 2"/>
          <p:cNvSpPr/>
          <p:nvPr/>
        </p:nvSpPr>
        <p:spPr>
          <a:xfrm>
            <a:off x="502920" y="1417320"/>
            <a:ext cx="11155680" cy="8686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Customer signs up. In ~60 seconds they have a sandbox at &lt;slug&gt;.hatchik.com with auth, Postgres, payments, mail, mobile and a GitHub repo all wired. Their AI tool reads the AI_CONTEXT.md handoff file, knows the layout, pushes changes into the repo. We redeploy in ~30 seconds.</a:t>
            </a:r>
            <a:endParaRPr lang="en-US" sz="1400" dirty="0"/>
          </a:p>
        </p:txBody>
      </p:sp>
      <p:sp>
        <p:nvSpPr>
          <p:cNvPr id="5" name="Shape 3"/>
          <p:cNvSpPr/>
          <p:nvPr/>
        </p:nvSpPr>
        <p:spPr>
          <a:xfrm>
            <a:off x="502920" y="2834640"/>
            <a:ext cx="2606040" cy="2057400"/>
          </a:xfrm>
          <a:prstGeom prst="roundRect">
            <a:avLst>
              <a:gd name="adj" fmla="val 3556"/>
            </a:avLst>
          </a:prstGeom>
          <a:solidFill>
            <a:srgbClr val="FFFFFF"/>
          </a:solidFill>
          <a:ln w="9525">
            <a:solidFill>
              <a:srgbClr val="E2E8F0"/>
            </a:solidFill>
            <a:prstDash val="solid"/>
          </a:ln>
        </p:spPr>
      </p:sp>
      <p:sp>
        <p:nvSpPr>
          <p:cNvPr id="6" name="Shape 4"/>
          <p:cNvSpPr/>
          <p:nvPr/>
        </p:nvSpPr>
        <p:spPr>
          <a:xfrm>
            <a:off x="777240" y="3108960"/>
            <a:ext cx="548640" cy="548640"/>
          </a:xfrm>
          <a:prstGeom prst="ellipse">
            <a:avLst/>
          </a:prstGeom>
          <a:solidFill>
            <a:srgbClr val="4F46E5"/>
          </a:solidFill>
          <a:ln w="12700">
            <a:solidFill>
              <a:srgbClr val="4F46E5"/>
            </a:solidFill>
            <a:prstDash val="solid"/>
          </a:ln>
        </p:spPr>
      </p:sp>
      <p:sp>
        <p:nvSpPr>
          <p:cNvPr id="7" name="Text 5"/>
          <p:cNvSpPr/>
          <p:nvPr/>
        </p:nvSpPr>
        <p:spPr>
          <a:xfrm>
            <a:off x="77724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1</a:t>
            </a:r>
            <a:endParaRPr lang="en-US" sz="2200" dirty="0"/>
          </a:p>
        </p:txBody>
      </p:sp>
      <p:sp>
        <p:nvSpPr>
          <p:cNvPr id="8" name="Text 6"/>
          <p:cNvSpPr/>
          <p:nvPr/>
        </p:nvSpPr>
        <p:spPr>
          <a:xfrm>
            <a:off x="146304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Sign up wizard</a:t>
            </a:r>
            <a:endParaRPr lang="en-US" sz="1400" dirty="0"/>
          </a:p>
        </p:txBody>
      </p:sp>
      <p:sp>
        <p:nvSpPr>
          <p:cNvPr id="9" name="Text 7"/>
          <p:cNvSpPr/>
          <p:nvPr/>
        </p:nvSpPr>
        <p:spPr>
          <a:xfrm>
            <a:off x="77724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Email + product idea + tier</a:t>
            </a:r>
            <a:endParaRPr lang="en-US" sz="1100" dirty="0"/>
          </a:p>
        </p:txBody>
      </p:sp>
      <p:sp>
        <p:nvSpPr>
          <p:cNvPr id="10" name="Text 8"/>
          <p:cNvSpPr/>
          <p:nvPr/>
        </p:nvSpPr>
        <p:spPr>
          <a:xfrm>
            <a:off x="3145536" y="3657600"/>
            <a:ext cx="228600" cy="502920"/>
          </a:xfrm>
          <a:prstGeom prst="rect">
            <a:avLst/>
          </a:prstGeom>
          <a:noFill/>
          <a:ln/>
        </p:spPr>
        <p:txBody>
          <a:bodyPr wrap="square" rtlCol="0" anchor="ctr"/>
          <a:lstStyle/>
          <a:p>
            <a:pPr algn="ctr" indent="0" marL="0">
              <a:buNone/>
            </a:pPr>
            <a:r>
              <a:rPr lang="en-US" sz="2400" dirty="0">
                <a:solidFill>
                  <a:srgbClr val="94A3B8"/>
                </a:solidFill>
                <a:latin typeface="DM Sans" pitchFamily="34" charset="0"/>
                <a:ea typeface="DM Sans" pitchFamily="34" charset="-122"/>
                <a:cs typeface="DM Sans" pitchFamily="34" charset="-120"/>
              </a:rPr>
              <a:t>›</a:t>
            </a:r>
            <a:endParaRPr lang="en-US" sz="2400" dirty="0"/>
          </a:p>
        </p:txBody>
      </p:sp>
      <p:sp>
        <p:nvSpPr>
          <p:cNvPr id="11" name="Shape 9"/>
          <p:cNvSpPr/>
          <p:nvPr/>
        </p:nvSpPr>
        <p:spPr>
          <a:xfrm>
            <a:off x="3383280" y="2834640"/>
            <a:ext cx="2606040" cy="2057400"/>
          </a:xfrm>
          <a:prstGeom prst="roundRect">
            <a:avLst>
              <a:gd name="adj" fmla="val 3556"/>
            </a:avLst>
          </a:prstGeom>
          <a:solidFill>
            <a:srgbClr val="FFFFFF"/>
          </a:solidFill>
          <a:ln w="9525">
            <a:solidFill>
              <a:srgbClr val="E2E8F0"/>
            </a:solidFill>
            <a:prstDash val="solid"/>
          </a:ln>
        </p:spPr>
      </p:sp>
      <p:sp>
        <p:nvSpPr>
          <p:cNvPr id="12" name="Shape 10"/>
          <p:cNvSpPr/>
          <p:nvPr/>
        </p:nvSpPr>
        <p:spPr>
          <a:xfrm>
            <a:off x="3657600" y="3108960"/>
            <a:ext cx="548640" cy="548640"/>
          </a:xfrm>
          <a:prstGeom prst="ellipse">
            <a:avLst/>
          </a:prstGeom>
          <a:solidFill>
            <a:srgbClr val="4F46E5"/>
          </a:solidFill>
          <a:ln w="12700">
            <a:solidFill>
              <a:srgbClr val="4F46E5"/>
            </a:solidFill>
            <a:prstDash val="solid"/>
          </a:ln>
        </p:spPr>
      </p:sp>
      <p:sp>
        <p:nvSpPr>
          <p:cNvPr id="13" name="Text 11"/>
          <p:cNvSpPr/>
          <p:nvPr/>
        </p:nvSpPr>
        <p:spPr>
          <a:xfrm>
            <a:off x="365760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2</a:t>
            </a:r>
            <a:endParaRPr lang="en-US" sz="2200" dirty="0"/>
          </a:p>
        </p:txBody>
      </p:sp>
      <p:sp>
        <p:nvSpPr>
          <p:cNvPr id="14" name="Text 12"/>
          <p:cNvSpPr/>
          <p:nvPr/>
        </p:nvSpPr>
        <p:spPr>
          <a:xfrm>
            <a:off x="434340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Sandbox provisioned</a:t>
            </a:r>
            <a:endParaRPr lang="en-US" sz="1400" dirty="0"/>
          </a:p>
        </p:txBody>
      </p:sp>
      <p:sp>
        <p:nvSpPr>
          <p:cNvPr id="15" name="Text 13"/>
          <p:cNvSpPr/>
          <p:nvPr/>
        </p:nvSpPr>
        <p:spPr>
          <a:xfrm>
            <a:off x="365760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~60s, 9 containers, wildcard TLS</a:t>
            </a:r>
            <a:endParaRPr lang="en-US" sz="1100" dirty="0"/>
          </a:p>
        </p:txBody>
      </p:sp>
      <p:sp>
        <p:nvSpPr>
          <p:cNvPr id="16" name="Text 14"/>
          <p:cNvSpPr/>
          <p:nvPr/>
        </p:nvSpPr>
        <p:spPr>
          <a:xfrm>
            <a:off x="6025896" y="3657600"/>
            <a:ext cx="228600" cy="502920"/>
          </a:xfrm>
          <a:prstGeom prst="rect">
            <a:avLst/>
          </a:prstGeom>
          <a:noFill/>
          <a:ln/>
        </p:spPr>
        <p:txBody>
          <a:bodyPr wrap="square" rtlCol="0" anchor="ctr"/>
          <a:lstStyle/>
          <a:p>
            <a:pPr algn="ctr" indent="0" marL="0">
              <a:buNone/>
            </a:pPr>
            <a:r>
              <a:rPr lang="en-US" sz="2400" dirty="0">
                <a:solidFill>
                  <a:srgbClr val="94A3B8"/>
                </a:solidFill>
                <a:latin typeface="DM Sans" pitchFamily="34" charset="0"/>
                <a:ea typeface="DM Sans" pitchFamily="34" charset="-122"/>
                <a:cs typeface="DM Sans" pitchFamily="34" charset="-120"/>
              </a:rPr>
              <a:t>›</a:t>
            </a:r>
            <a:endParaRPr lang="en-US" sz="2400" dirty="0"/>
          </a:p>
        </p:txBody>
      </p:sp>
      <p:sp>
        <p:nvSpPr>
          <p:cNvPr id="17" name="Shape 15"/>
          <p:cNvSpPr/>
          <p:nvPr/>
        </p:nvSpPr>
        <p:spPr>
          <a:xfrm>
            <a:off x="6263640" y="2834640"/>
            <a:ext cx="2606040" cy="2057400"/>
          </a:xfrm>
          <a:prstGeom prst="roundRect">
            <a:avLst>
              <a:gd name="adj" fmla="val 3556"/>
            </a:avLst>
          </a:prstGeom>
          <a:solidFill>
            <a:srgbClr val="FFFFFF"/>
          </a:solidFill>
          <a:ln w="9525">
            <a:solidFill>
              <a:srgbClr val="E2E8F0"/>
            </a:solidFill>
            <a:prstDash val="solid"/>
          </a:ln>
        </p:spPr>
      </p:sp>
      <p:sp>
        <p:nvSpPr>
          <p:cNvPr id="18" name="Shape 16"/>
          <p:cNvSpPr/>
          <p:nvPr/>
        </p:nvSpPr>
        <p:spPr>
          <a:xfrm>
            <a:off x="6537960" y="3108960"/>
            <a:ext cx="548640" cy="548640"/>
          </a:xfrm>
          <a:prstGeom prst="ellipse">
            <a:avLst/>
          </a:prstGeom>
          <a:solidFill>
            <a:srgbClr val="4F46E5"/>
          </a:solidFill>
          <a:ln w="12700">
            <a:solidFill>
              <a:srgbClr val="4F46E5"/>
            </a:solidFill>
            <a:prstDash val="solid"/>
          </a:ln>
        </p:spPr>
      </p:sp>
      <p:sp>
        <p:nvSpPr>
          <p:cNvPr id="19" name="Text 17"/>
          <p:cNvSpPr/>
          <p:nvPr/>
        </p:nvSpPr>
        <p:spPr>
          <a:xfrm>
            <a:off x="653796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3</a:t>
            </a:r>
            <a:endParaRPr lang="en-US" sz="2200" dirty="0"/>
          </a:p>
        </p:txBody>
      </p:sp>
      <p:sp>
        <p:nvSpPr>
          <p:cNvPr id="20" name="Text 18"/>
          <p:cNvSpPr/>
          <p:nvPr/>
        </p:nvSpPr>
        <p:spPr>
          <a:xfrm>
            <a:off x="722376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AI reads handoff</a:t>
            </a:r>
            <a:endParaRPr lang="en-US" sz="1400" dirty="0"/>
          </a:p>
        </p:txBody>
      </p:sp>
      <p:sp>
        <p:nvSpPr>
          <p:cNvPr id="21" name="Text 19"/>
          <p:cNvSpPr/>
          <p:nvPr/>
        </p:nvSpPr>
        <p:spPr>
          <a:xfrm>
            <a:off x="653796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AI_CONTEXT.md — pushes to repo</a:t>
            </a:r>
            <a:endParaRPr lang="en-US" sz="1100" dirty="0"/>
          </a:p>
        </p:txBody>
      </p:sp>
      <p:sp>
        <p:nvSpPr>
          <p:cNvPr id="22" name="Text 20"/>
          <p:cNvSpPr/>
          <p:nvPr/>
        </p:nvSpPr>
        <p:spPr>
          <a:xfrm>
            <a:off x="8906256" y="3657600"/>
            <a:ext cx="228600" cy="502920"/>
          </a:xfrm>
          <a:prstGeom prst="rect">
            <a:avLst/>
          </a:prstGeom>
          <a:noFill/>
          <a:ln/>
        </p:spPr>
        <p:txBody>
          <a:bodyPr wrap="square" rtlCol="0" anchor="ctr"/>
          <a:lstStyle/>
          <a:p>
            <a:pPr algn="ctr" indent="0" marL="0">
              <a:buNone/>
            </a:pPr>
            <a:r>
              <a:rPr lang="en-US" sz="2400" dirty="0">
                <a:solidFill>
                  <a:srgbClr val="94A3B8"/>
                </a:solidFill>
                <a:latin typeface="DM Sans" pitchFamily="34" charset="0"/>
                <a:ea typeface="DM Sans" pitchFamily="34" charset="-122"/>
                <a:cs typeface="DM Sans" pitchFamily="34" charset="-120"/>
              </a:rPr>
              <a:t>›</a:t>
            </a:r>
            <a:endParaRPr lang="en-US" sz="2400" dirty="0"/>
          </a:p>
        </p:txBody>
      </p:sp>
      <p:sp>
        <p:nvSpPr>
          <p:cNvPr id="23" name="Shape 21"/>
          <p:cNvSpPr/>
          <p:nvPr/>
        </p:nvSpPr>
        <p:spPr>
          <a:xfrm>
            <a:off x="9144000" y="2834640"/>
            <a:ext cx="2606040" cy="2057400"/>
          </a:xfrm>
          <a:prstGeom prst="roundRect">
            <a:avLst>
              <a:gd name="adj" fmla="val 3556"/>
            </a:avLst>
          </a:prstGeom>
          <a:solidFill>
            <a:srgbClr val="FFFFFF"/>
          </a:solidFill>
          <a:ln w="9525">
            <a:solidFill>
              <a:srgbClr val="E2E8F0"/>
            </a:solidFill>
            <a:prstDash val="solid"/>
          </a:ln>
        </p:spPr>
      </p:sp>
      <p:sp>
        <p:nvSpPr>
          <p:cNvPr id="24" name="Shape 22"/>
          <p:cNvSpPr/>
          <p:nvPr/>
        </p:nvSpPr>
        <p:spPr>
          <a:xfrm>
            <a:off x="9418320" y="3108960"/>
            <a:ext cx="548640" cy="548640"/>
          </a:xfrm>
          <a:prstGeom prst="ellipse">
            <a:avLst/>
          </a:prstGeom>
          <a:solidFill>
            <a:srgbClr val="4F46E5"/>
          </a:solidFill>
          <a:ln w="12700">
            <a:solidFill>
              <a:srgbClr val="4F46E5"/>
            </a:solidFill>
            <a:prstDash val="solid"/>
          </a:ln>
        </p:spPr>
      </p:sp>
      <p:sp>
        <p:nvSpPr>
          <p:cNvPr id="25" name="Text 23"/>
          <p:cNvSpPr/>
          <p:nvPr/>
        </p:nvSpPr>
        <p:spPr>
          <a:xfrm>
            <a:off x="941832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4</a:t>
            </a:r>
            <a:endParaRPr lang="en-US" sz="2200" dirty="0"/>
          </a:p>
        </p:txBody>
      </p:sp>
      <p:sp>
        <p:nvSpPr>
          <p:cNvPr id="26" name="Text 24"/>
          <p:cNvSpPr/>
          <p:nvPr/>
        </p:nvSpPr>
        <p:spPr>
          <a:xfrm>
            <a:off x="1010412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Push-to-deploy</a:t>
            </a:r>
            <a:endParaRPr lang="en-US" sz="1400" dirty="0"/>
          </a:p>
        </p:txBody>
      </p:sp>
      <p:sp>
        <p:nvSpPr>
          <p:cNvPr id="27" name="Text 25"/>
          <p:cNvSpPr/>
          <p:nvPr/>
        </p:nvSpPr>
        <p:spPr>
          <a:xfrm>
            <a:off x="941832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~30s redeploy via webhook</a:t>
            </a:r>
            <a:endParaRPr lang="en-US" sz="1100" dirty="0"/>
          </a:p>
        </p:txBody>
      </p:sp>
      <p:sp>
        <p:nvSpPr>
          <p:cNvPr id="28" name="Shape 26"/>
          <p:cNvSpPr/>
          <p:nvPr/>
        </p:nvSpPr>
        <p:spPr>
          <a:xfrm>
            <a:off x="502920" y="5212080"/>
            <a:ext cx="11155680" cy="777240"/>
          </a:xfrm>
          <a:prstGeom prst="roundRect">
            <a:avLst>
              <a:gd name="adj" fmla="val 9412"/>
            </a:avLst>
          </a:prstGeom>
          <a:solidFill>
            <a:srgbClr val="EEF2FF"/>
          </a:solidFill>
          <a:ln w="12700">
            <a:solidFill>
              <a:srgbClr val="4F46E5"/>
            </a:solidFill>
            <a:prstDash val="solid"/>
          </a:ln>
        </p:spPr>
      </p:sp>
      <p:sp>
        <p:nvSpPr>
          <p:cNvPr id="29" name="Text 27"/>
          <p:cNvSpPr/>
          <p:nvPr/>
        </p:nvSpPr>
        <p:spPr>
          <a:xfrm>
            <a:off x="868680" y="5212080"/>
            <a:ext cx="10424160" cy="777240"/>
          </a:xfrm>
          <a:prstGeom prst="rect">
            <a:avLst/>
          </a:prstGeom>
          <a:noFill/>
          <a:ln/>
        </p:spPr>
        <p:txBody>
          <a:bodyPr wrap="square" rtlCol="0" anchor="ctr"/>
          <a:lstStyle/>
          <a:p>
            <a:pPr algn="ctr" indent="0" marL="0">
              <a:buNone/>
            </a:pPr>
            <a:r>
              <a:rPr lang="en-US" sz="1400" b="1" dirty="0">
                <a:solidFill>
                  <a:srgbClr val="3730A3"/>
                </a:solidFill>
                <a:latin typeface="DM Sans" pitchFamily="34" charset="0"/>
                <a:ea typeface="DM Sans" pitchFamily="34" charset="-122"/>
                <a:cs typeface="DM Sans" pitchFamily="34" charset="-120"/>
              </a:rPr>
              <a:t>Customer goes from "looks working" to "real product" without learning infrastructure.</a:t>
            </a:r>
            <a:endParaRPr lang="en-US" sz="1400" dirty="0"/>
          </a:p>
        </p:txBody>
      </p:sp>
      <p:sp>
        <p:nvSpPr>
          <p:cNvPr id="30" name="Text 28"/>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1" name="Text 29"/>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04  ·  WHY NOW</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This isn’t 3-year SaaS. It’s a 12-18 month hype-cycle sprint.</a:t>
            </a:r>
            <a:endParaRPr lang="en-US" sz="3000" dirty="0"/>
          </a:p>
        </p:txBody>
      </p:sp>
      <p:sp>
        <p:nvSpPr>
          <p:cNvPr id="4" name="Shape 2"/>
          <p:cNvSpPr/>
          <p:nvPr/>
        </p:nvSpPr>
        <p:spPr>
          <a:xfrm>
            <a:off x="502920" y="2103120"/>
            <a:ext cx="3611880" cy="2514600"/>
          </a:xfrm>
          <a:prstGeom prst="roundRect">
            <a:avLst>
              <a:gd name="adj" fmla="val 2909"/>
            </a:avLst>
          </a:prstGeom>
          <a:solidFill>
            <a:srgbClr val="FFFFFF"/>
          </a:solidFill>
          <a:ln w="9525">
            <a:solidFill>
              <a:srgbClr val="E2E8F0"/>
            </a:solidFill>
            <a:prstDash val="solid"/>
          </a:ln>
        </p:spPr>
      </p:sp>
      <p:sp>
        <p:nvSpPr>
          <p:cNvPr id="5" name="Shape 3"/>
          <p:cNvSpPr/>
          <p:nvPr/>
        </p:nvSpPr>
        <p:spPr>
          <a:xfrm>
            <a:off x="502920" y="2103120"/>
            <a:ext cx="3611880" cy="54864"/>
          </a:xfrm>
          <a:prstGeom prst="rect">
            <a:avLst/>
          </a:prstGeom>
          <a:solidFill>
            <a:srgbClr val="4F46E5"/>
          </a:solidFill>
          <a:ln w="12700">
            <a:solidFill>
              <a:srgbClr val="4F46E5"/>
            </a:solidFill>
            <a:prstDash val="solid"/>
          </a:ln>
        </p:spPr>
      </p:sp>
      <p:sp>
        <p:nvSpPr>
          <p:cNvPr id="6" name="Text 4"/>
          <p:cNvSpPr/>
          <p:nvPr/>
        </p:nvSpPr>
        <p:spPr>
          <a:xfrm>
            <a:off x="777240" y="2377440"/>
            <a:ext cx="3154680" cy="256032"/>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CURSOR</a:t>
            </a:r>
            <a:endParaRPr lang="en-US" sz="900" dirty="0"/>
          </a:p>
        </p:txBody>
      </p:sp>
      <p:sp>
        <p:nvSpPr>
          <p:cNvPr id="7" name="Text 5"/>
          <p:cNvSpPr/>
          <p:nvPr/>
        </p:nvSpPr>
        <p:spPr>
          <a:xfrm>
            <a:off x="777240" y="2697480"/>
            <a:ext cx="3154680" cy="914400"/>
          </a:xfrm>
          <a:prstGeom prst="rect">
            <a:avLst/>
          </a:prstGeom>
          <a:noFill/>
          <a:ln/>
        </p:spPr>
        <p:txBody>
          <a:bodyPr wrap="square" rtlCol="0" anchor="ctr"/>
          <a:lstStyle/>
          <a:p>
            <a:pPr indent="0" marL="0">
              <a:buNone/>
            </a:pPr>
            <a:r>
              <a:rPr lang="en-US" sz="5600" b="1" dirty="0">
                <a:solidFill>
                  <a:srgbClr val="0F172A"/>
                </a:solidFill>
                <a:latin typeface="DM Sans" pitchFamily="34" charset="0"/>
                <a:ea typeface="DM Sans" pitchFamily="34" charset="-122"/>
                <a:cs typeface="DM Sans" pitchFamily="34" charset="-120"/>
              </a:rPr>
              <a:t>1M+</a:t>
            </a:r>
            <a:endParaRPr lang="en-US" sz="5600" dirty="0"/>
          </a:p>
        </p:txBody>
      </p:sp>
      <p:sp>
        <p:nvSpPr>
          <p:cNvPr id="8" name="Text 6"/>
          <p:cNvSpPr/>
          <p:nvPr/>
        </p:nvSpPr>
        <p:spPr>
          <a:xfrm>
            <a:off x="777240" y="3657600"/>
            <a:ext cx="3154680" cy="256032"/>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paid users in ~24 months</a:t>
            </a:r>
            <a:endParaRPr lang="en-US" sz="1100" dirty="0"/>
          </a:p>
        </p:txBody>
      </p:sp>
      <p:sp>
        <p:nvSpPr>
          <p:cNvPr id="9" name="Text 7"/>
          <p:cNvSpPr/>
          <p:nvPr/>
        </p:nvSpPr>
        <p:spPr>
          <a:xfrm>
            <a:off x="777240" y="3977640"/>
            <a:ext cx="315468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~40–50%/month compounding through the hype peak.</a:t>
            </a:r>
            <a:endParaRPr lang="en-US" sz="1100" dirty="0"/>
          </a:p>
        </p:txBody>
      </p:sp>
      <p:sp>
        <p:nvSpPr>
          <p:cNvPr id="10" name="Shape 8"/>
          <p:cNvSpPr/>
          <p:nvPr/>
        </p:nvSpPr>
        <p:spPr>
          <a:xfrm>
            <a:off x="4297680" y="2103120"/>
            <a:ext cx="3611880" cy="2514600"/>
          </a:xfrm>
          <a:prstGeom prst="roundRect">
            <a:avLst>
              <a:gd name="adj" fmla="val 2909"/>
            </a:avLst>
          </a:prstGeom>
          <a:solidFill>
            <a:srgbClr val="FFFFFF"/>
          </a:solidFill>
          <a:ln w="9525">
            <a:solidFill>
              <a:srgbClr val="E2E8F0"/>
            </a:solidFill>
            <a:prstDash val="solid"/>
          </a:ln>
        </p:spPr>
      </p:sp>
      <p:sp>
        <p:nvSpPr>
          <p:cNvPr id="11" name="Shape 9"/>
          <p:cNvSpPr/>
          <p:nvPr/>
        </p:nvSpPr>
        <p:spPr>
          <a:xfrm>
            <a:off x="4297680" y="2103120"/>
            <a:ext cx="3611880" cy="54864"/>
          </a:xfrm>
          <a:prstGeom prst="rect">
            <a:avLst/>
          </a:prstGeom>
          <a:solidFill>
            <a:srgbClr val="4F46E5"/>
          </a:solidFill>
          <a:ln w="12700">
            <a:solidFill>
              <a:srgbClr val="4F46E5"/>
            </a:solidFill>
            <a:prstDash val="solid"/>
          </a:ln>
        </p:spPr>
      </p:sp>
      <p:sp>
        <p:nvSpPr>
          <p:cNvPr id="12" name="Text 10"/>
          <p:cNvSpPr/>
          <p:nvPr/>
        </p:nvSpPr>
        <p:spPr>
          <a:xfrm>
            <a:off x="4572000" y="2377440"/>
            <a:ext cx="3154680" cy="256032"/>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LOVABLE.DEV</a:t>
            </a:r>
            <a:endParaRPr lang="en-US" sz="900" dirty="0"/>
          </a:p>
        </p:txBody>
      </p:sp>
      <p:sp>
        <p:nvSpPr>
          <p:cNvPr id="13" name="Text 11"/>
          <p:cNvSpPr/>
          <p:nvPr/>
        </p:nvSpPr>
        <p:spPr>
          <a:xfrm>
            <a:off x="4572000" y="2697480"/>
            <a:ext cx="3154680" cy="914400"/>
          </a:xfrm>
          <a:prstGeom prst="rect">
            <a:avLst/>
          </a:prstGeom>
          <a:noFill/>
          <a:ln/>
        </p:spPr>
        <p:txBody>
          <a:bodyPr wrap="square" rtlCol="0" anchor="ctr"/>
          <a:lstStyle/>
          <a:p>
            <a:pPr indent="0" marL="0">
              <a:buNone/>
            </a:pPr>
            <a:r>
              <a:rPr lang="en-US" sz="5600" b="1" dirty="0">
                <a:solidFill>
                  <a:srgbClr val="0F172A"/>
                </a:solidFill>
                <a:latin typeface="DM Sans" pitchFamily="34" charset="0"/>
                <a:ea typeface="DM Sans" pitchFamily="34" charset="-122"/>
                <a:cs typeface="DM Sans" pitchFamily="34" charset="-120"/>
              </a:rPr>
              <a:t>$5M+</a:t>
            </a:r>
            <a:endParaRPr lang="en-US" sz="5600" dirty="0"/>
          </a:p>
        </p:txBody>
      </p:sp>
      <p:sp>
        <p:nvSpPr>
          <p:cNvPr id="14" name="Text 12"/>
          <p:cNvSpPr/>
          <p:nvPr/>
        </p:nvSpPr>
        <p:spPr>
          <a:xfrm>
            <a:off x="4572000" y="3657600"/>
            <a:ext cx="3154680" cy="256032"/>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MRR in ~12 months</a:t>
            </a:r>
            <a:endParaRPr lang="en-US" sz="1100" dirty="0"/>
          </a:p>
        </p:txBody>
      </p:sp>
      <p:sp>
        <p:nvSpPr>
          <p:cNvPr id="15" name="Text 13"/>
          <p:cNvSpPr/>
          <p:nvPr/>
        </p:nvSpPr>
        <p:spPr>
          <a:xfrm>
            <a:off x="4572000" y="3977640"/>
            <a:ext cx="315468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~50K paying users from a standing start.</a:t>
            </a:r>
            <a:endParaRPr lang="en-US" sz="1100" dirty="0"/>
          </a:p>
        </p:txBody>
      </p:sp>
      <p:sp>
        <p:nvSpPr>
          <p:cNvPr id="16" name="Shape 14"/>
          <p:cNvSpPr/>
          <p:nvPr/>
        </p:nvSpPr>
        <p:spPr>
          <a:xfrm>
            <a:off x="8092440" y="2103120"/>
            <a:ext cx="3611880" cy="2514600"/>
          </a:xfrm>
          <a:prstGeom prst="roundRect">
            <a:avLst>
              <a:gd name="adj" fmla="val 2909"/>
            </a:avLst>
          </a:prstGeom>
          <a:solidFill>
            <a:srgbClr val="FFFFFF"/>
          </a:solidFill>
          <a:ln w="9525">
            <a:solidFill>
              <a:srgbClr val="E2E8F0"/>
            </a:solidFill>
            <a:prstDash val="solid"/>
          </a:ln>
        </p:spPr>
      </p:sp>
      <p:sp>
        <p:nvSpPr>
          <p:cNvPr id="17" name="Shape 15"/>
          <p:cNvSpPr/>
          <p:nvPr/>
        </p:nvSpPr>
        <p:spPr>
          <a:xfrm>
            <a:off x="8092440" y="2103120"/>
            <a:ext cx="3611880" cy="54864"/>
          </a:xfrm>
          <a:prstGeom prst="rect">
            <a:avLst/>
          </a:prstGeom>
          <a:solidFill>
            <a:srgbClr val="4F46E5"/>
          </a:solidFill>
          <a:ln w="12700">
            <a:solidFill>
              <a:srgbClr val="4F46E5"/>
            </a:solidFill>
            <a:prstDash val="solid"/>
          </a:ln>
        </p:spPr>
      </p:sp>
      <p:sp>
        <p:nvSpPr>
          <p:cNvPr id="18" name="Text 16"/>
          <p:cNvSpPr/>
          <p:nvPr/>
        </p:nvSpPr>
        <p:spPr>
          <a:xfrm>
            <a:off x="8366760" y="2377440"/>
            <a:ext cx="3154680" cy="256032"/>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BOLT.NEW</a:t>
            </a:r>
            <a:endParaRPr lang="en-US" sz="900" dirty="0"/>
          </a:p>
        </p:txBody>
      </p:sp>
      <p:sp>
        <p:nvSpPr>
          <p:cNvPr id="19" name="Text 17"/>
          <p:cNvSpPr/>
          <p:nvPr/>
        </p:nvSpPr>
        <p:spPr>
          <a:xfrm>
            <a:off x="8366760" y="2697480"/>
            <a:ext cx="3154680" cy="914400"/>
          </a:xfrm>
          <a:prstGeom prst="rect">
            <a:avLst/>
          </a:prstGeom>
          <a:noFill/>
          <a:ln/>
        </p:spPr>
        <p:txBody>
          <a:bodyPr wrap="square" rtlCol="0" anchor="ctr"/>
          <a:lstStyle/>
          <a:p>
            <a:pPr indent="0" marL="0">
              <a:buNone/>
            </a:pPr>
            <a:r>
              <a:rPr lang="en-US" sz="5600" b="1" dirty="0">
                <a:solidFill>
                  <a:srgbClr val="0F172A"/>
                </a:solidFill>
                <a:latin typeface="DM Sans" pitchFamily="34" charset="0"/>
                <a:ea typeface="DM Sans" pitchFamily="34" charset="-122"/>
                <a:cs typeface="DM Sans" pitchFamily="34" charset="-120"/>
              </a:rPr>
              <a:t>1M</a:t>
            </a:r>
            <a:endParaRPr lang="en-US" sz="5600" dirty="0"/>
          </a:p>
        </p:txBody>
      </p:sp>
      <p:sp>
        <p:nvSpPr>
          <p:cNvPr id="20" name="Text 18"/>
          <p:cNvSpPr/>
          <p:nvPr/>
        </p:nvSpPr>
        <p:spPr>
          <a:xfrm>
            <a:off x="8366760" y="3657600"/>
            <a:ext cx="3154680" cy="256032"/>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users in &lt;12 months</a:t>
            </a:r>
            <a:endParaRPr lang="en-US" sz="1100" dirty="0"/>
          </a:p>
        </p:txBody>
      </p:sp>
      <p:sp>
        <p:nvSpPr>
          <p:cNvPr id="21" name="Text 19"/>
          <p:cNvSpPr/>
          <p:nvPr/>
        </p:nvSpPr>
        <p:spPr>
          <a:xfrm>
            <a:off x="8366760" y="3977640"/>
            <a:ext cx="315468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Peak weeks hit 4–5 figure signups per day.</a:t>
            </a:r>
            <a:endParaRPr lang="en-US" sz="1100" dirty="0"/>
          </a:p>
        </p:txBody>
      </p:sp>
      <p:sp>
        <p:nvSpPr>
          <p:cNvPr id="22" name="Shape 20"/>
          <p:cNvSpPr/>
          <p:nvPr/>
        </p:nvSpPr>
        <p:spPr>
          <a:xfrm>
            <a:off x="502920" y="4937760"/>
            <a:ext cx="11155680" cy="1188720"/>
          </a:xfrm>
          <a:prstGeom prst="roundRect">
            <a:avLst>
              <a:gd name="adj" fmla="val 6154"/>
            </a:avLst>
          </a:prstGeom>
          <a:solidFill>
            <a:srgbClr val="0F172A"/>
          </a:solidFill>
          <a:ln w="12700">
            <a:solidFill>
              <a:srgbClr val="0F172A"/>
            </a:solidFill>
            <a:prstDash val="solid"/>
          </a:ln>
        </p:spPr>
      </p:sp>
      <p:sp>
        <p:nvSpPr>
          <p:cNvPr id="23" name="Text 21"/>
          <p:cNvSpPr/>
          <p:nvPr/>
        </p:nvSpPr>
        <p:spPr>
          <a:xfrm>
            <a:off x="868680" y="5029200"/>
            <a:ext cx="10424160" cy="274320"/>
          </a:xfrm>
          <a:prstGeom prst="rect">
            <a:avLst/>
          </a:prstGeom>
          <a:noFill/>
          <a:ln/>
        </p:spPr>
        <p:txBody>
          <a:bodyPr wrap="square" rtlCol="0" anchor="ctr"/>
          <a:lstStyle/>
          <a:p>
            <a:pPr indent="0" marL="0">
              <a:buNone/>
            </a:pPr>
            <a:r>
              <a:rPr lang="en-US" sz="900" b="1" spc="500" kern="0" dirty="0">
                <a:solidFill>
                  <a:srgbClr val="F59E0B"/>
                </a:solidFill>
                <a:latin typeface="JetBrains Mono" pitchFamily="34" charset="0"/>
                <a:ea typeface="JetBrains Mono" pitchFamily="34" charset="-122"/>
                <a:cs typeface="JetBrains Mono" pitchFamily="34" charset="-120"/>
              </a:rPr>
              <a:t>THIS WINDOW IS NOW  ·  THE INFRASTRUCTURE LAYER IS UNOWNED</a:t>
            </a:r>
            <a:endParaRPr lang="en-US" sz="900" dirty="0"/>
          </a:p>
        </p:txBody>
      </p:sp>
      <p:sp>
        <p:nvSpPr>
          <p:cNvPr id="24" name="Text 22"/>
          <p:cNvSpPr/>
          <p:nvPr/>
        </p:nvSpPr>
        <p:spPr>
          <a:xfrm>
            <a:off x="868680" y="5349240"/>
            <a:ext cx="10424160" cy="777240"/>
          </a:xfrm>
          <a:prstGeom prst="rect">
            <a:avLst/>
          </a:prstGeom>
          <a:noFill/>
          <a:ln/>
        </p:spPr>
        <p:txBody>
          <a:bodyPr wrap="square" rtlCol="0" anchor="ctr"/>
          <a:lstStyle/>
          <a:p>
            <a:pPr indent="0" marL="0">
              <a:lnSpc>
                <a:spcPct val="135000"/>
              </a:lnSpc>
              <a:buNone/>
            </a:pPr>
            <a:r>
              <a:rPr lang="en-US" sz="1300" dirty="0">
                <a:solidFill>
                  <a:srgbClr val="FFFFFF"/>
                </a:solidFill>
                <a:latin typeface="DM Sans" pitchFamily="34" charset="0"/>
                <a:ea typeface="DM Sans" pitchFamily="34" charset="-122"/>
                <a:cs typeface="DM Sans" pitchFamily="34" charset="-120"/>
              </a:rPr>
              <a:t>AI coding tools are doing hyper-growth right now — not gradually, not eventually. Someone is going to own the production substrate every Cursor, Lovable and Bolt user graduates to. Founders who waited on Cursor’s 2023 curve are not catching it in 2026.</a:t>
            </a:r>
            <a:endParaRPr lang="en-US" sz="1300" dirty="0"/>
          </a:p>
        </p:txBody>
      </p:sp>
      <p:sp>
        <p:nvSpPr>
          <p:cNvPr id="25" name="Text 23"/>
          <p:cNvSpPr/>
          <p:nvPr/>
        </p:nvSpPr>
        <p:spPr>
          <a:xfrm>
            <a:off x="502920" y="6263640"/>
            <a:ext cx="10972800" cy="18288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Sources: Cursor public statements 2024–2025; Lovable.dev / Anton Osika mid-2025; Bolt.new / StackBlitz 2024.</a:t>
            </a:r>
            <a:endParaRPr lang="en-US" sz="800" dirty="0"/>
          </a:p>
        </p:txBody>
      </p:sp>
      <p:sp>
        <p:nvSpPr>
          <p:cNvPr id="26" name="Text 2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7" name="Text 2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05  ·  PRODUCT FLOW</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Four steps. Real product live in a single sitting.</a:t>
            </a:r>
            <a:endParaRPr lang="en-US" sz="3000" dirty="0"/>
          </a:p>
        </p:txBody>
      </p:sp>
      <p:sp>
        <p:nvSpPr>
          <p:cNvPr id="4" name="Shape 2"/>
          <p:cNvSpPr/>
          <p:nvPr/>
        </p:nvSpPr>
        <p:spPr>
          <a:xfrm>
            <a:off x="502920" y="1874520"/>
            <a:ext cx="2697480" cy="4114800"/>
          </a:xfrm>
          <a:prstGeom prst="roundRect">
            <a:avLst>
              <a:gd name="adj" fmla="val 2712"/>
            </a:avLst>
          </a:prstGeom>
          <a:solidFill>
            <a:srgbClr val="FFFFFF"/>
          </a:solidFill>
          <a:ln w="9525">
            <a:solidFill>
              <a:srgbClr val="E2E8F0"/>
            </a:solidFill>
            <a:prstDash val="solid"/>
          </a:ln>
        </p:spPr>
      </p:sp>
      <p:sp>
        <p:nvSpPr>
          <p:cNvPr id="5" name="Shape 3"/>
          <p:cNvSpPr/>
          <p:nvPr/>
        </p:nvSpPr>
        <p:spPr>
          <a:xfrm>
            <a:off x="502920" y="1874520"/>
            <a:ext cx="2697480" cy="54864"/>
          </a:xfrm>
          <a:prstGeom prst="rect">
            <a:avLst/>
          </a:prstGeom>
          <a:solidFill>
            <a:srgbClr val="4F46E5"/>
          </a:solidFill>
          <a:ln w="12700">
            <a:solidFill>
              <a:srgbClr val="4F46E5"/>
            </a:solidFill>
            <a:prstDash val="solid"/>
          </a:ln>
        </p:spPr>
      </p:sp>
      <p:sp>
        <p:nvSpPr>
          <p:cNvPr id="6" name="Text 4"/>
          <p:cNvSpPr/>
          <p:nvPr/>
        </p:nvSpPr>
        <p:spPr>
          <a:xfrm>
            <a:off x="731520"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01</a:t>
            </a:r>
            <a:endParaRPr lang="en-US" sz="1100" dirty="0"/>
          </a:p>
        </p:txBody>
      </p:sp>
      <p:sp>
        <p:nvSpPr>
          <p:cNvPr id="7" name="Text 5"/>
          <p:cNvSpPr/>
          <p:nvPr/>
        </p:nvSpPr>
        <p:spPr>
          <a:xfrm>
            <a:off x="731520"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Wizard at /start</a:t>
            </a:r>
            <a:endParaRPr lang="en-US" sz="1400" dirty="0"/>
          </a:p>
        </p:txBody>
      </p:sp>
      <p:sp>
        <p:nvSpPr>
          <p:cNvPr id="8" name="Text 6"/>
          <p:cNvSpPr/>
          <p:nvPr/>
        </p:nvSpPr>
        <p:spPr>
          <a:xfrm>
            <a:off x="731520"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60 seconds</a:t>
            </a:r>
            <a:endParaRPr lang="en-US" sz="1000" dirty="0"/>
          </a:p>
        </p:txBody>
      </p:sp>
      <p:sp>
        <p:nvSpPr>
          <p:cNvPr id="9" name="Shape 7"/>
          <p:cNvSpPr/>
          <p:nvPr/>
        </p:nvSpPr>
        <p:spPr>
          <a:xfrm>
            <a:off x="685800" y="3154680"/>
            <a:ext cx="2331720" cy="2651760"/>
          </a:xfrm>
          <a:prstGeom prst="roundRect">
            <a:avLst>
              <a:gd name="adj" fmla="val 1569"/>
            </a:avLst>
          </a:prstGeom>
          <a:solidFill>
            <a:srgbClr val="0F172A"/>
          </a:solidFill>
          <a:ln w="12700">
            <a:solidFill>
              <a:srgbClr val="0F172A"/>
            </a:solidFill>
            <a:prstDash val="solid"/>
          </a:ln>
        </p:spPr>
      </p:sp>
      <p:sp>
        <p:nvSpPr>
          <p:cNvPr id="10" name="Text 8"/>
          <p:cNvSpPr/>
          <p:nvPr/>
        </p:nvSpPr>
        <p:spPr>
          <a:xfrm>
            <a:off x="822960"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product: PrepSheet — meals for PT clients</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email:   alex@prep-pt.uk</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plan:    Sandbox  (free, 30-day idle)</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Start building → ]</a:t>
            </a:r>
            <a:endParaRPr lang="en-US" sz="950" dirty="0"/>
          </a:p>
        </p:txBody>
      </p:sp>
      <p:sp>
        <p:nvSpPr>
          <p:cNvPr id="11" name="Shape 9"/>
          <p:cNvSpPr/>
          <p:nvPr/>
        </p:nvSpPr>
        <p:spPr>
          <a:xfrm>
            <a:off x="3346704" y="1874520"/>
            <a:ext cx="2697480" cy="4114800"/>
          </a:xfrm>
          <a:prstGeom prst="roundRect">
            <a:avLst>
              <a:gd name="adj" fmla="val 2712"/>
            </a:avLst>
          </a:prstGeom>
          <a:solidFill>
            <a:srgbClr val="FFFFFF"/>
          </a:solidFill>
          <a:ln w="9525">
            <a:solidFill>
              <a:srgbClr val="E2E8F0"/>
            </a:solidFill>
            <a:prstDash val="solid"/>
          </a:ln>
        </p:spPr>
      </p:sp>
      <p:sp>
        <p:nvSpPr>
          <p:cNvPr id="12" name="Shape 10"/>
          <p:cNvSpPr/>
          <p:nvPr/>
        </p:nvSpPr>
        <p:spPr>
          <a:xfrm>
            <a:off x="3346704" y="1874520"/>
            <a:ext cx="2697480" cy="54864"/>
          </a:xfrm>
          <a:prstGeom prst="rect">
            <a:avLst/>
          </a:prstGeom>
          <a:solidFill>
            <a:srgbClr val="4F46E5"/>
          </a:solidFill>
          <a:ln w="12700">
            <a:solidFill>
              <a:srgbClr val="4F46E5"/>
            </a:solidFill>
            <a:prstDash val="solid"/>
          </a:ln>
        </p:spPr>
      </p:sp>
      <p:sp>
        <p:nvSpPr>
          <p:cNvPr id="13" name="Text 11"/>
          <p:cNvSpPr/>
          <p:nvPr/>
        </p:nvSpPr>
        <p:spPr>
          <a:xfrm>
            <a:off x="3575304"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02</a:t>
            </a:r>
            <a:endParaRPr lang="en-US" sz="1100" dirty="0"/>
          </a:p>
        </p:txBody>
      </p:sp>
      <p:sp>
        <p:nvSpPr>
          <p:cNvPr id="14" name="Text 12"/>
          <p:cNvSpPr/>
          <p:nvPr/>
        </p:nvSpPr>
        <p:spPr>
          <a:xfrm>
            <a:off x="3575304"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Sandbox live</a:t>
            </a:r>
            <a:endParaRPr lang="en-US" sz="1400" dirty="0"/>
          </a:p>
        </p:txBody>
      </p:sp>
      <p:sp>
        <p:nvSpPr>
          <p:cNvPr id="15" name="Text 13"/>
          <p:cNvSpPr/>
          <p:nvPr/>
        </p:nvSpPr>
        <p:spPr>
          <a:xfrm>
            <a:off x="3575304"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auto-provisioned</a:t>
            </a:r>
            <a:endParaRPr lang="en-US" sz="1000" dirty="0"/>
          </a:p>
        </p:txBody>
      </p:sp>
      <p:sp>
        <p:nvSpPr>
          <p:cNvPr id="16" name="Shape 14"/>
          <p:cNvSpPr/>
          <p:nvPr/>
        </p:nvSpPr>
        <p:spPr>
          <a:xfrm>
            <a:off x="3529584" y="3154680"/>
            <a:ext cx="2331720" cy="2651760"/>
          </a:xfrm>
          <a:prstGeom prst="roundRect">
            <a:avLst>
              <a:gd name="adj" fmla="val 1569"/>
            </a:avLst>
          </a:prstGeom>
          <a:solidFill>
            <a:srgbClr val="0F172A"/>
          </a:solidFill>
          <a:ln w="12700">
            <a:solidFill>
              <a:srgbClr val="0F172A"/>
            </a:solidFill>
            <a:prstDash val="solid"/>
          </a:ln>
        </p:spPr>
      </p:sp>
      <p:sp>
        <p:nvSpPr>
          <p:cNvPr id="17" name="Text 15"/>
          <p:cNvSpPr/>
          <p:nvPr/>
        </p:nvSpPr>
        <p:spPr>
          <a:xfrm>
            <a:off x="3666744"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https://prepsheet.hatchik.com</a:t>
            </a:r>
            <a:endParaRPr lang="en-US" sz="950" dirty="0"/>
          </a:p>
          <a:p>
            <a:pPr indent="0" marL="0">
              <a:lnSpc>
                <a:spcPct val="145000"/>
              </a:lnSpc>
              <a:buNone/>
            </a:pP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PrepSheet — Meals for PT clients</a:t>
            </a:r>
            <a:endParaRPr lang="en-US" sz="950" dirty="0"/>
          </a:p>
          <a:p>
            <a:pPr indent="0" marL="0">
              <a:lnSpc>
                <a:spcPct val="145000"/>
              </a:lnSpc>
              <a:buNone/>
            </a:pP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9 containers up. Auth, Postgres, Storage,</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Realtime, Stripe, Resend, Caddy + TLS.</a:t>
            </a:r>
            <a:endParaRPr lang="en-US" sz="950" dirty="0"/>
          </a:p>
        </p:txBody>
      </p:sp>
      <p:sp>
        <p:nvSpPr>
          <p:cNvPr id="18" name="Shape 16"/>
          <p:cNvSpPr/>
          <p:nvPr/>
        </p:nvSpPr>
        <p:spPr>
          <a:xfrm>
            <a:off x="6190488" y="1874520"/>
            <a:ext cx="2697480" cy="4114800"/>
          </a:xfrm>
          <a:prstGeom prst="roundRect">
            <a:avLst>
              <a:gd name="adj" fmla="val 2712"/>
            </a:avLst>
          </a:prstGeom>
          <a:solidFill>
            <a:srgbClr val="FFFFFF"/>
          </a:solidFill>
          <a:ln w="9525">
            <a:solidFill>
              <a:srgbClr val="E2E8F0"/>
            </a:solidFill>
            <a:prstDash val="solid"/>
          </a:ln>
        </p:spPr>
      </p:sp>
      <p:sp>
        <p:nvSpPr>
          <p:cNvPr id="19" name="Shape 17"/>
          <p:cNvSpPr/>
          <p:nvPr/>
        </p:nvSpPr>
        <p:spPr>
          <a:xfrm>
            <a:off x="6190488" y="1874520"/>
            <a:ext cx="2697480" cy="54864"/>
          </a:xfrm>
          <a:prstGeom prst="rect">
            <a:avLst/>
          </a:prstGeom>
          <a:solidFill>
            <a:srgbClr val="4F46E5"/>
          </a:solidFill>
          <a:ln w="12700">
            <a:solidFill>
              <a:srgbClr val="4F46E5"/>
            </a:solidFill>
            <a:prstDash val="solid"/>
          </a:ln>
        </p:spPr>
      </p:sp>
      <p:sp>
        <p:nvSpPr>
          <p:cNvPr id="20" name="Text 18"/>
          <p:cNvSpPr/>
          <p:nvPr/>
        </p:nvSpPr>
        <p:spPr>
          <a:xfrm>
            <a:off x="6419088"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03</a:t>
            </a:r>
            <a:endParaRPr lang="en-US" sz="1100" dirty="0"/>
          </a:p>
        </p:txBody>
      </p:sp>
      <p:sp>
        <p:nvSpPr>
          <p:cNvPr id="21" name="Text 19"/>
          <p:cNvSpPr/>
          <p:nvPr/>
        </p:nvSpPr>
        <p:spPr>
          <a:xfrm>
            <a:off x="6419088"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AI reads handoff</a:t>
            </a:r>
            <a:endParaRPr lang="en-US" sz="1400" dirty="0"/>
          </a:p>
        </p:txBody>
      </p:sp>
      <p:sp>
        <p:nvSpPr>
          <p:cNvPr id="22" name="Text 20"/>
          <p:cNvSpPr/>
          <p:nvPr/>
        </p:nvSpPr>
        <p:spPr>
          <a:xfrm>
            <a:off x="6419088"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AI_CONTEXT.md</a:t>
            </a:r>
            <a:endParaRPr lang="en-US" sz="1000" dirty="0"/>
          </a:p>
        </p:txBody>
      </p:sp>
      <p:sp>
        <p:nvSpPr>
          <p:cNvPr id="23" name="Shape 21"/>
          <p:cNvSpPr/>
          <p:nvPr/>
        </p:nvSpPr>
        <p:spPr>
          <a:xfrm>
            <a:off x="6373368" y="3154680"/>
            <a:ext cx="2331720" cy="2651760"/>
          </a:xfrm>
          <a:prstGeom prst="roundRect">
            <a:avLst>
              <a:gd name="adj" fmla="val 1569"/>
            </a:avLst>
          </a:prstGeom>
          <a:solidFill>
            <a:srgbClr val="0F172A"/>
          </a:solidFill>
          <a:ln w="12700">
            <a:solidFill>
              <a:srgbClr val="0F172A"/>
            </a:solidFill>
            <a:prstDash val="solid"/>
          </a:ln>
        </p:spPr>
      </p:sp>
      <p:sp>
        <p:nvSpPr>
          <p:cNvPr id="24" name="Text 22"/>
          <p:cNvSpPr/>
          <p:nvPr/>
        </p:nvSpPr>
        <p:spPr>
          <a:xfrm>
            <a:off x="6510528"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claude code</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reading AI_CONTEXT.md…</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&gt; edit apps/web/src/product/</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&gt; git push</a:t>
            </a:r>
            <a:endParaRPr lang="en-US" sz="950" dirty="0"/>
          </a:p>
        </p:txBody>
      </p:sp>
      <p:sp>
        <p:nvSpPr>
          <p:cNvPr id="25" name="Shape 23"/>
          <p:cNvSpPr/>
          <p:nvPr/>
        </p:nvSpPr>
        <p:spPr>
          <a:xfrm>
            <a:off x="9034272" y="1874520"/>
            <a:ext cx="2697480" cy="4114800"/>
          </a:xfrm>
          <a:prstGeom prst="roundRect">
            <a:avLst>
              <a:gd name="adj" fmla="val 2712"/>
            </a:avLst>
          </a:prstGeom>
          <a:solidFill>
            <a:srgbClr val="FFFFFF"/>
          </a:solidFill>
          <a:ln w="9525">
            <a:solidFill>
              <a:srgbClr val="E2E8F0"/>
            </a:solidFill>
            <a:prstDash val="solid"/>
          </a:ln>
        </p:spPr>
      </p:sp>
      <p:sp>
        <p:nvSpPr>
          <p:cNvPr id="26" name="Shape 24"/>
          <p:cNvSpPr/>
          <p:nvPr/>
        </p:nvSpPr>
        <p:spPr>
          <a:xfrm>
            <a:off x="9034272" y="1874520"/>
            <a:ext cx="2697480" cy="54864"/>
          </a:xfrm>
          <a:prstGeom prst="rect">
            <a:avLst/>
          </a:prstGeom>
          <a:solidFill>
            <a:srgbClr val="4F46E5"/>
          </a:solidFill>
          <a:ln w="12700">
            <a:solidFill>
              <a:srgbClr val="4F46E5"/>
            </a:solidFill>
            <a:prstDash val="solid"/>
          </a:ln>
        </p:spPr>
      </p:sp>
      <p:sp>
        <p:nvSpPr>
          <p:cNvPr id="27" name="Text 25"/>
          <p:cNvSpPr/>
          <p:nvPr/>
        </p:nvSpPr>
        <p:spPr>
          <a:xfrm>
            <a:off x="9262872"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04</a:t>
            </a:r>
            <a:endParaRPr lang="en-US" sz="1100" dirty="0"/>
          </a:p>
        </p:txBody>
      </p:sp>
      <p:sp>
        <p:nvSpPr>
          <p:cNvPr id="28" name="Text 26"/>
          <p:cNvSpPr/>
          <p:nvPr/>
        </p:nvSpPr>
        <p:spPr>
          <a:xfrm>
            <a:off x="9262872"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Push to deploy</a:t>
            </a:r>
            <a:endParaRPr lang="en-US" sz="1400" dirty="0"/>
          </a:p>
        </p:txBody>
      </p:sp>
      <p:sp>
        <p:nvSpPr>
          <p:cNvPr id="29" name="Text 27"/>
          <p:cNvSpPr/>
          <p:nvPr/>
        </p:nvSpPr>
        <p:spPr>
          <a:xfrm>
            <a:off x="9262872"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~30 seconds</a:t>
            </a:r>
            <a:endParaRPr lang="en-US" sz="1000" dirty="0"/>
          </a:p>
        </p:txBody>
      </p:sp>
      <p:sp>
        <p:nvSpPr>
          <p:cNvPr id="30" name="Shape 28"/>
          <p:cNvSpPr/>
          <p:nvPr/>
        </p:nvSpPr>
        <p:spPr>
          <a:xfrm>
            <a:off x="9217152" y="3154680"/>
            <a:ext cx="2331720" cy="2651760"/>
          </a:xfrm>
          <a:prstGeom prst="roundRect">
            <a:avLst>
              <a:gd name="adj" fmla="val 1569"/>
            </a:avLst>
          </a:prstGeom>
          <a:solidFill>
            <a:srgbClr val="0F172A"/>
          </a:solidFill>
          <a:ln w="12700">
            <a:solidFill>
              <a:srgbClr val="0F172A"/>
            </a:solidFill>
            <a:prstDash val="solid"/>
          </a:ln>
        </p:spPr>
      </p:sp>
      <p:sp>
        <p:nvSpPr>
          <p:cNvPr id="31" name="Text 29"/>
          <p:cNvSpPr/>
          <p:nvPr/>
        </p:nvSpPr>
        <p:spPr>
          <a:xfrm>
            <a:off x="9354312"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webhook   received  sha=a12c4e1</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docker    compose up -d  rebuilt 2/9</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status    deployed_at: 2026-05-13T10:14</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 deployed</a:t>
            </a:r>
            <a:endParaRPr lang="en-US" sz="950" dirty="0"/>
          </a:p>
        </p:txBody>
      </p:sp>
      <p:sp>
        <p:nvSpPr>
          <p:cNvPr id="32" name="Text 30"/>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3" name="Text 31"/>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06  ·  WHAT’S WIRED</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Twelve production pieces. Day one. No DIY.</a:t>
            </a:r>
            <a:endParaRPr lang="en-US" sz="3000" dirty="0"/>
          </a:p>
        </p:txBody>
      </p:sp>
      <p:sp>
        <p:nvSpPr>
          <p:cNvPr id="4" name="Shape 2"/>
          <p:cNvSpPr/>
          <p:nvPr/>
        </p:nvSpPr>
        <p:spPr>
          <a:xfrm>
            <a:off x="502920" y="1965960"/>
            <a:ext cx="2697480" cy="1143000"/>
          </a:xfrm>
          <a:prstGeom prst="roundRect">
            <a:avLst>
              <a:gd name="adj" fmla="val 6400"/>
            </a:avLst>
          </a:prstGeom>
          <a:solidFill>
            <a:srgbClr val="FFFFFF"/>
          </a:solidFill>
          <a:ln w="9525">
            <a:solidFill>
              <a:srgbClr val="E2E8F0"/>
            </a:solidFill>
            <a:prstDash val="solid"/>
          </a:ln>
        </p:spPr>
      </p:sp>
      <p:sp>
        <p:nvSpPr>
          <p:cNvPr id="5" name="Shape 3"/>
          <p:cNvSpPr/>
          <p:nvPr/>
        </p:nvSpPr>
        <p:spPr>
          <a:xfrm>
            <a:off x="731520" y="2350008"/>
            <a:ext cx="365760" cy="365760"/>
          </a:xfrm>
          <a:prstGeom prst="ellipse">
            <a:avLst/>
          </a:prstGeom>
          <a:solidFill>
            <a:srgbClr val="EEF2FF"/>
          </a:solidFill>
          <a:ln w="12700">
            <a:solidFill>
              <a:srgbClr val="4F46E5"/>
            </a:solidFill>
            <a:prstDash val="solid"/>
          </a:ln>
        </p:spPr>
      </p:sp>
      <p:sp>
        <p:nvSpPr>
          <p:cNvPr id="6" name="Text 4"/>
          <p:cNvSpPr/>
          <p:nvPr/>
        </p:nvSpPr>
        <p:spPr>
          <a:xfrm>
            <a:off x="73152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7" name="Text 5"/>
          <p:cNvSpPr/>
          <p:nvPr/>
        </p:nvSpPr>
        <p:spPr>
          <a:xfrm>
            <a:off x="118872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Auth</a:t>
            </a:r>
            <a:endParaRPr lang="en-US" sz="1300" dirty="0"/>
          </a:p>
        </p:txBody>
      </p:sp>
      <p:sp>
        <p:nvSpPr>
          <p:cNvPr id="8" name="Text 6"/>
          <p:cNvSpPr/>
          <p:nvPr/>
        </p:nvSpPr>
        <p:spPr>
          <a:xfrm>
            <a:off x="118872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Supabase, magic-link + JWT</a:t>
            </a:r>
            <a:endParaRPr lang="en-US" sz="1000" dirty="0"/>
          </a:p>
        </p:txBody>
      </p:sp>
      <p:sp>
        <p:nvSpPr>
          <p:cNvPr id="9" name="Shape 7"/>
          <p:cNvSpPr/>
          <p:nvPr/>
        </p:nvSpPr>
        <p:spPr>
          <a:xfrm>
            <a:off x="3383280" y="1965960"/>
            <a:ext cx="2697480" cy="1143000"/>
          </a:xfrm>
          <a:prstGeom prst="roundRect">
            <a:avLst>
              <a:gd name="adj" fmla="val 6400"/>
            </a:avLst>
          </a:prstGeom>
          <a:solidFill>
            <a:srgbClr val="FFFFFF"/>
          </a:solidFill>
          <a:ln w="9525">
            <a:solidFill>
              <a:srgbClr val="E2E8F0"/>
            </a:solidFill>
            <a:prstDash val="solid"/>
          </a:ln>
        </p:spPr>
      </p:sp>
      <p:sp>
        <p:nvSpPr>
          <p:cNvPr id="10" name="Shape 8"/>
          <p:cNvSpPr/>
          <p:nvPr/>
        </p:nvSpPr>
        <p:spPr>
          <a:xfrm>
            <a:off x="3611880" y="2350008"/>
            <a:ext cx="365760" cy="365760"/>
          </a:xfrm>
          <a:prstGeom prst="ellipse">
            <a:avLst/>
          </a:prstGeom>
          <a:solidFill>
            <a:srgbClr val="EEF2FF"/>
          </a:solidFill>
          <a:ln w="12700">
            <a:solidFill>
              <a:srgbClr val="4F46E5"/>
            </a:solidFill>
            <a:prstDash val="solid"/>
          </a:ln>
        </p:spPr>
      </p:sp>
      <p:sp>
        <p:nvSpPr>
          <p:cNvPr id="11" name="Text 9"/>
          <p:cNvSpPr/>
          <p:nvPr/>
        </p:nvSpPr>
        <p:spPr>
          <a:xfrm>
            <a:off x="361188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12" name="Text 10"/>
          <p:cNvSpPr/>
          <p:nvPr/>
        </p:nvSpPr>
        <p:spPr>
          <a:xfrm>
            <a:off x="406908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Postgres</a:t>
            </a:r>
            <a:endParaRPr lang="en-US" sz="1300" dirty="0"/>
          </a:p>
        </p:txBody>
      </p:sp>
      <p:sp>
        <p:nvSpPr>
          <p:cNvPr id="13" name="Text 11"/>
          <p:cNvSpPr/>
          <p:nvPr/>
        </p:nvSpPr>
        <p:spPr>
          <a:xfrm>
            <a:off x="406908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Supabase, RLS-scoped</a:t>
            </a:r>
            <a:endParaRPr lang="en-US" sz="1000" dirty="0"/>
          </a:p>
        </p:txBody>
      </p:sp>
      <p:sp>
        <p:nvSpPr>
          <p:cNvPr id="14" name="Shape 12"/>
          <p:cNvSpPr/>
          <p:nvPr/>
        </p:nvSpPr>
        <p:spPr>
          <a:xfrm>
            <a:off x="6263640" y="1965960"/>
            <a:ext cx="2697480" cy="1143000"/>
          </a:xfrm>
          <a:prstGeom prst="roundRect">
            <a:avLst>
              <a:gd name="adj" fmla="val 6400"/>
            </a:avLst>
          </a:prstGeom>
          <a:solidFill>
            <a:srgbClr val="FFFFFF"/>
          </a:solidFill>
          <a:ln w="9525">
            <a:solidFill>
              <a:srgbClr val="E2E8F0"/>
            </a:solidFill>
            <a:prstDash val="solid"/>
          </a:ln>
        </p:spPr>
      </p:sp>
      <p:sp>
        <p:nvSpPr>
          <p:cNvPr id="15" name="Shape 13"/>
          <p:cNvSpPr/>
          <p:nvPr/>
        </p:nvSpPr>
        <p:spPr>
          <a:xfrm>
            <a:off x="6492240" y="2350008"/>
            <a:ext cx="365760" cy="365760"/>
          </a:xfrm>
          <a:prstGeom prst="ellipse">
            <a:avLst/>
          </a:prstGeom>
          <a:solidFill>
            <a:srgbClr val="EEF2FF"/>
          </a:solidFill>
          <a:ln w="12700">
            <a:solidFill>
              <a:srgbClr val="4F46E5"/>
            </a:solidFill>
            <a:prstDash val="solid"/>
          </a:ln>
        </p:spPr>
      </p:sp>
      <p:sp>
        <p:nvSpPr>
          <p:cNvPr id="16" name="Text 14"/>
          <p:cNvSpPr/>
          <p:nvPr/>
        </p:nvSpPr>
        <p:spPr>
          <a:xfrm>
            <a:off x="649224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17" name="Text 15"/>
          <p:cNvSpPr/>
          <p:nvPr/>
        </p:nvSpPr>
        <p:spPr>
          <a:xfrm>
            <a:off x="694944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Storage</a:t>
            </a:r>
            <a:endParaRPr lang="en-US" sz="1300" dirty="0"/>
          </a:p>
        </p:txBody>
      </p:sp>
      <p:sp>
        <p:nvSpPr>
          <p:cNvPr id="18" name="Text 16"/>
          <p:cNvSpPr/>
          <p:nvPr/>
        </p:nvSpPr>
        <p:spPr>
          <a:xfrm>
            <a:off x="694944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Supabase Storage</a:t>
            </a:r>
            <a:endParaRPr lang="en-US" sz="1000" dirty="0"/>
          </a:p>
        </p:txBody>
      </p:sp>
      <p:sp>
        <p:nvSpPr>
          <p:cNvPr id="19" name="Shape 17"/>
          <p:cNvSpPr/>
          <p:nvPr/>
        </p:nvSpPr>
        <p:spPr>
          <a:xfrm>
            <a:off x="9144000" y="1965960"/>
            <a:ext cx="2697480" cy="1143000"/>
          </a:xfrm>
          <a:prstGeom prst="roundRect">
            <a:avLst>
              <a:gd name="adj" fmla="val 6400"/>
            </a:avLst>
          </a:prstGeom>
          <a:solidFill>
            <a:srgbClr val="FFFFFF"/>
          </a:solidFill>
          <a:ln w="9525">
            <a:solidFill>
              <a:srgbClr val="E2E8F0"/>
            </a:solidFill>
            <a:prstDash val="solid"/>
          </a:ln>
        </p:spPr>
      </p:sp>
      <p:sp>
        <p:nvSpPr>
          <p:cNvPr id="20" name="Shape 18"/>
          <p:cNvSpPr/>
          <p:nvPr/>
        </p:nvSpPr>
        <p:spPr>
          <a:xfrm>
            <a:off x="9372600" y="2350008"/>
            <a:ext cx="365760" cy="365760"/>
          </a:xfrm>
          <a:prstGeom prst="ellipse">
            <a:avLst/>
          </a:prstGeom>
          <a:solidFill>
            <a:srgbClr val="EEF2FF"/>
          </a:solidFill>
          <a:ln w="12700">
            <a:solidFill>
              <a:srgbClr val="4F46E5"/>
            </a:solidFill>
            <a:prstDash val="solid"/>
          </a:ln>
        </p:spPr>
      </p:sp>
      <p:sp>
        <p:nvSpPr>
          <p:cNvPr id="21" name="Text 19"/>
          <p:cNvSpPr/>
          <p:nvPr/>
        </p:nvSpPr>
        <p:spPr>
          <a:xfrm>
            <a:off x="937260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22" name="Text 20"/>
          <p:cNvSpPr/>
          <p:nvPr/>
        </p:nvSpPr>
        <p:spPr>
          <a:xfrm>
            <a:off x="982980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Realtime</a:t>
            </a:r>
            <a:endParaRPr lang="en-US" sz="1300" dirty="0"/>
          </a:p>
        </p:txBody>
      </p:sp>
      <p:sp>
        <p:nvSpPr>
          <p:cNvPr id="23" name="Text 21"/>
          <p:cNvSpPr/>
          <p:nvPr/>
        </p:nvSpPr>
        <p:spPr>
          <a:xfrm>
            <a:off x="982980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Postgres CDC channels</a:t>
            </a:r>
            <a:endParaRPr lang="en-US" sz="1000" dirty="0"/>
          </a:p>
        </p:txBody>
      </p:sp>
      <p:sp>
        <p:nvSpPr>
          <p:cNvPr id="24" name="Shape 22"/>
          <p:cNvSpPr/>
          <p:nvPr/>
        </p:nvSpPr>
        <p:spPr>
          <a:xfrm>
            <a:off x="502920" y="3291840"/>
            <a:ext cx="2697480" cy="1143000"/>
          </a:xfrm>
          <a:prstGeom prst="roundRect">
            <a:avLst>
              <a:gd name="adj" fmla="val 6400"/>
            </a:avLst>
          </a:prstGeom>
          <a:solidFill>
            <a:srgbClr val="FFFFFF"/>
          </a:solidFill>
          <a:ln w="9525">
            <a:solidFill>
              <a:srgbClr val="E2E8F0"/>
            </a:solidFill>
            <a:prstDash val="solid"/>
          </a:ln>
        </p:spPr>
      </p:sp>
      <p:sp>
        <p:nvSpPr>
          <p:cNvPr id="25" name="Shape 23"/>
          <p:cNvSpPr/>
          <p:nvPr/>
        </p:nvSpPr>
        <p:spPr>
          <a:xfrm>
            <a:off x="731520" y="3675888"/>
            <a:ext cx="365760" cy="365760"/>
          </a:xfrm>
          <a:prstGeom prst="ellipse">
            <a:avLst/>
          </a:prstGeom>
          <a:solidFill>
            <a:srgbClr val="EEF2FF"/>
          </a:solidFill>
          <a:ln w="12700">
            <a:solidFill>
              <a:srgbClr val="4F46E5"/>
            </a:solidFill>
            <a:prstDash val="solid"/>
          </a:ln>
        </p:spPr>
      </p:sp>
      <p:sp>
        <p:nvSpPr>
          <p:cNvPr id="26" name="Text 24"/>
          <p:cNvSpPr/>
          <p:nvPr/>
        </p:nvSpPr>
        <p:spPr>
          <a:xfrm>
            <a:off x="73152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27" name="Text 25"/>
          <p:cNvSpPr/>
          <p:nvPr/>
        </p:nvSpPr>
        <p:spPr>
          <a:xfrm>
            <a:off x="118872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Stripe checkout</a:t>
            </a:r>
            <a:endParaRPr lang="en-US" sz="1300" dirty="0"/>
          </a:p>
        </p:txBody>
      </p:sp>
      <p:sp>
        <p:nvSpPr>
          <p:cNvPr id="28" name="Text 26"/>
          <p:cNvSpPr/>
          <p:nvPr/>
        </p:nvSpPr>
        <p:spPr>
          <a:xfrm>
            <a:off x="118872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Test + live keys</a:t>
            </a:r>
            <a:endParaRPr lang="en-US" sz="1000" dirty="0"/>
          </a:p>
        </p:txBody>
      </p:sp>
      <p:sp>
        <p:nvSpPr>
          <p:cNvPr id="29" name="Shape 27"/>
          <p:cNvSpPr/>
          <p:nvPr/>
        </p:nvSpPr>
        <p:spPr>
          <a:xfrm>
            <a:off x="3383280" y="3291840"/>
            <a:ext cx="2697480" cy="1143000"/>
          </a:xfrm>
          <a:prstGeom prst="roundRect">
            <a:avLst>
              <a:gd name="adj" fmla="val 6400"/>
            </a:avLst>
          </a:prstGeom>
          <a:solidFill>
            <a:srgbClr val="FFFFFF"/>
          </a:solidFill>
          <a:ln w="9525">
            <a:solidFill>
              <a:srgbClr val="E2E8F0"/>
            </a:solidFill>
            <a:prstDash val="solid"/>
          </a:ln>
        </p:spPr>
      </p:sp>
      <p:sp>
        <p:nvSpPr>
          <p:cNvPr id="30" name="Shape 28"/>
          <p:cNvSpPr/>
          <p:nvPr/>
        </p:nvSpPr>
        <p:spPr>
          <a:xfrm>
            <a:off x="3611880" y="3675888"/>
            <a:ext cx="365760" cy="365760"/>
          </a:xfrm>
          <a:prstGeom prst="ellipse">
            <a:avLst/>
          </a:prstGeom>
          <a:solidFill>
            <a:srgbClr val="EEF2FF"/>
          </a:solidFill>
          <a:ln w="12700">
            <a:solidFill>
              <a:srgbClr val="4F46E5"/>
            </a:solidFill>
            <a:prstDash val="solid"/>
          </a:ln>
        </p:spPr>
      </p:sp>
      <p:sp>
        <p:nvSpPr>
          <p:cNvPr id="31" name="Text 29"/>
          <p:cNvSpPr/>
          <p:nvPr/>
        </p:nvSpPr>
        <p:spPr>
          <a:xfrm>
            <a:off x="361188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32" name="Text 30"/>
          <p:cNvSpPr/>
          <p:nvPr/>
        </p:nvSpPr>
        <p:spPr>
          <a:xfrm>
            <a:off x="406908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Paddle MoR</a:t>
            </a:r>
            <a:endParaRPr lang="en-US" sz="1300" dirty="0"/>
          </a:p>
        </p:txBody>
      </p:sp>
      <p:sp>
        <p:nvSpPr>
          <p:cNvPr id="33" name="Text 31"/>
          <p:cNvSpPr/>
          <p:nvPr/>
        </p:nvSpPr>
        <p:spPr>
          <a:xfrm>
            <a:off x="406908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Global tax handled</a:t>
            </a:r>
            <a:endParaRPr lang="en-US" sz="1000" dirty="0"/>
          </a:p>
        </p:txBody>
      </p:sp>
      <p:sp>
        <p:nvSpPr>
          <p:cNvPr id="34" name="Shape 32"/>
          <p:cNvSpPr/>
          <p:nvPr/>
        </p:nvSpPr>
        <p:spPr>
          <a:xfrm>
            <a:off x="6263640" y="3291840"/>
            <a:ext cx="2697480" cy="1143000"/>
          </a:xfrm>
          <a:prstGeom prst="roundRect">
            <a:avLst>
              <a:gd name="adj" fmla="val 6400"/>
            </a:avLst>
          </a:prstGeom>
          <a:solidFill>
            <a:srgbClr val="FFFFFF"/>
          </a:solidFill>
          <a:ln w="9525">
            <a:solidFill>
              <a:srgbClr val="E2E8F0"/>
            </a:solidFill>
            <a:prstDash val="solid"/>
          </a:ln>
        </p:spPr>
      </p:sp>
      <p:sp>
        <p:nvSpPr>
          <p:cNvPr id="35" name="Shape 33"/>
          <p:cNvSpPr/>
          <p:nvPr/>
        </p:nvSpPr>
        <p:spPr>
          <a:xfrm>
            <a:off x="6492240" y="3675888"/>
            <a:ext cx="365760" cy="365760"/>
          </a:xfrm>
          <a:prstGeom prst="ellipse">
            <a:avLst/>
          </a:prstGeom>
          <a:solidFill>
            <a:srgbClr val="EEF2FF"/>
          </a:solidFill>
          <a:ln w="12700">
            <a:solidFill>
              <a:srgbClr val="4F46E5"/>
            </a:solidFill>
            <a:prstDash val="solid"/>
          </a:ln>
        </p:spPr>
      </p:sp>
      <p:sp>
        <p:nvSpPr>
          <p:cNvPr id="36" name="Text 34"/>
          <p:cNvSpPr/>
          <p:nvPr/>
        </p:nvSpPr>
        <p:spPr>
          <a:xfrm>
            <a:off x="649224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37" name="Text 35"/>
          <p:cNvSpPr/>
          <p:nvPr/>
        </p:nvSpPr>
        <p:spPr>
          <a:xfrm>
            <a:off x="694944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Resend mail</a:t>
            </a:r>
            <a:endParaRPr lang="en-US" sz="1300" dirty="0"/>
          </a:p>
        </p:txBody>
      </p:sp>
      <p:sp>
        <p:nvSpPr>
          <p:cNvPr id="38" name="Text 36"/>
          <p:cNvSpPr/>
          <p:nvPr/>
        </p:nvSpPr>
        <p:spPr>
          <a:xfrm>
            <a:off x="694944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Transactional + DKIM</a:t>
            </a:r>
            <a:endParaRPr lang="en-US" sz="1000" dirty="0"/>
          </a:p>
        </p:txBody>
      </p:sp>
      <p:sp>
        <p:nvSpPr>
          <p:cNvPr id="39" name="Shape 37"/>
          <p:cNvSpPr/>
          <p:nvPr/>
        </p:nvSpPr>
        <p:spPr>
          <a:xfrm>
            <a:off x="9144000" y="3291840"/>
            <a:ext cx="2697480" cy="1143000"/>
          </a:xfrm>
          <a:prstGeom prst="roundRect">
            <a:avLst>
              <a:gd name="adj" fmla="val 6400"/>
            </a:avLst>
          </a:prstGeom>
          <a:solidFill>
            <a:srgbClr val="FFFFFF"/>
          </a:solidFill>
          <a:ln w="9525">
            <a:solidFill>
              <a:srgbClr val="E2E8F0"/>
            </a:solidFill>
            <a:prstDash val="solid"/>
          </a:ln>
        </p:spPr>
      </p:sp>
      <p:sp>
        <p:nvSpPr>
          <p:cNvPr id="40" name="Shape 38"/>
          <p:cNvSpPr/>
          <p:nvPr/>
        </p:nvSpPr>
        <p:spPr>
          <a:xfrm>
            <a:off x="9372600" y="3675888"/>
            <a:ext cx="365760" cy="365760"/>
          </a:xfrm>
          <a:prstGeom prst="ellipse">
            <a:avLst/>
          </a:prstGeom>
          <a:solidFill>
            <a:srgbClr val="EEF2FF"/>
          </a:solidFill>
          <a:ln w="12700">
            <a:solidFill>
              <a:srgbClr val="4F46E5"/>
            </a:solidFill>
            <a:prstDash val="solid"/>
          </a:ln>
        </p:spPr>
      </p:sp>
      <p:sp>
        <p:nvSpPr>
          <p:cNvPr id="41" name="Text 39"/>
          <p:cNvSpPr/>
          <p:nvPr/>
        </p:nvSpPr>
        <p:spPr>
          <a:xfrm>
            <a:off x="937260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42" name="Text 40"/>
          <p:cNvSpPr/>
          <p:nvPr/>
        </p:nvSpPr>
        <p:spPr>
          <a:xfrm>
            <a:off x="982980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Mailboxes</a:t>
            </a:r>
            <a:endParaRPr lang="en-US" sz="1300" dirty="0"/>
          </a:p>
        </p:txBody>
      </p:sp>
      <p:sp>
        <p:nvSpPr>
          <p:cNvPr id="43" name="Text 41"/>
          <p:cNvSpPr/>
          <p:nvPr/>
        </p:nvSpPr>
        <p:spPr>
          <a:xfrm>
            <a:off x="982980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Infomaniak, Launch tier</a:t>
            </a:r>
            <a:endParaRPr lang="en-US" sz="1000" dirty="0"/>
          </a:p>
        </p:txBody>
      </p:sp>
      <p:sp>
        <p:nvSpPr>
          <p:cNvPr id="44" name="Shape 42"/>
          <p:cNvSpPr/>
          <p:nvPr/>
        </p:nvSpPr>
        <p:spPr>
          <a:xfrm>
            <a:off x="502920" y="4617720"/>
            <a:ext cx="2697480" cy="1143000"/>
          </a:xfrm>
          <a:prstGeom prst="roundRect">
            <a:avLst>
              <a:gd name="adj" fmla="val 6400"/>
            </a:avLst>
          </a:prstGeom>
          <a:solidFill>
            <a:srgbClr val="FFFFFF"/>
          </a:solidFill>
          <a:ln w="9525">
            <a:solidFill>
              <a:srgbClr val="E2E8F0"/>
            </a:solidFill>
            <a:prstDash val="solid"/>
          </a:ln>
        </p:spPr>
      </p:sp>
      <p:sp>
        <p:nvSpPr>
          <p:cNvPr id="45" name="Shape 43"/>
          <p:cNvSpPr/>
          <p:nvPr/>
        </p:nvSpPr>
        <p:spPr>
          <a:xfrm>
            <a:off x="731520" y="5001768"/>
            <a:ext cx="365760" cy="365760"/>
          </a:xfrm>
          <a:prstGeom prst="ellipse">
            <a:avLst/>
          </a:prstGeom>
          <a:solidFill>
            <a:srgbClr val="EEF2FF"/>
          </a:solidFill>
          <a:ln w="12700">
            <a:solidFill>
              <a:srgbClr val="4F46E5"/>
            </a:solidFill>
            <a:prstDash val="solid"/>
          </a:ln>
        </p:spPr>
      </p:sp>
      <p:sp>
        <p:nvSpPr>
          <p:cNvPr id="46" name="Text 44"/>
          <p:cNvSpPr/>
          <p:nvPr/>
        </p:nvSpPr>
        <p:spPr>
          <a:xfrm>
            <a:off x="73152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47" name="Text 45"/>
          <p:cNvSpPr/>
          <p:nvPr/>
        </p:nvSpPr>
        <p:spPr>
          <a:xfrm>
            <a:off x="118872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Capacitor</a:t>
            </a:r>
            <a:endParaRPr lang="en-US" sz="1300" dirty="0"/>
          </a:p>
        </p:txBody>
      </p:sp>
      <p:sp>
        <p:nvSpPr>
          <p:cNvPr id="48" name="Text 46"/>
          <p:cNvSpPr/>
          <p:nvPr/>
        </p:nvSpPr>
        <p:spPr>
          <a:xfrm>
            <a:off x="118872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iOS IPA + Android APK</a:t>
            </a:r>
            <a:endParaRPr lang="en-US" sz="1000" dirty="0"/>
          </a:p>
        </p:txBody>
      </p:sp>
      <p:sp>
        <p:nvSpPr>
          <p:cNvPr id="49" name="Shape 47"/>
          <p:cNvSpPr/>
          <p:nvPr/>
        </p:nvSpPr>
        <p:spPr>
          <a:xfrm>
            <a:off x="3383280" y="4617720"/>
            <a:ext cx="2697480" cy="1143000"/>
          </a:xfrm>
          <a:prstGeom prst="roundRect">
            <a:avLst>
              <a:gd name="adj" fmla="val 6400"/>
            </a:avLst>
          </a:prstGeom>
          <a:solidFill>
            <a:srgbClr val="FFFFFF"/>
          </a:solidFill>
          <a:ln w="9525">
            <a:solidFill>
              <a:srgbClr val="E2E8F0"/>
            </a:solidFill>
            <a:prstDash val="solid"/>
          </a:ln>
        </p:spPr>
      </p:sp>
      <p:sp>
        <p:nvSpPr>
          <p:cNvPr id="50" name="Shape 48"/>
          <p:cNvSpPr/>
          <p:nvPr/>
        </p:nvSpPr>
        <p:spPr>
          <a:xfrm>
            <a:off x="3611880" y="5001768"/>
            <a:ext cx="365760" cy="365760"/>
          </a:xfrm>
          <a:prstGeom prst="ellipse">
            <a:avLst/>
          </a:prstGeom>
          <a:solidFill>
            <a:srgbClr val="EEF2FF"/>
          </a:solidFill>
          <a:ln w="12700">
            <a:solidFill>
              <a:srgbClr val="4F46E5"/>
            </a:solidFill>
            <a:prstDash val="solid"/>
          </a:ln>
        </p:spPr>
      </p:sp>
      <p:sp>
        <p:nvSpPr>
          <p:cNvPr id="51" name="Text 49"/>
          <p:cNvSpPr/>
          <p:nvPr/>
        </p:nvSpPr>
        <p:spPr>
          <a:xfrm>
            <a:off x="361188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52" name="Text 50"/>
          <p:cNvSpPr/>
          <p:nvPr/>
        </p:nvSpPr>
        <p:spPr>
          <a:xfrm>
            <a:off x="406908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GitHub repo</a:t>
            </a:r>
            <a:endParaRPr lang="en-US" sz="1300" dirty="0"/>
          </a:p>
        </p:txBody>
      </p:sp>
      <p:sp>
        <p:nvSpPr>
          <p:cNvPr id="53" name="Text 51"/>
          <p:cNvSpPr/>
          <p:nvPr/>
        </p:nvSpPr>
        <p:spPr>
          <a:xfrm>
            <a:off x="406908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Per-tenant, private</a:t>
            </a:r>
            <a:endParaRPr lang="en-US" sz="1000" dirty="0"/>
          </a:p>
        </p:txBody>
      </p:sp>
      <p:sp>
        <p:nvSpPr>
          <p:cNvPr id="54" name="Shape 52"/>
          <p:cNvSpPr/>
          <p:nvPr/>
        </p:nvSpPr>
        <p:spPr>
          <a:xfrm>
            <a:off x="6263640" y="4617720"/>
            <a:ext cx="2697480" cy="1143000"/>
          </a:xfrm>
          <a:prstGeom prst="roundRect">
            <a:avLst>
              <a:gd name="adj" fmla="val 6400"/>
            </a:avLst>
          </a:prstGeom>
          <a:solidFill>
            <a:srgbClr val="FFFFFF"/>
          </a:solidFill>
          <a:ln w="9525">
            <a:solidFill>
              <a:srgbClr val="E2E8F0"/>
            </a:solidFill>
            <a:prstDash val="solid"/>
          </a:ln>
        </p:spPr>
      </p:sp>
      <p:sp>
        <p:nvSpPr>
          <p:cNvPr id="55" name="Shape 53"/>
          <p:cNvSpPr/>
          <p:nvPr/>
        </p:nvSpPr>
        <p:spPr>
          <a:xfrm>
            <a:off x="6492240" y="5001768"/>
            <a:ext cx="365760" cy="365760"/>
          </a:xfrm>
          <a:prstGeom prst="ellipse">
            <a:avLst/>
          </a:prstGeom>
          <a:solidFill>
            <a:srgbClr val="EEF2FF"/>
          </a:solidFill>
          <a:ln w="12700">
            <a:solidFill>
              <a:srgbClr val="4F46E5"/>
            </a:solidFill>
            <a:prstDash val="solid"/>
          </a:ln>
        </p:spPr>
      </p:sp>
      <p:sp>
        <p:nvSpPr>
          <p:cNvPr id="56" name="Text 54"/>
          <p:cNvSpPr/>
          <p:nvPr/>
        </p:nvSpPr>
        <p:spPr>
          <a:xfrm>
            <a:off x="649224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57" name="Text 55"/>
          <p:cNvSpPr/>
          <p:nvPr/>
        </p:nvSpPr>
        <p:spPr>
          <a:xfrm>
            <a:off x="694944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Push-to-deploy</a:t>
            </a:r>
            <a:endParaRPr lang="en-US" sz="1300" dirty="0"/>
          </a:p>
        </p:txBody>
      </p:sp>
      <p:sp>
        <p:nvSpPr>
          <p:cNvPr id="58" name="Text 56"/>
          <p:cNvSpPr/>
          <p:nvPr/>
        </p:nvSpPr>
        <p:spPr>
          <a:xfrm>
            <a:off x="694944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Webhook + AI deploy token</a:t>
            </a:r>
            <a:endParaRPr lang="en-US" sz="1000" dirty="0"/>
          </a:p>
        </p:txBody>
      </p:sp>
      <p:sp>
        <p:nvSpPr>
          <p:cNvPr id="59" name="Shape 57"/>
          <p:cNvSpPr/>
          <p:nvPr/>
        </p:nvSpPr>
        <p:spPr>
          <a:xfrm>
            <a:off x="9144000" y="4617720"/>
            <a:ext cx="2697480" cy="1143000"/>
          </a:xfrm>
          <a:prstGeom prst="roundRect">
            <a:avLst>
              <a:gd name="adj" fmla="val 6400"/>
            </a:avLst>
          </a:prstGeom>
          <a:solidFill>
            <a:srgbClr val="FFFFFF"/>
          </a:solidFill>
          <a:ln w="9525">
            <a:solidFill>
              <a:srgbClr val="E2E8F0"/>
            </a:solidFill>
            <a:prstDash val="solid"/>
          </a:ln>
        </p:spPr>
      </p:sp>
      <p:sp>
        <p:nvSpPr>
          <p:cNvPr id="60" name="Shape 58"/>
          <p:cNvSpPr/>
          <p:nvPr/>
        </p:nvSpPr>
        <p:spPr>
          <a:xfrm>
            <a:off x="9372600" y="5001768"/>
            <a:ext cx="365760" cy="365760"/>
          </a:xfrm>
          <a:prstGeom prst="ellipse">
            <a:avLst/>
          </a:prstGeom>
          <a:solidFill>
            <a:srgbClr val="EEF2FF"/>
          </a:solidFill>
          <a:ln w="12700">
            <a:solidFill>
              <a:srgbClr val="4F46E5"/>
            </a:solidFill>
            <a:prstDash val="solid"/>
          </a:ln>
        </p:spPr>
      </p:sp>
      <p:sp>
        <p:nvSpPr>
          <p:cNvPr id="61" name="Text 59"/>
          <p:cNvSpPr/>
          <p:nvPr/>
        </p:nvSpPr>
        <p:spPr>
          <a:xfrm>
            <a:off x="937260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62" name="Text 60"/>
          <p:cNvSpPr/>
          <p:nvPr/>
        </p:nvSpPr>
        <p:spPr>
          <a:xfrm>
            <a:off x="982980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Status page</a:t>
            </a:r>
            <a:endParaRPr lang="en-US" sz="1300" dirty="0"/>
          </a:p>
        </p:txBody>
      </p:sp>
      <p:sp>
        <p:nvSpPr>
          <p:cNvPr id="63" name="Text 61"/>
          <p:cNvSpPr/>
          <p:nvPr/>
        </p:nvSpPr>
        <p:spPr>
          <a:xfrm>
            <a:off x="982980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status.hatchik.com</a:t>
            </a:r>
            <a:endParaRPr lang="en-US" sz="1000" dirty="0"/>
          </a:p>
        </p:txBody>
      </p:sp>
      <p:sp>
        <p:nvSpPr>
          <p:cNvPr id="64" name="Text 62"/>
          <p:cNvSpPr/>
          <p:nvPr/>
        </p:nvSpPr>
        <p:spPr>
          <a:xfrm>
            <a:off x="502920" y="6080760"/>
            <a:ext cx="10972800" cy="274320"/>
          </a:xfrm>
          <a:prstGeom prst="rect">
            <a:avLst/>
          </a:prstGeom>
          <a:noFill/>
          <a:ln/>
        </p:spPr>
        <p:txBody>
          <a:bodyPr wrap="square" rtlCol="0" anchor="ctr"/>
          <a:lstStyle/>
          <a:p>
            <a:pPr algn="ctr" indent="0" marL="0">
              <a:buNone/>
            </a:pPr>
            <a:r>
              <a:rPr lang="en-US" sz="1000" i="1" dirty="0">
                <a:solidFill>
                  <a:srgbClr val="64748B"/>
                </a:solidFill>
                <a:latin typeface="DM Sans" pitchFamily="34" charset="0"/>
                <a:ea typeface="DM Sans" pitchFamily="34" charset="-122"/>
                <a:cs typeface="DM Sans" pitchFamily="34" charset="-120"/>
              </a:rPr>
              <a:t>Every tile is shipping today. Cross-referenced against FIRST_CUSTOMER_RUNBOOK.md.</a:t>
            </a:r>
            <a:endParaRPr lang="en-US" sz="1000" dirty="0"/>
          </a:p>
        </p:txBody>
      </p:sp>
      <p:sp>
        <p:nvSpPr>
          <p:cNvPr id="65" name="Text 6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66" name="Text 6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07  ·  PRODUCT SHOWCASE</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Sign up to deployed. Real screenshots, not slideware.</a:t>
            </a:r>
            <a:endParaRPr lang="en-US" sz="3000" dirty="0"/>
          </a:p>
        </p:txBody>
      </p:sp>
      <p:sp>
        <p:nvSpPr>
          <p:cNvPr id="4" name="Text 2"/>
          <p:cNvSpPr/>
          <p:nvPr/>
        </p:nvSpPr>
        <p:spPr>
          <a:xfrm>
            <a:off x="502920" y="1417320"/>
            <a:ext cx="11155680" cy="6400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Four moments in the customer's first session. Everything below is live in production at hatchik.com today.</a:t>
            </a:r>
            <a:endParaRPr lang="en-US" sz="1400" dirty="0"/>
          </a:p>
        </p:txBody>
      </p:sp>
      <p:sp>
        <p:nvSpPr>
          <p:cNvPr id="5" name="Shape 3"/>
          <p:cNvSpPr/>
          <p:nvPr/>
        </p:nvSpPr>
        <p:spPr>
          <a:xfrm>
            <a:off x="502920" y="2011680"/>
            <a:ext cx="5486400" cy="2103120"/>
          </a:xfrm>
          <a:prstGeom prst="roundRect">
            <a:avLst>
              <a:gd name="adj" fmla="val 3478"/>
            </a:avLst>
          </a:prstGeom>
          <a:solidFill>
            <a:srgbClr val="FFFFFF"/>
          </a:solidFill>
          <a:ln w="9525">
            <a:solidFill>
              <a:srgbClr val="E2E8F0"/>
            </a:solidFill>
            <a:prstDash val="solid"/>
          </a:ln>
        </p:spPr>
      </p:sp>
      <p:sp>
        <p:nvSpPr>
          <p:cNvPr id="6" name="Shape 4"/>
          <p:cNvSpPr/>
          <p:nvPr/>
        </p:nvSpPr>
        <p:spPr>
          <a:xfrm>
            <a:off x="548640" y="2057400"/>
            <a:ext cx="5394960" cy="164592"/>
          </a:xfrm>
          <a:prstGeom prst="rect">
            <a:avLst/>
          </a:prstGeom>
          <a:solidFill>
            <a:srgbClr val="1E293B"/>
          </a:solidFill>
          <a:ln w="12700">
            <a:solidFill>
              <a:srgbClr val="333333"/>
            </a:solidFill>
            <a:prstDash val="solid"/>
          </a:ln>
        </p:spPr>
      </p:sp>
      <p:sp>
        <p:nvSpPr>
          <p:cNvPr id="7" name="Shape 5"/>
          <p:cNvSpPr/>
          <p:nvPr/>
        </p:nvSpPr>
        <p:spPr>
          <a:xfrm>
            <a:off x="621792" y="2093976"/>
            <a:ext cx="91440" cy="91440"/>
          </a:xfrm>
          <a:prstGeom prst="ellipse">
            <a:avLst/>
          </a:prstGeom>
          <a:solidFill>
            <a:srgbClr val="ED4035"/>
          </a:solidFill>
          <a:ln w="12700">
            <a:solidFill>
              <a:srgbClr val="333333"/>
            </a:solidFill>
            <a:prstDash val="solid"/>
          </a:ln>
        </p:spPr>
      </p:sp>
      <p:sp>
        <p:nvSpPr>
          <p:cNvPr id="8" name="Shape 6"/>
          <p:cNvSpPr/>
          <p:nvPr/>
        </p:nvSpPr>
        <p:spPr>
          <a:xfrm>
            <a:off x="740664" y="2093976"/>
            <a:ext cx="91440" cy="91440"/>
          </a:xfrm>
          <a:prstGeom prst="ellipse">
            <a:avLst/>
          </a:prstGeom>
          <a:solidFill>
            <a:srgbClr val="F5C039"/>
          </a:solidFill>
          <a:ln w="12700">
            <a:solidFill>
              <a:srgbClr val="333333"/>
            </a:solidFill>
            <a:prstDash val="solid"/>
          </a:ln>
        </p:spPr>
      </p:sp>
      <p:sp>
        <p:nvSpPr>
          <p:cNvPr id="9" name="Shape 7"/>
          <p:cNvSpPr/>
          <p:nvPr/>
        </p:nvSpPr>
        <p:spPr>
          <a:xfrm>
            <a:off x="859536" y="2093976"/>
            <a:ext cx="91440" cy="91440"/>
          </a:xfrm>
          <a:prstGeom prst="ellipse">
            <a:avLst/>
          </a:prstGeom>
          <a:solidFill>
            <a:srgbClr val="60B644"/>
          </a:solidFill>
          <a:ln w="12700">
            <a:solidFill>
              <a:srgbClr val="333333"/>
            </a:solidFill>
            <a:prstDash val="solid"/>
          </a:ln>
        </p:spPr>
      </p:sp>
      <p:sp>
        <p:nvSpPr>
          <p:cNvPr id="10" name="Text 8"/>
          <p:cNvSpPr/>
          <p:nvPr/>
        </p:nvSpPr>
        <p:spPr>
          <a:xfrm>
            <a:off x="978408" y="2057400"/>
            <a:ext cx="4937760" cy="164592"/>
          </a:xfrm>
          <a:prstGeom prst="rect">
            <a:avLst/>
          </a:prstGeom>
          <a:noFill/>
          <a:ln/>
        </p:spPr>
        <p:txBody>
          <a:bodyPr wrap="square" rtlCol="0" anchor="ctr"/>
          <a:lstStyle/>
          <a:p>
            <a:pPr indent="0" marL="0">
              <a:buNone/>
            </a:pPr>
            <a:r>
              <a:rPr lang="en-US" sz="700" dirty="0">
                <a:solidFill>
                  <a:srgbClr val="94A3B8"/>
                </a:solidFill>
                <a:latin typeface="JetBrains Mono" pitchFamily="34" charset="0"/>
                <a:ea typeface="JetBrains Mono" pitchFamily="34" charset="-122"/>
                <a:cs typeface="JetBrains Mono" pitchFamily="34" charset="-120"/>
              </a:rPr>
              <a:t>hatchik.com</a:t>
            </a:r>
            <a:endParaRPr lang="en-US" sz="700" dirty="0"/>
          </a:p>
        </p:txBody>
      </p:sp>
      <p:pic>
        <p:nvPicPr>
          <p:cNvPr id="11" name="Image 0" descr="/tmp/hatchik_screenshots/cropped/marketing.png">    </p:cNvPr>
          <p:cNvPicPr>
            <a:picLocks noChangeAspect="1"/>
          </p:cNvPicPr>
          <p:nvPr/>
        </p:nvPicPr>
        <p:blipFill>
          <a:blip r:embed="rId1"/>
          <a:srcRect l="0" r="0" t="0" b="0"/>
          <a:stretch/>
        </p:blipFill>
        <p:spPr>
          <a:xfrm>
            <a:off x="548640" y="2221992"/>
            <a:ext cx="5394960" cy="1371600"/>
          </a:xfrm>
          <a:prstGeom prst="rect">
            <a:avLst/>
          </a:prstGeom>
        </p:spPr>
      </p:pic>
      <p:sp>
        <p:nvSpPr>
          <p:cNvPr id="12" name="Shape 9"/>
          <p:cNvSpPr/>
          <p:nvPr/>
        </p:nvSpPr>
        <p:spPr>
          <a:xfrm>
            <a:off x="548640" y="3639312"/>
            <a:ext cx="5394960" cy="475488"/>
          </a:xfrm>
          <a:prstGeom prst="rect">
            <a:avLst/>
          </a:prstGeom>
          <a:solidFill>
            <a:srgbClr val="EEF2FF"/>
          </a:solidFill>
          <a:ln w="12700">
            <a:solidFill>
              <a:srgbClr val="333333"/>
            </a:solidFill>
            <a:prstDash val="solid"/>
          </a:ln>
        </p:spPr>
      </p:sp>
      <p:sp>
        <p:nvSpPr>
          <p:cNvPr id="13" name="Text 10"/>
          <p:cNvSpPr/>
          <p:nvPr/>
        </p:nvSpPr>
        <p:spPr>
          <a:xfrm>
            <a:off x="685800" y="3685032"/>
            <a:ext cx="5120640" cy="201168"/>
          </a:xfrm>
          <a:prstGeom prst="rect">
            <a:avLst/>
          </a:prstGeom>
          <a:noFill/>
          <a:ln/>
        </p:spPr>
        <p:txBody>
          <a:bodyPr wrap="square" rtlCol="0" anchor="ctr"/>
          <a:lstStyle/>
          <a:p>
            <a:pPr indent="0" marL="0">
              <a:buNone/>
            </a:pPr>
            <a:r>
              <a:rPr lang="en-US" sz="1100" b="1" dirty="0">
                <a:solidFill>
                  <a:srgbClr val="3730A3"/>
                </a:solidFill>
                <a:latin typeface="DM Sans" pitchFamily="34" charset="0"/>
                <a:ea typeface="DM Sans" pitchFamily="34" charset="-122"/>
                <a:cs typeface="DM Sans" pitchFamily="34" charset="-120"/>
              </a:rPr>
              <a:t>1.  Sign up at hatchik.com</a:t>
            </a:r>
            <a:endParaRPr lang="en-US" sz="1100" dirty="0"/>
          </a:p>
        </p:txBody>
      </p:sp>
      <p:sp>
        <p:nvSpPr>
          <p:cNvPr id="14" name="Text 11"/>
          <p:cNvSpPr/>
          <p:nvPr/>
        </p:nvSpPr>
        <p:spPr>
          <a:xfrm>
            <a:off x="685800" y="3886200"/>
            <a:ext cx="5120640" cy="201168"/>
          </a:xfrm>
          <a:prstGeom prst="rect">
            <a:avLst/>
          </a:prstGeom>
          <a:noFill/>
          <a:ln/>
        </p:spPr>
        <p:txBody>
          <a:bodyPr wrap="square" rtlCol="0" anchor="ctr"/>
          <a:lstStyle/>
          <a:p>
            <a:pPr indent="0" marL="0">
              <a:buNone/>
            </a:pPr>
            <a:r>
              <a:rPr lang="en-US" sz="900" i="1" dirty="0">
                <a:solidFill>
                  <a:srgbClr val="334155"/>
                </a:solidFill>
                <a:latin typeface="DM Sans" pitchFamily="34" charset="0"/>
                <a:ea typeface="DM Sans" pitchFamily="34" charset="-122"/>
                <a:cs typeface="DM Sans" pitchFamily="34" charset="-120"/>
              </a:rPr>
              <a:t>60-second wizard. Email + product idea + tier. No card. No demo.</a:t>
            </a:r>
            <a:endParaRPr lang="en-US" sz="900" dirty="0"/>
          </a:p>
        </p:txBody>
      </p:sp>
      <p:sp>
        <p:nvSpPr>
          <p:cNvPr id="15" name="Shape 12"/>
          <p:cNvSpPr/>
          <p:nvPr/>
        </p:nvSpPr>
        <p:spPr>
          <a:xfrm>
            <a:off x="6172200" y="2011680"/>
            <a:ext cx="5486400" cy="2103120"/>
          </a:xfrm>
          <a:prstGeom prst="roundRect">
            <a:avLst>
              <a:gd name="adj" fmla="val 3478"/>
            </a:avLst>
          </a:prstGeom>
          <a:solidFill>
            <a:srgbClr val="FFFFFF"/>
          </a:solidFill>
          <a:ln w="9525">
            <a:solidFill>
              <a:srgbClr val="E2E8F0"/>
            </a:solidFill>
            <a:prstDash val="solid"/>
          </a:ln>
        </p:spPr>
      </p:sp>
      <p:sp>
        <p:nvSpPr>
          <p:cNvPr id="16" name="Shape 13"/>
          <p:cNvSpPr/>
          <p:nvPr/>
        </p:nvSpPr>
        <p:spPr>
          <a:xfrm>
            <a:off x="6217920" y="2057400"/>
            <a:ext cx="5394960" cy="164592"/>
          </a:xfrm>
          <a:prstGeom prst="rect">
            <a:avLst/>
          </a:prstGeom>
          <a:solidFill>
            <a:srgbClr val="1E293B"/>
          </a:solidFill>
          <a:ln w="12700">
            <a:solidFill>
              <a:srgbClr val="333333"/>
            </a:solidFill>
            <a:prstDash val="solid"/>
          </a:ln>
        </p:spPr>
      </p:sp>
      <p:sp>
        <p:nvSpPr>
          <p:cNvPr id="17" name="Shape 14"/>
          <p:cNvSpPr/>
          <p:nvPr/>
        </p:nvSpPr>
        <p:spPr>
          <a:xfrm>
            <a:off x="6291072" y="2093976"/>
            <a:ext cx="91440" cy="91440"/>
          </a:xfrm>
          <a:prstGeom prst="ellipse">
            <a:avLst/>
          </a:prstGeom>
          <a:solidFill>
            <a:srgbClr val="ED4035"/>
          </a:solidFill>
          <a:ln w="12700">
            <a:solidFill>
              <a:srgbClr val="333333"/>
            </a:solidFill>
            <a:prstDash val="solid"/>
          </a:ln>
        </p:spPr>
      </p:sp>
      <p:sp>
        <p:nvSpPr>
          <p:cNvPr id="18" name="Shape 15"/>
          <p:cNvSpPr/>
          <p:nvPr/>
        </p:nvSpPr>
        <p:spPr>
          <a:xfrm>
            <a:off x="6409944" y="2093976"/>
            <a:ext cx="91440" cy="91440"/>
          </a:xfrm>
          <a:prstGeom prst="ellipse">
            <a:avLst/>
          </a:prstGeom>
          <a:solidFill>
            <a:srgbClr val="F5C039"/>
          </a:solidFill>
          <a:ln w="12700">
            <a:solidFill>
              <a:srgbClr val="333333"/>
            </a:solidFill>
            <a:prstDash val="solid"/>
          </a:ln>
        </p:spPr>
      </p:sp>
      <p:sp>
        <p:nvSpPr>
          <p:cNvPr id="19" name="Shape 16"/>
          <p:cNvSpPr/>
          <p:nvPr/>
        </p:nvSpPr>
        <p:spPr>
          <a:xfrm>
            <a:off x="6528816" y="2093976"/>
            <a:ext cx="91440" cy="91440"/>
          </a:xfrm>
          <a:prstGeom prst="ellipse">
            <a:avLst/>
          </a:prstGeom>
          <a:solidFill>
            <a:srgbClr val="60B644"/>
          </a:solidFill>
          <a:ln w="12700">
            <a:solidFill>
              <a:srgbClr val="333333"/>
            </a:solidFill>
            <a:prstDash val="solid"/>
          </a:ln>
        </p:spPr>
      </p:sp>
      <p:sp>
        <p:nvSpPr>
          <p:cNvPr id="20" name="Text 17"/>
          <p:cNvSpPr/>
          <p:nvPr/>
        </p:nvSpPr>
        <p:spPr>
          <a:xfrm>
            <a:off x="6647688" y="2057400"/>
            <a:ext cx="4937760" cy="164592"/>
          </a:xfrm>
          <a:prstGeom prst="rect">
            <a:avLst/>
          </a:prstGeom>
          <a:noFill/>
          <a:ln/>
        </p:spPr>
        <p:txBody>
          <a:bodyPr wrap="square" rtlCol="0" anchor="ctr"/>
          <a:lstStyle/>
          <a:p>
            <a:pPr indent="0" marL="0">
              <a:buNone/>
            </a:pPr>
            <a:r>
              <a:rPr lang="en-US" sz="700" dirty="0">
                <a:solidFill>
                  <a:srgbClr val="94A3B8"/>
                </a:solidFill>
                <a:latin typeface="JetBrains Mono" pitchFamily="34" charset="0"/>
                <a:ea typeface="JetBrains Mono" pitchFamily="34" charset="-122"/>
                <a:cs typeface="JetBrains Mono" pitchFamily="34" charset="-120"/>
              </a:rPr>
              <a:t>hatchik.com</a:t>
            </a:r>
            <a:endParaRPr lang="en-US" sz="700" dirty="0"/>
          </a:p>
        </p:txBody>
      </p:sp>
      <p:pic>
        <p:nvPicPr>
          <p:cNvPr id="21" name="Image 1" descr="/tmp/hatchik_screenshots/cropped/install.png">    </p:cNvPr>
          <p:cNvPicPr>
            <a:picLocks noChangeAspect="1"/>
          </p:cNvPicPr>
          <p:nvPr/>
        </p:nvPicPr>
        <p:blipFill>
          <a:blip r:embed="rId2"/>
          <a:srcRect l="0" r="0" t="0" b="0"/>
          <a:stretch/>
        </p:blipFill>
        <p:spPr>
          <a:xfrm>
            <a:off x="6217920" y="2221992"/>
            <a:ext cx="5394960" cy="1371600"/>
          </a:xfrm>
          <a:prstGeom prst="rect">
            <a:avLst/>
          </a:prstGeom>
        </p:spPr>
      </p:pic>
      <p:sp>
        <p:nvSpPr>
          <p:cNvPr id="22" name="Shape 18"/>
          <p:cNvSpPr/>
          <p:nvPr/>
        </p:nvSpPr>
        <p:spPr>
          <a:xfrm>
            <a:off x="6217920" y="3639312"/>
            <a:ext cx="5394960" cy="475488"/>
          </a:xfrm>
          <a:prstGeom prst="rect">
            <a:avLst/>
          </a:prstGeom>
          <a:solidFill>
            <a:srgbClr val="EEF2FF"/>
          </a:solidFill>
          <a:ln w="12700">
            <a:solidFill>
              <a:srgbClr val="333333"/>
            </a:solidFill>
            <a:prstDash val="solid"/>
          </a:ln>
        </p:spPr>
      </p:sp>
      <p:sp>
        <p:nvSpPr>
          <p:cNvPr id="23" name="Text 19"/>
          <p:cNvSpPr/>
          <p:nvPr/>
        </p:nvSpPr>
        <p:spPr>
          <a:xfrm>
            <a:off x="6355080" y="3685032"/>
            <a:ext cx="5120640" cy="201168"/>
          </a:xfrm>
          <a:prstGeom prst="rect">
            <a:avLst/>
          </a:prstGeom>
          <a:noFill/>
          <a:ln/>
        </p:spPr>
        <p:txBody>
          <a:bodyPr wrap="square" rtlCol="0" anchor="ctr"/>
          <a:lstStyle/>
          <a:p>
            <a:pPr indent="0" marL="0">
              <a:buNone/>
            </a:pPr>
            <a:r>
              <a:rPr lang="en-US" sz="1100" b="1" dirty="0">
                <a:solidFill>
                  <a:srgbClr val="3730A3"/>
                </a:solidFill>
                <a:latin typeface="DM Sans" pitchFamily="34" charset="0"/>
                <a:ea typeface="DM Sans" pitchFamily="34" charset="-122"/>
                <a:cs typeface="DM Sans" pitchFamily="34" charset="-120"/>
              </a:rPr>
              <a:t>2.  Wire any AI tool</a:t>
            </a:r>
            <a:endParaRPr lang="en-US" sz="1100" dirty="0"/>
          </a:p>
        </p:txBody>
      </p:sp>
      <p:sp>
        <p:nvSpPr>
          <p:cNvPr id="24" name="Text 20"/>
          <p:cNvSpPr/>
          <p:nvPr/>
        </p:nvSpPr>
        <p:spPr>
          <a:xfrm>
            <a:off x="6355080" y="3886200"/>
            <a:ext cx="5120640" cy="201168"/>
          </a:xfrm>
          <a:prstGeom prst="rect">
            <a:avLst/>
          </a:prstGeom>
          <a:noFill/>
          <a:ln/>
        </p:spPr>
        <p:txBody>
          <a:bodyPr wrap="square" rtlCol="0" anchor="ctr"/>
          <a:lstStyle/>
          <a:p>
            <a:pPr indent="0" marL="0">
              <a:buNone/>
            </a:pPr>
            <a:r>
              <a:rPr lang="en-US" sz="900" i="1" dirty="0">
                <a:solidFill>
                  <a:srgbClr val="334155"/>
                </a:solidFill>
                <a:latin typeface="DM Sans" pitchFamily="34" charset="0"/>
                <a:ea typeface="DM Sans" pitchFamily="34" charset="-122"/>
                <a:cs typeface="DM Sans" pitchFamily="34" charset="-120"/>
              </a:rPr>
              <a:t>One JSON block into Cursor / Claude Code / Windsurf / Cline.</a:t>
            </a:r>
            <a:endParaRPr lang="en-US" sz="900" dirty="0"/>
          </a:p>
        </p:txBody>
      </p:sp>
      <p:sp>
        <p:nvSpPr>
          <p:cNvPr id="25" name="Shape 21"/>
          <p:cNvSpPr/>
          <p:nvPr/>
        </p:nvSpPr>
        <p:spPr>
          <a:xfrm>
            <a:off x="502920" y="4297680"/>
            <a:ext cx="5486400" cy="2103120"/>
          </a:xfrm>
          <a:prstGeom prst="roundRect">
            <a:avLst>
              <a:gd name="adj" fmla="val 3478"/>
            </a:avLst>
          </a:prstGeom>
          <a:solidFill>
            <a:srgbClr val="FFFFFF"/>
          </a:solidFill>
          <a:ln w="9525">
            <a:solidFill>
              <a:srgbClr val="E2E8F0"/>
            </a:solidFill>
            <a:prstDash val="solid"/>
          </a:ln>
        </p:spPr>
      </p:sp>
      <p:sp>
        <p:nvSpPr>
          <p:cNvPr id="26" name="Shape 22"/>
          <p:cNvSpPr/>
          <p:nvPr/>
        </p:nvSpPr>
        <p:spPr>
          <a:xfrm>
            <a:off x="548640" y="4343400"/>
            <a:ext cx="5394960" cy="164592"/>
          </a:xfrm>
          <a:prstGeom prst="rect">
            <a:avLst/>
          </a:prstGeom>
          <a:solidFill>
            <a:srgbClr val="1E293B"/>
          </a:solidFill>
          <a:ln w="12700">
            <a:solidFill>
              <a:srgbClr val="333333"/>
            </a:solidFill>
            <a:prstDash val="solid"/>
          </a:ln>
        </p:spPr>
      </p:sp>
      <p:sp>
        <p:nvSpPr>
          <p:cNvPr id="27" name="Shape 23"/>
          <p:cNvSpPr/>
          <p:nvPr/>
        </p:nvSpPr>
        <p:spPr>
          <a:xfrm>
            <a:off x="621792" y="4379976"/>
            <a:ext cx="91440" cy="91440"/>
          </a:xfrm>
          <a:prstGeom prst="ellipse">
            <a:avLst/>
          </a:prstGeom>
          <a:solidFill>
            <a:srgbClr val="ED4035"/>
          </a:solidFill>
          <a:ln w="12700">
            <a:solidFill>
              <a:srgbClr val="333333"/>
            </a:solidFill>
            <a:prstDash val="solid"/>
          </a:ln>
        </p:spPr>
      </p:sp>
      <p:sp>
        <p:nvSpPr>
          <p:cNvPr id="28" name="Shape 24"/>
          <p:cNvSpPr/>
          <p:nvPr/>
        </p:nvSpPr>
        <p:spPr>
          <a:xfrm>
            <a:off x="740664" y="4379976"/>
            <a:ext cx="91440" cy="91440"/>
          </a:xfrm>
          <a:prstGeom prst="ellipse">
            <a:avLst/>
          </a:prstGeom>
          <a:solidFill>
            <a:srgbClr val="F5C039"/>
          </a:solidFill>
          <a:ln w="12700">
            <a:solidFill>
              <a:srgbClr val="333333"/>
            </a:solidFill>
            <a:prstDash val="solid"/>
          </a:ln>
        </p:spPr>
      </p:sp>
      <p:sp>
        <p:nvSpPr>
          <p:cNvPr id="29" name="Shape 25"/>
          <p:cNvSpPr/>
          <p:nvPr/>
        </p:nvSpPr>
        <p:spPr>
          <a:xfrm>
            <a:off x="859536" y="4379976"/>
            <a:ext cx="91440" cy="91440"/>
          </a:xfrm>
          <a:prstGeom prst="ellipse">
            <a:avLst/>
          </a:prstGeom>
          <a:solidFill>
            <a:srgbClr val="60B644"/>
          </a:solidFill>
          <a:ln w="12700">
            <a:solidFill>
              <a:srgbClr val="333333"/>
            </a:solidFill>
            <a:prstDash val="solid"/>
          </a:ln>
        </p:spPr>
      </p:sp>
      <p:sp>
        <p:nvSpPr>
          <p:cNvPr id="30" name="Text 26"/>
          <p:cNvSpPr/>
          <p:nvPr/>
        </p:nvSpPr>
        <p:spPr>
          <a:xfrm>
            <a:off x="978408" y="4343400"/>
            <a:ext cx="4937760" cy="164592"/>
          </a:xfrm>
          <a:prstGeom prst="rect">
            <a:avLst/>
          </a:prstGeom>
          <a:noFill/>
          <a:ln/>
        </p:spPr>
        <p:txBody>
          <a:bodyPr wrap="square" rtlCol="0" anchor="ctr"/>
          <a:lstStyle/>
          <a:p>
            <a:pPr indent="0" marL="0">
              <a:buNone/>
            </a:pPr>
            <a:r>
              <a:rPr lang="en-US" sz="700" dirty="0">
                <a:solidFill>
                  <a:srgbClr val="94A3B8"/>
                </a:solidFill>
                <a:latin typeface="JetBrains Mono" pitchFamily="34" charset="0"/>
                <a:ea typeface="JetBrains Mono" pitchFamily="34" charset="-122"/>
                <a:cs typeface="JetBrains Mono" pitchFamily="34" charset="-120"/>
              </a:rPr>
              <a:t>hatchik.com</a:t>
            </a:r>
            <a:endParaRPr lang="en-US" sz="700" dirty="0"/>
          </a:p>
        </p:txBody>
      </p:sp>
      <p:pic>
        <p:nvPicPr>
          <p:cNvPr id="31" name="Image 2" descr="/tmp/hatchik_screenshots/cropped/account.png">    </p:cNvPr>
          <p:cNvPicPr>
            <a:picLocks noChangeAspect="1"/>
          </p:cNvPicPr>
          <p:nvPr/>
        </p:nvPicPr>
        <p:blipFill>
          <a:blip r:embed="rId3"/>
          <a:srcRect l="0" r="0" t="0" b="0"/>
          <a:stretch/>
        </p:blipFill>
        <p:spPr>
          <a:xfrm>
            <a:off x="548640" y="4507992"/>
            <a:ext cx="5394960" cy="1371600"/>
          </a:xfrm>
          <a:prstGeom prst="rect">
            <a:avLst/>
          </a:prstGeom>
        </p:spPr>
      </p:pic>
      <p:sp>
        <p:nvSpPr>
          <p:cNvPr id="32" name="Shape 27"/>
          <p:cNvSpPr/>
          <p:nvPr/>
        </p:nvSpPr>
        <p:spPr>
          <a:xfrm>
            <a:off x="548640" y="5925312"/>
            <a:ext cx="5394960" cy="475488"/>
          </a:xfrm>
          <a:prstGeom prst="rect">
            <a:avLst/>
          </a:prstGeom>
          <a:solidFill>
            <a:srgbClr val="EEF2FF"/>
          </a:solidFill>
          <a:ln w="12700">
            <a:solidFill>
              <a:srgbClr val="333333"/>
            </a:solidFill>
            <a:prstDash val="solid"/>
          </a:ln>
        </p:spPr>
      </p:sp>
      <p:sp>
        <p:nvSpPr>
          <p:cNvPr id="33" name="Text 28"/>
          <p:cNvSpPr/>
          <p:nvPr/>
        </p:nvSpPr>
        <p:spPr>
          <a:xfrm>
            <a:off x="685800" y="5971032"/>
            <a:ext cx="5120640" cy="201168"/>
          </a:xfrm>
          <a:prstGeom prst="rect">
            <a:avLst/>
          </a:prstGeom>
          <a:noFill/>
          <a:ln/>
        </p:spPr>
        <p:txBody>
          <a:bodyPr wrap="square" rtlCol="0" anchor="ctr"/>
          <a:lstStyle/>
          <a:p>
            <a:pPr indent="0" marL="0">
              <a:buNone/>
            </a:pPr>
            <a:r>
              <a:rPr lang="en-US" sz="1100" b="1" dirty="0">
                <a:solidFill>
                  <a:srgbClr val="3730A3"/>
                </a:solidFill>
                <a:latin typeface="DM Sans" pitchFamily="34" charset="0"/>
                <a:ea typeface="DM Sans" pitchFamily="34" charset="-122"/>
                <a:cs typeface="DM Sans" pitchFamily="34" charset="-120"/>
              </a:rPr>
              <a:t>3.  Your account, your services</a:t>
            </a:r>
            <a:endParaRPr lang="en-US" sz="1100" dirty="0"/>
          </a:p>
        </p:txBody>
      </p:sp>
      <p:sp>
        <p:nvSpPr>
          <p:cNvPr id="34" name="Text 29"/>
          <p:cNvSpPr/>
          <p:nvPr/>
        </p:nvSpPr>
        <p:spPr>
          <a:xfrm>
            <a:off x="685800" y="6172200"/>
            <a:ext cx="5120640" cy="201168"/>
          </a:xfrm>
          <a:prstGeom prst="rect">
            <a:avLst/>
          </a:prstGeom>
          <a:noFill/>
          <a:ln/>
        </p:spPr>
        <p:txBody>
          <a:bodyPr wrap="square" rtlCol="0" anchor="ctr"/>
          <a:lstStyle/>
          <a:p>
            <a:pPr indent="0" marL="0">
              <a:buNone/>
            </a:pPr>
            <a:r>
              <a:rPr lang="en-US" sz="900" i="1" dirty="0">
                <a:solidFill>
                  <a:srgbClr val="334155"/>
                </a:solidFill>
                <a:latin typeface="DM Sans" pitchFamily="34" charset="0"/>
                <a:ea typeface="DM Sans" pitchFamily="34" charset="-122"/>
                <a:cs typeface="DM Sans" pitchFamily="34" charset="-120"/>
              </a:rPr>
              <a:t>API key, services list, mailboxes, redeploy URL — one screen.</a:t>
            </a:r>
            <a:endParaRPr lang="en-US" sz="900" dirty="0"/>
          </a:p>
        </p:txBody>
      </p:sp>
      <p:sp>
        <p:nvSpPr>
          <p:cNvPr id="35" name="Shape 30"/>
          <p:cNvSpPr/>
          <p:nvPr/>
        </p:nvSpPr>
        <p:spPr>
          <a:xfrm>
            <a:off x="6172200" y="4297680"/>
            <a:ext cx="5486400" cy="2103120"/>
          </a:xfrm>
          <a:prstGeom prst="roundRect">
            <a:avLst>
              <a:gd name="adj" fmla="val 3478"/>
            </a:avLst>
          </a:prstGeom>
          <a:solidFill>
            <a:srgbClr val="FFFFFF"/>
          </a:solidFill>
          <a:ln w="9525">
            <a:solidFill>
              <a:srgbClr val="E2E8F0"/>
            </a:solidFill>
            <a:prstDash val="solid"/>
          </a:ln>
        </p:spPr>
      </p:sp>
      <p:sp>
        <p:nvSpPr>
          <p:cNvPr id="36" name="Shape 31"/>
          <p:cNvSpPr/>
          <p:nvPr/>
        </p:nvSpPr>
        <p:spPr>
          <a:xfrm>
            <a:off x="6217920" y="4343400"/>
            <a:ext cx="5394960" cy="164592"/>
          </a:xfrm>
          <a:prstGeom prst="rect">
            <a:avLst/>
          </a:prstGeom>
          <a:solidFill>
            <a:srgbClr val="1E293B"/>
          </a:solidFill>
          <a:ln w="12700">
            <a:solidFill>
              <a:srgbClr val="333333"/>
            </a:solidFill>
            <a:prstDash val="solid"/>
          </a:ln>
        </p:spPr>
      </p:sp>
      <p:sp>
        <p:nvSpPr>
          <p:cNvPr id="37" name="Shape 32"/>
          <p:cNvSpPr/>
          <p:nvPr/>
        </p:nvSpPr>
        <p:spPr>
          <a:xfrm>
            <a:off x="6291072" y="4379976"/>
            <a:ext cx="91440" cy="91440"/>
          </a:xfrm>
          <a:prstGeom prst="ellipse">
            <a:avLst/>
          </a:prstGeom>
          <a:solidFill>
            <a:srgbClr val="ED4035"/>
          </a:solidFill>
          <a:ln w="12700">
            <a:solidFill>
              <a:srgbClr val="333333"/>
            </a:solidFill>
            <a:prstDash val="solid"/>
          </a:ln>
        </p:spPr>
      </p:sp>
      <p:sp>
        <p:nvSpPr>
          <p:cNvPr id="38" name="Shape 33"/>
          <p:cNvSpPr/>
          <p:nvPr/>
        </p:nvSpPr>
        <p:spPr>
          <a:xfrm>
            <a:off x="6409944" y="4379976"/>
            <a:ext cx="91440" cy="91440"/>
          </a:xfrm>
          <a:prstGeom prst="ellipse">
            <a:avLst/>
          </a:prstGeom>
          <a:solidFill>
            <a:srgbClr val="F5C039"/>
          </a:solidFill>
          <a:ln w="12700">
            <a:solidFill>
              <a:srgbClr val="333333"/>
            </a:solidFill>
            <a:prstDash val="solid"/>
          </a:ln>
        </p:spPr>
      </p:sp>
      <p:sp>
        <p:nvSpPr>
          <p:cNvPr id="39" name="Shape 34"/>
          <p:cNvSpPr/>
          <p:nvPr/>
        </p:nvSpPr>
        <p:spPr>
          <a:xfrm>
            <a:off x="6528816" y="4379976"/>
            <a:ext cx="91440" cy="91440"/>
          </a:xfrm>
          <a:prstGeom prst="ellipse">
            <a:avLst/>
          </a:prstGeom>
          <a:solidFill>
            <a:srgbClr val="60B644"/>
          </a:solidFill>
          <a:ln w="12700">
            <a:solidFill>
              <a:srgbClr val="333333"/>
            </a:solidFill>
            <a:prstDash val="solid"/>
          </a:ln>
        </p:spPr>
      </p:sp>
      <p:sp>
        <p:nvSpPr>
          <p:cNvPr id="40" name="Text 35"/>
          <p:cNvSpPr/>
          <p:nvPr/>
        </p:nvSpPr>
        <p:spPr>
          <a:xfrm>
            <a:off x="6647688" y="4343400"/>
            <a:ext cx="4937760" cy="164592"/>
          </a:xfrm>
          <a:prstGeom prst="rect">
            <a:avLst/>
          </a:prstGeom>
          <a:noFill/>
          <a:ln/>
        </p:spPr>
        <p:txBody>
          <a:bodyPr wrap="square" rtlCol="0" anchor="ctr"/>
          <a:lstStyle/>
          <a:p>
            <a:pPr indent="0" marL="0">
              <a:buNone/>
            </a:pPr>
            <a:r>
              <a:rPr lang="en-US" sz="700" dirty="0">
                <a:solidFill>
                  <a:srgbClr val="94A3B8"/>
                </a:solidFill>
                <a:latin typeface="JetBrains Mono" pitchFamily="34" charset="0"/>
                <a:ea typeface="JetBrains Mono" pitchFamily="34" charset="-122"/>
                <a:cs typeface="JetBrains Mono" pitchFamily="34" charset="-120"/>
              </a:rPr>
              <a:t>hatchik.com</a:t>
            </a:r>
            <a:endParaRPr lang="en-US" sz="700" dirty="0"/>
          </a:p>
        </p:txBody>
      </p:sp>
      <p:pic>
        <p:nvPicPr>
          <p:cNvPr id="41" name="Image 3" descr="/tmp/hatchik_screenshots/cropped/docs.png">    </p:cNvPr>
          <p:cNvPicPr>
            <a:picLocks noChangeAspect="1"/>
          </p:cNvPicPr>
          <p:nvPr/>
        </p:nvPicPr>
        <p:blipFill>
          <a:blip r:embed="rId4"/>
          <a:srcRect l="0" r="0" t="0" b="0"/>
          <a:stretch/>
        </p:blipFill>
        <p:spPr>
          <a:xfrm>
            <a:off x="6217920" y="4507992"/>
            <a:ext cx="5394960" cy="1371600"/>
          </a:xfrm>
          <a:prstGeom prst="rect">
            <a:avLst/>
          </a:prstGeom>
        </p:spPr>
      </p:pic>
      <p:sp>
        <p:nvSpPr>
          <p:cNvPr id="42" name="Shape 36"/>
          <p:cNvSpPr/>
          <p:nvPr/>
        </p:nvSpPr>
        <p:spPr>
          <a:xfrm>
            <a:off x="6217920" y="5925312"/>
            <a:ext cx="5394960" cy="475488"/>
          </a:xfrm>
          <a:prstGeom prst="rect">
            <a:avLst/>
          </a:prstGeom>
          <a:solidFill>
            <a:srgbClr val="EEF2FF"/>
          </a:solidFill>
          <a:ln w="12700">
            <a:solidFill>
              <a:srgbClr val="333333"/>
            </a:solidFill>
            <a:prstDash val="solid"/>
          </a:ln>
        </p:spPr>
      </p:sp>
      <p:sp>
        <p:nvSpPr>
          <p:cNvPr id="43" name="Text 37"/>
          <p:cNvSpPr/>
          <p:nvPr/>
        </p:nvSpPr>
        <p:spPr>
          <a:xfrm>
            <a:off x="6355080" y="5971032"/>
            <a:ext cx="5120640" cy="201168"/>
          </a:xfrm>
          <a:prstGeom prst="rect">
            <a:avLst/>
          </a:prstGeom>
          <a:noFill/>
          <a:ln/>
        </p:spPr>
        <p:txBody>
          <a:bodyPr wrap="square" rtlCol="0" anchor="ctr"/>
          <a:lstStyle/>
          <a:p>
            <a:pPr indent="0" marL="0">
              <a:buNone/>
            </a:pPr>
            <a:r>
              <a:rPr lang="en-US" sz="1100" b="1" dirty="0">
                <a:solidFill>
                  <a:srgbClr val="3730A3"/>
                </a:solidFill>
                <a:latin typeface="DM Sans" pitchFamily="34" charset="0"/>
                <a:ea typeface="DM Sans" pitchFamily="34" charset="-122"/>
                <a:cs typeface="DM Sans" pitchFamily="34" charset="-120"/>
              </a:rPr>
              <a:t>4.  Per-tenant docs</a:t>
            </a:r>
            <a:endParaRPr lang="en-US" sz="1100" dirty="0"/>
          </a:p>
        </p:txBody>
      </p:sp>
      <p:sp>
        <p:nvSpPr>
          <p:cNvPr id="44" name="Text 38"/>
          <p:cNvSpPr/>
          <p:nvPr/>
        </p:nvSpPr>
        <p:spPr>
          <a:xfrm>
            <a:off x="6355080" y="6172200"/>
            <a:ext cx="5120640" cy="201168"/>
          </a:xfrm>
          <a:prstGeom prst="rect">
            <a:avLst/>
          </a:prstGeom>
          <a:noFill/>
          <a:ln/>
        </p:spPr>
        <p:txBody>
          <a:bodyPr wrap="square" rtlCol="0" anchor="ctr"/>
          <a:lstStyle/>
          <a:p>
            <a:pPr indent="0" marL="0">
              <a:buNone/>
            </a:pPr>
            <a:r>
              <a:rPr lang="en-US" sz="900" i="1" dirty="0">
                <a:solidFill>
                  <a:srgbClr val="334155"/>
                </a:solidFill>
                <a:latin typeface="DM Sans" pitchFamily="34" charset="0"/>
                <a:ea typeface="DM Sans" pitchFamily="34" charset="-122"/>
                <a:cs typeface="DM Sans" pitchFamily="34" charset="-120"/>
              </a:rPr>
              <a:t>Every sandbox ships with docs the AI tool can read directly.</a:t>
            </a:r>
            <a:endParaRPr lang="en-US" sz="900" dirty="0"/>
          </a:p>
        </p:txBody>
      </p:sp>
      <p:sp>
        <p:nvSpPr>
          <p:cNvPr id="45" name="Text 39"/>
          <p:cNvSpPr/>
          <p:nvPr/>
        </p:nvSpPr>
        <p:spPr>
          <a:xfrm>
            <a:off x="502920" y="6355080"/>
            <a:ext cx="11155680" cy="22860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From signup to deployed in ~5 minutes. Every screenshot is a real rendered page from proposals/hatchik/{index,install,account,docs}.html.</a:t>
            </a:r>
            <a:endParaRPr lang="en-US" sz="900" dirty="0"/>
          </a:p>
        </p:txBody>
      </p:sp>
      <p:sp>
        <p:nvSpPr>
          <p:cNvPr id="46" name="Text 40"/>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47" name="Text 41"/>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08  ·  MARKET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TAM, SAM, SOM — sized from public AI-coder tool numbers.</a:t>
            </a:r>
            <a:endParaRPr lang="en-US" sz="3000" dirty="0"/>
          </a:p>
        </p:txBody>
      </p:sp>
      <p:sp>
        <p:nvSpPr>
          <p:cNvPr id="4" name="Shape 2"/>
          <p:cNvSpPr/>
          <p:nvPr/>
        </p:nvSpPr>
        <p:spPr>
          <a:xfrm>
            <a:off x="502920" y="2011680"/>
            <a:ext cx="3611880" cy="3840480"/>
          </a:xfrm>
          <a:prstGeom prst="roundRect">
            <a:avLst>
              <a:gd name="adj" fmla="val 2025"/>
            </a:avLst>
          </a:prstGeom>
          <a:solidFill>
            <a:srgbClr val="EEF2FF"/>
          </a:solidFill>
          <a:ln w="12700">
            <a:solidFill>
              <a:srgbClr val="4F46E5"/>
            </a:solidFill>
            <a:prstDash val="solid"/>
          </a:ln>
        </p:spPr>
      </p:sp>
      <p:sp>
        <p:nvSpPr>
          <p:cNvPr id="5" name="Text 3"/>
          <p:cNvSpPr/>
          <p:nvPr/>
        </p:nvSpPr>
        <p:spPr>
          <a:xfrm>
            <a:off x="777240" y="2286000"/>
            <a:ext cx="3154680" cy="292608"/>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TAM — total addressable</a:t>
            </a:r>
            <a:endParaRPr lang="en-US" sz="900" dirty="0"/>
          </a:p>
        </p:txBody>
      </p:sp>
      <p:sp>
        <p:nvSpPr>
          <p:cNvPr id="6" name="Text 4"/>
          <p:cNvSpPr/>
          <p:nvPr/>
        </p:nvSpPr>
        <p:spPr>
          <a:xfrm>
            <a:off x="777240" y="2788920"/>
            <a:ext cx="3154680" cy="1280160"/>
          </a:xfrm>
          <a:prstGeom prst="rect">
            <a:avLst/>
          </a:prstGeom>
          <a:noFill/>
          <a:ln/>
        </p:spPr>
        <p:txBody>
          <a:bodyPr wrap="square" rtlCol="0" anchor="ctr"/>
          <a:lstStyle/>
          <a:p>
            <a:pPr indent="0" marL="0">
              <a:buNone/>
            </a:pPr>
            <a:r>
              <a:rPr lang="en-US" sz="6400" b="1" dirty="0">
                <a:solidFill>
                  <a:srgbClr val="0F172A"/>
                </a:solidFill>
                <a:latin typeface="DM Sans" pitchFamily="34" charset="0"/>
                <a:ea typeface="DM Sans" pitchFamily="34" charset="-122"/>
                <a:cs typeface="DM Sans" pitchFamily="34" charset="-120"/>
              </a:rPr>
              <a:t>~310K</a:t>
            </a:r>
            <a:endParaRPr lang="en-US" sz="6400" dirty="0"/>
          </a:p>
        </p:txBody>
      </p:sp>
      <p:sp>
        <p:nvSpPr>
          <p:cNvPr id="7" name="Text 5"/>
          <p:cNvSpPr/>
          <p:nvPr/>
        </p:nvSpPr>
        <p:spPr>
          <a:xfrm>
            <a:off x="777240" y="4206240"/>
            <a:ext cx="315468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users globally  ·  £56M/yr today</a:t>
            </a:r>
            <a:endParaRPr lang="en-US" sz="1200" dirty="0"/>
          </a:p>
        </p:txBody>
      </p:sp>
      <p:sp>
        <p:nvSpPr>
          <p:cNvPr id="8" name="Text 6"/>
          <p:cNvSpPr/>
          <p:nvPr/>
        </p:nvSpPr>
        <p:spPr>
          <a:xfrm>
            <a:off x="777240" y="470916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AI-coder ICP, blended £180 ARPU. 2027 projection: £200M+/yr.</a:t>
            </a:r>
            <a:endParaRPr lang="en-US" sz="1100" dirty="0"/>
          </a:p>
        </p:txBody>
      </p:sp>
      <p:sp>
        <p:nvSpPr>
          <p:cNvPr id="9" name="Shape 7"/>
          <p:cNvSpPr/>
          <p:nvPr/>
        </p:nvSpPr>
        <p:spPr>
          <a:xfrm>
            <a:off x="4297680" y="2011680"/>
            <a:ext cx="3611880" cy="3840480"/>
          </a:xfrm>
          <a:prstGeom prst="roundRect">
            <a:avLst>
              <a:gd name="adj" fmla="val 2025"/>
            </a:avLst>
          </a:prstGeom>
          <a:solidFill>
            <a:srgbClr val="FEF3C7"/>
          </a:solidFill>
          <a:ln w="12700">
            <a:solidFill>
              <a:srgbClr val="F59E0B"/>
            </a:solidFill>
            <a:prstDash val="solid"/>
          </a:ln>
        </p:spPr>
      </p:sp>
      <p:sp>
        <p:nvSpPr>
          <p:cNvPr id="10" name="Text 8"/>
          <p:cNvSpPr/>
          <p:nvPr/>
        </p:nvSpPr>
        <p:spPr>
          <a:xfrm>
            <a:off x="4572000" y="2286000"/>
            <a:ext cx="3154680" cy="292608"/>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SAM — serviceable</a:t>
            </a:r>
            <a:endParaRPr lang="en-US" sz="900" dirty="0"/>
          </a:p>
        </p:txBody>
      </p:sp>
      <p:sp>
        <p:nvSpPr>
          <p:cNvPr id="11" name="Text 9"/>
          <p:cNvSpPr/>
          <p:nvPr/>
        </p:nvSpPr>
        <p:spPr>
          <a:xfrm>
            <a:off x="4572000" y="2788920"/>
            <a:ext cx="3154680" cy="1280160"/>
          </a:xfrm>
          <a:prstGeom prst="rect">
            <a:avLst/>
          </a:prstGeom>
          <a:noFill/>
          <a:ln/>
        </p:spPr>
        <p:txBody>
          <a:bodyPr wrap="square" rtlCol="0" anchor="ctr"/>
          <a:lstStyle/>
          <a:p>
            <a:pPr indent="0" marL="0">
              <a:buNone/>
            </a:pPr>
            <a:r>
              <a:rPr lang="en-US" sz="6400" b="1" dirty="0">
                <a:solidFill>
                  <a:srgbClr val="0F172A"/>
                </a:solidFill>
                <a:latin typeface="DM Sans" pitchFamily="34" charset="0"/>
                <a:ea typeface="DM Sans" pitchFamily="34" charset="-122"/>
                <a:cs typeface="DM Sans" pitchFamily="34" charset="-120"/>
              </a:rPr>
              <a:t>~190K</a:t>
            </a:r>
            <a:endParaRPr lang="en-US" sz="6400" dirty="0"/>
          </a:p>
        </p:txBody>
      </p:sp>
      <p:sp>
        <p:nvSpPr>
          <p:cNvPr id="12" name="Text 10"/>
          <p:cNvSpPr/>
          <p:nvPr/>
        </p:nvSpPr>
        <p:spPr>
          <a:xfrm>
            <a:off x="4572000" y="4206240"/>
            <a:ext cx="315468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users  ·  £34M/yr → £120M/yr by 2027</a:t>
            </a:r>
            <a:endParaRPr lang="en-US" sz="1200" dirty="0"/>
          </a:p>
        </p:txBody>
      </p:sp>
      <p:sp>
        <p:nvSpPr>
          <p:cNvPr id="13" name="Text 11"/>
          <p:cNvSpPr/>
          <p:nvPr/>
        </p:nvSpPr>
        <p:spPr>
          <a:xfrm>
            <a:off x="4572000" y="470916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English-first, Paddle-eligible geo, &lt;200ms latency from Hetzner NBG1.</a:t>
            </a:r>
            <a:endParaRPr lang="en-US" sz="1100" dirty="0"/>
          </a:p>
        </p:txBody>
      </p:sp>
      <p:sp>
        <p:nvSpPr>
          <p:cNvPr id="14" name="Shape 12"/>
          <p:cNvSpPr/>
          <p:nvPr/>
        </p:nvSpPr>
        <p:spPr>
          <a:xfrm>
            <a:off x="8092440" y="2011680"/>
            <a:ext cx="3611880" cy="3840480"/>
          </a:xfrm>
          <a:prstGeom prst="roundRect">
            <a:avLst>
              <a:gd name="adj" fmla="val 2025"/>
            </a:avLst>
          </a:prstGeom>
          <a:solidFill>
            <a:srgbClr val="ECFDF5"/>
          </a:solidFill>
          <a:ln w="12700">
            <a:solidFill>
              <a:srgbClr val="10B981"/>
            </a:solidFill>
            <a:prstDash val="solid"/>
          </a:ln>
        </p:spPr>
      </p:sp>
      <p:sp>
        <p:nvSpPr>
          <p:cNvPr id="15" name="Text 13"/>
          <p:cNvSpPr/>
          <p:nvPr/>
        </p:nvSpPr>
        <p:spPr>
          <a:xfrm>
            <a:off x="8366760" y="2286000"/>
            <a:ext cx="3154680" cy="292608"/>
          </a:xfrm>
          <a:prstGeom prst="rect">
            <a:avLst/>
          </a:prstGeom>
          <a:noFill/>
          <a:ln/>
        </p:spPr>
        <p:txBody>
          <a:bodyPr wrap="square" rtlCol="0" anchor="ctr"/>
          <a:lstStyle/>
          <a:p>
            <a:pPr indent="0" marL="0">
              <a:buNone/>
            </a:pPr>
            <a:r>
              <a:rPr lang="en-US" sz="900" b="1" spc="400" kern="0" dirty="0">
                <a:solidFill>
                  <a:srgbClr val="10B981"/>
                </a:solidFill>
                <a:latin typeface="JetBrains Mono" pitchFamily="34" charset="0"/>
                <a:ea typeface="JetBrains Mono" pitchFamily="34" charset="-122"/>
                <a:cs typeface="JetBrains Mono" pitchFamily="34" charset="-120"/>
              </a:rPr>
              <a:t>SOM — 12-18 month sprint</a:t>
            </a:r>
            <a:endParaRPr lang="en-US" sz="900" dirty="0"/>
          </a:p>
        </p:txBody>
      </p:sp>
      <p:sp>
        <p:nvSpPr>
          <p:cNvPr id="16" name="Text 14"/>
          <p:cNvSpPr/>
          <p:nvPr/>
        </p:nvSpPr>
        <p:spPr>
          <a:xfrm>
            <a:off x="8366760" y="2788920"/>
            <a:ext cx="3154680" cy="1280160"/>
          </a:xfrm>
          <a:prstGeom prst="rect">
            <a:avLst/>
          </a:prstGeom>
          <a:noFill/>
          <a:ln/>
        </p:spPr>
        <p:txBody>
          <a:bodyPr wrap="square" rtlCol="0" anchor="ctr"/>
          <a:lstStyle/>
          <a:p>
            <a:pPr indent="0" marL="0">
              <a:buNone/>
            </a:pPr>
            <a:r>
              <a:rPr lang="en-US" sz="6400" b="1" dirty="0">
                <a:solidFill>
                  <a:srgbClr val="0F172A"/>
                </a:solidFill>
                <a:latin typeface="DM Sans" pitchFamily="34" charset="0"/>
                <a:ea typeface="DM Sans" pitchFamily="34" charset="-122"/>
                <a:cs typeface="DM Sans" pitchFamily="34" charset="-120"/>
              </a:rPr>
              <a:t>5–15K</a:t>
            </a:r>
            <a:endParaRPr lang="en-US" sz="6400" dirty="0"/>
          </a:p>
        </p:txBody>
      </p:sp>
      <p:sp>
        <p:nvSpPr>
          <p:cNvPr id="17" name="Text 15"/>
          <p:cNvSpPr/>
          <p:nvPr/>
        </p:nvSpPr>
        <p:spPr>
          <a:xfrm>
            <a:off x="8366760" y="4206240"/>
            <a:ext cx="315468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paying customers by month 18</a:t>
            </a:r>
            <a:endParaRPr lang="en-US" sz="1200" dirty="0"/>
          </a:p>
        </p:txBody>
      </p:sp>
      <p:sp>
        <p:nvSpPr>
          <p:cNvPr id="18" name="Text 16"/>
          <p:cNvSpPr/>
          <p:nvPr/>
        </p:nvSpPr>
        <p:spPr>
          <a:xfrm>
            <a:off x="8366760" y="470916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Sprint base: ~5K paying by month 12. Sprint upside: ~15K paying by month 18.</a:t>
            </a:r>
            <a:endParaRPr lang="en-US" sz="1100" dirty="0"/>
          </a:p>
        </p:txBody>
      </p:sp>
      <p:sp>
        <p:nvSpPr>
          <p:cNvPr id="19" name="Text 17"/>
          <p:cNvSpPr/>
          <p:nvPr/>
        </p:nvSpPr>
        <p:spPr>
          <a:xfrm>
            <a:off x="502920" y="5989320"/>
            <a:ext cx="10972800" cy="182880"/>
          </a:xfrm>
          <a:prstGeom prst="rect">
            <a:avLst/>
          </a:prstGeom>
          <a:noFill/>
          <a:ln/>
        </p:spPr>
        <p:txBody>
          <a:bodyPr wrap="square" rtlCol="0" anchor="ctr"/>
          <a:lstStyle/>
          <a:p>
            <a:pPr indent="0" marL="0">
              <a:buNone/>
            </a:pPr>
            <a:r>
              <a:rPr lang="en-US" sz="900" i="1" dirty="0">
                <a:solidFill>
                  <a:srgbClr val="64748B"/>
                </a:solidFill>
                <a:latin typeface="DM Sans" pitchFamily="34" charset="0"/>
                <a:ea typeface="DM Sans" pitchFamily="34" charset="-122"/>
                <a:cs typeface="DM Sans" pitchFamily="34" charset="-120"/>
              </a:rPr>
              <a:t>SOM at acquisition is a different number than SOM at steady-state — see slide 17 landing zones.</a:t>
            </a:r>
            <a:endParaRPr lang="en-US" sz="900" dirty="0"/>
          </a:p>
        </p:txBody>
      </p:sp>
      <p:sp>
        <p:nvSpPr>
          <p:cNvPr id="20" name="Text 18"/>
          <p:cNvSpPr/>
          <p:nvPr/>
        </p:nvSpPr>
        <p:spPr>
          <a:xfrm>
            <a:off x="502920" y="6199632"/>
            <a:ext cx="10972800" cy="18288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Sources: TAM/SAM from MARKETING_PLAN §2-3. Sprint scenarios anchored on Cursor / Lovable / Bolt curves.</a:t>
            </a:r>
            <a:endParaRPr lang="en-US" sz="800" dirty="0"/>
          </a:p>
        </p:txBody>
      </p:sp>
      <p:sp>
        <p:nvSpPr>
          <p:cNvPr id="21" name="Text 19"/>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2" name="Text 20"/>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09  ·  CUSTOMER PROFILE</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Three faces of the vibe-coder. One reason to pay.</a:t>
            </a:r>
            <a:endParaRPr lang="en-US" sz="3000" dirty="0"/>
          </a:p>
        </p:txBody>
      </p:sp>
      <p:sp>
        <p:nvSpPr>
          <p:cNvPr id="4" name="Text 2"/>
          <p:cNvSpPr/>
          <p:nvPr/>
        </p:nvSpPr>
        <p:spPr>
          <a:xfrm>
            <a:off x="502920" y="1417320"/>
            <a:ext cx="11155680" cy="68580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Knowledge workers with salaries, side projects, and an infrastructure problem. £60K–$180K income band, already £100+/mo on AI tools, time-poor vs money-rich.</a:t>
            </a:r>
            <a:endParaRPr lang="en-US" sz="1400" dirty="0"/>
          </a:p>
        </p:txBody>
      </p:sp>
      <p:sp>
        <p:nvSpPr>
          <p:cNvPr id="5" name="Shape 3"/>
          <p:cNvSpPr/>
          <p:nvPr/>
        </p:nvSpPr>
        <p:spPr>
          <a:xfrm>
            <a:off x="502920" y="2148840"/>
            <a:ext cx="2651760" cy="731520"/>
          </a:xfrm>
          <a:prstGeom prst="roundRect">
            <a:avLst>
              <a:gd name="adj" fmla="val 10000"/>
            </a:avLst>
          </a:prstGeom>
          <a:solidFill>
            <a:srgbClr val="FFFFFF"/>
          </a:solidFill>
          <a:ln w="9525">
            <a:solidFill>
              <a:srgbClr val="E2E8F0"/>
            </a:solidFill>
            <a:prstDash val="solid"/>
          </a:ln>
        </p:spPr>
      </p:sp>
      <p:sp>
        <p:nvSpPr>
          <p:cNvPr id="6" name="Shape 4"/>
          <p:cNvSpPr/>
          <p:nvPr/>
        </p:nvSpPr>
        <p:spPr>
          <a:xfrm>
            <a:off x="502920" y="2148840"/>
            <a:ext cx="2651760" cy="54864"/>
          </a:xfrm>
          <a:prstGeom prst="rect">
            <a:avLst/>
          </a:prstGeom>
          <a:solidFill>
            <a:srgbClr val="4F46E5"/>
          </a:solidFill>
          <a:ln w="12700">
            <a:solidFill>
              <a:srgbClr val="4F46E5"/>
            </a:solidFill>
            <a:prstDash val="solid"/>
          </a:ln>
        </p:spPr>
      </p:sp>
      <p:sp>
        <p:nvSpPr>
          <p:cNvPr id="7" name="Text 5"/>
          <p:cNvSpPr/>
          <p:nvPr/>
        </p:nvSpPr>
        <p:spPr>
          <a:xfrm>
            <a:off x="667512" y="2258568"/>
            <a:ext cx="1188720" cy="457200"/>
          </a:xfrm>
          <a:prstGeom prst="rect">
            <a:avLst/>
          </a:prstGeom>
          <a:noFill/>
          <a:ln/>
        </p:spPr>
        <p:txBody>
          <a:bodyPr wrap="square" rtlCol="0" anchor="ctr"/>
          <a:lstStyle/>
          <a:p>
            <a:pPr indent="0" marL="0">
              <a:buNone/>
            </a:pPr>
            <a:r>
              <a:rPr lang="en-US" sz="2200" b="1" dirty="0">
                <a:solidFill>
                  <a:srgbClr val="3730A3"/>
                </a:solidFill>
                <a:latin typeface="DM Sans" pitchFamily="34" charset="0"/>
                <a:ea typeface="DM Sans" pitchFamily="34" charset="-122"/>
                <a:cs typeface="DM Sans" pitchFamily="34" charset="-120"/>
              </a:rPr>
              <a:t>40%</a:t>
            </a:r>
            <a:endParaRPr lang="en-US" sz="2200" dirty="0"/>
          </a:p>
        </p:txBody>
      </p:sp>
      <p:sp>
        <p:nvSpPr>
          <p:cNvPr id="8" name="Text 6"/>
          <p:cNvSpPr/>
          <p:nvPr/>
        </p:nvSpPr>
        <p:spPr>
          <a:xfrm>
            <a:off x="1874520" y="2276856"/>
            <a:ext cx="1143000" cy="256032"/>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UK adults side-hustle</a:t>
            </a:r>
            <a:endParaRPr lang="en-US" sz="1000" dirty="0"/>
          </a:p>
        </p:txBody>
      </p:sp>
      <p:sp>
        <p:nvSpPr>
          <p:cNvPr id="9" name="Text 7"/>
          <p:cNvSpPr/>
          <p:nvPr/>
        </p:nvSpPr>
        <p:spPr>
          <a:xfrm>
            <a:off x="1874520" y="2532888"/>
            <a:ext cx="1143000" cy="22860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Henley 2023</a:t>
            </a:r>
            <a:endParaRPr lang="en-US" sz="800" dirty="0"/>
          </a:p>
        </p:txBody>
      </p:sp>
      <p:sp>
        <p:nvSpPr>
          <p:cNvPr id="10" name="Shape 8"/>
          <p:cNvSpPr/>
          <p:nvPr/>
        </p:nvSpPr>
        <p:spPr>
          <a:xfrm>
            <a:off x="3337560" y="2148840"/>
            <a:ext cx="2651760" cy="731520"/>
          </a:xfrm>
          <a:prstGeom prst="roundRect">
            <a:avLst>
              <a:gd name="adj" fmla="val 10000"/>
            </a:avLst>
          </a:prstGeom>
          <a:solidFill>
            <a:srgbClr val="FFFFFF"/>
          </a:solidFill>
          <a:ln w="9525">
            <a:solidFill>
              <a:srgbClr val="E2E8F0"/>
            </a:solidFill>
            <a:prstDash val="solid"/>
          </a:ln>
        </p:spPr>
      </p:sp>
      <p:sp>
        <p:nvSpPr>
          <p:cNvPr id="11" name="Shape 9"/>
          <p:cNvSpPr/>
          <p:nvPr/>
        </p:nvSpPr>
        <p:spPr>
          <a:xfrm>
            <a:off x="3337560" y="2148840"/>
            <a:ext cx="2651760" cy="54864"/>
          </a:xfrm>
          <a:prstGeom prst="rect">
            <a:avLst/>
          </a:prstGeom>
          <a:solidFill>
            <a:srgbClr val="F59E0B"/>
          </a:solidFill>
          <a:ln w="12700">
            <a:solidFill>
              <a:srgbClr val="F59E0B"/>
            </a:solidFill>
            <a:prstDash val="solid"/>
          </a:ln>
        </p:spPr>
      </p:sp>
      <p:sp>
        <p:nvSpPr>
          <p:cNvPr id="12" name="Text 10"/>
          <p:cNvSpPr/>
          <p:nvPr/>
        </p:nvSpPr>
        <p:spPr>
          <a:xfrm>
            <a:off x="3502152" y="2258568"/>
            <a:ext cx="1188720" cy="457200"/>
          </a:xfrm>
          <a:prstGeom prst="rect">
            <a:avLst/>
          </a:prstGeom>
          <a:noFill/>
          <a:ln/>
        </p:spPr>
        <p:txBody>
          <a:bodyPr wrap="square" rtlCol="0" anchor="ctr"/>
          <a:lstStyle/>
          <a:p>
            <a:pPr indent="0" marL="0">
              <a:buNone/>
            </a:pPr>
            <a:r>
              <a:rPr lang="en-US" sz="2200" b="1" dirty="0">
                <a:solidFill>
                  <a:srgbClr val="B45309"/>
                </a:solidFill>
                <a:latin typeface="DM Sans" pitchFamily="34" charset="0"/>
                <a:ea typeface="DM Sans" pitchFamily="34" charset="-122"/>
                <a:cs typeface="DM Sans" pitchFamily="34" charset="-120"/>
              </a:rPr>
              <a:t>3M+</a:t>
            </a:r>
            <a:endParaRPr lang="en-US" sz="2200" dirty="0"/>
          </a:p>
        </p:txBody>
      </p:sp>
      <p:sp>
        <p:nvSpPr>
          <p:cNvPr id="13" name="Text 11"/>
          <p:cNvSpPr/>
          <p:nvPr/>
        </p:nvSpPr>
        <p:spPr>
          <a:xfrm>
            <a:off x="4709160" y="2276856"/>
            <a:ext cx="1143000" cy="256032"/>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paid AI-coder seats</a:t>
            </a:r>
            <a:endParaRPr lang="en-US" sz="1000" dirty="0"/>
          </a:p>
        </p:txBody>
      </p:sp>
      <p:sp>
        <p:nvSpPr>
          <p:cNvPr id="14" name="Text 12"/>
          <p:cNvSpPr/>
          <p:nvPr/>
        </p:nvSpPr>
        <p:spPr>
          <a:xfrm>
            <a:off x="4709160" y="2532888"/>
            <a:ext cx="1143000" cy="22860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Cursor / Lovable / Bolt</a:t>
            </a:r>
            <a:endParaRPr lang="en-US" sz="800" dirty="0"/>
          </a:p>
        </p:txBody>
      </p:sp>
      <p:sp>
        <p:nvSpPr>
          <p:cNvPr id="15" name="Shape 13"/>
          <p:cNvSpPr/>
          <p:nvPr/>
        </p:nvSpPr>
        <p:spPr>
          <a:xfrm>
            <a:off x="6172200" y="2148840"/>
            <a:ext cx="2651760" cy="731520"/>
          </a:xfrm>
          <a:prstGeom prst="roundRect">
            <a:avLst>
              <a:gd name="adj" fmla="val 10000"/>
            </a:avLst>
          </a:prstGeom>
          <a:solidFill>
            <a:srgbClr val="FFFFFF"/>
          </a:solidFill>
          <a:ln w="9525">
            <a:solidFill>
              <a:srgbClr val="E2E8F0"/>
            </a:solidFill>
            <a:prstDash val="solid"/>
          </a:ln>
        </p:spPr>
      </p:sp>
      <p:sp>
        <p:nvSpPr>
          <p:cNvPr id="16" name="Shape 14"/>
          <p:cNvSpPr/>
          <p:nvPr/>
        </p:nvSpPr>
        <p:spPr>
          <a:xfrm>
            <a:off x="6172200" y="2148840"/>
            <a:ext cx="2651760" cy="54864"/>
          </a:xfrm>
          <a:prstGeom prst="rect">
            <a:avLst/>
          </a:prstGeom>
          <a:solidFill>
            <a:srgbClr val="4F46E5"/>
          </a:solidFill>
          <a:ln w="12700">
            <a:solidFill>
              <a:srgbClr val="4F46E5"/>
            </a:solidFill>
            <a:prstDash val="solid"/>
          </a:ln>
        </p:spPr>
      </p:sp>
      <p:sp>
        <p:nvSpPr>
          <p:cNvPr id="17" name="Text 15"/>
          <p:cNvSpPr/>
          <p:nvPr/>
        </p:nvSpPr>
        <p:spPr>
          <a:xfrm>
            <a:off x="6336792" y="2258568"/>
            <a:ext cx="1188720" cy="457200"/>
          </a:xfrm>
          <a:prstGeom prst="rect">
            <a:avLst/>
          </a:prstGeom>
          <a:noFill/>
          <a:ln/>
        </p:spPr>
        <p:txBody>
          <a:bodyPr wrap="square" rtlCol="0" anchor="ctr"/>
          <a:lstStyle/>
          <a:p>
            <a:pPr indent="0" marL="0">
              <a:buNone/>
            </a:pPr>
            <a:r>
              <a:rPr lang="en-US" sz="2200" b="1" dirty="0">
                <a:solidFill>
                  <a:srgbClr val="3730A3"/>
                </a:solidFill>
                <a:latin typeface="DM Sans" pitchFamily="34" charset="0"/>
                <a:ea typeface="DM Sans" pitchFamily="34" charset="-122"/>
                <a:cs typeface="DM Sans" pitchFamily="34" charset="-120"/>
              </a:rPr>
              <a:t>£100+</a:t>
            </a:r>
            <a:endParaRPr lang="en-US" sz="2200" dirty="0"/>
          </a:p>
        </p:txBody>
      </p:sp>
      <p:sp>
        <p:nvSpPr>
          <p:cNvPr id="18" name="Text 16"/>
          <p:cNvSpPr/>
          <p:nvPr/>
        </p:nvSpPr>
        <p:spPr>
          <a:xfrm>
            <a:off x="7543800" y="2276856"/>
            <a:ext cx="1143000" cy="256032"/>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/mo on AI tools</a:t>
            </a:r>
            <a:endParaRPr lang="en-US" sz="1000" dirty="0"/>
          </a:p>
        </p:txBody>
      </p:sp>
      <p:sp>
        <p:nvSpPr>
          <p:cNvPr id="19" name="Text 17"/>
          <p:cNvSpPr/>
          <p:nvPr/>
        </p:nvSpPr>
        <p:spPr>
          <a:xfrm>
            <a:off x="7543800" y="2532888"/>
            <a:ext cx="1143000" cy="22860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Cursor + Anthropic + IDE</a:t>
            </a:r>
            <a:endParaRPr lang="en-US" sz="800" dirty="0"/>
          </a:p>
        </p:txBody>
      </p:sp>
      <p:sp>
        <p:nvSpPr>
          <p:cNvPr id="20" name="Shape 18"/>
          <p:cNvSpPr/>
          <p:nvPr/>
        </p:nvSpPr>
        <p:spPr>
          <a:xfrm>
            <a:off x="9006840" y="2148840"/>
            <a:ext cx="2651760" cy="731520"/>
          </a:xfrm>
          <a:prstGeom prst="roundRect">
            <a:avLst>
              <a:gd name="adj" fmla="val 10000"/>
            </a:avLst>
          </a:prstGeom>
          <a:solidFill>
            <a:srgbClr val="FFFFFF"/>
          </a:solidFill>
          <a:ln w="9525">
            <a:solidFill>
              <a:srgbClr val="E2E8F0"/>
            </a:solidFill>
            <a:prstDash val="solid"/>
          </a:ln>
        </p:spPr>
      </p:sp>
      <p:sp>
        <p:nvSpPr>
          <p:cNvPr id="21" name="Shape 19"/>
          <p:cNvSpPr/>
          <p:nvPr/>
        </p:nvSpPr>
        <p:spPr>
          <a:xfrm>
            <a:off x="9006840" y="2148840"/>
            <a:ext cx="2651760" cy="54864"/>
          </a:xfrm>
          <a:prstGeom prst="rect">
            <a:avLst/>
          </a:prstGeom>
          <a:solidFill>
            <a:srgbClr val="F59E0B"/>
          </a:solidFill>
          <a:ln w="12700">
            <a:solidFill>
              <a:srgbClr val="F59E0B"/>
            </a:solidFill>
            <a:prstDash val="solid"/>
          </a:ln>
        </p:spPr>
      </p:sp>
      <p:sp>
        <p:nvSpPr>
          <p:cNvPr id="22" name="Text 20"/>
          <p:cNvSpPr/>
          <p:nvPr/>
        </p:nvSpPr>
        <p:spPr>
          <a:xfrm>
            <a:off x="9171432" y="2258568"/>
            <a:ext cx="1188720" cy="457200"/>
          </a:xfrm>
          <a:prstGeom prst="rect">
            <a:avLst/>
          </a:prstGeom>
          <a:noFill/>
          <a:ln/>
        </p:spPr>
        <p:txBody>
          <a:bodyPr wrap="square" rtlCol="0" anchor="ctr"/>
          <a:lstStyle/>
          <a:p>
            <a:pPr indent="0" marL="0">
              <a:buNone/>
            </a:pPr>
            <a:r>
              <a:rPr lang="en-US" sz="2200" b="1" dirty="0">
                <a:solidFill>
                  <a:srgbClr val="B45309"/>
                </a:solidFill>
                <a:latin typeface="DM Sans" pitchFamily="34" charset="0"/>
                <a:ea typeface="DM Sans" pitchFamily="34" charset="-122"/>
                <a:cs typeface="DM Sans" pitchFamily="34" charset="-120"/>
              </a:rPr>
              <a:t>50+ hrs</a:t>
            </a:r>
            <a:endParaRPr lang="en-US" sz="2200" dirty="0"/>
          </a:p>
        </p:txBody>
      </p:sp>
      <p:sp>
        <p:nvSpPr>
          <p:cNvPr id="23" name="Text 21"/>
          <p:cNvSpPr/>
          <p:nvPr/>
        </p:nvSpPr>
        <p:spPr>
          <a:xfrm>
            <a:off x="10378440" y="2276856"/>
            <a:ext cx="1143000" cy="256032"/>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to DIY infra</a:t>
            </a:r>
            <a:endParaRPr lang="en-US" sz="1000" dirty="0"/>
          </a:p>
        </p:txBody>
      </p:sp>
      <p:sp>
        <p:nvSpPr>
          <p:cNvPr id="24" name="Text 22"/>
          <p:cNvSpPr/>
          <p:nvPr/>
        </p:nvSpPr>
        <p:spPr>
          <a:xfrm>
            <a:off x="10378440" y="2532888"/>
            <a:ext cx="1143000" cy="22860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indie-hacker reports</a:t>
            </a:r>
            <a:endParaRPr lang="en-US" sz="800" dirty="0"/>
          </a:p>
        </p:txBody>
      </p:sp>
      <p:sp>
        <p:nvSpPr>
          <p:cNvPr id="25" name="Shape 23"/>
          <p:cNvSpPr/>
          <p:nvPr/>
        </p:nvSpPr>
        <p:spPr>
          <a:xfrm>
            <a:off x="502920" y="2971800"/>
            <a:ext cx="3611880" cy="3246120"/>
          </a:xfrm>
          <a:prstGeom prst="roundRect">
            <a:avLst>
              <a:gd name="adj" fmla="val 2254"/>
            </a:avLst>
          </a:prstGeom>
          <a:solidFill>
            <a:srgbClr val="FFFFFF"/>
          </a:solidFill>
          <a:ln w="9525">
            <a:solidFill>
              <a:srgbClr val="E2E8F0"/>
            </a:solidFill>
            <a:prstDash val="solid"/>
          </a:ln>
        </p:spPr>
      </p:sp>
      <p:sp>
        <p:nvSpPr>
          <p:cNvPr id="26" name="Shape 24"/>
          <p:cNvSpPr/>
          <p:nvPr/>
        </p:nvSpPr>
        <p:spPr>
          <a:xfrm>
            <a:off x="502920" y="2971800"/>
            <a:ext cx="3611880" cy="54864"/>
          </a:xfrm>
          <a:prstGeom prst="rect">
            <a:avLst/>
          </a:prstGeom>
          <a:solidFill>
            <a:srgbClr val="4F46E5"/>
          </a:solidFill>
          <a:ln w="12700">
            <a:solidFill>
              <a:srgbClr val="4F46E5"/>
            </a:solidFill>
            <a:prstDash val="solid"/>
          </a:ln>
        </p:spPr>
      </p:sp>
      <p:sp>
        <p:nvSpPr>
          <p:cNvPr id="27" name="Shape 25"/>
          <p:cNvSpPr/>
          <p:nvPr/>
        </p:nvSpPr>
        <p:spPr>
          <a:xfrm>
            <a:off x="731520" y="3154680"/>
            <a:ext cx="2148840" cy="256032"/>
          </a:xfrm>
          <a:prstGeom prst="roundRect">
            <a:avLst>
              <a:gd name="adj" fmla="val 14286"/>
            </a:avLst>
          </a:prstGeom>
          <a:solidFill>
            <a:srgbClr val="EEF2FF"/>
          </a:solidFill>
          <a:ln w="6350">
            <a:solidFill>
              <a:srgbClr val="4F46E5"/>
            </a:solidFill>
            <a:prstDash val="solid"/>
          </a:ln>
        </p:spPr>
      </p:sp>
      <p:sp>
        <p:nvSpPr>
          <p:cNvPr id="28" name="Text 26"/>
          <p:cNvSpPr/>
          <p:nvPr/>
        </p:nvSpPr>
        <p:spPr>
          <a:xfrm>
            <a:off x="777240" y="3154680"/>
            <a:ext cx="2057400" cy="256032"/>
          </a:xfrm>
          <a:prstGeom prst="rect">
            <a:avLst/>
          </a:prstGeom>
          <a:noFill/>
          <a:ln/>
        </p:spPr>
        <p:txBody>
          <a:bodyPr wrap="square" rtlCol="0" anchor="ctr"/>
          <a:lstStyle/>
          <a:p>
            <a:pPr indent="0" marL="0">
              <a:buNone/>
            </a:pPr>
            <a:r>
              <a:rPr lang="en-US" sz="750" b="1" spc="200" kern="0" dirty="0">
                <a:solidFill>
                  <a:srgbClr val="3730A3"/>
                </a:solidFill>
                <a:latin typeface="JetBrains Mono" pitchFamily="34" charset="0"/>
                <a:ea typeface="JetBrains Mono" pitchFamily="34" charset="-122"/>
                <a:cs typeface="JetBrains Mono" pitchFamily="34" charset="-120"/>
              </a:rPr>
              <a:t>🇬🇧  UK  ·  DESIGNER</a:t>
            </a:r>
            <a:endParaRPr lang="en-US" sz="750" dirty="0"/>
          </a:p>
        </p:txBody>
      </p:sp>
      <p:sp>
        <p:nvSpPr>
          <p:cNvPr id="29" name="Text 27"/>
          <p:cNvSpPr/>
          <p:nvPr/>
        </p:nvSpPr>
        <p:spPr>
          <a:xfrm>
            <a:off x="731520" y="3502152"/>
            <a:ext cx="3246120" cy="457200"/>
          </a:xfrm>
          <a:prstGeom prst="rect">
            <a:avLst/>
          </a:prstGeom>
          <a:noFill/>
          <a:ln/>
        </p:spPr>
        <p:txBody>
          <a:bodyPr wrap="square" rtlCol="0" anchor="ctr"/>
          <a:lstStyle/>
          <a:p>
            <a:pPr indent="0" marL="0">
              <a:buNone/>
            </a:pPr>
            <a:r>
              <a:rPr lang="en-US" sz="2000" b="1" dirty="0">
                <a:solidFill>
                  <a:srgbClr val="0F172A"/>
                </a:solidFill>
                <a:latin typeface="DM Sans" pitchFamily="34" charset="0"/>
                <a:ea typeface="DM Sans" pitchFamily="34" charset="-122"/>
                <a:cs typeface="DM Sans" pitchFamily="34" charset="-120"/>
              </a:rPr>
              <a:t>Maya, 34</a:t>
            </a:r>
            <a:endParaRPr lang="en-US" sz="2000" dirty="0"/>
          </a:p>
        </p:txBody>
      </p:sp>
      <p:sp>
        <p:nvSpPr>
          <p:cNvPr id="30" name="Text 28"/>
          <p:cNvSpPr/>
          <p:nvPr/>
        </p:nvSpPr>
        <p:spPr>
          <a:xfrm>
            <a:off x="731520" y="3931920"/>
            <a:ext cx="3246120" cy="256032"/>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Senior Brand Designer · London</a:t>
            </a:r>
            <a:endParaRPr lang="en-US" sz="950" dirty="0"/>
          </a:p>
        </p:txBody>
      </p:sp>
      <p:sp>
        <p:nvSpPr>
          <p:cNvPr id="31" name="Text 29"/>
          <p:cNvSpPr/>
          <p:nvPr/>
        </p:nvSpPr>
        <p:spPr>
          <a:xfrm>
            <a:off x="731520" y="4160520"/>
            <a:ext cx="3246120" cy="256032"/>
          </a:xfrm>
          <a:prstGeom prst="rect">
            <a:avLst/>
          </a:prstGeom>
          <a:noFill/>
          <a:ln/>
        </p:spPr>
        <p:txBody>
          <a:bodyPr wrap="square" rtlCol="0" anchor="ctr"/>
          <a:lstStyle/>
          <a:p>
            <a:pPr indent="0" marL="0">
              <a:buNone/>
            </a:pPr>
            <a:r>
              <a:rPr lang="en-US" sz="950" b="1" dirty="0">
                <a:solidFill>
                  <a:srgbClr val="1E293B"/>
                </a:solidFill>
                <a:latin typeface="DM Sans" pitchFamily="34" charset="0"/>
                <a:ea typeface="DM Sans" pitchFamily="34" charset="-122"/>
                <a:cs typeface="DM Sans" pitchFamily="34" charset="-120"/>
              </a:rPr>
              <a:t>£85K salary + £15K freelance</a:t>
            </a:r>
            <a:endParaRPr lang="en-US" sz="950" dirty="0"/>
          </a:p>
        </p:txBody>
      </p:sp>
      <p:sp>
        <p:nvSpPr>
          <p:cNvPr id="32" name="Shape 30"/>
          <p:cNvSpPr/>
          <p:nvPr/>
        </p:nvSpPr>
        <p:spPr>
          <a:xfrm>
            <a:off x="731520" y="4480560"/>
            <a:ext cx="3154680" cy="9144"/>
          </a:xfrm>
          <a:prstGeom prst="rect">
            <a:avLst/>
          </a:prstGeom>
          <a:solidFill>
            <a:srgbClr val="E2E8F0"/>
          </a:solidFill>
          <a:ln w="12700">
            <a:solidFill>
              <a:srgbClr val="333333"/>
            </a:solidFill>
            <a:prstDash val="solid"/>
          </a:ln>
        </p:spPr>
      </p:sp>
      <p:sp>
        <p:nvSpPr>
          <p:cNvPr id="33" name="Text 31"/>
          <p:cNvSpPr/>
          <p:nvPr/>
        </p:nvSpPr>
        <p:spPr>
          <a:xfrm>
            <a:off x="731520" y="454456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Tools</a:t>
            </a:r>
            <a:endParaRPr lang="en-US" sz="750" dirty="0"/>
          </a:p>
        </p:txBody>
      </p:sp>
      <p:sp>
        <p:nvSpPr>
          <p:cNvPr id="34" name="Text 32"/>
          <p:cNvSpPr/>
          <p:nvPr/>
        </p:nvSpPr>
        <p:spPr>
          <a:xfrm>
            <a:off x="731520" y="469087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Notion · Figma · Cursor · Claude · GitHub</a:t>
            </a:r>
            <a:endParaRPr lang="en-US" sz="900" dirty="0"/>
          </a:p>
        </p:txBody>
      </p:sp>
      <p:sp>
        <p:nvSpPr>
          <p:cNvPr id="35" name="Text 33"/>
          <p:cNvSpPr/>
          <p:nvPr/>
        </p:nvSpPr>
        <p:spPr>
          <a:xfrm>
            <a:off x="731520" y="491032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Idea</a:t>
            </a:r>
            <a:endParaRPr lang="en-US" sz="750" dirty="0"/>
          </a:p>
        </p:txBody>
      </p:sp>
      <p:sp>
        <p:nvSpPr>
          <p:cNvPr id="36" name="Text 34"/>
          <p:cNvSpPr/>
          <p:nvPr/>
        </p:nvSpPr>
        <p:spPr>
          <a:xfrm>
            <a:off x="731520" y="505663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Meal-prep app for personal trainers (brother is a PT)</a:t>
            </a:r>
            <a:endParaRPr lang="en-US" sz="900" dirty="0"/>
          </a:p>
        </p:txBody>
      </p:sp>
      <p:sp>
        <p:nvSpPr>
          <p:cNvPr id="37" name="Text 35"/>
          <p:cNvSpPr/>
          <p:nvPr/>
        </p:nvSpPr>
        <p:spPr>
          <a:xfrm>
            <a:off x="731520" y="527608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Pain</a:t>
            </a:r>
            <a:endParaRPr lang="en-US" sz="750" dirty="0"/>
          </a:p>
        </p:txBody>
      </p:sp>
      <p:sp>
        <p:nvSpPr>
          <p:cNvPr id="38" name="Text 36"/>
          <p:cNvSpPr/>
          <p:nvPr/>
        </p:nvSpPr>
        <p:spPr>
          <a:xfrm>
            <a:off x="731520" y="542239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Auth, Stripe, mail, mobile builds — none stitched</a:t>
            </a:r>
            <a:endParaRPr lang="en-US" sz="900" dirty="0"/>
          </a:p>
        </p:txBody>
      </p:sp>
      <p:sp>
        <p:nvSpPr>
          <p:cNvPr id="39" name="Shape 37"/>
          <p:cNvSpPr/>
          <p:nvPr/>
        </p:nvSpPr>
        <p:spPr>
          <a:xfrm>
            <a:off x="685800" y="5760720"/>
            <a:ext cx="3246120" cy="329184"/>
          </a:xfrm>
          <a:prstGeom prst="roundRect">
            <a:avLst>
              <a:gd name="adj" fmla="val 11111"/>
            </a:avLst>
          </a:prstGeom>
          <a:solidFill>
            <a:srgbClr val="EEF2FF"/>
          </a:solidFill>
          <a:ln w="9525">
            <a:solidFill>
              <a:srgbClr val="4F46E5"/>
            </a:solidFill>
            <a:prstDash val="solid"/>
          </a:ln>
        </p:spPr>
      </p:sp>
      <p:sp>
        <p:nvSpPr>
          <p:cNvPr id="40" name="Text 38"/>
          <p:cNvSpPr/>
          <p:nvPr/>
        </p:nvSpPr>
        <p:spPr>
          <a:xfrm>
            <a:off x="777240" y="5760720"/>
            <a:ext cx="3063240" cy="329184"/>
          </a:xfrm>
          <a:prstGeom prst="rect">
            <a:avLst/>
          </a:prstGeom>
          <a:noFill/>
          <a:ln/>
        </p:spPr>
        <p:txBody>
          <a:bodyPr wrap="square" rtlCol="0" anchor="ctr"/>
          <a:lstStyle/>
          <a:p>
            <a:pPr algn="ctr" indent="0" marL="0">
              <a:buNone/>
            </a:pPr>
            <a:r>
              <a:rPr lang="en-US" sz="950" b="1" i="1" dirty="0">
                <a:solidFill>
                  <a:srgbClr val="3730A3"/>
                </a:solidFill>
                <a:latin typeface="DM Sans" pitchFamily="34" charset="0"/>
                <a:ea typeface="DM Sans" pitchFamily="34" charset="-122"/>
                <a:cs typeface="DM Sans" pitchFamily="34" charset="-120"/>
              </a:rPr>
              <a:t>"I want a real product, not a Lovable demo."</a:t>
            </a:r>
            <a:endParaRPr lang="en-US" sz="950" dirty="0"/>
          </a:p>
        </p:txBody>
      </p:sp>
      <p:sp>
        <p:nvSpPr>
          <p:cNvPr id="41" name="Shape 39"/>
          <p:cNvSpPr/>
          <p:nvPr/>
        </p:nvSpPr>
        <p:spPr>
          <a:xfrm>
            <a:off x="4297680" y="2971800"/>
            <a:ext cx="3611880" cy="3246120"/>
          </a:xfrm>
          <a:prstGeom prst="roundRect">
            <a:avLst>
              <a:gd name="adj" fmla="val 2254"/>
            </a:avLst>
          </a:prstGeom>
          <a:solidFill>
            <a:srgbClr val="FFFFFF"/>
          </a:solidFill>
          <a:ln w="9525">
            <a:solidFill>
              <a:srgbClr val="E2E8F0"/>
            </a:solidFill>
            <a:prstDash val="solid"/>
          </a:ln>
        </p:spPr>
      </p:sp>
      <p:sp>
        <p:nvSpPr>
          <p:cNvPr id="42" name="Shape 40"/>
          <p:cNvSpPr/>
          <p:nvPr/>
        </p:nvSpPr>
        <p:spPr>
          <a:xfrm>
            <a:off x="4297680" y="2971800"/>
            <a:ext cx="3611880" cy="54864"/>
          </a:xfrm>
          <a:prstGeom prst="rect">
            <a:avLst/>
          </a:prstGeom>
          <a:solidFill>
            <a:srgbClr val="F59E0B"/>
          </a:solidFill>
          <a:ln w="12700">
            <a:solidFill>
              <a:srgbClr val="F59E0B"/>
            </a:solidFill>
            <a:prstDash val="solid"/>
          </a:ln>
        </p:spPr>
      </p:sp>
      <p:sp>
        <p:nvSpPr>
          <p:cNvPr id="43" name="Shape 41"/>
          <p:cNvSpPr/>
          <p:nvPr/>
        </p:nvSpPr>
        <p:spPr>
          <a:xfrm>
            <a:off x="4526280" y="3154680"/>
            <a:ext cx="2148840" cy="256032"/>
          </a:xfrm>
          <a:prstGeom prst="roundRect">
            <a:avLst>
              <a:gd name="adj" fmla="val 14286"/>
            </a:avLst>
          </a:prstGeom>
          <a:solidFill>
            <a:srgbClr val="FEF3C7"/>
          </a:solidFill>
          <a:ln w="6350">
            <a:solidFill>
              <a:srgbClr val="F59E0B"/>
            </a:solidFill>
            <a:prstDash val="solid"/>
          </a:ln>
        </p:spPr>
      </p:sp>
      <p:sp>
        <p:nvSpPr>
          <p:cNvPr id="44" name="Text 42"/>
          <p:cNvSpPr/>
          <p:nvPr/>
        </p:nvSpPr>
        <p:spPr>
          <a:xfrm>
            <a:off x="4572000" y="3154680"/>
            <a:ext cx="2057400" cy="256032"/>
          </a:xfrm>
          <a:prstGeom prst="rect">
            <a:avLst/>
          </a:prstGeom>
          <a:noFill/>
          <a:ln/>
        </p:spPr>
        <p:txBody>
          <a:bodyPr wrap="square" rtlCol="0" anchor="ctr"/>
          <a:lstStyle/>
          <a:p>
            <a:pPr indent="0" marL="0">
              <a:buNone/>
            </a:pPr>
            <a:r>
              <a:rPr lang="en-US" sz="750" b="1" spc="200" kern="0" dirty="0">
                <a:solidFill>
                  <a:srgbClr val="B45309"/>
                </a:solidFill>
                <a:latin typeface="JetBrains Mono" pitchFamily="34" charset="0"/>
                <a:ea typeface="JetBrains Mono" pitchFamily="34" charset="-122"/>
                <a:cs typeface="JetBrains Mono" pitchFamily="34" charset="-120"/>
              </a:rPr>
              <a:t>🇺🇸  US  ·  EX-CTO CONSULTANT</a:t>
            </a:r>
            <a:endParaRPr lang="en-US" sz="750" dirty="0"/>
          </a:p>
        </p:txBody>
      </p:sp>
      <p:sp>
        <p:nvSpPr>
          <p:cNvPr id="45" name="Text 43"/>
          <p:cNvSpPr/>
          <p:nvPr/>
        </p:nvSpPr>
        <p:spPr>
          <a:xfrm>
            <a:off x="4526280" y="3502152"/>
            <a:ext cx="3246120" cy="457200"/>
          </a:xfrm>
          <a:prstGeom prst="rect">
            <a:avLst/>
          </a:prstGeom>
          <a:noFill/>
          <a:ln/>
        </p:spPr>
        <p:txBody>
          <a:bodyPr wrap="square" rtlCol="0" anchor="ctr"/>
          <a:lstStyle/>
          <a:p>
            <a:pPr indent="0" marL="0">
              <a:buNone/>
            </a:pPr>
            <a:r>
              <a:rPr lang="en-US" sz="2000" b="1" dirty="0">
                <a:solidFill>
                  <a:srgbClr val="0F172A"/>
                </a:solidFill>
                <a:latin typeface="DM Sans" pitchFamily="34" charset="0"/>
                <a:ea typeface="DM Sans" pitchFamily="34" charset="-122"/>
                <a:cs typeface="DM Sans" pitchFamily="34" charset="-120"/>
              </a:rPr>
              <a:t>Marcus, 47</a:t>
            </a:r>
            <a:endParaRPr lang="en-US" sz="2000" dirty="0"/>
          </a:p>
        </p:txBody>
      </p:sp>
      <p:sp>
        <p:nvSpPr>
          <p:cNvPr id="46" name="Text 44"/>
          <p:cNvSpPr/>
          <p:nvPr/>
        </p:nvSpPr>
        <p:spPr>
          <a:xfrm>
            <a:off x="4526280" y="3931920"/>
            <a:ext cx="3246120" cy="256032"/>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Ex-CTO, now indie consultant · Austin TX</a:t>
            </a:r>
            <a:endParaRPr lang="en-US" sz="950" dirty="0"/>
          </a:p>
        </p:txBody>
      </p:sp>
      <p:sp>
        <p:nvSpPr>
          <p:cNvPr id="47" name="Text 45"/>
          <p:cNvSpPr/>
          <p:nvPr/>
        </p:nvSpPr>
        <p:spPr>
          <a:xfrm>
            <a:off x="4526280" y="4160520"/>
            <a:ext cx="3246120" cy="256032"/>
          </a:xfrm>
          <a:prstGeom prst="rect">
            <a:avLst/>
          </a:prstGeom>
          <a:noFill/>
          <a:ln/>
        </p:spPr>
        <p:txBody>
          <a:bodyPr wrap="square" rtlCol="0" anchor="ctr"/>
          <a:lstStyle/>
          <a:p>
            <a:pPr indent="0" marL="0">
              <a:buNone/>
            </a:pPr>
            <a:r>
              <a:rPr lang="en-US" sz="950" b="1" dirty="0">
                <a:solidFill>
                  <a:srgbClr val="1E293B"/>
                </a:solidFill>
                <a:latin typeface="DM Sans" pitchFamily="34" charset="0"/>
                <a:ea typeface="DM Sans" pitchFamily="34" charset="-122"/>
                <a:cs typeface="DM Sans" pitchFamily="34" charset="-120"/>
              </a:rPr>
              <a:t>$180K consulting + savings buffer</a:t>
            </a:r>
            <a:endParaRPr lang="en-US" sz="950" dirty="0"/>
          </a:p>
        </p:txBody>
      </p:sp>
      <p:sp>
        <p:nvSpPr>
          <p:cNvPr id="48" name="Shape 46"/>
          <p:cNvSpPr/>
          <p:nvPr/>
        </p:nvSpPr>
        <p:spPr>
          <a:xfrm>
            <a:off x="4526280" y="4480560"/>
            <a:ext cx="3154680" cy="9144"/>
          </a:xfrm>
          <a:prstGeom prst="rect">
            <a:avLst/>
          </a:prstGeom>
          <a:solidFill>
            <a:srgbClr val="E2E8F0"/>
          </a:solidFill>
          <a:ln w="12700">
            <a:solidFill>
              <a:srgbClr val="333333"/>
            </a:solidFill>
            <a:prstDash val="solid"/>
          </a:ln>
        </p:spPr>
      </p:sp>
      <p:sp>
        <p:nvSpPr>
          <p:cNvPr id="49" name="Text 47"/>
          <p:cNvSpPr/>
          <p:nvPr/>
        </p:nvSpPr>
        <p:spPr>
          <a:xfrm>
            <a:off x="4526280" y="454456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Tools</a:t>
            </a:r>
            <a:endParaRPr lang="en-US" sz="750" dirty="0"/>
          </a:p>
        </p:txBody>
      </p:sp>
      <p:sp>
        <p:nvSpPr>
          <p:cNvPr id="50" name="Text 48"/>
          <p:cNvSpPr/>
          <p:nvPr/>
        </p:nvSpPr>
        <p:spPr>
          <a:xfrm>
            <a:off x="4526280" y="469087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Cursor Pro · Claude Pro · GitHub Pro · Linear</a:t>
            </a:r>
            <a:endParaRPr lang="en-US" sz="900" dirty="0"/>
          </a:p>
        </p:txBody>
      </p:sp>
      <p:sp>
        <p:nvSpPr>
          <p:cNvPr id="51" name="Text 49"/>
          <p:cNvSpPr/>
          <p:nvPr/>
        </p:nvSpPr>
        <p:spPr>
          <a:xfrm>
            <a:off x="4526280" y="491032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Idea</a:t>
            </a:r>
            <a:endParaRPr lang="en-US" sz="750" dirty="0"/>
          </a:p>
        </p:txBody>
      </p:sp>
      <p:sp>
        <p:nvSpPr>
          <p:cNvPr id="52" name="Text 50"/>
          <p:cNvSpPr/>
          <p:nvPr/>
        </p:nvSpPr>
        <p:spPr>
          <a:xfrm>
            <a:off x="4526280" y="505663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AI estate-planning workflow for solo lawyers (US-wide)</a:t>
            </a:r>
            <a:endParaRPr lang="en-US" sz="900" dirty="0"/>
          </a:p>
        </p:txBody>
      </p:sp>
      <p:sp>
        <p:nvSpPr>
          <p:cNvPr id="53" name="Text 51"/>
          <p:cNvSpPr/>
          <p:nvPr/>
        </p:nvSpPr>
        <p:spPr>
          <a:xfrm>
            <a:off x="4526280" y="527608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Pain</a:t>
            </a:r>
            <a:endParaRPr lang="en-US" sz="750" dirty="0"/>
          </a:p>
        </p:txBody>
      </p:sp>
      <p:sp>
        <p:nvSpPr>
          <p:cNvPr id="54" name="Text 52"/>
          <p:cNvSpPr/>
          <p:nvPr/>
        </p:nvSpPr>
        <p:spPr>
          <a:xfrm>
            <a:off x="4526280" y="542239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Knows how to build infra. Refuses to spend the weekend on it.</a:t>
            </a:r>
            <a:endParaRPr lang="en-US" sz="900" dirty="0"/>
          </a:p>
        </p:txBody>
      </p:sp>
      <p:sp>
        <p:nvSpPr>
          <p:cNvPr id="55" name="Shape 53"/>
          <p:cNvSpPr/>
          <p:nvPr/>
        </p:nvSpPr>
        <p:spPr>
          <a:xfrm>
            <a:off x="4480560" y="5760720"/>
            <a:ext cx="3246120" cy="329184"/>
          </a:xfrm>
          <a:prstGeom prst="roundRect">
            <a:avLst>
              <a:gd name="adj" fmla="val 11111"/>
            </a:avLst>
          </a:prstGeom>
          <a:solidFill>
            <a:srgbClr val="FEF3C7"/>
          </a:solidFill>
          <a:ln w="9525">
            <a:solidFill>
              <a:srgbClr val="F59E0B"/>
            </a:solidFill>
            <a:prstDash val="solid"/>
          </a:ln>
        </p:spPr>
      </p:sp>
      <p:sp>
        <p:nvSpPr>
          <p:cNvPr id="56" name="Text 54"/>
          <p:cNvSpPr/>
          <p:nvPr/>
        </p:nvSpPr>
        <p:spPr>
          <a:xfrm>
            <a:off x="4572000" y="5760720"/>
            <a:ext cx="3063240" cy="329184"/>
          </a:xfrm>
          <a:prstGeom prst="rect">
            <a:avLst/>
          </a:prstGeom>
          <a:noFill/>
          <a:ln/>
        </p:spPr>
        <p:txBody>
          <a:bodyPr wrap="square" rtlCol="0" anchor="ctr"/>
          <a:lstStyle/>
          <a:p>
            <a:pPr algn="ctr" indent="0" marL="0">
              <a:buNone/>
            </a:pPr>
            <a:r>
              <a:rPr lang="en-US" sz="950" b="1" i="1" dirty="0">
                <a:solidFill>
                  <a:srgbClr val="B45309"/>
                </a:solidFill>
                <a:latin typeface="DM Sans" pitchFamily="34" charset="0"/>
                <a:ea typeface="DM Sans" pitchFamily="34" charset="-122"/>
                <a:cs typeface="DM Sans" pitchFamily="34" charset="-120"/>
              </a:rPr>
              <a:t>"I'll pay £14 to save 60 hours of plumbing."</a:t>
            </a:r>
            <a:endParaRPr lang="en-US" sz="950" dirty="0"/>
          </a:p>
        </p:txBody>
      </p:sp>
      <p:sp>
        <p:nvSpPr>
          <p:cNvPr id="57" name="Shape 55"/>
          <p:cNvSpPr/>
          <p:nvPr/>
        </p:nvSpPr>
        <p:spPr>
          <a:xfrm>
            <a:off x="8092440" y="2971800"/>
            <a:ext cx="3611880" cy="3246120"/>
          </a:xfrm>
          <a:prstGeom prst="roundRect">
            <a:avLst>
              <a:gd name="adj" fmla="val 2254"/>
            </a:avLst>
          </a:prstGeom>
          <a:solidFill>
            <a:srgbClr val="FFFFFF"/>
          </a:solidFill>
          <a:ln w="9525">
            <a:solidFill>
              <a:srgbClr val="E2E8F0"/>
            </a:solidFill>
            <a:prstDash val="solid"/>
          </a:ln>
        </p:spPr>
      </p:sp>
      <p:sp>
        <p:nvSpPr>
          <p:cNvPr id="58" name="Shape 56"/>
          <p:cNvSpPr/>
          <p:nvPr/>
        </p:nvSpPr>
        <p:spPr>
          <a:xfrm>
            <a:off x="8092440" y="2971800"/>
            <a:ext cx="3611880" cy="54864"/>
          </a:xfrm>
          <a:prstGeom prst="rect">
            <a:avLst/>
          </a:prstGeom>
          <a:solidFill>
            <a:srgbClr val="0E9F6E"/>
          </a:solidFill>
          <a:ln w="12700">
            <a:solidFill>
              <a:srgbClr val="0E9F6E"/>
            </a:solidFill>
            <a:prstDash val="solid"/>
          </a:ln>
        </p:spPr>
      </p:sp>
      <p:sp>
        <p:nvSpPr>
          <p:cNvPr id="59" name="Shape 57"/>
          <p:cNvSpPr/>
          <p:nvPr/>
        </p:nvSpPr>
        <p:spPr>
          <a:xfrm>
            <a:off x="8321040" y="3154680"/>
            <a:ext cx="2148840" cy="256032"/>
          </a:xfrm>
          <a:prstGeom prst="roundRect">
            <a:avLst>
              <a:gd name="adj" fmla="val 14286"/>
            </a:avLst>
          </a:prstGeom>
          <a:solidFill>
            <a:srgbClr val="ECFDF5"/>
          </a:solidFill>
          <a:ln w="6350">
            <a:solidFill>
              <a:srgbClr val="0E9F6E"/>
            </a:solidFill>
            <a:prstDash val="solid"/>
          </a:ln>
        </p:spPr>
      </p:sp>
      <p:sp>
        <p:nvSpPr>
          <p:cNvPr id="60" name="Text 58"/>
          <p:cNvSpPr/>
          <p:nvPr/>
        </p:nvSpPr>
        <p:spPr>
          <a:xfrm>
            <a:off x="8366760" y="3154680"/>
            <a:ext cx="2057400" cy="256032"/>
          </a:xfrm>
          <a:prstGeom prst="rect">
            <a:avLst/>
          </a:prstGeom>
          <a:noFill/>
          <a:ln/>
        </p:spPr>
        <p:txBody>
          <a:bodyPr wrap="square" rtlCol="0" anchor="ctr"/>
          <a:lstStyle/>
          <a:p>
            <a:pPr indent="0" marL="0">
              <a:buNone/>
            </a:pPr>
            <a:r>
              <a:rPr lang="en-US" sz="750" b="1" spc="200" kern="0" dirty="0">
                <a:solidFill>
                  <a:srgbClr val="047857"/>
                </a:solidFill>
                <a:latin typeface="JetBrains Mono" pitchFamily="34" charset="0"/>
                <a:ea typeface="JetBrains Mono" pitchFamily="34" charset="-122"/>
                <a:cs typeface="JetBrains Mono" pitchFamily="34" charset="-120"/>
              </a:rPr>
              <a:t>🇸🇬  APAC  ·  MARKETER + INDIE</a:t>
            </a:r>
            <a:endParaRPr lang="en-US" sz="750" dirty="0"/>
          </a:p>
        </p:txBody>
      </p:sp>
      <p:sp>
        <p:nvSpPr>
          <p:cNvPr id="61" name="Text 59"/>
          <p:cNvSpPr/>
          <p:nvPr/>
        </p:nvSpPr>
        <p:spPr>
          <a:xfrm>
            <a:off x="8321040" y="3502152"/>
            <a:ext cx="3246120" cy="457200"/>
          </a:xfrm>
          <a:prstGeom prst="rect">
            <a:avLst/>
          </a:prstGeom>
          <a:noFill/>
          <a:ln/>
        </p:spPr>
        <p:txBody>
          <a:bodyPr wrap="square" rtlCol="0" anchor="ctr"/>
          <a:lstStyle/>
          <a:p>
            <a:pPr indent="0" marL="0">
              <a:buNone/>
            </a:pPr>
            <a:r>
              <a:rPr lang="en-US" sz="2000" b="1" dirty="0">
                <a:solidFill>
                  <a:srgbClr val="0F172A"/>
                </a:solidFill>
                <a:latin typeface="DM Sans" pitchFamily="34" charset="0"/>
                <a:ea typeface="DM Sans" pitchFamily="34" charset="-122"/>
                <a:cs typeface="DM Sans" pitchFamily="34" charset="-120"/>
              </a:rPr>
              <a:t>Priya, 28</a:t>
            </a:r>
            <a:endParaRPr lang="en-US" sz="2000" dirty="0"/>
          </a:p>
        </p:txBody>
      </p:sp>
      <p:sp>
        <p:nvSpPr>
          <p:cNvPr id="62" name="Text 60"/>
          <p:cNvSpPr/>
          <p:nvPr/>
        </p:nvSpPr>
        <p:spPr>
          <a:xfrm>
            <a:off x="8321040" y="3931920"/>
            <a:ext cx="3246120" cy="256032"/>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Performance marketer + indie hacker · Singapore</a:t>
            </a:r>
            <a:endParaRPr lang="en-US" sz="950" dirty="0"/>
          </a:p>
        </p:txBody>
      </p:sp>
      <p:sp>
        <p:nvSpPr>
          <p:cNvPr id="63" name="Text 61"/>
          <p:cNvSpPr/>
          <p:nvPr/>
        </p:nvSpPr>
        <p:spPr>
          <a:xfrm>
            <a:off x="8321040" y="4160520"/>
            <a:ext cx="3246120" cy="256032"/>
          </a:xfrm>
          <a:prstGeom prst="rect">
            <a:avLst/>
          </a:prstGeom>
          <a:noFill/>
          <a:ln/>
        </p:spPr>
        <p:txBody>
          <a:bodyPr wrap="square" rtlCol="0" anchor="ctr"/>
          <a:lstStyle/>
          <a:p>
            <a:pPr indent="0" marL="0">
              <a:buNone/>
            </a:pPr>
            <a:r>
              <a:rPr lang="en-US" sz="950" b="1" dirty="0">
                <a:solidFill>
                  <a:srgbClr val="1E293B"/>
                </a:solidFill>
                <a:latin typeface="DM Sans" pitchFamily="34" charset="0"/>
                <a:ea typeface="DM Sans" pitchFamily="34" charset="-122"/>
                <a:cs typeface="DM Sans" pitchFamily="34" charset="-120"/>
              </a:rPr>
              <a:t>SGD 95K (~£55K, ~$72K)</a:t>
            </a:r>
            <a:endParaRPr lang="en-US" sz="950" dirty="0"/>
          </a:p>
        </p:txBody>
      </p:sp>
      <p:sp>
        <p:nvSpPr>
          <p:cNvPr id="64" name="Shape 62"/>
          <p:cNvSpPr/>
          <p:nvPr/>
        </p:nvSpPr>
        <p:spPr>
          <a:xfrm>
            <a:off x="8321040" y="4480560"/>
            <a:ext cx="3154680" cy="9144"/>
          </a:xfrm>
          <a:prstGeom prst="rect">
            <a:avLst/>
          </a:prstGeom>
          <a:solidFill>
            <a:srgbClr val="E2E8F0"/>
          </a:solidFill>
          <a:ln w="12700">
            <a:solidFill>
              <a:srgbClr val="333333"/>
            </a:solidFill>
            <a:prstDash val="solid"/>
          </a:ln>
        </p:spPr>
      </p:sp>
      <p:sp>
        <p:nvSpPr>
          <p:cNvPr id="65" name="Text 63"/>
          <p:cNvSpPr/>
          <p:nvPr/>
        </p:nvSpPr>
        <p:spPr>
          <a:xfrm>
            <a:off x="8321040" y="454456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Tools</a:t>
            </a:r>
            <a:endParaRPr lang="en-US" sz="750" dirty="0"/>
          </a:p>
        </p:txBody>
      </p:sp>
      <p:sp>
        <p:nvSpPr>
          <p:cNvPr id="66" name="Text 64"/>
          <p:cNvSpPr/>
          <p:nvPr/>
        </p:nvSpPr>
        <p:spPr>
          <a:xfrm>
            <a:off x="8321040" y="469087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Lovable · Cursor · Notion · Linear · Stripe</a:t>
            </a:r>
            <a:endParaRPr lang="en-US" sz="900" dirty="0"/>
          </a:p>
        </p:txBody>
      </p:sp>
      <p:sp>
        <p:nvSpPr>
          <p:cNvPr id="67" name="Text 65"/>
          <p:cNvSpPr/>
          <p:nvPr/>
        </p:nvSpPr>
        <p:spPr>
          <a:xfrm>
            <a:off x="8321040" y="491032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Idea</a:t>
            </a:r>
            <a:endParaRPr lang="en-US" sz="750" dirty="0"/>
          </a:p>
        </p:txBody>
      </p:sp>
      <p:sp>
        <p:nvSpPr>
          <p:cNvPr id="68" name="Text 66"/>
          <p:cNvSpPr/>
          <p:nvPr/>
        </p:nvSpPr>
        <p:spPr>
          <a:xfrm>
            <a:off x="8321040" y="505663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Wedding &amp; event planner SaaS for SE Asia market</a:t>
            </a:r>
            <a:endParaRPr lang="en-US" sz="900" dirty="0"/>
          </a:p>
        </p:txBody>
      </p:sp>
      <p:sp>
        <p:nvSpPr>
          <p:cNvPr id="69" name="Text 67"/>
          <p:cNvSpPr/>
          <p:nvPr/>
        </p:nvSpPr>
        <p:spPr>
          <a:xfrm>
            <a:off x="8321040" y="5276088"/>
            <a:ext cx="594360" cy="182880"/>
          </a:xfrm>
          <a:prstGeom prst="rect">
            <a:avLst/>
          </a:prstGeom>
          <a:noFill/>
          <a:ln/>
        </p:spPr>
        <p:txBody>
          <a:bodyPr wrap="square" rtlCol="0" anchor="ctr"/>
          <a:lstStyle/>
          <a:p>
            <a:pPr indent="0" marL="0">
              <a:buNone/>
            </a:pPr>
            <a:r>
              <a:rPr lang="en-US" sz="750" b="1" spc="200" kern="0" dirty="0">
                <a:solidFill>
                  <a:srgbClr val="94A3B8"/>
                </a:solidFill>
                <a:latin typeface="JetBrains Mono" pitchFamily="34" charset="0"/>
                <a:ea typeface="JetBrains Mono" pitchFamily="34" charset="-122"/>
                <a:cs typeface="JetBrains Mono" pitchFamily="34" charset="-120"/>
              </a:rPr>
              <a:t>Pain</a:t>
            </a:r>
            <a:endParaRPr lang="en-US" sz="750" dirty="0"/>
          </a:p>
        </p:txBody>
      </p:sp>
      <p:sp>
        <p:nvSpPr>
          <p:cNvPr id="70" name="Text 68"/>
          <p:cNvSpPr/>
          <p:nvPr/>
        </p:nvSpPr>
        <p:spPr>
          <a:xfrm>
            <a:off x="8321040" y="5422392"/>
            <a:ext cx="3154680" cy="237744"/>
          </a:xfrm>
          <a:prstGeom prst="rect">
            <a:avLst/>
          </a:prstGeom>
          <a:noFill/>
          <a:ln/>
        </p:spPr>
        <p:txBody>
          <a:bodyPr wrap="square" rtlCol="0" anchor="ctr"/>
          <a:lstStyle/>
          <a:p>
            <a:pPr indent="0" marL="0">
              <a:lnSpc>
                <a:spcPct val="120000"/>
              </a:lnSpc>
              <a:buNone/>
            </a:pPr>
            <a:r>
              <a:rPr lang="en-US" sz="900" dirty="0">
                <a:solidFill>
                  <a:srgbClr val="334155"/>
                </a:solidFill>
                <a:latin typeface="DM Sans" pitchFamily="34" charset="0"/>
                <a:ea typeface="DM Sans" pitchFamily="34" charset="-122"/>
                <a:cs typeface="DM Sans" pitchFamily="34" charset="-120"/>
              </a:rPr>
              <a:t>Lovable boxed her in — no real DB, no MoR, hard to leave.</a:t>
            </a:r>
            <a:endParaRPr lang="en-US" sz="900" dirty="0"/>
          </a:p>
        </p:txBody>
      </p:sp>
      <p:sp>
        <p:nvSpPr>
          <p:cNvPr id="71" name="Shape 69"/>
          <p:cNvSpPr/>
          <p:nvPr/>
        </p:nvSpPr>
        <p:spPr>
          <a:xfrm>
            <a:off x="8275320" y="5760720"/>
            <a:ext cx="3246120" cy="329184"/>
          </a:xfrm>
          <a:prstGeom prst="roundRect">
            <a:avLst>
              <a:gd name="adj" fmla="val 11111"/>
            </a:avLst>
          </a:prstGeom>
          <a:solidFill>
            <a:srgbClr val="ECFDF5"/>
          </a:solidFill>
          <a:ln w="9525">
            <a:solidFill>
              <a:srgbClr val="0E9F6E"/>
            </a:solidFill>
            <a:prstDash val="solid"/>
          </a:ln>
        </p:spPr>
      </p:sp>
      <p:sp>
        <p:nvSpPr>
          <p:cNvPr id="72" name="Text 70"/>
          <p:cNvSpPr/>
          <p:nvPr/>
        </p:nvSpPr>
        <p:spPr>
          <a:xfrm>
            <a:off x="8366760" y="5760720"/>
            <a:ext cx="3063240" cy="329184"/>
          </a:xfrm>
          <a:prstGeom prst="rect">
            <a:avLst/>
          </a:prstGeom>
          <a:noFill/>
          <a:ln/>
        </p:spPr>
        <p:txBody>
          <a:bodyPr wrap="square" rtlCol="0" anchor="ctr"/>
          <a:lstStyle/>
          <a:p>
            <a:pPr algn="ctr" indent="0" marL="0">
              <a:buNone/>
            </a:pPr>
            <a:r>
              <a:rPr lang="en-US" sz="950" b="1" i="1" dirty="0">
                <a:solidFill>
                  <a:srgbClr val="047857"/>
                </a:solidFill>
                <a:latin typeface="DM Sans" pitchFamily="34" charset="0"/>
                <a:ea typeface="DM Sans" pitchFamily="34" charset="-122"/>
                <a:cs typeface="DM Sans" pitchFamily="34" charset="-120"/>
              </a:rPr>
              <a:t>"Paddle MoR + multi-region from day one."</a:t>
            </a:r>
            <a:endParaRPr lang="en-US" sz="950" dirty="0"/>
          </a:p>
        </p:txBody>
      </p:sp>
      <p:sp>
        <p:nvSpPr>
          <p:cNvPr id="73" name="Shape 71"/>
          <p:cNvSpPr/>
          <p:nvPr/>
        </p:nvSpPr>
        <p:spPr>
          <a:xfrm>
            <a:off x="502920" y="6263640"/>
            <a:ext cx="11155680" cy="320040"/>
          </a:xfrm>
          <a:prstGeom prst="roundRect">
            <a:avLst>
              <a:gd name="adj" fmla="val 11429"/>
            </a:avLst>
          </a:prstGeom>
          <a:solidFill>
            <a:srgbClr val="0F172A"/>
          </a:solidFill>
          <a:ln w="12700">
            <a:solidFill>
              <a:srgbClr val="0F172A"/>
            </a:solidFill>
            <a:prstDash val="solid"/>
          </a:ln>
        </p:spPr>
      </p:sp>
      <p:sp>
        <p:nvSpPr>
          <p:cNvPr id="74" name="Text 72"/>
          <p:cNvSpPr/>
          <p:nvPr/>
        </p:nvSpPr>
        <p:spPr>
          <a:xfrm>
            <a:off x="777240" y="6263640"/>
            <a:ext cx="2743200" cy="320040"/>
          </a:xfrm>
          <a:prstGeom prst="rect">
            <a:avLst/>
          </a:prstGeom>
          <a:noFill/>
          <a:ln/>
        </p:spPr>
        <p:txBody>
          <a:bodyPr wrap="square" rtlCol="0" anchor="ctr"/>
          <a:lstStyle/>
          <a:p>
            <a:pPr indent="0" marL="0">
              <a:buNone/>
            </a:pPr>
            <a:r>
              <a:rPr lang="en-US" sz="800" b="1" spc="300" kern="0" dirty="0">
                <a:solidFill>
                  <a:srgbClr val="F59E0B"/>
                </a:solidFill>
                <a:latin typeface="JetBrains Mono" pitchFamily="34" charset="0"/>
                <a:ea typeface="JetBrains Mono" pitchFamily="34" charset="-122"/>
                <a:cs typeface="JetBrains Mono" pitchFamily="34" charset="-120"/>
              </a:rPr>
              <a:t>WHY ALL THREE PICK HATCHIK</a:t>
            </a:r>
            <a:endParaRPr lang="en-US" sz="800" dirty="0"/>
          </a:p>
        </p:txBody>
      </p:sp>
      <p:sp>
        <p:nvSpPr>
          <p:cNvPr id="75" name="Text 73"/>
          <p:cNvSpPr/>
          <p:nvPr/>
        </p:nvSpPr>
        <p:spPr>
          <a:xfrm>
            <a:off x="3611880" y="6263640"/>
            <a:ext cx="8046720" cy="320040"/>
          </a:xfrm>
          <a:prstGeom prst="rect">
            <a:avLst/>
          </a:prstGeom>
          <a:noFill/>
          <a:ln/>
        </p:spPr>
        <p:txBody>
          <a:bodyPr wrap="square" rtlCol="0" anchor="ctr"/>
          <a:lstStyle/>
          <a:p>
            <a:pPr indent="0" marL="0">
              <a:buNone/>
            </a:pPr>
            <a:r>
              <a:rPr lang="en-US" sz="900" b="1" dirty="0">
                <a:solidFill>
                  <a:srgbClr val="FFFFFF"/>
                </a:solidFill>
                <a:latin typeface="DM Sans" pitchFamily="34" charset="0"/>
                <a:ea typeface="DM Sans" pitchFamily="34" charset="-122"/>
                <a:cs typeface="DM Sans" pitchFamily="34" charset="-120"/>
              </a:rPr>
              <a:t>BYO AI tool</a:t>
            </a:r>
            <a:pPr indent="0" marL="0">
              <a:buNone/>
            </a:pPr>
            <a:r>
              <a:rPr lang="en-US" sz="900" dirty="0">
                <a:solidFill>
                  <a:srgbClr val="94A3B8"/>
                </a:solidFill>
                <a:latin typeface="DM Sans" pitchFamily="34" charset="0"/>
                <a:ea typeface="DM Sans" pitchFamily="34" charset="-122"/>
                <a:cs typeface="DM Sans" pitchFamily="34" charset="-120"/>
              </a:rPr>
              <a:t>  ·  </a:t>
            </a:r>
            <a:pPr indent="0" marL="0">
              <a:buNone/>
            </a:pPr>
            <a:r>
              <a:rPr lang="en-US" sz="900" b="1" dirty="0">
                <a:solidFill>
                  <a:srgbClr val="FFFFFF"/>
                </a:solidFill>
                <a:latin typeface="DM Sans" pitchFamily="34" charset="0"/>
                <a:ea typeface="DM Sans" pitchFamily="34" charset="-122"/>
                <a:cs typeface="DM Sans" pitchFamily="34" charset="-120"/>
              </a:rPr>
              <a:t>Code on their GitHub</a:t>
            </a:r>
            <a:pPr indent="0" marL="0">
              <a:buNone/>
            </a:pPr>
            <a:r>
              <a:rPr lang="en-US" sz="900" dirty="0">
                <a:solidFill>
                  <a:srgbClr val="94A3B8"/>
                </a:solidFill>
                <a:latin typeface="DM Sans" pitchFamily="34" charset="0"/>
                <a:ea typeface="DM Sans" pitchFamily="34" charset="-122"/>
                <a:cs typeface="DM Sans" pitchFamily="34" charset="-120"/>
              </a:rPr>
              <a:t>  ·  </a:t>
            </a:r>
            <a:pPr indent="0" marL="0">
              <a:buNone/>
            </a:pPr>
            <a:r>
              <a:rPr lang="en-US" sz="900" b="1" dirty="0">
                <a:solidFill>
                  <a:srgbClr val="FFFFFF"/>
                </a:solidFill>
                <a:latin typeface="DM Sans" pitchFamily="34" charset="0"/>
                <a:ea typeface="DM Sans" pitchFamily="34" charset="-122"/>
                <a:cs typeface="DM Sans" pitchFamily="34" charset="-120"/>
              </a:rPr>
              <a:t>5–7× cheaper than DIY</a:t>
            </a:r>
            <a:pPr indent="0" marL="0">
              <a:buNone/>
            </a:pPr>
            <a:r>
              <a:rPr lang="en-US" sz="900" dirty="0">
                <a:solidFill>
                  <a:srgbClr val="94A3B8"/>
                </a:solidFill>
                <a:latin typeface="DM Sans" pitchFamily="34" charset="0"/>
                <a:ea typeface="DM Sans" pitchFamily="34" charset="-122"/>
                <a:cs typeface="DM Sans" pitchFamily="34" charset="-120"/>
              </a:rPr>
              <a:t>  ·  </a:t>
            </a:r>
            <a:pPr indent="0" marL="0">
              <a:buNone/>
            </a:pPr>
            <a:r>
              <a:rPr lang="en-US" sz="900" b="1" dirty="0">
                <a:solidFill>
                  <a:srgbClr val="FFFFFF"/>
                </a:solidFill>
                <a:latin typeface="DM Sans" pitchFamily="34" charset="0"/>
                <a:ea typeface="DM Sans" pitchFamily="34" charset="-122"/>
                <a:cs typeface="DM Sans" pitchFamily="34" charset="-120"/>
              </a:rPr>
              <a:t>Day-one SaaS, not week-three</a:t>
            </a:r>
            <a:endParaRPr lang="en-US" sz="900" dirty="0"/>
          </a:p>
        </p:txBody>
      </p:sp>
      <p:sp>
        <p:nvSpPr>
          <p:cNvPr id="76" name="Text 7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77" name="Text 7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10  ·  COMPETITIVE LANDSCAPE</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Hatchik vs AI builders vs infra players vs AI labs.</a:t>
            </a:r>
            <a:endParaRPr lang="en-US" sz="3000" dirty="0"/>
          </a:p>
        </p:txBody>
      </p:sp>
      <p:sp>
        <p:nvSpPr>
          <p:cNvPr id="4" name="Text 2"/>
          <p:cNvSpPr/>
          <p:nvPr/>
        </p:nvSpPr>
        <p:spPr>
          <a:xfrm>
            <a:off x="502920" y="1417320"/>
            <a:ext cx="11155680" cy="77724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Two adjacent layers exist. AI builders own the chat-to-prototype loop; infra players own the deploy-runtime loop. No one owns the production-substrate-with-real-business-plumbing-already-wired layer that the AI coder customer needs.</a:t>
            </a:r>
            <a:endParaRPr lang="en-US" sz="1400" dirty="0"/>
          </a:p>
        </p:txBody>
      </p:sp>
      <p:sp>
        <p:nvSpPr>
          <p:cNvPr id="5" name="Shape 3"/>
          <p:cNvSpPr/>
          <p:nvPr/>
        </p:nvSpPr>
        <p:spPr>
          <a:xfrm>
            <a:off x="502920" y="2423160"/>
            <a:ext cx="5577840" cy="3657600"/>
          </a:xfrm>
          <a:prstGeom prst="roundRect">
            <a:avLst>
              <a:gd name="adj" fmla="val 2000"/>
            </a:avLst>
          </a:prstGeom>
          <a:solidFill>
            <a:srgbClr val="FEF3C7"/>
          </a:solidFill>
          <a:ln w="12700">
            <a:solidFill>
              <a:srgbClr val="F59E0B"/>
            </a:solidFill>
            <a:prstDash val="solid"/>
          </a:ln>
        </p:spPr>
      </p:sp>
      <p:sp>
        <p:nvSpPr>
          <p:cNvPr id="6" name="Text 4"/>
          <p:cNvSpPr/>
          <p:nvPr/>
        </p:nvSpPr>
        <p:spPr>
          <a:xfrm>
            <a:off x="777240" y="2651760"/>
            <a:ext cx="512064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AI BUILDERS</a:t>
            </a:r>
            <a:endParaRPr lang="en-US" sz="900" dirty="0"/>
          </a:p>
        </p:txBody>
      </p:sp>
      <p:sp>
        <p:nvSpPr>
          <p:cNvPr id="7" name="Text 5"/>
          <p:cNvSpPr/>
          <p:nvPr/>
        </p:nvSpPr>
        <p:spPr>
          <a:xfrm>
            <a:off x="777240" y="2971800"/>
            <a:ext cx="512064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Lovable · Bolt · v0 · Replit Agent · Pi App Studio · Bubble</a:t>
            </a:r>
            <a:endParaRPr lang="en-US" sz="1200" dirty="0"/>
          </a:p>
        </p:txBody>
      </p:sp>
      <p:sp>
        <p:nvSpPr>
          <p:cNvPr id="8" name="Text 6"/>
          <p:cNvSpPr/>
          <p:nvPr/>
        </p:nvSpPr>
        <p:spPr>
          <a:xfrm>
            <a:off x="777240" y="3383280"/>
            <a:ext cx="5120640" cy="2560320"/>
          </a:xfrm>
          <a:prstGeom prst="rect">
            <a:avLst/>
          </a:prstGeom>
          <a:noFill/>
          <a:ln/>
        </p:spPr>
        <p:txBody>
          <a:bodyPr wrap="square" rtlCol="0" anchor="ctr"/>
          <a:lstStyle/>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Their AI, their chat, their runtime — you don’t bring Cursor.</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Code lives in their walled garden; export friction is real.</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No auth/payments/mail wiring; "deploys" mean their hosted preview.</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Where Hatchik wins: BYO AI tool, real GitHub repo, real production stack.</a:t>
            </a:r>
            <a:endParaRPr lang="en-US" sz="1100" dirty="0"/>
          </a:p>
        </p:txBody>
      </p:sp>
      <p:sp>
        <p:nvSpPr>
          <p:cNvPr id="9" name="Shape 7"/>
          <p:cNvSpPr/>
          <p:nvPr/>
        </p:nvSpPr>
        <p:spPr>
          <a:xfrm>
            <a:off x="6263640" y="2423160"/>
            <a:ext cx="5577840" cy="3657600"/>
          </a:xfrm>
          <a:prstGeom prst="roundRect">
            <a:avLst>
              <a:gd name="adj" fmla="val 2000"/>
            </a:avLst>
          </a:prstGeom>
          <a:solidFill>
            <a:srgbClr val="EEF2FF"/>
          </a:solidFill>
          <a:ln w="12700">
            <a:solidFill>
              <a:srgbClr val="4F46E5"/>
            </a:solidFill>
            <a:prstDash val="solid"/>
          </a:ln>
        </p:spPr>
      </p:sp>
      <p:sp>
        <p:nvSpPr>
          <p:cNvPr id="10" name="Text 8"/>
          <p:cNvSpPr/>
          <p:nvPr/>
        </p:nvSpPr>
        <p:spPr>
          <a:xfrm>
            <a:off x="6537960" y="2651760"/>
            <a:ext cx="512064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INFRA / DEPLOY PLAYERS</a:t>
            </a:r>
            <a:endParaRPr lang="en-US" sz="900" dirty="0"/>
          </a:p>
        </p:txBody>
      </p:sp>
      <p:sp>
        <p:nvSpPr>
          <p:cNvPr id="11" name="Text 9"/>
          <p:cNvSpPr/>
          <p:nvPr/>
        </p:nvSpPr>
        <p:spPr>
          <a:xfrm>
            <a:off x="6537960" y="2971800"/>
            <a:ext cx="512064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Vercel · Render · Railway · Fly.io · Heroku · DO App Platform</a:t>
            </a:r>
            <a:endParaRPr lang="en-US" sz="1200" dirty="0"/>
          </a:p>
        </p:txBody>
      </p:sp>
      <p:sp>
        <p:nvSpPr>
          <p:cNvPr id="12" name="Text 10"/>
          <p:cNvSpPr/>
          <p:nvPr/>
        </p:nvSpPr>
        <p:spPr>
          <a:xfrm>
            <a:off x="6537960" y="3383280"/>
            <a:ext cx="5120640" cy="2560320"/>
          </a:xfrm>
          <a:prstGeom prst="rect">
            <a:avLst/>
          </a:prstGeom>
          <a:noFill/>
          <a:ln/>
        </p:spPr>
        <p:txBody>
          <a:bodyPr wrap="square" rtlCol="0" anchor="ctr"/>
          <a:lstStyle/>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Deploy your code, run your runtime — but auth, mail, payments, mobile are your problem.</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Built for engineers. Non-tech founder cannot stitch a SaaS together here.</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Pricing scales with usage; predictable monthly for a learner is hard.</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Where Hatchik wins: substrate is pre-wired. Day-one SaaS, not day-one runtime.</a:t>
            </a:r>
            <a:endParaRPr lang="en-US" sz="1100" dirty="0"/>
          </a:p>
        </p:txBody>
      </p:sp>
      <p:sp>
        <p:nvSpPr>
          <p:cNvPr id="13" name="Text 11"/>
          <p:cNvSpPr/>
          <p:nvPr/>
        </p:nvSpPr>
        <p:spPr>
          <a:xfrm>
            <a:off x="502920" y="6263640"/>
            <a:ext cx="10972800" cy="18288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Full per-competitor matrix in appendix · Acquirer-risk analysis (Anthropic/Cursor going downstream) in appendix.</a:t>
            </a:r>
            <a:endParaRPr lang="en-US" sz="900" dirty="0"/>
          </a:p>
        </p:txBody>
      </p:sp>
      <p:sp>
        <p:nvSpPr>
          <p:cNvPr id="14" name="Text 12"/>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15" name="Text 13"/>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11  ·  WHERE WE WIN</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Three things no competitor combines.</a:t>
            </a:r>
            <a:endParaRPr lang="en-US" sz="3000" dirty="0"/>
          </a:p>
        </p:txBody>
      </p:sp>
      <p:sp>
        <p:nvSpPr>
          <p:cNvPr id="4" name="Shape 2"/>
          <p:cNvSpPr/>
          <p:nvPr/>
        </p:nvSpPr>
        <p:spPr>
          <a:xfrm>
            <a:off x="502920" y="2103120"/>
            <a:ext cx="3611880" cy="3931920"/>
          </a:xfrm>
          <a:prstGeom prst="roundRect">
            <a:avLst>
              <a:gd name="adj" fmla="val 2025"/>
            </a:avLst>
          </a:prstGeom>
          <a:solidFill>
            <a:srgbClr val="FFFFFF"/>
          </a:solidFill>
          <a:ln w="9525">
            <a:solidFill>
              <a:srgbClr val="E2E8F0"/>
            </a:solidFill>
            <a:prstDash val="solid"/>
          </a:ln>
        </p:spPr>
      </p:sp>
      <p:sp>
        <p:nvSpPr>
          <p:cNvPr id="5" name="Shape 3"/>
          <p:cNvSpPr/>
          <p:nvPr/>
        </p:nvSpPr>
        <p:spPr>
          <a:xfrm>
            <a:off x="502920" y="2103120"/>
            <a:ext cx="3611880" cy="54864"/>
          </a:xfrm>
          <a:prstGeom prst="rect">
            <a:avLst/>
          </a:prstGeom>
          <a:solidFill>
            <a:srgbClr val="4F46E5"/>
          </a:solidFill>
          <a:ln w="12700">
            <a:solidFill>
              <a:srgbClr val="4F46E5"/>
            </a:solidFill>
            <a:prstDash val="solid"/>
          </a:ln>
        </p:spPr>
      </p:sp>
      <p:sp>
        <p:nvSpPr>
          <p:cNvPr id="6" name="Text 4"/>
          <p:cNvSpPr/>
          <p:nvPr/>
        </p:nvSpPr>
        <p:spPr>
          <a:xfrm>
            <a:off x="777240" y="2423160"/>
            <a:ext cx="315468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WEDGE 01</a:t>
            </a:r>
            <a:endParaRPr lang="en-US" sz="900" dirty="0"/>
          </a:p>
        </p:txBody>
      </p:sp>
      <p:sp>
        <p:nvSpPr>
          <p:cNvPr id="7" name="Text 5"/>
          <p:cNvSpPr/>
          <p:nvPr/>
        </p:nvSpPr>
        <p:spPr>
          <a:xfrm>
            <a:off x="777240" y="2834640"/>
            <a:ext cx="3154680" cy="1371600"/>
          </a:xfrm>
          <a:prstGeom prst="rect">
            <a:avLst/>
          </a:prstGeom>
          <a:noFill/>
          <a:ln/>
        </p:spPr>
        <p:txBody>
          <a:bodyPr wrap="square" rtlCol="0" anchor="ctr"/>
          <a:lstStyle/>
          <a:p>
            <a:pPr indent="0" marL="0">
              <a:buNone/>
            </a:pPr>
            <a:r>
              <a:rPr lang="en-US" sz="8400" b="1" dirty="0">
                <a:solidFill>
                  <a:srgbClr val="EEF2FF"/>
                </a:solidFill>
                <a:latin typeface="DM Sans" pitchFamily="34" charset="0"/>
                <a:ea typeface="DM Sans" pitchFamily="34" charset="-122"/>
                <a:cs typeface="DM Sans" pitchFamily="34" charset="-120"/>
              </a:rPr>
              <a:t>01</a:t>
            </a:r>
            <a:endParaRPr lang="en-US" sz="8400" dirty="0"/>
          </a:p>
        </p:txBody>
      </p:sp>
      <p:sp>
        <p:nvSpPr>
          <p:cNvPr id="8" name="Text 6"/>
          <p:cNvSpPr/>
          <p:nvPr/>
        </p:nvSpPr>
        <p:spPr>
          <a:xfrm>
            <a:off x="777240" y="4297680"/>
            <a:ext cx="3154680" cy="731520"/>
          </a:xfrm>
          <a:prstGeom prst="rect">
            <a:avLst/>
          </a:prstGeom>
          <a:noFill/>
          <a:ln/>
        </p:spPr>
        <p:txBody>
          <a:bodyPr wrap="square" rtlCol="0" anchor="ctr"/>
          <a:lstStyle/>
          <a:p>
            <a:pPr indent="0" marL="0">
              <a:lnSpc>
                <a:spcPct val="115000"/>
              </a:lnSpc>
              <a:buNone/>
            </a:pPr>
            <a:r>
              <a:rPr lang="en-US" sz="1800" b="1" dirty="0">
                <a:solidFill>
                  <a:srgbClr val="0F172A"/>
                </a:solidFill>
                <a:latin typeface="DM Sans" pitchFamily="34" charset="0"/>
                <a:ea typeface="DM Sans" pitchFamily="34" charset="-122"/>
                <a:cs typeface="DM Sans" pitchFamily="34" charset="-120"/>
              </a:rPr>
              <a:t>Your AI tool, not ours.</a:t>
            </a:r>
            <a:endParaRPr lang="en-US" sz="1800" dirty="0"/>
          </a:p>
        </p:txBody>
      </p:sp>
      <p:sp>
        <p:nvSpPr>
          <p:cNvPr id="9" name="Text 7"/>
          <p:cNvSpPr/>
          <p:nvPr/>
        </p:nvSpPr>
        <p:spPr>
          <a:xfrm>
            <a:off x="777240" y="5029200"/>
            <a:ext cx="3154680" cy="9601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Every other AI builder ships its own chat. We plug into the one your customer already trusts — Claude Code, Cursor, Windsurf, Copilot. Zero context switching, zero retraining.</a:t>
            </a:r>
            <a:endParaRPr lang="en-US" sz="1100" dirty="0"/>
          </a:p>
        </p:txBody>
      </p:sp>
      <p:sp>
        <p:nvSpPr>
          <p:cNvPr id="10" name="Shape 8"/>
          <p:cNvSpPr/>
          <p:nvPr/>
        </p:nvSpPr>
        <p:spPr>
          <a:xfrm>
            <a:off x="4297680" y="2103120"/>
            <a:ext cx="3611880" cy="3931920"/>
          </a:xfrm>
          <a:prstGeom prst="roundRect">
            <a:avLst>
              <a:gd name="adj" fmla="val 2025"/>
            </a:avLst>
          </a:prstGeom>
          <a:solidFill>
            <a:srgbClr val="FFFFFF"/>
          </a:solidFill>
          <a:ln w="9525">
            <a:solidFill>
              <a:srgbClr val="E2E8F0"/>
            </a:solidFill>
            <a:prstDash val="solid"/>
          </a:ln>
        </p:spPr>
      </p:sp>
      <p:sp>
        <p:nvSpPr>
          <p:cNvPr id="11" name="Shape 9"/>
          <p:cNvSpPr/>
          <p:nvPr/>
        </p:nvSpPr>
        <p:spPr>
          <a:xfrm>
            <a:off x="4297680" y="2103120"/>
            <a:ext cx="3611880" cy="54864"/>
          </a:xfrm>
          <a:prstGeom prst="rect">
            <a:avLst/>
          </a:prstGeom>
          <a:solidFill>
            <a:srgbClr val="4F46E5"/>
          </a:solidFill>
          <a:ln w="12700">
            <a:solidFill>
              <a:srgbClr val="4F46E5"/>
            </a:solidFill>
            <a:prstDash val="solid"/>
          </a:ln>
        </p:spPr>
      </p:sp>
      <p:sp>
        <p:nvSpPr>
          <p:cNvPr id="12" name="Text 10"/>
          <p:cNvSpPr/>
          <p:nvPr/>
        </p:nvSpPr>
        <p:spPr>
          <a:xfrm>
            <a:off x="4572000" y="2423160"/>
            <a:ext cx="315468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WEDGE 02</a:t>
            </a:r>
            <a:endParaRPr lang="en-US" sz="900" dirty="0"/>
          </a:p>
        </p:txBody>
      </p:sp>
      <p:sp>
        <p:nvSpPr>
          <p:cNvPr id="13" name="Text 11"/>
          <p:cNvSpPr/>
          <p:nvPr/>
        </p:nvSpPr>
        <p:spPr>
          <a:xfrm>
            <a:off x="4572000" y="2834640"/>
            <a:ext cx="3154680" cy="1371600"/>
          </a:xfrm>
          <a:prstGeom prst="rect">
            <a:avLst/>
          </a:prstGeom>
          <a:noFill/>
          <a:ln/>
        </p:spPr>
        <p:txBody>
          <a:bodyPr wrap="square" rtlCol="0" anchor="ctr"/>
          <a:lstStyle/>
          <a:p>
            <a:pPr indent="0" marL="0">
              <a:buNone/>
            </a:pPr>
            <a:r>
              <a:rPr lang="en-US" sz="8400" b="1" dirty="0">
                <a:solidFill>
                  <a:srgbClr val="EEF2FF"/>
                </a:solidFill>
                <a:latin typeface="DM Sans" pitchFamily="34" charset="0"/>
                <a:ea typeface="DM Sans" pitchFamily="34" charset="-122"/>
                <a:cs typeface="DM Sans" pitchFamily="34" charset="-120"/>
              </a:rPr>
              <a:t>02</a:t>
            </a:r>
            <a:endParaRPr lang="en-US" sz="8400" dirty="0"/>
          </a:p>
        </p:txBody>
      </p:sp>
      <p:sp>
        <p:nvSpPr>
          <p:cNvPr id="14" name="Text 12"/>
          <p:cNvSpPr/>
          <p:nvPr/>
        </p:nvSpPr>
        <p:spPr>
          <a:xfrm>
            <a:off x="4572000" y="4297680"/>
            <a:ext cx="3154680" cy="731520"/>
          </a:xfrm>
          <a:prstGeom prst="rect">
            <a:avLst/>
          </a:prstGeom>
          <a:noFill/>
          <a:ln/>
        </p:spPr>
        <p:txBody>
          <a:bodyPr wrap="square" rtlCol="0" anchor="ctr"/>
          <a:lstStyle/>
          <a:p>
            <a:pPr indent="0" marL="0">
              <a:lnSpc>
                <a:spcPct val="115000"/>
              </a:lnSpc>
              <a:buNone/>
            </a:pPr>
            <a:r>
              <a:rPr lang="en-US" sz="1800" b="1" dirty="0">
                <a:solidFill>
                  <a:srgbClr val="0F172A"/>
                </a:solidFill>
                <a:latin typeface="DM Sans" pitchFamily="34" charset="0"/>
                <a:ea typeface="DM Sans" pitchFamily="34" charset="-122"/>
                <a:cs typeface="DM Sans" pitchFamily="34" charset="-120"/>
              </a:rPr>
              <a:t>Your code, your repo, your VPS.</a:t>
            </a:r>
            <a:endParaRPr lang="en-US" sz="1800" dirty="0"/>
          </a:p>
        </p:txBody>
      </p:sp>
      <p:sp>
        <p:nvSpPr>
          <p:cNvPr id="15" name="Text 13"/>
          <p:cNvSpPr/>
          <p:nvPr/>
        </p:nvSpPr>
        <p:spPr>
          <a:xfrm>
            <a:off x="4572000" y="5029200"/>
            <a:ext cx="3154680" cy="9601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Every tenant gets a private GitHub repo on day one. Want to leave? You already own everything. Exit cost is zero — which is exactly why our customers stay.</a:t>
            </a:r>
            <a:endParaRPr lang="en-US" sz="1100" dirty="0"/>
          </a:p>
        </p:txBody>
      </p:sp>
      <p:sp>
        <p:nvSpPr>
          <p:cNvPr id="16" name="Shape 14"/>
          <p:cNvSpPr/>
          <p:nvPr/>
        </p:nvSpPr>
        <p:spPr>
          <a:xfrm>
            <a:off x="8092440" y="2103120"/>
            <a:ext cx="3611880" cy="3931920"/>
          </a:xfrm>
          <a:prstGeom prst="roundRect">
            <a:avLst>
              <a:gd name="adj" fmla="val 2025"/>
            </a:avLst>
          </a:prstGeom>
          <a:solidFill>
            <a:srgbClr val="FFFFFF"/>
          </a:solidFill>
          <a:ln w="9525">
            <a:solidFill>
              <a:srgbClr val="E2E8F0"/>
            </a:solidFill>
            <a:prstDash val="solid"/>
          </a:ln>
        </p:spPr>
      </p:sp>
      <p:sp>
        <p:nvSpPr>
          <p:cNvPr id="17" name="Shape 15"/>
          <p:cNvSpPr/>
          <p:nvPr/>
        </p:nvSpPr>
        <p:spPr>
          <a:xfrm>
            <a:off x="8092440" y="2103120"/>
            <a:ext cx="3611880" cy="54864"/>
          </a:xfrm>
          <a:prstGeom prst="rect">
            <a:avLst/>
          </a:prstGeom>
          <a:solidFill>
            <a:srgbClr val="4F46E5"/>
          </a:solidFill>
          <a:ln w="12700">
            <a:solidFill>
              <a:srgbClr val="4F46E5"/>
            </a:solidFill>
            <a:prstDash val="solid"/>
          </a:ln>
        </p:spPr>
      </p:sp>
      <p:sp>
        <p:nvSpPr>
          <p:cNvPr id="18" name="Text 16"/>
          <p:cNvSpPr/>
          <p:nvPr/>
        </p:nvSpPr>
        <p:spPr>
          <a:xfrm>
            <a:off x="8366760" y="2423160"/>
            <a:ext cx="315468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WEDGE 03</a:t>
            </a:r>
            <a:endParaRPr lang="en-US" sz="900" dirty="0"/>
          </a:p>
        </p:txBody>
      </p:sp>
      <p:sp>
        <p:nvSpPr>
          <p:cNvPr id="19" name="Text 17"/>
          <p:cNvSpPr/>
          <p:nvPr/>
        </p:nvSpPr>
        <p:spPr>
          <a:xfrm>
            <a:off x="8366760" y="2834640"/>
            <a:ext cx="3154680" cy="1371600"/>
          </a:xfrm>
          <a:prstGeom prst="rect">
            <a:avLst/>
          </a:prstGeom>
          <a:noFill/>
          <a:ln/>
        </p:spPr>
        <p:txBody>
          <a:bodyPr wrap="square" rtlCol="0" anchor="ctr"/>
          <a:lstStyle/>
          <a:p>
            <a:pPr indent="0" marL="0">
              <a:buNone/>
            </a:pPr>
            <a:r>
              <a:rPr lang="en-US" sz="8400" b="1" dirty="0">
                <a:solidFill>
                  <a:srgbClr val="EEF2FF"/>
                </a:solidFill>
                <a:latin typeface="DM Sans" pitchFamily="34" charset="0"/>
                <a:ea typeface="DM Sans" pitchFamily="34" charset="-122"/>
                <a:cs typeface="DM Sans" pitchFamily="34" charset="-120"/>
              </a:rPr>
              <a:t>03</a:t>
            </a:r>
            <a:endParaRPr lang="en-US" sz="8400" dirty="0"/>
          </a:p>
        </p:txBody>
      </p:sp>
      <p:sp>
        <p:nvSpPr>
          <p:cNvPr id="20" name="Text 18"/>
          <p:cNvSpPr/>
          <p:nvPr/>
        </p:nvSpPr>
        <p:spPr>
          <a:xfrm>
            <a:off x="8366760" y="4297680"/>
            <a:ext cx="3154680" cy="731520"/>
          </a:xfrm>
          <a:prstGeom prst="rect">
            <a:avLst/>
          </a:prstGeom>
          <a:noFill/>
          <a:ln/>
        </p:spPr>
        <p:txBody>
          <a:bodyPr wrap="square" rtlCol="0" anchor="ctr"/>
          <a:lstStyle/>
          <a:p>
            <a:pPr indent="0" marL="0">
              <a:lnSpc>
                <a:spcPct val="115000"/>
              </a:lnSpc>
              <a:buNone/>
            </a:pPr>
            <a:r>
              <a:rPr lang="en-US" sz="1800" b="1" dirty="0">
                <a:solidFill>
                  <a:srgbClr val="0F172A"/>
                </a:solidFill>
                <a:latin typeface="DM Sans" pitchFamily="34" charset="0"/>
                <a:ea typeface="DM Sans" pitchFamily="34" charset="-122"/>
                <a:cs typeface="DM Sans" pitchFamily="34" charset="-120"/>
              </a:rPr>
              <a:t>Pre-wired production stack.</a:t>
            </a:r>
            <a:endParaRPr lang="en-US" sz="1800" dirty="0"/>
          </a:p>
        </p:txBody>
      </p:sp>
      <p:sp>
        <p:nvSpPr>
          <p:cNvPr id="21" name="Text 19"/>
          <p:cNvSpPr/>
          <p:nvPr/>
        </p:nvSpPr>
        <p:spPr>
          <a:xfrm>
            <a:off x="8366760" y="5029200"/>
            <a:ext cx="3154680" cy="9601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Auth, Postgres, payments, mail, mobile, MoR billing — all wired and live on day one. It’s a working SaaS the moment they sign up, not a sandbox to graduate from.</a:t>
            </a:r>
            <a:endParaRPr lang="en-US" sz="1100" dirty="0"/>
          </a:p>
        </p:txBody>
      </p:sp>
      <p:sp>
        <p:nvSpPr>
          <p:cNvPr id="22" name="Text 20"/>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3" name="Text 21"/>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12  ·  BUSINESS MODEL</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Three tiers. Paddle as MoR. Repriced for the hype window.</a:t>
            </a:r>
            <a:endParaRPr lang="en-US" sz="3000" dirty="0"/>
          </a:p>
        </p:txBody>
      </p:sp>
      <p:sp>
        <p:nvSpPr>
          <p:cNvPr id="4" name="Shape 2"/>
          <p:cNvSpPr/>
          <p:nvPr/>
        </p:nvSpPr>
        <p:spPr>
          <a:xfrm>
            <a:off x="502920" y="1691640"/>
            <a:ext cx="3611880" cy="3931920"/>
          </a:xfrm>
          <a:prstGeom prst="roundRect">
            <a:avLst>
              <a:gd name="adj" fmla="val 2532"/>
            </a:avLst>
          </a:prstGeom>
          <a:solidFill>
            <a:srgbClr val="F6F5F1"/>
          </a:solidFill>
          <a:ln w="9525">
            <a:solidFill>
              <a:srgbClr val="E2E8F0"/>
            </a:solidFill>
            <a:prstDash val="solid"/>
          </a:ln>
        </p:spPr>
      </p:sp>
      <p:sp>
        <p:nvSpPr>
          <p:cNvPr id="5" name="Text 3"/>
          <p:cNvSpPr/>
          <p:nvPr/>
        </p:nvSpPr>
        <p:spPr>
          <a:xfrm>
            <a:off x="777240" y="1920240"/>
            <a:ext cx="3154680" cy="256032"/>
          </a:xfrm>
          <a:prstGeom prst="rect">
            <a:avLst/>
          </a:prstGeom>
          <a:noFill/>
          <a:ln/>
        </p:spPr>
        <p:txBody>
          <a:bodyPr wrap="square" rtlCol="0" anchor="ctr"/>
          <a:lstStyle/>
          <a:p>
            <a:pPr indent="0" marL="0">
              <a:buNone/>
            </a:pPr>
            <a:r>
              <a:rPr lang="en-US" sz="900" b="1" spc="400" kern="0" dirty="0">
                <a:solidFill>
                  <a:srgbClr val="94A3B8"/>
                </a:solidFill>
                <a:latin typeface="JetBrains Mono" pitchFamily="34" charset="0"/>
                <a:ea typeface="JetBrains Mono" pitchFamily="34" charset="-122"/>
                <a:cs typeface="JetBrains Mono" pitchFamily="34" charset="-120"/>
              </a:rPr>
              <a:t>FREE  ·  EVALUATION</a:t>
            </a:r>
            <a:endParaRPr lang="en-US" sz="900" dirty="0"/>
          </a:p>
        </p:txBody>
      </p:sp>
      <p:sp>
        <p:nvSpPr>
          <p:cNvPr id="6" name="Text 4"/>
          <p:cNvSpPr/>
          <p:nvPr/>
        </p:nvSpPr>
        <p:spPr>
          <a:xfrm>
            <a:off x="777240" y="2194560"/>
            <a:ext cx="3154680" cy="457200"/>
          </a:xfrm>
          <a:prstGeom prst="rect">
            <a:avLst/>
          </a:prstGeom>
          <a:noFill/>
          <a:ln/>
        </p:spPr>
        <p:txBody>
          <a:bodyPr wrap="square" rtlCol="0" anchor="ctr"/>
          <a:lstStyle/>
          <a:p>
            <a:pPr indent="0" marL="0">
              <a:buNone/>
            </a:pPr>
            <a:r>
              <a:rPr lang="en-US" sz="2200" b="1" dirty="0">
                <a:solidFill>
                  <a:srgbClr val="0F172A"/>
                </a:solidFill>
                <a:latin typeface="DM Sans" pitchFamily="34" charset="0"/>
                <a:ea typeface="DM Sans" pitchFamily="34" charset="-122"/>
                <a:cs typeface="DM Sans" pitchFamily="34" charset="-120"/>
              </a:rPr>
              <a:t>Sandbox</a:t>
            </a:r>
            <a:endParaRPr lang="en-US" sz="2200" dirty="0"/>
          </a:p>
        </p:txBody>
      </p:sp>
      <p:sp>
        <p:nvSpPr>
          <p:cNvPr id="7" name="Text 5"/>
          <p:cNvSpPr/>
          <p:nvPr/>
        </p:nvSpPr>
        <p:spPr>
          <a:xfrm>
            <a:off x="777240" y="2651760"/>
            <a:ext cx="3154680" cy="868680"/>
          </a:xfrm>
          <a:prstGeom prst="rect">
            <a:avLst/>
          </a:prstGeom>
          <a:noFill/>
          <a:ln/>
        </p:spPr>
        <p:txBody>
          <a:bodyPr wrap="square" rtlCol="0" anchor="ctr"/>
          <a:lstStyle/>
          <a:p>
            <a:pPr indent="0" marL="0">
              <a:buNone/>
            </a:pPr>
            <a:r>
              <a:rPr lang="en-US" sz="4800" b="1" dirty="0">
                <a:solidFill>
                  <a:srgbClr val="0F172A"/>
                </a:solidFill>
                <a:latin typeface="DM Sans" pitchFamily="34" charset="0"/>
                <a:ea typeface="DM Sans" pitchFamily="34" charset="-122"/>
                <a:cs typeface="DM Sans" pitchFamily="34" charset="-120"/>
              </a:rPr>
              <a:t>£0</a:t>
            </a:r>
            <a:endParaRPr lang="en-US" sz="4800" dirty="0"/>
          </a:p>
        </p:txBody>
      </p:sp>
      <p:sp>
        <p:nvSpPr>
          <p:cNvPr id="8" name="Text 6"/>
          <p:cNvSpPr/>
          <p:nvPr/>
        </p:nvSpPr>
        <p:spPr>
          <a:xfrm>
            <a:off x="777240" y="3520440"/>
            <a:ext cx="3154680" cy="457200"/>
          </a:xfrm>
          <a:prstGeom prst="rect">
            <a:avLst/>
          </a:prstGeom>
          <a:noFill/>
          <a:ln/>
        </p:spPr>
        <p:txBody>
          <a:bodyPr wrap="square" rtlCol="0" anchor="ctr"/>
          <a:lstStyle/>
          <a:p>
            <a:pPr indent="0" marL="0">
              <a:lnSpc>
                <a:spcPct val="125000"/>
              </a:lnSpc>
              <a:buNone/>
            </a:pPr>
            <a:r>
              <a:rPr lang="en-US" sz="1000" i="1" dirty="0">
                <a:solidFill>
                  <a:srgbClr val="64748B"/>
                </a:solidFill>
                <a:latin typeface="DM Sans" pitchFamily="34" charset="0"/>
                <a:ea typeface="DM Sans" pitchFamily="34" charset="-122"/>
                <a:cs typeface="DM Sans" pitchFamily="34" charset="-120"/>
              </a:rPr>
              <a:t>30-day idle auto-archive</a:t>
            </a:r>
            <a:endParaRPr lang="en-US" sz="1000" dirty="0"/>
          </a:p>
        </p:txBody>
      </p:sp>
      <p:sp>
        <p:nvSpPr>
          <p:cNvPr id="9" name="Text 7"/>
          <p:cNvSpPr/>
          <p:nvPr/>
        </p:nvSpPr>
        <p:spPr>
          <a:xfrm>
            <a:off x="777240" y="4069080"/>
            <a:ext cx="3154680" cy="1481328"/>
          </a:xfrm>
          <a:prstGeom prst="rect">
            <a:avLst/>
          </a:prstGeom>
          <a:noFill/>
          <a:ln/>
        </p:spPr>
        <p:txBody>
          <a:bodyPr wrap="square" rtlCol="0" anchor="ctr"/>
          <a:lstStyle/>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Sandbox at &lt;slug&gt;.hatchik.com</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Shared host (Hetzner CAX31)</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GitHub repo + AI handoff</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Capped: one active per email</a:t>
            </a:r>
            <a:endParaRPr lang="en-US" sz="1000" dirty="0"/>
          </a:p>
        </p:txBody>
      </p:sp>
      <p:sp>
        <p:nvSpPr>
          <p:cNvPr id="10" name="Shape 8"/>
          <p:cNvSpPr/>
          <p:nvPr/>
        </p:nvSpPr>
        <p:spPr>
          <a:xfrm>
            <a:off x="4297680" y="1691640"/>
            <a:ext cx="3611880" cy="3931920"/>
          </a:xfrm>
          <a:prstGeom prst="roundRect">
            <a:avLst>
              <a:gd name="adj" fmla="val 2532"/>
            </a:avLst>
          </a:prstGeom>
          <a:solidFill>
            <a:srgbClr val="0F172A"/>
          </a:solidFill>
          <a:ln w="25400">
            <a:solidFill>
              <a:srgbClr val="F59E0B"/>
            </a:solidFill>
            <a:prstDash val="solid"/>
          </a:ln>
        </p:spPr>
      </p:sp>
      <p:sp>
        <p:nvSpPr>
          <p:cNvPr id="11" name="Text 9"/>
          <p:cNvSpPr/>
          <p:nvPr/>
        </p:nvSpPr>
        <p:spPr>
          <a:xfrm>
            <a:off x="4572000" y="1920240"/>
            <a:ext cx="3154680" cy="256032"/>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PRODUCTION  ·  SOLO</a:t>
            </a:r>
            <a:endParaRPr lang="en-US" sz="900" dirty="0"/>
          </a:p>
        </p:txBody>
      </p:sp>
      <p:sp>
        <p:nvSpPr>
          <p:cNvPr id="12" name="Text 10"/>
          <p:cNvSpPr/>
          <p:nvPr/>
        </p:nvSpPr>
        <p:spPr>
          <a:xfrm>
            <a:off x="4572000" y="2194560"/>
            <a:ext cx="3154680" cy="457200"/>
          </a:xfrm>
          <a:prstGeom prst="rect">
            <a:avLst/>
          </a:prstGeom>
          <a:noFill/>
          <a:ln/>
        </p:spPr>
        <p:txBody>
          <a:bodyPr wrap="square" rtlCol="0" anchor="ctr"/>
          <a:lstStyle/>
          <a:p>
            <a:pPr indent="0" marL="0">
              <a:buNone/>
            </a:pPr>
            <a:r>
              <a:rPr lang="en-US" sz="2200" b="1" dirty="0">
                <a:solidFill>
                  <a:srgbClr val="FFFFFF"/>
                </a:solidFill>
                <a:latin typeface="DM Sans" pitchFamily="34" charset="0"/>
                <a:ea typeface="DM Sans" pitchFamily="34" charset="-122"/>
                <a:cs typeface="DM Sans" pitchFamily="34" charset="-120"/>
              </a:rPr>
              <a:t>Launch</a:t>
            </a:r>
            <a:endParaRPr lang="en-US" sz="2200" dirty="0"/>
          </a:p>
        </p:txBody>
      </p:sp>
      <p:sp>
        <p:nvSpPr>
          <p:cNvPr id="13" name="Text 11"/>
          <p:cNvSpPr/>
          <p:nvPr/>
        </p:nvSpPr>
        <p:spPr>
          <a:xfrm>
            <a:off x="4572000" y="2651760"/>
            <a:ext cx="3154680" cy="868680"/>
          </a:xfrm>
          <a:prstGeom prst="rect">
            <a:avLst/>
          </a:prstGeom>
          <a:noFill/>
          <a:ln/>
        </p:spPr>
        <p:txBody>
          <a:bodyPr wrap="square" rtlCol="0" anchor="ctr"/>
          <a:lstStyle/>
          <a:p>
            <a:pPr indent="0" marL="0">
              <a:buNone/>
            </a:pPr>
            <a:r>
              <a:rPr lang="en-US" sz="4800" b="1" dirty="0">
                <a:solidFill>
                  <a:srgbClr val="FFFFFF"/>
                </a:solidFill>
                <a:latin typeface="DM Sans" pitchFamily="34" charset="0"/>
                <a:ea typeface="DM Sans" pitchFamily="34" charset="-122"/>
                <a:cs typeface="DM Sans" pitchFamily="34" charset="-120"/>
              </a:rPr>
              <a:t>£89</a:t>
            </a:r>
            <a:endParaRPr lang="en-US" sz="4800" dirty="0"/>
          </a:p>
        </p:txBody>
      </p:sp>
      <p:sp>
        <p:nvSpPr>
          <p:cNvPr id="14" name="Text 12"/>
          <p:cNvSpPr/>
          <p:nvPr/>
        </p:nvSpPr>
        <p:spPr>
          <a:xfrm>
            <a:off x="4572000" y="3520440"/>
            <a:ext cx="3154680" cy="457200"/>
          </a:xfrm>
          <a:prstGeom prst="rect">
            <a:avLst/>
          </a:prstGeom>
          <a:noFill/>
          <a:ln/>
        </p:spPr>
        <p:txBody>
          <a:bodyPr wrap="square" rtlCol="0" anchor="ctr"/>
          <a:lstStyle/>
          <a:p>
            <a:pPr indent="0" marL="0">
              <a:lnSpc>
                <a:spcPct val="125000"/>
              </a:lnSpc>
              <a:buNone/>
            </a:pPr>
            <a:r>
              <a:rPr lang="en-US" sz="1000" i="1" dirty="0">
                <a:solidFill>
                  <a:srgbClr val="F59E0B"/>
                </a:solidFill>
                <a:latin typeface="DM Sans" pitchFamily="34" charset="0"/>
                <a:ea typeface="DM Sans" pitchFamily="34" charset="-122"/>
                <a:cs typeface="DM Sans" pitchFamily="34" charset="-120"/>
              </a:rPr>
              <a:t>setup, then £14/mo annual or £17/mo monthly</a:t>
            </a:r>
            <a:endParaRPr lang="en-US" sz="1000" dirty="0"/>
          </a:p>
        </p:txBody>
      </p:sp>
      <p:sp>
        <p:nvSpPr>
          <p:cNvPr id="15" name="Text 13"/>
          <p:cNvSpPr/>
          <p:nvPr/>
        </p:nvSpPr>
        <p:spPr>
          <a:xfrm>
            <a:off x="4572000" y="4069080"/>
            <a:ext cx="3154680" cy="1481328"/>
          </a:xfrm>
          <a:prstGeom prst="rect">
            <a:avLst/>
          </a:prstGeom>
          <a:noFill/>
          <a:ln/>
        </p:spPr>
        <p:txBody>
          <a:bodyPr wrap="square" rtlCol="0" anchor="ctr"/>
          <a:lstStyle/>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Production hosting + domain + mailboxes</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Shared host in customer region</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3 mailboxes (Infomaniak)</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BYO or registered domain</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Push-to-deploy + mobile builds</a:t>
            </a:r>
            <a:endParaRPr lang="en-US" sz="1000" dirty="0"/>
          </a:p>
        </p:txBody>
      </p:sp>
      <p:sp>
        <p:nvSpPr>
          <p:cNvPr id="16" name="Shape 14"/>
          <p:cNvSpPr/>
          <p:nvPr/>
        </p:nvSpPr>
        <p:spPr>
          <a:xfrm>
            <a:off x="8092440" y="1691640"/>
            <a:ext cx="3611880" cy="3931920"/>
          </a:xfrm>
          <a:prstGeom prst="roundRect">
            <a:avLst>
              <a:gd name="adj" fmla="val 2532"/>
            </a:avLst>
          </a:prstGeom>
          <a:solidFill>
            <a:srgbClr val="F6F5F1"/>
          </a:solidFill>
          <a:ln w="9525">
            <a:solidFill>
              <a:srgbClr val="E2E8F0"/>
            </a:solidFill>
            <a:prstDash val="solid"/>
          </a:ln>
        </p:spPr>
      </p:sp>
      <p:sp>
        <p:nvSpPr>
          <p:cNvPr id="17" name="Text 15"/>
          <p:cNvSpPr/>
          <p:nvPr/>
        </p:nvSpPr>
        <p:spPr>
          <a:xfrm>
            <a:off x="8366760" y="1920240"/>
            <a:ext cx="3154680" cy="256032"/>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PRODUCTION  ·  SCALE</a:t>
            </a:r>
            <a:endParaRPr lang="en-US" sz="900" dirty="0"/>
          </a:p>
        </p:txBody>
      </p:sp>
      <p:sp>
        <p:nvSpPr>
          <p:cNvPr id="18" name="Text 16"/>
          <p:cNvSpPr/>
          <p:nvPr/>
        </p:nvSpPr>
        <p:spPr>
          <a:xfrm>
            <a:off x="8366760" y="2194560"/>
            <a:ext cx="3154680" cy="457200"/>
          </a:xfrm>
          <a:prstGeom prst="rect">
            <a:avLst/>
          </a:prstGeom>
          <a:noFill/>
          <a:ln/>
        </p:spPr>
        <p:txBody>
          <a:bodyPr wrap="square" rtlCol="0" anchor="ctr"/>
          <a:lstStyle/>
          <a:p>
            <a:pPr indent="0" marL="0">
              <a:buNone/>
            </a:pPr>
            <a:r>
              <a:rPr lang="en-US" sz="2200" b="1" dirty="0">
                <a:solidFill>
                  <a:srgbClr val="0F172A"/>
                </a:solidFill>
                <a:latin typeface="DM Sans" pitchFamily="34" charset="0"/>
                <a:ea typeface="DM Sans" pitchFamily="34" charset="-122"/>
                <a:cs typeface="DM Sans" pitchFamily="34" charset="-120"/>
              </a:rPr>
              <a:t>Growth</a:t>
            </a:r>
            <a:endParaRPr lang="en-US" sz="2200" dirty="0"/>
          </a:p>
        </p:txBody>
      </p:sp>
      <p:sp>
        <p:nvSpPr>
          <p:cNvPr id="19" name="Text 17"/>
          <p:cNvSpPr/>
          <p:nvPr/>
        </p:nvSpPr>
        <p:spPr>
          <a:xfrm>
            <a:off x="8366760" y="2651760"/>
            <a:ext cx="3154680" cy="868680"/>
          </a:xfrm>
          <a:prstGeom prst="rect">
            <a:avLst/>
          </a:prstGeom>
          <a:noFill/>
          <a:ln/>
        </p:spPr>
        <p:txBody>
          <a:bodyPr wrap="square" rtlCol="0" anchor="ctr"/>
          <a:lstStyle/>
          <a:p>
            <a:pPr indent="0" marL="0">
              <a:buNone/>
            </a:pPr>
            <a:r>
              <a:rPr lang="en-US" sz="4800" b="1" dirty="0">
                <a:solidFill>
                  <a:srgbClr val="0F172A"/>
                </a:solidFill>
                <a:latin typeface="DM Sans" pitchFamily="34" charset="0"/>
                <a:ea typeface="DM Sans" pitchFamily="34" charset="-122"/>
                <a:cs typeface="DM Sans" pitchFamily="34" charset="-120"/>
              </a:rPr>
              <a:t>£39</a:t>
            </a:r>
            <a:endParaRPr lang="en-US" sz="4800" dirty="0"/>
          </a:p>
        </p:txBody>
      </p:sp>
      <p:sp>
        <p:nvSpPr>
          <p:cNvPr id="20" name="Text 18"/>
          <p:cNvSpPr/>
          <p:nvPr/>
        </p:nvSpPr>
        <p:spPr>
          <a:xfrm>
            <a:off x="8366760" y="3520440"/>
            <a:ext cx="3154680" cy="457200"/>
          </a:xfrm>
          <a:prstGeom prst="rect">
            <a:avLst/>
          </a:prstGeom>
          <a:noFill/>
          <a:ln/>
        </p:spPr>
        <p:txBody>
          <a:bodyPr wrap="square" rtlCol="0" anchor="ctr"/>
          <a:lstStyle/>
          <a:p>
            <a:pPr indent="0" marL="0">
              <a:lnSpc>
                <a:spcPct val="125000"/>
              </a:lnSpc>
              <a:buNone/>
            </a:pPr>
            <a:r>
              <a:rPr lang="en-US" sz="1000" i="1" dirty="0">
                <a:solidFill>
                  <a:srgbClr val="64748B"/>
                </a:solidFill>
                <a:latin typeface="DM Sans" pitchFamily="34" charset="0"/>
                <a:ea typeface="DM Sans" pitchFamily="34" charset="-122"/>
                <a:cs typeface="DM Sans" pitchFamily="34" charset="-120"/>
              </a:rPr>
              <a:t>per month</a:t>
            </a:r>
            <a:endParaRPr lang="en-US" sz="1000" dirty="0"/>
          </a:p>
        </p:txBody>
      </p:sp>
      <p:sp>
        <p:nvSpPr>
          <p:cNvPr id="21" name="Text 19"/>
          <p:cNvSpPr/>
          <p:nvPr/>
        </p:nvSpPr>
        <p:spPr>
          <a:xfrm>
            <a:off x="8366760" y="4069080"/>
            <a:ext cx="3154680" cy="1481328"/>
          </a:xfrm>
          <a:prstGeom prst="rect">
            <a:avLst/>
          </a:prstGeom>
          <a:noFill/>
          <a:ln/>
        </p:spPr>
        <p:txBody>
          <a:bodyPr wrap="square" rtlCol="0" anchor="ctr"/>
          <a:lstStyle/>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Dedicated VPS in your region</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Priority redeploy queue</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Cohort analytics access</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10 mailboxes + Supabase Studio</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Founder support window</a:t>
            </a:r>
            <a:endParaRPr lang="en-US" sz="1000" dirty="0"/>
          </a:p>
        </p:txBody>
      </p:sp>
      <p:sp>
        <p:nvSpPr>
          <p:cNvPr id="22" name="Shape 20"/>
          <p:cNvSpPr/>
          <p:nvPr/>
        </p:nvSpPr>
        <p:spPr>
          <a:xfrm>
            <a:off x="502920" y="5760720"/>
            <a:ext cx="11155680" cy="685800"/>
          </a:xfrm>
          <a:prstGeom prst="roundRect">
            <a:avLst>
              <a:gd name="adj" fmla="val 10667"/>
            </a:avLst>
          </a:prstGeom>
          <a:solidFill>
            <a:srgbClr val="EEF2FF"/>
          </a:solidFill>
          <a:ln w="9525">
            <a:solidFill>
              <a:srgbClr val="4F46E5"/>
            </a:solidFill>
            <a:prstDash val="solid"/>
          </a:ln>
        </p:spPr>
      </p:sp>
      <p:sp>
        <p:nvSpPr>
          <p:cNvPr id="23" name="Text 21"/>
          <p:cNvSpPr/>
          <p:nvPr/>
        </p:nvSpPr>
        <p:spPr>
          <a:xfrm>
            <a:off x="868680" y="5806440"/>
            <a:ext cx="10424160" cy="201168"/>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REPRICED + PASS-THROUGH OVERAGE</a:t>
            </a:r>
            <a:endParaRPr lang="en-US" sz="900" dirty="0"/>
          </a:p>
        </p:txBody>
      </p:sp>
      <p:sp>
        <p:nvSpPr>
          <p:cNvPr id="24" name="Text 22"/>
          <p:cNvSpPr/>
          <p:nvPr/>
        </p:nvSpPr>
        <p:spPr>
          <a:xfrm>
            <a:off x="868680" y="6007608"/>
            <a:ext cx="10424160" cy="411480"/>
          </a:xfrm>
          <a:prstGeom prst="rect">
            <a:avLst/>
          </a:prstGeom>
          <a:noFill/>
          <a:ln/>
        </p:spPr>
        <p:txBody>
          <a:bodyPr wrap="square" rtlCol="0" anchor="ctr"/>
          <a:lstStyle/>
          <a:p>
            <a:pPr indent="0" marL="0">
              <a:lnSpc>
                <a:spcPct val="125000"/>
              </a:lnSpc>
              <a:buNone/>
            </a:pPr>
            <a:r>
              <a:rPr lang="en-US" sz="900" dirty="0">
                <a:solidFill>
                  <a:srgbClr val="334155"/>
                </a:solidFill>
                <a:latin typeface="DM Sans" pitchFamily="34" charset="0"/>
                <a:ea typeface="DM Sans" pitchFamily="34" charset="-122"/>
                <a:cs typeface="DM Sans" pitchFamily="34" charset="-120"/>
              </a:rPr>
              <a:t>Pass-through overage (cost × 1.60 = 40% Hatchik net + Paddle pass-through). PAYG £5 top-up packs — no credit risk. Mid-range Launch £11.55/mo; Growth £31.74/mo; Sandbox cost £0.30/mo. Full sensitivity: AI_COGS_SENSITIVITY.xlsx.</a:t>
            </a:r>
            <a:endParaRPr lang="en-US" sz="900" dirty="0"/>
          </a:p>
        </p:txBody>
      </p:sp>
      <p:sp>
        <p:nvSpPr>
          <p:cNvPr id="25" name="Text 2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6" name="Text 2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13  ·  GO-TO-MARKET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Sprint cadence. 3× heavier in months 2-6.</a:t>
            </a:r>
            <a:endParaRPr lang="en-US" sz="3000" dirty="0"/>
          </a:p>
        </p:txBody>
      </p:sp>
      <p:sp>
        <p:nvSpPr>
          <p:cNvPr id="4" name="Shape 2"/>
          <p:cNvSpPr/>
          <p:nvPr/>
        </p:nvSpPr>
        <p:spPr>
          <a:xfrm>
            <a:off x="502920" y="1783080"/>
            <a:ext cx="11155680" cy="914400"/>
          </a:xfrm>
          <a:prstGeom prst="roundRect">
            <a:avLst>
              <a:gd name="adj" fmla="val 8000"/>
            </a:avLst>
          </a:prstGeom>
          <a:solidFill>
            <a:srgbClr val="FFFFFF"/>
          </a:solidFill>
          <a:ln w="9525">
            <a:solidFill>
              <a:srgbClr val="E2E8F0"/>
            </a:solidFill>
            <a:prstDash val="solid"/>
          </a:ln>
        </p:spPr>
      </p:sp>
      <p:sp>
        <p:nvSpPr>
          <p:cNvPr id="5" name="Shape 3"/>
          <p:cNvSpPr/>
          <p:nvPr/>
        </p:nvSpPr>
        <p:spPr>
          <a:xfrm>
            <a:off x="502920" y="1783080"/>
            <a:ext cx="91440" cy="914400"/>
          </a:xfrm>
          <a:prstGeom prst="rect">
            <a:avLst/>
          </a:prstGeom>
          <a:solidFill>
            <a:srgbClr val="4F46E5"/>
          </a:solidFill>
          <a:ln w="12700">
            <a:solidFill>
              <a:srgbClr val="333333"/>
            </a:solidFill>
            <a:prstDash val="solid"/>
          </a:ln>
        </p:spPr>
      </p:sp>
      <p:sp>
        <p:nvSpPr>
          <p:cNvPr id="6" name="Text 4"/>
          <p:cNvSpPr/>
          <p:nvPr/>
        </p:nvSpPr>
        <p:spPr>
          <a:xfrm>
            <a:off x="777240" y="1892808"/>
            <a:ext cx="502920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MONTHS 0-2  ·  BETA + LAUNCH</a:t>
            </a:r>
            <a:endParaRPr lang="en-US" sz="850" dirty="0"/>
          </a:p>
        </p:txBody>
      </p:sp>
      <p:sp>
        <p:nvSpPr>
          <p:cNvPr id="7" name="Text 5"/>
          <p:cNvSpPr/>
          <p:nvPr/>
        </p:nvSpPr>
        <p:spPr>
          <a:xfrm>
            <a:off x="777240" y="214884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Founder-led, 100 friendly users</a:t>
            </a:r>
            <a:endParaRPr lang="en-US" sz="1500" dirty="0"/>
          </a:p>
        </p:txBody>
      </p:sp>
      <p:sp>
        <p:nvSpPr>
          <p:cNvPr id="8" name="Text 6"/>
          <p:cNvSpPr/>
          <p:nvPr/>
        </p:nvSpPr>
        <p:spPr>
          <a:xfrm>
            <a:off x="5897880" y="192024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Polished sandbox, pricing tested on first 50 paying. Tight feedback loop. No marketing spend yet.</a:t>
            </a:r>
            <a:endParaRPr lang="en-US" sz="1050" dirty="0"/>
          </a:p>
        </p:txBody>
      </p:sp>
      <p:sp>
        <p:nvSpPr>
          <p:cNvPr id="9" name="Shape 7"/>
          <p:cNvSpPr/>
          <p:nvPr/>
        </p:nvSpPr>
        <p:spPr>
          <a:xfrm>
            <a:off x="502920" y="2834640"/>
            <a:ext cx="11155680" cy="914400"/>
          </a:xfrm>
          <a:prstGeom prst="roundRect">
            <a:avLst>
              <a:gd name="adj" fmla="val 8000"/>
            </a:avLst>
          </a:prstGeom>
          <a:solidFill>
            <a:srgbClr val="FFFFFF"/>
          </a:solidFill>
          <a:ln w="9525">
            <a:solidFill>
              <a:srgbClr val="E2E8F0"/>
            </a:solidFill>
            <a:prstDash val="solid"/>
          </a:ln>
        </p:spPr>
      </p:sp>
      <p:sp>
        <p:nvSpPr>
          <p:cNvPr id="10" name="Shape 8"/>
          <p:cNvSpPr/>
          <p:nvPr/>
        </p:nvSpPr>
        <p:spPr>
          <a:xfrm>
            <a:off x="502920" y="2834640"/>
            <a:ext cx="91440" cy="914400"/>
          </a:xfrm>
          <a:prstGeom prst="rect">
            <a:avLst/>
          </a:prstGeom>
          <a:solidFill>
            <a:srgbClr val="F59E0B"/>
          </a:solidFill>
          <a:ln w="12700">
            <a:solidFill>
              <a:srgbClr val="333333"/>
            </a:solidFill>
            <a:prstDash val="solid"/>
          </a:ln>
        </p:spPr>
      </p:sp>
      <p:sp>
        <p:nvSpPr>
          <p:cNvPr id="11" name="Text 9"/>
          <p:cNvSpPr/>
          <p:nvPr/>
        </p:nvSpPr>
        <p:spPr>
          <a:xfrm>
            <a:off x="777240" y="2944368"/>
            <a:ext cx="5029200" cy="228600"/>
          </a:xfrm>
          <a:prstGeom prst="rect">
            <a:avLst/>
          </a:prstGeom>
          <a:noFill/>
          <a:ln/>
        </p:spPr>
        <p:txBody>
          <a:bodyPr wrap="square" rtlCol="0" anchor="ctr"/>
          <a:lstStyle/>
          <a:p>
            <a:pPr indent="0" marL="0">
              <a:buNone/>
            </a:pPr>
            <a:r>
              <a:rPr lang="en-US" sz="850" b="1" spc="300" kern="0" dirty="0">
                <a:solidFill>
                  <a:srgbClr val="B45309"/>
                </a:solidFill>
                <a:latin typeface="JetBrains Mono" pitchFamily="34" charset="0"/>
                <a:ea typeface="JetBrains Mono" pitchFamily="34" charset="-122"/>
                <a:cs typeface="JetBrains Mono" pitchFamily="34" charset="-120"/>
              </a:rPr>
              <a:t>MONTHS 2-4  ·  HYPE INJECTION</a:t>
            </a:r>
            <a:endParaRPr lang="en-US" sz="850" dirty="0"/>
          </a:p>
        </p:txBody>
      </p:sp>
      <p:sp>
        <p:nvSpPr>
          <p:cNvPr id="12" name="Text 10"/>
          <p:cNvSpPr/>
          <p:nvPr/>
        </p:nvSpPr>
        <p:spPr>
          <a:xfrm>
            <a:off x="777240" y="320040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Product Hunt + Show HN + 5× YouTube</a:t>
            </a:r>
            <a:endParaRPr lang="en-US" sz="1500" dirty="0"/>
          </a:p>
        </p:txBody>
      </p:sp>
      <p:sp>
        <p:nvSpPr>
          <p:cNvPr id="13" name="Text 11"/>
          <p:cNvSpPr/>
          <p:nvPr/>
        </p:nvSpPr>
        <p:spPr>
          <a:xfrm>
            <a:off x="5897880" y="297180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All four channels lit at once. Theo, Fireship-adjacents, indie-hacker channels. Target 5K signups, 250-500 paying.</a:t>
            </a:r>
            <a:endParaRPr lang="en-US" sz="1050" dirty="0"/>
          </a:p>
        </p:txBody>
      </p:sp>
      <p:sp>
        <p:nvSpPr>
          <p:cNvPr id="14" name="Shape 12"/>
          <p:cNvSpPr/>
          <p:nvPr/>
        </p:nvSpPr>
        <p:spPr>
          <a:xfrm>
            <a:off x="502920" y="3886200"/>
            <a:ext cx="11155680" cy="914400"/>
          </a:xfrm>
          <a:prstGeom prst="roundRect">
            <a:avLst>
              <a:gd name="adj" fmla="val 8000"/>
            </a:avLst>
          </a:prstGeom>
          <a:solidFill>
            <a:srgbClr val="FFFFFF"/>
          </a:solidFill>
          <a:ln w="9525">
            <a:solidFill>
              <a:srgbClr val="E2E8F0"/>
            </a:solidFill>
            <a:prstDash val="solid"/>
          </a:ln>
        </p:spPr>
      </p:sp>
      <p:sp>
        <p:nvSpPr>
          <p:cNvPr id="15" name="Shape 13"/>
          <p:cNvSpPr/>
          <p:nvPr/>
        </p:nvSpPr>
        <p:spPr>
          <a:xfrm>
            <a:off x="502920" y="3886200"/>
            <a:ext cx="91440" cy="914400"/>
          </a:xfrm>
          <a:prstGeom prst="rect">
            <a:avLst/>
          </a:prstGeom>
          <a:solidFill>
            <a:srgbClr val="4F46E5"/>
          </a:solidFill>
          <a:ln w="12700">
            <a:solidFill>
              <a:srgbClr val="333333"/>
            </a:solidFill>
            <a:prstDash val="solid"/>
          </a:ln>
        </p:spPr>
      </p:sp>
      <p:sp>
        <p:nvSpPr>
          <p:cNvPr id="16" name="Text 14"/>
          <p:cNvSpPr/>
          <p:nvPr/>
        </p:nvSpPr>
        <p:spPr>
          <a:xfrm>
            <a:off x="777240" y="3995928"/>
            <a:ext cx="502920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MONTHS 4-6  ·  COMPOUND</a:t>
            </a:r>
            <a:endParaRPr lang="en-US" sz="850" dirty="0"/>
          </a:p>
        </p:txBody>
      </p:sp>
      <p:sp>
        <p:nvSpPr>
          <p:cNvPr id="17" name="Text 15"/>
          <p:cNvSpPr/>
          <p:nvPr/>
        </p:nvSpPr>
        <p:spPr>
          <a:xfrm>
            <a:off x="777240" y="425196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Reddit + X build-in-public + newsletters</a:t>
            </a:r>
            <a:endParaRPr lang="en-US" sz="1500" dirty="0"/>
          </a:p>
        </p:txBody>
      </p:sp>
      <p:sp>
        <p:nvSpPr>
          <p:cNvPr id="18" name="Text 16"/>
          <p:cNvSpPr/>
          <p:nvPr/>
        </p:nvSpPr>
        <p:spPr>
          <a:xfrm>
            <a:off x="5897880" y="402336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r/ClaudeAI, r/cursor value content. Weekly MRR posts on X. First partnership signal. Target 15K signups, 1.5-2K paying.</a:t>
            </a:r>
            <a:endParaRPr lang="en-US" sz="1050" dirty="0"/>
          </a:p>
        </p:txBody>
      </p:sp>
      <p:sp>
        <p:nvSpPr>
          <p:cNvPr id="19" name="Shape 17"/>
          <p:cNvSpPr/>
          <p:nvPr/>
        </p:nvSpPr>
        <p:spPr>
          <a:xfrm>
            <a:off x="502920" y="4937760"/>
            <a:ext cx="11155680" cy="914400"/>
          </a:xfrm>
          <a:prstGeom prst="roundRect">
            <a:avLst>
              <a:gd name="adj" fmla="val 8000"/>
            </a:avLst>
          </a:prstGeom>
          <a:solidFill>
            <a:srgbClr val="FFFFFF"/>
          </a:solidFill>
          <a:ln w="9525">
            <a:solidFill>
              <a:srgbClr val="E2E8F0"/>
            </a:solidFill>
            <a:prstDash val="solid"/>
          </a:ln>
        </p:spPr>
      </p:sp>
      <p:sp>
        <p:nvSpPr>
          <p:cNvPr id="20" name="Shape 18"/>
          <p:cNvSpPr/>
          <p:nvPr/>
        </p:nvSpPr>
        <p:spPr>
          <a:xfrm>
            <a:off x="502920" y="4937760"/>
            <a:ext cx="91440" cy="914400"/>
          </a:xfrm>
          <a:prstGeom prst="rect">
            <a:avLst/>
          </a:prstGeom>
          <a:solidFill>
            <a:srgbClr val="4F46E5"/>
          </a:solidFill>
          <a:ln w="12700">
            <a:solidFill>
              <a:srgbClr val="333333"/>
            </a:solidFill>
            <a:prstDash val="solid"/>
          </a:ln>
        </p:spPr>
      </p:sp>
      <p:sp>
        <p:nvSpPr>
          <p:cNvPr id="21" name="Text 19"/>
          <p:cNvSpPr/>
          <p:nvPr/>
        </p:nvSpPr>
        <p:spPr>
          <a:xfrm>
            <a:off x="777240" y="5047488"/>
            <a:ext cx="502920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MONTHS 6-15  ·  DECIDE + CAPITALISE</a:t>
            </a:r>
            <a:endParaRPr lang="en-US" sz="850" dirty="0"/>
          </a:p>
        </p:txBody>
      </p:sp>
      <p:sp>
        <p:nvSpPr>
          <p:cNvPr id="22" name="Text 20"/>
          <p:cNvSpPr/>
          <p:nvPr/>
        </p:nvSpPr>
        <p:spPr>
          <a:xfrm>
            <a:off x="777240" y="530352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Raise, exit, or stay lean</a:t>
            </a:r>
            <a:endParaRPr lang="en-US" sz="1500" dirty="0"/>
          </a:p>
        </p:txBody>
      </p:sp>
      <p:sp>
        <p:nvSpPr>
          <p:cNvPr id="23" name="Text 21"/>
          <p:cNvSpPr/>
          <p:nvPr/>
        </p:nvSpPr>
        <p:spPr>
          <a:xfrm>
            <a:off x="5897880" y="507492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Month 6-9: pre-seed conversation, acquirer signalling, or run lean. Month 9-15: paid acquisition engine if numbers support it.</a:t>
            </a:r>
            <a:endParaRPr lang="en-US" sz="1050" dirty="0"/>
          </a:p>
        </p:txBody>
      </p:sp>
      <p:sp>
        <p:nvSpPr>
          <p:cNvPr id="24" name="Text 22"/>
          <p:cNvSpPr/>
          <p:nvPr/>
        </p:nvSpPr>
        <p:spPr>
          <a:xfrm>
            <a:off x="502920" y="6126480"/>
            <a:ext cx="10972800" cy="228600"/>
          </a:xfrm>
          <a:prstGeom prst="rect">
            <a:avLst/>
          </a:prstGeom>
          <a:noFill/>
          <a:ln/>
        </p:spPr>
        <p:txBody>
          <a:bodyPr wrap="square" rtlCol="0" anchor="ctr"/>
          <a:lstStyle/>
          <a:p>
            <a:pPr algn="ctr" indent="0" marL="0">
              <a:buNone/>
            </a:pPr>
            <a:r>
              <a:rPr lang="en-US" sz="1000" i="1" dirty="0">
                <a:solidFill>
                  <a:srgbClr val="64748B"/>
                </a:solidFill>
                <a:latin typeface="DM Sans" pitchFamily="34" charset="0"/>
                <a:ea typeface="DM Sans" pitchFamily="34" charset="-122"/>
                <a:cs typeface="DM Sans" pitchFamily="34" charset="-120"/>
              </a:rPr>
              <a:t>Four channels stay. Intensity is 3× heavier in months 2-6 than a steady-state launch. The window doesn’t reopen.</a:t>
            </a:r>
            <a:endParaRPr lang="en-US" sz="1000" dirty="0"/>
          </a:p>
        </p:txBody>
      </p:sp>
      <p:sp>
        <p:nvSpPr>
          <p:cNvPr id="25" name="Text 2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6" name="Text 2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14  ·  FUNNEL + ASSUMPTIONS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Validate by signup #100. Decide raise-or-exit by month 6.</a:t>
            </a:r>
            <a:endParaRPr lang="en-US" sz="3000" dirty="0"/>
          </a:p>
        </p:txBody>
      </p:sp>
      <p:sp>
        <p:nvSpPr>
          <p:cNvPr id="4" name="Shape 2"/>
          <p:cNvSpPr/>
          <p:nvPr/>
        </p:nvSpPr>
        <p:spPr>
          <a:xfrm>
            <a:off x="502920" y="1874520"/>
            <a:ext cx="4572000" cy="3749040"/>
          </a:xfrm>
          <a:prstGeom prst="roundRect">
            <a:avLst>
              <a:gd name="adj" fmla="val 1951"/>
            </a:avLst>
          </a:prstGeom>
          <a:solidFill>
            <a:srgbClr val="FFFFFF"/>
          </a:solidFill>
          <a:ln w="9525">
            <a:solidFill>
              <a:srgbClr val="E2E8F0"/>
            </a:solidFill>
            <a:prstDash val="solid"/>
          </a:ln>
        </p:spPr>
      </p:sp>
      <p:sp>
        <p:nvSpPr>
          <p:cNvPr id="5" name="Text 3"/>
          <p:cNvSpPr/>
          <p:nvPr/>
        </p:nvSpPr>
        <p:spPr>
          <a:xfrm>
            <a:off x="777240" y="2103120"/>
            <a:ext cx="411480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FUNNEL</a:t>
            </a:r>
            <a:endParaRPr lang="en-US" sz="900" dirty="0"/>
          </a:p>
        </p:txBody>
      </p:sp>
      <p:sp>
        <p:nvSpPr>
          <p:cNvPr id="6" name="Shape 4"/>
          <p:cNvSpPr/>
          <p:nvPr/>
        </p:nvSpPr>
        <p:spPr>
          <a:xfrm>
            <a:off x="777240" y="2560320"/>
            <a:ext cx="3566160" cy="594360"/>
          </a:xfrm>
          <a:prstGeom prst="roundRect">
            <a:avLst>
              <a:gd name="adj" fmla="val 9231"/>
            </a:avLst>
          </a:prstGeom>
          <a:solidFill>
            <a:srgbClr val="4F46E5"/>
          </a:solidFill>
          <a:ln w="12700">
            <a:solidFill>
              <a:srgbClr val="4F46E5"/>
            </a:solidFill>
            <a:prstDash val="solid"/>
          </a:ln>
        </p:spPr>
      </p:sp>
      <p:sp>
        <p:nvSpPr>
          <p:cNvPr id="7" name="Text 5"/>
          <p:cNvSpPr/>
          <p:nvPr/>
        </p:nvSpPr>
        <p:spPr>
          <a:xfrm>
            <a:off x="777240" y="2560320"/>
            <a:ext cx="3566160" cy="594360"/>
          </a:xfrm>
          <a:prstGeom prst="rect">
            <a:avLst/>
          </a:prstGeom>
          <a:noFill/>
          <a:ln/>
        </p:spPr>
        <p:txBody>
          <a:bodyPr wrap="square"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100%</a:t>
            </a:r>
            <a:endParaRPr lang="en-US" sz="1600" dirty="0"/>
          </a:p>
        </p:txBody>
      </p:sp>
      <p:sp>
        <p:nvSpPr>
          <p:cNvPr id="8" name="Text 6"/>
          <p:cNvSpPr/>
          <p:nvPr/>
        </p:nvSpPr>
        <p:spPr>
          <a:xfrm>
            <a:off x="777240" y="3182112"/>
            <a:ext cx="4114800" cy="201168"/>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Sandbox signups</a:t>
            </a:r>
            <a:endParaRPr lang="en-US" sz="1050" dirty="0"/>
          </a:p>
        </p:txBody>
      </p:sp>
      <p:sp>
        <p:nvSpPr>
          <p:cNvPr id="9" name="Shape 7"/>
          <p:cNvSpPr/>
          <p:nvPr/>
        </p:nvSpPr>
        <p:spPr>
          <a:xfrm>
            <a:off x="777240" y="3520440"/>
            <a:ext cx="1961388" cy="594360"/>
          </a:xfrm>
          <a:prstGeom prst="roundRect">
            <a:avLst>
              <a:gd name="adj" fmla="val 9231"/>
            </a:avLst>
          </a:prstGeom>
          <a:solidFill>
            <a:srgbClr val="F59E0B"/>
          </a:solidFill>
          <a:ln w="12700">
            <a:solidFill>
              <a:srgbClr val="F59E0B"/>
            </a:solidFill>
            <a:prstDash val="solid"/>
          </a:ln>
        </p:spPr>
      </p:sp>
      <p:sp>
        <p:nvSpPr>
          <p:cNvPr id="10" name="Text 8"/>
          <p:cNvSpPr/>
          <p:nvPr/>
        </p:nvSpPr>
        <p:spPr>
          <a:xfrm>
            <a:off x="777240" y="3520440"/>
            <a:ext cx="1961388" cy="594360"/>
          </a:xfrm>
          <a:prstGeom prst="rect">
            <a:avLst/>
          </a:prstGeom>
          <a:noFill/>
          <a:ln/>
        </p:spPr>
        <p:txBody>
          <a:bodyPr wrap="square"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5%</a:t>
            </a:r>
            <a:endParaRPr lang="en-US" sz="1600" dirty="0"/>
          </a:p>
        </p:txBody>
      </p:sp>
      <p:sp>
        <p:nvSpPr>
          <p:cNvPr id="11" name="Text 9"/>
          <p:cNvSpPr/>
          <p:nvPr/>
        </p:nvSpPr>
        <p:spPr>
          <a:xfrm>
            <a:off x="777240" y="4142232"/>
            <a:ext cx="4114800" cy="201168"/>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Convert to Launch</a:t>
            </a:r>
            <a:endParaRPr lang="en-US" sz="1050" dirty="0"/>
          </a:p>
        </p:txBody>
      </p:sp>
      <p:sp>
        <p:nvSpPr>
          <p:cNvPr id="12" name="Shape 10"/>
          <p:cNvSpPr/>
          <p:nvPr/>
        </p:nvSpPr>
        <p:spPr>
          <a:xfrm>
            <a:off x="777240" y="4480560"/>
            <a:ext cx="713232" cy="594360"/>
          </a:xfrm>
          <a:prstGeom prst="roundRect">
            <a:avLst>
              <a:gd name="adj" fmla="val 9231"/>
            </a:avLst>
          </a:prstGeom>
          <a:solidFill>
            <a:srgbClr val="10B981"/>
          </a:solidFill>
          <a:ln w="12700">
            <a:solidFill>
              <a:srgbClr val="10B981"/>
            </a:solidFill>
            <a:prstDash val="solid"/>
          </a:ln>
        </p:spPr>
      </p:sp>
      <p:sp>
        <p:nvSpPr>
          <p:cNvPr id="13" name="Text 11"/>
          <p:cNvSpPr/>
          <p:nvPr/>
        </p:nvSpPr>
        <p:spPr>
          <a:xfrm>
            <a:off x="777240" y="4480560"/>
            <a:ext cx="713232" cy="594360"/>
          </a:xfrm>
          <a:prstGeom prst="rect">
            <a:avLst/>
          </a:prstGeom>
          <a:noFill/>
          <a:ln/>
        </p:spPr>
        <p:txBody>
          <a:bodyPr wrap="square"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14" name="Text 12"/>
          <p:cNvSpPr/>
          <p:nvPr/>
        </p:nvSpPr>
        <p:spPr>
          <a:xfrm>
            <a:off x="777240" y="5102352"/>
            <a:ext cx="4114800" cy="201168"/>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Upgrade to Growth</a:t>
            </a:r>
            <a:endParaRPr lang="en-US" sz="1050" dirty="0"/>
          </a:p>
        </p:txBody>
      </p:sp>
      <p:sp>
        <p:nvSpPr>
          <p:cNvPr id="15" name="Shape 13"/>
          <p:cNvSpPr/>
          <p:nvPr/>
        </p:nvSpPr>
        <p:spPr>
          <a:xfrm>
            <a:off x="5257800" y="1874520"/>
            <a:ext cx="6400800" cy="3749040"/>
          </a:xfrm>
          <a:prstGeom prst="roundRect">
            <a:avLst>
              <a:gd name="adj" fmla="val 1951"/>
            </a:avLst>
          </a:prstGeom>
          <a:solidFill>
            <a:srgbClr val="FFFFFF"/>
          </a:solidFill>
          <a:ln w="9525">
            <a:solidFill>
              <a:srgbClr val="E2E8F0"/>
            </a:solidFill>
            <a:prstDash val="solid"/>
          </a:ln>
        </p:spPr>
      </p:sp>
      <p:sp>
        <p:nvSpPr>
          <p:cNvPr id="16" name="Text 14"/>
          <p:cNvSpPr/>
          <p:nvPr/>
        </p:nvSpPr>
        <p:spPr>
          <a:xfrm>
            <a:off x="5532120" y="2103120"/>
            <a:ext cx="594360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VALIDATE BY #100  ·  DECIDE BY MONTH 6</a:t>
            </a:r>
            <a:endParaRPr lang="en-US" sz="900" dirty="0"/>
          </a:p>
        </p:txBody>
      </p:sp>
      <p:sp>
        <p:nvSpPr>
          <p:cNvPr id="17" name="Text 15"/>
          <p:cNvSpPr/>
          <p:nvPr/>
        </p:nvSpPr>
        <p:spPr>
          <a:xfrm>
            <a:off x="5532120" y="2560320"/>
            <a:ext cx="548640" cy="292608"/>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01</a:t>
            </a:r>
            <a:endParaRPr lang="en-US" sz="1400" dirty="0"/>
          </a:p>
        </p:txBody>
      </p:sp>
      <p:sp>
        <p:nvSpPr>
          <p:cNvPr id="18" name="Text 16"/>
          <p:cNvSpPr/>
          <p:nvPr/>
        </p:nvSpPr>
        <p:spPr>
          <a:xfrm>
            <a:off x="6035040" y="2560320"/>
            <a:ext cx="54864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Sandbox → Launch conversion</a:t>
            </a:r>
            <a:endParaRPr lang="en-US" sz="1300" dirty="0"/>
          </a:p>
        </p:txBody>
      </p:sp>
      <p:sp>
        <p:nvSpPr>
          <p:cNvPr id="19" name="Text 17"/>
          <p:cNvSpPr/>
          <p:nvPr/>
        </p:nvSpPr>
        <p:spPr>
          <a:xfrm>
            <a:off x="6035040" y="2834640"/>
            <a:ext cx="5486400" cy="274320"/>
          </a:xfrm>
          <a:prstGeom prst="rect">
            <a:avLst/>
          </a:prstGeom>
          <a:noFill/>
          <a:ln/>
        </p:spPr>
        <p:txBody>
          <a:bodyPr wrap="square" rtlCol="0" anchor="ctr"/>
          <a:lstStyle/>
          <a:p>
            <a:pPr indent="0" marL="0">
              <a:buNone/>
            </a:pPr>
            <a:r>
              <a:rPr lang="en-US" sz="1050" i="1" dirty="0">
                <a:solidFill>
                  <a:srgbClr val="64748B"/>
                </a:solidFill>
                <a:latin typeface="DM Sans" pitchFamily="34" charset="0"/>
                <a:ea typeface="DM Sans" pitchFamily="34" charset="-122"/>
                <a:cs typeface="DM Sans" pitchFamily="34" charset="-120"/>
              </a:rPr>
              <a:t>Assumed 5%  ·  industry 3–10%</a:t>
            </a:r>
            <a:endParaRPr lang="en-US" sz="1050" dirty="0"/>
          </a:p>
        </p:txBody>
      </p:sp>
      <p:sp>
        <p:nvSpPr>
          <p:cNvPr id="20" name="Text 18"/>
          <p:cNvSpPr/>
          <p:nvPr/>
        </p:nvSpPr>
        <p:spPr>
          <a:xfrm>
            <a:off x="5532120" y="3429000"/>
            <a:ext cx="548640" cy="292608"/>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02</a:t>
            </a:r>
            <a:endParaRPr lang="en-US" sz="1400" dirty="0"/>
          </a:p>
        </p:txBody>
      </p:sp>
      <p:sp>
        <p:nvSpPr>
          <p:cNvPr id="21" name="Text 19"/>
          <p:cNvSpPr/>
          <p:nvPr/>
        </p:nvSpPr>
        <p:spPr>
          <a:xfrm>
            <a:off x="6035040" y="3429000"/>
            <a:ext cx="54864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Launch monthly churn</a:t>
            </a:r>
            <a:endParaRPr lang="en-US" sz="1300" dirty="0"/>
          </a:p>
        </p:txBody>
      </p:sp>
      <p:sp>
        <p:nvSpPr>
          <p:cNvPr id="22" name="Text 20"/>
          <p:cNvSpPr/>
          <p:nvPr/>
        </p:nvSpPr>
        <p:spPr>
          <a:xfrm>
            <a:off x="6035040" y="3703320"/>
            <a:ext cx="5486400" cy="274320"/>
          </a:xfrm>
          <a:prstGeom prst="rect">
            <a:avLst/>
          </a:prstGeom>
          <a:noFill/>
          <a:ln/>
        </p:spPr>
        <p:txBody>
          <a:bodyPr wrap="square" rtlCol="0" anchor="ctr"/>
          <a:lstStyle/>
          <a:p>
            <a:pPr indent="0" marL="0">
              <a:buNone/>
            </a:pPr>
            <a:r>
              <a:rPr lang="en-US" sz="1050" i="1" dirty="0">
                <a:solidFill>
                  <a:srgbClr val="64748B"/>
                </a:solidFill>
                <a:latin typeface="DM Sans" pitchFamily="34" charset="0"/>
                <a:ea typeface="DM Sans" pitchFamily="34" charset="-122"/>
                <a:cs typeface="DM Sans" pitchFamily="34" charset="-120"/>
              </a:rPr>
              <a:t>Assumed ~3%/mo  ·  signal in 60-90 days</a:t>
            </a:r>
            <a:endParaRPr lang="en-US" sz="1050" dirty="0"/>
          </a:p>
        </p:txBody>
      </p:sp>
      <p:sp>
        <p:nvSpPr>
          <p:cNvPr id="23" name="Text 21"/>
          <p:cNvSpPr/>
          <p:nvPr/>
        </p:nvSpPr>
        <p:spPr>
          <a:xfrm>
            <a:off x="5532120" y="4297680"/>
            <a:ext cx="548640" cy="292608"/>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03</a:t>
            </a:r>
            <a:endParaRPr lang="en-US" sz="1400" dirty="0"/>
          </a:p>
        </p:txBody>
      </p:sp>
      <p:sp>
        <p:nvSpPr>
          <p:cNvPr id="24" name="Text 22"/>
          <p:cNvSpPr/>
          <p:nvPr/>
        </p:nvSpPr>
        <p:spPr>
          <a:xfrm>
            <a:off x="6035040" y="4297680"/>
            <a:ext cx="54864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Time to Launch → Growth</a:t>
            </a:r>
            <a:endParaRPr lang="en-US" sz="1300" dirty="0"/>
          </a:p>
        </p:txBody>
      </p:sp>
      <p:sp>
        <p:nvSpPr>
          <p:cNvPr id="25" name="Text 23"/>
          <p:cNvSpPr/>
          <p:nvPr/>
        </p:nvSpPr>
        <p:spPr>
          <a:xfrm>
            <a:off x="6035040" y="4572000"/>
            <a:ext cx="5486400" cy="274320"/>
          </a:xfrm>
          <a:prstGeom prst="rect">
            <a:avLst/>
          </a:prstGeom>
          <a:noFill/>
          <a:ln/>
        </p:spPr>
        <p:txBody>
          <a:bodyPr wrap="square" rtlCol="0" anchor="ctr"/>
          <a:lstStyle/>
          <a:p>
            <a:pPr indent="0" marL="0">
              <a:buNone/>
            </a:pPr>
            <a:r>
              <a:rPr lang="en-US" sz="1050" i="1" dirty="0">
                <a:solidFill>
                  <a:srgbClr val="64748B"/>
                </a:solidFill>
                <a:latin typeface="DM Sans" pitchFamily="34" charset="0"/>
                <a:ea typeface="DM Sans" pitchFamily="34" charset="-122"/>
                <a:cs typeface="DM Sans" pitchFamily="34" charset="-120"/>
              </a:rPr>
              <a:t>Assumed 6 months in sprint mode</a:t>
            </a:r>
            <a:endParaRPr lang="en-US" sz="1050" dirty="0"/>
          </a:p>
        </p:txBody>
      </p:sp>
      <p:sp>
        <p:nvSpPr>
          <p:cNvPr id="26" name="Shape 24"/>
          <p:cNvSpPr/>
          <p:nvPr/>
        </p:nvSpPr>
        <p:spPr>
          <a:xfrm>
            <a:off x="502920" y="5760720"/>
            <a:ext cx="3596640" cy="502920"/>
          </a:xfrm>
          <a:prstGeom prst="roundRect">
            <a:avLst>
              <a:gd name="adj" fmla="val 10909"/>
            </a:avLst>
          </a:prstGeom>
          <a:solidFill>
            <a:srgbClr val="EEF2FF"/>
          </a:solidFill>
          <a:ln w="9525">
            <a:solidFill>
              <a:srgbClr val="4F46E5"/>
            </a:solidFill>
            <a:prstDash val="solid"/>
          </a:ln>
        </p:spPr>
      </p:sp>
      <p:sp>
        <p:nvSpPr>
          <p:cNvPr id="27" name="Text 25"/>
          <p:cNvSpPr/>
          <p:nvPr/>
        </p:nvSpPr>
        <p:spPr>
          <a:xfrm>
            <a:off x="777240" y="5760720"/>
            <a:ext cx="2337816" cy="502920"/>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Blended LTV (repriced)</a:t>
            </a:r>
            <a:endParaRPr lang="en-US" sz="1050" dirty="0"/>
          </a:p>
        </p:txBody>
      </p:sp>
      <p:sp>
        <p:nvSpPr>
          <p:cNvPr id="28" name="Text 26"/>
          <p:cNvSpPr/>
          <p:nvPr/>
        </p:nvSpPr>
        <p:spPr>
          <a:xfrm>
            <a:off x="777240" y="5760720"/>
            <a:ext cx="3048000" cy="502920"/>
          </a:xfrm>
          <a:prstGeom prst="rect">
            <a:avLst/>
          </a:prstGeom>
          <a:noFill/>
          <a:ln/>
        </p:spPr>
        <p:txBody>
          <a:bodyPr wrap="square" rtlCol="0" anchor="ctr"/>
          <a:lstStyle/>
          <a:p>
            <a:pPr algn="r" indent="0" marL="0">
              <a:buNone/>
            </a:pPr>
            <a:r>
              <a:rPr lang="en-US" sz="1500" b="1" dirty="0">
                <a:solidFill>
                  <a:srgbClr val="3730A3"/>
                </a:solidFill>
                <a:latin typeface="DM Sans" pitchFamily="34" charset="0"/>
                <a:ea typeface="DM Sans" pitchFamily="34" charset="-122"/>
                <a:cs typeface="DM Sans" pitchFamily="34" charset="-120"/>
              </a:rPr>
              <a:t>£520</a:t>
            </a:r>
            <a:endParaRPr lang="en-US" sz="1500" dirty="0"/>
          </a:p>
        </p:txBody>
      </p:sp>
      <p:sp>
        <p:nvSpPr>
          <p:cNvPr id="29" name="Shape 27"/>
          <p:cNvSpPr/>
          <p:nvPr/>
        </p:nvSpPr>
        <p:spPr>
          <a:xfrm>
            <a:off x="4282440" y="5760720"/>
            <a:ext cx="3596640" cy="502920"/>
          </a:xfrm>
          <a:prstGeom prst="roundRect">
            <a:avLst>
              <a:gd name="adj" fmla="val 10909"/>
            </a:avLst>
          </a:prstGeom>
          <a:solidFill>
            <a:srgbClr val="EEF2FF"/>
          </a:solidFill>
          <a:ln w="9525">
            <a:solidFill>
              <a:srgbClr val="4F46E5"/>
            </a:solidFill>
            <a:prstDash val="solid"/>
          </a:ln>
        </p:spPr>
      </p:sp>
      <p:sp>
        <p:nvSpPr>
          <p:cNvPr id="30" name="Text 28"/>
          <p:cNvSpPr/>
          <p:nvPr/>
        </p:nvSpPr>
        <p:spPr>
          <a:xfrm>
            <a:off x="4556760" y="5760720"/>
            <a:ext cx="2337816" cy="502920"/>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CAC ceiling (3:1)</a:t>
            </a:r>
            <a:endParaRPr lang="en-US" sz="1050" dirty="0"/>
          </a:p>
        </p:txBody>
      </p:sp>
      <p:sp>
        <p:nvSpPr>
          <p:cNvPr id="31" name="Text 29"/>
          <p:cNvSpPr/>
          <p:nvPr/>
        </p:nvSpPr>
        <p:spPr>
          <a:xfrm>
            <a:off x="4556760" y="5760720"/>
            <a:ext cx="3048000" cy="502920"/>
          </a:xfrm>
          <a:prstGeom prst="rect">
            <a:avLst/>
          </a:prstGeom>
          <a:noFill/>
          <a:ln/>
        </p:spPr>
        <p:txBody>
          <a:bodyPr wrap="square" rtlCol="0" anchor="ctr"/>
          <a:lstStyle/>
          <a:p>
            <a:pPr algn="r" indent="0" marL="0">
              <a:buNone/>
            </a:pPr>
            <a:r>
              <a:rPr lang="en-US" sz="1500" b="1" dirty="0">
                <a:solidFill>
                  <a:srgbClr val="3730A3"/>
                </a:solidFill>
                <a:latin typeface="DM Sans" pitchFamily="34" charset="0"/>
                <a:ea typeface="DM Sans" pitchFamily="34" charset="-122"/>
                <a:cs typeface="DM Sans" pitchFamily="34" charset="-120"/>
              </a:rPr>
              <a:t>£175</a:t>
            </a:r>
            <a:endParaRPr lang="en-US" sz="1500" dirty="0"/>
          </a:p>
        </p:txBody>
      </p:sp>
      <p:sp>
        <p:nvSpPr>
          <p:cNvPr id="32" name="Shape 30"/>
          <p:cNvSpPr/>
          <p:nvPr/>
        </p:nvSpPr>
        <p:spPr>
          <a:xfrm>
            <a:off x="8061960" y="5760720"/>
            <a:ext cx="3596640" cy="502920"/>
          </a:xfrm>
          <a:prstGeom prst="roundRect">
            <a:avLst>
              <a:gd name="adj" fmla="val 10909"/>
            </a:avLst>
          </a:prstGeom>
          <a:solidFill>
            <a:srgbClr val="EEF2FF"/>
          </a:solidFill>
          <a:ln w="9525">
            <a:solidFill>
              <a:srgbClr val="4F46E5"/>
            </a:solidFill>
            <a:prstDash val="solid"/>
          </a:ln>
        </p:spPr>
      </p:sp>
      <p:sp>
        <p:nvSpPr>
          <p:cNvPr id="33" name="Text 31"/>
          <p:cNvSpPr/>
          <p:nvPr/>
        </p:nvSpPr>
        <p:spPr>
          <a:xfrm>
            <a:off x="8336280" y="5760720"/>
            <a:ext cx="2337816" cy="502920"/>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Cohort dashboard</a:t>
            </a:r>
            <a:endParaRPr lang="en-US" sz="1050" dirty="0"/>
          </a:p>
        </p:txBody>
      </p:sp>
      <p:sp>
        <p:nvSpPr>
          <p:cNvPr id="34" name="Text 32"/>
          <p:cNvSpPr/>
          <p:nvPr/>
        </p:nvSpPr>
        <p:spPr>
          <a:xfrm>
            <a:off x="8336280" y="5760720"/>
            <a:ext cx="3048000" cy="502920"/>
          </a:xfrm>
          <a:prstGeom prst="rect">
            <a:avLst/>
          </a:prstGeom>
          <a:noFill/>
          <a:ln/>
        </p:spPr>
        <p:txBody>
          <a:bodyPr wrap="square" rtlCol="0" anchor="ctr"/>
          <a:lstStyle/>
          <a:p>
            <a:pPr algn="r" indent="0" marL="0">
              <a:buNone/>
            </a:pPr>
            <a:r>
              <a:rPr lang="en-US" sz="1500" b="1" dirty="0">
                <a:solidFill>
                  <a:srgbClr val="3730A3"/>
                </a:solidFill>
                <a:latin typeface="DM Sans" pitchFamily="34" charset="0"/>
                <a:ea typeface="DM Sans" pitchFamily="34" charset="-122"/>
                <a:cs typeface="DM Sans" pitchFamily="34" charset="-120"/>
              </a:rPr>
              <a:t>Live</a:t>
            </a:r>
            <a:endParaRPr lang="en-US" sz="1500" dirty="0"/>
          </a:p>
        </p:txBody>
      </p:sp>
      <p:sp>
        <p:nvSpPr>
          <p:cNvPr id="35" name="Text 3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6" name="Text 3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15  ·  REVENUE TRAJECTORY</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MRR month 0-18. Two sprint scenarios.</a:t>
            </a:r>
            <a:endParaRPr lang="en-US" sz="3000" dirty="0"/>
          </a:p>
        </p:txBody>
      </p:sp>
      <p:graphicFrame>
        <p:nvGraphicFramePr>
          <p:cNvPr id="4" name="Chart 0" descr=""/>
          <p:cNvGraphicFramePr/>
          <p:nvPr/>
        </p:nvGraphicFramePr>
        <p:xfrm>
          <a:off x="502920" y="1920240"/>
          <a:ext cx="713232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920240"/>
            <a:ext cx="3840480" cy="1920240"/>
          </a:xfrm>
          <a:prstGeom prst="roundRect">
            <a:avLst>
              <a:gd name="adj" fmla="val 3810"/>
            </a:avLst>
          </a:prstGeom>
          <a:solidFill>
            <a:srgbClr val="FFFFFF"/>
          </a:solidFill>
          <a:ln w="9525">
            <a:solidFill>
              <a:srgbClr val="E2E8F0"/>
            </a:solidFill>
            <a:prstDash val="solid"/>
          </a:ln>
        </p:spPr>
      </p:sp>
      <p:sp>
        <p:nvSpPr>
          <p:cNvPr id="6" name="Shape 3"/>
          <p:cNvSpPr/>
          <p:nvPr/>
        </p:nvSpPr>
        <p:spPr>
          <a:xfrm>
            <a:off x="7818120" y="1920240"/>
            <a:ext cx="91440" cy="1920240"/>
          </a:xfrm>
          <a:prstGeom prst="rect">
            <a:avLst/>
          </a:prstGeom>
          <a:solidFill>
            <a:srgbClr val="4F46E5"/>
          </a:solidFill>
          <a:ln w="12700">
            <a:solidFill>
              <a:srgbClr val="333333"/>
            </a:solidFill>
            <a:prstDash val="solid"/>
          </a:ln>
        </p:spPr>
      </p:sp>
      <p:sp>
        <p:nvSpPr>
          <p:cNvPr id="7" name="Text 4"/>
          <p:cNvSpPr/>
          <p:nvPr/>
        </p:nvSpPr>
        <p:spPr>
          <a:xfrm>
            <a:off x="8092440" y="2194560"/>
            <a:ext cx="3291840" cy="365760"/>
          </a:xfrm>
          <a:prstGeom prst="rect">
            <a:avLst/>
          </a:prstGeom>
          <a:noFill/>
          <a:ln/>
        </p:spPr>
        <p:txBody>
          <a:bodyPr wrap="square" rtlCol="0" anchor="ctr"/>
          <a:lstStyle/>
          <a:p>
            <a:pPr indent="0" marL="0">
              <a:buNone/>
            </a:pPr>
            <a:r>
              <a:rPr lang="en-US" sz="1800" b="1" dirty="0">
                <a:solidFill>
                  <a:srgbClr val="0F172A"/>
                </a:solidFill>
                <a:latin typeface="DM Sans" pitchFamily="34" charset="0"/>
                <a:ea typeface="DM Sans" pitchFamily="34" charset="-122"/>
                <a:cs typeface="DM Sans" pitchFamily="34" charset="-120"/>
              </a:rPr>
              <a:t>Sprint base</a:t>
            </a:r>
            <a:endParaRPr lang="en-US" sz="1800" dirty="0"/>
          </a:p>
        </p:txBody>
      </p:sp>
      <p:sp>
        <p:nvSpPr>
          <p:cNvPr id="8" name="Text 5"/>
          <p:cNvSpPr/>
          <p:nvPr/>
        </p:nvSpPr>
        <p:spPr>
          <a:xfrm>
            <a:off x="10195560" y="2194560"/>
            <a:ext cx="1188720" cy="228600"/>
          </a:xfrm>
          <a:prstGeom prst="rect">
            <a:avLst/>
          </a:prstGeom>
          <a:noFill/>
          <a:ln/>
        </p:spPr>
        <p:txBody>
          <a:bodyPr wrap="square" rtlCol="0" anchor="ctr"/>
          <a:lstStyle/>
          <a:p>
            <a:pPr algn="r" indent="0" marL="0">
              <a:buNone/>
            </a:pPr>
            <a:r>
              <a:rPr lang="en-US" sz="800" spc="300" kern="0" dirty="0">
                <a:solidFill>
                  <a:srgbClr val="64748B"/>
                </a:solidFill>
                <a:latin typeface="JetBrains Mono" pitchFamily="34" charset="0"/>
                <a:ea typeface="JetBrains Mono" pitchFamily="34" charset="-122"/>
                <a:cs typeface="JetBrains Mono" pitchFamily="34" charset="-120"/>
              </a:rPr>
              <a:t>M18 MRR</a:t>
            </a:r>
            <a:endParaRPr lang="en-US" sz="800" dirty="0"/>
          </a:p>
        </p:txBody>
      </p:sp>
      <p:sp>
        <p:nvSpPr>
          <p:cNvPr id="9" name="Text 6"/>
          <p:cNvSpPr/>
          <p:nvPr/>
        </p:nvSpPr>
        <p:spPr>
          <a:xfrm>
            <a:off x="8092440" y="2560320"/>
            <a:ext cx="3291840" cy="594360"/>
          </a:xfrm>
          <a:prstGeom prst="rect">
            <a:avLst/>
          </a:prstGeom>
          <a:noFill/>
          <a:ln/>
        </p:spPr>
        <p:txBody>
          <a:bodyPr wrap="square" rtlCol="0" anchor="ctr"/>
          <a:lstStyle/>
          <a:p>
            <a:pPr indent="0" marL="0">
              <a:buNone/>
            </a:pPr>
            <a:r>
              <a:rPr lang="en-US" sz="3200" b="1" dirty="0">
                <a:solidFill>
                  <a:srgbClr val="4F46E5"/>
                </a:solidFill>
                <a:latin typeface="DM Sans" pitchFamily="34" charset="0"/>
                <a:ea typeface="DM Sans" pitchFamily="34" charset="-122"/>
                <a:cs typeface="DM Sans" pitchFamily="34" charset="-120"/>
              </a:rPr>
              <a:t>~£135K</a:t>
            </a:r>
            <a:endParaRPr lang="en-US" sz="3200" dirty="0"/>
          </a:p>
        </p:txBody>
      </p:sp>
      <p:sp>
        <p:nvSpPr>
          <p:cNvPr id="10" name="Text 7"/>
          <p:cNvSpPr/>
          <p:nvPr/>
        </p:nvSpPr>
        <p:spPr>
          <a:xfrm>
            <a:off x="8092440" y="3200400"/>
            <a:ext cx="329184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Organic + creator sponsorships. Hits £40-80K MRR by month 9, plateaus ~£100-150K by month 18.</a:t>
            </a:r>
            <a:endParaRPr lang="en-US" sz="1100" dirty="0"/>
          </a:p>
        </p:txBody>
      </p:sp>
      <p:sp>
        <p:nvSpPr>
          <p:cNvPr id="11" name="Shape 8"/>
          <p:cNvSpPr/>
          <p:nvPr/>
        </p:nvSpPr>
        <p:spPr>
          <a:xfrm>
            <a:off x="7818120" y="4023360"/>
            <a:ext cx="3840480" cy="1920240"/>
          </a:xfrm>
          <a:prstGeom prst="roundRect">
            <a:avLst>
              <a:gd name="adj" fmla="val 3810"/>
            </a:avLst>
          </a:prstGeom>
          <a:solidFill>
            <a:srgbClr val="FFFFFF"/>
          </a:solidFill>
          <a:ln w="9525">
            <a:solidFill>
              <a:srgbClr val="E2E8F0"/>
            </a:solidFill>
            <a:prstDash val="solid"/>
          </a:ln>
        </p:spPr>
      </p:sp>
      <p:sp>
        <p:nvSpPr>
          <p:cNvPr id="12" name="Shape 9"/>
          <p:cNvSpPr/>
          <p:nvPr/>
        </p:nvSpPr>
        <p:spPr>
          <a:xfrm>
            <a:off x="7818120" y="4023360"/>
            <a:ext cx="91440" cy="1920240"/>
          </a:xfrm>
          <a:prstGeom prst="rect">
            <a:avLst/>
          </a:prstGeom>
          <a:solidFill>
            <a:srgbClr val="F59E0B"/>
          </a:solidFill>
          <a:ln w="12700">
            <a:solidFill>
              <a:srgbClr val="333333"/>
            </a:solidFill>
            <a:prstDash val="solid"/>
          </a:ln>
        </p:spPr>
      </p:sp>
      <p:sp>
        <p:nvSpPr>
          <p:cNvPr id="13" name="Text 10"/>
          <p:cNvSpPr/>
          <p:nvPr/>
        </p:nvSpPr>
        <p:spPr>
          <a:xfrm>
            <a:off x="8092440" y="4297680"/>
            <a:ext cx="3291840" cy="365760"/>
          </a:xfrm>
          <a:prstGeom prst="rect">
            <a:avLst/>
          </a:prstGeom>
          <a:noFill/>
          <a:ln/>
        </p:spPr>
        <p:txBody>
          <a:bodyPr wrap="square" rtlCol="0" anchor="ctr"/>
          <a:lstStyle/>
          <a:p>
            <a:pPr indent="0" marL="0">
              <a:buNone/>
            </a:pPr>
            <a:r>
              <a:rPr lang="en-US" sz="1800" b="1" dirty="0">
                <a:solidFill>
                  <a:srgbClr val="0F172A"/>
                </a:solidFill>
                <a:latin typeface="DM Sans" pitchFamily="34" charset="0"/>
                <a:ea typeface="DM Sans" pitchFamily="34" charset="-122"/>
                <a:cs typeface="DM Sans" pitchFamily="34" charset="-120"/>
              </a:rPr>
              <a:t>Sprint upside</a:t>
            </a:r>
            <a:endParaRPr lang="en-US" sz="1800" dirty="0"/>
          </a:p>
        </p:txBody>
      </p:sp>
      <p:sp>
        <p:nvSpPr>
          <p:cNvPr id="14" name="Text 11"/>
          <p:cNvSpPr/>
          <p:nvPr/>
        </p:nvSpPr>
        <p:spPr>
          <a:xfrm>
            <a:off x="10195560" y="4297680"/>
            <a:ext cx="1188720" cy="228600"/>
          </a:xfrm>
          <a:prstGeom prst="rect">
            <a:avLst/>
          </a:prstGeom>
          <a:noFill/>
          <a:ln/>
        </p:spPr>
        <p:txBody>
          <a:bodyPr wrap="square" rtlCol="0" anchor="ctr"/>
          <a:lstStyle/>
          <a:p>
            <a:pPr algn="r" indent="0" marL="0">
              <a:buNone/>
            </a:pPr>
            <a:r>
              <a:rPr lang="en-US" sz="800" spc="300" kern="0" dirty="0">
                <a:solidFill>
                  <a:srgbClr val="64748B"/>
                </a:solidFill>
                <a:latin typeface="JetBrains Mono" pitchFamily="34" charset="0"/>
                <a:ea typeface="JetBrains Mono" pitchFamily="34" charset="-122"/>
                <a:cs typeface="JetBrains Mono" pitchFamily="34" charset="-120"/>
              </a:rPr>
              <a:t>M18 MRR</a:t>
            </a:r>
            <a:endParaRPr lang="en-US" sz="800" dirty="0"/>
          </a:p>
        </p:txBody>
      </p:sp>
      <p:sp>
        <p:nvSpPr>
          <p:cNvPr id="15" name="Text 12"/>
          <p:cNvSpPr/>
          <p:nvPr/>
        </p:nvSpPr>
        <p:spPr>
          <a:xfrm>
            <a:off x="8092440" y="4663440"/>
            <a:ext cx="3291840" cy="594360"/>
          </a:xfrm>
          <a:prstGeom prst="rect">
            <a:avLst/>
          </a:prstGeom>
          <a:noFill/>
          <a:ln/>
        </p:spPr>
        <p:txBody>
          <a:bodyPr wrap="square" rtlCol="0" anchor="ctr"/>
          <a:lstStyle/>
          <a:p>
            <a:pPr indent="0" marL="0">
              <a:buNone/>
            </a:pPr>
            <a:r>
              <a:rPr lang="en-US" sz="3200" b="1" dirty="0">
                <a:solidFill>
                  <a:srgbClr val="B45309"/>
                </a:solidFill>
                <a:latin typeface="DM Sans" pitchFamily="34" charset="0"/>
                <a:ea typeface="DM Sans" pitchFamily="34" charset="-122"/>
                <a:cs typeface="DM Sans" pitchFamily="34" charset="-120"/>
              </a:rPr>
              <a:t>~£380K</a:t>
            </a:r>
            <a:endParaRPr lang="en-US" sz="3200" dirty="0"/>
          </a:p>
        </p:txBody>
      </p:sp>
      <p:sp>
        <p:nvSpPr>
          <p:cNvPr id="16" name="Text 13"/>
          <p:cNvSpPr/>
          <p:nvPr/>
        </p:nvSpPr>
        <p:spPr>
          <a:xfrm>
            <a:off x="8092440" y="5303520"/>
            <a:ext cx="329184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Full sprint executes. Hits £200-400K MRR by month 18. Capitalise window opens at month 9-12.</a:t>
            </a:r>
            <a:endParaRPr lang="en-US" sz="1100" dirty="0"/>
          </a:p>
        </p:txBody>
      </p:sp>
      <p:sp>
        <p:nvSpPr>
          <p:cNvPr id="17" name="Text 14"/>
          <p:cNvSpPr/>
          <p:nvPr/>
        </p:nvSpPr>
        <p:spPr>
          <a:xfrm>
            <a:off x="502920" y="6199632"/>
            <a:ext cx="10972800" cy="274320"/>
          </a:xfrm>
          <a:prstGeom prst="rect">
            <a:avLst/>
          </a:prstGeom>
          <a:noFill/>
          <a:ln/>
        </p:spPr>
        <p:txBody>
          <a:bodyPr wrap="square" rtlCol="0" anchor="ctr"/>
          <a:lstStyle/>
          <a:p>
            <a:pPr indent="0" marL="0">
              <a:buNone/>
            </a:pPr>
            <a:r>
              <a:rPr lang="en-US" sz="900" i="1" dirty="0">
                <a:solidFill>
                  <a:srgbClr val="64748B"/>
                </a:solidFill>
                <a:latin typeface="DM Sans" pitchFamily="34" charset="0"/>
                <a:ea typeface="DM Sans" pitchFamily="34" charset="-122"/>
                <a:cs typeface="DM Sans" pitchFamily="34" charset="-120"/>
              </a:rPr>
              <a:t>Anchored on Cursor / Lovable / Bolt curves at comparable product maturity. Pricing: Launch £14/mo annual or £17/mo monthly; Growth £39/mo (auto at customer 15th end-user signup). Detailed MRR build-up in appendix.</a:t>
            </a:r>
            <a:endParaRPr lang="en-US" sz="900" dirty="0"/>
          </a:p>
        </p:txBody>
      </p:sp>
      <p:sp>
        <p:nvSpPr>
          <p:cNvPr id="18" name="Text 15"/>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19" name="Text 16"/>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16  ·  MARGIN REALITY</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Repriced unit economics × sprint MRR.</a:t>
            </a:r>
            <a:endParaRPr lang="en-US" sz="3000" dirty="0"/>
          </a:p>
        </p:txBody>
      </p:sp>
      <p:sp>
        <p:nvSpPr>
          <p:cNvPr id="4" name="Shape 2"/>
          <p:cNvSpPr/>
          <p:nvPr/>
        </p:nvSpPr>
        <p:spPr>
          <a:xfrm>
            <a:off x="502920" y="2011680"/>
            <a:ext cx="5669280" cy="3474720"/>
          </a:xfrm>
          <a:prstGeom prst="roundRect">
            <a:avLst>
              <a:gd name="adj" fmla="val 2105"/>
            </a:avLst>
          </a:prstGeom>
          <a:solidFill>
            <a:srgbClr val="FFFFFF"/>
          </a:solidFill>
          <a:ln w="9525">
            <a:solidFill>
              <a:srgbClr val="E2E8F0"/>
            </a:solidFill>
            <a:prstDash val="solid"/>
          </a:ln>
        </p:spPr>
      </p:sp>
      <p:sp>
        <p:nvSpPr>
          <p:cNvPr id="5" name="Shape 3"/>
          <p:cNvSpPr/>
          <p:nvPr/>
        </p:nvSpPr>
        <p:spPr>
          <a:xfrm>
            <a:off x="502920" y="2011680"/>
            <a:ext cx="5669280" cy="54864"/>
          </a:xfrm>
          <a:prstGeom prst="rect">
            <a:avLst/>
          </a:prstGeom>
          <a:solidFill>
            <a:srgbClr val="F59E0B"/>
          </a:solidFill>
          <a:ln w="12700">
            <a:solidFill>
              <a:srgbClr val="F59E0B"/>
            </a:solidFill>
            <a:prstDash val="solid"/>
          </a:ln>
        </p:spPr>
      </p:sp>
      <p:sp>
        <p:nvSpPr>
          <p:cNvPr id="6" name="Text 4"/>
          <p:cNvSpPr/>
          <p:nvPr/>
        </p:nvSpPr>
        <p:spPr>
          <a:xfrm>
            <a:off x="777240" y="2240280"/>
            <a:ext cx="521208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PER-CUSTOMER MARGIN  ·  BLENDED  ·  FINAL</a:t>
            </a:r>
            <a:endParaRPr lang="en-US" sz="900" dirty="0"/>
          </a:p>
        </p:txBody>
      </p:sp>
      <p:sp>
        <p:nvSpPr>
          <p:cNvPr id="7" name="Text 5"/>
          <p:cNvSpPr/>
          <p:nvPr/>
        </p:nvSpPr>
        <p:spPr>
          <a:xfrm>
            <a:off x="3063240" y="2697480"/>
            <a:ext cx="1463040" cy="274320"/>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Repriced sub revenue</a:t>
            </a:r>
            <a:endParaRPr lang="en-US" sz="1000" dirty="0"/>
          </a:p>
        </p:txBody>
      </p:sp>
      <p:sp>
        <p:nvSpPr>
          <p:cNvPr id="8" name="Text 6"/>
          <p:cNvSpPr/>
          <p:nvPr/>
        </p:nvSpPr>
        <p:spPr>
          <a:xfrm>
            <a:off x="4617720" y="2697480"/>
            <a:ext cx="1463040" cy="274320"/>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Final mid margin</a:t>
            </a:r>
            <a:endParaRPr lang="en-US" sz="1000" dirty="0"/>
          </a:p>
        </p:txBody>
      </p:sp>
      <p:sp>
        <p:nvSpPr>
          <p:cNvPr id="9" name="Text 7"/>
          <p:cNvSpPr/>
          <p:nvPr/>
        </p:nvSpPr>
        <p:spPr>
          <a:xfrm>
            <a:off x="777240" y="3063240"/>
            <a:ext cx="2286000" cy="365760"/>
          </a:xfrm>
          <a:prstGeom prst="rect">
            <a:avLst/>
          </a:prstGeom>
          <a:noFill/>
          <a:ln/>
        </p:spPr>
        <p:txBody>
          <a:bodyPr wrap="square" rtlCol="0" anchor="ctr"/>
          <a:lstStyle/>
          <a:p>
            <a:pPr indent="0" marL="0">
              <a:buNone/>
            </a:pPr>
            <a:r>
              <a:rPr lang="en-US" sz="1100" dirty="0">
                <a:solidFill>
                  <a:srgbClr val="334155"/>
                </a:solidFill>
                <a:latin typeface="DM Sans" pitchFamily="34" charset="0"/>
                <a:ea typeface="DM Sans" pitchFamily="34" charset="-122"/>
                <a:cs typeface="DM Sans" pitchFamily="34" charset="-120"/>
              </a:rPr>
              <a:t>Launch blended /mo</a:t>
            </a:r>
            <a:endParaRPr lang="en-US" sz="1100" dirty="0"/>
          </a:p>
        </p:txBody>
      </p:sp>
      <p:sp>
        <p:nvSpPr>
          <p:cNvPr id="10" name="Text 8"/>
          <p:cNvSpPr/>
          <p:nvPr/>
        </p:nvSpPr>
        <p:spPr>
          <a:xfrm>
            <a:off x="3063240" y="3063240"/>
            <a:ext cx="1463040" cy="36576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~£15.80</a:t>
            </a:r>
            <a:endParaRPr lang="en-US" sz="1200" dirty="0"/>
          </a:p>
        </p:txBody>
      </p:sp>
      <p:sp>
        <p:nvSpPr>
          <p:cNvPr id="11" name="Shape 9"/>
          <p:cNvSpPr/>
          <p:nvPr/>
        </p:nvSpPr>
        <p:spPr>
          <a:xfrm>
            <a:off x="4526280" y="3063240"/>
            <a:ext cx="1554480" cy="365760"/>
          </a:xfrm>
          <a:prstGeom prst="rect">
            <a:avLst/>
          </a:prstGeom>
          <a:solidFill>
            <a:srgbClr val="EEF2FF"/>
          </a:solidFill>
          <a:ln w="12700">
            <a:solidFill>
              <a:srgbClr val="333333"/>
            </a:solidFill>
            <a:prstDash val="solid"/>
          </a:ln>
        </p:spPr>
      </p:sp>
      <p:sp>
        <p:nvSpPr>
          <p:cNvPr id="12" name="Text 10"/>
          <p:cNvSpPr/>
          <p:nvPr/>
        </p:nvSpPr>
        <p:spPr>
          <a:xfrm>
            <a:off x="4572000" y="3063240"/>
            <a:ext cx="1463040" cy="365760"/>
          </a:xfrm>
          <a:prstGeom prst="rect">
            <a:avLst/>
          </a:prstGeom>
          <a:noFill/>
          <a:ln/>
        </p:spPr>
        <p:txBody>
          <a:bodyPr wrap="square" rtlCol="0" anchor="ctr"/>
          <a:lstStyle/>
          <a:p>
            <a:pPr indent="0" marL="0">
              <a:buNone/>
            </a:pPr>
            <a:r>
              <a:rPr lang="en-US" sz="1200" b="1" dirty="0">
                <a:solidFill>
                  <a:srgbClr val="3730A3"/>
                </a:solidFill>
                <a:latin typeface="DM Sans" pitchFamily="34" charset="0"/>
                <a:ea typeface="DM Sans" pitchFamily="34" charset="-122"/>
                <a:cs typeface="DM Sans" pitchFamily="34" charset="-120"/>
              </a:rPr>
              <a:t>~£11.55</a:t>
            </a:r>
            <a:endParaRPr lang="en-US" sz="1200" dirty="0"/>
          </a:p>
        </p:txBody>
      </p:sp>
      <p:sp>
        <p:nvSpPr>
          <p:cNvPr id="13" name="Shape 11"/>
          <p:cNvSpPr/>
          <p:nvPr/>
        </p:nvSpPr>
        <p:spPr>
          <a:xfrm>
            <a:off x="777240" y="3447288"/>
            <a:ext cx="5120640" cy="9144"/>
          </a:xfrm>
          <a:prstGeom prst="rect">
            <a:avLst/>
          </a:prstGeom>
          <a:solidFill>
            <a:srgbClr val="F1F5F9"/>
          </a:solidFill>
          <a:ln w="12700">
            <a:solidFill>
              <a:srgbClr val="333333"/>
            </a:solidFill>
            <a:prstDash val="solid"/>
          </a:ln>
        </p:spPr>
      </p:sp>
      <p:sp>
        <p:nvSpPr>
          <p:cNvPr id="14" name="Text 12"/>
          <p:cNvSpPr/>
          <p:nvPr/>
        </p:nvSpPr>
        <p:spPr>
          <a:xfrm>
            <a:off x="777240" y="3566160"/>
            <a:ext cx="2286000" cy="365760"/>
          </a:xfrm>
          <a:prstGeom prst="rect">
            <a:avLst/>
          </a:prstGeom>
          <a:noFill/>
          <a:ln/>
        </p:spPr>
        <p:txBody>
          <a:bodyPr wrap="square" rtlCol="0" anchor="ctr"/>
          <a:lstStyle/>
          <a:p>
            <a:pPr indent="0" marL="0">
              <a:buNone/>
            </a:pPr>
            <a:r>
              <a:rPr lang="en-US" sz="1100" dirty="0">
                <a:solidFill>
                  <a:srgbClr val="334155"/>
                </a:solidFill>
                <a:latin typeface="DM Sans" pitchFamily="34" charset="0"/>
                <a:ea typeface="DM Sans" pitchFamily="34" charset="-122"/>
                <a:cs typeface="DM Sans" pitchFamily="34" charset="-120"/>
              </a:rPr>
              <a:t>Launch Y1 net / customer</a:t>
            </a:r>
            <a:endParaRPr lang="en-US" sz="1100" dirty="0"/>
          </a:p>
        </p:txBody>
      </p:sp>
      <p:sp>
        <p:nvSpPr>
          <p:cNvPr id="15" name="Text 13"/>
          <p:cNvSpPr/>
          <p:nvPr/>
        </p:nvSpPr>
        <p:spPr>
          <a:xfrm>
            <a:off x="3063240" y="3566160"/>
            <a:ext cx="1463040" cy="36576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~£190</a:t>
            </a:r>
            <a:endParaRPr lang="en-US" sz="1200" dirty="0"/>
          </a:p>
        </p:txBody>
      </p:sp>
      <p:sp>
        <p:nvSpPr>
          <p:cNvPr id="16" name="Shape 14"/>
          <p:cNvSpPr/>
          <p:nvPr/>
        </p:nvSpPr>
        <p:spPr>
          <a:xfrm>
            <a:off x="4526280" y="3566160"/>
            <a:ext cx="1554480" cy="365760"/>
          </a:xfrm>
          <a:prstGeom prst="rect">
            <a:avLst/>
          </a:prstGeom>
          <a:solidFill>
            <a:srgbClr val="EEF2FF"/>
          </a:solidFill>
          <a:ln w="12700">
            <a:solidFill>
              <a:srgbClr val="333333"/>
            </a:solidFill>
            <a:prstDash val="solid"/>
          </a:ln>
        </p:spPr>
      </p:sp>
      <p:sp>
        <p:nvSpPr>
          <p:cNvPr id="17" name="Text 15"/>
          <p:cNvSpPr/>
          <p:nvPr/>
        </p:nvSpPr>
        <p:spPr>
          <a:xfrm>
            <a:off x="4572000" y="3566160"/>
            <a:ext cx="1463040" cy="365760"/>
          </a:xfrm>
          <a:prstGeom prst="rect">
            <a:avLst/>
          </a:prstGeom>
          <a:noFill/>
          <a:ln/>
        </p:spPr>
        <p:txBody>
          <a:bodyPr wrap="square" rtlCol="0" anchor="ctr"/>
          <a:lstStyle/>
          <a:p>
            <a:pPr indent="0" marL="0">
              <a:buNone/>
            </a:pPr>
            <a:r>
              <a:rPr lang="en-US" sz="1200" b="1" dirty="0">
                <a:solidFill>
                  <a:srgbClr val="3730A3"/>
                </a:solidFill>
                <a:latin typeface="DM Sans" pitchFamily="34" charset="0"/>
                <a:ea typeface="DM Sans" pitchFamily="34" charset="-122"/>
                <a:cs typeface="DM Sans" pitchFamily="34" charset="-120"/>
              </a:rPr>
              <a:t>~£211</a:t>
            </a:r>
            <a:endParaRPr lang="en-US" sz="1200" dirty="0"/>
          </a:p>
        </p:txBody>
      </p:sp>
      <p:sp>
        <p:nvSpPr>
          <p:cNvPr id="18" name="Shape 16"/>
          <p:cNvSpPr/>
          <p:nvPr/>
        </p:nvSpPr>
        <p:spPr>
          <a:xfrm>
            <a:off x="777240" y="3950208"/>
            <a:ext cx="5120640" cy="9144"/>
          </a:xfrm>
          <a:prstGeom prst="rect">
            <a:avLst/>
          </a:prstGeom>
          <a:solidFill>
            <a:srgbClr val="F1F5F9"/>
          </a:solidFill>
          <a:ln w="12700">
            <a:solidFill>
              <a:srgbClr val="333333"/>
            </a:solidFill>
            <a:prstDash val="solid"/>
          </a:ln>
        </p:spPr>
      </p:sp>
      <p:sp>
        <p:nvSpPr>
          <p:cNvPr id="19" name="Text 17"/>
          <p:cNvSpPr/>
          <p:nvPr/>
        </p:nvSpPr>
        <p:spPr>
          <a:xfrm>
            <a:off x="777240" y="4069080"/>
            <a:ext cx="2286000" cy="365760"/>
          </a:xfrm>
          <a:prstGeom prst="rect">
            <a:avLst/>
          </a:prstGeom>
          <a:noFill/>
          <a:ln/>
        </p:spPr>
        <p:txBody>
          <a:bodyPr wrap="square" rtlCol="0" anchor="ctr"/>
          <a:lstStyle/>
          <a:p>
            <a:pPr indent="0" marL="0">
              <a:buNone/>
            </a:pPr>
            <a:r>
              <a:rPr lang="en-US" sz="1100" dirty="0">
                <a:solidFill>
                  <a:srgbClr val="334155"/>
                </a:solidFill>
                <a:latin typeface="DM Sans" pitchFamily="34" charset="0"/>
                <a:ea typeface="DM Sans" pitchFamily="34" charset="-122"/>
                <a:cs typeface="DM Sans" pitchFamily="34" charset="-120"/>
              </a:rPr>
              <a:t>Growth Y1 net / customer</a:t>
            </a:r>
            <a:endParaRPr lang="en-US" sz="1100" dirty="0"/>
          </a:p>
        </p:txBody>
      </p:sp>
      <p:sp>
        <p:nvSpPr>
          <p:cNvPr id="20" name="Text 18"/>
          <p:cNvSpPr/>
          <p:nvPr/>
        </p:nvSpPr>
        <p:spPr>
          <a:xfrm>
            <a:off x="3063240" y="4069080"/>
            <a:ext cx="1463040" cy="36576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~£468</a:t>
            </a:r>
            <a:endParaRPr lang="en-US" sz="1200" dirty="0"/>
          </a:p>
        </p:txBody>
      </p:sp>
      <p:sp>
        <p:nvSpPr>
          <p:cNvPr id="21" name="Shape 19"/>
          <p:cNvSpPr/>
          <p:nvPr/>
        </p:nvSpPr>
        <p:spPr>
          <a:xfrm>
            <a:off x="4526280" y="4069080"/>
            <a:ext cx="1554480" cy="365760"/>
          </a:xfrm>
          <a:prstGeom prst="rect">
            <a:avLst/>
          </a:prstGeom>
          <a:solidFill>
            <a:srgbClr val="EEF2FF"/>
          </a:solidFill>
          <a:ln w="12700">
            <a:solidFill>
              <a:srgbClr val="333333"/>
            </a:solidFill>
            <a:prstDash val="solid"/>
          </a:ln>
        </p:spPr>
      </p:sp>
      <p:sp>
        <p:nvSpPr>
          <p:cNvPr id="22" name="Text 20"/>
          <p:cNvSpPr/>
          <p:nvPr/>
        </p:nvSpPr>
        <p:spPr>
          <a:xfrm>
            <a:off x="4572000" y="4069080"/>
            <a:ext cx="1463040" cy="365760"/>
          </a:xfrm>
          <a:prstGeom prst="rect">
            <a:avLst/>
          </a:prstGeom>
          <a:noFill/>
          <a:ln/>
        </p:spPr>
        <p:txBody>
          <a:bodyPr wrap="square" rtlCol="0" anchor="ctr"/>
          <a:lstStyle/>
          <a:p>
            <a:pPr indent="0" marL="0">
              <a:buNone/>
            </a:pPr>
            <a:r>
              <a:rPr lang="en-US" sz="1200" b="1" dirty="0">
                <a:solidFill>
                  <a:srgbClr val="3730A3"/>
                </a:solidFill>
                <a:latin typeface="DM Sans" pitchFamily="34" charset="0"/>
                <a:ea typeface="DM Sans" pitchFamily="34" charset="-122"/>
                <a:cs typeface="DM Sans" pitchFamily="34" charset="-120"/>
              </a:rPr>
              <a:t>~£381</a:t>
            </a:r>
            <a:endParaRPr lang="en-US" sz="1200" dirty="0"/>
          </a:p>
        </p:txBody>
      </p:sp>
      <p:sp>
        <p:nvSpPr>
          <p:cNvPr id="23" name="Shape 21"/>
          <p:cNvSpPr/>
          <p:nvPr/>
        </p:nvSpPr>
        <p:spPr>
          <a:xfrm>
            <a:off x="6355080" y="2011680"/>
            <a:ext cx="5303520" cy="3474720"/>
          </a:xfrm>
          <a:prstGeom prst="roundRect">
            <a:avLst>
              <a:gd name="adj" fmla="val 2105"/>
            </a:avLst>
          </a:prstGeom>
          <a:solidFill>
            <a:srgbClr val="FFFFFF"/>
          </a:solidFill>
          <a:ln w="9525">
            <a:solidFill>
              <a:srgbClr val="E2E8F0"/>
            </a:solidFill>
            <a:prstDash val="solid"/>
          </a:ln>
        </p:spPr>
      </p:sp>
      <p:sp>
        <p:nvSpPr>
          <p:cNvPr id="24" name="Shape 22"/>
          <p:cNvSpPr/>
          <p:nvPr/>
        </p:nvSpPr>
        <p:spPr>
          <a:xfrm>
            <a:off x="6355080" y="2011680"/>
            <a:ext cx="5303520" cy="54864"/>
          </a:xfrm>
          <a:prstGeom prst="rect">
            <a:avLst/>
          </a:prstGeom>
          <a:solidFill>
            <a:srgbClr val="4F46E5"/>
          </a:solidFill>
          <a:ln w="12700">
            <a:solidFill>
              <a:srgbClr val="4F46E5"/>
            </a:solidFill>
            <a:prstDash val="solid"/>
          </a:ln>
        </p:spPr>
      </p:sp>
      <p:sp>
        <p:nvSpPr>
          <p:cNvPr id="25" name="Text 23"/>
          <p:cNvSpPr/>
          <p:nvPr/>
        </p:nvSpPr>
        <p:spPr>
          <a:xfrm>
            <a:off x="6629400" y="2240280"/>
            <a:ext cx="484632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WHAT THIS MEANS AT MONTH 18</a:t>
            </a:r>
            <a:endParaRPr lang="en-US" sz="900" dirty="0"/>
          </a:p>
        </p:txBody>
      </p:sp>
      <p:sp>
        <p:nvSpPr>
          <p:cNvPr id="26" name="Text 24"/>
          <p:cNvSpPr/>
          <p:nvPr/>
        </p:nvSpPr>
        <p:spPr>
          <a:xfrm>
            <a:off x="6629400" y="2788920"/>
            <a:ext cx="4846320" cy="365760"/>
          </a:xfrm>
          <a:prstGeom prst="rect">
            <a:avLst/>
          </a:prstGeom>
          <a:noFill/>
          <a:ln/>
        </p:spPr>
        <p:txBody>
          <a:bodyPr wrap="square" rtlCol="0" anchor="ctr"/>
          <a:lstStyle/>
          <a:p>
            <a:pPr indent="0" marL="0">
              <a:buNone/>
            </a:pPr>
            <a:r>
              <a:rPr lang="en-US" sz="1400" b="1" dirty="0">
                <a:solidFill>
                  <a:srgbClr val="0F172A"/>
                </a:solidFill>
                <a:latin typeface="DM Sans" pitchFamily="34" charset="0"/>
                <a:ea typeface="DM Sans" pitchFamily="34" charset="-122"/>
                <a:cs typeface="DM Sans" pitchFamily="34" charset="-120"/>
              </a:rPr>
              <a:t>Sprint base  ·  ~£135K MRR  ·  ~£1.6M ARR</a:t>
            </a:r>
            <a:endParaRPr lang="en-US" sz="1400" dirty="0"/>
          </a:p>
        </p:txBody>
      </p:sp>
      <p:sp>
        <p:nvSpPr>
          <p:cNvPr id="27" name="Text 25"/>
          <p:cNvSpPr/>
          <p:nvPr/>
        </p:nvSpPr>
        <p:spPr>
          <a:xfrm>
            <a:off x="6629400" y="3200400"/>
            <a:ext cx="4846320" cy="5029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Real business at solo-founder scale. Profitable from ~month 6.</a:t>
            </a:r>
            <a:endParaRPr lang="en-US" sz="1100" dirty="0"/>
          </a:p>
        </p:txBody>
      </p:sp>
      <p:sp>
        <p:nvSpPr>
          <p:cNvPr id="28" name="Text 26"/>
          <p:cNvSpPr/>
          <p:nvPr/>
        </p:nvSpPr>
        <p:spPr>
          <a:xfrm>
            <a:off x="6629400" y="3931920"/>
            <a:ext cx="4846320" cy="365760"/>
          </a:xfrm>
          <a:prstGeom prst="rect">
            <a:avLst/>
          </a:prstGeom>
          <a:noFill/>
          <a:ln/>
        </p:spPr>
        <p:txBody>
          <a:bodyPr wrap="square" rtlCol="0" anchor="ctr"/>
          <a:lstStyle/>
          <a:p>
            <a:pPr indent="0" marL="0">
              <a:buNone/>
            </a:pPr>
            <a:r>
              <a:rPr lang="en-US" sz="1400" b="1" dirty="0">
                <a:solidFill>
                  <a:srgbClr val="B45309"/>
                </a:solidFill>
                <a:latin typeface="DM Sans" pitchFamily="34" charset="0"/>
                <a:ea typeface="DM Sans" pitchFamily="34" charset="-122"/>
                <a:cs typeface="DM Sans" pitchFamily="34" charset="-120"/>
              </a:rPr>
              <a:t>Sprint upside  ·  ~£380K MRR  ·  ~£4.5M ARR</a:t>
            </a:r>
            <a:endParaRPr lang="en-US" sz="1400" dirty="0"/>
          </a:p>
        </p:txBody>
      </p:sp>
      <p:sp>
        <p:nvSpPr>
          <p:cNvPr id="29" name="Text 27"/>
          <p:cNvSpPr/>
          <p:nvPr/>
        </p:nvSpPr>
        <p:spPr>
          <a:xfrm>
            <a:off x="6629400" y="4343400"/>
            <a:ext cx="4846320" cy="5029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Acquirable or fundable. The capitalise window from slide 17.</a:t>
            </a:r>
            <a:endParaRPr lang="en-US" sz="1100" dirty="0"/>
          </a:p>
        </p:txBody>
      </p:sp>
      <p:sp>
        <p:nvSpPr>
          <p:cNvPr id="30" name="Shape 28"/>
          <p:cNvSpPr/>
          <p:nvPr/>
        </p:nvSpPr>
        <p:spPr>
          <a:xfrm>
            <a:off x="502920" y="5577840"/>
            <a:ext cx="11155680" cy="777240"/>
          </a:xfrm>
          <a:prstGeom prst="roundRect">
            <a:avLst>
              <a:gd name="adj" fmla="val 9412"/>
            </a:avLst>
          </a:prstGeom>
          <a:solidFill>
            <a:srgbClr val="0F172A"/>
          </a:solidFill>
          <a:ln w="12700">
            <a:solidFill>
              <a:srgbClr val="0F172A"/>
            </a:solidFill>
            <a:prstDash val="solid"/>
          </a:ln>
        </p:spPr>
      </p:sp>
      <p:sp>
        <p:nvSpPr>
          <p:cNvPr id="31" name="Text 29"/>
          <p:cNvSpPr/>
          <p:nvPr/>
        </p:nvSpPr>
        <p:spPr>
          <a:xfrm>
            <a:off x="868680" y="5623560"/>
            <a:ext cx="10424160" cy="22860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HONEST FRAMING</a:t>
            </a:r>
            <a:endParaRPr lang="en-US" sz="900" dirty="0"/>
          </a:p>
        </p:txBody>
      </p:sp>
      <p:sp>
        <p:nvSpPr>
          <p:cNvPr id="32" name="Text 30"/>
          <p:cNvSpPr/>
          <p:nvPr/>
        </p:nvSpPr>
        <p:spPr>
          <a:xfrm>
            <a:off x="868680" y="5870448"/>
            <a:ext cx="10424160" cy="502920"/>
          </a:xfrm>
          <a:prstGeom prst="rect">
            <a:avLst/>
          </a:prstGeom>
          <a:noFill/>
          <a:ln/>
        </p:spPr>
        <p:txBody>
          <a:bodyPr wrap="square" rtlCol="0" anchor="ctr"/>
          <a:lstStyle/>
          <a:p>
            <a:pPr indent="0" marL="0">
              <a:lnSpc>
                <a:spcPct val="135000"/>
              </a:lnSpc>
              <a:buNone/>
            </a:pPr>
            <a:r>
              <a:rPr lang="en-US" sz="900" dirty="0">
                <a:solidFill>
                  <a:srgbClr val="EEF2FF"/>
                </a:solidFill>
                <a:latin typeface="DM Sans" pitchFamily="34" charset="0"/>
                <a:ea typeface="DM Sans" pitchFamily="34" charset="-122"/>
                <a:cs typeface="DM Sans" pitchFamily="34" charset="-120"/>
              </a:rPr>
              <a:t>Dual sub (£14 annual / £17 monthly, 40/60 blend), pass-through overage at cost × 1.60, shared multi-tenant Launch host (CAX41), 3 mailboxes, dedicated VPS at Growth tier. Mid-range Launch £11.55/mo (£9.08 → £12.17); Growth £31.74/mo (£24.12 → £34.24). Y1 OPEX ≈£90K (founder draw not included). Full sensitivity: AI_COGS_SENSITIVITY.xlsx · MRR build-up in appendix.</a:t>
            </a:r>
            <a:endParaRPr lang="en-US" sz="900" dirty="0"/>
          </a:p>
        </p:txBody>
      </p:sp>
      <p:sp>
        <p:nvSpPr>
          <p:cNvPr id="33" name="Text 31"/>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4" name="Text 32"/>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17  ·  THREE LANDING ZONES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Where this lands at month 12-18.</a:t>
            </a:r>
            <a:endParaRPr lang="en-US" sz="3000" dirty="0"/>
          </a:p>
        </p:txBody>
      </p:sp>
      <p:sp>
        <p:nvSpPr>
          <p:cNvPr id="4" name="Shape 2"/>
          <p:cNvSpPr/>
          <p:nvPr/>
        </p:nvSpPr>
        <p:spPr>
          <a:xfrm>
            <a:off x="502920" y="2011680"/>
            <a:ext cx="3611880" cy="3931920"/>
          </a:xfrm>
          <a:prstGeom prst="roundRect">
            <a:avLst>
              <a:gd name="adj" fmla="val 2532"/>
            </a:avLst>
          </a:prstGeom>
          <a:solidFill>
            <a:srgbClr val="0F172A"/>
          </a:solidFill>
          <a:ln w="25400">
            <a:solidFill>
              <a:srgbClr val="F59E0B"/>
            </a:solidFill>
            <a:prstDash val="solid"/>
          </a:ln>
        </p:spPr>
      </p:sp>
      <p:sp>
        <p:nvSpPr>
          <p:cNvPr id="5" name="Text 3"/>
          <p:cNvSpPr/>
          <p:nvPr/>
        </p:nvSpPr>
        <p:spPr>
          <a:xfrm>
            <a:off x="777240" y="2286000"/>
            <a:ext cx="3154680"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PRIMARY UPSIDE</a:t>
            </a:r>
            <a:endParaRPr lang="en-US" sz="900" dirty="0"/>
          </a:p>
        </p:txBody>
      </p:sp>
      <p:sp>
        <p:nvSpPr>
          <p:cNvPr id="6" name="Text 4"/>
          <p:cNvSpPr/>
          <p:nvPr/>
        </p:nvSpPr>
        <p:spPr>
          <a:xfrm>
            <a:off x="777240" y="2606040"/>
            <a:ext cx="3154680" cy="502920"/>
          </a:xfrm>
          <a:prstGeom prst="rect">
            <a:avLst/>
          </a:prstGeom>
          <a:noFill/>
          <a:ln/>
        </p:spPr>
        <p:txBody>
          <a:bodyPr wrap="square" rtlCol="0" anchor="ctr"/>
          <a:lstStyle/>
          <a:p>
            <a:pPr indent="0" marL="0">
              <a:lnSpc>
                <a:spcPct val="115000"/>
              </a:lnSpc>
              <a:buNone/>
            </a:pPr>
            <a:r>
              <a:rPr lang="en-US" sz="1700" b="1" dirty="0">
                <a:solidFill>
                  <a:srgbClr val="FFFFFF"/>
                </a:solidFill>
                <a:latin typeface="DM Sans" pitchFamily="34" charset="0"/>
                <a:ea typeface="DM Sans" pitchFamily="34" charset="-122"/>
                <a:cs typeface="DM Sans" pitchFamily="34" charset="-120"/>
              </a:rPr>
              <a:t>Strategic acquisition</a:t>
            </a:r>
            <a:endParaRPr lang="en-US" sz="1700" dirty="0"/>
          </a:p>
        </p:txBody>
      </p:sp>
      <p:sp>
        <p:nvSpPr>
          <p:cNvPr id="7" name="Text 5"/>
          <p:cNvSpPr/>
          <p:nvPr/>
        </p:nvSpPr>
        <p:spPr>
          <a:xfrm>
            <a:off x="777240" y="3200400"/>
            <a:ext cx="3154680" cy="960120"/>
          </a:xfrm>
          <a:prstGeom prst="rect">
            <a:avLst/>
          </a:prstGeom>
          <a:noFill/>
          <a:ln/>
        </p:spPr>
        <p:txBody>
          <a:bodyPr wrap="square" rtlCol="0" anchor="ctr"/>
          <a:lstStyle/>
          <a:p>
            <a:pPr indent="0" marL="0">
              <a:buNone/>
            </a:pPr>
            <a:r>
              <a:rPr lang="en-US" sz="3800" b="1" dirty="0">
                <a:solidFill>
                  <a:srgbClr val="F59E0B"/>
                </a:solidFill>
                <a:latin typeface="DM Sans" pitchFamily="34" charset="0"/>
                <a:ea typeface="DM Sans" pitchFamily="34" charset="-122"/>
                <a:cs typeface="DM Sans" pitchFamily="34" charset="-120"/>
              </a:rPr>
              <a:t>$20-100M</a:t>
            </a:r>
            <a:endParaRPr lang="en-US" sz="3800" dirty="0"/>
          </a:p>
        </p:txBody>
      </p:sp>
      <p:sp>
        <p:nvSpPr>
          <p:cNvPr id="8" name="Text 6"/>
          <p:cNvSpPr/>
          <p:nvPr/>
        </p:nvSpPr>
        <p:spPr>
          <a:xfrm>
            <a:off x="777240" y="4114800"/>
            <a:ext cx="3154680" cy="274320"/>
          </a:xfrm>
          <a:prstGeom prst="rect">
            <a:avLst/>
          </a:prstGeom>
          <a:noFill/>
          <a:ln/>
        </p:spPr>
        <p:txBody>
          <a:bodyPr wrap="square" rtlCol="0" anchor="ctr"/>
          <a:lstStyle/>
          <a:p>
            <a:pPr indent="0" marL="0">
              <a:buNone/>
            </a:pPr>
            <a:r>
              <a:rPr lang="en-US" sz="1000" i="1" dirty="0">
                <a:solidFill>
                  <a:srgbClr val="EEF2FF"/>
                </a:solidFill>
                <a:latin typeface="DM Sans" pitchFamily="34" charset="0"/>
                <a:ea typeface="DM Sans" pitchFamily="34" charset="-122"/>
                <a:cs typeface="DM Sans" pitchFamily="34" charset="-120"/>
              </a:rPr>
              <a:t>category precedents</a:t>
            </a:r>
            <a:endParaRPr lang="en-US" sz="1000" dirty="0"/>
          </a:p>
        </p:txBody>
      </p:sp>
      <p:sp>
        <p:nvSpPr>
          <p:cNvPr id="9" name="Text 7"/>
          <p:cNvSpPr/>
          <p:nvPr/>
        </p:nvSpPr>
        <p:spPr>
          <a:xfrm>
            <a:off x="777240" y="4480560"/>
            <a:ext cx="3154680" cy="868680"/>
          </a:xfrm>
          <a:prstGeom prst="rect">
            <a:avLst/>
          </a:prstGeom>
          <a:noFill/>
          <a:ln/>
        </p:spPr>
        <p:txBody>
          <a:bodyPr wrap="square" rtlCol="0" anchor="ctr"/>
          <a:lstStyle/>
          <a:p>
            <a:pPr indent="0" marL="0">
              <a:lnSpc>
                <a:spcPct val="140000"/>
              </a:lnSpc>
              <a:buNone/>
            </a:pPr>
            <a:r>
              <a:rPr lang="en-US" sz="1100" dirty="0">
                <a:solidFill>
                  <a:srgbClr val="EEF2FF"/>
                </a:solidFill>
                <a:latin typeface="DM Sans" pitchFamily="34" charset="0"/>
                <a:ea typeface="DM Sans" pitchFamily="34" charset="-122"/>
                <a:cs typeface="DM Sans" pitchFamily="34" charset="-120"/>
              </a:rPr>
              <a:t>5-15K active users, clean positioning, strategic alignment with a major AI tool vendor at month 12-18.</a:t>
            </a:r>
            <a:endParaRPr lang="en-US" sz="1100" dirty="0"/>
          </a:p>
        </p:txBody>
      </p:sp>
      <p:sp>
        <p:nvSpPr>
          <p:cNvPr id="10" name="Shape 8"/>
          <p:cNvSpPr/>
          <p:nvPr/>
        </p:nvSpPr>
        <p:spPr>
          <a:xfrm>
            <a:off x="777240" y="5349240"/>
            <a:ext cx="3063240" cy="9144"/>
          </a:xfrm>
          <a:prstGeom prst="rect">
            <a:avLst/>
          </a:prstGeom>
          <a:solidFill>
            <a:srgbClr val="334155"/>
          </a:solidFill>
          <a:ln w="12700">
            <a:solidFill>
              <a:srgbClr val="333333"/>
            </a:solidFill>
            <a:prstDash val="solid"/>
          </a:ln>
        </p:spPr>
      </p:sp>
      <p:sp>
        <p:nvSpPr>
          <p:cNvPr id="11" name="Text 9"/>
          <p:cNvSpPr/>
          <p:nvPr/>
        </p:nvSpPr>
        <p:spPr>
          <a:xfrm>
            <a:off x="777240" y="5440680"/>
            <a:ext cx="3154680" cy="502920"/>
          </a:xfrm>
          <a:prstGeom prst="rect">
            <a:avLst/>
          </a:prstGeom>
          <a:noFill/>
          <a:ln/>
        </p:spPr>
        <p:txBody>
          <a:bodyPr wrap="square" rtlCol="0" anchor="ctr"/>
          <a:lstStyle/>
          <a:p>
            <a:pPr indent="0" marL="0">
              <a:lnSpc>
                <a:spcPct val="135000"/>
              </a:lnSpc>
              <a:buNone/>
            </a:pPr>
            <a:r>
              <a:rPr lang="en-US" sz="950" i="1" dirty="0">
                <a:solidFill>
                  <a:srgbClr val="F59E0B"/>
                </a:solidFill>
                <a:latin typeface="DM Sans" pitchFamily="34" charset="0"/>
                <a:ea typeface="DM Sans" pitchFamily="34" charset="-122"/>
                <a:cs typeface="DM Sans" pitchFamily="34" charset="-120"/>
              </a:rPr>
              <a:t>Plausible acquirers: Anthropic, Cursor, Windsurf, Vercel, Supabase, Stripe.</a:t>
            </a:r>
            <a:endParaRPr lang="en-US" sz="950" dirty="0"/>
          </a:p>
        </p:txBody>
      </p:sp>
      <p:sp>
        <p:nvSpPr>
          <p:cNvPr id="12" name="Shape 10"/>
          <p:cNvSpPr/>
          <p:nvPr/>
        </p:nvSpPr>
        <p:spPr>
          <a:xfrm>
            <a:off x="4297680" y="2011680"/>
            <a:ext cx="3611880" cy="3931920"/>
          </a:xfrm>
          <a:prstGeom prst="roundRect">
            <a:avLst>
              <a:gd name="adj" fmla="val 2532"/>
            </a:avLst>
          </a:prstGeom>
          <a:solidFill>
            <a:srgbClr val="FFFFFF"/>
          </a:solidFill>
          <a:ln w="9525">
            <a:solidFill>
              <a:srgbClr val="E2E8F0"/>
            </a:solidFill>
            <a:prstDash val="solid"/>
          </a:ln>
        </p:spPr>
      </p:sp>
      <p:sp>
        <p:nvSpPr>
          <p:cNvPr id="13" name="Text 11"/>
          <p:cNvSpPr/>
          <p:nvPr/>
        </p:nvSpPr>
        <p:spPr>
          <a:xfrm>
            <a:off x="4572000" y="2286000"/>
            <a:ext cx="315468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HYPERGROWTH</a:t>
            </a:r>
            <a:endParaRPr lang="en-US" sz="900" dirty="0"/>
          </a:p>
        </p:txBody>
      </p:sp>
      <p:sp>
        <p:nvSpPr>
          <p:cNvPr id="14" name="Text 12"/>
          <p:cNvSpPr/>
          <p:nvPr/>
        </p:nvSpPr>
        <p:spPr>
          <a:xfrm>
            <a:off x="4572000" y="2606040"/>
            <a:ext cx="3154680" cy="50292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Pre-seed → seed raise</a:t>
            </a:r>
            <a:endParaRPr lang="en-US" sz="1700" dirty="0"/>
          </a:p>
        </p:txBody>
      </p:sp>
      <p:sp>
        <p:nvSpPr>
          <p:cNvPr id="15" name="Text 13"/>
          <p:cNvSpPr/>
          <p:nvPr/>
        </p:nvSpPr>
        <p:spPr>
          <a:xfrm>
            <a:off x="4572000" y="3200400"/>
            <a:ext cx="3154680" cy="960120"/>
          </a:xfrm>
          <a:prstGeom prst="rect">
            <a:avLst/>
          </a:prstGeom>
          <a:noFill/>
          <a:ln/>
        </p:spPr>
        <p:txBody>
          <a:bodyPr wrap="square" rtlCol="0" anchor="ctr"/>
          <a:lstStyle/>
          <a:p>
            <a:pPr indent="0" marL="0">
              <a:buNone/>
            </a:pPr>
            <a:r>
              <a:rPr lang="en-US" sz="3800" b="1" dirty="0">
                <a:solidFill>
                  <a:srgbClr val="4F46E5"/>
                </a:solidFill>
                <a:latin typeface="DM Sans" pitchFamily="34" charset="0"/>
                <a:ea typeface="DM Sans" pitchFamily="34" charset="-122"/>
                <a:cs typeface="DM Sans" pitchFamily="34" charset="-120"/>
              </a:rPr>
              <a:t>£20-50M</a:t>
            </a:r>
            <a:endParaRPr lang="en-US" sz="3800" dirty="0"/>
          </a:p>
        </p:txBody>
      </p:sp>
      <p:sp>
        <p:nvSpPr>
          <p:cNvPr id="16" name="Text 14"/>
          <p:cNvSpPr/>
          <p:nvPr/>
        </p:nvSpPr>
        <p:spPr>
          <a:xfrm>
            <a:off x="4572000" y="4114800"/>
            <a:ext cx="3154680" cy="27432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valuation band</a:t>
            </a:r>
            <a:endParaRPr lang="en-US" sz="1000" dirty="0"/>
          </a:p>
        </p:txBody>
      </p:sp>
      <p:sp>
        <p:nvSpPr>
          <p:cNvPr id="17" name="Text 15"/>
          <p:cNvSpPr/>
          <p:nvPr/>
        </p:nvSpPr>
        <p:spPr>
          <a:xfrm>
            <a:off x="4572000" y="4480560"/>
            <a:ext cx="3154680" cy="86868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£100-300K MRR. 30%+ MoM growth still compounding at month 12-15. Targets: Earlybird AI, Index, Seedcamp, EF, Antler.</a:t>
            </a:r>
            <a:endParaRPr lang="en-US" sz="1100" dirty="0"/>
          </a:p>
        </p:txBody>
      </p:sp>
      <p:sp>
        <p:nvSpPr>
          <p:cNvPr id="18" name="Shape 16"/>
          <p:cNvSpPr/>
          <p:nvPr/>
        </p:nvSpPr>
        <p:spPr>
          <a:xfrm>
            <a:off x="4572000" y="5349240"/>
            <a:ext cx="3063240" cy="9144"/>
          </a:xfrm>
          <a:prstGeom prst="rect">
            <a:avLst/>
          </a:prstGeom>
          <a:solidFill>
            <a:srgbClr val="F1F5F9"/>
          </a:solidFill>
          <a:ln w="12700">
            <a:solidFill>
              <a:srgbClr val="333333"/>
            </a:solidFill>
            <a:prstDash val="solid"/>
          </a:ln>
        </p:spPr>
      </p:sp>
      <p:sp>
        <p:nvSpPr>
          <p:cNvPr id="19" name="Text 17"/>
          <p:cNvSpPr/>
          <p:nvPr/>
        </p:nvSpPr>
        <p:spPr>
          <a:xfrm>
            <a:off x="4572000" y="5440680"/>
            <a:ext cx="3154680" cy="502920"/>
          </a:xfrm>
          <a:prstGeom prst="rect">
            <a:avLst/>
          </a:prstGeom>
          <a:noFill/>
          <a:ln/>
        </p:spPr>
        <p:txBody>
          <a:bodyPr wrap="square" rtlCol="0" anchor="ctr"/>
          <a:lstStyle/>
          <a:p>
            <a:pPr indent="0" marL="0">
              <a:lnSpc>
                <a:spcPct val="135000"/>
              </a:lnSpc>
              <a:buNone/>
            </a:pPr>
            <a:r>
              <a:rPr lang="en-US" sz="950" i="1" dirty="0">
                <a:solidFill>
                  <a:srgbClr val="64748B"/>
                </a:solidFill>
                <a:latin typeface="DM Sans" pitchFamily="34" charset="0"/>
                <a:ea typeface="DM Sans" pitchFamily="34" charset="-122"/>
                <a:cs typeface="DM Sans" pitchFamily="34" charset="-120"/>
              </a:rPr>
              <a:t>Funds team expansion (5-8 hires), full paid acquisition engine, product expansion.</a:t>
            </a:r>
            <a:endParaRPr lang="en-US" sz="950" dirty="0"/>
          </a:p>
        </p:txBody>
      </p:sp>
      <p:sp>
        <p:nvSpPr>
          <p:cNvPr id="20" name="Shape 18"/>
          <p:cNvSpPr/>
          <p:nvPr/>
        </p:nvSpPr>
        <p:spPr>
          <a:xfrm>
            <a:off x="8092440" y="2011680"/>
            <a:ext cx="3611880" cy="3931920"/>
          </a:xfrm>
          <a:prstGeom prst="roundRect">
            <a:avLst>
              <a:gd name="adj" fmla="val 2532"/>
            </a:avLst>
          </a:prstGeom>
          <a:solidFill>
            <a:srgbClr val="FFFFFF"/>
          </a:solidFill>
          <a:ln w="9525">
            <a:solidFill>
              <a:srgbClr val="E2E8F0"/>
            </a:solidFill>
            <a:prstDash val="solid"/>
          </a:ln>
        </p:spPr>
      </p:sp>
      <p:sp>
        <p:nvSpPr>
          <p:cNvPr id="21" name="Text 19"/>
          <p:cNvSpPr/>
          <p:nvPr/>
        </p:nvSpPr>
        <p:spPr>
          <a:xfrm>
            <a:off x="8366760" y="2286000"/>
            <a:ext cx="315468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CONSOLATION</a:t>
            </a:r>
            <a:endParaRPr lang="en-US" sz="900" dirty="0"/>
          </a:p>
        </p:txBody>
      </p:sp>
      <p:sp>
        <p:nvSpPr>
          <p:cNvPr id="22" name="Text 20"/>
          <p:cNvSpPr/>
          <p:nvPr/>
        </p:nvSpPr>
        <p:spPr>
          <a:xfrm>
            <a:off x="8366760" y="2606040"/>
            <a:ext cx="3154680" cy="50292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Lifestyle landing zone</a:t>
            </a:r>
            <a:endParaRPr lang="en-US" sz="1700" dirty="0"/>
          </a:p>
        </p:txBody>
      </p:sp>
      <p:sp>
        <p:nvSpPr>
          <p:cNvPr id="23" name="Text 21"/>
          <p:cNvSpPr/>
          <p:nvPr/>
        </p:nvSpPr>
        <p:spPr>
          <a:xfrm>
            <a:off x="8366760" y="3200400"/>
            <a:ext cx="3154680" cy="960120"/>
          </a:xfrm>
          <a:prstGeom prst="rect">
            <a:avLst/>
          </a:prstGeom>
          <a:noFill/>
          <a:ln/>
        </p:spPr>
        <p:txBody>
          <a:bodyPr wrap="square" rtlCol="0" anchor="ctr"/>
          <a:lstStyle/>
          <a:p>
            <a:pPr indent="0" marL="0">
              <a:buNone/>
            </a:pPr>
            <a:r>
              <a:rPr lang="en-US" sz="3800" b="1" dirty="0">
                <a:solidFill>
                  <a:srgbClr val="4F46E5"/>
                </a:solidFill>
                <a:latin typeface="DM Sans" pitchFamily="34" charset="0"/>
                <a:ea typeface="DM Sans" pitchFamily="34" charset="-122"/>
                <a:cs typeface="DM Sans" pitchFamily="34" charset="-120"/>
              </a:rPr>
              <a:t>£25-65K</a:t>
            </a:r>
            <a:endParaRPr lang="en-US" sz="3800" dirty="0"/>
          </a:p>
        </p:txBody>
      </p:sp>
      <p:sp>
        <p:nvSpPr>
          <p:cNvPr id="24" name="Text 22"/>
          <p:cNvSpPr/>
          <p:nvPr/>
        </p:nvSpPr>
        <p:spPr>
          <a:xfrm>
            <a:off x="8366760" y="4114800"/>
            <a:ext cx="3154680" cy="27432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solo income / month</a:t>
            </a:r>
            <a:endParaRPr lang="en-US" sz="1000" dirty="0"/>
          </a:p>
        </p:txBody>
      </p:sp>
      <p:sp>
        <p:nvSpPr>
          <p:cNvPr id="25" name="Text 23"/>
          <p:cNvSpPr/>
          <p:nvPr/>
        </p:nvSpPr>
        <p:spPr>
          <a:xfrm>
            <a:off x="8366760" y="4480560"/>
            <a:ext cx="3154680" cy="86868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£30-80K MRR plateaued at month 12-18. Sprint base outcome. No external capital, no team.</a:t>
            </a:r>
            <a:endParaRPr lang="en-US" sz="1100" dirty="0"/>
          </a:p>
        </p:txBody>
      </p:sp>
      <p:sp>
        <p:nvSpPr>
          <p:cNvPr id="26" name="Shape 24"/>
          <p:cNvSpPr/>
          <p:nvPr/>
        </p:nvSpPr>
        <p:spPr>
          <a:xfrm>
            <a:off x="8366760" y="5349240"/>
            <a:ext cx="3063240" cy="9144"/>
          </a:xfrm>
          <a:prstGeom prst="rect">
            <a:avLst/>
          </a:prstGeom>
          <a:solidFill>
            <a:srgbClr val="F1F5F9"/>
          </a:solidFill>
          <a:ln w="12700">
            <a:solidFill>
              <a:srgbClr val="333333"/>
            </a:solidFill>
            <a:prstDash val="solid"/>
          </a:ln>
        </p:spPr>
      </p:sp>
      <p:sp>
        <p:nvSpPr>
          <p:cNvPr id="27" name="Text 25"/>
          <p:cNvSpPr/>
          <p:nvPr/>
        </p:nvSpPr>
        <p:spPr>
          <a:xfrm>
            <a:off x="8366760" y="5440680"/>
            <a:ext cx="3154680" cy="502920"/>
          </a:xfrm>
          <a:prstGeom prst="rect">
            <a:avLst/>
          </a:prstGeom>
          <a:noFill/>
          <a:ln/>
        </p:spPr>
        <p:txBody>
          <a:bodyPr wrap="square" rtlCol="0" anchor="ctr"/>
          <a:lstStyle/>
          <a:p>
            <a:pPr indent="0" marL="0">
              <a:lnSpc>
                <a:spcPct val="135000"/>
              </a:lnSpc>
              <a:buNone/>
            </a:pPr>
            <a:r>
              <a:rPr lang="en-US" sz="950" i="1" dirty="0">
                <a:solidFill>
                  <a:srgbClr val="64748B"/>
                </a:solidFill>
                <a:latin typeface="DM Sans" pitchFamily="34" charset="0"/>
                <a:ea typeface="DM Sans" pitchFamily="34" charset="-122"/>
                <a:cs typeface="DM Sans" pitchFamily="34" charset="-120"/>
              </a:rPr>
              <a:t>Floor if both acquisition window and hypergrowth raise miss. Founder continues solo or winds down.</a:t>
            </a:r>
            <a:endParaRPr lang="en-US" sz="950" dirty="0"/>
          </a:p>
        </p:txBody>
      </p:sp>
      <p:sp>
        <p:nvSpPr>
          <p:cNvPr id="28" name="Text 26"/>
          <p:cNvSpPr/>
          <p:nvPr/>
        </p:nvSpPr>
        <p:spPr>
          <a:xfrm>
            <a:off x="502920" y="6126480"/>
            <a:ext cx="10972800" cy="27432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Acquisition framing is a credible upside scenario with category precedents (Vercel ⊃ Nuxt Labs / Splitbee). Not a guarantee, not a forecast.</a:t>
            </a:r>
            <a:endParaRPr lang="en-US" sz="900" dirty="0"/>
          </a:p>
        </p:txBody>
      </p:sp>
      <p:sp>
        <p:nvSpPr>
          <p:cNvPr id="29" name="Text 27"/>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0" name="Text 28"/>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18  ·  WHAT’S ALREADY BUILT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Not a pitch for a slide. A pitch for a working product.</a:t>
            </a:r>
            <a:endParaRPr lang="en-US" sz="3000" dirty="0"/>
          </a:p>
        </p:txBody>
      </p:sp>
      <p:sp>
        <p:nvSpPr>
          <p:cNvPr id="4" name="Shape 2"/>
          <p:cNvSpPr/>
          <p:nvPr/>
        </p:nvSpPr>
        <p:spPr>
          <a:xfrm>
            <a:off x="594360" y="2011680"/>
            <a:ext cx="274320" cy="274320"/>
          </a:xfrm>
          <a:prstGeom prst="ellipse">
            <a:avLst/>
          </a:prstGeom>
          <a:solidFill>
            <a:srgbClr val="EEF2FF"/>
          </a:solidFill>
          <a:ln w="12700">
            <a:solidFill>
              <a:srgbClr val="4F46E5"/>
            </a:solidFill>
            <a:prstDash val="solid"/>
          </a:ln>
        </p:spPr>
      </p:sp>
      <p:sp>
        <p:nvSpPr>
          <p:cNvPr id="5" name="Text 3"/>
          <p:cNvSpPr/>
          <p:nvPr/>
        </p:nvSpPr>
        <p:spPr>
          <a:xfrm>
            <a:off x="594360" y="20116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6" name="Text 4"/>
          <p:cNvSpPr/>
          <p:nvPr/>
        </p:nvSpPr>
        <p:spPr>
          <a:xfrm>
            <a:off x="1005840" y="19659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End-to-end automated Sandbox provisioning (~60s)</a:t>
            </a:r>
            <a:endParaRPr lang="en-US" sz="1200" dirty="0"/>
          </a:p>
        </p:txBody>
      </p:sp>
      <p:sp>
        <p:nvSpPr>
          <p:cNvPr id="7" name="Shape 5"/>
          <p:cNvSpPr/>
          <p:nvPr/>
        </p:nvSpPr>
        <p:spPr>
          <a:xfrm>
            <a:off x="6263640" y="2011680"/>
            <a:ext cx="274320" cy="274320"/>
          </a:xfrm>
          <a:prstGeom prst="ellipse">
            <a:avLst/>
          </a:prstGeom>
          <a:solidFill>
            <a:srgbClr val="EEF2FF"/>
          </a:solidFill>
          <a:ln w="12700">
            <a:solidFill>
              <a:srgbClr val="4F46E5"/>
            </a:solidFill>
            <a:prstDash val="solid"/>
          </a:ln>
        </p:spPr>
      </p:sp>
      <p:sp>
        <p:nvSpPr>
          <p:cNvPr id="8" name="Text 6"/>
          <p:cNvSpPr/>
          <p:nvPr/>
        </p:nvSpPr>
        <p:spPr>
          <a:xfrm>
            <a:off x="6263640" y="20116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9" name="Text 7"/>
          <p:cNvSpPr/>
          <p:nvPr/>
        </p:nvSpPr>
        <p:spPr>
          <a:xfrm>
            <a:off x="6675120" y="19659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Magic-link + verification-code Hatchik account</a:t>
            </a:r>
            <a:endParaRPr lang="en-US" sz="1200" dirty="0"/>
          </a:p>
        </p:txBody>
      </p:sp>
      <p:sp>
        <p:nvSpPr>
          <p:cNvPr id="10" name="Shape 8"/>
          <p:cNvSpPr/>
          <p:nvPr/>
        </p:nvSpPr>
        <p:spPr>
          <a:xfrm>
            <a:off x="594360" y="2514600"/>
            <a:ext cx="274320" cy="274320"/>
          </a:xfrm>
          <a:prstGeom prst="ellipse">
            <a:avLst/>
          </a:prstGeom>
          <a:solidFill>
            <a:srgbClr val="EEF2FF"/>
          </a:solidFill>
          <a:ln w="12700">
            <a:solidFill>
              <a:srgbClr val="4F46E5"/>
            </a:solidFill>
            <a:prstDash val="solid"/>
          </a:ln>
        </p:spPr>
      </p:sp>
      <p:sp>
        <p:nvSpPr>
          <p:cNvPr id="11" name="Text 9"/>
          <p:cNvSpPr/>
          <p:nvPr/>
        </p:nvSpPr>
        <p:spPr>
          <a:xfrm>
            <a:off x="594360" y="251460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12" name="Text 10"/>
          <p:cNvSpPr/>
          <p:nvPr/>
        </p:nvSpPr>
        <p:spPr>
          <a:xfrm>
            <a:off x="1005840" y="246888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Self-serve sandbox deletion + admin lifecycle (30-day archive)</a:t>
            </a:r>
            <a:endParaRPr lang="en-US" sz="1200" dirty="0"/>
          </a:p>
        </p:txBody>
      </p:sp>
      <p:sp>
        <p:nvSpPr>
          <p:cNvPr id="13" name="Shape 11"/>
          <p:cNvSpPr/>
          <p:nvPr/>
        </p:nvSpPr>
        <p:spPr>
          <a:xfrm>
            <a:off x="6263640" y="2514600"/>
            <a:ext cx="274320" cy="274320"/>
          </a:xfrm>
          <a:prstGeom prst="ellipse">
            <a:avLst/>
          </a:prstGeom>
          <a:solidFill>
            <a:srgbClr val="EEF2FF"/>
          </a:solidFill>
          <a:ln w="12700">
            <a:solidFill>
              <a:srgbClr val="4F46E5"/>
            </a:solidFill>
            <a:prstDash val="solid"/>
          </a:ln>
        </p:spPr>
      </p:sp>
      <p:sp>
        <p:nvSpPr>
          <p:cNvPr id="14" name="Text 12"/>
          <p:cNvSpPr/>
          <p:nvPr/>
        </p:nvSpPr>
        <p:spPr>
          <a:xfrm>
            <a:off x="6263640" y="251460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15" name="Text 13"/>
          <p:cNvSpPr/>
          <p:nvPr/>
        </p:nvSpPr>
        <p:spPr>
          <a:xfrm>
            <a:off x="6675120" y="246888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Per-tenant private GitHub repo + push-to-deploy webhook</a:t>
            </a:r>
            <a:endParaRPr lang="en-US" sz="1200" dirty="0"/>
          </a:p>
        </p:txBody>
      </p:sp>
      <p:sp>
        <p:nvSpPr>
          <p:cNvPr id="16" name="Shape 14"/>
          <p:cNvSpPr/>
          <p:nvPr/>
        </p:nvSpPr>
        <p:spPr>
          <a:xfrm>
            <a:off x="594360" y="3017520"/>
            <a:ext cx="274320" cy="274320"/>
          </a:xfrm>
          <a:prstGeom prst="ellipse">
            <a:avLst/>
          </a:prstGeom>
          <a:solidFill>
            <a:srgbClr val="EEF2FF"/>
          </a:solidFill>
          <a:ln w="12700">
            <a:solidFill>
              <a:srgbClr val="4F46E5"/>
            </a:solidFill>
            <a:prstDash val="solid"/>
          </a:ln>
        </p:spPr>
      </p:sp>
      <p:sp>
        <p:nvSpPr>
          <p:cNvPr id="17" name="Text 15"/>
          <p:cNvSpPr/>
          <p:nvPr/>
        </p:nvSpPr>
        <p:spPr>
          <a:xfrm>
            <a:off x="594360" y="301752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18" name="Text 16"/>
          <p:cNvSpPr/>
          <p:nvPr/>
        </p:nvSpPr>
        <p:spPr>
          <a:xfrm>
            <a:off x="1005840" y="297180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AI deploy token — Claude / Cursor / Windsurf can ship directly</a:t>
            </a:r>
            <a:endParaRPr lang="en-US" sz="1200" dirty="0"/>
          </a:p>
        </p:txBody>
      </p:sp>
      <p:sp>
        <p:nvSpPr>
          <p:cNvPr id="19" name="Shape 17"/>
          <p:cNvSpPr/>
          <p:nvPr/>
        </p:nvSpPr>
        <p:spPr>
          <a:xfrm>
            <a:off x="6263640" y="3017520"/>
            <a:ext cx="274320" cy="274320"/>
          </a:xfrm>
          <a:prstGeom prst="ellipse">
            <a:avLst/>
          </a:prstGeom>
          <a:solidFill>
            <a:srgbClr val="EEF2FF"/>
          </a:solidFill>
          <a:ln w="12700">
            <a:solidFill>
              <a:srgbClr val="4F46E5"/>
            </a:solidFill>
            <a:prstDash val="solid"/>
          </a:ln>
        </p:spPr>
      </p:sp>
      <p:sp>
        <p:nvSpPr>
          <p:cNvPr id="20" name="Text 18"/>
          <p:cNvSpPr/>
          <p:nvPr/>
        </p:nvSpPr>
        <p:spPr>
          <a:xfrm>
            <a:off x="6263640" y="301752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21" name="Text 19"/>
          <p:cNvSpPr/>
          <p:nvPr/>
        </p:nvSpPr>
        <p:spPr>
          <a:xfrm>
            <a:off x="6675120" y="297180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Mobile build pipeline (GitHub Actions, unsigned IPA + APK)</a:t>
            </a:r>
            <a:endParaRPr lang="en-US" sz="1200" dirty="0"/>
          </a:p>
        </p:txBody>
      </p:sp>
      <p:sp>
        <p:nvSpPr>
          <p:cNvPr id="22" name="Shape 20"/>
          <p:cNvSpPr/>
          <p:nvPr/>
        </p:nvSpPr>
        <p:spPr>
          <a:xfrm>
            <a:off x="594360" y="3520440"/>
            <a:ext cx="274320" cy="274320"/>
          </a:xfrm>
          <a:prstGeom prst="ellipse">
            <a:avLst/>
          </a:prstGeom>
          <a:solidFill>
            <a:srgbClr val="EEF2FF"/>
          </a:solidFill>
          <a:ln w="12700">
            <a:solidFill>
              <a:srgbClr val="4F46E5"/>
            </a:solidFill>
            <a:prstDash val="solid"/>
          </a:ln>
        </p:spPr>
      </p:sp>
      <p:sp>
        <p:nvSpPr>
          <p:cNvPr id="23" name="Text 21"/>
          <p:cNvSpPr/>
          <p:nvPr/>
        </p:nvSpPr>
        <p:spPr>
          <a:xfrm>
            <a:off x="594360" y="352044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24" name="Text 22"/>
          <p:cNvSpPr/>
          <p:nvPr/>
        </p:nvSpPr>
        <p:spPr>
          <a:xfrm>
            <a:off x="1005840" y="347472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Status page (status.hatchik.com)</a:t>
            </a:r>
            <a:endParaRPr lang="en-US" sz="1200" dirty="0"/>
          </a:p>
        </p:txBody>
      </p:sp>
      <p:sp>
        <p:nvSpPr>
          <p:cNvPr id="25" name="Shape 23"/>
          <p:cNvSpPr/>
          <p:nvPr/>
        </p:nvSpPr>
        <p:spPr>
          <a:xfrm>
            <a:off x="6263640" y="3520440"/>
            <a:ext cx="274320" cy="274320"/>
          </a:xfrm>
          <a:prstGeom prst="ellipse">
            <a:avLst/>
          </a:prstGeom>
          <a:solidFill>
            <a:srgbClr val="EEF2FF"/>
          </a:solidFill>
          <a:ln w="12700">
            <a:solidFill>
              <a:srgbClr val="4F46E5"/>
            </a:solidFill>
            <a:prstDash val="solid"/>
          </a:ln>
        </p:spPr>
      </p:sp>
      <p:sp>
        <p:nvSpPr>
          <p:cNvPr id="26" name="Text 24"/>
          <p:cNvSpPr/>
          <p:nvPr/>
        </p:nvSpPr>
        <p:spPr>
          <a:xfrm>
            <a:off x="6263640" y="352044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27" name="Text 25"/>
          <p:cNvSpPr/>
          <p:nvPr/>
        </p:nvSpPr>
        <p:spPr>
          <a:xfrm>
            <a:off x="6675120" y="347472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Docs site (docs.hatchik.com)</a:t>
            </a:r>
            <a:endParaRPr lang="en-US" sz="1200" dirty="0"/>
          </a:p>
        </p:txBody>
      </p:sp>
      <p:sp>
        <p:nvSpPr>
          <p:cNvPr id="28" name="Shape 26"/>
          <p:cNvSpPr/>
          <p:nvPr/>
        </p:nvSpPr>
        <p:spPr>
          <a:xfrm>
            <a:off x="594360" y="4023360"/>
            <a:ext cx="274320" cy="274320"/>
          </a:xfrm>
          <a:prstGeom prst="ellipse">
            <a:avLst/>
          </a:prstGeom>
          <a:solidFill>
            <a:srgbClr val="EEF2FF"/>
          </a:solidFill>
          <a:ln w="12700">
            <a:solidFill>
              <a:srgbClr val="4F46E5"/>
            </a:solidFill>
            <a:prstDash val="solid"/>
          </a:ln>
        </p:spPr>
      </p:sp>
      <p:sp>
        <p:nvSpPr>
          <p:cNvPr id="29" name="Text 27"/>
          <p:cNvSpPr/>
          <p:nvPr/>
        </p:nvSpPr>
        <p:spPr>
          <a:xfrm>
            <a:off x="594360" y="402336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0" name="Text 28"/>
          <p:cNvSpPr/>
          <p:nvPr/>
        </p:nvSpPr>
        <p:spPr>
          <a:xfrm>
            <a:off x="1005840" y="397764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Cohort analytics dashboard (admin)</a:t>
            </a:r>
            <a:endParaRPr lang="en-US" sz="1200" dirty="0"/>
          </a:p>
        </p:txBody>
      </p:sp>
      <p:sp>
        <p:nvSpPr>
          <p:cNvPr id="31" name="Shape 29"/>
          <p:cNvSpPr/>
          <p:nvPr/>
        </p:nvSpPr>
        <p:spPr>
          <a:xfrm>
            <a:off x="6263640" y="4023360"/>
            <a:ext cx="274320" cy="274320"/>
          </a:xfrm>
          <a:prstGeom prst="ellipse">
            <a:avLst/>
          </a:prstGeom>
          <a:solidFill>
            <a:srgbClr val="EEF2FF"/>
          </a:solidFill>
          <a:ln w="12700">
            <a:solidFill>
              <a:srgbClr val="4F46E5"/>
            </a:solidFill>
            <a:prstDash val="solid"/>
          </a:ln>
        </p:spPr>
      </p:sp>
      <p:sp>
        <p:nvSpPr>
          <p:cNvPr id="32" name="Text 30"/>
          <p:cNvSpPr/>
          <p:nvPr/>
        </p:nvSpPr>
        <p:spPr>
          <a:xfrm>
            <a:off x="6263640" y="402336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3" name="Text 31"/>
          <p:cNvSpPr/>
          <p:nvPr/>
        </p:nvSpPr>
        <p:spPr>
          <a:xfrm>
            <a:off x="6675120" y="397764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Abuse protection (Turnstile, geo-IP, disposable-email block, throttle)</a:t>
            </a:r>
            <a:endParaRPr lang="en-US" sz="1200" dirty="0"/>
          </a:p>
        </p:txBody>
      </p:sp>
      <p:sp>
        <p:nvSpPr>
          <p:cNvPr id="34" name="Shape 32"/>
          <p:cNvSpPr/>
          <p:nvPr/>
        </p:nvSpPr>
        <p:spPr>
          <a:xfrm>
            <a:off x="594360" y="4526280"/>
            <a:ext cx="274320" cy="274320"/>
          </a:xfrm>
          <a:prstGeom prst="ellipse">
            <a:avLst/>
          </a:prstGeom>
          <a:solidFill>
            <a:srgbClr val="EEF2FF"/>
          </a:solidFill>
          <a:ln w="12700">
            <a:solidFill>
              <a:srgbClr val="4F46E5"/>
            </a:solidFill>
            <a:prstDash val="solid"/>
          </a:ln>
        </p:spPr>
      </p:sp>
      <p:sp>
        <p:nvSpPr>
          <p:cNvPr id="35" name="Text 33"/>
          <p:cNvSpPr/>
          <p:nvPr/>
        </p:nvSpPr>
        <p:spPr>
          <a:xfrm>
            <a:off x="594360" y="45262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6" name="Text 34"/>
          <p:cNvSpPr/>
          <p:nvPr/>
        </p:nvSpPr>
        <p:spPr>
          <a:xfrm>
            <a:off x="1005840" y="44805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Stripe customer-portal endpoint (test/live mode aware)</a:t>
            </a:r>
            <a:endParaRPr lang="en-US" sz="1200" dirty="0"/>
          </a:p>
        </p:txBody>
      </p:sp>
      <p:sp>
        <p:nvSpPr>
          <p:cNvPr id="37" name="Shape 35"/>
          <p:cNvSpPr/>
          <p:nvPr/>
        </p:nvSpPr>
        <p:spPr>
          <a:xfrm>
            <a:off x="6263640" y="4526280"/>
            <a:ext cx="274320" cy="274320"/>
          </a:xfrm>
          <a:prstGeom prst="ellipse">
            <a:avLst/>
          </a:prstGeom>
          <a:solidFill>
            <a:srgbClr val="EEF2FF"/>
          </a:solidFill>
          <a:ln w="12700">
            <a:solidFill>
              <a:srgbClr val="4F46E5"/>
            </a:solidFill>
            <a:prstDash val="solid"/>
          </a:ln>
        </p:spPr>
      </p:sp>
      <p:sp>
        <p:nvSpPr>
          <p:cNvPr id="38" name="Text 36"/>
          <p:cNvSpPr/>
          <p:nvPr/>
        </p:nvSpPr>
        <p:spPr>
          <a:xfrm>
            <a:off x="6263640" y="45262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9" name="Text 37"/>
          <p:cNvSpPr/>
          <p:nvPr/>
        </p:nvSpPr>
        <p:spPr>
          <a:xfrm>
            <a:off x="6675120" y="44805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Idle-archive + restore lifecycle (snapshot + 7-day grace)</a:t>
            </a:r>
            <a:endParaRPr lang="en-US" sz="1200" dirty="0"/>
          </a:p>
        </p:txBody>
      </p:sp>
      <p:sp>
        <p:nvSpPr>
          <p:cNvPr id="40" name="Text 38"/>
          <p:cNvSpPr/>
          <p:nvPr/>
        </p:nvSpPr>
        <p:spPr>
          <a:xfrm>
            <a:off x="502920" y="6080760"/>
            <a:ext cx="10972800" cy="274320"/>
          </a:xfrm>
          <a:prstGeom prst="rect">
            <a:avLst/>
          </a:prstGeom>
          <a:noFill/>
          <a:ln/>
        </p:spPr>
        <p:txBody>
          <a:bodyPr wrap="square" rtlCol="0" anchor="ctr"/>
          <a:lstStyle/>
          <a:p>
            <a:pPr algn="ctr" indent="0" marL="0">
              <a:buNone/>
            </a:pPr>
            <a:r>
              <a:rPr lang="en-US" sz="1100" i="1" dirty="0">
                <a:solidFill>
                  <a:srgbClr val="64748B"/>
                </a:solidFill>
                <a:latin typeface="DM Sans" pitchFamily="34" charset="0"/>
                <a:ea typeface="DM Sans" pitchFamily="34" charset="-122"/>
                <a:cs typeface="DM Sans" pitchFamily="34" charset="-120"/>
              </a:rPr>
              <a:t>Built solo + AI-augmented in ~3 weeks. Every item above is in production today.</a:t>
            </a:r>
            <a:endParaRPr lang="en-US" sz="1100" dirty="0"/>
          </a:p>
        </p:txBody>
      </p:sp>
      <p:sp>
        <p:nvSpPr>
          <p:cNvPr id="41" name="Text 39"/>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42" name="Text 40"/>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19  ·  RISKS  ·  TOP 3</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We are not pretending these don’t exist.</a:t>
            </a:r>
            <a:endParaRPr lang="en-US" sz="3000" dirty="0"/>
          </a:p>
        </p:txBody>
      </p:sp>
      <p:sp>
        <p:nvSpPr>
          <p:cNvPr id="4" name="Shape 2"/>
          <p:cNvSpPr/>
          <p:nvPr/>
        </p:nvSpPr>
        <p:spPr>
          <a:xfrm>
            <a:off x="502920" y="1965960"/>
            <a:ext cx="3611880" cy="4023360"/>
          </a:xfrm>
          <a:prstGeom prst="roundRect">
            <a:avLst>
              <a:gd name="adj" fmla="val 2025"/>
            </a:avLst>
          </a:prstGeom>
          <a:solidFill>
            <a:srgbClr val="FFFFFF"/>
          </a:solidFill>
          <a:ln w="9525">
            <a:solidFill>
              <a:srgbClr val="E2E8F0"/>
            </a:solidFill>
            <a:prstDash val="solid"/>
          </a:ln>
        </p:spPr>
      </p:sp>
      <p:sp>
        <p:nvSpPr>
          <p:cNvPr id="5" name="Shape 3"/>
          <p:cNvSpPr/>
          <p:nvPr/>
        </p:nvSpPr>
        <p:spPr>
          <a:xfrm>
            <a:off x="502920" y="1965960"/>
            <a:ext cx="3611880" cy="54864"/>
          </a:xfrm>
          <a:prstGeom prst="rect">
            <a:avLst/>
          </a:prstGeom>
          <a:solidFill>
            <a:srgbClr val="F59E0B"/>
          </a:solidFill>
          <a:ln w="12700">
            <a:solidFill>
              <a:srgbClr val="F59E0B"/>
            </a:solidFill>
            <a:prstDash val="solid"/>
          </a:ln>
        </p:spPr>
      </p:sp>
      <p:sp>
        <p:nvSpPr>
          <p:cNvPr id="6" name="Text 4"/>
          <p:cNvSpPr/>
          <p:nvPr/>
        </p:nvSpPr>
        <p:spPr>
          <a:xfrm>
            <a:off x="777240" y="2194560"/>
            <a:ext cx="3154680" cy="320040"/>
          </a:xfrm>
          <a:prstGeom prst="rect">
            <a:avLst/>
          </a:prstGeom>
          <a:noFill/>
          <a:ln/>
        </p:spPr>
        <p:txBody>
          <a:bodyPr wrap="square" rtlCol="0" anchor="ctr"/>
          <a:lstStyle/>
          <a:p>
            <a:pPr indent="0" marL="0">
              <a:buNone/>
            </a:pPr>
            <a:r>
              <a:rPr lang="en-US" sz="1400" b="1" spc="200" kern="0" dirty="0">
                <a:solidFill>
                  <a:srgbClr val="B45309"/>
                </a:solidFill>
                <a:latin typeface="JetBrains Mono" pitchFamily="34" charset="0"/>
                <a:ea typeface="JetBrains Mono" pitchFamily="34" charset="-122"/>
                <a:cs typeface="JetBrains Mono" pitchFamily="34" charset="-120"/>
              </a:rPr>
              <a:t>01</a:t>
            </a:r>
            <a:endParaRPr lang="en-US" sz="1400" dirty="0"/>
          </a:p>
        </p:txBody>
      </p:sp>
      <p:sp>
        <p:nvSpPr>
          <p:cNvPr id="7" name="Text 5"/>
          <p:cNvSpPr/>
          <p:nvPr/>
        </p:nvSpPr>
        <p:spPr>
          <a:xfrm>
            <a:off x="777240" y="2560320"/>
            <a:ext cx="3154680" cy="960120"/>
          </a:xfrm>
          <a:prstGeom prst="rect">
            <a:avLst/>
          </a:prstGeom>
          <a:noFill/>
          <a:ln/>
        </p:spPr>
        <p:txBody>
          <a:bodyPr wrap="square" rtlCol="0" anchor="ctr"/>
          <a:lstStyle/>
          <a:p>
            <a:pPr indent="0" marL="0">
              <a:lnSpc>
                <a:spcPct val="120000"/>
              </a:lnSpc>
              <a:buNone/>
            </a:pPr>
            <a:r>
              <a:rPr lang="en-US" sz="1500" b="1" dirty="0">
                <a:solidFill>
                  <a:srgbClr val="0F172A"/>
                </a:solidFill>
                <a:latin typeface="DM Sans" pitchFamily="34" charset="0"/>
                <a:ea typeface="DM Sans" pitchFamily="34" charset="-122"/>
                <a:cs typeface="DM Sans" pitchFamily="34" charset="-120"/>
              </a:rPr>
              <a:t>Big AI lab launches its own deployment layer</a:t>
            </a:r>
            <a:endParaRPr lang="en-US" sz="1500" dirty="0"/>
          </a:p>
        </p:txBody>
      </p:sp>
      <p:sp>
        <p:nvSpPr>
          <p:cNvPr id="8" name="Shape 6"/>
          <p:cNvSpPr/>
          <p:nvPr/>
        </p:nvSpPr>
        <p:spPr>
          <a:xfrm>
            <a:off x="777240" y="3657600"/>
            <a:ext cx="3063240" cy="9144"/>
          </a:xfrm>
          <a:prstGeom prst="rect">
            <a:avLst/>
          </a:prstGeom>
          <a:solidFill>
            <a:srgbClr val="E2E8F0"/>
          </a:solidFill>
          <a:ln w="12700">
            <a:solidFill>
              <a:srgbClr val="333333"/>
            </a:solidFill>
            <a:prstDash val="solid"/>
          </a:ln>
        </p:spPr>
      </p:sp>
      <p:sp>
        <p:nvSpPr>
          <p:cNvPr id="9" name="Text 7"/>
          <p:cNvSpPr/>
          <p:nvPr/>
        </p:nvSpPr>
        <p:spPr>
          <a:xfrm>
            <a:off x="777240" y="374904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Anthropic / Cursor / OpenAI shipping a "Claude Code Cloud" or similar in the next 6-12 months closes the wedge.</a:t>
            </a:r>
            <a:endParaRPr lang="en-US" sz="1100" dirty="0"/>
          </a:p>
        </p:txBody>
      </p:sp>
      <p:sp>
        <p:nvSpPr>
          <p:cNvPr id="10" name="Text 8"/>
          <p:cNvSpPr/>
          <p:nvPr/>
        </p:nvSpPr>
        <p:spPr>
          <a:xfrm>
            <a:off x="777240" y="4846320"/>
            <a:ext cx="3154680" cy="228600"/>
          </a:xfrm>
          <a:prstGeom prst="rect">
            <a:avLst/>
          </a:prstGeom>
          <a:noFill/>
          <a:ln/>
        </p:spPr>
        <p:txBody>
          <a:bodyPr wrap="square" rtlCol="0" anchor="ctr"/>
          <a:lstStyle/>
          <a:p>
            <a:pPr indent="0" marL="0">
              <a:buNone/>
            </a:pPr>
            <a:r>
              <a:rPr lang="en-US" sz="800" b="1" spc="400" kern="0" dirty="0">
                <a:solidFill>
                  <a:srgbClr val="3730A3"/>
                </a:solidFill>
                <a:latin typeface="JetBrains Mono" pitchFamily="34" charset="0"/>
                <a:ea typeface="JetBrains Mono" pitchFamily="34" charset="-122"/>
                <a:cs typeface="JetBrains Mono" pitchFamily="34" charset="-120"/>
              </a:rPr>
              <a:t>MITIGATION</a:t>
            </a:r>
            <a:endParaRPr lang="en-US" sz="800" dirty="0"/>
          </a:p>
        </p:txBody>
      </p:sp>
      <p:sp>
        <p:nvSpPr>
          <p:cNvPr id="11" name="Text 9"/>
          <p:cNvSpPr/>
          <p:nvPr/>
        </p:nvSpPr>
        <p:spPr>
          <a:xfrm>
            <a:off x="777240" y="5120640"/>
            <a:ext cx="3154680" cy="777240"/>
          </a:xfrm>
          <a:prstGeom prst="rect">
            <a:avLst/>
          </a:prstGeom>
          <a:noFill/>
          <a:ln/>
        </p:spPr>
        <p:txBody>
          <a:bodyPr wrap="square" rtlCol="0" anchor="ctr"/>
          <a:lstStyle/>
          <a:p>
            <a:pPr indent="0" marL="0">
              <a:lnSpc>
                <a:spcPct val="140000"/>
              </a:lnSpc>
              <a:buNone/>
            </a:pPr>
            <a:r>
              <a:rPr lang="en-US" sz="1050" i="1" dirty="0">
                <a:solidFill>
                  <a:srgbClr val="1E293B"/>
                </a:solidFill>
                <a:latin typeface="DM Sans" pitchFamily="34" charset="0"/>
                <a:ea typeface="DM Sans" pitchFamily="34" charset="-122"/>
                <a:cs typeface="DM Sans" pitchFamily="34" charset="-120"/>
              </a:rPr>
              <a:t>Aggressive partnership outreach months 0-4. Position as their deployment surface, not competitor. Make Hatchik acquirable, not buildable.</a:t>
            </a:r>
            <a:endParaRPr lang="en-US" sz="1050" dirty="0"/>
          </a:p>
        </p:txBody>
      </p:sp>
      <p:sp>
        <p:nvSpPr>
          <p:cNvPr id="12" name="Shape 10"/>
          <p:cNvSpPr/>
          <p:nvPr/>
        </p:nvSpPr>
        <p:spPr>
          <a:xfrm>
            <a:off x="4297680" y="1965960"/>
            <a:ext cx="3611880" cy="4023360"/>
          </a:xfrm>
          <a:prstGeom prst="roundRect">
            <a:avLst>
              <a:gd name="adj" fmla="val 2025"/>
            </a:avLst>
          </a:prstGeom>
          <a:solidFill>
            <a:srgbClr val="FFFFFF"/>
          </a:solidFill>
          <a:ln w="9525">
            <a:solidFill>
              <a:srgbClr val="E2E8F0"/>
            </a:solidFill>
            <a:prstDash val="solid"/>
          </a:ln>
        </p:spPr>
      </p:sp>
      <p:sp>
        <p:nvSpPr>
          <p:cNvPr id="13" name="Shape 11"/>
          <p:cNvSpPr/>
          <p:nvPr/>
        </p:nvSpPr>
        <p:spPr>
          <a:xfrm>
            <a:off x="4297680" y="1965960"/>
            <a:ext cx="3611880" cy="54864"/>
          </a:xfrm>
          <a:prstGeom prst="rect">
            <a:avLst/>
          </a:prstGeom>
          <a:solidFill>
            <a:srgbClr val="F59E0B"/>
          </a:solidFill>
          <a:ln w="12700">
            <a:solidFill>
              <a:srgbClr val="F59E0B"/>
            </a:solidFill>
            <a:prstDash val="solid"/>
          </a:ln>
        </p:spPr>
      </p:sp>
      <p:sp>
        <p:nvSpPr>
          <p:cNvPr id="14" name="Text 12"/>
          <p:cNvSpPr/>
          <p:nvPr/>
        </p:nvSpPr>
        <p:spPr>
          <a:xfrm>
            <a:off x="4572000" y="2194560"/>
            <a:ext cx="3154680" cy="320040"/>
          </a:xfrm>
          <a:prstGeom prst="rect">
            <a:avLst/>
          </a:prstGeom>
          <a:noFill/>
          <a:ln/>
        </p:spPr>
        <p:txBody>
          <a:bodyPr wrap="square" rtlCol="0" anchor="ctr"/>
          <a:lstStyle/>
          <a:p>
            <a:pPr indent="0" marL="0">
              <a:buNone/>
            </a:pPr>
            <a:r>
              <a:rPr lang="en-US" sz="1400" b="1" spc="200" kern="0" dirty="0">
                <a:solidFill>
                  <a:srgbClr val="B45309"/>
                </a:solidFill>
                <a:latin typeface="JetBrains Mono" pitchFamily="34" charset="0"/>
                <a:ea typeface="JetBrains Mono" pitchFamily="34" charset="-122"/>
                <a:cs typeface="JetBrains Mono" pitchFamily="34" charset="-120"/>
              </a:rPr>
              <a:t>02</a:t>
            </a:r>
            <a:endParaRPr lang="en-US" sz="1400" dirty="0"/>
          </a:p>
        </p:txBody>
      </p:sp>
      <p:sp>
        <p:nvSpPr>
          <p:cNvPr id="15" name="Text 13"/>
          <p:cNvSpPr/>
          <p:nvPr/>
        </p:nvSpPr>
        <p:spPr>
          <a:xfrm>
            <a:off x="4572000" y="2560320"/>
            <a:ext cx="3154680" cy="960120"/>
          </a:xfrm>
          <a:prstGeom prst="rect">
            <a:avLst/>
          </a:prstGeom>
          <a:noFill/>
          <a:ln/>
        </p:spPr>
        <p:txBody>
          <a:bodyPr wrap="square" rtlCol="0" anchor="ctr"/>
          <a:lstStyle/>
          <a:p>
            <a:pPr indent="0" marL="0">
              <a:lnSpc>
                <a:spcPct val="120000"/>
              </a:lnSpc>
              <a:buNone/>
            </a:pPr>
            <a:r>
              <a:rPr lang="en-US" sz="1500" b="1" dirty="0">
                <a:solidFill>
                  <a:srgbClr val="0F172A"/>
                </a:solidFill>
                <a:latin typeface="DM Sans" pitchFamily="34" charset="0"/>
                <a:ea typeface="DM Sans" pitchFamily="34" charset="-122"/>
                <a:cs typeface="DM Sans" pitchFamily="34" charset="-120"/>
              </a:rPr>
              <a:t>Peak coincidence on shared sandbox host</a:t>
            </a:r>
            <a:endParaRPr lang="en-US" sz="1500" dirty="0"/>
          </a:p>
        </p:txBody>
      </p:sp>
      <p:sp>
        <p:nvSpPr>
          <p:cNvPr id="16" name="Shape 14"/>
          <p:cNvSpPr/>
          <p:nvPr/>
        </p:nvSpPr>
        <p:spPr>
          <a:xfrm>
            <a:off x="4572000" y="3657600"/>
            <a:ext cx="3063240" cy="9144"/>
          </a:xfrm>
          <a:prstGeom prst="rect">
            <a:avLst/>
          </a:prstGeom>
          <a:solidFill>
            <a:srgbClr val="E2E8F0"/>
          </a:solidFill>
          <a:ln w="12700">
            <a:solidFill>
              <a:srgbClr val="333333"/>
            </a:solidFill>
            <a:prstDash val="solid"/>
          </a:ln>
        </p:spPr>
      </p:sp>
      <p:sp>
        <p:nvSpPr>
          <p:cNvPr id="17" name="Text 15"/>
          <p:cNvSpPr/>
          <p:nvPr/>
        </p:nvSpPr>
        <p:spPr>
          <a:xfrm>
            <a:off x="4572000" y="374904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If &gt;30% of sandboxes go warm simultaneously, CAX31 RAM/CPU contention bites users.</a:t>
            </a:r>
            <a:endParaRPr lang="en-US" sz="1100" dirty="0"/>
          </a:p>
        </p:txBody>
      </p:sp>
      <p:sp>
        <p:nvSpPr>
          <p:cNvPr id="18" name="Text 16"/>
          <p:cNvSpPr/>
          <p:nvPr/>
        </p:nvSpPr>
        <p:spPr>
          <a:xfrm>
            <a:off x="4572000" y="4846320"/>
            <a:ext cx="3154680" cy="228600"/>
          </a:xfrm>
          <a:prstGeom prst="rect">
            <a:avLst/>
          </a:prstGeom>
          <a:noFill/>
          <a:ln/>
        </p:spPr>
        <p:txBody>
          <a:bodyPr wrap="square" rtlCol="0" anchor="ctr"/>
          <a:lstStyle/>
          <a:p>
            <a:pPr indent="0" marL="0">
              <a:buNone/>
            </a:pPr>
            <a:r>
              <a:rPr lang="en-US" sz="800" b="1" spc="400" kern="0" dirty="0">
                <a:solidFill>
                  <a:srgbClr val="3730A3"/>
                </a:solidFill>
                <a:latin typeface="JetBrains Mono" pitchFamily="34" charset="0"/>
                <a:ea typeface="JetBrains Mono" pitchFamily="34" charset="-122"/>
                <a:cs typeface="JetBrains Mono" pitchFamily="34" charset="-120"/>
              </a:rPr>
              <a:t>MITIGATION</a:t>
            </a:r>
            <a:endParaRPr lang="en-US" sz="800" dirty="0"/>
          </a:p>
        </p:txBody>
      </p:sp>
      <p:sp>
        <p:nvSpPr>
          <p:cNvPr id="19" name="Text 17"/>
          <p:cNvSpPr/>
          <p:nvPr/>
        </p:nvSpPr>
        <p:spPr>
          <a:xfrm>
            <a:off x="4572000" y="5120640"/>
            <a:ext cx="3154680" cy="777240"/>
          </a:xfrm>
          <a:prstGeom prst="rect">
            <a:avLst/>
          </a:prstGeom>
          <a:noFill/>
          <a:ln/>
        </p:spPr>
        <p:txBody>
          <a:bodyPr wrap="square" rtlCol="0" anchor="ctr"/>
          <a:lstStyle/>
          <a:p>
            <a:pPr indent="0" marL="0">
              <a:lnSpc>
                <a:spcPct val="140000"/>
              </a:lnSpc>
              <a:buNone/>
            </a:pPr>
            <a:r>
              <a:rPr lang="en-US" sz="1050" i="1" dirty="0">
                <a:solidFill>
                  <a:srgbClr val="1E293B"/>
                </a:solidFill>
                <a:latin typeface="DM Sans" pitchFamily="34" charset="0"/>
                <a:ea typeface="DM Sans" pitchFamily="34" charset="-122"/>
                <a:cs typeface="DM Sans" pitchFamily="34" charset="-120"/>
              </a:rPr>
              <a:t>Watermark alert at 35-sandbox-warm-concurrent → auto-provision a second CAX31. Cost-per-sandbox stays in band (+£11.30/mo).</a:t>
            </a:r>
            <a:endParaRPr lang="en-US" sz="1050" dirty="0"/>
          </a:p>
        </p:txBody>
      </p:sp>
      <p:sp>
        <p:nvSpPr>
          <p:cNvPr id="20" name="Shape 18"/>
          <p:cNvSpPr/>
          <p:nvPr/>
        </p:nvSpPr>
        <p:spPr>
          <a:xfrm>
            <a:off x="8092440" y="1965960"/>
            <a:ext cx="3611880" cy="4023360"/>
          </a:xfrm>
          <a:prstGeom prst="roundRect">
            <a:avLst>
              <a:gd name="adj" fmla="val 2025"/>
            </a:avLst>
          </a:prstGeom>
          <a:solidFill>
            <a:srgbClr val="FFFFFF"/>
          </a:solidFill>
          <a:ln w="9525">
            <a:solidFill>
              <a:srgbClr val="E2E8F0"/>
            </a:solidFill>
            <a:prstDash val="solid"/>
          </a:ln>
        </p:spPr>
      </p:sp>
      <p:sp>
        <p:nvSpPr>
          <p:cNvPr id="21" name="Shape 19"/>
          <p:cNvSpPr/>
          <p:nvPr/>
        </p:nvSpPr>
        <p:spPr>
          <a:xfrm>
            <a:off x="8092440" y="1965960"/>
            <a:ext cx="3611880" cy="54864"/>
          </a:xfrm>
          <a:prstGeom prst="rect">
            <a:avLst/>
          </a:prstGeom>
          <a:solidFill>
            <a:srgbClr val="F59E0B"/>
          </a:solidFill>
          <a:ln w="12700">
            <a:solidFill>
              <a:srgbClr val="F59E0B"/>
            </a:solidFill>
            <a:prstDash val="solid"/>
          </a:ln>
        </p:spPr>
      </p:sp>
      <p:sp>
        <p:nvSpPr>
          <p:cNvPr id="22" name="Text 20"/>
          <p:cNvSpPr/>
          <p:nvPr/>
        </p:nvSpPr>
        <p:spPr>
          <a:xfrm>
            <a:off x="8366760" y="2194560"/>
            <a:ext cx="3154680" cy="320040"/>
          </a:xfrm>
          <a:prstGeom prst="rect">
            <a:avLst/>
          </a:prstGeom>
          <a:noFill/>
          <a:ln/>
        </p:spPr>
        <p:txBody>
          <a:bodyPr wrap="square" rtlCol="0" anchor="ctr"/>
          <a:lstStyle/>
          <a:p>
            <a:pPr indent="0" marL="0">
              <a:buNone/>
            </a:pPr>
            <a:r>
              <a:rPr lang="en-US" sz="1400" b="1" spc="200" kern="0" dirty="0">
                <a:solidFill>
                  <a:srgbClr val="B45309"/>
                </a:solidFill>
                <a:latin typeface="JetBrains Mono" pitchFamily="34" charset="0"/>
                <a:ea typeface="JetBrains Mono" pitchFamily="34" charset="-122"/>
                <a:cs typeface="JetBrains Mono" pitchFamily="34" charset="-120"/>
              </a:rPr>
              <a:t>03</a:t>
            </a:r>
            <a:endParaRPr lang="en-US" sz="1400" dirty="0"/>
          </a:p>
        </p:txBody>
      </p:sp>
      <p:sp>
        <p:nvSpPr>
          <p:cNvPr id="23" name="Text 21"/>
          <p:cNvSpPr/>
          <p:nvPr/>
        </p:nvSpPr>
        <p:spPr>
          <a:xfrm>
            <a:off x="8366760" y="2560320"/>
            <a:ext cx="3154680" cy="960120"/>
          </a:xfrm>
          <a:prstGeom prst="rect">
            <a:avLst/>
          </a:prstGeom>
          <a:noFill/>
          <a:ln/>
        </p:spPr>
        <p:txBody>
          <a:bodyPr wrap="square" rtlCol="0" anchor="ctr"/>
          <a:lstStyle/>
          <a:p>
            <a:pPr indent="0" marL="0">
              <a:lnSpc>
                <a:spcPct val="120000"/>
              </a:lnSpc>
              <a:buNone/>
            </a:pPr>
            <a:r>
              <a:rPr lang="en-US" sz="1500" b="1" dirty="0">
                <a:solidFill>
                  <a:srgbClr val="0F172A"/>
                </a:solidFill>
                <a:latin typeface="DM Sans" pitchFamily="34" charset="0"/>
                <a:ea typeface="DM Sans" pitchFamily="34" charset="-122"/>
                <a:cs typeface="DM Sans" pitchFamily="34" charset="-120"/>
              </a:rPr>
              <a:t>Wake latency on idle-suspended sandboxes</a:t>
            </a:r>
            <a:endParaRPr lang="en-US" sz="1500" dirty="0"/>
          </a:p>
        </p:txBody>
      </p:sp>
      <p:sp>
        <p:nvSpPr>
          <p:cNvPr id="24" name="Shape 22"/>
          <p:cNvSpPr/>
          <p:nvPr/>
        </p:nvSpPr>
        <p:spPr>
          <a:xfrm>
            <a:off x="8366760" y="3657600"/>
            <a:ext cx="3063240" cy="9144"/>
          </a:xfrm>
          <a:prstGeom prst="rect">
            <a:avLst/>
          </a:prstGeom>
          <a:solidFill>
            <a:srgbClr val="E2E8F0"/>
          </a:solidFill>
          <a:ln w="12700">
            <a:solidFill>
              <a:srgbClr val="333333"/>
            </a:solidFill>
            <a:prstDash val="solid"/>
          </a:ln>
        </p:spPr>
      </p:sp>
      <p:sp>
        <p:nvSpPr>
          <p:cNvPr id="25" name="Text 23"/>
          <p:cNvSpPr/>
          <p:nvPr/>
        </p:nvSpPr>
        <p:spPr>
          <a:xfrm>
            <a:off x="8366760" y="374904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10-15s cold start after 2h+ idle could feel broken to first-time users.</a:t>
            </a:r>
            <a:endParaRPr lang="en-US" sz="1100" dirty="0"/>
          </a:p>
        </p:txBody>
      </p:sp>
      <p:sp>
        <p:nvSpPr>
          <p:cNvPr id="26" name="Text 24"/>
          <p:cNvSpPr/>
          <p:nvPr/>
        </p:nvSpPr>
        <p:spPr>
          <a:xfrm>
            <a:off x="8366760" y="4846320"/>
            <a:ext cx="3154680" cy="228600"/>
          </a:xfrm>
          <a:prstGeom prst="rect">
            <a:avLst/>
          </a:prstGeom>
          <a:noFill/>
          <a:ln/>
        </p:spPr>
        <p:txBody>
          <a:bodyPr wrap="square" rtlCol="0" anchor="ctr"/>
          <a:lstStyle/>
          <a:p>
            <a:pPr indent="0" marL="0">
              <a:buNone/>
            </a:pPr>
            <a:r>
              <a:rPr lang="en-US" sz="800" b="1" spc="400" kern="0" dirty="0">
                <a:solidFill>
                  <a:srgbClr val="3730A3"/>
                </a:solidFill>
                <a:latin typeface="JetBrains Mono" pitchFamily="34" charset="0"/>
                <a:ea typeface="JetBrains Mono" pitchFamily="34" charset="-122"/>
                <a:cs typeface="JetBrains Mono" pitchFamily="34" charset="-120"/>
              </a:rPr>
              <a:t>MITIGATION</a:t>
            </a:r>
            <a:endParaRPr lang="en-US" sz="800" dirty="0"/>
          </a:p>
        </p:txBody>
      </p:sp>
      <p:sp>
        <p:nvSpPr>
          <p:cNvPr id="27" name="Text 25"/>
          <p:cNvSpPr/>
          <p:nvPr/>
        </p:nvSpPr>
        <p:spPr>
          <a:xfrm>
            <a:off x="8366760" y="5120640"/>
            <a:ext cx="3154680" cy="777240"/>
          </a:xfrm>
          <a:prstGeom prst="rect">
            <a:avLst/>
          </a:prstGeom>
          <a:noFill/>
          <a:ln/>
        </p:spPr>
        <p:txBody>
          <a:bodyPr wrap="square" rtlCol="0" anchor="ctr"/>
          <a:lstStyle/>
          <a:p>
            <a:pPr indent="0" marL="0">
              <a:lnSpc>
                <a:spcPct val="140000"/>
              </a:lnSpc>
              <a:buNone/>
            </a:pPr>
            <a:r>
              <a:rPr lang="en-US" sz="1050" i="1" dirty="0">
                <a:solidFill>
                  <a:srgbClr val="1E293B"/>
                </a:solidFill>
                <a:latin typeface="DM Sans" pitchFamily="34" charset="0"/>
                <a:ea typeface="DM Sans" pitchFamily="34" charset="-122"/>
                <a:cs typeface="DM Sans" pitchFamily="34" charset="-120"/>
              </a:rPr>
              <a:t>"Your sandbox is warming up…" splash in the AI tool’s deploy-status callback. Acceptable for dev-env framing.</a:t>
            </a:r>
            <a:endParaRPr lang="en-US" sz="1050" dirty="0"/>
          </a:p>
        </p:txBody>
      </p:sp>
      <p:sp>
        <p:nvSpPr>
          <p:cNvPr id="28" name="Text 26"/>
          <p:cNvSpPr/>
          <p:nvPr/>
        </p:nvSpPr>
        <p:spPr>
          <a:xfrm>
            <a:off x="502920" y="6172200"/>
            <a:ext cx="10972800" cy="228600"/>
          </a:xfrm>
          <a:prstGeom prst="rect">
            <a:avLst/>
          </a:prstGeom>
          <a:noFill/>
          <a:ln/>
        </p:spPr>
        <p:txBody>
          <a:bodyPr wrap="square" rtlCol="0" anchor="ctr"/>
          <a:lstStyle/>
          <a:p>
            <a:pPr algn="ctr" indent="0" marL="0">
              <a:buNone/>
            </a:pPr>
            <a:r>
              <a:rPr lang="en-US" sz="950" i="1" dirty="0">
                <a:solidFill>
                  <a:srgbClr val="64748B"/>
                </a:solidFill>
                <a:latin typeface="DM Sans" pitchFamily="34" charset="0"/>
                <a:ea typeface="DM Sans" pitchFamily="34" charset="-122"/>
                <a:cs typeface="DM Sans" pitchFamily="34" charset="-120"/>
              </a:rPr>
              <a:t>Full risks register in appendix · AI-lab disruption risk + mitigation strategy in appendix.</a:t>
            </a:r>
            <a:endParaRPr lang="en-US" sz="950" dirty="0"/>
          </a:p>
        </p:txBody>
      </p:sp>
      <p:sp>
        <p:nvSpPr>
          <p:cNvPr id="29" name="Text 27"/>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0" name="Text 28"/>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20  ·  THE ASK</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12-month sprint capital. Decide raise-or-exit at month 6.</a:t>
            </a:r>
            <a:endParaRPr lang="en-US" sz="3000" dirty="0"/>
          </a:p>
        </p:txBody>
      </p:sp>
      <p:sp>
        <p:nvSpPr>
          <p:cNvPr id="4" name="Shape 2"/>
          <p:cNvSpPr/>
          <p:nvPr/>
        </p:nvSpPr>
        <p:spPr>
          <a:xfrm>
            <a:off x="502920" y="1965960"/>
            <a:ext cx="5486400" cy="1508760"/>
          </a:xfrm>
          <a:prstGeom prst="roundRect">
            <a:avLst>
              <a:gd name="adj" fmla="val 4848"/>
            </a:avLst>
          </a:prstGeom>
          <a:solidFill>
            <a:srgbClr val="0F172A"/>
          </a:solidFill>
          <a:ln w="9525">
            <a:solidFill>
              <a:srgbClr val="0F172A"/>
            </a:solidFill>
            <a:prstDash val="solid"/>
          </a:ln>
        </p:spPr>
      </p:sp>
      <p:sp>
        <p:nvSpPr>
          <p:cNvPr id="5" name="Text 3"/>
          <p:cNvSpPr/>
          <p:nvPr/>
        </p:nvSpPr>
        <p:spPr>
          <a:xfrm>
            <a:off x="777240" y="2057400"/>
            <a:ext cx="3657600"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RAISING</a:t>
            </a:r>
            <a:endParaRPr lang="en-US" sz="900" dirty="0"/>
          </a:p>
        </p:txBody>
      </p:sp>
      <p:sp>
        <p:nvSpPr>
          <p:cNvPr id="6" name="Text 4"/>
          <p:cNvSpPr/>
          <p:nvPr/>
        </p:nvSpPr>
        <p:spPr>
          <a:xfrm>
            <a:off x="777240" y="2331720"/>
            <a:ext cx="5029200" cy="1005840"/>
          </a:xfrm>
          <a:prstGeom prst="rect">
            <a:avLst/>
          </a:prstGeom>
          <a:noFill/>
          <a:ln/>
        </p:spPr>
        <p:txBody>
          <a:bodyPr wrap="square" rtlCol="0" anchor="ctr"/>
          <a:lstStyle/>
          <a:p>
            <a:pPr indent="0" marL="0">
              <a:buNone/>
            </a:pPr>
            <a:r>
              <a:rPr lang="en-US" sz="4400" b="1" dirty="0">
                <a:solidFill>
                  <a:srgbClr val="FFFFFF"/>
                </a:solidFill>
                <a:latin typeface="DM Sans" pitchFamily="34" charset="0"/>
                <a:ea typeface="DM Sans" pitchFamily="34" charset="-122"/>
                <a:cs typeface="DM Sans" pitchFamily="34" charset="-120"/>
              </a:rPr>
              <a:t>£500K – £1M</a:t>
            </a:r>
            <a:endParaRPr lang="en-US" sz="4400" dirty="0"/>
          </a:p>
        </p:txBody>
      </p:sp>
      <p:sp>
        <p:nvSpPr>
          <p:cNvPr id="7" name="Shape 5"/>
          <p:cNvSpPr/>
          <p:nvPr/>
        </p:nvSpPr>
        <p:spPr>
          <a:xfrm>
            <a:off x="6172200" y="1965960"/>
            <a:ext cx="5486400" cy="1508760"/>
          </a:xfrm>
          <a:prstGeom prst="roundRect">
            <a:avLst>
              <a:gd name="adj" fmla="val 4848"/>
            </a:avLst>
          </a:prstGeom>
          <a:solidFill>
            <a:srgbClr val="FFFFFF"/>
          </a:solidFill>
          <a:ln w="9525">
            <a:solidFill>
              <a:srgbClr val="4F46E5"/>
            </a:solidFill>
            <a:prstDash val="solid"/>
          </a:ln>
        </p:spPr>
      </p:sp>
      <p:sp>
        <p:nvSpPr>
          <p:cNvPr id="8" name="Text 6"/>
          <p:cNvSpPr/>
          <p:nvPr/>
        </p:nvSpPr>
        <p:spPr>
          <a:xfrm>
            <a:off x="6446520" y="2057400"/>
            <a:ext cx="365760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HORIZON</a:t>
            </a:r>
            <a:endParaRPr lang="en-US" sz="900" dirty="0"/>
          </a:p>
        </p:txBody>
      </p:sp>
      <p:sp>
        <p:nvSpPr>
          <p:cNvPr id="9" name="Text 7"/>
          <p:cNvSpPr/>
          <p:nvPr/>
        </p:nvSpPr>
        <p:spPr>
          <a:xfrm>
            <a:off x="6446520" y="2331720"/>
            <a:ext cx="5029200" cy="1005840"/>
          </a:xfrm>
          <a:prstGeom prst="rect">
            <a:avLst/>
          </a:prstGeom>
          <a:noFill/>
          <a:ln/>
        </p:spPr>
        <p:txBody>
          <a:bodyPr wrap="square" rtlCol="0" anchor="ctr"/>
          <a:lstStyle/>
          <a:p>
            <a:pPr indent="0" marL="0">
              <a:lnSpc>
                <a:spcPct val="115000"/>
              </a:lnSpc>
              <a:buNone/>
            </a:pPr>
            <a:r>
              <a:rPr lang="en-US" sz="2200" b="1" dirty="0">
                <a:solidFill>
                  <a:srgbClr val="0F172A"/>
                </a:solidFill>
                <a:latin typeface="DM Sans" pitchFamily="34" charset="0"/>
                <a:ea typeface="DM Sans" pitchFamily="34" charset="-122"/>
                <a:cs typeface="DM Sans" pitchFamily="34" charset="-120"/>
              </a:rPr>
              <a:t>12 months to decision point</a:t>
            </a:r>
            <a:endParaRPr lang="en-US" sz="2200" dirty="0"/>
          </a:p>
        </p:txBody>
      </p:sp>
      <p:sp>
        <p:nvSpPr>
          <p:cNvPr id="10" name="Text 8"/>
          <p:cNvSpPr/>
          <p:nvPr/>
        </p:nvSpPr>
        <p:spPr>
          <a:xfrm>
            <a:off x="6446520" y="3017520"/>
            <a:ext cx="5029200" cy="274320"/>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Pre-seed  ·  SAFE or convertible  ·  founder fills final number</a:t>
            </a:r>
            <a:endParaRPr lang="en-US" sz="1100" dirty="0"/>
          </a:p>
        </p:txBody>
      </p:sp>
      <p:sp>
        <p:nvSpPr>
          <p:cNvPr id="11" name="Text 9"/>
          <p:cNvSpPr/>
          <p:nvPr/>
        </p:nvSpPr>
        <p:spPr>
          <a:xfrm>
            <a:off x="502920" y="3657600"/>
            <a:ext cx="1097280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USE OF FUNDS  ·  SUMMARY (DETAIL IN APPENDIX)</a:t>
            </a:r>
            <a:endParaRPr lang="en-US" sz="900" dirty="0"/>
          </a:p>
        </p:txBody>
      </p:sp>
      <p:sp>
        <p:nvSpPr>
          <p:cNvPr id="12" name="Shape 10"/>
          <p:cNvSpPr/>
          <p:nvPr/>
        </p:nvSpPr>
        <p:spPr>
          <a:xfrm>
            <a:off x="502920" y="3977640"/>
            <a:ext cx="3611880" cy="1920240"/>
          </a:xfrm>
          <a:prstGeom prst="roundRect">
            <a:avLst>
              <a:gd name="adj" fmla="val 3810"/>
            </a:avLst>
          </a:prstGeom>
          <a:solidFill>
            <a:srgbClr val="FFFFFF"/>
          </a:solidFill>
          <a:ln w="9525">
            <a:solidFill>
              <a:srgbClr val="E2E8F0"/>
            </a:solidFill>
            <a:prstDash val="solid"/>
          </a:ln>
        </p:spPr>
      </p:sp>
      <p:sp>
        <p:nvSpPr>
          <p:cNvPr id="13" name="Text 11"/>
          <p:cNvSpPr/>
          <p:nvPr/>
        </p:nvSpPr>
        <p:spPr>
          <a:xfrm>
            <a:off x="777240" y="4160520"/>
            <a:ext cx="1645920" cy="731520"/>
          </a:xfrm>
          <a:prstGeom prst="rect">
            <a:avLst/>
          </a:prstGeom>
          <a:noFill/>
          <a:ln/>
        </p:spPr>
        <p:txBody>
          <a:bodyPr wrap="square" rtlCol="0" anchor="ctr"/>
          <a:lstStyle/>
          <a:p>
            <a:pPr indent="0" marL="0">
              <a:buNone/>
            </a:pPr>
            <a:r>
              <a:rPr lang="en-US" sz="3600" b="1" dirty="0">
                <a:solidFill>
                  <a:srgbClr val="4F46E5"/>
                </a:solidFill>
                <a:latin typeface="DM Sans" pitchFamily="34" charset="0"/>
                <a:ea typeface="DM Sans" pitchFamily="34" charset="-122"/>
                <a:cs typeface="DM Sans" pitchFamily="34" charset="-120"/>
              </a:rPr>
              <a:t>60%</a:t>
            </a:r>
            <a:endParaRPr lang="en-US" sz="3600" dirty="0"/>
          </a:p>
        </p:txBody>
      </p:sp>
      <p:sp>
        <p:nvSpPr>
          <p:cNvPr id="14" name="Text 12"/>
          <p:cNvSpPr/>
          <p:nvPr/>
        </p:nvSpPr>
        <p:spPr>
          <a:xfrm>
            <a:off x="777240" y="4937760"/>
            <a:ext cx="3154680" cy="29260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Paid acquisition</a:t>
            </a:r>
            <a:endParaRPr lang="en-US" sz="1300" dirty="0"/>
          </a:p>
        </p:txBody>
      </p:sp>
      <p:sp>
        <p:nvSpPr>
          <p:cNvPr id="15" name="Text 13"/>
          <p:cNvSpPr/>
          <p:nvPr/>
        </p:nvSpPr>
        <p:spPr>
          <a:xfrm>
            <a:off x="777240" y="5257800"/>
            <a:ext cx="3154680" cy="640080"/>
          </a:xfrm>
          <a:prstGeom prst="rect">
            <a:avLst/>
          </a:prstGeom>
          <a:noFill/>
          <a:ln/>
        </p:spPr>
        <p:txBody>
          <a:bodyPr wrap="square" rtlCol="0" anchor="ctr"/>
          <a:lstStyle/>
          <a:p>
            <a:pPr indent="0" marL="0">
              <a:lnSpc>
                <a:spcPct val="135000"/>
              </a:lnSpc>
              <a:buNone/>
            </a:pPr>
            <a:r>
              <a:rPr lang="en-US" sz="1000" dirty="0">
                <a:solidFill>
                  <a:srgbClr val="334155"/>
                </a:solidFill>
                <a:latin typeface="DM Sans" pitchFamily="34" charset="0"/>
                <a:ea typeface="DM Sans" pitchFamily="34" charset="-122"/>
                <a:cs typeface="DM Sans" pitchFamily="34" charset="-120"/>
              </a:rPr>
              <a:t>Creator sponsorships + retargeting months 2-9. At LTV £520, CAC ceiling £175 — paid becomes viable.</a:t>
            </a:r>
            <a:endParaRPr lang="en-US" sz="1000" dirty="0"/>
          </a:p>
        </p:txBody>
      </p:sp>
      <p:sp>
        <p:nvSpPr>
          <p:cNvPr id="16" name="Shape 14"/>
          <p:cNvSpPr/>
          <p:nvPr/>
        </p:nvSpPr>
        <p:spPr>
          <a:xfrm>
            <a:off x="4297680" y="3977640"/>
            <a:ext cx="3611880" cy="1920240"/>
          </a:xfrm>
          <a:prstGeom prst="roundRect">
            <a:avLst>
              <a:gd name="adj" fmla="val 3810"/>
            </a:avLst>
          </a:prstGeom>
          <a:solidFill>
            <a:srgbClr val="FFFFFF"/>
          </a:solidFill>
          <a:ln w="9525">
            <a:solidFill>
              <a:srgbClr val="E2E8F0"/>
            </a:solidFill>
            <a:prstDash val="solid"/>
          </a:ln>
        </p:spPr>
      </p:sp>
      <p:sp>
        <p:nvSpPr>
          <p:cNvPr id="17" name="Text 15"/>
          <p:cNvSpPr/>
          <p:nvPr/>
        </p:nvSpPr>
        <p:spPr>
          <a:xfrm>
            <a:off x="4572000" y="4160520"/>
            <a:ext cx="1645920" cy="731520"/>
          </a:xfrm>
          <a:prstGeom prst="rect">
            <a:avLst/>
          </a:prstGeom>
          <a:noFill/>
          <a:ln/>
        </p:spPr>
        <p:txBody>
          <a:bodyPr wrap="square" rtlCol="0" anchor="ctr"/>
          <a:lstStyle/>
          <a:p>
            <a:pPr indent="0" marL="0">
              <a:buNone/>
            </a:pPr>
            <a:r>
              <a:rPr lang="en-US" sz="3600" b="1" dirty="0">
                <a:solidFill>
                  <a:srgbClr val="4F46E5"/>
                </a:solidFill>
                <a:latin typeface="DM Sans" pitchFamily="34" charset="0"/>
                <a:ea typeface="DM Sans" pitchFamily="34" charset="-122"/>
                <a:cs typeface="DM Sans" pitchFamily="34" charset="-120"/>
              </a:rPr>
              <a:t>25%</a:t>
            </a:r>
            <a:endParaRPr lang="en-US" sz="3600" dirty="0"/>
          </a:p>
        </p:txBody>
      </p:sp>
      <p:sp>
        <p:nvSpPr>
          <p:cNvPr id="18" name="Text 16"/>
          <p:cNvSpPr/>
          <p:nvPr/>
        </p:nvSpPr>
        <p:spPr>
          <a:xfrm>
            <a:off x="4572000" y="4937760"/>
            <a:ext cx="3154680" cy="29260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First hires</a:t>
            </a:r>
            <a:endParaRPr lang="en-US" sz="1300" dirty="0"/>
          </a:p>
        </p:txBody>
      </p:sp>
      <p:sp>
        <p:nvSpPr>
          <p:cNvPr id="19" name="Text 17"/>
          <p:cNvSpPr/>
          <p:nvPr/>
        </p:nvSpPr>
        <p:spPr>
          <a:xfrm>
            <a:off x="4572000" y="5257800"/>
            <a:ext cx="3154680" cy="640080"/>
          </a:xfrm>
          <a:prstGeom prst="rect">
            <a:avLst/>
          </a:prstGeom>
          <a:noFill/>
          <a:ln/>
        </p:spPr>
        <p:txBody>
          <a:bodyPr wrap="square" rtlCol="0" anchor="ctr"/>
          <a:lstStyle/>
          <a:p>
            <a:pPr indent="0" marL="0">
              <a:lnSpc>
                <a:spcPct val="135000"/>
              </a:lnSpc>
              <a:buNone/>
            </a:pPr>
            <a:r>
              <a:rPr lang="en-US" sz="1000" dirty="0">
                <a:solidFill>
                  <a:srgbClr val="334155"/>
                </a:solidFill>
                <a:latin typeface="DM Sans" pitchFamily="34" charset="0"/>
                <a:ea typeface="DM Sans" pitchFamily="34" charset="-122"/>
                <a:cs typeface="DM Sans" pitchFamily="34" charset="-120"/>
              </a:rPr>
              <a:t>One engineer (substrate hardening, second region, signed mobile pipeline) + one marketer (content engine).</a:t>
            </a:r>
            <a:endParaRPr lang="en-US" sz="1000" dirty="0"/>
          </a:p>
        </p:txBody>
      </p:sp>
      <p:sp>
        <p:nvSpPr>
          <p:cNvPr id="20" name="Shape 18"/>
          <p:cNvSpPr/>
          <p:nvPr/>
        </p:nvSpPr>
        <p:spPr>
          <a:xfrm>
            <a:off x="8092440" y="3977640"/>
            <a:ext cx="3611880" cy="1920240"/>
          </a:xfrm>
          <a:prstGeom prst="roundRect">
            <a:avLst>
              <a:gd name="adj" fmla="val 3810"/>
            </a:avLst>
          </a:prstGeom>
          <a:solidFill>
            <a:srgbClr val="FFFFFF"/>
          </a:solidFill>
          <a:ln w="9525">
            <a:solidFill>
              <a:srgbClr val="E2E8F0"/>
            </a:solidFill>
            <a:prstDash val="solid"/>
          </a:ln>
        </p:spPr>
      </p:sp>
      <p:sp>
        <p:nvSpPr>
          <p:cNvPr id="21" name="Text 19"/>
          <p:cNvSpPr/>
          <p:nvPr/>
        </p:nvSpPr>
        <p:spPr>
          <a:xfrm>
            <a:off x="8366760" y="4160520"/>
            <a:ext cx="1645920" cy="731520"/>
          </a:xfrm>
          <a:prstGeom prst="rect">
            <a:avLst/>
          </a:prstGeom>
          <a:noFill/>
          <a:ln/>
        </p:spPr>
        <p:txBody>
          <a:bodyPr wrap="square" rtlCol="0" anchor="ctr"/>
          <a:lstStyle/>
          <a:p>
            <a:pPr indent="0" marL="0">
              <a:buNone/>
            </a:pPr>
            <a:r>
              <a:rPr lang="en-US" sz="3600" b="1" dirty="0">
                <a:solidFill>
                  <a:srgbClr val="4F46E5"/>
                </a:solidFill>
                <a:latin typeface="DM Sans" pitchFamily="34" charset="0"/>
                <a:ea typeface="DM Sans" pitchFamily="34" charset="-122"/>
                <a:cs typeface="DM Sans" pitchFamily="34" charset="-120"/>
              </a:rPr>
              <a:t>15%</a:t>
            </a:r>
            <a:endParaRPr lang="en-US" sz="3600" dirty="0"/>
          </a:p>
        </p:txBody>
      </p:sp>
      <p:sp>
        <p:nvSpPr>
          <p:cNvPr id="22" name="Text 20"/>
          <p:cNvSpPr/>
          <p:nvPr/>
        </p:nvSpPr>
        <p:spPr>
          <a:xfrm>
            <a:off x="8366760" y="4937760"/>
            <a:ext cx="3154680" cy="29260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Infrastructure</a:t>
            </a:r>
            <a:endParaRPr lang="en-US" sz="1300" dirty="0"/>
          </a:p>
        </p:txBody>
      </p:sp>
      <p:sp>
        <p:nvSpPr>
          <p:cNvPr id="23" name="Text 21"/>
          <p:cNvSpPr/>
          <p:nvPr/>
        </p:nvSpPr>
        <p:spPr>
          <a:xfrm>
            <a:off x="8366760" y="5257800"/>
            <a:ext cx="3154680" cy="640080"/>
          </a:xfrm>
          <a:prstGeom prst="rect">
            <a:avLst/>
          </a:prstGeom>
          <a:noFill/>
          <a:ln/>
        </p:spPr>
        <p:txBody>
          <a:bodyPr wrap="square" rtlCol="0" anchor="ctr"/>
          <a:lstStyle/>
          <a:p>
            <a:pPr indent="0" marL="0">
              <a:lnSpc>
                <a:spcPct val="135000"/>
              </a:lnSpc>
              <a:buNone/>
            </a:pPr>
            <a:r>
              <a:rPr lang="en-US" sz="1000" dirty="0">
                <a:solidFill>
                  <a:srgbClr val="334155"/>
                </a:solidFill>
                <a:latin typeface="DM Sans" pitchFamily="34" charset="0"/>
                <a:ea typeface="DM Sans" pitchFamily="34" charset="-122"/>
                <a:cs typeface="DM Sans" pitchFamily="34" charset="-120"/>
              </a:rPr>
              <a:t>Multi-region rollout, abuse/scaling headroom, partnership-integration build for Anthropic / Cursor / Windsurf.</a:t>
            </a:r>
            <a:endParaRPr lang="en-US" sz="1000" dirty="0"/>
          </a:p>
        </p:txBody>
      </p:sp>
      <p:sp>
        <p:nvSpPr>
          <p:cNvPr id="24" name="Shape 22"/>
          <p:cNvSpPr/>
          <p:nvPr/>
        </p:nvSpPr>
        <p:spPr>
          <a:xfrm>
            <a:off x="502920" y="6035040"/>
            <a:ext cx="11155680" cy="411480"/>
          </a:xfrm>
          <a:prstGeom prst="roundRect">
            <a:avLst>
              <a:gd name="adj" fmla="val 13333"/>
            </a:avLst>
          </a:prstGeom>
          <a:solidFill>
            <a:srgbClr val="EEF2FF"/>
          </a:solidFill>
          <a:ln w="9525">
            <a:solidFill>
              <a:srgbClr val="4F46E5"/>
            </a:solidFill>
            <a:prstDash val="solid"/>
          </a:ln>
        </p:spPr>
      </p:sp>
      <p:sp>
        <p:nvSpPr>
          <p:cNvPr id="25" name="Text 23"/>
          <p:cNvSpPr/>
          <p:nvPr/>
        </p:nvSpPr>
        <p:spPr>
          <a:xfrm>
            <a:off x="502920" y="6035040"/>
            <a:ext cx="11155680" cy="411480"/>
          </a:xfrm>
          <a:prstGeom prst="rect">
            <a:avLst/>
          </a:prstGeom>
          <a:noFill/>
          <a:ln/>
        </p:spPr>
        <p:txBody>
          <a:bodyPr wrap="square" rtlCol="0" anchor="ctr"/>
          <a:lstStyle/>
          <a:p>
            <a:pPr algn="ct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TARGET AT MONTH 12  ·  [ fill ] paying  ·  £[ fill ]K MRR  ·  validated funnel  ·  acquirer + raise conversations live</a:t>
            </a:r>
            <a:endParaRPr lang="en-US" sz="850" dirty="0"/>
          </a:p>
        </p:txBody>
      </p:sp>
      <p:sp>
        <p:nvSpPr>
          <p:cNvPr id="26" name="Text 2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7" name="Text 2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333333"/>
            </a:solidFill>
            <a:prstDash val="solid"/>
          </a:ln>
        </p:spPr>
      </p:sp>
      <p:sp>
        <p:nvSpPr>
          <p:cNvPr id="3" name="Shape 1"/>
          <p:cNvSpPr/>
          <p:nvPr/>
        </p:nvSpPr>
        <p:spPr>
          <a:xfrm>
            <a:off x="0" y="91440"/>
            <a:ext cx="12191695" cy="36576"/>
          </a:xfrm>
          <a:prstGeom prst="rect">
            <a:avLst/>
          </a:prstGeom>
          <a:solidFill>
            <a:srgbClr val="F59E0B"/>
          </a:solidFill>
          <a:ln w="12700">
            <a:solidFill>
              <a:srgbClr val="333333"/>
            </a:solidFill>
            <a:prstDash val="solid"/>
          </a:ln>
        </p:spPr>
      </p:sp>
      <p:sp>
        <p:nvSpPr>
          <p:cNvPr id="4" name="Text 2"/>
          <p:cNvSpPr/>
          <p:nvPr/>
        </p:nvSpPr>
        <p:spPr>
          <a:xfrm>
            <a:off x="502920" y="1097280"/>
            <a:ext cx="10972800" cy="1280160"/>
          </a:xfrm>
          <a:prstGeom prst="rect">
            <a:avLst/>
          </a:prstGeom>
          <a:noFill/>
          <a:ln/>
        </p:spPr>
        <p:txBody>
          <a:bodyPr wrap="square" rtlCol="0" anchor="ctr"/>
          <a:lstStyle/>
          <a:p>
            <a:pPr indent="0" marL="0">
              <a:buNone/>
            </a:pPr>
            <a:r>
              <a:rPr lang="en-US" sz="8800" b="1" spc="-200" kern="0" dirty="0">
                <a:solidFill>
                  <a:srgbClr val="FFFFFF"/>
                </a:solidFill>
                <a:latin typeface="DM Sans" pitchFamily="34" charset="0"/>
                <a:ea typeface="DM Sans" pitchFamily="34" charset="-122"/>
                <a:cs typeface="DM Sans" pitchFamily="34" charset="-120"/>
              </a:rPr>
              <a:t>Hatchik</a:t>
            </a:r>
            <a:endParaRPr lang="en-US" sz="8800" dirty="0"/>
          </a:p>
        </p:txBody>
      </p:sp>
      <p:sp>
        <p:nvSpPr>
          <p:cNvPr id="5" name="Text 3"/>
          <p:cNvSpPr/>
          <p:nvPr/>
        </p:nvSpPr>
        <p:spPr>
          <a:xfrm>
            <a:off x="502920" y="2468880"/>
            <a:ext cx="10972800" cy="731520"/>
          </a:xfrm>
          <a:prstGeom prst="rect">
            <a:avLst/>
          </a:prstGeom>
          <a:noFill/>
          <a:ln/>
        </p:spPr>
        <p:txBody>
          <a:bodyPr wrap="square" rtlCol="0" anchor="ctr"/>
          <a:lstStyle/>
          <a:p>
            <a:pPr indent="0" marL="0">
              <a:buNone/>
            </a:pPr>
            <a:r>
              <a:rPr lang="en-US" sz="2600" i="1" dirty="0">
                <a:solidFill>
                  <a:srgbClr val="FFFFFF"/>
                </a:solidFill>
                <a:latin typeface="DM Sans" pitchFamily="34" charset="0"/>
                <a:ea typeface="DM Sans" pitchFamily="34" charset="-122"/>
                <a:cs typeface="DM Sans" pitchFamily="34" charset="-120"/>
              </a:rPr>
              <a:t>The production substrate your AI coder builds on.</a:t>
            </a:r>
            <a:endParaRPr lang="en-US" sz="2600" dirty="0"/>
          </a:p>
        </p:txBody>
      </p:sp>
      <p:sp>
        <p:nvSpPr>
          <p:cNvPr id="6" name="Text 4"/>
          <p:cNvSpPr/>
          <p:nvPr/>
        </p:nvSpPr>
        <p:spPr>
          <a:xfrm>
            <a:off x="502920" y="3337560"/>
            <a:ext cx="10972800" cy="457200"/>
          </a:xfrm>
          <a:prstGeom prst="rect">
            <a:avLst/>
          </a:prstGeom>
          <a:noFill/>
          <a:ln/>
        </p:spPr>
        <p:txBody>
          <a:bodyPr wrap="square" rtlCol="0" anchor="ctr"/>
          <a:lstStyle/>
          <a:p>
            <a:pPr indent="0" marL="0">
              <a:buNone/>
            </a:pPr>
            <a:r>
              <a:rPr lang="en-US" sz="1800" dirty="0">
                <a:solidFill>
                  <a:srgbClr val="F59E0B"/>
                </a:solidFill>
                <a:latin typeface="DM Sans" pitchFamily="34" charset="0"/>
                <a:ea typeface="DM Sans" pitchFamily="34" charset="-122"/>
                <a:cs typeface="DM Sans" pitchFamily="34" charset="-120"/>
              </a:rPr>
              <a:t>No platform. No lock-in. No demos.</a:t>
            </a:r>
            <a:endParaRPr lang="en-US" sz="1800" dirty="0"/>
          </a:p>
        </p:txBody>
      </p:sp>
      <p:sp>
        <p:nvSpPr>
          <p:cNvPr id="7" name="Shape 5"/>
          <p:cNvSpPr/>
          <p:nvPr/>
        </p:nvSpPr>
        <p:spPr>
          <a:xfrm>
            <a:off x="502920" y="4663440"/>
            <a:ext cx="5455768" cy="868680"/>
          </a:xfrm>
          <a:prstGeom prst="roundRect">
            <a:avLst>
              <a:gd name="adj" fmla="val 8421"/>
            </a:avLst>
          </a:prstGeom>
          <a:solidFill>
            <a:srgbClr val="1E293B"/>
          </a:solidFill>
          <a:ln w="6350">
            <a:solidFill>
              <a:srgbClr val="334155"/>
            </a:solidFill>
            <a:prstDash val="solid"/>
          </a:ln>
        </p:spPr>
      </p:sp>
      <p:sp>
        <p:nvSpPr>
          <p:cNvPr id="8" name="Text 6"/>
          <p:cNvSpPr/>
          <p:nvPr/>
        </p:nvSpPr>
        <p:spPr>
          <a:xfrm>
            <a:off x="777240" y="480060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GENERAL</a:t>
            </a:r>
            <a:endParaRPr lang="en-US" sz="900" dirty="0"/>
          </a:p>
        </p:txBody>
      </p:sp>
      <p:sp>
        <p:nvSpPr>
          <p:cNvPr id="9" name="Text 7"/>
          <p:cNvSpPr/>
          <p:nvPr/>
        </p:nvSpPr>
        <p:spPr>
          <a:xfrm>
            <a:off x="777240" y="507492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hello@hatchik.com</a:t>
            </a:r>
            <a:endParaRPr lang="en-US" sz="1400" dirty="0"/>
          </a:p>
        </p:txBody>
      </p:sp>
      <p:sp>
        <p:nvSpPr>
          <p:cNvPr id="10" name="Shape 8"/>
          <p:cNvSpPr/>
          <p:nvPr/>
        </p:nvSpPr>
        <p:spPr>
          <a:xfrm>
            <a:off x="6233008" y="4663440"/>
            <a:ext cx="5455768" cy="868680"/>
          </a:xfrm>
          <a:prstGeom prst="roundRect">
            <a:avLst>
              <a:gd name="adj" fmla="val 8421"/>
            </a:avLst>
          </a:prstGeom>
          <a:solidFill>
            <a:srgbClr val="1E293B"/>
          </a:solidFill>
          <a:ln w="6350">
            <a:solidFill>
              <a:srgbClr val="334155"/>
            </a:solidFill>
            <a:prstDash val="solid"/>
          </a:ln>
        </p:spPr>
      </p:sp>
      <p:sp>
        <p:nvSpPr>
          <p:cNvPr id="11" name="Text 9"/>
          <p:cNvSpPr/>
          <p:nvPr/>
        </p:nvSpPr>
        <p:spPr>
          <a:xfrm>
            <a:off x="6507328" y="480060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WEB</a:t>
            </a:r>
            <a:endParaRPr lang="en-US" sz="900" dirty="0"/>
          </a:p>
        </p:txBody>
      </p:sp>
      <p:sp>
        <p:nvSpPr>
          <p:cNvPr id="12" name="Text 10"/>
          <p:cNvSpPr/>
          <p:nvPr/>
        </p:nvSpPr>
        <p:spPr>
          <a:xfrm>
            <a:off x="6507328" y="507492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hatchik.com</a:t>
            </a:r>
            <a:endParaRPr lang="en-US" sz="1400" dirty="0"/>
          </a:p>
        </p:txBody>
      </p:sp>
      <p:sp>
        <p:nvSpPr>
          <p:cNvPr id="13" name="Shape 11"/>
          <p:cNvSpPr/>
          <p:nvPr/>
        </p:nvSpPr>
        <p:spPr>
          <a:xfrm>
            <a:off x="502920" y="5715000"/>
            <a:ext cx="5455768" cy="868680"/>
          </a:xfrm>
          <a:prstGeom prst="roundRect">
            <a:avLst>
              <a:gd name="adj" fmla="val 8421"/>
            </a:avLst>
          </a:prstGeom>
          <a:solidFill>
            <a:srgbClr val="1E293B"/>
          </a:solidFill>
          <a:ln w="6350">
            <a:solidFill>
              <a:srgbClr val="334155"/>
            </a:solidFill>
            <a:prstDash val="solid"/>
          </a:ln>
        </p:spPr>
      </p:sp>
      <p:sp>
        <p:nvSpPr>
          <p:cNvPr id="14" name="Text 12"/>
          <p:cNvSpPr/>
          <p:nvPr/>
        </p:nvSpPr>
        <p:spPr>
          <a:xfrm>
            <a:off x="777240" y="585216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FOUNDER EMAIL</a:t>
            </a:r>
            <a:endParaRPr lang="en-US" sz="900" dirty="0"/>
          </a:p>
        </p:txBody>
      </p:sp>
      <p:sp>
        <p:nvSpPr>
          <p:cNvPr id="15" name="Text 13"/>
          <p:cNvSpPr/>
          <p:nvPr/>
        </p:nvSpPr>
        <p:spPr>
          <a:xfrm>
            <a:off x="777240" y="612648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 founder fills ]</a:t>
            </a:r>
            <a:endParaRPr lang="en-US" sz="1400" dirty="0"/>
          </a:p>
        </p:txBody>
      </p:sp>
      <p:sp>
        <p:nvSpPr>
          <p:cNvPr id="16" name="Shape 14"/>
          <p:cNvSpPr/>
          <p:nvPr/>
        </p:nvSpPr>
        <p:spPr>
          <a:xfrm>
            <a:off x="6233008" y="5715000"/>
            <a:ext cx="5455768" cy="868680"/>
          </a:xfrm>
          <a:prstGeom prst="roundRect">
            <a:avLst>
              <a:gd name="adj" fmla="val 8421"/>
            </a:avLst>
          </a:prstGeom>
          <a:solidFill>
            <a:srgbClr val="1E293B"/>
          </a:solidFill>
          <a:ln w="6350">
            <a:solidFill>
              <a:srgbClr val="334155"/>
            </a:solidFill>
            <a:prstDash val="solid"/>
          </a:ln>
        </p:spPr>
      </p:sp>
      <p:sp>
        <p:nvSpPr>
          <p:cNvPr id="17" name="Text 15"/>
          <p:cNvSpPr/>
          <p:nvPr/>
        </p:nvSpPr>
        <p:spPr>
          <a:xfrm>
            <a:off x="6507328" y="585216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LINKEDIN</a:t>
            </a:r>
            <a:endParaRPr lang="en-US" sz="900" dirty="0"/>
          </a:p>
        </p:txBody>
      </p:sp>
      <p:sp>
        <p:nvSpPr>
          <p:cNvPr id="18" name="Text 16"/>
          <p:cNvSpPr/>
          <p:nvPr/>
        </p:nvSpPr>
        <p:spPr>
          <a:xfrm>
            <a:off x="6507328" y="612648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 founder fills ]</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59E0B"/>
          </a:solidFill>
          <a:ln w="12700">
            <a:solidFill>
              <a:srgbClr val="333333"/>
            </a:solidFill>
            <a:prstDash val="solid"/>
          </a:ln>
        </p:spPr>
      </p:sp>
      <p:sp>
        <p:nvSpPr>
          <p:cNvPr id="3" name="Shape 1"/>
          <p:cNvSpPr/>
          <p:nvPr/>
        </p:nvSpPr>
        <p:spPr>
          <a:xfrm>
            <a:off x="0" y="91440"/>
            <a:ext cx="12191695" cy="36576"/>
          </a:xfrm>
          <a:prstGeom prst="rect">
            <a:avLst/>
          </a:prstGeom>
          <a:solidFill>
            <a:srgbClr val="4F46E5"/>
          </a:solidFill>
          <a:ln w="12700">
            <a:solidFill>
              <a:srgbClr val="333333"/>
            </a:solidFill>
            <a:prstDash val="solid"/>
          </a:ln>
        </p:spPr>
      </p:sp>
      <p:sp>
        <p:nvSpPr>
          <p:cNvPr id="4" name="Text 2"/>
          <p:cNvSpPr/>
          <p:nvPr/>
        </p:nvSpPr>
        <p:spPr>
          <a:xfrm>
            <a:off x="502920" y="914400"/>
            <a:ext cx="10972800" cy="457200"/>
          </a:xfrm>
          <a:prstGeom prst="rect">
            <a:avLst/>
          </a:prstGeom>
          <a:noFill/>
          <a:ln/>
        </p:spPr>
        <p:txBody>
          <a:bodyPr wrap="square" rtlCol="0" anchor="ctr"/>
          <a:lstStyle/>
          <a:p>
            <a:pPr indent="0" marL="0">
              <a:buNone/>
            </a:pPr>
            <a:r>
              <a:rPr lang="en-US" sz="1400" b="1" spc="800" kern="0" dirty="0">
                <a:solidFill>
                  <a:srgbClr val="F59E0B"/>
                </a:solidFill>
                <a:latin typeface="JetBrains Mono" pitchFamily="34" charset="0"/>
                <a:ea typeface="JetBrains Mono" pitchFamily="34" charset="-122"/>
                <a:cs typeface="JetBrains Mono" pitchFamily="34" charset="-120"/>
              </a:rPr>
              <a:t>APPENDIX</a:t>
            </a:r>
            <a:endParaRPr lang="en-US" sz="1400" dirty="0"/>
          </a:p>
        </p:txBody>
      </p:sp>
      <p:sp>
        <p:nvSpPr>
          <p:cNvPr id="5" name="Text 3"/>
          <p:cNvSpPr/>
          <p:nvPr/>
        </p:nvSpPr>
        <p:spPr>
          <a:xfrm>
            <a:off x="502920" y="1600200"/>
            <a:ext cx="10972800" cy="1097280"/>
          </a:xfrm>
          <a:prstGeom prst="rect">
            <a:avLst/>
          </a:prstGeom>
          <a:noFill/>
          <a:ln/>
        </p:spPr>
        <p:txBody>
          <a:bodyPr wrap="square" rtlCol="0" anchor="ctr"/>
          <a:lstStyle/>
          <a:p>
            <a:pPr indent="0" marL="0">
              <a:lnSpc>
                <a:spcPct val="110000"/>
              </a:lnSpc>
              <a:buNone/>
            </a:pPr>
            <a:r>
              <a:rPr lang="en-US" sz="4800" b="1" dirty="0">
                <a:solidFill>
                  <a:srgbClr val="FFFFFF"/>
                </a:solidFill>
                <a:latin typeface="DM Sans" pitchFamily="34" charset="0"/>
                <a:ea typeface="DM Sans" pitchFamily="34" charset="-122"/>
                <a:cs typeface="DM Sans" pitchFamily="34" charset="-120"/>
              </a:rPr>
              <a:t>Detail, behind the headline.</a:t>
            </a:r>
            <a:endParaRPr lang="en-US" sz="4800" dirty="0"/>
          </a:p>
        </p:txBody>
      </p:sp>
      <p:sp>
        <p:nvSpPr>
          <p:cNvPr id="6" name="Text 4"/>
          <p:cNvSpPr/>
          <p:nvPr/>
        </p:nvSpPr>
        <p:spPr>
          <a:xfrm>
            <a:off x="502920" y="301752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23</a:t>
            </a:r>
            <a:endParaRPr lang="en-US" sz="1300" dirty="0"/>
          </a:p>
        </p:txBody>
      </p:sp>
      <p:sp>
        <p:nvSpPr>
          <p:cNvPr id="7" name="Text 5"/>
          <p:cNvSpPr/>
          <p:nvPr/>
        </p:nvSpPr>
        <p:spPr>
          <a:xfrm>
            <a:off x="1234440" y="301752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Competitor deep-dive — AI builders vs infra players</a:t>
            </a:r>
            <a:endParaRPr lang="en-US" sz="1500" dirty="0"/>
          </a:p>
        </p:txBody>
      </p:sp>
      <p:sp>
        <p:nvSpPr>
          <p:cNvPr id="8" name="Text 6"/>
          <p:cNvSpPr/>
          <p:nvPr/>
        </p:nvSpPr>
        <p:spPr>
          <a:xfrm>
            <a:off x="502920" y="338328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24</a:t>
            </a:r>
            <a:endParaRPr lang="en-US" sz="1300" dirty="0"/>
          </a:p>
        </p:txBody>
      </p:sp>
      <p:sp>
        <p:nvSpPr>
          <p:cNvPr id="9" name="Text 7"/>
          <p:cNvSpPr/>
          <p:nvPr/>
        </p:nvSpPr>
        <p:spPr>
          <a:xfrm>
            <a:off x="1234440" y="338328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AI-lab disruption risk + mitigation strategy</a:t>
            </a:r>
            <a:endParaRPr lang="en-US" sz="1500" dirty="0"/>
          </a:p>
        </p:txBody>
      </p:sp>
      <p:sp>
        <p:nvSpPr>
          <p:cNvPr id="10" name="Text 8"/>
          <p:cNvSpPr/>
          <p:nvPr/>
        </p:nvSpPr>
        <p:spPr>
          <a:xfrm>
            <a:off x="502920" y="374904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25</a:t>
            </a:r>
            <a:endParaRPr lang="en-US" sz="1300" dirty="0"/>
          </a:p>
        </p:txBody>
      </p:sp>
      <p:sp>
        <p:nvSpPr>
          <p:cNvPr id="11" name="Text 9"/>
          <p:cNvSpPr/>
          <p:nvPr/>
        </p:nvSpPr>
        <p:spPr>
          <a:xfrm>
            <a:off x="1234440" y="374904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Full risks register</a:t>
            </a:r>
            <a:endParaRPr lang="en-US" sz="1500" dirty="0"/>
          </a:p>
        </p:txBody>
      </p:sp>
      <p:sp>
        <p:nvSpPr>
          <p:cNvPr id="12" name="Text 10"/>
          <p:cNvSpPr/>
          <p:nvPr/>
        </p:nvSpPr>
        <p:spPr>
          <a:xfrm>
            <a:off x="502920" y="411480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26</a:t>
            </a:r>
            <a:endParaRPr lang="en-US" sz="1300" dirty="0"/>
          </a:p>
        </p:txBody>
      </p:sp>
      <p:sp>
        <p:nvSpPr>
          <p:cNvPr id="13" name="Text 11"/>
          <p:cNvSpPr/>
          <p:nvPr/>
        </p:nvSpPr>
        <p:spPr>
          <a:xfrm>
            <a:off x="1234440" y="411480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MRR build-up — cohort × ARPU × churn</a:t>
            </a:r>
            <a:endParaRPr lang="en-US" sz="1500" dirty="0"/>
          </a:p>
        </p:txBody>
      </p:sp>
      <p:sp>
        <p:nvSpPr>
          <p:cNvPr id="14" name="Text 12"/>
          <p:cNvSpPr/>
          <p:nvPr/>
        </p:nvSpPr>
        <p:spPr>
          <a:xfrm>
            <a:off x="502920" y="448056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27</a:t>
            </a:r>
            <a:endParaRPr lang="en-US" sz="1300" dirty="0"/>
          </a:p>
        </p:txBody>
      </p:sp>
      <p:sp>
        <p:nvSpPr>
          <p:cNvPr id="15" name="Text 13"/>
          <p:cNvSpPr/>
          <p:nvPr/>
        </p:nvSpPr>
        <p:spPr>
          <a:xfrm>
            <a:off x="1234440" y="448056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Use of funds — detailed allocation</a:t>
            </a:r>
            <a:endParaRPr lang="en-US" sz="1500" dirty="0"/>
          </a:p>
        </p:txBody>
      </p:sp>
      <p:sp>
        <p:nvSpPr>
          <p:cNvPr id="16" name="Text 14"/>
          <p:cNvSpPr/>
          <p:nvPr/>
        </p:nvSpPr>
        <p:spPr>
          <a:xfrm>
            <a:off x="502920" y="484632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28</a:t>
            </a:r>
            <a:endParaRPr lang="en-US" sz="1300" dirty="0"/>
          </a:p>
        </p:txBody>
      </p:sp>
      <p:sp>
        <p:nvSpPr>
          <p:cNvPr id="17" name="Text 15"/>
          <p:cNvSpPr/>
          <p:nvPr/>
        </p:nvSpPr>
        <p:spPr>
          <a:xfrm>
            <a:off x="1234440" y="484632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Organic growth model + moats</a:t>
            </a:r>
            <a:endParaRPr lang="en-US" sz="1500" dirty="0"/>
          </a:p>
        </p:txBody>
      </p:sp>
      <p:sp>
        <p:nvSpPr>
          <p:cNvPr id="18" name="Text 16"/>
          <p:cNvSpPr/>
          <p:nvPr/>
        </p:nvSpPr>
        <p:spPr>
          <a:xfrm>
            <a:off x="502920" y="521208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29</a:t>
            </a:r>
            <a:endParaRPr lang="en-US" sz="1300" dirty="0"/>
          </a:p>
        </p:txBody>
      </p:sp>
      <p:sp>
        <p:nvSpPr>
          <p:cNvPr id="19" name="Text 17"/>
          <p:cNvSpPr/>
          <p:nvPr/>
        </p:nvSpPr>
        <p:spPr>
          <a:xfrm>
            <a:off x="1234440" y="521208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Sandbox + Launch capacity management</a:t>
            </a:r>
            <a:endParaRPr lang="en-US" sz="1500" dirty="0"/>
          </a:p>
        </p:txBody>
      </p:sp>
      <p:sp>
        <p:nvSpPr>
          <p:cNvPr id="20" name="Text 18"/>
          <p:cNvSpPr/>
          <p:nvPr/>
        </p:nvSpPr>
        <p:spPr>
          <a:xfrm>
            <a:off x="502920" y="557784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30</a:t>
            </a:r>
            <a:endParaRPr lang="en-US" sz="1300" dirty="0"/>
          </a:p>
        </p:txBody>
      </p:sp>
      <p:sp>
        <p:nvSpPr>
          <p:cNvPr id="21" name="Text 19"/>
          <p:cNvSpPr/>
          <p:nvPr/>
        </p:nvSpPr>
        <p:spPr>
          <a:xfrm>
            <a:off x="1234440" y="557784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Hatchik ethos — trust, community, automation</a:t>
            </a:r>
            <a:endParaRPr lang="en-US" sz="1500" dirty="0"/>
          </a:p>
        </p:txBody>
      </p:sp>
      <p:sp>
        <p:nvSpPr>
          <p:cNvPr id="22" name="Text 20"/>
          <p:cNvSpPr/>
          <p:nvPr/>
        </p:nvSpPr>
        <p:spPr>
          <a:xfrm>
            <a:off x="502920" y="5943600"/>
            <a:ext cx="640080" cy="292608"/>
          </a:xfrm>
          <a:prstGeom prst="rect">
            <a:avLst/>
          </a:prstGeom>
          <a:noFill/>
          <a:ln/>
        </p:spPr>
        <p:txBody>
          <a:bodyPr wrap="square" rtlCol="0" anchor="ctr"/>
          <a:lstStyle/>
          <a:p>
            <a:pPr indent="0" marL="0">
              <a:buNone/>
            </a:pPr>
            <a:r>
              <a:rPr lang="en-US" sz="1300" b="1" dirty="0">
                <a:solidFill>
                  <a:srgbClr val="4F46E5"/>
                </a:solidFill>
                <a:latin typeface="JetBrains Mono" pitchFamily="34" charset="0"/>
                <a:ea typeface="JetBrains Mono" pitchFamily="34" charset="-122"/>
                <a:cs typeface="JetBrains Mono" pitchFamily="34" charset="-120"/>
              </a:rPr>
              <a:t>31</a:t>
            </a:r>
            <a:endParaRPr lang="en-US" sz="1300" dirty="0"/>
          </a:p>
        </p:txBody>
      </p:sp>
      <p:sp>
        <p:nvSpPr>
          <p:cNvPr id="23" name="Text 21"/>
          <p:cNvSpPr/>
          <p:nvPr/>
        </p:nvSpPr>
        <p:spPr>
          <a:xfrm>
            <a:off x="1234440" y="5943600"/>
            <a:ext cx="10058400" cy="292608"/>
          </a:xfrm>
          <a:prstGeom prst="rect">
            <a:avLst/>
          </a:prstGeom>
          <a:noFill/>
          <a:ln/>
        </p:spPr>
        <p:txBody>
          <a:bodyPr wrap="square" rtlCol="0" anchor="ctr"/>
          <a:lstStyle/>
          <a:p>
            <a:pPr indent="0" marL="0">
              <a:buNone/>
            </a:pPr>
            <a:r>
              <a:rPr lang="en-US" sz="1500" dirty="0">
                <a:solidFill>
                  <a:srgbClr val="FFFFFF"/>
                </a:solidFill>
                <a:latin typeface="DM Sans" pitchFamily="34" charset="0"/>
                <a:ea typeface="DM Sans" pitchFamily="34" charset="-122"/>
                <a:cs typeface="DM Sans" pitchFamily="34" charset="-120"/>
              </a:rPr>
              <a:t>Strategic offerings — prototype → product → business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23  ·  APPENDIX  ·  COMPETITOR DEEP-DIVE</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Two-layer landscape. Nobody owns the seam Hatchik sits on.</a:t>
            </a:r>
            <a:endParaRPr lang="en-US" sz="3000" dirty="0"/>
          </a:p>
        </p:txBody>
      </p:sp>
      <p:sp>
        <p:nvSpPr>
          <p:cNvPr id="4" name="Shape 2"/>
          <p:cNvSpPr/>
          <p:nvPr/>
        </p:nvSpPr>
        <p:spPr>
          <a:xfrm>
            <a:off x="502920" y="1737360"/>
            <a:ext cx="10241280" cy="347472"/>
          </a:xfrm>
          <a:prstGeom prst="rect">
            <a:avLst/>
          </a:prstGeom>
          <a:solidFill>
            <a:srgbClr val="0F172A"/>
          </a:solidFill>
          <a:ln w="12700">
            <a:solidFill>
              <a:srgbClr val="333333"/>
            </a:solidFill>
            <a:prstDash val="solid"/>
          </a:ln>
        </p:spPr>
      </p:sp>
      <p:sp>
        <p:nvSpPr>
          <p:cNvPr id="5" name="Text 3"/>
          <p:cNvSpPr/>
          <p:nvPr/>
        </p:nvSpPr>
        <p:spPr>
          <a:xfrm>
            <a:off x="557784" y="1773936"/>
            <a:ext cx="2496312" cy="274320"/>
          </a:xfrm>
          <a:prstGeom prst="rect">
            <a:avLst/>
          </a:prstGeom>
          <a:noFill/>
          <a:ln/>
        </p:spPr>
        <p:txBody>
          <a:bodyPr wrap="square" rtlCol="0" anchor="ctr"/>
          <a:lstStyle/>
          <a:p>
            <a:pPr algn="l" indent="0" marL="0">
              <a:buNone/>
            </a:pPr>
            <a:endParaRPr lang="en-US" sz="800" dirty="0"/>
          </a:p>
        </p:txBody>
      </p:sp>
      <p:sp>
        <p:nvSpPr>
          <p:cNvPr id="6" name="Text 4"/>
          <p:cNvSpPr/>
          <p:nvPr/>
        </p:nvSpPr>
        <p:spPr>
          <a:xfrm>
            <a:off x="3163824" y="1773936"/>
            <a:ext cx="71323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BYO AI</a:t>
            </a:r>
            <a:endParaRPr lang="en-US" sz="800" dirty="0"/>
          </a:p>
        </p:txBody>
      </p:sp>
      <p:sp>
        <p:nvSpPr>
          <p:cNvPr id="7" name="Text 5"/>
          <p:cNvSpPr/>
          <p:nvPr/>
        </p:nvSpPr>
        <p:spPr>
          <a:xfrm>
            <a:off x="3986784" y="1773936"/>
            <a:ext cx="85039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Plumbing</a:t>
            </a:r>
            <a:endParaRPr lang="en-US" sz="800" dirty="0"/>
          </a:p>
        </p:txBody>
      </p:sp>
      <p:sp>
        <p:nvSpPr>
          <p:cNvPr id="8" name="Text 6"/>
          <p:cNvSpPr/>
          <p:nvPr/>
        </p:nvSpPr>
        <p:spPr>
          <a:xfrm>
            <a:off x="4946904" y="1773936"/>
            <a:ext cx="85039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Own code</a:t>
            </a:r>
            <a:endParaRPr lang="en-US" sz="800" dirty="0"/>
          </a:p>
        </p:txBody>
      </p:sp>
      <p:sp>
        <p:nvSpPr>
          <p:cNvPr id="9" name="Text 7"/>
          <p:cNvSpPr/>
          <p:nvPr/>
        </p:nvSpPr>
        <p:spPr>
          <a:xfrm>
            <a:off x="5907024" y="1773936"/>
            <a:ext cx="75895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Exit cost</a:t>
            </a:r>
            <a:endParaRPr lang="en-US" sz="800" dirty="0"/>
          </a:p>
        </p:txBody>
      </p:sp>
      <p:sp>
        <p:nvSpPr>
          <p:cNvPr id="10" name="Text 8"/>
          <p:cNvSpPr/>
          <p:nvPr/>
        </p:nvSpPr>
        <p:spPr>
          <a:xfrm>
            <a:off x="6775704" y="1773936"/>
            <a:ext cx="98755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Provisioned</a:t>
            </a:r>
            <a:endParaRPr lang="en-US" sz="800" dirty="0"/>
          </a:p>
        </p:txBody>
      </p:sp>
      <p:sp>
        <p:nvSpPr>
          <p:cNvPr id="11" name="Text 9"/>
          <p:cNvSpPr/>
          <p:nvPr/>
        </p:nvSpPr>
        <p:spPr>
          <a:xfrm>
            <a:off x="7872984" y="1773936"/>
            <a:ext cx="80467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Mobile</a:t>
            </a:r>
            <a:endParaRPr lang="en-US" sz="800" dirty="0"/>
          </a:p>
        </p:txBody>
      </p:sp>
      <p:sp>
        <p:nvSpPr>
          <p:cNvPr id="12" name="Text 10"/>
          <p:cNvSpPr/>
          <p:nvPr/>
        </p:nvSpPr>
        <p:spPr>
          <a:xfrm>
            <a:off x="8787384" y="1773936"/>
            <a:ext cx="98755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MoR billing</a:t>
            </a:r>
            <a:endParaRPr lang="en-US" sz="800" dirty="0"/>
          </a:p>
        </p:txBody>
      </p:sp>
      <p:sp>
        <p:nvSpPr>
          <p:cNvPr id="13" name="Text 11"/>
          <p:cNvSpPr/>
          <p:nvPr/>
        </p:nvSpPr>
        <p:spPr>
          <a:xfrm>
            <a:off x="9884664" y="1773936"/>
            <a:ext cx="80467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Start £/mo</a:t>
            </a:r>
            <a:endParaRPr lang="en-US" sz="800" dirty="0"/>
          </a:p>
        </p:txBody>
      </p:sp>
      <p:sp>
        <p:nvSpPr>
          <p:cNvPr id="14" name="Shape 12"/>
          <p:cNvSpPr/>
          <p:nvPr/>
        </p:nvSpPr>
        <p:spPr>
          <a:xfrm>
            <a:off x="502920" y="2084832"/>
            <a:ext cx="10241280" cy="292608"/>
          </a:xfrm>
          <a:prstGeom prst="rect">
            <a:avLst/>
          </a:prstGeom>
          <a:solidFill>
            <a:srgbClr val="EEF2FF"/>
          </a:solidFill>
          <a:ln w="12700">
            <a:solidFill>
              <a:srgbClr val="4F46E5"/>
            </a:solidFill>
            <a:prstDash val="solid"/>
          </a:ln>
        </p:spPr>
      </p:sp>
      <p:sp>
        <p:nvSpPr>
          <p:cNvPr id="15" name="Text 13"/>
          <p:cNvSpPr/>
          <p:nvPr/>
        </p:nvSpPr>
        <p:spPr>
          <a:xfrm>
            <a:off x="594360" y="2112264"/>
            <a:ext cx="2423160" cy="237744"/>
          </a:xfrm>
          <a:prstGeom prst="rect">
            <a:avLst/>
          </a:prstGeom>
          <a:noFill/>
          <a:ln/>
        </p:spPr>
        <p:txBody>
          <a:bodyPr wrap="square" rtlCol="0" anchor="ctr"/>
          <a:lstStyle/>
          <a:p>
            <a:pPr indent="0" marL="0">
              <a:buNone/>
            </a:pPr>
            <a:r>
              <a:rPr lang="en-US" sz="950" b="1" dirty="0">
                <a:solidFill>
                  <a:srgbClr val="3730A3"/>
                </a:solidFill>
                <a:latin typeface="DM Sans" pitchFamily="34" charset="0"/>
                <a:ea typeface="DM Sans" pitchFamily="34" charset="-122"/>
                <a:cs typeface="DM Sans" pitchFamily="34" charset="-120"/>
              </a:rPr>
              <a:t>Hatchik</a:t>
            </a:r>
            <a:endParaRPr lang="en-US" sz="950" dirty="0"/>
          </a:p>
        </p:txBody>
      </p:sp>
      <p:sp>
        <p:nvSpPr>
          <p:cNvPr id="16" name="Text 14"/>
          <p:cNvSpPr/>
          <p:nvPr/>
        </p:nvSpPr>
        <p:spPr>
          <a:xfrm>
            <a:off x="3163824" y="2112264"/>
            <a:ext cx="71323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7" name="Text 15"/>
          <p:cNvSpPr/>
          <p:nvPr/>
        </p:nvSpPr>
        <p:spPr>
          <a:xfrm>
            <a:off x="3986784" y="2112264"/>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8" name="Text 16"/>
          <p:cNvSpPr/>
          <p:nvPr/>
        </p:nvSpPr>
        <p:spPr>
          <a:xfrm>
            <a:off x="4946904" y="2112264"/>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9" name="Text 17"/>
          <p:cNvSpPr/>
          <p:nvPr/>
        </p:nvSpPr>
        <p:spPr>
          <a:xfrm>
            <a:off x="5907024" y="2112264"/>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20" name="Text 18"/>
          <p:cNvSpPr/>
          <p:nvPr/>
        </p:nvSpPr>
        <p:spPr>
          <a:xfrm>
            <a:off x="6775704" y="2112264"/>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21" name="Text 19"/>
          <p:cNvSpPr/>
          <p:nvPr/>
        </p:nvSpPr>
        <p:spPr>
          <a:xfrm>
            <a:off x="7872984" y="2112264"/>
            <a:ext cx="80467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22" name="Text 20"/>
          <p:cNvSpPr/>
          <p:nvPr/>
        </p:nvSpPr>
        <p:spPr>
          <a:xfrm>
            <a:off x="8787384" y="2112264"/>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23" name="Text 21"/>
          <p:cNvSpPr/>
          <p:nvPr/>
        </p:nvSpPr>
        <p:spPr>
          <a:xfrm>
            <a:off x="9884664" y="2112264"/>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£14</a:t>
            </a:r>
            <a:endParaRPr lang="en-US" sz="950" dirty="0"/>
          </a:p>
        </p:txBody>
      </p:sp>
      <p:sp>
        <p:nvSpPr>
          <p:cNvPr id="24" name="Shape 22"/>
          <p:cNvSpPr/>
          <p:nvPr/>
        </p:nvSpPr>
        <p:spPr>
          <a:xfrm>
            <a:off x="502920" y="2377440"/>
            <a:ext cx="10241280" cy="292608"/>
          </a:xfrm>
          <a:prstGeom prst="rect">
            <a:avLst/>
          </a:prstGeom>
          <a:solidFill>
            <a:srgbClr val="F6F5F1"/>
          </a:solidFill>
          <a:ln w="3175">
            <a:solidFill>
              <a:srgbClr val="F1F5F9"/>
            </a:solidFill>
            <a:prstDash val="solid"/>
          </a:ln>
        </p:spPr>
      </p:sp>
      <p:sp>
        <p:nvSpPr>
          <p:cNvPr id="25" name="Text 23"/>
          <p:cNvSpPr/>
          <p:nvPr/>
        </p:nvSpPr>
        <p:spPr>
          <a:xfrm>
            <a:off x="594360" y="2404872"/>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Lovable</a:t>
            </a:r>
            <a:endParaRPr lang="en-US" sz="950" dirty="0"/>
          </a:p>
        </p:txBody>
      </p:sp>
      <p:sp>
        <p:nvSpPr>
          <p:cNvPr id="26" name="Text 24"/>
          <p:cNvSpPr/>
          <p:nvPr/>
        </p:nvSpPr>
        <p:spPr>
          <a:xfrm>
            <a:off x="3163824" y="2404872"/>
            <a:ext cx="71323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27" name="Text 25"/>
          <p:cNvSpPr/>
          <p:nvPr/>
        </p:nvSpPr>
        <p:spPr>
          <a:xfrm>
            <a:off x="3986784" y="2404872"/>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28" name="Text 26"/>
          <p:cNvSpPr/>
          <p:nvPr/>
        </p:nvSpPr>
        <p:spPr>
          <a:xfrm>
            <a:off x="4946904" y="2404872"/>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29" name="Text 27"/>
          <p:cNvSpPr/>
          <p:nvPr/>
        </p:nvSpPr>
        <p:spPr>
          <a:xfrm>
            <a:off x="5907024" y="2404872"/>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High</a:t>
            </a:r>
            <a:endParaRPr lang="en-US" sz="950" dirty="0"/>
          </a:p>
        </p:txBody>
      </p:sp>
      <p:sp>
        <p:nvSpPr>
          <p:cNvPr id="30" name="Text 28"/>
          <p:cNvSpPr/>
          <p:nvPr/>
        </p:nvSpPr>
        <p:spPr>
          <a:xfrm>
            <a:off x="6775704" y="2404872"/>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31" name="Text 29"/>
          <p:cNvSpPr/>
          <p:nvPr/>
        </p:nvSpPr>
        <p:spPr>
          <a:xfrm>
            <a:off x="7872984" y="2404872"/>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32" name="Text 30"/>
          <p:cNvSpPr/>
          <p:nvPr/>
        </p:nvSpPr>
        <p:spPr>
          <a:xfrm>
            <a:off x="8787384" y="240487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33" name="Text 31"/>
          <p:cNvSpPr/>
          <p:nvPr/>
        </p:nvSpPr>
        <p:spPr>
          <a:xfrm>
            <a:off x="9884664" y="2404872"/>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$25+</a:t>
            </a:r>
            <a:endParaRPr lang="en-US" sz="950" dirty="0"/>
          </a:p>
        </p:txBody>
      </p:sp>
      <p:sp>
        <p:nvSpPr>
          <p:cNvPr id="34" name="Shape 32"/>
          <p:cNvSpPr/>
          <p:nvPr/>
        </p:nvSpPr>
        <p:spPr>
          <a:xfrm>
            <a:off x="502920" y="2670048"/>
            <a:ext cx="10241280" cy="292608"/>
          </a:xfrm>
          <a:prstGeom prst="rect">
            <a:avLst/>
          </a:prstGeom>
          <a:solidFill>
            <a:srgbClr val="FFFFFF"/>
          </a:solidFill>
          <a:ln w="3175">
            <a:solidFill>
              <a:srgbClr val="F1F5F9"/>
            </a:solidFill>
            <a:prstDash val="solid"/>
          </a:ln>
        </p:spPr>
      </p:sp>
      <p:sp>
        <p:nvSpPr>
          <p:cNvPr id="35" name="Text 33"/>
          <p:cNvSpPr/>
          <p:nvPr/>
        </p:nvSpPr>
        <p:spPr>
          <a:xfrm>
            <a:off x="594360" y="2697480"/>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Bolt.new</a:t>
            </a:r>
            <a:endParaRPr lang="en-US" sz="950" dirty="0"/>
          </a:p>
        </p:txBody>
      </p:sp>
      <p:sp>
        <p:nvSpPr>
          <p:cNvPr id="36" name="Text 34"/>
          <p:cNvSpPr/>
          <p:nvPr/>
        </p:nvSpPr>
        <p:spPr>
          <a:xfrm>
            <a:off x="3163824" y="2697480"/>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37" name="Text 35"/>
          <p:cNvSpPr/>
          <p:nvPr/>
        </p:nvSpPr>
        <p:spPr>
          <a:xfrm>
            <a:off x="3986784" y="2697480"/>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38" name="Text 36"/>
          <p:cNvSpPr/>
          <p:nvPr/>
        </p:nvSpPr>
        <p:spPr>
          <a:xfrm>
            <a:off x="4946904" y="2697480"/>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39" name="Text 37"/>
          <p:cNvSpPr/>
          <p:nvPr/>
        </p:nvSpPr>
        <p:spPr>
          <a:xfrm>
            <a:off x="5907024" y="2697480"/>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40" name="Text 38"/>
          <p:cNvSpPr/>
          <p:nvPr/>
        </p:nvSpPr>
        <p:spPr>
          <a:xfrm>
            <a:off x="6775704" y="269748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1" name="Text 39"/>
          <p:cNvSpPr/>
          <p:nvPr/>
        </p:nvSpPr>
        <p:spPr>
          <a:xfrm>
            <a:off x="7872984" y="2697480"/>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2" name="Text 40"/>
          <p:cNvSpPr/>
          <p:nvPr/>
        </p:nvSpPr>
        <p:spPr>
          <a:xfrm>
            <a:off x="8787384" y="269748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3" name="Text 41"/>
          <p:cNvSpPr/>
          <p:nvPr/>
        </p:nvSpPr>
        <p:spPr>
          <a:xfrm>
            <a:off x="9884664" y="2697480"/>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$20+</a:t>
            </a:r>
            <a:endParaRPr lang="en-US" sz="950" dirty="0"/>
          </a:p>
        </p:txBody>
      </p:sp>
      <p:sp>
        <p:nvSpPr>
          <p:cNvPr id="44" name="Shape 42"/>
          <p:cNvSpPr/>
          <p:nvPr/>
        </p:nvSpPr>
        <p:spPr>
          <a:xfrm>
            <a:off x="502920" y="2962656"/>
            <a:ext cx="10241280" cy="292608"/>
          </a:xfrm>
          <a:prstGeom prst="rect">
            <a:avLst/>
          </a:prstGeom>
          <a:solidFill>
            <a:srgbClr val="F6F5F1"/>
          </a:solidFill>
          <a:ln w="3175">
            <a:solidFill>
              <a:srgbClr val="F1F5F9"/>
            </a:solidFill>
            <a:prstDash val="solid"/>
          </a:ln>
        </p:spPr>
      </p:sp>
      <p:sp>
        <p:nvSpPr>
          <p:cNvPr id="45" name="Text 43"/>
          <p:cNvSpPr/>
          <p:nvPr/>
        </p:nvSpPr>
        <p:spPr>
          <a:xfrm>
            <a:off x="594360" y="2990088"/>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v0 (Vercel)</a:t>
            </a:r>
            <a:endParaRPr lang="en-US" sz="950" dirty="0"/>
          </a:p>
        </p:txBody>
      </p:sp>
      <p:sp>
        <p:nvSpPr>
          <p:cNvPr id="46" name="Text 44"/>
          <p:cNvSpPr/>
          <p:nvPr/>
        </p:nvSpPr>
        <p:spPr>
          <a:xfrm>
            <a:off x="3163824" y="2990088"/>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47" name="Text 45"/>
          <p:cNvSpPr/>
          <p:nvPr/>
        </p:nvSpPr>
        <p:spPr>
          <a:xfrm>
            <a:off x="3986784" y="2990088"/>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8" name="Text 46"/>
          <p:cNvSpPr/>
          <p:nvPr/>
        </p:nvSpPr>
        <p:spPr>
          <a:xfrm>
            <a:off x="4946904" y="2990088"/>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9" name="Text 47"/>
          <p:cNvSpPr/>
          <p:nvPr/>
        </p:nvSpPr>
        <p:spPr>
          <a:xfrm>
            <a:off x="5907024" y="2990088"/>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50" name="Text 48"/>
          <p:cNvSpPr/>
          <p:nvPr/>
        </p:nvSpPr>
        <p:spPr>
          <a:xfrm>
            <a:off x="6775704" y="2990088"/>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51" name="Text 49"/>
          <p:cNvSpPr/>
          <p:nvPr/>
        </p:nvSpPr>
        <p:spPr>
          <a:xfrm>
            <a:off x="7872984" y="2990088"/>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52" name="Text 50"/>
          <p:cNvSpPr/>
          <p:nvPr/>
        </p:nvSpPr>
        <p:spPr>
          <a:xfrm>
            <a:off x="8787384" y="2990088"/>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53" name="Text 51"/>
          <p:cNvSpPr/>
          <p:nvPr/>
        </p:nvSpPr>
        <p:spPr>
          <a:xfrm>
            <a:off x="9884664" y="2990088"/>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$20</a:t>
            </a:r>
            <a:endParaRPr lang="en-US" sz="950" dirty="0"/>
          </a:p>
        </p:txBody>
      </p:sp>
      <p:sp>
        <p:nvSpPr>
          <p:cNvPr id="54" name="Shape 52"/>
          <p:cNvSpPr/>
          <p:nvPr/>
        </p:nvSpPr>
        <p:spPr>
          <a:xfrm>
            <a:off x="502920" y="3255264"/>
            <a:ext cx="10241280" cy="292608"/>
          </a:xfrm>
          <a:prstGeom prst="rect">
            <a:avLst/>
          </a:prstGeom>
          <a:solidFill>
            <a:srgbClr val="FFFFFF"/>
          </a:solidFill>
          <a:ln w="3175">
            <a:solidFill>
              <a:srgbClr val="F1F5F9"/>
            </a:solidFill>
            <a:prstDash val="solid"/>
          </a:ln>
        </p:spPr>
      </p:sp>
      <p:sp>
        <p:nvSpPr>
          <p:cNvPr id="55" name="Text 53"/>
          <p:cNvSpPr/>
          <p:nvPr/>
        </p:nvSpPr>
        <p:spPr>
          <a:xfrm>
            <a:off x="594360" y="3282696"/>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Replit Agent</a:t>
            </a:r>
            <a:endParaRPr lang="en-US" sz="950" dirty="0"/>
          </a:p>
        </p:txBody>
      </p:sp>
      <p:sp>
        <p:nvSpPr>
          <p:cNvPr id="56" name="Text 54"/>
          <p:cNvSpPr/>
          <p:nvPr/>
        </p:nvSpPr>
        <p:spPr>
          <a:xfrm>
            <a:off x="3163824" y="3282696"/>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57" name="Text 55"/>
          <p:cNvSpPr/>
          <p:nvPr/>
        </p:nvSpPr>
        <p:spPr>
          <a:xfrm>
            <a:off x="3986784" y="3282696"/>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58" name="Text 56"/>
          <p:cNvSpPr/>
          <p:nvPr/>
        </p:nvSpPr>
        <p:spPr>
          <a:xfrm>
            <a:off x="4946904" y="3282696"/>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59" name="Text 57"/>
          <p:cNvSpPr/>
          <p:nvPr/>
        </p:nvSpPr>
        <p:spPr>
          <a:xfrm>
            <a:off x="5907024" y="3282696"/>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60" name="Text 58"/>
          <p:cNvSpPr/>
          <p:nvPr/>
        </p:nvSpPr>
        <p:spPr>
          <a:xfrm>
            <a:off x="6775704" y="3282696"/>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61" name="Text 59"/>
          <p:cNvSpPr/>
          <p:nvPr/>
        </p:nvSpPr>
        <p:spPr>
          <a:xfrm>
            <a:off x="7872984" y="3282696"/>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2" name="Text 60"/>
          <p:cNvSpPr/>
          <p:nvPr/>
        </p:nvSpPr>
        <p:spPr>
          <a:xfrm>
            <a:off x="8787384" y="3282696"/>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3" name="Text 61"/>
          <p:cNvSpPr/>
          <p:nvPr/>
        </p:nvSpPr>
        <p:spPr>
          <a:xfrm>
            <a:off x="9884664" y="3282696"/>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$25+</a:t>
            </a:r>
            <a:endParaRPr lang="en-US" sz="950" dirty="0"/>
          </a:p>
        </p:txBody>
      </p:sp>
      <p:sp>
        <p:nvSpPr>
          <p:cNvPr id="64" name="Shape 62"/>
          <p:cNvSpPr/>
          <p:nvPr/>
        </p:nvSpPr>
        <p:spPr>
          <a:xfrm>
            <a:off x="502920" y="3547872"/>
            <a:ext cx="10241280" cy="292608"/>
          </a:xfrm>
          <a:prstGeom prst="rect">
            <a:avLst/>
          </a:prstGeom>
          <a:solidFill>
            <a:srgbClr val="F6F5F1"/>
          </a:solidFill>
          <a:ln w="3175">
            <a:solidFill>
              <a:srgbClr val="F1F5F9"/>
            </a:solidFill>
            <a:prstDash val="solid"/>
          </a:ln>
        </p:spPr>
      </p:sp>
      <p:sp>
        <p:nvSpPr>
          <p:cNvPr id="65" name="Text 63"/>
          <p:cNvSpPr/>
          <p:nvPr/>
        </p:nvSpPr>
        <p:spPr>
          <a:xfrm>
            <a:off x="594360" y="3575304"/>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Pi App Studio</a:t>
            </a:r>
            <a:endParaRPr lang="en-US" sz="950" dirty="0"/>
          </a:p>
        </p:txBody>
      </p:sp>
      <p:sp>
        <p:nvSpPr>
          <p:cNvPr id="66" name="Text 64"/>
          <p:cNvSpPr/>
          <p:nvPr/>
        </p:nvSpPr>
        <p:spPr>
          <a:xfrm>
            <a:off x="3163824" y="3575304"/>
            <a:ext cx="71323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7" name="Text 65"/>
          <p:cNvSpPr/>
          <p:nvPr/>
        </p:nvSpPr>
        <p:spPr>
          <a:xfrm>
            <a:off x="3986784" y="3575304"/>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8" name="Text 66"/>
          <p:cNvSpPr/>
          <p:nvPr/>
        </p:nvSpPr>
        <p:spPr>
          <a:xfrm>
            <a:off x="4946904" y="3575304"/>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9" name="Text 67"/>
          <p:cNvSpPr/>
          <p:nvPr/>
        </p:nvSpPr>
        <p:spPr>
          <a:xfrm>
            <a:off x="5907024" y="3575304"/>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70" name="Text 68"/>
          <p:cNvSpPr/>
          <p:nvPr/>
        </p:nvSpPr>
        <p:spPr>
          <a:xfrm>
            <a:off x="6775704" y="3575304"/>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71" name="Text 69"/>
          <p:cNvSpPr/>
          <p:nvPr/>
        </p:nvSpPr>
        <p:spPr>
          <a:xfrm>
            <a:off x="7872984" y="3575304"/>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2" name="Text 70"/>
          <p:cNvSpPr/>
          <p:nvPr/>
        </p:nvSpPr>
        <p:spPr>
          <a:xfrm>
            <a:off x="8787384" y="3575304"/>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3" name="Text 71"/>
          <p:cNvSpPr/>
          <p:nvPr/>
        </p:nvSpPr>
        <p:spPr>
          <a:xfrm>
            <a:off x="9884664" y="3575304"/>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74" name="Shape 72"/>
          <p:cNvSpPr/>
          <p:nvPr/>
        </p:nvSpPr>
        <p:spPr>
          <a:xfrm>
            <a:off x="502920" y="3840480"/>
            <a:ext cx="10241280" cy="292608"/>
          </a:xfrm>
          <a:prstGeom prst="rect">
            <a:avLst/>
          </a:prstGeom>
          <a:solidFill>
            <a:srgbClr val="FFFFFF"/>
          </a:solidFill>
          <a:ln w="3175">
            <a:solidFill>
              <a:srgbClr val="F1F5F9"/>
            </a:solidFill>
            <a:prstDash val="solid"/>
          </a:ln>
        </p:spPr>
      </p:sp>
      <p:sp>
        <p:nvSpPr>
          <p:cNvPr id="75" name="Text 73"/>
          <p:cNvSpPr/>
          <p:nvPr/>
        </p:nvSpPr>
        <p:spPr>
          <a:xfrm>
            <a:off x="594360" y="3867912"/>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Bubble</a:t>
            </a:r>
            <a:endParaRPr lang="en-US" sz="950" dirty="0"/>
          </a:p>
        </p:txBody>
      </p:sp>
      <p:sp>
        <p:nvSpPr>
          <p:cNvPr id="76" name="Text 74"/>
          <p:cNvSpPr/>
          <p:nvPr/>
        </p:nvSpPr>
        <p:spPr>
          <a:xfrm>
            <a:off x="3163824" y="3867912"/>
            <a:ext cx="71323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7" name="Text 75"/>
          <p:cNvSpPr/>
          <p:nvPr/>
        </p:nvSpPr>
        <p:spPr>
          <a:xfrm>
            <a:off x="3986784" y="3867912"/>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78" name="Text 76"/>
          <p:cNvSpPr/>
          <p:nvPr/>
        </p:nvSpPr>
        <p:spPr>
          <a:xfrm>
            <a:off x="4946904" y="3867912"/>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9" name="Text 77"/>
          <p:cNvSpPr/>
          <p:nvPr/>
        </p:nvSpPr>
        <p:spPr>
          <a:xfrm>
            <a:off x="5907024" y="3867912"/>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High</a:t>
            </a:r>
            <a:endParaRPr lang="en-US" sz="950" dirty="0"/>
          </a:p>
        </p:txBody>
      </p:sp>
      <p:sp>
        <p:nvSpPr>
          <p:cNvPr id="80" name="Text 78"/>
          <p:cNvSpPr/>
          <p:nvPr/>
        </p:nvSpPr>
        <p:spPr>
          <a:xfrm>
            <a:off x="6775704" y="3867912"/>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81" name="Text 79"/>
          <p:cNvSpPr/>
          <p:nvPr/>
        </p:nvSpPr>
        <p:spPr>
          <a:xfrm>
            <a:off x="7872984" y="3867912"/>
            <a:ext cx="80467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82" name="Text 80"/>
          <p:cNvSpPr/>
          <p:nvPr/>
        </p:nvSpPr>
        <p:spPr>
          <a:xfrm>
            <a:off x="8787384" y="386791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83" name="Text 81"/>
          <p:cNvSpPr/>
          <p:nvPr/>
        </p:nvSpPr>
        <p:spPr>
          <a:xfrm>
            <a:off x="9884664" y="3867912"/>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$39+</a:t>
            </a:r>
            <a:endParaRPr lang="en-US" sz="950" dirty="0"/>
          </a:p>
        </p:txBody>
      </p:sp>
      <p:sp>
        <p:nvSpPr>
          <p:cNvPr id="84" name="Shape 82"/>
          <p:cNvSpPr/>
          <p:nvPr/>
        </p:nvSpPr>
        <p:spPr>
          <a:xfrm>
            <a:off x="502920" y="4133088"/>
            <a:ext cx="10241280" cy="292608"/>
          </a:xfrm>
          <a:prstGeom prst="rect">
            <a:avLst/>
          </a:prstGeom>
          <a:solidFill>
            <a:srgbClr val="F6F5F1"/>
          </a:solidFill>
          <a:ln w="3175">
            <a:solidFill>
              <a:srgbClr val="F1F5F9"/>
            </a:solidFill>
            <a:prstDash val="solid"/>
          </a:ln>
        </p:spPr>
      </p:sp>
      <p:sp>
        <p:nvSpPr>
          <p:cNvPr id="85" name="Text 83"/>
          <p:cNvSpPr/>
          <p:nvPr/>
        </p:nvSpPr>
        <p:spPr>
          <a:xfrm>
            <a:off x="594360" y="4160520"/>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Vercel</a:t>
            </a:r>
            <a:endParaRPr lang="en-US" sz="950" dirty="0"/>
          </a:p>
        </p:txBody>
      </p:sp>
      <p:sp>
        <p:nvSpPr>
          <p:cNvPr id="86" name="Text 84"/>
          <p:cNvSpPr/>
          <p:nvPr/>
        </p:nvSpPr>
        <p:spPr>
          <a:xfrm>
            <a:off x="3163824" y="4160520"/>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87" name="Text 85"/>
          <p:cNvSpPr/>
          <p:nvPr/>
        </p:nvSpPr>
        <p:spPr>
          <a:xfrm>
            <a:off x="3986784" y="4160520"/>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88" name="Text 86"/>
          <p:cNvSpPr/>
          <p:nvPr/>
        </p:nvSpPr>
        <p:spPr>
          <a:xfrm>
            <a:off x="4946904" y="4160520"/>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89" name="Text 87"/>
          <p:cNvSpPr/>
          <p:nvPr/>
        </p:nvSpPr>
        <p:spPr>
          <a:xfrm>
            <a:off x="5907024" y="4160520"/>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90" name="Text 88"/>
          <p:cNvSpPr/>
          <p:nvPr/>
        </p:nvSpPr>
        <p:spPr>
          <a:xfrm>
            <a:off x="6775704" y="416052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1" name="Text 89"/>
          <p:cNvSpPr/>
          <p:nvPr/>
        </p:nvSpPr>
        <p:spPr>
          <a:xfrm>
            <a:off x="7872984" y="4160520"/>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2" name="Text 90"/>
          <p:cNvSpPr/>
          <p:nvPr/>
        </p:nvSpPr>
        <p:spPr>
          <a:xfrm>
            <a:off x="8787384" y="416052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3" name="Text 91"/>
          <p:cNvSpPr/>
          <p:nvPr/>
        </p:nvSpPr>
        <p:spPr>
          <a:xfrm>
            <a:off x="9884664" y="4160520"/>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94" name="Shape 92"/>
          <p:cNvSpPr/>
          <p:nvPr/>
        </p:nvSpPr>
        <p:spPr>
          <a:xfrm>
            <a:off x="502920" y="4425696"/>
            <a:ext cx="10241280" cy="292608"/>
          </a:xfrm>
          <a:prstGeom prst="rect">
            <a:avLst/>
          </a:prstGeom>
          <a:solidFill>
            <a:srgbClr val="FFFFFF"/>
          </a:solidFill>
          <a:ln w="3175">
            <a:solidFill>
              <a:srgbClr val="F1F5F9"/>
            </a:solidFill>
            <a:prstDash val="solid"/>
          </a:ln>
        </p:spPr>
      </p:sp>
      <p:sp>
        <p:nvSpPr>
          <p:cNvPr id="95" name="Text 93"/>
          <p:cNvSpPr/>
          <p:nvPr/>
        </p:nvSpPr>
        <p:spPr>
          <a:xfrm>
            <a:off x="594360" y="4453128"/>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Render / Railway</a:t>
            </a:r>
            <a:endParaRPr lang="en-US" sz="950" dirty="0"/>
          </a:p>
        </p:txBody>
      </p:sp>
      <p:sp>
        <p:nvSpPr>
          <p:cNvPr id="96" name="Text 94"/>
          <p:cNvSpPr/>
          <p:nvPr/>
        </p:nvSpPr>
        <p:spPr>
          <a:xfrm>
            <a:off x="3163824" y="4453128"/>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97" name="Text 95"/>
          <p:cNvSpPr/>
          <p:nvPr/>
        </p:nvSpPr>
        <p:spPr>
          <a:xfrm>
            <a:off x="3986784" y="4453128"/>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8" name="Text 96"/>
          <p:cNvSpPr/>
          <p:nvPr/>
        </p:nvSpPr>
        <p:spPr>
          <a:xfrm>
            <a:off x="4946904" y="4453128"/>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99" name="Text 97"/>
          <p:cNvSpPr/>
          <p:nvPr/>
        </p:nvSpPr>
        <p:spPr>
          <a:xfrm>
            <a:off x="5907024" y="4453128"/>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00" name="Text 98"/>
          <p:cNvSpPr/>
          <p:nvPr/>
        </p:nvSpPr>
        <p:spPr>
          <a:xfrm>
            <a:off x="6775704" y="4453128"/>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1" name="Text 99"/>
          <p:cNvSpPr/>
          <p:nvPr/>
        </p:nvSpPr>
        <p:spPr>
          <a:xfrm>
            <a:off x="7872984" y="4453128"/>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2" name="Text 100"/>
          <p:cNvSpPr/>
          <p:nvPr/>
        </p:nvSpPr>
        <p:spPr>
          <a:xfrm>
            <a:off x="8787384" y="4453128"/>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3" name="Text 101"/>
          <p:cNvSpPr/>
          <p:nvPr/>
        </p:nvSpPr>
        <p:spPr>
          <a:xfrm>
            <a:off x="9884664" y="4453128"/>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£5+</a:t>
            </a:r>
            <a:endParaRPr lang="en-US" sz="950" dirty="0"/>
          </a:p>
        </p:txBody>
      </p:sp>
      <p:sp>
        <p:nvSpPr>
          <p:cNvPr id="104" name="Shape 102"/>
          <p:cNvSpPr/>
          <p:nvPr/>
        </p:nvSpPr>
        <p:spPr>
          <a:xfrm>
            <a:off x="502920" y="4718304"/>
            <a:ext cx="10241280" cy="292608"/>
          </a:xfrm>
          <a:prstGeom prst="rect">
            <a:avLst/>
          </a:prstGeom>
          <a:solidFill>
            <a:srgbClr val="F6F5F1"/>
          </a:solidFill>
          <a:ln w="3175">
            <a:solidFill>
              <a:srgbClr val="F1F5F9"/>
            </a:solidFill>
            <a:prstDash val="solid"/>
          </a:ln>
        </p:spPr>
      </p:sp>
      <p:sp>
        <p:nvSpPr>
          <p:cNvPr id="105" name="Text 103"/>
          <p:cNvSpPr/>
          <p:nvPr/>
        </p:nvSpPr>
        <p:spPr>
          <a:xfrm>
            <a:off x="594360" y="4745736"/>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Fly.io</a:t>
            </a:r>
            <a:endParaRPr lang="en-US" sz="950" dirty="0"/>
          </a:p>
        </p:txBody>
      </p:sp>
      <p:sp>
        <p:nvSpPr>
          <p:cNvPr id="106" name="Text 104"/>
          <p:cNvSpPr/>
          <p:nvPr/>
        </p:nvSpPr>
        <p:spPr>
          <a:xfrm>
            <a:off x="3163824" y="4745736"/>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07" name="Text 105"/>
          <p:cNvSpPr/>
          <p:nvPr/>
        </p:nvSpPr>
        <p:spPr>
          <a:xfrm>
            <a:off x="3986784" y="4745736"/>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8" name="Text 106"/>
          <p:cNvSpPr/>
          <p:nvPr/>
        </p:nvSpPr>
        <p:spPr>
          <a:xfrm>
            <a:off x="4946904" y="4745736"/>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09" name="Text 107"/>
          <p:cNvSpPr/>
          <p:nvPr/>
        </p:nvSpPr>
        <p:spPr>
          <a:xfrm>
            <a:off x="5907024" y="4745736"/>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10" name="Text 108"/>
          <p:cNvSpPr/>
          <p:nvPr/>
        </p:nvSpPr>
        <p:spPr>
          <a:xfrm>
            <a:off x="6775704" y="4745736"/>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1" name="Text 109"/>
          <p:cNvSpPr/>
          <p:nvPr/>
        </p:nvSpPr>
        <p:spPr>
          <a:xfrm>
            <a:off x="7872984" y="4745736"/>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2" name="Text 110"/>
          <p:cNvSpPr/>
          <p:nvPr/>
        </p:nvSpPr>
        <p:spPr>
          <a:xfrm>
            <a:off x="8787384" y="4745736"/>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3" name="Text 111"/>
          <p:cNvSpPr/>
          <p:nvPr/>
        </p:nvSpPr>
        <p:spPr>
          <a:xfrm>
            <a:off x="9884664" y="4745736"/>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14" name="Shape 112"/>
          <p:cNvSpPr/>
          <p:nvPr/>
        </p:nvSpPr>
        <p:spPr>
          <a:xfrm>
            <a:off x="502920" y="5010912"/>
            <a:ext cx="10241280" cy="292608"/>
          </a:xfrm>
          <a:prstGeom prst="rect">
            <a:avLst/>
          </a:prstGeom>
          <a:solidFill>
            <a:srgbClr val="FFFFFF"/>
          </a:solidFill>
          <a:ln w="3175">
            <a:solidFill>
              <a:srgbClr val="F1F5F9"/>
            </a:solidFill>
            <a:prstDash val="solid"/>
          </a:ln>
        </p:spPr>
      </p:sp>
      <p:sp>
        <p:nvSpPr>
          <p:cNvPr id="115" name="Text 113"/>
          <p:cNvSpPr/>
          <p:nvPr/>
        </p:nvSpPr>
        <p:spPr>
          <a:xfrm>
            <a:off x="594360" y="5038344"/>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Heroku</a:t>
            </a:r>
            <a:endParaRPr lang="en-US" sz="950" dirty="0"/>
          </a:p>
        </p:txBody>
      </p:sp>
      <p:sp>
        <p:nvSpPr>
          <p:cNvPr id="116" name="Text 114"/>
          <p:cNvSpPr/>
          <p:nvPr/>
        </p:nvSpPr>
        <p:spPr>
          <a:xfrm>
            <a:off x="3163824" y="5038344"/>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17" name="Text 115"/>
          <p:cNvSpPr/>
          <p:nvPr/>
        </p:nvSpPr>
        <p:spPr>
          <a:xfrm>
            <a:off x="3986784" y="5038344"/>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8" name="Text 116"/>
          <p:cNvSpPr/>
          <p:nvPr/>
        </p:nvSpPr>
        <p:spPr>
          <a:xfrm>
            <a:off x="4946904" y="5038344"/>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19" name="Text 117"/>
          <p:cNvSpPr/>
          <p:nvPr/>
        </p:nvSpPr>
        <p:spPr>
          <a:xfrm>
            <a:off x="5907024" y="5038344"/>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20" name="Text 118"/>
          <p:cNvSpPr/>
          <p:nvPr/>
        </p:nvSpPr>
        <p:spPr>
          <a:xfrm>
            <a:off x="6775704" y="5038344"/>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21" name="Text 119"/>
          <p:cNvSpPr/>
          <p:nvPr/>
        </p:nvSpPr>
        <p:spPr>
          <a:xfrm>
            <a:off x="7872984" y="5038344"/>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22" name="Text 120"/>
          <p:cNvSpPr/>
          <p:nvPr/>
        </p:nvSpPr>
        <p:spPr>
          <a:xfrm>
            <a:off x="8787384" y="5038344"/>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23" name="Text 121"/>
          <p:cNvSpPr/>
          <p:nvPr/>
        </p:nvSpPr>
        <p:spPr>
          <a:xfrm>
            <a:off x="9884664" y="5038344"/>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$5+</a:t>
            </a:r>
            <a:endParaRPr lang="en-US" sz="950" dirty="0"/>
          </a:p>
        </p:txBody>
      </p:sp>
      <p:sp>
        <p:nvSpPr>
          <p:cNvPr id="124" name="Shape 122"/>
          <p:cNvSpPr/>
          <p:nvPr/>
        </p:nvSpPr>
        <p:spPr>
          <a:xfrm>
            <a:off x="502920" y="5303520"/>
            <a:ext cx="10241280" cy="292608"/>
          </a:xfrm>
          <a:prstGeom prst="rect">
            <a:avLst/>
          </a:prstGeom>
          <a:solidFill>
            <a:srgbClr val="F6F5F1"/>
          </a:solidFill>
          <a:ln w="3175">
            <a:solidFill>
              <a:srgbClr val="F1F5F9"/>
            </a:solidFill>
            <a:prstDash val="solid"/>
          </a:ln>
        </p:spPr>
      </p:sp>
      <p:sp>
        <p:nvSpPr>
          <p:cNvPr id="125" name="Text 123"/>
          <p:cNvSpPr/>
          <p:nvPr/>
        </p:nvSpPr>
        <p:spPr>
          <a:xfrm>
            <a:off x="594360" y="5330952"/>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Supabase (self-host)</a:t>
            </a:r>
            <a:endParaRPr lang="en-US" sz="950" dirty="0"/>
          </a:p>
        </p:txBody>
      </p:sp>
      <p:sp>
        <p:nvSpPr>
          <p:cNvPr id="126" name="Text 124"/>
          <p:cNvSpPr/>
          <p:nvPr/>
        </p:nvSpPr>
        <p:spPr>
          <a:xfrm>
            <a:off x="3163824" y="5330952"/>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27" name="Text 125"/>
          <p:cNvSpPr/>
          <p:nvPr/>
        </p:nvSpPr>
        <p:spPr>
          <a:xfrm>
            <a:off x="3986784" y="5330952"/>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28" name="Text 126"/>
          <p:cNvSpPr/>
          <p:nvPr/>
        </p:nvSpPr>
        <p:spPr>
          <a:xfrm>
            <a:off x="4946904" y="5330952"/>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29" name="Text 127"/>
          <p:cNvSpPr/>
          <p:nvPr/>
        </p:nvSpPr>
        <p:spPr>
          <a:xfrm>
            <a:off x="5907024" y="5330952"/>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30" name="Text 128"/>
          <p:cNvSpPr/>
          <p:nvPr/>
        </p:nvSpPr>
        <p:spPr>
          <a:xfrm>
            <a:off x="6775704" y="533095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31" name="Text 129"/>
          <p:cNvSpPr/>
          <p:nvPr/>
        </p:nvSpPr>
        <p:spPr>
          <a:xfrm>
            <a:off x="7872984" y="5330952"/>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32" name="Text 130"/>
          <p:cNvSpPr/>
          <p:nvPr/>
        </p:nvSpPr>
        <p:spPr>
          <a:xfrm>
            <a:off x="8787384" y="533095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33" name="Text 131"/>
          <p:cNvSpPr/>
          <p:nvPr/>
        </p:nvSpPr>
        <p:spPr>
          <a:xfrm>
            <a:off x="9884664" y="5330952"/>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$25+</a:t>
            </a:r>
            <a:endParaRPr lang="en-US" sz="950" dirty="0"/>
          </a:p>
        </p:txBody>
      </p:sp>
      <p:sp>
        <p:nvSpPr>
          <p:cNvPr id="134" name="Text 132"/>
          <p:cNvSpPr/>
          <p:nvPr/>
        </p:nvSpPr>
        <p:spPr>
          <a:xfrm>
            <a:off x="502920" y="5705856"/>
            <a:ext cx="10972800" cy="201168"/>
          </a:xfrm>
          <a:prstGeom prst="rect">
            <a:avLst/>
          </a:prstGeom>
          <a:noFill/>
          <a:ln/>
        </p:spPr>
        <p:txBody>
          <a:bodyPr wrap="square" rtlCol="0" anchor="ctr"/>
          <a:lstStyle/>
          <a:p>
            <a:pPr indent="0" marL="0">
              <a:buNone/>
            </a:pPr>
            <a:r>
              <a:rPr lang="en-US" sz="900" b="1" dirty="0">
                <a:solidFill>
                  <a:srgbClr val="3730A3"/>
                </a:solidFill>
                <a:latin typeface="DM Sans" pitchFamily="34" charset="0"/>
                <a:ea typeface="DM Sans" pitchFamily="34" charset="-122"/>
                <a:cs typeface="DM Sans" pitchFamily="34" charset="-120"/>
              </a:rPr>
              <a:t>✓ </a:t>
            </a:r>
            <a:pPr indent="0" marL="0">
              <a:buNone/>
            </a:pPr>
            <a:r>
              <a:rPr lang="en-US" sz="900" dirty="0">
                <a:solidFill>
                  <a:srgbClr val="64748B"/>
                </a:solidFill>
                <a:latin typeface="DM Sans" pitchFamily="34" charset="0"/>
                <a:ea typeface="DM Sans" pitchFamily="34" charset="-122"/>
                <a:cs typeface="DM Sans" pitchFamily="34" charset="-120"/>
              </a:rPr>
              <a:t>full      </a:t>
            </a:r>
            <a:pPr indent="0" marL="0">
              <a:buNone/>
            </a:pPr>
            <a:r>
              <a:rPr lang="en-US" sz="900" b="1" dirty="0">
                <a:solidFill>
                  <a:srgbClr val="B45309"/>
                </a:solidFill>
                <a:latin typeface="DM Sans" pitchFamily="34" charset="0"/>
                <a:ea typeface="DM Sans" pitchFamily="34" charset="-122"/>
                <a:cs typeface="DM Sans" pitchFamily="34" charset="-120"/>
              </a:rPr>
              <a:t>~ </a:t>
            </a:r>
            <a:pPr indent="0" marL="0">
              <a:buNone/>
            </a:pPr>
            <a:r>
              <a:rPr lang="en-US" sz="900" dirty="0">
                <a:solidFill>
                  <a:srgbClr val="64748B"/>
                </a:solidFill>
                <a:latin typeface="DM Sans" pitchFamily="34" charset="0"/>
                <a:ea typeface="DM Sans" pitchFamily="34" charset="-122"/>
                <a:cs typeface="DM Sans" pitchFamily="34" charset="-120"/>
              </a:rPr>
              <a:t>partial      </a:t>
            </a:r>
            <a:pPr indent="0" marL="0">
              <a:buNone/>
            </a:pPr>
            <a:r>
              <a:rPr lang="en-US" sz="900" b="1" dirty="0">
                <a:solidFill>
                  <a:srgbClr val="94A3B8"/>
                </a:solidFill>
                <a:latin typeface="DM Sans" pitchFamily="34" charset="0"/>
                <a:ea typeface="DM Sans" pitchFamily="34" charset="-122"/>
                <a:cs typeface="DM Sans" pitchFamily="34" charset="-120"/>
              </a:rPr>
              <a:t>— </a:t>
            </a:r>
            <a:pPr indent="0" marL="0">
              <a:buNone/>
            </a:pPr>
            <a:r>
              <a:rPr lang="en-US" sz="900" dirty="0">
                <a:solidFill>
                  <a:srgbClr val="64748B"/>
                </a:solidFill>
                <a:latin typeface="DM Sans" pitchFamily="34" charset="0"/>
                <a:ea typeface="DM Sans" pitchFamily="34" charset="-122"/>
                <a:cs typeface="DM Sans" pitchFamily="34" charset="-120"/>
              </a:rPr>
              <a:t>not supported</a:t>
            </a:r>
            <a:endParaRPr lang="en-US" sz="900" dirty="0"/>
          </a:p>
        </p:txBody>
      </p:sp>
      <p:sp>
        <p:nvSpPr>
          <p:cNvPr id="135" name="Text 133"/>
          <p:cNvSpPr/>
          <p:nvPr/>
        </p:nvSpPr>
        <p:spPr>
          <a:xfrm>
            <a:off x="502920" y="5961888"/>
            <a:ext cx="11155680" cy="384048"/>
          </a:xfrm>
          <a:prstGeom prst="rect">
            <a:avLst/>
          </a:prstGeom>
          <a:noFill/>
          <a:ln/>
        </p:spPr>
        <p:txBody>
          <a:bodyPr wrap="square" rtlCol="0" anchor="ctr"/>
          <a:lstStyle/>
          <a:p>
            <a:pPr indent="0" marL="0">
              <a:lnSpc>
                <a:spcPct val="130000"/>
              </a:lnSpc>
              <a:buNone/>
            </a:pPr>
            <a:r>
              <a:rPr lang="en-US" sz="950" i="1" dirty="0">
                <a:solidFill>
                  <a:srgbClr val="334155"/>
                </a:solidFill>
                <a:latin typeface="DM Sans" pitchFamily="34" charset="0"/>
                <a:ea typeface="DM Sans" pitchFamily="34" charset="-122"/>
                <a:cs typeface="DM Sans" pitchFamily="34" charset="-120"/>
              </a:rPr>
              <a:t>Headline: AI builders (top half) own chat-to-prototype but lock you into their runtime. Infra players (bottom half) deploy code but leave plumbing for you. Hatchik sits where both groups stop.</a:t>
            </a:r>
            <a:endParaRPr lang="en-US" sz="950" dirty="0"/>
          </a:p>
        </p:txBody>
      </p:sp>
      <p:sp>
        <p:nvSpPr>
          <p:cNvPr id="136" name="Text 13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137" name="Text 13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24  ·  APPENDIX  ·  AI-LAB DISRUPTION RISK</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What if Anthropic / OpenAI / Cursor ship their own stack?</a:t>
            </a:r>
            <a:endParaRPr lang="en-US" sz="3000" dirty="0"/>
          </a:p>
        </p:txBody>
      </p:sp>
      <p:sp>
        <p:nvSpPr>
          <p:cNvPr id="4" name="Text 2"/>
          <p:cNvSpPr/>
          <p:nvPr/>
        </p:nvSpPr>
        <p:spPr>
          <a:xfrm>
            <a:off x="502920" y="1417320"/>
            <a:ext cx="11155680" cy="6400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The biggest single risk to Hatchik. Mapped honestly: who could ship it, when, what we lose, and how we defend.</a:t>
            </a:r>
            <a:endParaRPr lang="en-US" sz="1400" dirty="0"/>
          </a:p>
        </p:txBody>
      </p:sp>
      <p:sp>
        <p:nvSpPr>
          <p:cNvPr id="5" name="Shape 3"/>
          <p:cNvSpPr/>
          <p:nvPr/>
        </p:nvSpPr>
        <p:spPr>
          <a:xfrm>
            <a:off x="502920" y="2194560"/>
            <a:ext cx="3611880" cy="2011680"/>
          </a:xfrm>
          <a:prstGeom prst="roundRect">
            <a:avLst>
              <a:gd name="adj" fmla="val 3636"/>
            </a:avLst>
          </a:prstGeom>
          <a:solidFill>
            <a:srgbClr val="FEF2F2"/>
          </a:solidFill>
          <a:ln w="9525">
            <a:solidFill>
              <a:srgbClr val="FCA5A5"/>
            </a:solidFill>
            <a:prstDash val="solid"/>
          </a:ln>
        </p:spPr>
      </p:sp>
      <p:sp>
        <p:nvSpPr>
          <p:cNvPr id="6" name="Text 4"/>
          <p:cNvSpPr/>
          <p:nvPr/>
        </p:nvSpPr>
        <p:spPr>
          <a:xfrm>
            <a:off x="777240" y="2377440"/>
            <a:ext cx="3154680" cy="320040"/>
          </a:xfrm>
          <a:prstGeom prst="rect">
            <a:avLst/>
          </a:prstGeom>
          <a:noFill/>
          <a:ln/>
        </p:spPr>
        <p:txBody>
          <a:bodyPr wrap="square" rtlCol="0" anchor="ctr"/>
          <a:lstStyle/>
          <a:p>
            <a:pPr indent="0" marL="0">
              <a:buNone/>
            </a:pPr>
            <a:r>
              <a:rPr lang="en-US" sz="1400" b="1" dirty="0">
                <a:solidFill>
                  <a:srgbClr val="991B1B"/>
                </a:solidFill>
                <a:latin typeface="DM Sans" pitchFamily="34" charset="0"/>
                <a:ea typeface="DM Sans" pitchFamily="34" charset="-122"/>
                <a:cs typeface="DM Sans" pitchFamily="34" charset="-120"/>
              </a:rPr>
              <a:t>Anthropic</a:t>
            </a:r>
            <a:endParaRPr lang="en-US" sz="1400" dirty="0"/>
          </a:p>
        </p:txBody>
      </p:sp>
      <p:sp>
        <p:nvSpPr>
          <p:cNvPr id="7" name="Text 5"/>
          <p:cNvSpPr/>
          <p:nvPr/>
        </p:nvSpPr>
        <p:spPr>
          <a:xfrm>
            <a:off x="777240" y="2743200"/>
            <a:ext cx="3246120" cy="228600"/>
          </a:xfrm>
          <a:prstGeom prst="rect">
            <a:avLst/>
          </a:prstGeom>
          <a:noFill/>
          <a:ln/>
        </p:spPr>
        <p:txBody>
          <a:bodyPr wrap="square" rtlCol="0" anchor="ctr"/>
          <a:lstStyle/>
          <a:p>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Likelihood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Medium</a:t>
            </a:r>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   Timing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6-18 months</a:t>
            </a:r>
            <a:endParaRPr lang="en-US" sz="800" dirty="0"/>
          </a:p>
        </p:txBody>
      </p:sp>
      <p:sp>
        <p:nvSpPr>
          <p:cNvPr id="8" name="Text 6"/>
          <p:cNvSpPr/>
          <p:nvPr/>
        </p:nvSpPr>
        <p:spPr>
          <a:xfrm>
            <a:off x="777240" y="3017520"/>
            <a:ext cx="3154680" cy="594360"/>
          </a:xfrm>
          <a:prstGeom prst="rect">
            <a:avLst/>
          </a:prstGeom>
          <a:noFill/>
          <a:ln/>
        </p:spPr>
        <p:txBody>
          <a:bodyPr wrap="square" rtlCol="0" anchor="ctr"/>
          <a:lstStyle/>
          <a:p>
            <a:pPr indent="0" marL="0">
              <a:lnSpc>
                <a:spcPct val="135000"/>
              </a:lnSpc>
              <a:buNone/>
            </a:pPr>
            <a:r>
              <a:rPr lang="en-US" sz="1100" b="1" dirty="0">
                <a:solidFill>
                  <a:srgbClr val="0F172A"/>
                </a:solidFill>
                <a:latin typeface="DM Sans" pitchFamily="34" charset="0"/>
                <a:ea typeface="DM Sans" pitchFamily="34" charset="-122"/>
                <a:cs typeface="DM Sans" pitchFamily="34" charset="-120"/>
              </a:rPr>
              <a:t>"Claude Code Cloud" — managed deployment for Claude Code projects</a:t>
            </a:r>
            <a:endParaRPr lang="en-US" sz="1100" dirty="0"/>
          </a:p>
        </p:txBody>
      </p:sp>
      <p:sp>
        <p:nvSpPr>
          <p:cNvPr id="9" name="Text 7"/>
          <p:cNvSpPr/>
          <p:nvPr/>
        </p:nvSpPr>
        <p:spPr>
          <a:xfrm>
            <a:off x="777240" y="3611880"/>
            <a:ext cx="3154680" cy="502920"/>
          </a:xfrm>
          <a:prstGeom prst="rect">
            <a:avLst/>
          </a:prstGeom>
          <a:noFill/>
          <a:ln/>
        </p:spPr>
        <p:txBody>
          <a:bodyPr wrap="square" rtlCol="0" anchor="ctr"/>
          <a:lstStyle/>
          <a:p>
            <a:pPr indent="0" marL="0">
              <a:lnSpc>
                <a:spcPct val="135000"/>
              </a:lnSpc>
              <a:buNone/>
            </a:pPr>
            <a:r>
              <a:rPr lang="en-US" sz="1000" i="1" dirty="0">
                <a:solidFill>
                  <a:srgbClr val="334155"/>
                </a:solidFill>
                <a:latin typeface="DM Sans" pitchFamily="34" charset="0"/>
                <a:ea typeface="DM Sans" pitchFamily="34" charset="-122"/>
                <a:cs typeface="DM Sans" pitchFamily="34" charset="-120"/>
              </a:rPr>
              <a:t>Claude Code already deploys via MCP; one container layer away from owning the runtime.</a:t>
            </a:r>
            <a:endParaRPr lang="en-US" sz="1000" dirty="0"/>
          </a:p>
        </p:txBody>
      </p:sp>
      <p:sp>
        <p:nvSpPr>
          <p:cNvPr id="10" name="Shape 8"/>
          <p:cNvSpPr/>
          <p:nvPr/>
        </p:nvSpPr>
        <p:spPr>
          <a:xfrm>
            <a:off x="4297680" y="2194560"/>
            <a:ext cx="3611880" cy="2011680"/>
          </a:xfrm>
          <a:prstGeom prst="roundRect">
            <a:avLst>
              <a:gd name="adj" fmla="val 3636"/>
            </a:avLst>
          </a:prstGeom>
          <a:solidFill>
            <a:srgbClr val="FEF2F2"/>
          </a:solidFill>
          <a:ln w="9525">
            <a:solidFill>
              <a:srgbClr val="FCA5A5"/>
            </a:solidFill>
            <a:prstDash val="solid"/>
          </a:ln>
        </p:spPr>
      </p:sp>
      <p:sp>
        <p:nvSpPr>
          <p:cNvPr id="11" name="Text 9"/>
          <p:cNvSpPr/>
          <p:nvPr/>
        </p:nvSpPr>
        <p:spPr>
          <a:xfrm>
            <a:off x="4572000" y="2377440"/>
            <a:ext cx="3154680" cy="320040"/>
          </a:xfrm>
          <a:prstGeom prst="rect">
            <a:avLst/>
          </a:prstGeom>
          <a:noFill/>
          <a:ln/>
        </p:spPr>
        <p:txBody>
          <a:bodyPr wrap="square" rtlCol="0" anchor="ctr"/>
          <a:lstStyle/>
          <a:p>
            <a:pPr indent="0" marL="0">
              <a:buNone/>
            </a:pPr>
            <a:r>
              <a:rPr lang="en-US" sz="1400" b="1" dirty="0">
                <a:solidFill>
                  <a:srgbClr val="991B1B"/>
                </a:solidFill>
                <a:latin typeface="DM Sans" pitchFamily="34" charset="0"/>
                <a:ea typeface="DM Sans" pitchFamily="34" charset="-122"/>
                <a:cs typeface="DM Sans" pitchFamily="34" charset="-120"/>
              </a:rPr>
              <a:t>OpenAI / Codex</a:t>
            </a:r>
            <a:endParaRPr lang="en-US" sz="1400" dirty="0"/>
          </a:p>
        </p:txBody>
      </p:sp>
      <p:sp>
        <p:nvSpPr>
          <p:cNvPr id="12" name="Text 10"/>
          <p:cNvSpPr/>
          <p:nvPr/>
        </p:nvSpPr>
        <p:spPr>
          <a:xfrm>
            <a:off x="4572000" y="2743200"/>
            <a:ext cx="3246120" cy="228600"/>
          </a:xfrm>
          <a:prstGeom prst="rect">
            <a:avLst/>
          </a:prstGeom>
          <a:noFill/>
          <a:ln/>
        </p:spPr>
        <p:txBody>
          <a:bodyPr wrap="square" rtlCol="0" anchor="ctr"/>
          <a:lstStyle/>
          <a:p>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Likelihood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Medium-Low</a:t>
            </a:r>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   Timing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12-24 months</a:t>
            </a:r>
            <a:endParaRPr lang="en-US" sz="800" dirty="0"/>
          </a:p>
        </p:txBody>
      </p:sp>
      <p:sp>
        <p:nvSpPr>
          <p:cNvPr id="13" name="Text 11"/>
          <p:cNvSpPr/>
          <p:nvPr/>
        </p:nvSpPr>
        <p:spPr>
          <a:xfrm>
            <a:off x="4572000" y="3017520"/>
            <a:ext cx="3154680" cy="594360"/>
          </a:xfrm>
          <a:prstGeom prst="rect">
            <a:avLst/>
          </a:prstGeom>
          <a:noFill/>
          <a:ln/>
        </p:spPr>
        <p:txBody>
          <a:bodyPr wrap="square" rtlCol="0" anchor="ctr"/>
          <a:lstStyle/>
          <a:p>
            <a:pPr indent="0" marL="0">
              <a:lnSpc>
                <a:spcPct val="135000"/>
              </a:lnSpc>
              <a:buNone/>
            </a:pPr>
            <a:r>
              <a:rPr lang="en-US" sz="1100" b="1" dirty="0">
                <a:solidFill>
                  <a:srgbClr val="0F172A"/>
                </a:solidFill>
                <a:latin typeface="DM Sans" pitchFamily="34" charset="0"/>
                <a:ea typeface="DM Sans" pitchFamily="34" charset="-122"/>
                <a:cs typeface="DM Sans" pitchFamily="34" charset="-120"/>
              </a:rPr>
              <a:t>OpenAI hosted runtime tied to ChatGPT Pro/Team</a:t>
            </a:r>
            <a:endParaRPr lang="en-US" sz="1100" dirty="0"/>
          </a:p>
        </p:txBody>
      </p:sp>
      <p:sp>
        <p:nvSpPr>
          <p:cNvPr id="14" name="Text 12"/>
          <p:cNvSpPr/>
          <p:nvPr/>
        </p:nvSpPr>
        <p:spPr>
          <a:xfrm>
            <a:off x="4572000" y="3611880"/>
            <a:ext cx="3154680" cy="502920"/>
          </a:xfrm>
          <a:prstGeom prst="rect">
            <a:avLst/>
          </a:prstGeom>
          <a:noFill/>
          <a:ln/>
        </p:spPr>
        <p:txBody>
          <a:bodyPr wrap="square" rtlCol="0" anchor="ctr"/>
          <a:lstStyle/>
          <a:p>
            <a:pPr indent="0" marL="0">
              <a:lnSpc>
                <a:spcPct val="135000"/>
              </a:lnSpc>
              <a:buNone/>
            </a:pPr>
            <a:r>
              <a:rPr lang="en-US" sz="1000" i="1" dirty="0">
                <a:solidFill>
                  <a:srgbClr val="334155"/>
                </a:solidFill>
                <a:latin typeface="DM Sans" pitchFamily="34" charset="0"/>
                <a:ea typeface="DM Sans" pitchFamily="34" charset="-122"/>
                <a:cs typeface="DM Sans" pitchFamily="34" charset="-120"/>
              </a:rPr>
              <a:t>OpenAI shifted away from infra towards model-API focus; less likely but possible via partnership.</a:t>
            </a:r>
            <a:endParaRPr lang="en-US" sz="1000" dirty="0"/>
          </a:p>
        </p:txBody>
      </p:sp>
      <p:sp>
        <p:nvSpPr>
          <p:cNvPr id="15" name="Shape 13"/>
          <p:cNvSpPr/>
          <p:nvPr/>
        </p:nvSpPr>
        <p:spPr>
          <a:xfrm>
            <a:off x="8092440" y="2194560"/>
            <a:ext cx="3611880" cy="2011680"/>
          </a:xfrm>
          <a:prstGeom prst="roundRect">
            <a:avLst>
              <a:gd name="adj" fmla="val 3636"/>
            </a:avLst>
          </a:prstGeom>
          <a:solidFill>
            <a:srgbClr val="FEF2F2"/>
          </a:solidFill>
          <a:ln w="9525">
            <a:solidFill>
              <a:srgbClr val="FCA5A5"/>
            </a:solidFill>
            <a:prstDash val="solid"/>
          </a:ln>
        </p:spPr>
      </p:sp>
      <p:sp>
        <p:nvSpPr>
          <p:cNvPr id="16" name="Text 14"/>
          <p:cNvSpPr/>
          <p:nvPr/>
        </p:nvSpPr>
        <p:spPr>
          <a:xfrm>
            <a:off x="8366760" y="2377440"/>
            <a:ext cx="3154680" cy="320040"/>
          </a:xfrm>
          <a:prstGeom prst="rect">
            <a:avLst/>
          </a:prstGeom>
          <a:noFill/>
          <a:ln/>
        </p:spPr>
        <p:txBody>
          <a:bodyPr wrap="square" rtlCol="0" anchor="ctr"/>
          <a:lstStyle/>
          <a:p>
            <a:pPr indent="0" marL="0">
              <a:buNone/>
            </a:pPr>
            <a:r>
              <a:rPr lang="en-US" sz="1400" b="1" dirty="0">
                <a:solidFill>
                  <a:srgbClr val="991B1B"/>
                </a:solidFill>
                <a:latin typeface="DM Sans" pitchFamily="34" charset="0"/>
                <a:ea typeface="DM Sans" pitchFamily="34" charset="-122"/>
                <a:cs typeface="DM Sans" pitchFamily="34" charset="-120"/>
              </a:rPr>
              <a:t>Cursor / Windsurf</a:t>
            </a:r>
            <a:endParaRPr lang="en-US" sz="1400" dirty="0"/>
          </a:p>
        </p:txBody>
      </p:sp>
      <p:sp>
        <p:nvSpPr>
          <p:cNvPr id="17" name="Text 15"/>
          <p:cNvSpPr/>
          <p:nvPr/>
        </p:nvSpPr>
        <p:spPr>
          <a:xfrm>
            <a:off x="8366760" y="2743200"/>
            <a:ext cx="3246120" cy="228600"/>
          </a:xfrm>
          <a:prstGeom prst="rect">
            <a:avLst/>
          </a:prstGeom>
          <a:noFill/>
          <a:ln/>
        </p:spPr>
        <p:txBody>
          <a:bodyPr wrap="square" rtlCol="0" anchor="ctr"/>
          <a:lstStyle/>
          <a:p>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Likelihood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High</a:t>
            </a:r>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   Timing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6-12 months</a:t>
            </a:r>
            <a:endParaRPr lang="en-US" sz="800" dirty="0"/>
          </a:p>
        </p:txBody>
      </p:sp>
      <p:sp>
        <p:nvSpPr>
          <p:cNvPr id="18" name="Text 16"/>
          <p:cNvSpPr/>
          <p:nvPr/>
        </p:nvSpPr>
        <p:spPr>
          <a:xfrm>
            <a:off x="8366760" y="3017520"/>
            <a:ext cx="3154680" cy="594360"/>
          </a:xfrm>
          <a:prstGeom prst="rect">
            <a:avLst/>
          </a:prstGeom>
          <a:noFill/>
          <a:ln/>
        </p:spPr>
        <p:txBody>
          <a:bodyPr wrap="square" rtlCol="0" anchor="ctr"/>
          <a:lstStyle/>
          <a:p>
            <a:pPr indent="0" marL="0">
              <a:lnSpc>
                <a:spcPct val="135000"/>
              </a:lnSpc>
              <a:buNone/>
            </a:pPr>
            <a:r>
              <a:rPr lang="en-US" sz="1100" b="1" dirty="0">
                <a:solidFill>
                  <a:srgbClr val="0F172A"/>
                </a:solidFill>
                <a:latin typeface="DM Sans" pitchFamily="34" charset="0"/>
                <a:ea typeface="DM Sans" pitchFamily="34" charset="-122"/>
                <a:cs typeface="DM Sans" pitchFamily="34" charset="-120"/>
              </a:rPr>
              <a:t>Cloud preview deploys (already exists for static); extend to full SaaS</a:t>
            </a:r>
            <a:endParaRPr lang="en-US" sz="1100" dirty="0"/>
          </a:p>
        </p:txBody>
      </p:sp>
      <p:sp>
        <p:nvSpPr>
          <p:cNvPr id="19" name="Text 17"/>
          <p:cNvSpPr/>
          <p:nvPr/>
        </p:nvSpPr>
        <p:spPr>
          <a:xfrm>
            <a:off x="8366760" y="3611880"/>
            <a:ext cx="3154680" cy="502920"/>
          </a:xfrm>
          <a:prstGeom prst="rect">
            <a:avLst/>
          </a:prstGeom>
          <a:noFill/>
          <a:ln/>
        </p:spPr>
        <p:txBody>
          <a:bodyPr wrap="square" rtlCol="0" anchor="ctr"/>
          <a:lstStyle/>
          <a:p>
            <a:pPr indent="0" marL="0">
              <a:lnSpc>
                <a:spcPct val="135000"/>
              </a:lnSpc>
              <a:buNone/>
            </a:pPr>
            <a:r>
              <a:rPr lang="en-US" sz="1000" i="1" dirty="0">
                <a:solidFill>
                  <a:srgbClr val="334155"/>
                </a:solidFill>
                <a:latin typeface="DM Sans" pitchFamily="34" charset="0"/>
                <a:ea typeface="DM Sans" pitchFamily="34" charset="-122"/>
                <a:cs typeface="DM Sans" pitchFamily="34" charset="-120"/>
              </a:rPr>
              <a:t>Both IDEs already have lightweight cloud preview. Substrate-grade is the next step.</a:t>
            </a:r>
            <a:endParaRPr lang="en-US" sz="1000" dirty="0"/>
          </a:p>
        </p:txBody>
      </p:sp>
      <p:sp>
        <p:nvSpPr>
          <p:cNvPr id="20" name="Shape 18"/>
          <p:cNvSpPr/>
          <p:nvPr/>
        </p:nvSpPr>
        <p:spPr>
          <a:xfrm>
            <a:off x="502920" y="4434840"/>
            <a:ext cx="11155680" cy="1828800"/>
          </a:xfrm>
          <a:prstGeom prst="roundRect">
            <a:avLst>
              <a:gd name="adj" fmla="val 5000"/>
            </a:avLst>
          </a:prstGeom>
          <a:solidFill>
            <a:srgbClr val="0F172A"/>
          </a:solidFill>
          <a:ln w="12700">
            <a:solidFill>
              <a:srgbClr val="0F172A"/>
            </a:solidFill>
            <a:prstDash val="solid"/>
          </a:ln>
        </p:spPr>
      </p:sp>
      <p:sp>
        <p:nvSpPr>
          <p:cNvPr id="21" name="Text 19"/>
          <p:cNvSpPr/>
          <p:nvPr/>
        </p:nvSpPr>
        <p:spPr>
          <a:xfrm>
            <a:off x="868680" y="4617720"/>
            <a:ext cx="10424160"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FOUR-PART MITIGATION STRATEGY</a:t>
            </a:r>
            <a:endParaRPr lang="en-US" sz="900" dirty="0"/>
          </a:p>
        </p:txBody>
      </p:sp>
      <p:sp>
        <p:nvSpPr>
          <p:cNvPr id="22" name="Text 20"/>
          <p:cNvSpPr/>
          <p:nvPr/>
        </p:nvSpPr>
        <p:spPr>
          <a:xfrm>
            <a:off x="86868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EARLY MARKET-SHARE</a:t>
            </a:r>
            <a:endParaRPr lang="en-US" sz="850" dirty="0"/>
          </a:p>
        </p:txBody>
      </p:sp>
      <p:sp>
        <p:nvSpPr>
          <p:cNvPr id="23" name="Text 21"/>
          <p:cNvSpPr/>
          <p:nvPr/>
        </p:nvSpPr>
        <p:spPr>
          <a:xfrm>
            <a:off x="86868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Sprint cadence captures the first 5-15K customers before any lab ships. First-mover compounds: BYO-AI brand recognition, content moat, distribution.</a:t>
            </a:r>
            <a:endParaRPr lang="en-US" sz="950" dirty="0"/>
          </a:p>
        </p:txBody>
      </p:sp>
      <p:sp>
        <p:nvSpPr>
          <p:cNvPr id="24" name="Text 22"/>
          <p:cNvSpPr/>
          <p:nvPr/>
        </p:nvSpPr>
        <p:spPr>
          <a:xfrm>
            <a:off x="352044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SEAMLESS PRODUCT</a:t>
            </a:r>
            <a:endParaRPr lang="en-US" sz="850" dirty="0"/>
          </a:p>
        </p:txBody>
      </p:sp>
      <p:sp>
        <p:nvSpPr>
          <p:cNvPr id="25" name="Text 23"/>
          <p:cNvSpPr/>
          <p:nvPr/>
        </p:nvSpPr>
        <p:spPr>
          <a:xfrm>
            <a:off x="352044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~60s sandbox, AI_CONTEXT.md handoff, push-to-deploy. The product itself is sticky — labs would have to match UX, not just ship features.</a:t>
            </a:r>
            <a:endParaRPr lang="en-US" sz="950" dirty="0"/>
          </a:p>
        </p:txBody>
      </p:sp>
      <p:sp>
        <p:nvSpPr>
          <p:cNvPr id="26" name="Text 24"/>
          <p:cNvSpPr/>
          <p:nvPr/>
        </p:nvSpPr>
        <p:spPr>
          <a:xfrm>
            <a:off x="617220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BRAND AWARENESS</a:t>
            </a:r>
            <a:endParaRPr lang="en-US" sz="850" dirty="0"/>
          </a:p>
        </p:txBody>
      </p:sp>
      <p:sp>
        <p:nvSpPr>
          <p:cNvPr id="27" name="Text 25"/>
          <p:cNvSpPr/>
          <p:nvPr/>
        </p:nvSpPr>
        <p:spPr>
          <a:xfrm>
            <a:off x="617220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Build "the production substrate" into the AI-tool community vocabulary in months 0-6. When labs decide to enter, they consider acquiring rather than building.</a:t>
            </a:r>
            <a:endParaRPr lang="en-US" sz="950" dirty="0"/>
          </a:p>
        </p:txBody>
      </p:sp>
      <p:sp>
        <p:nvSpPr>
          <p:cNvPr id="28" name="Text 26"/>
          <p:cNvSpPr/>
          <p:nvPr/>
        </p:nvSpPr>
        <p:spPr>
          <a:xfrm>
            <a:off x="882396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BUILT TO ACQUIRE</a:t>
            </a:r>
            <a:endParaRPr lang="en-US" sz="850" dirty="0"/>
          </a:p>
        </p:txBody>
      </p:sp>
      <p:sp>
        <p:nvSpPr>
          <p:cNvPr id="29" name="Text 27"/>
          <p:cNvSpPr/>
          <p:nvPr/>
        </p:nvSpPr>
        <p:spPr>
          <a:xfrm>
            <a:off x="882396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Clean architecture, no platform lock-in, owns no customer-AI relationship. Drop-in for any lab who wants the deployment layer without years of substrate engineering.</a:t>
            </a:r>
            <a:endParaRPr lang="en-US" sz="950" dirty="0"/>
          </a:p>
        </p:txBody>
      </p:sp>
      <p:sp>
        <p:nvSpPr>
          <p:cNvPr id="30" name="Text 28"/>
          <p:cNvSpPr/>
          <p:nvPr/>
        </p:nvSpPr>
        <p:spPr>
          <a:xfrm>
            <a:off x="502920" y="6355080"/>
            <a:ext cx="11155680" cy="228600"/>
          </a:xfrm>
          <a:prstGeom prst="rect">
            <a:avLst/>
          </a:prstGeom>
          <a:noFill/>
          <a:ln/>
        </p:spPr>
        <p:txBody>
          <a:bodyPr wrap="square" rtlCol="0" anchor="ctr"/>
          <a:lstStyle/>
          <a:p>
            <a:pPr algn="ctr" indent="0" marL="0">
              <a:buNone/>
            </a:pPr>
            <a:r>
              <a:rPr lang="en-US" sz="1000" b="1" i="1" dirty="0">
                <a:solidFill>
                  <a:srgbClr val="B45309"/>
                </a:solidFill>
                <a:latin typeface="DM Sans" pitchFamily="34" charset="0"/>
                <a:ea typeface="DM Sans" pitchFamily="34" charset="-122"/>
                <a:cs typeface="DM Sans" pitchFamily="34" charset="-120"/>
              </a:rPr>
              <a:t>Bottom line: if a lab enters in months 6-12, the most likely outcome is an acquisition conversation, not extinction.</a:t>
            </a:r>
            <a:endParaRPr lang="en-US" sz="1000" dirty="0"/>
          </a:p>
        </p:txBody>
      </p:sp>
      <p:sp>
        <p:nvSpPr>
          <p:cNvPr id="31" name="Text 29"/>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2" name="Text 30"/>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25  ·  APPENDIX  ·  FULL RISKS REGISTER</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Six risks. Stated honestly. Mitigations ready.</a:t>
            </a:r>
            <a:endParaRPr lang="en-US" sz="3000" dirty="0"/>
          </a:p>
        </p:txBody>
      </p:sp>
      <p:sp>
        <p:nvSpPr>
          <p:cNvPr id="4" name="Shape 2"/>
          <p:cNvSpPr/>
          <p:nvPr/>
        </p:nvSpPr>
        <p:spPr>
          <a:xfrm>
            <a:off x="502920" y="1874520"/>
            <a:ext cx="11155680" cy="676656"/>
          </a:xfrm>
          <a:prstGeom prst="roundRect">
            <a:avLst>
              <a:gd name="adj" fmla="val 10811"/>
            </a:avLst>
          </a:prstGeom>
          <a:solidFill>
            <a:srgbClr val="FFFFFF"/>
          </a:solidFill>
          <a:ln w="9525">
            <a:solidFill>
              <a:srgbClr val="E2E8F0"/>
            </a:solidFill>
            <a:prstDash val="solid"/>
          </a:ln>
        </p:spPr>
      </p:sp>
      <p:sp>
        <p:nvSpPr>
          <p:cNvPr id="5" name="Shape 3"/>
          <p:cNvSpPr/>
          <p:nvPr/>
        </p:nvSpPr>
        <p:spPr>
          <a:xfrm>
            <a:off x="685800" y="1993392"/>
            <a:ext cx="548640" cy="438912"/>
          </a:xfrm>
          <a:prstGeom prst="roundRect">
            <a:avLst>
              <a:gd name="adj" fmla="val 8333"/>
            </a:avLst>
          </a:prstGeom>
          <a:solidFill>
            <a:srgbClr val="FEF2F2"/>
          </a:solidFill>
          <a:ln w="6350">
            <a:solidFill>
              <a:srgbClr val="991B1B"/>
            </a:solidFill>
            <a:prstDash val="solid"/>
          </a:ln>
        </p:spPr>
      </p:sp>
      <p:sp>
        <p:nvSpPr>
          <p:cNvPr id="6" name="Text 4"/>
          <p:cNvSpPr/>
          <p:nvPr/>
        </p:nvSpPr>
        <p:spPr>
          <a:xfrm>
            <a:off x="685800" y="1993392"/>
            <a:ext cx="548640" cy="438912"/>
          </a:xfrm>
          <a:prstGeom prst="rect">
            <a:avLst/>
          </a:prstGeom>
          <a:noFill/>
          <a:ln/>
        </p:spPr>
        <p:txBody>
          <a:bodyPr wrap="square" rtlCol="0" anchor="ctr"/>
          <a:lstStyle/>
          <a:p>
            <a:pPr algn="ctr" indent="0" marL="0">
              <a:buNone/>
            </a:pPr>
            <a:r>
              <a:rPr lang="en-US" sz="800" b="1" spc="200" kern="0" dirty="0">
                <a:solidFill>
                  <a:srgbClr val="991B1B"/>
                </a:solidFill>
                <a:latin typeface="JetBrains Mono" pitchFamily="34" charset="0"/>
                <a:ea typeface="JetBrains Mono" pitchFamily="34" charset="-122"/>
                <a:cs typeface="JetBrains Mono" pitchFamily="34" charset="-120"/>
              </a:rPr>
              <a:t>HIGH</a:t>
            </a:r>
            <a:endParaRPr lang="en-US" sz="800" dirty="0"/>
          </a:p>
        </p:txBody>
      </p:sp>
      <p:sp>
        <p:nvSpPr>
          <p:cNvPr id="7" name="Text 5"/>
          <p:cNvSpPr/>
          <p:nvPr/>
        </p:nvSpPr>
        <p:spPr>
          <a:xfrm>
            <a:off x="1371600" y="1965960"/>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01</a:t>
            </a:r>
            <a:endParaRPr lang="en-US" sz="1400" dirty="0"/>
          </a:p>
        </p:txBody>
      </p:sp>
      <p:sp>
        <p:nvSpPr>
          <p:cNvPr id="8" name="Text 6"/>
          <p:cNvSpPr/>
          <p:nvPr/>
        </p:nvSpPr>
        <p:spPr>
          <a:xfrm>
            <a:off x="1783080" y="1929384"/>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Big-lab disruption (Anthropic / Cursor / OpenAI)</a:t>
            </a:r>
            <a:endParaRPr lang="en-US" sz="1150" dirty="0"/>
          </a:p>
        </p:txBody>
      </p:sp>
      <p:sp>
        <p:nvSpPr>
          <p:cNvPr id="9" name="Text 7"/>
          <p:cNvSpPr/>
          <p:nvPr/>
        </p:nvSpPr>
        <p:spPr>
          <a:xfrm>
            <a:off x="1783080" y="2221992"/>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Major AI lab launches managed deployment in 6-18 months — wedge closes.</a:t>
            </a:r>
            <a:endParaRPr lang="en-US" sz="950" dirty="0"/>
          </a:p>
        </p:txBody>
      </p:sp>
      <p:sp>
        <p:nvSpPr>
          <p:cNvPr id="10" name="Shape 8"/>
          <p:cNvSpPr/>
          <p:nvPr/>
        </p:nvSpPr>
        <p:spPr>
          <a:xfrm>
            <a:off x="6720840" y="1965960"/>
            <a:ext cx="9144" cy="493776"/>
          </a:xfrm>
          <a:prstGeom prst="rect">
            <a:avLst/>
          </a:prstGeom>
          <a:solidFill>
            <a:srgbClr val="E2E8F0"/>
          </a:solidFill>
          <a:ln w="12700">
            <a:solidFill>
              <a:srgbClr val="333333"/>
            </a:solidFill>
            <a:prstDash val="solid"/>
          </a:ln>
        </p:spPr>
      </p:sp>
      <p:sp>
        <p:nvSpPr>
          <p:cNvPr id="11" name="Text 9"/>
          <p:cNvSpPr/>
          <p:nvPr/>
        </p:nvSpPr>
        <p:spPr>
          <a:xfrm>
            <a:off x="6858000" y="1965960"/>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12" name="Text 10"/>
          <p:cNvSpPr/>
          <p:nvPr/>
        </p:nvSpPr>
        <p:spPr>
          <a:xfrm>
            <a:off x="6858000" y="2148840"/>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Early share capture, brand vocabulary, acquirable architecture (see appendix 24). Partnership outreach months 0-4.</a:t>
            </a:r>
            <a:endParaRPr lang="en-US" sz="950" dirty="0"/>
          </a:p>
        </p:txBody>
      </p:sp>
      <p:sp>
        <p:nvSpPr>
          <p:cNvPr id="13" name="Shape 11"/>
          <p:cNvSpPr/>
          <p:nvPr/>
        </p:nvSpPr>
        <p:spPr>
          <a:xfrm>
            <a:off x="502920" y="2596896"/>
            <a:ext cx="11155680" cy="676656"/>
          </a:xfrm>
          <a:prstGeom prst="roundRect">
            <a:avLst>
              <a:gd name="adj" fmla="val 10811"/>
            </a:avLst>
          </a:prstGeom>
          <a:solidFill>
            <a:srgbClr val="FFFFFF"/>
          </a:solidFill>
          <a:ln w="9525">
            <a:solidFill>
              <a:srgbClr val="E2E8F0"/>
            </a:solidFill>
            <a:prstDash val="solid"/>
          </a:ln>
        </p:spPr>
      </p:sp>
      <p:sp>
        <p:nvSpPr>
          <p:cNvPr id="14" name="Shape 12"/>
          <p:cNvSpPr/>
          <p:nvPr/>
        </p:nvSpPr>
        <p:spPr>
          <a:xfrm>
            <a:off x="685800" y="2715768"/>
            <a:ext cx="548640" cy="438912"/>
          </a:xfrm>
          <a:prstGeom prst="roundRect">
            <a:avLst>
              <a:gd name="adj" fmla="val 8333"/>
            </a:avLst>
          </a:prstGeom>
          <a:solidFill>
            <a:srgbClr val="FEF3C7"/>
          </a:solidFill>
          <a:ln w="6350">
            <a:solidFill>
              <a:srgbClr val="B45309"/>
            </a:solidFill>
            <a:prstDash val="solid"/>
          </a:ln>
        </p:spPr>
      </p:sp>
      <p:sp>
        <p:nvSpPr>
          <p:cNvPr id="15" name="Text 13"/>
          <p:cNvSpPr/>
          <p:nvPr/>
        </p:nvSpPr>
        <p:spPr>
          <a:xfrm>
            <a:off x="685800" y="2715768"/>
            <a:ext cx="548640" cy="438912"/>
          </a:xfrm>
          <a:prstGeom prst="rect">
            <a:avLst/>
          </a:prstGeom>
          <a:noFill/>
          <a:ln/>
        </p:spPr>
        <p:txBody>
          <a:bodyPr wrap="square" rtlCol="0" anchor="ctr"/>
          <a:lstStyle/>
          <a:p>
            <a:pPr algn="ctr" indent="0" marL="0">
              <a:buNone/>
            </a:pPr>
            <a:r>
              <a:rPr lang="en-US" sz="800" b="1" spc="200" kern="0" dirty="0">
                <a:solidFill>
                  <a:srgbClr val="B45309"/>
                </a:solidFill>
                <a:latin typeface="JetBrains Mono" pitchFamily="34" charset="0"/>
                <a:ea typeface="JetBrains Mono" pitchFamily="34" charset="-122"/>
                <a:cs typeface="JetBrains Mono" pitchFamily="34" charset="-120"/>
              </a:rPr>
              <a:t>MED</a:t>
            </a:r>
            <a:endParaRPr lang="en-US" sz="800" dirty="0"/>
          </a:p>
        </p:txBody>
      </p:sp>
      <p:sp>
        <p:nvSpPr>
          <p:cNvPr id="16" name="Text 14"/>
          <p:cNvSpPr/>
          <p:nvPr/>
        </p:nvSpPr>
        <p:spPr>
          <a:xfrm>
            <a:off x="1371600" y="2688336"/>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02</a:t>
            </a:r>
            <a:endParaRPr lang="en-US" sz="1400" dirty="0"/>
          </a:p>
        </p:txBody>
      </p:sp>
      <p:sp>
        <p:nvSpPr>
          <p:cNvPr id="17" name="Text 15"/>
          <p:cNvSpPr/>
          <p:nvPr/>
        </p:nvSpPr>
        <p:spPr>
          <a:xfrm>
            <a:off x="1783080" y="2651760"/>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Peak coincidence on shared sandbox host</a:t>
            </a:r>
            <a:endParaRPr lang="en-US" sz="1150" dirty="0"/>
          </a:p>
        </p:txBody>
      </p:sp>
      <p:sp>
        <p:nvSpPr>
          <p:cNvPr id="18" name="Text 16"/>
          <p:cNvSpPr/>
          <p:nvPr/>
        </p:nvSpPr>
        <p:spPr>
          <a:xfrm>
            <a:off x="1783080" y="2944368"/>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&gt;30% of sandboxes warm simultaneously creates RAM/CPU contention on CAX31.</a:t>
            </a:r>
            <a:endParaRPr lang="en-US" sz="950" dirty="0"/>
          </a:p>
        </p:txBody>
      </p:sp>
      <p:sp>
        <p:nvSpPr>
          <p:cNvPr id="19" name="Shape 17"/>
          <p:cNvSpPr/>
          <p:nvPr/>
        </p:nvSpPr>
        <p:spPr>
          <a:xfrm>
            <a:off x="6720840" y="2688336"/>
            <a:ext cx="9144" cy="493776"/>
          </a:xfrm>
          <a:prstGeom prst="rect">
            <a:avLst/>
          </a:prstGeom>
          <a:solidFill>
            <a:srgbClr val="E2E8F0"/>
          </a:solidFill>
          <a:ln w="12700">
            <a:solidFill>
              <a:srgbClr val="333333"/>
            </a:solidFill>
            <a:prstDash val="solid"/>
          </a:ln>
        </p:spPr>
      </p:sp>
      <p:sp>
        <p:nvSpPr>
          <p:cNvPr id="20" name="Text 18"/>
          <p:cNvSpPr/>
          <p:nvPr/>
        </p:nvSpPr>
        <p:spPr>
          <a:xfrm>
            <a:off x="6858000" y="2688336"/>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21" name="Text 19"/>
          <p:cNvSpPr/>
          <p:nvPr/>
        </p:nvSpPr>
        <p:spPr>
          <a:xfrm>
            <a:off x="6858000" y="2871216"/>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Watermark at 35-sandbox-warm-concurrent → auto-provision second CAX31. Cost stays in band (+£11.30/mo).</a:t>
            </a:r>
            <a:endParaRPr lang="en-US" sz="950" dirty="0"/>
          </a:p>
        </p:txBody>
      </p:sp>
      <p:sp>
        <p:nvSpPr>
          <p:cNvPr id="22" name="Shape 20"/>
          <p:cNvSpPr/>
          <p:nvPr/>
        </p:nvSpPr>
        <p:spPr>
          <a:xfrm>
            <a:off x="502920" y="3319272"/>
            <a:ext cx="11155680" cy="676656"/>
          </a:xfrm>
          <a:prstGeom prst="roundRect">
            <a:avLst>
              <a:gd name="adj" fmla="val 10811"/>
            </a:avLst>
          </a:prstGeom>
          <a:solidFill>
            <a:srgbClr val="FFFFFF"/>
          </a:solidFill>
          <a:ln w="9525">
            <a:solidFill>
              <a:srgbClr val="E2E8F0"/>
            </a:solidFill>
            <a:prstDash val="solid"/>
          </a:ln>
        </p:spPr>
      </p:sp>
      <p:sp>
        <p:nvSpPr>
          <p:cNvPr id="23" name="Shape 21"/>
          <p:cNvSpPr/>
          <p:nvPr/>
        </p:nvSpPr>
        <p:spPr>
          <a:xfrm>
            <a:off x="685800" y="3438144"/>
            <a:ext cx="548640" cy="438912"/>
          </a:xfrm>
          <a:prstGeom prst="roundRect">
            <a:avLst>
              <a:gd name="adj" fmla="val 8333"/>
            </a:avLst>
          </a:prstGeom>
          <a:solidFill>
            <a:srgbClr val="EEF2FF"/>
          </a:solidFill>
          <a:ln w="6350">
            <a:solidFill>
              <a:srgbClr val="3730A3"/>
            </a:solidFill>
            <a:prstDash val="solid"/>
          </a:ln>
        </p:spPr>
      </p:sp>
      <p:sp>
        <p:nvSpPr>
          <p:cNvPr id="24" name="Text 22"/>
          <p:cNvSpPr/>
          <p:nvPr/>
        </p:nvSpPr>
        <p:spPr>
          <a:xfrm>
            <a:off x="685800" y="3438144"/>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25" name="Text 23"/>
          <p:cNvSpPr/>
          <p:nvPr/>
        </p:nvSpPr>
        <p:spPr>
          <a:xfrm>
            <a:off x="1371600" y="3410712"/>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03</a:t>
            </a:r>
            <a:endParaRPr lang="en-US" sz="1400" dirty="0"/>
          </a:p>
        </p:txBody>
      </p:sp>
      <p:sp>
        <p:nvSpPr>
          <p:cNvPr id="26" name="Text 24"/>
          <p:cNvSpPr/>
          <p:nvPr/>
        </p:nvSpPr>
        <p:spPr>
          <a:xfrm>
            <a:off x="1783080" y="3374136"/>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Wake latency on idle-suspended sandboxes</a:t>
            </a:r>
            <a:endParaRPr lang="en-US" sz="1150" dirty="0"/>
          </a:p>
        </p:txBody>
      </p:sp>
      <p:sp>
        <p:nvSpPr>
          <p:cNvPr id="27" name="Text 25"/>
          <p:cNvSpPr/>
          <p:nvPr/>
        </p:nvSpPr>
        <p:spPr>
          <a:xfrm>
            <a:off x="1783080" y="3666744"/>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10-15s cold start after 2h+ idle could feel broken to first-time users.</a:t>
            </a:r>
            <a:endParaRPr lang="en-US" sz="950" dirty="0"/>
          </a:p>
        </p:txBody>
      </p:sp>
      <p:sp>
        <p:nvSpPr>
          <p:cNvPr id="28" name="Shape 26"/>
          <p:cNvSpPr/>
          <p:nvPr/>
        </p:nvSpPr>
        <p:spPr>
          <a:xfrm>
            <a:off x="6720840" y="3410712"/>
            <a:ext cx="9144" cy="493776"/>
          </a:xfrm>
          <a:prstGeom prst="rect">
            <a:avLst/>
          </a:prstGeom>
          <a:solidFill>
            <a:srgbClr val="E2E8F0"/>
          </a:solidFill>
          <a:ln w="12700">
            <a:solidFill>
              <a:srgbClr val="333333"/>
            </a:solidFill>
            <a:prstDash val="solid"/>
          </a:ln>
        </p:spPr>
      </p:sp>
      <p:sp>
        <p:nvSpPr>
          <p:cNvPr id="29" name="Text 27"/>
          <p:cNvSpPr/>
          <p:nvPr/>
        </p:nvSpPr>
        <p:spPr>
          <a:xfrm>
            <a:off x="6858000" y="3410712"/>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30" name="Text 28"/>
          <p:cNvSpPr/>
          <p:nvPr/>
        </p:nvSpPr>
        <p:spPr>
          <a:xfrm>
            <a:off x="6858000" y="3593592"/>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"Your sandbox is warming up…" splash in AI tool deploy-status callback. Acceptable for dev-env framing.</a:t>
            </a:r>
            <a:endParaRPr lang="en-US" sz="950" dirty="0"/>
          </a:p>
        </p:txBody>
      </p:sp>
      <p:sp>
        <p:nvSpPr>
          <p:cNvPr id="31" name="Shape 29"/>
          <p:cNvSpPr/>
          <p:nvPr/>
        </p:nvSpPr>
        <p:spPr>
          <a:xfrm>
            <a:off x="502920" y="4041648"/>
            <a:ext cx="11155680" cy="676656"/>
          </a:xfrm>
          <a:prstGeom prst="roundRect">
            <a:avLst>
              <a:gd name="adj" fmla="val 10811"/>
            </a:avLst>
          </a:prstGeom>
          <a:solidFill>
            <a:srgbClr val="FFFFFF"/>
          </a:solidFill>
          <a:ln w="9525">
            <a:solidFill>
              <a:srgbClr val="E2E8F0"/>
            </a:solidFill>
            <a:prstDash val="solid"/>
          </a:ln>
        </p:spPr>
      </p:sp>
      <p:sp>
        <p:nvSpPr>
          <p:cNvPr id="32" name="Shape 30"/>
          <p:cNvSpPr/>
          <p:nvPr/>
        </p:nvSpPr>
        <p:spPr>
          <a:xfrm>
            <a:off x="685800" y="4160520"/>
            <a:ext cx="548640" cy="438912"/>
          </a:xfrm>
          <a:prstGeom prst="roundRect">
            <a:avLst>
              <a:gd name="adj" fmla="val 8333"/>
            </a:avLst>
          </a:prstGeom>
          <a:solidFill>
            <a:srgbClr val="EEF2FF"/>
          </a:solidFill>
          <a:ln w="6350">
            <a:solidFill>
              <a:srgbClr val="3730A3"/>
            </a:solidFill>
            <a:prstDash val="solid"/>
          </a:ln>
        </p:spPr>
      </p:sp>
      <p:sp>
        <p:nvSpPr>
          <p:cNvPr id="33" name="Text 31"/>
          <p:cNvSpPr/>
          <p:nvPr/>
        </p:nvSpPr>
        <p:spPr>
          <a:xfrm>
            <a:off x="685800" y="4160520"/>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34" name="Text 32"/>
          <p:cNvSpPr/>
          <p:nvPr/>
        </p:nvSpPr>
        <p:spPr>
          <a:xfrm>
            <a:off x="1371600" y="4133088"/>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04</a:t>
            </a:r>
            <a:endParaRPr lang="en-US" sz="1400" dirty="0"/>
          </a:p>
        </p:txBody>
      </p:sp>
      <p:sp>
        <p:nvSpPr>
          <p:cNvPr id="35" name="Text 33"/>
          <p:cNvSpPr/>
          <p:nvPr/>
        </p:nvSpPr>
        <p:spPr>
          <a:xfrm>
            <a:off x="1783080" y="4096512"/>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Marketing change-surface from Studio drop</a:t>
            </a:r>
            <a:endParaRPr lang="en-US" sz="1150" dirty="0"/>
          </a:p>
        </p:txBody>
      </p:sp>
      <p:sp>
        <p:nvSpPr>
          <p:cNvPr id="36" name="Text 34"/>
          <p:cNvSpPr/>
          <p:nvPr/>
        </p:nvSpPr>
        <p:spPr>
          <a:xfrm>
            <a:off x="1783080" y="4389120"/>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Comparison rails on "Supabase Studio in your sandbox" / "take a snapshot any time" need to come off sandbox copy.</a:t>
            </a:r>
            <a:endParaRPr lang="en-US" sz="950" dirty="0"/>
          </a:p>
        </p:txBody>
      </p:sp>
      <p:sp>
        <p:nvSpPr>
          <p:cNvPr id="37" name="Shape 35"/>
          <p:cNvSpPr/>
          <p:nvPr/>
        </p:nvSpPr>
        <p:spPr>
          <a:xfrm>
            <a:off x="6720840" y="4133088"/>
            <a:ext cx="9144" cy="493776"/>
          </a:xfrm>
          <a:prstGeom prst="rect">
            <a:avLst/>
          </a:prstGeom>
          <a:solidFill>
            <a:srgbClr val="E2E8F0"/>
          </a:solidFill>
          <a:ln w="12700">
            <a:solidFill>
              <a:srgbClr val="333333"/>
            </a:solidFill>
            <a:prstDash val="solid"/>
          </a:ln>
        </p:spPr>
      </p:sp>
      <p:sp>
        <p:nvSpPr>
          <p:cNvPr id="38" name="Text 36"/>
          <p:cNvSpPr/>
          <p:nvPr/>
        </p:nvSpPr>
        <p:spPr>
          <a:xfrm>
            <a:off x="6858000" y="4133088"/>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39" name="Text 37"/>
          <p:cNvSpPr/>
          <p:nvPr/>
        </p:nvSpPr>
        <p:spPr>
          <a:xfrm>
            <a:off x="6858000" y="4315968"/>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Already actioned across index.html, docs, install.html, account.html. Studio link in sandbox /account page removed.</a:t>
            </a:r>
            <a:endParaRPr lang="en-US" sz="950" dirty="0"/>
          </a:p>
        </p:txBody>
      </p:sp>
      <p:sp>
        <p:nvSpPr>
          <p:cNvPr id="40" name="Shape 38"/>
          <p:cNvSpPr/>
          <p:nvPr/>
        </p:nvSpPr>
        <p:spPr>
          <a:xfrm>
            <a:off x="502920" y="4764024"/>
            <a:ext cx="11155680" cy="676656"/>
          </a:xfrm>
          <a:prstGeom prst="roundRect">
            <a:avLst>
              <a:gd name="adj" fmla="val 10811"/>
            </a:avLst>
          </a:prstGeom>
          <a:solidFill>
            <a:srgbClr val="FFFFFF"/>
          </a:solidFill>
          <a:ln w="9525">
            <a:solidFill>
              <a:srgbClr val="E2E8F0"/>
            </a:solidFill>
            <a:prstDash val="solid"/>
          </a:ln>
        </p:spPr>
      </p:sp>
      <p:sp>
        <p:nvSpPr>
          <p:cNvPr id="41" name="Shape 39"/>
          <p:cNvSpPr/>
          <p:nvPr/>
        </p:nvSpPr>
        <p:spPr>
          <a:xfrm>
            <a:off x="685800" y="4882896"/>
            <a:ext cx="548640" cy="438912"/>
          </a:xfrm>
          <a:prstGeom prst="roundRect">
            <a:avLst>
              <a:gd name="adj" fmla="val 8333"/>
            </a:avLst>
          </a:prstGeom>
          <a:solidFill>
            <a:srgbClr val="EEF2FF"/>
          </a:solidFill>
          <a:ln w="6350">
            <a:solidFill>
              <a:srgbClr val="3730A3"/>
            </a:solidFill>
            <a:prstDash val="solid"/>
          </a:ln>
        </p:spPr>
      </p:sp>
      <p:sp>
        <p:nvSpPr>
          <p:cNvPr id="42" name="Text 40"/>
          <p:cNvSpPr/>
          <p:nvPr/>
        </p:nvSpPr>
        <p:spPr>
          <a:xfrm>
            <a:off x="685800" y="4882896"/>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43" name="Text 41"/>
          <p:cNvSpPr/>
          <p:nvPr/>
        </p:nvSpPr>
        <p:spPr>
          <a:xfrm>
            <a:off x="1371600" y="4855464"/>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05</a:t>
            </a:r>
            <a:endParaRPr lang="en-US" sz="1400" dirty="0"/>
          </a:p>
        </p:txBody>
      </p:sp>
      <p:sp>
        <p:nvSpPr>
          <p:cNvPr id="44" name="Text 42"/>
          <p:cNvSpPr/>
          <p:nvPr/>
        </p:nvSpPr>
        <p:spPr>
          <a:xfrm>
            <a:off x="1783080" y="4818888"/>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Existing sandbox tenants still on old density</a:t>
            </a:r>
            <a:endParaRPr lang="en-US" sz="1150" dirty="0"/>
          </a:p>
        </p:txBody>
      </p:sp>
      <p:sp>
        <p:nvSpPr>
          <p:cNvPr id="45" name="Text 43"/>
          <p:cNvSpPr/>
          <p:nvPr/>
        </p:nvSpPr>
        <p:spPr>
          <a:xfrm>
            <a:off x="1783080" y="5111496"/>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~13 existing sandboxes already on CAX21 with Studio. Density gains apply only to new provisions.</a:t>
            </a:r>
            <a:endParaRPr lang="en-US" sz="950" dirty="0"/>
          </a:p>
        </p:txBody>
      </p:sp>
      <p:sp>
        <p:nvSpPr>
          <p:cNvPr id="46" name="Shape 44"/>
          <p:cNvSpPr/>
          <p:nvPr/>
        </p:nvSpPr>
        <p:spPr>
          <a:xfrm>
            <a:off x="6720840" y="4855464"/>
            <a:ext cx="9144" cy="493776"/>
          </a:xfrm>
          <a:prstGeom prst="rect">
            <a:avLst/>
          </a:prstGeom>
          <a:solidFill>
            <a:srgbClr val="E2E8F0"/>
          </a:solidFill>
          <a:ln w="12700">
            <a:solidFill>
              <a:srgbClr val="333333"/>
            </a:solidFill>
            <a:prstDash val="solid"/>
          </a:ln>
        </p:spPr>
      </p:sp>
      <p:sp>
        <p:nvSpPr>
          <p:cNvPr id="47" name="Text 45"/>
          <p:cNvSpPr/>
          <p:nvPr/>
        </p:nvSpPr>
        <p:spPr>
          <a:xfrm>
            <a:off x="6858000" y="4855464"/>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48" name="Text 46"/>
          <p:cNvSpPr/>
          <p:nvPr/>
        </p:nvSpPr>
        <p:spPr>
          <a:xfrm>
            <a:off x="6858000" y="5038344"/>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No churn-by-migration — leave existing tenants in place. Future one-off "migrate fleet to CAX31" op when time allows.</a:t>
            </a:r>
            <a:endParaRPr lang="en-US" sz="950" dirty="0"/>
          </a:p>
        </p:txBody>
      </p:sp>
      <p:sp>
        <p:nvSpPr>
          <p:cNvPr id="49" name="Shape 47"/>
          <p:cNvSpPr/>
          <p:nvPr/>
        </p:nvSpPr>
        <p:spPr>
          <a:xfrm>
            <a:off x="502920" y="5486400"/>
            <a:ext cx="11155680" cy="676656"/>
          </a:xfrm>
          <a:prstGeom prst="roundRect">
            <a:avLst>
              <a:gd name="adj" fmla="val 10811"/>
            </a:avLst>
          </a:prstGeom>
          <a:solidFill>
            <a:srgbClr val="FFFFFF"/>
          </a:solidFill>
          <a:ln w="9525">
            <a:solidFill>
              <a:srgbClr val="E2E8F0"/>
            </a:solidFill>
            <a:prstDash val="solid"/>
          </a:ln>
        </p:spPr>
      </p:sp>
      <p:sp>
        <p:nvSpPr>
          <p:cNvPr id="50" name="Shape 48"/>
          <p:cNvSpPr/>
          <p:nvPr/>
        </p:nvSpPr>
        <p:spPr>
          <a:xfrm>
            <a:off x="685800" y="5605272"/>
            <a:ext cx="548640" cy="438912"/>
          </a:xfrm>
          <a:prstGeom prst="roundRect">
            <a:avLst>
              <a:gd name="adj" fmla="val 8333"/>
            </a:avLst>
          </a:prstGeom>
          <a:solidFill>
            <a:srgbClr val="EEF2FF"/>
          </a:solidFill>
          <a:ln w="6350">
            <a:solidFill>
              <a:srgbClr val="3730A3"/>
            </a:solidFill>
            <a:prstDash val="solid"/>
          </a:ln>
        </p:spPr>
      </p:sp>
      <p:sp>
        <p:nvSpPr>
          <p:cNvPr id="51" name="Text 49"/>
          <p:cNvSpPr/>
          <p:nvPr/>
        </p:nvSpPr>
        <p:spPr>
          <a:xfrm>
            <a:off x="685800" y="5605272"/>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52" name="Text 50"/>
          <p:cNvSpPr/>
          <p:nvPr/>
        </p:nvSpPr>
        <p:spPr>
          <a:xfrm>
            <a:off x="1371600" y="5577840"/>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06</a:t>
            </a:r>
            <a:endParaRPr lang="en-US" sz="1400" dirty="0"/>
          </a:p>
        </p:txBody>
      </p:sp>
      <p:sp>
        <p:nvSpPr>
          <p:cNvPr id="53" name="Text 51"/>
          <p:cNvSpPr/>
          <p:nvPr/>
        </p:nvSpPr>
        <p:spPr>
          <a:xfrm>
            <a:off x="1783080" y="5541264"/>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Snapshot rail loss for sandbox (one-click)</a:t>
            </a:r>
            <a:endParaRPr lang="en-US" sz="1150" dirty="0"/>
          </a:p>
        </p:txBody>
      </p:sp>
      <p:sp>
        <p:nvSpPr>
          <p:cNvPr id="54" name="Text 52"/>
          <p:cNvSpPr/>
          <p:nvPr/>
        </p:nvSpPr>
        <p:spPr>
          <a:xfrm>
            <a:off x="1783080" y="5833872"/>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Sandbox customers can’t click-to-snapshot via Studio anymore.</a:t>
            </a:r>
            <a:endParaRPr lang="en-US" sz="950" dirty="0"/>
          </a:p>
        </p:txBody>
      </p:sp>
      <p:sp>
        <p:nvSpPr>
          <p:cNvPr id="55" name="Shape 53"/>
          <p:cNvSpPr/>
          <p:nvPr/>
        </p:nvSpPr>
        <p:spPr>
          <a:xfrm>
            <a:off x="6720840" y="5577840"/>
            <a:ext cx="9144" cy="493776"/>
          </a:xfrm>
          <a:prstGeom prst="rect">
            <a:avLst/>
          </a:prstGeom>
          <a:solidFill>
            <a:srgbClr val="E2E8F0"/>
          </a:solidFill>
          <a:ln w="12700">
            <a:solidFill>
              <a:srgbClr val="333333"/>
            </a:solidFill>
            <a:prstDash val="solid"/>
          </a:ln>
        </p:spPr>
      </p:sp>
      <p:sp>
        <p:nvSpPr>
          <p:cNvPr id="56" name="Text 54"/>
          <p:cNvSpPr/>
          <p:nvPr/>
        </p:nvSpPr>
        <p:spPr>
          <a:xfrm>
            <a:off x="6858000" y="5577840"/>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57" name="Text 55"/>
          <p:cNvSpPr/>
          <p:nvPr/>
        </p:nvSpPr>
        <p:spPr>
          <a:xfrm>
            <a:off x="6858000" y="5760720"/>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AI tool can trigger pg_dump via redeploy webhook run-command path OR new /api/tenants/&lt;slug&gt;/snapshot endpoint. 4-line marketing callout.</a:t>
            </a:r>
            <a:endParaRPr lang="en-US" sz="950" dirty="0"/>
          </a:p>
        </p:txBody>
      </p:sp>
      <p:sp>
        <p:nvSpPr>
          <p:cNvPr id="58" name="Text 56"/>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9" name="Text 57"/>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26  ·  APPENDIX  ·  MRR BUILD-UP</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How we get to £135K base / £380K upside at M18.</a:t>
            </a:r>
            <a:endParaRPr lang="en-US" sz="3000" dirty="0"/>
          </a:p>
        </p:txBody>
      </p:sp>
      <p:sp>
        <p:nvSpPr>
          <p:cNvPr id="4" name="Text 2"/>
          <p:cNvSpPr/>
          <p:nvPr/>
        </p:nvSpPr>
        <p:spPr>
          <a:xfrm>
            <a:off x="502920" y="1417320"/>
            <a:ext cx="11155680" cy="54864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Cohort × paid-conversion × ARPU × retention. Pessimistic / mid / sprint scenarios all anchored on AI_COGS_SENSITIVITY.xlsx unit economics.</a:t>
            </a:r>
            <a:endParaRPr lang="en-US" sz="1400" dirty="0"/>
          </a:p>
        </p:txBody>
      </p:sp>
      <p:sp>
        <p:nvSpPr>
          <p:cNvPr id="5" name="Shape 3"/>
          <p:cNvSpPr/>
          <p:nvPr/>
        </p:nvSpPr>
        <p:spPr>
          <a:xfrm>
            <a:off x="502920" y="2103120"/>
            <a:ext cx="5577840" cy="3794760"/>
          </a:xfrm>
          <a:prstGeom prst="roundRect">
            <a:avLst>
              <a:gd name="adj" fmla="val 1928"/>
            </a:avLst>
          </a:prstGeom>
          <a:solidFill>
            <a:srgbClr val="FFFFFF"/>
          </a:solidFill>
          <a:ln w="9525">
            <a:solidFill>
              <a:srgbClr val="E2E8F0"/>
            </a:solidFill>
            <a:prstDash val="solid"/>
          </a:ln>
        </p:spPr>
      </p:sp>
      <p:sp>
        <p:nvSpPr>
          <p:cNvPr id="6" name="Shape 4"/>
          <p:cNvSpPr/>
          <p:nvPr/>
        </p:nvSpPr>
        <p:spPr>
          <a:xfrm>
            <a:off x="502920" y="2103120"/>
            <a:ext cx="5577840" cy="54864"/>
          </a:xfrm>
          <a:prstGeom prst="rect">
            <a:avLst/>
          </a:prstGeom>
          <a:solidFill>
            <a:srgbClr val="4F46E5"/>
          </a:solidFill>
          <a:ln w="12700">
            <a:solidFill>
              <a:srgbClr val="4F46E5"/>
            </a:solidFill>
            <a:prstDash val="solid"/>
          </a:ln>
        </p:spPr>
      </p:sp>
      <p:sp>
        <p:nvSpPr>
          <p:cNvPr id="7" name="Text 5"/>
          <p:cNvSpPr/>
          <p:nvPr/>
        </p:nvSpPr>
        <p:spPr>
          <a:xfrm>
            <a:off x="777240" y="2331720"/>
            <a:ext cx="512064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SPRINT BASE BUILD-UP  ·  MONTH 18</a:t>
            </a:r>
            <a:endParaRPr lang="en-US" sz="900" dirty="0"/>
          </a:p>
        </p:txBody>
      </p:sp>
      <p:sp>
        <p:nvSpPr>
          <p:cNvPr id="8" name="Text 6"/>
          <p:cNvSpPr/>
          <p:nvPr/>
        </p:nvSpPr>
        <p:spPr>
          <a:xfrm>
            <a:off x="777240" y="278892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Sandbox signups by M18 (cumulative)</a:t>
            </a:r>
            <a:endParaRPr lang="en-US" sz="1050" dirty="0"/>
          </a:p>
        </p:txBody>
      </p:sp>
      <p:sp>
        <p:nvSpPr>
          <p:cNvPr id="9" name="Text 7"/>
          <p:cNvSpPr/>
          <p:nvPr/>
        </p:nvSpPr>
        <p:spPr>
          <a:xfrm>
            <a:off x="4160520" y="278892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~30K</a:t>
            </a:r>
            <a:endParaRPr lang="en-US" sz="1050" dirty="0"/>
          </a:p>
        </p:txBody>
      </p:sp>
      <p:sp>
        <p:nvSpPr>
          <p:cNvPr id="10" name="Text 8"/>
          <p:cNvSpPr/>
          <p:nvPr/>
        </p:nvSpPr>
        <p:spPr>
          <a:xfrm>
            <a:off x="777240" y="306324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Sandbox → Launch (5% conversion)</a:t>
            </a:r>
            <a:endParaRPr lang="en-US" sz="1050" dirty="0"/>
          </a:p>
        </p:txBody>
      </p:sp>
      <p:sp>
        <p:nvSpPr>
          <p:cNvPr id="11" name="Text 9"/>
          <p:cNvSpPr/>
          <p:nvPr/>
        </p:nvSpPr>
        <p:spPr>
          <a:xfrm>
            <a:off x="4160520" y="306324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~1,500 Launch</a:t>
            </a:r>
            <a:endParaRPr lang="en-US" sz="1050" dirty="0"/>
          </a:p>
        </p:txBody>
      </p:sp>
      <p:sp>
        <p:nvSpPr>
          <p:cNvPr id="12" name="Text 10"/>
          <p:cNvSpPr/>
          <p:nvPr/>
        </p:nvSpPr>
        <p:spPr>
          <a:xfrm>
            <a:off x="777240" y="333756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Launch → Growth (~12% over 6 mo)</a:t>
            </a:r>
            <a:endParaRPr lang="en-US" sz="1050" dirty="0"/>
          </a:p>
        </p:txBody>
      </p:sp>
      <p:sp>
        <p:nvSpPr>
          <p:cNvPr id="13" name="Text 11"/>
          <p:cNvSpPr/>
          <p:nvPr/>
        </p:nvSpPr>
        <p:spPr>
          <a:xfrm>
            <a:off x="4160520" y="333756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~180 Growth</a:t>
            </a:r>
            <a:endParaRPr lang="en-US" sz="1050" dirty="0"/>
          </a:p>
        </p:txBody>
      </p:sp>
      <p:sp>
        <p:nvSpPr>
          <p:cNvPr id="14" name="Text 12"/>
          <p:cNvSpPr/>
          <p:nvPr/>
        </p:nvSpPr>
        <p:spPr>
          <a:xfrm>
            <a:off x="777240" y="361188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Active after ~3%/mo churn at M18</a:t>
            </a:r>
            <a:endParaRPr lang="en-US" sz="1050" dirty="0"/>
          </a:p>
        </p:txBody>
      </p:sp>
      <p:sp>
        <p:nvSpPr>
          <p:cNvPr id="15" name="Text 13"/>
          <p:cNvSpPr/>
          <p:nvPr/>
        </p:nvSpPr>
        <p:spPr>
          <a:xfrm>
            <a:off x="4160520" y="361188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~620 L · ~130 G</a:t>
            </a:r>
            <a:endParaRPr lang="en-US" sz="1050" dirty="0"/>
          </a:p>
        </p:txBody>
      </p:sp>
      <p:sp>
        <p:nvSpPr>
          <p:cNvPr id="16" name="Text 14"/>
          <p:cNvSpPr/>
          <p:nvPr/>
        </p:nvSpPr>
        <p:spPr>
          <a:xfrm>
            <a:off x="777240" y="388620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Launch sub revenue × £15.80</a:t>
            </a:r>
            <a:endParaRPr lang="en-US" sz="1050" dirty="0"/>
          </a:p>
        </p:txBody>
      </p:sp>
      <p:sp>
        <p:nvSpPr>
          <p:cNvPr id="17" name="Text 15"/>
          <p:cNvSpPr/>
          <p:nvPr/>
        </p:nvSpPr>
        <p:spPr>
          <a:xfrm>
            <a:off x="4160520" y="388620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£9.8K/mo</a:t>
            </a:r>
            <a:endParaRPr lang="en-US" sz="1050" dirty="0"/>
          </a:p>
        </p:txBody>
      </p:sp>
      <p:sp>
        <p:nvSpPr>
          <p:cNvPr id="18" name="Text 16"/>
          <p:cNvSpPr/>
          <p:nvPr/>
        </p:nvSpPr>
        <p:spPr>
          <a:xfrm>
            <a:off x="777240" y="416052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Growth sub revenue × £39</a:t>
            </a:r>
            <a:endParaRPr lang="en-US" sz="1050" dirty="0"/>
          </a:p>
        </p:txBody>
      </p:sp>
      <p:sp>
        <p:nvSpPr>
          <p:cNvPr id="19" name="Text 17"/>
          <p:cNvSpPr/>
          <p:nvPr/>
        </p:nvSpPr>
        <p:spPr>
          <a:xfrm>
            <a:off x="4160520" y="416052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£5.1K/mo</a:t>
            </a:r>
            <a:endParaRPr lang="en-US" sz="1050" dirty="0"/>
          </a:p>
        </p:txBody>
      </p:sp>
      <p:sp>
        <p:nvSpPr>
          <p:cNvPr id="20" name="Text 18"/>
          <p:cNvSpPr/>
          <p:nvPr/>
        </p:nvSpPr>
        <p:spPr>
          <a:xfrm>
            <a:off x="777240" y="443484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Setup fee amortised (new Launch / mo)</a:t>
            </a:r>
            <a:endParaRPr lang="en-US" sz="1050" dirty="0"/>
          </a:p>
        </p:txBody>
      </p:sp>
      <p:sp>
        <p:nvSpPr>
          <p:cNvPr id="21" name="Text 19"/>
          <p:cNvSpPr/>
          <p:nvPr/>
        </p:nvSpPr>
        <p:spPr>
          <a:xfrm>
            <a:off x="4160520" y="443484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~£3K/mo</a:t>
            </a:r>
            <a:endParaRPr lang="en-US" sz="1050" dirty="0"/>
          </a:p>
        </p:txBody>
      </p:sp>
      <p:sp>
        <p:nvSpPr>
          <p:cNvPr id="22" name="Text 20"/>
          <p:cNvSpPr/>
          <p:nvPr/>
        </p:nvSpPr>
        <p:spPr>
          <a:xfrm>
            <a:off x="777240" y="470916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Token overage realised at scale</a:t>
            </a:r>
            <a:endParaRPr lang="en-US" sz="1050" dirty="0"/>
          </a:p>
        </p:txBody>
      </p:sp>
      <p:sp>
        <p:nvSpPr>
          <p:cNvPr id="23" name="Text 21"/>
          <p:cNvSpPr/>
          <p:nvPr/>
        </p:nvSpPr>
        <p:spPr>
          <a:xfrm>
            <a:off x="4160520" y="470916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~£0.4K/mo</a:t>
            </a:r>
            <a:endParaRPr lang="en-US" sz="1050" dirty="0"/>
          </a:p>
        </p:txBody>
      </p:sp>
      <p:sp>
        <p:nvSpPr>
          <p:cNvPr id="24" name="Text 22"/>
          <p:cNvSpPr/>
          <p:nvPr/>
        </p:nvSpPr>
        <p:spPr>
          <a:xfrm>
            <a:off x="777240" y="498348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AI-tool affiliate at 5% take</a:t>
            </a:r>
            <a:endParaRPr lang="en-US" sz="1050" dirty="0"/>
          </a:p>
        </p:txBody>
      </p:sp>
      <p:sp>
        <p:nvSpPr>
          <p:cNvPr id="25" name="Text 23"/>
          <p:cNvSpPr/>
          <p:nvPr/>
        </p:nvSpPr>
        <p:spPr>
          <a:xfrm>
            <a:off x="4160520" y="498348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~£0.08K/mo</a:t>
            </a:r>
            <a:endParaRPr lang="en-US" sz="1050" dirty="0"/>
          </a:p>
        </p:txBody>
      </p:sp>
      <p:sp>
        <p:nvSpPr>
          <p:cNvPr id="26" name="Shape 24"/>
          <p:cNvSpPr/>
          <p:nvPr/>
        </p:nvSpPr>
        <p:spPr>
          <a:xfrm>
            <a:off x="685800" y="5239512"/>
            <a:ext cx="5212080" cy="310896"/>
          </a:xfrm>
          <a:prstGeom prst="rect">
            <a:avLst/>
          </a:prstGeom>
          <a:solidFill>
            <a:srgbClr val="EEF2FF"/>
          </a:solidFill>
          <a:ln w="12700">
            <a:solidFill>
              <a:srgbClr val="333333"/>
            </a:solidFill>
            <a:prstDash val="solid"/>
          </a:ln>
        </p:spPr>
      </p:sp>
      <p:sp>
        <p:nvSpPr>
          <p:cNvPr id="27" name="Text 25"/>
          <p:cNvSpPr/>
          <p:nvPr/>
        </p:nvSpPr>
        <p:spPr>
          <a:xfrm>
            <a:off x="777240" y="5257800"/>
            <a:ext cx="3749040" cy="274320"/>
          </a:xfrm>
          <a:prstGeom prst="rect">
            <a:avLst/>
          </a:prstGeom>
          <a:noFill/>
          <a:ln/>
        </p:spPr>
        <p:txBody>
          <a:bodyPr wrap="square" rtlCol="0" anchor="ctr"/>
          <a:lstStyle/>
          <a:p>
            <a:pPr indent="0" marL="0">
              <a:buNone/>
            </a:pPr>
            <a:r>
              <a:rPr lang="en-US" sz="1050" b="1" dirty="0">
                <a:solidFill>
                  <a:srgbClr val="3730A3"/>
                </a:solidFill>
                <a:latin typeface="DM Sans" pitchFamily="34" charset="0"/>
                <a:ea typeface="DM Sans" pitchFamily="34" charset="-122"/>
                <a:cs typeface="DM Sans" pitchFamily="34" charset="-120"/>
              </a:rPr>
              <a:t>M18 base case rounded</a:t>
            </a:r>
            <a:endParaRPr lang="en-US" sz="1050" dirty="0"/>
          </a:p>
        </p:txBody>
      </p:sp>
      <p:sp>
        <p:nvSpPr>
          <p:cNvPr id="28" name="Text 26"/>
          <p:cNvSpPr/>
          <p:nvPr/>
        </p:nvSpPr>
        <p:spPr>
          <a:xfrm>
            <a:off x="4160520" y="5257800"/>
            <a:ext cx="1828800" cy="274320"/>
          </a:xfrm>
          <a:prstGeom prst="rect">
            <a:avLst/>
          </a:prstGeom>
          <a:noFill/>
          <a:ln/>
        </p:spPr>
        <p:txBody>
          <a:bodyPr wrap="square" rtlCol="0" anchor="ctr"/>
          <a:lstStyle/>
          <a:p>
            <a:pPr algn="r" indent="0" marL="0">
              <a:buNone/>
            </a:pPr>
            <a:r>
              <a:rPr lang="en-US" sz="1050" b="1" dirty="0">
                <a:solidFill>
                  <a:srgbClr val="3730A3"/>
                </a:solidFill>
                <a:latin typeface="JetBrains Mono" pitchFamily="34" charset="0"/>
                <a:ea typeface="JetBrains Mono" pitchFamily="34" charset="-122"/>
                <a:cs typeface="JetBrains Mono" pitchFamily="34" charset="-120"/>
              </a:rPr>
              <a:t>~£135K</a:t>
            </a:r>
            <a:endParaRPr lang="en-US" sz="1050" dirty="0"/>
          </a:p>
        </p:txBody>
      </p:sp>
      <p:sp>
        <p:nvSpPr>
          <p:cNvPr id="29" name="Shape 27"/>
          <p:cNvSpPr/>
          <p:nvPr/>
        </p:nvSpPr>
        <p:spPr>
          <a:xfrm>
            <a:off x="6263640" y="2103120"/>
            <a:ext cx="5394960" cy="3794760"/>
          </a:xfrm>
          <a:prstGeom prst="roundRect">
            <a:avLst>
              <a:gd name="adj" fmla="val 1928"/>
            </a:avLst>
          </a:prstGeom>
          <a:solidFill>
            <a:srgbClr val="FFFFFF"/>
          </a:solidFill>
          <a:ln w="9525">
            <a:solidFill>
              <a:srgbClr val="E2E8F0"/>
            </a:solidFill>
            <a:prstDash val="solid"/>
          </a:ln>
        </p:spPr>
      </p:sp>
      <p:sp>
        <p:nvSpPr>
          <p:cNvPr id="30" name="Shape 28"/>
          <p:cNvSpPr/>
          <p:nvPr/>
        </p:nvSpPr>
        <p:spPr>
          <a:xfrm>
            <a:off x="6263640" y="2103120"/>
            <a:ext cx="5394960" cy="54864"/>
          </a:xfrm>
          <a:prstGeom prst="rect">
            <a:avLst/>
          </a:prstGeom>
          <a:solidFill>
            <a:srgbClr val="F59E0B"/>
          </a:solidFill>
          <a:ln w="12700">
            <a:solidFill>
              <a:srgbClr val="F59E0B"/>
            </a:solidFill>
            <a:prstDash val="solid"/>
          </a:ln>
        </p:spPr>
      </p:sp>
      <p:sp>
        <p:nvSpPr>
          <p:cNvPr id="31" name="Text 29"/>
          <p:cNvSpPr/>
          <p:nvPr/>
        </p:nvSpPr>
        <p:spPr>
          <a:xfrm>
            <a:off x="6537960" y="2331720"/>
            <a:ext cx="493776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SPRINT UPSIDE  ·  WHAT CHANGES</a:t>
            </a:r>
            <a:endParaRPr lang="en-US" sz="900" dirty="0"/>
          </a:p>
        </p:txBody>
      </p:sp>
      <p:sp>
        <p:nvSpPr>
          <p:cNvPr id="32" name="Text 30"/>
          <p:cNvSpPr/>
          <p:nvPr/>
        </p:nvSpPr>
        <p:spPr>
          <a:xfrm>
            <a:off x="6537960" y="278892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Sandbox signups (paid acquisition lit)</a:t>
            </a:r>
            <a:endParaRPr lang="en-US" sz="1050" dirty="0"/>
          </a:p>
        </p:txBody>
      </p:sp>
      <p:sp>
        <p:nvSpPr>
          <p:cNvPr id="33" name="Text 31"/>
          <p:cNvSpPr/>
          <p:nvPr/>
        </p:nvSpPr>
        <p:spPr>
          <a:xfrm>
            <a:off x="9784080" y="278892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~80K</a:t>
            </a:r>
            <a:endParaRPr lang="en-US" sz="1050" dirty="0"/>
          </a:p>
        </p:txBody>
      </p:sp>
      <p:sp>
        <p:nvSpPr>
          <p:cNvPr id="34" name="Text 32"/>
          <p:cNvSpPr/>
          <p:nvPr/>
        </p:nvSpPr>
        <p:spPr>
          <a:xfrm>
            <a:off x="6537960" y="306324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Conversion holds at 5%</a:t>
            </a:r>
            <a:endParaRPr lang="en-US" sz="1050" dirty="0"/>
          </a:p>
        </p:txBody>
      </p:sp>
      <p:sp>
        <p:nvSpPr>
          <p:cNvPr id="35" name="Text 33"/>
          <p:cNvSpPr/>
          <p:nvPr/>
        </p:nvSpPr>
        <p:spPr>
          <a:xfrm>
            <a:off x="9784080" y="306324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~4,000 Launch</a:t>
            </a:r>
            <a:endParaRPr lang="en-US" sz="1050" dirty="0"/>
          </a:p>
        </p:txBody>
      </p:sp>
      <p:sp>
        <p:nvSpPr>
          <p:cNvPr id="36" name="Text 34"/>
          <p:cNvSpPr/>
          <p:nvPr/>
        </p:nvSpPr>
        <p:spPr>
          <a:xfrm>
            <a:off x="6537960" y="333756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Growth conversion lifts to 15%</a:t>
            </a:r>
            <a:endParaRPr lang="en-US" sz="1050" dirty="0"/>
          </a:p>
        </p:txBody>
      </p:sp>
      <p:sp>
        <p:nvSpPr>
          <p:cNvPr id="37" name="Text 35"/>
          <p:cNvSpPr/>
          <p:nvPr/>
        </p:nvSpPr>
        <p:spPr>
          <a:xfrm>
            <a:off x="9784080" y="333756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~600 Growth</a:t>
            </a:r>
            <a:endParaRPr lang="en-US" sz="1050" dirty="0"/>
          </a:p>
        </p:txBody>
      </p:sp>
      <p:sp>
        <p:nvSpPr>
          <p:cNvPr id="38" name="Text 36"/>
          <p:cNvSpPr/>
          <p:nvPr/>
        </p:nvSpPr>
        <p:spPr>
          <a:xfrm>
            <a:off x="6537960" y="361188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Active after churn</a:t>
            </a:r>
            <a:endParaRPr lang="en-US" sz="1050" dirty="0"/>
          </a:p>
        </p:txBody>
      </p:sp>
      <p:sp>
        <p:nvSpPr>
          <p:cNvPr id="39" name="Text 37"/>
          <p:cNvSpPr/>
          <p:nvPr/>
        </p:nvSpPr>
        <p:spPr>
          <a:xfrm>
            <a:off x="9784080" y="361188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~1,700 L · ~430 G</a:t>
            </a:r>
            <a:endParaRPr lang="en-US" sz="1050" dirty="0"/>
          </a:p>
        </p:txBody>
      </p:sp>
      <p:sp>
        <p:nvSpPr>
          <p:cNvPr id="40" name="Text 38"/>
          <p:cNvSpPr/>
          <p:nvPr/>
        </p:nvSpPr>
        <p:spPr>
          <a:xfrm>
            <a:off x="6537960" y="388620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Launch sub MRR × £15.80</a:t>
            </a:r>
            <a:endParaRPr lang="en-US" sz="1050" dirty="0"/>
          </a:p>
        </p:txBody>
      </p:sp>
      <p:sp>
        <p:nvSpPr>
          <p:cNvPr id="41" name="Text 39"/>
          <p:cNvSpPr/>
          <p:nvPr/>
        </p:nvSpPr>
        <p:spPr>
          <a:xfrm>
            <a:off x="9784080" y="388620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£27K/mo</a:t>
            </a:r>
            <a:endParaRPr lang="en-US" sz="1050" dirty="0"/>
          </a:p>
        </p:txBody>
      </p:sp>
      <p:sp>
        <p:nvSpPr>
          <p:cNvPr id="42" name="Text 40"/>
          <p:cNvSpPr/>
          <p:nvPr/>
        </p:nvSpPr>
        <p:spPr>
          <a:xfrm>
            <a:off x="6537960" y="416052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Growth sub MRR × £39</a:t>
            </a:r>
            <a:endParaRPr lang="en-US" sz="1050" dirty="0"/>
          </a:p>
        </p:txBody>
      </p:sp>
      <p:sp>
        <p:nvSpPr>
          <p:cNvPr id="43" name="Text 41"/>
          <p:cNvSpPr/>
          <p:nvPr/>
        </p:nvSpPr>
        <p:spPr>
          <a:xfrm>
            <a:off x="9784080" y="416052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£16.8K/mo</a:t>
            </a:r>
            <a:endParaRPr lang="en-US" sz="1050" dirty="0"/>
          </a:p>
        </p:txBody>
      </p:sp>
      <p:sp>
        <p:nvSpPr>
          <p:cNvPr id="44" name="Text 42"/>
          <p:cNvSpPr/>
          <p:nvPr/>
        </p:nvSpPr>
        <p:spPr>
          <a:xfrm>
            <a:off x="6537960" y="443484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Setup amortised</a:t>
            </a:r>
            <a:endParaRPr lang="en-US" sz="1050" dirty="0"/>
          </a:p>
        </p:txBody>
      </p:sp>
      <p:sp>
        <p:nvSpPr>
          <p:cNvPr id="45" name="Text 43"/>
          <p:cNvSpPr/>
          <p:nvPr/>
        </p:nvSpPr>
        <p:spPr>
          <a:xfrm>
            <a:off x="9784080" y="443484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~£20K/mo</a:t>
            </a:r>
            <a:endParaRPr lang="en-US" sz="1050" dirty="0"/>
          </a:p>
        </p:txBody>
      </p:sp>
      <p:sp>
        <p:nvSpPr>
          <p:cNvPr id="46" name="Text 44"/>
          <p:cNvSpPr/>
          <p:nvPr/>
        </p:nvSpPr>
        <p:spPr>
          <a:xfrm>
            <a:off x="6537960" y="470916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Overage + affiliate</a:t>
            </a:r>
            <a:endParaRPr lang="en-US" sz="1050" dirty="0"/>
          </a:p>
        </p:txBody>
      </p:sp>
      <p:sp>
        <p:nvSpPr>
          <p:cNvPr id="47" name="Text 45"/>
          <p:cNvSpPr/>
          <p:nvPr/>
        </p:nvSpPr>
        <p:spPr>
          <a:xfrm>
            <a:off x="9784080" y="470916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~£2K/mo</a:t>
            </a:r>
            <a:endParaRPr lang="en-US" sz="1050" dirty="0"/>
          </a:p>
        </p:txBody>
      </p:sp>
      <p:sp>
        <p:nvSpPr>
          <p:cNvPr id="48" name="Text 46"/>
          <p:cNvSpPr/>
          <p:nvPr/>
        </p:nvSpPr>
        <p:spPr>
          <a:xfrm>
            <a:off x="6537960" y="498348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Multi-region / cohort effects</a:t>
            </a:r>
            <a:endParaRPr lang="en-US" sz="1050" dirty="0"/>
          </a:p>
        </p:txBody>
      </p:sp>
      <p:sp>
        <p:nvSpPr>
          <p:cNvPr id="49" name="Text 47"/>
          <p:cNvSpPr/>
          <p:nvPr/>
        </p:nvSpPr>
        <p:spPr>
          <a:xfrm>
            <a:off x="9784080" y="498348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~£4K headroom</a:t>
            </a:r>
            <a:endParaRPr lang="en-US" sz="1050" dirty="0"/>
          </a:p>
        </p:txBody>
      </p:sp>
      <p:sp>
        <p:nvSpPr>
          <p:cNvPr id="50" name="Shape 48"/>
          <p:cNvSpPr/>
          <p:nvPr/>
        </p:nvSpPr>
        <p:spPr>
          <a:xfrm>
            <a:off x="6446520" y="5239512"/>
            <a:ext cx="5029200" cy="310896"/>
          </a:xfrm>
          <a:prstGeom prst="rect">
            <a:avLst/>
          </a:prstGeom>
          <a:solidFill>
            <a:srgbClr val="FEF3C7"/>
          </a:solidFill>
          <a:ln w="12700">
            <a:solidFill>
              <a:srgbClr val="333333"/>
            </a:solidFill>
            <a:prstDash val="solid"/>
          </a:ln>
        </p:spPr>
      </p:sp>
      <p:sp>
        <p:nvSpPr>
          <p:cNvPr id="51" name="Text 49"/>
          <p:cNvSpPr/>
          <p:nvPr/>
        </p:nvSpPr>
        <p:spPr>
          <a:xfrm>
            <a:off x="6537960" y="5257800"/>
            <a:ext cx="3703320" cy="274320"/>
          </a:xfrm>
          <a:prstGeom prst="rect">
            <a:avLst/>
          </a:prstGeom>
          <a:noFill/>
          <a:ln/>
        </p:spPr>
        <p:txBody>
          <a:bodyPr wrap="square" rtlCol="0" anchor="ctr"/>
          <a:lstStyle/>
          <a:p>
            <a:pPr indent="0" marL="0">
              <a:buNone/>
            </a:pPr>
            <a:r>
              <a:rPr lang="en-US" sz="1050" b="1" dirty="0">
                <a:solidFill>
                  <a:srgbClr val="B45309"/>
                </a:solidFill>
                <a:latin typeface="DM Sans" pitchFamily="34" charset="0"/>
                <a:ea typeface="DM Sans" pitchFamily="34" charset="-122"/>
                <a:cs typeface="DM Sans" pitchFamily="34" charset="-120"/>
              </a:rPr>
              <a:t>M18 upside case rounded</a:t>
            </a:r>
            <a:endParaRPr lang="en-US" sz="1050" dirty="0"/>
          </a:p>
        </p:txBody>
      </p:sp>
      <p:sp>
        <p:nvSpPr>
          <p:cNvPr id="52" name="Text 50"/>
          <p:cNvSpPr/>
          <p:nvPr/>
        </p:nvSpPr>
        <p:spPr>
          <a:xfrm>
            <a:off x="9784080" y="5257800"/>
            <a:ext cx="1691640" cy="274320"/>
          </a:xfrm>
          <a:prstGeom prst="rect">
            <a:avLst/>
          </a:prstGeom>
          <a:noFill/>
          <a:ln/>
        </p:spPr>
        <p:txBody>
          <a:bodyPr wrap="square" rtlCol="0" anchor="ctr"/>
          <a:lstStyle/>
          <a:p>
            <a:pPr algn="r" indent="0" marL="0">
              <a:buNone/>
            </a:pPr>
            <a:r>
              <a:rPr lang="en-US" sz="1050" b="1" dirty="0">
                <a:solidFill>
                  <a:srgbClr val="B45309"/>
                </a:solidFill>
                <a:latin typeface="JetBrains Mono" pitchFamily="34" charset="0"/>
                <a:ea typeface="JetBrains Mono" pitchFamily="34" charset="-122"/>
                <a:cs typeface="JetBrains Mono" pitchFamily="34" charset="-120"/>
              </a:rPr>
              <a:t>~£380K</a:t>
            </a:r>
            <a:endParaRPr lang="en-US" sz="1050" dirty="0"/>
          </a:p>
        </p:txBody>
      </p:sp>
      <p:sp>
        <p:nvSpPr>
          <p:cNvPr id="53" name="Text 51"/>
          <p:cNvSpPr/>
          <p:nvPr/>
        </p:nvSpPr>
        <p:spPr>
          <a:xfrm>
            <a:off x="502920" y="6080760"/>
            <a:ext cx="11155680" cy="274320"/>
          </a:xfrm>
          <a:prstGeom prst="rect">
            <a:avLst/>
          </a:prstGeom>
          <a:noFill/>
          <a:ln/>
        </p:spPr>
        <p:txBody>
          <a:bodyPr wrap="square" rtlCol="0" anchor="ctr"/>
          <a:lstStyle/>
          <a:p>
            <a:pPr indent="0" marL="0">
              <a:buNone/>
            </a:pPr>
            <a:r>
              <a:rPr lang="en-US" sz="900" i="1" dirty="0">
                <a:solidFill>
                  <a:srgbClr val="64748B"/>
                </a:solidFill>
                <a:latin typeface="DM Sans" pitchFamily="34" charset="0"/>
                <a:ea typeface="DM Sans" pitchFamily="34" charset="-122"/>
                <a:cs typeface="DM Sans" pitchFamily="34" charset="-120"/>
              </a:rPr>
              <a:t>Conversion + churn + ARPU mid-range from AI_COGS_SENSITIVITY.xlsx. Pessimistic case (3% conversion, 5% churn) lands ~£60K M18; sprint base = 5% conversion / 3% churn; sprint upside adds paid-acquisition lift on top.</a:t>
            </a:r>
            <a:endParaRPr lang="en-US" sz="900" dirty="0"/>
          </a:p>
        </p:txBody>
      </p:sp>
      <p:sp>
        <p:nvSpPr>
          <p:cNvPr id="54" name="Text 52"/>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5" name="Text 53"/>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27  ·  APPENDIX  ·  USE OF FUNDS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How the raise is spent. By month, by line item.</a:t>
            </a:r>
            <a:endParaRPr lang="en-US" sz="3000" dirty="0"/>
          </a:p>
        </p:txBody>
      </p:sp>
      <p:sp>
        <p:nvSpPr>
          <p:cNvPr id="4" name="Text 2"/>
          <p:cNvSpPr/>
          <p:nvPr/>
        </p:nvSpPr>
        <p:spPr>
          <a:xfrm>
            <a:off x="502920" y="1417320"/>
            <a:ext cx="11155680" cy="50292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Modelled at the £700K midpoint of the £500K–£1M range. Scales linearly above/below.</a:t>
            </a:r>
            <a:endParaRPr lang="en-US" sz="1400" dirty="0"/>
          </a:p>
        </p:txBody>
      </p:sp>
      <p:sp>
        <p:nvSpPr>
          <p:cNvPr id="5" name="Shape 3"/>
          <p:cNvSpPr/>
          <p:nvPr/>
        </p:nvSpPr>
        <p:spPr>
          <a:xfrm>
            <a:off x="502920" y="2103120"/>
            <a:ext cx="3596640" cy="4114800"/>
          </a:xfrm>
          <a:prstGeom prst="roundRect">
            <a:avLst>
              <a:gd name="adj" fmla="val 2034"/>
            </a:avLst>
          </a:prstGeom>
          <a:solidFill>
            <a:srgbClr val="FFFFFF"/>
          </a:solidFill>
          <a:ln w="9525">
            <a:solidFill>
              <a:srgbClr val="E2E8F0"/>
            </a:solidFill>
            <a:prstDash val="solid"/>
          </a:ln>
        </p:spPr>
      </p:sp>
      <p:sp>
        <p:nvSpPr>
          <p:cNvPr id="6" name="Shape 4"/>
          <p:cNvSpPr/>
          <p:nvPr/>
        </p:nvSpPr>
        <p:spPr>
          <a:xfrm>
            <a:off x="502920" y="2103120"/>
            <a:ext cx="3596640" cy="54864"/>
          </a:xfrm>
          <a:prstGeom prst="rect">
            <a:avLst/>
          </a:prstGeom>
          <a:solidFill>
            <a:srgbClr val="4F46E5"/>
          </a:solidFill>
          <a:ln w="12700">
            <a:solidFill>
              <a:srgbClr val="4F46E5"/>
            </a:solidFill>
            <a:prstDash val="solid"/>
          </a:ln>
        </p:spPr>
      </p:sp>
      <p:sp>
        <p:nvSpPr>
          <p:cNvPr id="7" name="Text 5"/>
          <p:cNvSpPr/>
          <p:nvPr/>
        </p:nvSpPr>
        <p:spPr>
          <a:xfrm>
            <a:off x="777240" y="2331720"/>
            <a:ext cx="3139440" cy="320040"/>
          </a:xfrm>
          <a:prstGeom prst="rect">
            <a:avLst/>
          </a:prstGeom>
          <a:noFill/>
          <a:ln/>
        </p:spPr>
        <p:txBody>
          <a:bodyPr wrap="square" rtlCol="0" anchor="ctr"/>
          <a:lstStyle/>
          <a:p>
            <a:pPr indent="0" marL="0">
              <a:buNone/>
            </a:pPr>
            <a:r>
              <a:rPr lang="en-US" sz="1100" b="1" spc="300" kern="0" dirty="0">
                <a:solidFill>
                  <a:srgbClr val="4F46E5"/>
                </a:solidFill>
                <a:latin typeface="JetBrains Mono" pitchFamily="34" charset="0"/>
                <a:ea typeface="JetBrains Mono" pitchFamily="34" charset="-122"/>
                <a:cs typeface="JetBrains Mono" pitchFamily="34" charset="-120"/>
              </a:rPr>
              <a:t>60%  ·  £420K</a:t>
            </a:r>
            <a:endParaRPr lang="en-US" sz="1100" dirty="0"/>
          </a:p>
        </p:txBody>
      </p:sp>
      <p:sp>
        <p:nvSpPr>
          <p:cNvPr id="8" name="Text 6"/>
          <p:cNvSpPr/>
          <p:nvPr/>
        </p:nvSpPr>
        <p:spPr>
          <a:xfrm>
            <a:off x="777240" y="2697480"/>
            <a:ext cx="3139440" cy="411480"/>
          </a:xfrm>
          <a:prstGeom prst="rect">
            <a:avLst/>
          </a:prstGeom>
          <a:noFill/>
          <a:ln/>
        </p:spPr>
        <p:txBody>
          <a:bodyPr wrap="square" rtlCol="0" anchor="ctr"/>
          <a:lstStyle/>
          <a:p>
            <a:pPr indent="0" marL="0">
              <a:lnSpc>
                <a:spcPct val="120000"/>
              </a:lnSpc>
              <a:buNone/>
            </a:pPr>
            <a:r>
              <a:rPr lang="en-US" sz="1300" b="1" dirty="0">
                <a:solidFill>
                  <a:srgbClr val="0F172A"/>
                </a:solidFill>
                <a:latin typeface="DM Sans" pitchFamily="34" charset="0"/>
                <a:ea typeface="DM Sans" pitchFamily="34" charset="-122"/>
                <a:cs typeface="DM Sans" pitchFamily="34" charset="-120"/>
              </a:rPr>
              <a:t>PAID ACQUISITION</a:t>
            </a:r>
            <a:endParaRPr lang="en-US" sz="1300" dirty="0"/>
          </a:p>
        </p:txBody>
      </p:sp>
      <p:sp>
        <p:nvSpPr>
          <p:cNvPr id="9" name="Text 7"/>
          <p:cNvSpPr/>
          <p:nvPr/>
        </p:nvSpPr>
        <p:spPr>
          <a:xfrm>
            <a:off x="777240" y="329184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0" name="Text 8"/>
          <p:cNvSpPr/>
          <p:nvPr/>
        </p:nvSpPr>
        <p:spPr>
          <a:xfrm>
            <a:off x="960120" y="329184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Creator sponsorships (Theo, Fireship-adjacent, indie creators)</a:t>
            </a:r>
            <a:endParaRPr lang="en-US" sz="950" dirty="0"/>
          </a:p>
        </p:txBody>
      </p:sp>
      <p:sp>
        <p:nvSpPr>
          <p:cNvPr id="11" name="Text 9"/>
          <p:cNvSpPr/>
          <p:nvPr/>
        </p:nvSpPr>
        <p:spPr>
          <a:xfrm>
            <a:off x="3139440" y="333756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£180K</a:t>
            </a:r>
            <a:endParaRPr lang="en-US" sz="950" dirty="0"/>
          </a:p>
        </p:txBody>
      </p:sp>
      <p:sp>
        <p:nvSpPr>
          <p:cNvPr id="12" name="Text 10"/>
          <p:cNvSpPr/>
          <p:nvPr/>
        </p:nvSpPr>
        <p:spPr>
          <a:xfrm>
            <a:off x="777240" y="388620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3" name="Text 11"/>
          <p:cNvSpPr/>
          <p:nvPr/>
        </p:nvSpPr>
        <p:spPr>
          <a:xfrm>
            <a:off x="960120" y="388620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Retargeted paid (Meta, X, YouTube pre-roll)</a:t>
            </a:r>
            <a:endParaRPr lang="en-US" sz="950" dirty="0"/>
          </a:p>
        </p:txBody>
      </p:sp>
      <p:sp>
        <p:nvSpPr>
          <p:cNvPr id="14" name="Text 12"/>
          <p:cNvSpPr/>
          <p:nvPr/>
        </p:nvSpPr>
        <p:spPr>
          <a:xfrm>
            <a:off x="3139440" y="393192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£140K</a:t>
            </a:r>
            <a:endParaRPr lang="en-US" sz="950" dirty="0"/>
          </a:p>
        </p:txBody>
      </p:sp>
      <p:sp>
        <p:nvSpPr>
          <p:cNvPr id="15" name="Text 13"/>
          <p:cNvSpPr/>
          <p:nvPr/>
        </p:nvSpPr>
        <p:spPr>
          <a:xfrm>
            <a:off x="777240" y="448056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6" name="Text 14"/>
          <p:cNvSpPr/>
          <p:nvPr/>
        </p:nvSpPr>
        <p:spPr>
          <a:xfrm>
            <a:off x="960120" y="448056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Newsletter sponsorships (TLDR, Hacker Newsletter)</a:t>
            </a:r>
            <a:endParaRPr lang="en-US" sz="950" dirty="0"/>
          </a:p>
        </p:txBody>
      </p:sp>
      <p:sp>
        <p:nvSpPr>
          <p:cNvPr id="17" name="Text 15"/>
          <p:cNvSpPr/>
          <p:nvPr/>
        </p:nvSpPr>
        <p:spPr>
          <a:xfrm>
            <a:off x="3139440" y="452628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£50K</a:t>
            </a:r>
            <a:endParaRPr lang="en-US" sz="950" dirty="0"/>
          </a:p>
        </p:txBody>
      </p:sp>
      <p:sp>
        <p:nvSpPr>
          <p:cNvPr id="18" name="Text 16"/>
          <p:cNvSpPr/>
          <p:nvPr/>
        </p:nvSpPr>
        <p:spPr>
          <a:xfrm>
            <a:off x="777240" y="507492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9" name="Text 17"/>
          <p:cNvSpPr/>
          <p:nvPr/>
        </p:nvSpPr>
        <p:spPr>
          <a:xfrm>
            <a:off x="960120" y="507492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Conference + indie-hacker community events</a:t>
            </a:r>
            <a:endParaRPr lang="en-US" sz="950" dirty="0"/>
          </a:p>
        </p:txBody>
      </p:sp>
      <p:sp>
        <p:nvSpPr>
          <p:cNvPr id="20" name="Text 18"/>
          <p:cNvSpPr/>
          <p:nvPr/>
        </p:nvSpPr>
        <p:spPr>
          <a:xfrm>
            <a:off x="3139440" y="512064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£30K</a:t>
            </a:r>
            <a:endParaRPr lang="en-US" sz="950" dirty="0"/>
          </a:p>
        </p:txBody>
      </p:sp>
      <p:sp>
        <p:nvSpPr>
          <p:cNvPr id="21" name="Text 19"/>
          <p:cNvSpPr/>
          <p:nvPr/>
        </p:nvSpPr>
        <p:spPr>
          <a:xfrm>
            <a:off x="777240" y="566928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22" name="Text 20"/>
          <p:cNvSpPr/>
          <p:nvPr/>
        </p:nvSpPr>
        <p:spPr>
          <a:xfrm>
            <a:off x="960120" y="566928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Affiliate / referral programme bootstrap</a:t>
            </a:r>
            <a:endParaRPr lang="en-US" sz="950" dirty="0"/>
          </a:p>
        </p:txBody>
      </p:sp>
      <p:sp>
        <p:nvSpPr>
          <p:cNvPr id="23" name="Text 21"/>
          <p:cNvSpPr/>
          <p:nvPr/>
        </p:nvSpPr>
        <p:spPr>
          <a:xfrm>
            <a:off x="3139440" y="571500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£20K</a:t>
            </a:r>
            <a:endParaRPr lang="en-US" sz="950" dirty="0"/>
          </a:p>
        </p:txBody>
      </p:sp>
      <p:sp>
        <p:nvSpPr>
          <p:cNvPr id="24" name="Shape 22"/>
          <p:cNvSpPr/>
          <p:nvPr/>
        </p:nvSpPr>
        <p:spPr>
          <a:xfrm>
            <a:off x="4282440" y="2103120"/>
            <a:ext cx="3596640" cy="4114800"/>
          </a:xfrm>
          <a:prstGeom prst="roundRect">
            <a:avLst>
              <a:gd name="adj" fmla="val 2034"/>
            </a:avLst>
          </a:prstGeom>
          <a:solidFill>
            <a:srgbClr val="FFFFFF"/>
          </a:solidFill>
          <a:ln w="9525">
            <a:solidFill>
              <a:srgbClr val="E2E8F0"/>
            </a:solidFill>
            <a:prstDash val="solid"/>
          </a:ln>
        </p:spPr>
      </p:sp>
      <p:sp>
        <p:nvSpPr>
          <p:cNvPr id="25" name="Shape 23"/>
          <p:cNvSpPr/>
          <p:nvPr/>
        </p:nvSpPr>
        <p:spPr>
          <a:xfrm>
            <a:off x="4282440" y="2103120"/>
            <a:ext cx="3596640" cy="54864"/>
          </a:xfrm>
          <a:prstGeom prst="rect">
            <a:avLst/>
          </a:prstGeom>
          <a:solidFill>
            <a:srgbClr val="F59E0B"/>
          </a:solidFill>
          <a:ln w="12700">
            <a:solidFill>
              <a:srgbClr val="F59E0B"/>
            </a:solidFill>
            <a:prstDash val="solid"/>
          </a:ln>
        </p:spPr>
      </p:sp>
      <p:sp>
        <p:nvSpPr>
          <p:cNvPr id="26" name="Text 24"/>
          <p:cNvSpPr/>
          <p:nvPr/>
        </p:nvSpPr>
        <p:spPr>
          <a:xfrm>
            <a:off x="4556760" y="2331720"/>
            <a:ext cx="3139440" cy="320040"/>
          </a:xfrm>
          <a:prstGeom prst="rect">
            <a:avLst/>
          </a:prstGeom>
          <a:noFill/>
          <a:ln/>
        </p:spPr>
        <p:txBody>
          <a:bodyPr wrap="square" rtlCol="0" anchor="ctr"/>
          <a:lstStyle/>
          <a:p>
            <a:pPr indent="0" marL="0">
              <a:buNone/>
            </a:pPr>
            <a:r>
              <a:rPr lang="en-US" sz="1100" b="1" spc="300" kern="0" dirty="0">
                <a:solidFill>
                  <a:srgbClr val="F59E0B"/>
                </a:solidFill>
                <a:latin typeface="JetBrains Mono" pitchFamily="34" charset="0"/>
                <a:ea typeface="JetBrains Mono" pitchFamily="34" charset="-122"/>
                <a:cs typeface="JetBrains Mono" pitchFamily="34" charset="-120"/>
              </a:rPr>
              <a:t>25%  ·  £175K</a:t>
            </a:r>
            <a:endParaRPr lang="en-US" sz="1100" dirty="0"/>
          </a:p>
        </p:txBody>
      </p:sp>
      <p:sp>
        <p:nvSpPr>
          <p:cNvPr id="27" name="Text 25"/>
          <p:cNvSpPr/>
          <p:nvPr/>
        </p:nvSpPr>
        <p:spPr>
          <a:xfrm>
            <a:off x="4556760" y="2697480"/>
            <a:ext cx="3139440" cy="411480"/>
          </a:xfrm>
          <a:prstGeom prst="rect">
            <a:avLst/>
          </a:prstGeom>
          <a:noFill/>
          <a:ln/>
        </p:spPr>
        <p:txBody>
          <a:bodyPr wrap="square" rtlCol="0" anchor="ctr"/>
          <a:lstStyle/>
          <a:p>
            <a:pPr indent="0" marL="0">
              <a:lnSpc>
                <a:spcPct val="120000"/>
              </a:lnSpc>
              <a:buNone/>
            </a:pPr>
            <a:r>
              <a:rPr lang="en-US" sz="1300" b="1" dirty="0">
                <a:solidFill>
                  <a:srgbClr val="0F172A"/>
                </a:solidFill>
                <a:latin typeface="DM Sans" pitchFamily="34" charset="0"/>
                <a:ea typeface="DM Sans" pitchFamily="34" charset="-122"/>
                <a:cs typeface="DM Sans" pitchFamily="34" charset="-120"/>
              </a:rPr>
              <a:t>FIRST HIRES (12-MONTH BURN)</a:t>
            </a:r>
            <a:endParaRPr lang="en-US" sz="1300" dirty="0"/>
          </a:p>
        </p:txBody>
      </p:sp>
      <p:sp>
        <p:nvSpPr>
          <p:cNvPr id="28" name="Text 26"/>
          <p:cNvSpPr/>
          <p:nvPr/>
        </p:nvSpPr>
        <p:spPr>
          <a:xfrm>
            <a:off x="4556760" y="3291840"/>
            <a:ext cx="182880" cy="274320"/>
          </a:xfrm>
          <a:prstGeom prst="rect">
            <a:avLst/>
          </a:prstGeom>
          <a:noFill/>
          <a:ln/>
        </p:spPr>
        <p:txBody>
          <a:bodyPr wrap="square" rtlCol="0" anchor="ctr"/>
          <a:lstStyle/>
          <a:p>
            <a:pPr indent="0" marL="0">
              <a:buNone/>
            </a:pPr>
            <a:r>
              <a:rPr lang="en-US" sz="1200" dirty="0">
                <a:solidFill>
                  <a:srgbClr val="F59E0B"/>
                </a:solidFill>
                <a:latin typeface="DM Sans" pitchFamily="34" charset="0"/>
                <a:ea typeface="DM Sans" pitchFamily="34" charset="-122"/>
                <a:cs typeface="DM Sans" pitchFamily="34" charset="-120"/>
              </a:rPr>
              <a:t>•</a:t>
            </a:r>
            <a:endParaRPr lang="en-US" sz="1200" dirty="0"/>
          </a:p>
        </p:txBody>
      </p:sp>
      <p:sp>
        <p:nvSpPr>
          <p:cNvPr id="29" name="Text 27"/>
          <p:cNvSpPr/>
          <p:nvPr/>
        </p:nvSpPr>
        <p:spPr>
          <a:xfrm>
            <a:off x="4739640" y="329184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Engineer #1 — substrate hardening, multi-region, signed mobile pipeline</a:t>
            </a:r>
            <a:endParaRPr lang="en-US" sz="950" dirty="0"/>
          </a:p>
        </p:txBody>
      </p:sp>
      <p:sp>
        <p:nvSpPr>
          <p:cNvPr id="30" name="Text 28"/>
          <p:cNvSpPr/>
          <p:nvPr/>
        </p:nvSpPr>
        <p:spPr>
          <a:xfrm>
            <a:off x="6918960" y="333756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£95K</a:t>
            </a:r>
            <a:endParaRPr lang="en-US" sz="950" dirty="0"/>
          </a:p>
        </p:txBody>
      </p:sp>
      <p:sp>
        <p:nvSpPr>
          <p:cNvPr id="31" name="Text 29"/>
          <p:cNvSpPr/>
          <p:nvPr/>
        </p:nvSpPr>
        <p:spPr>
          <a:xfrm>
            <a:off x="4556760" y="3886200"/>
            <a:ext cx="182880" cy="274320"/>
          </a:xfrm>
          <a:prstGeom prst="rect">
            <a:avLst/>
          </a:prstGeom>
          <a:noFill/>
          <a:ln/>
        </p:spPr>
        <p:txBody>
          <a:bodyPr wrap="square" rtlCol="0" anchor="ctr"/>
          <a:lstStyle/>
          <a:p>
            <a:pPr indent="0" marL="0">
              <a:buNone/>
            </a:pPr>
            <a:r>
              <a:rPr lang="en-US" sz="1200" dirty="0">
                <a:solidFill>
                  <a:srgbClr val="F59E0B"/>
                </a:solidFill>
                <a:latin typeface="DM Sans" pitchFamily="34" charset="0"/>
                <a:ea typeface="DM Sans" pitchFamily="34" charset="-122"/>
                <a:cs typeface="DM Sans" pitchFamily="34" charset="-120"/>
              </a:rPr>
              <a:t>•</a:t>
            </a:r>
            <a:endParaRPr lang="en-US" sz="1200" dirty="0"/>
          </a:p>
        </p:txBody>
      </p:sp>
      <p:sp>
        <p:nvSpPr>
          <p:cNvPr id="32" name="Text 30"/>
          <p:cNvSpPr/>
          <p:nvPr/>
        </p:nvSpPr>
        <p:spPr>
          <a:xfrm>
            <a:off x="4739640" y="388620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Marketer #1 — content engine + creator relationships + comms</a:t>
            </a:r>
            <a:endParaRPr lang="en-US" sz="950" dirty="0"/>
          </a:p>
        </p:txBody>
      </p:sp>
      <p:sp>
        <p:nvSpPr>
          <p:cNvPr id="33" name="Text 31"/>
          <p:cNvSpPr/>
          <p:nvPr/>
        </p:nvSpPr>
        <p:spPr>
          <a:xfrm>
            <a:off x="6918960" y="393192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£65K</a:t>
            </a:r>
            <a:endParaRPr lang="en-US" sz="950" dirty="0"/>
          </a:p>
        </p:txBody>
      </p:sp>
      <p:sp>
        <p:nvSpPr>
          <p:cNvPr id="34" name="Text 32"/>
          <p:cNvSpPr/>
          <p:nvPr/>
        </p:nvSpPr>
        <p:spPr>
          <a:xfrm>
            <a:off x="4556760" y="4480560"/>
            <a:ext cx="182880" cy="274320"/>
          </a:xfrm>
          <a:prstGeom prst="rect">
            <a:avLst/>
          </a:prstGeom>
          <a:noFill/>
          <a:ln/>
        </p:spPr>
        <p:txBody>
          <a:bodyPr wrap="square" rtlCol="0" anchor="ctr"/>
          <a:lstStyle/>
          <a:p>
            <a:pPr indent="0" marL="0">
              <a:buNone/>
            </a:pPr>
            <a:r>
              <a:rPr lang="en-US" sz="1200" dirty="0">
                <a:solidFill>
                  <a:srgbClr val="F59E0B"/>
                </a:solidFill>
                <a:latin typeface="DM Sans" pitchFamily="34" charset="0"/>
                <a:ea typeface="DM Sans" pitchFamily="34" charset="-122"/>
                <a:cs typeface="DM Sans" pitchFamily="34" charset="-120"/>
              </a:rPr>
              <a:t>•</a:t>
            </a:r>
            <a:endParaRPr lang="en-US" sz="1200" dirty="0"/>
          </a:p>
        </p:txBody>
      </p:sp>
      <p:sp>
        <p:nvSpPr>
          <p:cNvPr id="35" name="Text 33"/>
          <p:cNvSpPr/>
          <p:nvPr/>
        </p:nvSpPr>
        <p:spPr>
          <a:xfrm>
            <a:off x="4739640" y="448056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Contractor budget (design, devops, legal)</a:t>
            </a:r>
            <a:endParaRPr lang="en-US" sz="950" dirty="0"/>
          </a:p>
        </p:txBody>
      </p:sp>
      <p:sp>
        <p:nvSpPr>
          <p:cNvPr id="36" name="Text 34"/>
          <p:cNvSpPr/>
          <p:nvPr/>
        </p:nvSpPr>
        <p:spPr>
          <a:xfrm>
            <a:off x="6918960" y="452628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£15K</a:t>
            </a:r>
            <a:endParaRPr lang="en-US" sz="950" dirty="0"/>
          </a:p>
        </p:txBody>
      </p:sp>
      <p:sp>
        <p:nvSpPr>
          <p:cNvPr id="37" name="Shape 35"/>
          <p:cNvSpPr/>
          <p:nvPr/>
        </p:nvSpPr>
        <p:spPr>
          <a:xfrm>
            <a:off x="8061960" y="2103120"/>
            <a:ext cx="3596640" cy="4114800"/>
          </a:xfrm>
          <a:prstGeom prst="roundRect">
            <a:avLst>
              <a:gd name="adj" fmla="val 2034"/>
            </a:avLst>
          </a:prstGeom>
          <a:solidFill>
            <a:srgbClr val="FFFFFF"/>
          </a:solidFill>
          <a:ln w="9525">
            <a:solidFill>
              <a:srgbClr val="E2E8F0"/>
            </a:solidFill>
            <a:prstDash val="solid"/>
          </a:ln>
        </p:spPr>
      </p:sp>
      <p:sp>
        <p:nvSpPr>
          <p:cNvPr id="38" name="Shape 36"/>
          <p:cNvSpPr/>
          <p:nvPr/>
        </p:nvSpPr>
        <p:spPr>
          <a:xfrm>
            <a:off x="8061960" y="2103120"/>
            <a:ext cx="3596640" cy="54864"/>
          </a:xfrm>
          <a:prstGeom prst="rect">
            <a:avLst/>
          </a:prstGeom>
          <a:solidFill>
            <a:srgbClr val="10B981"/>
          </a:solidFill>
          <a:ln w="12700">
            <a:solidFill>
              <a:srgbClr val="10B981"/>
            </a:solidFill>
            <a:prstDash val="solid"/>
          </a:ln>
        </p:spPr>
      </p:sp>
      <p:sp>
        <p:nvSpPr>
          <p:cNvPr id="39" name="Text 37"/>
          <p:cNvSpPr/>
          <p:nvPr/>
        </p:nvSpPr>
        <p:spPr>
          <a:xfrm>
            <a:off x="8336280" y="2331720"/>
            <a:ext cx="3139440" cy="320040"/>
          </a:xfrm>
          <a:prstGeom prst="rect">
            <a:avLst/>
          </a:prstGeom>
          <a:noFill/>
          <a:ln/>
        </p:spPr>
        <p:txBody>
          <a:bodyPr wrap="square" rtlCol="0" anchor="ctr"/>
          <a:lstStyle/>
          <a:p>
            <a:pPr indent="0" marL="0">
              <a:buNone/>
            </a:pPr>
            <a:r>
              <a:rPr lang="en-US" sz="1100" b="1" spc="300" kern="0" dirty="0">
                <a:solidFill>
                  <a:srgbClr val="10B981"/>
                </a:solidFill>
                <a:latin typeface="JetBrains Mono" pitchFamily="34" charset="0"/>
                <a:ea typeface="JetBrains Mono" pitchFamily="34" charset="-122"/>
                <a:cs typeface="JetBrains Mono" pitchFamily="34" charset="-120"/>
              </a:rPr>
              <a:t>15%  ·  £105K</a:t>
            </a:r>
            <a:endParaRPr lang="en-US" sz="1100" dirty="0"/>
          </a:p>
        </p:txBody>
      </p:sp>
      <p:sp>
        <p:nvSpPr>
          <p:cNvPr id="40" name="Text 38"/>
          <p:cNvSpPr/>
          <p:nvPr/>
        </p:nvSpPr>
        <p:spPr>
          <a:xfrm>
            <a:off x="8336280" y="2697480"/>
            <a:ext cx="3139440" cy="411480"/>
          </a:xfrm>
          <a:prstGeom prst="rect">
            <a:avLst/>
          </a:prstGeom>
          <a:noFill/>
          <a:ln/>
        </p:spPr>
        <p:txBody>
          <a:bodyPr wrap="square" rtlCol="0" anchor="ctr"/>
          <a:lstStyle/>
          <a:p>
            <a:pPr indent="0" marL="0">
              <a:lnSpc>
                <a:spcPct val="120000"/>
              </a:lnSpc>
              <a:buNone/>
            </a:pPr>
            <a:r>
              <a:rPr lang="en-US" sz="1300" b="1" dirty="0">
                <a:solidFill>
                  <a:srgbClr val="0F172A"/>
                </a:solidFill>
                <a:latin typeface="DM Sans" pitchFamily="34" charset="0"/>
                <a:ea typeface="DM Sans" pitchFamily="34" charset="-122"/>
                <a:cs typeface="DM Sans" pitchFamily="34" charset="-120"/>
              </a:rPr>
              <a:t>INFRASTRUCTURE + PARTNERSHIPS</a:t>
            </a:r>
            <a:endParaRPr lang="en-US" sz="1300" dirty="0"/>
          </a:p>
        </p:txBody>
      </p:sp>
      <p:sp>
        <p:nvSpPr>
          <p:cNvPr id="41" name="Text 39"/>
          <p:cNvSpPr/>
          <p:nvPr/>
        </p:nvSpPr>
        <p:spPr>
          <a:xfrm>
            <a:off x="8336280" y="329184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42" name="Text 40"/>
          <p:cNvSpPr/>
          <p:nvPr/>
        </p:nvSpPr>
        <p:spPr>
          <a:xfrm>
            <a:off x="8519160" y="329184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Second region (Hetzner Singapore / AWS Sydney)</a:t>
            </a:r>
            <a:endParaRPr lang="en-US" sz="950" dirty="0"/>
          </a:p>
        </p:txBody>
      </p:sp>
      <p:sp>
        <p:nvSpPr>
          <p:cNvPr id="43" name="Text 41"/>
          <p:cNvSpPr/>
          <p:nvPr/>
        </p:nvSpPr>
        <p:spPr>
          <a:xfrm>
            <a:off x="10698480" y="333756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£25K</a:t>
            </a:r>
            <a:endParaRPr lang="en-US" sz="950" dirty="0"/>
          </a:p>
        </p:txBody>
      </p:sp>
      <p:sp>
        <p:nvSpPr>
          <p:cNvPr id="44" name="Text 42"/>
          <p:cNvSpPr/>
          <p:nvPr/>
        </p:nvSpPr>
        <p:spPr>
          <a:xfrm>
            <a:off x="8336280" y="388620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45" name="Text 43"/>
          <p:cNvSpPr/>
          <p:nvPr/>
        </p:nvSpPr>
        <p:spPr>
          <a:xfrm>
            <a:off x="8519160" y="388620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Abuse + scaling headroom (DDoS mitigation, WAF, monitoring)</a:t>
            </a:r>
            <a:endParaRPr lang="en-US" sz="950" dirty="0"/>
          </a:p>
        </p:txBody>
      </p:sp>
      <p:sp>
        <p:nvSpPr>
          <p:cNvPr id="46" name="Text 44"/>
          <p:cNvSpPr/>
          <p:nvPr/>
        </p:nvSpPr>
        <p:spPr>
          <a:xfrm>
            <a:off x="10698480" y="393192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£20K</a:t>
            </a:r>
            <a:endParaRPr lang="en-US" sz="950" dirty="0"/>
          </a:p>
        </p:txBody>
      </p:sp>
      <p:sp>
        <p:nvSpPr>
          <p:cNvPr id="47" name="Text 45"/>
          <p:cNvSpPr/>
          <p:nvPr/>
        </p:nvSpPr>
        <p:spPr>
          <a:xfrm>
            <a:off x="8336280" y="448056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48" name="Text 46"/>
          <p:cNvSpPr/>
          <p:nvPr/>
        </p:nvSpPr>
        <p:spPr>
          <a:xfrm>
            <a:off x="8519160" y="448056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Partnership integration build (Anthropic / Cursor / Windsurf)</a:t>
            </a:r>
            <a:endParaRPr lang="en-US" sz="950" dirty="0"/>
          </a:p>
        </p:txBody>
      </p:sp>
      <p:sp>
        <p:nvSpPr>
          <p:cNvPr id="49" name="Text 47"/>
          <p:cNvSpPr/>
          <p:nvPr/>
        </p:nvSpPr>
        <p:spPr>
          <a:xfrm>
            <a:off x="10698480" y="452628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£25K</a:t>
            </a:r>
            <a:endParaRPr lang="en-US" sz="950" dirty="0"/>
          </a:p>
        </p:txBody>
      </p:sp>
      <p:sp>
        <p:nvSpPr>
          <p:cNvPr id="50" name="Text 48"/>
          <p:cNvSpPr/>
          <p:nvPr/>
        </p:nvSpPr>
        <p:spPr>
          <a:xfrm>
            <a:off x="8336280" y="507492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51" name="Text 49"/>
          <p:cNvSpPr/>
          <p:nvPr/>
        </p:nvSpPr>
        <p:spPr>
          <a:xfrm>
            <a:off x="8519160" y="507492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Wholesale negotiations: AI provider, VPS, mailbox bulk</a:t>
            </a:r>
            <a:endParaRPr lang="en-US" sz="950" dirty="0"/>
          </a:p>
        </p:txBody>
      </p:sp>
      <p:sp>
        <p:nvSpPr>
          <p:cNvPr id="52" name="Text 50"/>
          <p:cNvSpPr/>
          <p:nvPr/>
        </p:nvSpPr>
        <p:spPr>
          <a:xfrm>
            <a:off x="10698480" y="512064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£15K</a:t>
            </a:r>
            <a:endParaRPr lang="en-US" sz="950" dirty="0"/>
          </a:p>
        </p:txBody>
      </p:sp>
      <p:sp>
        <p:nvSpPr>
          <p:cNvPr id="53" name="Text 51"/>
          <p:cNvSpPr/>
          <p:nvPr/>
        </p:nvSpPr>
        <p:spPr>
          <a:xfrm>
            <a:off x="8336280" y="566928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54" name="Text 52"/>
          <p:cNvSpPr/>
          <p:nvPr/>
        </p:nvSpPr>
        <p:spPr>
          <a:xfrm>
            <a:off x="8519160" y="566928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Compliance / SOC 2 prep + legal (data residency, MSAs)</a:t>
            </a:r>
            <a:endParaRPr lang="en-US" sz="950" dirty="0"/>
          </a:p>
        </p:txBody>
      </p:sp>
      <p:sp>
        <p:nvSpPr>
          <p:cNvPr id="55" name="Text 53"/>
          <p:cNvSpPr/>
          <p:nvPr/>
        </p:nvSpPr>
        <p:spPr>
          <a:xfrm>
            <a:off x="10698480" y="571500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£20K</a:t>
            </a:r>
            <a:endParaRPr lang="en-US" sz="950" dirty="0"/>
          </a:p>
        </p:txBody>
      </p:sp>
      <p:sp>
        <p:nvSpPr>
          <p:cNvPr id="56" name="Text 54"/>
          <p:cNvSpPr/>
          <p:nvPr/>
        </p:nvSpPr>
        <p:spPr>
          <a:xfrm>
            <a:off x="502920" y="6355080"/>
            <a:ext cx="11155680" cy="274320"/>
          </a:xfrm>
          <a:prstGeom prst="rect">
            <a:avLst/>
          </a:prstGeom>
          <a:noFill/>
          <a:ln/>
        </p:spPr>
        <p:txBody>
          <a:bodyPr wrap="square" rtlCol="0" anchor="ctr"/>
          <a:lstStyle/>
          <a:p>
            <a:pPr algn="ctr" indent="0" marL="0">
              <a:buNone/>
            </a:pPr>
            <a:r>
              <a:rPr lang="en-US" sz="950" i="1" dirty="0">
                <a:solidFill>
                  <a:srgbClr val="64748B"/>
                </a:solidFill>
                <a:latin typeface="DM Sans" pitchFamily="34" charset="0"/>
                <a:ea typeface="DM Sans" pitchFamily="34" charset="-122"/>
                <a:cs typeface="DM Sans" pitchFamily="34" charset="-120"/>
              </a:rPr>
              <a:t>Discipline: month-by-month spend gate. If conversion + churn miss the validation thresholds (slide 12) by signup #100, paid spend pauses pending repricing.</a:t>
            </a:r>
            <a:endParaRPr lang="en-US" sz="950" dirty="0"/>
          </a:p>
        </p:txBody>
      </p:sp>
      <p:sp>
        <p:nvSpPr>
          <p:cNvPr id="57" name="Text 55"/>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8" name="Text 56"/>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28  ·  APPENDIX  ·  ORGANIC GROWTH + MOATS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How we grow without paid. How we hold ground after.</a:t>
            </a:r>
            <a:endParaRPr lang="en-US" sz="3000" dirty="0"/>
          </a:p>
        </p:txBody>
      </p:sp>
      <p:sp>
        <p:nvSpPr>
          <p:cNvPr id="4" name="Text 2"/>
          <p:cNvSpPr/>
          <p:nvPr/>
        </p:nvSpPr>
        <p:spPr>
          <a:xfrm>
            <a:off x="502920" y="1417320"/>
            <a:ext cx="11155680" cy="6400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If the raise doesn’t happen, the lifestyle landing zone still works — and we’d still spend creatively. If it does, the moats compound on top.</a:t>
            </a:r>
            <a:endParaRPr lang="en-US" sz="1400" dirty="0"/>
          </a:p>
        </p:txBody>
      </p:sp>
      <p:sp>
        <p:nvSpPr>
          <p:cNvPr id="5" name="Shape 3"/>
          <p:cNvSpPr/>
          <p:nvPr/>
        </p:nvSpPr>
        <p:spPr>
          <a:xfrm>
            <a:off x="502920" y="2286000"/>
            <a:ext cx="5577840" cy="3840480"/>
          </a:xfrm>
          <a:prstGeom prst="roundRect">
            <a:avLst>
              <a:gd name="adj" fmla="val 1905"/>
            </a:avLst>
          </a:prstGeom>
          <a:solidFill>
            <a:srgbClr val="FFFFFF"/>
          </a:solidFill>
          <a:ln w="9525">
            <a:solidFill>
              <a:srgbClr val="E2E8F0"/>
            </a:solidFill>
            <a:prstDash val="solid"/>
          </a:ln>
        </p:spPr>
      </p:sp>
      <p:sp>
        <p:nvSpPr>
          <p:cNvPr id="6" name="Shape 4"/>
          <p:cNvSpPr/>
          <p:nvPr/>
        </p:nvSpPr>
        <p:spPr>
          <a:xfrm>
            <a:off x="502920" y="2286000"/>
            <a:ext cx="5577840" cy="54864"/>
          </a:xfrm>
          <a:prstGeom prst="rect">
            <a:avLst/>
          </a:prstGeom>
          <a:solidFill>
            <a:srgbClr val="4F46E5"/>
          </a:solidFill>
          <a:ln w="12700">
            <a:solidFill>
              <a:srgbClr val="4F46E5"/>
            </a:solidFill>
            <a:prstDash val="solid"/>
          </a:ln>
        </p:spPr>
      </p:sp>
      <p:sp>
        <p:nvSpPr>
          <p:cNvPr id="7" name="Text 5"/>
          <p:cNvSpPr/>
          <p:nvPr/>
        </p:nvSpPr>
        <p:spPr>
          <a:xfrm>
            <a:off x="777240" y="2514600"/>
            <a:ext cx="512064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ORGANIC GROWTH MODEL  ·  £0 PAID</a:t>
            </a:r>
            <a:endParaRPr lang="en-US" sz="900" dirty="0"/>
          </a:p>
        </p:txBody>
      </p:sp>
      <p:sp>
        <p:nvSpPr>
          <p:cNvPr id="8" name="Text 6"/>
          <p:cNvSpPr/>
          <p:nvPr/>
        </p:nvSpPr>
        <p:spPr>
          <a:xfrm>
            <a:off x="777240" y="3017520"/>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0-3</a:t>
            </a:r>
            <a:endParaRPr lang="en-US" sz="900" dirty="0"/>
          </a:p>
        </p:txBody>
      </p:sp>
      <p:sp>
        <p:nvSpPr>
          <p:cNvPr id="9" name="Text 7"/>
          <p:cNvSpPr/>
          <p:nvPr/>
        </p:nvSpPr>
        <p:spPr>
          <a:xfrm>
            <a:off x="1737360" y="3017520"/>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Build in public on X + indie-hacker forums</a:t>
            </a:r>
            <a:endParaRPr lang="en-US" sz="1100" dirty="0"/>
          </a:p>
        </p:txBody>
      </p:sp>
      <p:sp>
        <p:nvSpPr>
          <p:cNvPr id="10" name="Text 8"/>
          <p:cNvSpPr/>
          <p:nvPr/>
        </p:nvSpPr>
        <p:spPr>
          <a:xfrm>
            <a:off x="1737360" y="3291840"/>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Compounding signal, free distribution. Free.</a:t>
            </a:r>
            <a:endParaRPr lang="en-US" sz="950" dirty="0"/>
          </a:p>
        </p:txBody>
      </p:sp>
      <p:sp>
        <p:nvSpPr>
          <p:cNvPr id="11" name="Text 9"/>
          <p:cNvSpPr/>
          <p:nvPr/>
        </p:nvSpPr>
        <p:spPr>
          <a:xfrm>
            <a:off x="777240" y="3621024"/>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3-6</a:t>
            </a:r>
            <a:endParaRPr lang="en-US" sz="900" dirty="0"/>
          </a:p>
        </p:txBody>
      </p:sp>
      <p:sp>
        <p:nvSpPr>
          <p:cNvPr id="12" name="Text 10"/>
          <p:cNvSpPr/>
          <p:nvPr/>
        </p:nvSpPr>
        <p:spPr>
          <a:xfrm>
            <a:off x="1737360" y="3621024"/>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Long-form: docs, YouTube how-tos, integration deep-dives</a:t>
            </a:r>
            <a:endParaRPr lang="en-US" sz="1100" dirty="0"/>
          </a:p>
        </p:txBody>
      </p:sp>
      <p:sp>
        <p:nvSpPr>
          <p:cNvPr id="13" name="Text 11"/>
          <p:cNvSpPr/>
          <p:nvPr/>
        </p:nvSpPr>
        <p:spPr>
          <a:xfrm>
            <a:off x="1737360" y="3895344"/>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SEO + creator inbound. Founder-time + £200/mo tools.</a:t>
            </a:r>
            <a:endParaRPr lang="en-US" sz="950" dirty="0"/>
          </a:p>
        </p:txBody>
      </p:sp>
      <p:sp>
        <p:nvSpPr>
          <p:cNvPr id="14" name="Text 12"/>
          <p:cNvSpPr/>
          <p:nvPr/>
        </p:nvSpPr>
        <p:spPr>
          <a:xfrm>
            <a:off x="777240" y="4224528"/>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6-9</a:t>
            </a:r>
            <a:endParaRPr lang="en-US" sz="900" dirty="0"/>
          </a:p>
        </p:txBody>
      </p:sp>
      <p:sp>
        <p:nvSpPr>
          <p:cNvPr id="15" name="Text 13"/>
          <p:cNvSpPr/>
          <p:nvPr/>
        </p:nvSpPr>
        <p:spPr>
          <a:xfrm>
            <a:off x="1737360" y="4224528"/>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Open-source first integration template</a:t>
            </a:r>
            <a:endParaRPr lang="en-US" sz="1100" dirty="0"/>
          </a:p>
        </p:txBody>
      </p:sp>
      <p:sp>
        <p:nvSpPr>
          <p:cNvPr id="16" name="Text 14"/>
          <p:cNvSpPr/>
          <p:nvPr/>
        </p:nvSpPr>
        <p:spPr>
          <a:xfrm>
            <a:off x="1737360" y="4498848"/>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GitHub stars = trust + indexable backlinks. £0 cash.</a:t>
            </a:r>
            <a:endParaRPr lang="en-US" sz="950" dirty="0"/>
          </a:p>
        </p:txBody>
      </p:sp>
      <p:sp>
        <p:nvSpPr>
          <p:cNvPr id="17" name="Text 15"/>
          <p:cNvSpPr/>
          <p:nvPr/>
        </p:nvSpPr>
        <p:spPr>
          <a:xfrm>
            <a:off x="777240" y="4828032"/>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9-12</a:t>
            </a:r>
            <a:endParaRPr lang="en-US" sz="900" dirty="0"/>
          </a:p>
        </p:txBody>
      </p:sp>
      <p:sp>
        <p:nvSpPr>
          <p:cNvPr id="18" name="Text 16"/>
          <p:cNvSpPr/>
          <p:nvPr/>
        </p:nvSpPr>
        <p:spPr>
          <a:xfrm>
            <a:off x="1737360" y="4828032"/>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Reddit value content + Discord community</a:t>
            </a:r>
            <a:endParaRPr lang="en-US" sz="1100" dirty="0"/>
          </a:p>
        </p:txBody>
      </p:sp>
      <p:sp>
        <p:nvSpPr>
          <p:cNvPr id="19" name="Text 17"/>
          <p:cNvSpPr/>
          <p:nvPr/>
        </p:nvSpPr>
        <p:spPr>
          <a:xfrm>
            <a:off x="1737360" y="5102352"/>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r/cursor, r/ClaudeAI, r/lovable. £0 cash + 4 hrs/week.</a:t>
            </a:r>
            <a:endParaRPr lang="en-US" sz="950" dirty="0"/>
          </a:p>
        </p:txBody>
      </p:sp>
      <p:sp>
        <p:nvSpPr>
          <p:cNvPr id="20" name="Text 18"/>
          <p:cNvSpPr/>
          <p:nvPr/>
        </p:nvSpPr>
        <p:spPr>
          <a:xfrm>
            <a:off x="777240" y="5431536"/>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12+</a:t>
            </a:r>
            <a:endParaRPr lang="en-US" sz="900" dirty="0"/>
          </a:p>
        </p:txBody>
      </p:sp>
      <p:sp>
        <p:nvSpPr>
          <p:cNvPr id="21" name="Text 19"/>
          <p:cNvSpPr/>
          <p:nvPr/>
        </p:nvSpPr>
        <p:spPr>
          <a:xfrm>
            <a:off x="1737360" y="5431536"/>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Customer-led case studies + revenue posts</a:t>
            </a:r>
            <a:endParaRPr lang="en-US" sz="1100" dirty="0"/>
          </a:p>
        </p:txBody>
      </p:sp>
      <p:sp>
        <p:nvSpPr>
          <p:cNvPr id="22" name="Text 20"/>
          <p:cNvSpPr/>
          <p:nvPr/>
        </p:nvSpPr>
        <p:spPr>
          <a:xfrm>
            <a:off x="1737360" y="5705856"/>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"How I shipped X with Hatchik in a weekend." Free.</a:t>
            </a:r>
            <a:endParaRPr lang="en-US" sz="950" dirty="0"/>
          </a:p>
        </p:txBody>
      </p:sp>
      <p:sp>
        <p:nvSpPr>
          <p:cNvPr id="23" name="Shape 21"/>
          <p:cNvSpPr/>
          <p:nvPr/>
        </p:nvSpPr>
        <p:spPr>
          <a:xfrm>
            <a:off x="6263640" y="2286000"/>
            <a:ext cx="5394960" cy="3840480"/>
          </a:xfrm>
          <a:prstGeom prst="roundRect">
            <a:avLst>
              <a:gd name="adj" fmla="val 1905"/>
            </a:avLst>
          </a:prstGeom>
          <a:solidFill>
            <a:srgbClr val="FFFFFF"/>
          </a:solidFill>
          <a:ln w="9525">
            <a:solidFill>
              <a:srgbClr val="E2E8F0"/>
            </a:solidFill>
            <a:prstDash val="solid"/>
          </a:ln>
        </p:spPr>
      </p:sp>
      <p:sp>
        <p:nvSpPr>
          <p:cNvPr id="24" name="Shape 22"/>
          <p:cNvSpPr/>
          <p:nvPr/>
        </p:nvSpPr>
        <p:spPr>
          <a:xfrm>
            <a:off x="6263640" y="2286000"/>
            <a:ext cx="5394960" cy="54864"/>
          </a:xfrm>
          <a:prstGeom prst="rect">
            <a:avLst/>
          </a:prstGeom>
          <a:solidFill>
            <a:srgbClr val="F59E0B"/>
          </a:solidFill>
          <a:ln w="12700">
            <a:solidFill>
              <a:srgbClr val="F59E0B"/>
            </a:solidFill>
            <a:prstDash val="solid"/>
          </a:ln>
        </p:spPr>
      </p:sp>
      <p:sp>
        <p:nvSpPr>
          <p:cNvPr id="25" name="Text 23"/>
          <p:cNvSpPr/>
          <p:nvPr/>
        </p:nvSpPr>
        <p:spPr>
          <a:xfrm>
            <a:off x="6537960" y="2514600"/>
            <a:ext cx="4937760" cy="274320"/>
          </a:xfrm>
          <a:prstGeom prst="rect">
            <a:avLst/>
          </a:prstGeom>
          <a:noFill/>
          <a:ln/>
        </p:spPr>
        <p:txBody>
          <a:bodyPr wrap="square" rtlCol="0" anchor="ctr"/>
          <a:lstStyle/>
          <a:p>
            <a:pPr indent="0" marL="0">
              <a:buNone/>
            </a:pPr>
            <a:r>
              <a:rPr lang="en-US" sz="900" b="1" spc="300" kern="0" dirty="0">
                <a:solidFill>
                  <a:srgbClr val="B45309"/>
                </a:solidFill>
                <a:latin typeface="JetBrains Mono" pitchFamily="34" charset="0"/>
                <a:ea typeface="JetBrains Mono" pitchFamily="34" charset="-122"/>
                <a:cs typeface="JetBrains Mono" pitchFamily="34" charset="-120"/>
              </a:rPr>
              <a:t>MOATS  ·  COMPOUNDING DEFENCES</a:t>
            </a:r>
            <a:endParaRPr lang="en-US" sz="900" dirty="0"/>
          </a:p>
        </p:txBody>
      </p:sp>
      <p:sp>
        <p:nvSpPr>
          <p:cNvPr id="26" name="Shape 24"/>
          <p:cNvSpPr/>
          <p:nvPr/>
        </p:nvSpPr>
        <p:spPr>
          <a:xfrm>
            <a:off x="6537960" y="3044952"/>
            <a:ext cx="128016" cy="128016"/>
          </a:xfrm>
          <a:prstGeom prst="ellipse">
            <a:avLst/>
          </a:prstGeom>
          <a:solidFill>
            <a:srgbClr val="F59E0B"/>
          </a:solidFill>
          <a:ln w="12700">
            <a:solidFill>
              <a:srgbClr val="333333"/>
            </a:solidFill>
            <a:prstDash val="solid"/>
          </a:ln>
        </p:spPr>
      </p:sp>
      <p:sp>
        <p:nvSpPr>
          <p:cNvPr id="27" name="Text 25"/>
          <p:cNvSpPr/>
          <p:nvPr/>
        </p:nvSpPr>
        <p:spPr>
          <a:xfrm>
            <a:off x="6739128" y="2953512"/>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Wholesale AI provider contracts</a:t>
            </a:r>
            <a:endParaRPr lang="en-US" sz="1000" dirty="0"/>
          </a:p>
        </p:txBody>
      </p:sp>
      <p:sp>
        <p:nvSpPr>
          <p:cNvPr id="28" name="Text 26"/>
          <p:cNvSpPr/>
          <p:nvPr/>
        </p:nvSpPr>
        <p:spPr>
          <a:xfrm>
            <a:off x="6739128" y="3172968"/>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Negotiate enterprise rates with Anthropic / OpenAI at the 5K-customer mark. 10-20% off list = direct margin uplift competitors can’t match.</a:t>
            </a:r>
            <a:endParaRPr lang="en-US" sz="800" dirty="0"/>
          </a:p>
        </p:txBody>
      </p:sp>
      <p:sp>
        <p:nvSpPr>
          <p:cNvPr id="29" name="Shape 27"/>
          <p:cNvSpPr/>
          <p:nvPr/>
        </p:nvSpPr>
        <p:spPr>
          <a:xfrm>
            <a:off x="6537960" y="3557016"/>
            <a:ext cx="128016" cy="128016"/>
          </a:xfrm>
          <a:prstGeom prst="ellipse">
            <a:avLst/>
          </a:prstGeom>
          <a:solidFill>
            <a:srgbClr val="F59E0B"/>
          </a:solidFill>
          <a:ln w="12700">
            <a:solidFill>
              <a:srgbClr val="333333"/>
            </a:solidFill>
            <a:prstDash val="solid"/>
          </a:ln>
        </p:spPr>
      </p:sp>
      <p:sp>
        <p:nvSpPr>
          <p:cNvPr id="30" name="Text 28"/>
          <p:cNvSpPr/>
          <p:nvPr/>
        </p:nvSpPr>
        <p:spPr>
          <a:xfrm>
            <a:off x="6739128" y="3465576"/>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Wholesale VPS + mailbox contracts</a:t>
            </a:r>
            <a:endParaRPr lang="en-US" sz="1000" dirty="0"/>
          </a:p>
        </p:txBody>
      </p:sp>
      <p:sp>
        <p:nvSpPr>
          <p:cNvPr id="31" name="Text 29"/>
          <p:cNvSpPr/>
          <p:nvPr/>
        </p:nvSpPr>
        <p:spPr>
          <a:xfrm>
            <a:off x="6739128" y="3685032"/>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Hetzner / Infomaniak account-manager pricing at scale. £1-2/customer/mo savings competitors don’t see.</a:t>
            </a:r>
            <a:endParaRPr lang="en-US" sz="800" dirty="0"/>
          </a:p>
        </p:txBody>
      </p:sp>
      <p:sp>
        <p:nvSpPr>
          <p:cNvPr id="32" name="Shape 30"/>
          <p:cNvSpPr/>
          <p:nvPr/>
        </p:nvSpPr>
        <p:spPr>
          <a:xfrm>
            <a:off x="6537960" y="4069080"/>
            <a:ext cx="128016" cy="128016"/>
          </a:xfrm>
          <a:prstGeom prst="ellipse">
            <a:avLst/>
          </a:prstGeom>
          <a:solidFill>
            <a:srgbClr val="F59E0B"/>
          </a:solidFill>
          <a:ln w="12700">
            <a:solidFill>
              <a:srgbClr val="333333"/>
            </a:solidFill>
            <a:prstDash val="solid"/>
          </a:ln>
        </p:spPr>
      </p:sp>
      <p:sp>
        <p:nvSpPr>
          <p:cNvPr id="33" name="Text 31"/>
          <p:cNvSpPr/>
          <p:nvPr/>
        </p:nvSpPr>
        <p:spPr>
          <a:xfrm>
            <a:off x="6739128" y="3977640"/>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Substrate template library</a:t>
            </a:r>
            <a:endParaRPr lang="en-US" sz="1000" dirty="0"/>
          </a:p>
        </p:txBody>
      </p:sp>
      <p:sp>
        <p:nvSpPr>
          <p:cNvPr id="34" name="Text 32"/>
          <p:cNvSpPr/>
          <p:nvPr/>
        </p:nvSpPr>
        <p:spPr>
          <a:xfrm>
            <a:off x="6739128" y="4197096"/>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Build 20+ "ready-to-run" templates (POS, booking, course platform). Every template a tutorial + an SEO page + a switching cost.</a:t>
            </a:r>
            <a:endParaRPr lang="en-US" sz="800" dirty="0"/>
          </a:p>
        </p:txBody>
      </p:sp>
      <p:sp>
        <p:nvSpPr>
          <p:cNvPr id="35" name="Shape 33"/>
          <p:cNvSpPr/>
          <p:nvPr/>
        </p:nvSpPr>
        <p:spPr>
          <a:xfrm>
            <a:off x="6537960" y="4581144"/>
            <a:ext cx="128016" cy="128016"/>
          </a:xfrm>
          <a:prstGeom prst="ellipse">
            <a:avLst/>
          </a:prstGeom>
          <a:solidFill>
            <a:srgbClr val="F59E0B"/>
          </a:solidFill>
          <a:ln w="12700">
            <a:solidFill>
              <a:srgbClr val="333333"/>
            </a:solidFill>
            <a:prstDash val="solid"/>
          </a:ln>
        </p:spPr>
      </p:sp>
      <p:sp>
        <p:nvSpPr>
          <p:cNvPr id="36" name="Text 34"/>
          <p:cNvSpPr/>
          <p:nvPr/>
        </p:nvSpPr>
        <p:spPr>
          <a:xfrm>
            <a:off x="6739128" y="4489704"/>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BYO-AI brand identity</a:t>
            </a:r>
            <a:endParaRPr lang="en-US" sz="1000" dirty="0"/>
          </a:p>
        </p:txBody>
      </p:sp>
      <p:sp>
        <p:nvSpPr>
          <p:cNvPr id="37" name="Text 35"/>
          <p:cNvSpPr/>
          <p:nvPr/>
        </p:nvSpPr>
        <p:spPr>
          <a:xfrm>
            <a:off x="6739128" y="4709160"/>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Hatchik = "production substrate for AI-built SaaS" in the AI-tool community lexicon. Hard for a lab to claim without re-training every user.</a:t>
            </a:r>
            <a:endParaRPr lang="en-US" sz="800" dirty="0"/>
          </a:p>
        </p:txBody>
      </p:sp>
      <p:sp>
        <p:nvSpPr>
          <p:cNvPr id="38" name="Shape 36"/>
          <p:cNvSpPr/>
          <p:nvPr/>
        </p:nvSpPr>
        <p:spPr>
          <a:xfrm>
            <a:off x="6537960" y="5093208"/>
            <a:ext cx="128016" cy="128016"/>
          </a:xfrm>
          <a:prstGeom prst="ellipse">
            <a:avLst/>
          </a:prstGeom>
          <a:solidFill>
            <a:srgbClr val="F59E0B"/>
          </a:solidFill>
          <a:ln w="12700">
            <a:solidFill>
              <a:srgbClr val="333333"/>
            </a:solidFill>
            <a:prstDash val="solid"/>
          </a:ln>
        </p:spPr>
      </p:sp>
      <p:sp>
        <p:nvSpPr>
          <p:cNvPr id="39" name="Text 37"/>
          <p:cNvSpPr/>
          <p:nvPr/>
        </p:nvSpPr>
        <p:spPr>
          <a:xfrm>
            <a:off x="6739128" y="5001768"/>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Open-source self-host edition</a:t>
            </a:r>
            <a:endParaRPr lang="en-US" sz="1000" dirty="0"/>
          </a:p>
        </p:txBody>
      </p:sp>
      <p:sp>
        <p:nvSpPr>
          <p:cNvPr id="40" name="Text 38"/>
          <p:cNvSpPr/>
          <p:nvPr/>
        </p:nvSpPr>
        <p:spPr>
          <a:xfrm>
            <a:off x="6739128" y="5221224"/>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OSS sandbox of the substrate (BSL → Apache). Strips switching-cost concerns; we sell managed + support on top.</a:t>
            </a:r>
            <a:endParaRPr lang="en-US" sz="800" dirty="0"/>
          </a:p>
        </p:txBody>
      </p:sp>
      <p:sp>
        <p:nvSpPr>
          <p:cNvPr id="41" name="Shape 39"/>
          <p:cNvSpPr/>
          <p:nvPr/>
        </p:nvSpPr>
        <p:spPr>
          <a:xfrm>
            <a:off x="6537960" y="5605272"/>
            <a:ext cx="128016" cy="128016"/>
          </a:xfrm>
          <a:prstGeom prst="ellipse">
            <a:avLst/>
          </a:prstGeom>
          <a:solidFill>
            <a:srgbClr val="F59E0B"/>
          </a:solidFill>
          <a:ln w="12700">
            <a:solidFill>
              <a:srgbClr val="333333"/>
            </a:solidFill>
            <a:prstDash val="solid"/>
          </a:ln>
        </p:spPr>
      </p:sp>
      <p:sp>
        <p:nvSpPr>
          <p:cNvPr id="42" name="Text 40"/>
          <p:cNvSpPr/>
          <p:nvPr/>
        </p:nvSpPr>
        <p:spPr>
          <a:xfrm>
            <a:off x="6739128" y="5513832"/>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Founder-led retention</a:t>
            </a:r>
            <a:endParaRPr lang="en-US" sz="1000" dirty="0"/>
          </a:p>
        </p:txBody>
      </p:sp>
      <p:sp>
        <p:nvSpPr>
          <p:cNvPr id="43" name="Text 41"/>
          <p:cNvSpPr/>
          <p:nvPr/>
        </p:nvSpPr>
        <p:spPr>
          <a:xfrm>
            <a:off x="6739128" y="5733288"/>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First 500 customers know the founder personally. Cannot be replicated by a corporate product team. Drives word-of-mouth.</a:t>
            </a:r>
            <a:endParaRPr lang="en-US" sz="800" dirty="0"/>
          </a:p>
        </p:txBody>
      </p:sp>
      <p:sp>
        <p:nvSpPr>
          <p:cNvPr id="44" name="Text 42"/>
          <p:cNvSpPr/>
          <p:nvPr/>
        </p:nvSpPr>
        <p:spPr>
          <a:xfrm>
            <a:off x="502920" y="6309360"/>
            <a:ext cx="11155680" cy="274320"/>
          </a:xfrm>
          <a:prstGeom prst="rect">
            <a:avLst/>
          </a:prstGeom>
          <a:noFill/>
          <a:ln/>
        </p:spPr>
        <p:txBody>
          <a:bodyPr wrap="square" rtlCol="0" anchor="ctr"/>
          <a:lstStyle/>
          <a:p>
            <a:pPr algn="ctr" indent="0" marL="0">
              <a:buNone/>
            </a:pPr>
            <a:r>
              <a:rPr lang="en-US" sz="950" i="1" dirty="0">
                <a:solidFill>
                  <a:srgbClr val="64748B"/>
                </a:solidFill>
                <a:latin typeface="DM Sans" pitchFamily="34" charset="0"/>
                <a:ea typeface="DM Sans" pitchFamily="34" charset="-122"/>
                <a:cs typeface="DM Sans" pitchFamily="34" charset="-120"/>
              </a:rPr>
              <a:t>Team-growth plan: Engineer + Marketer in Y1 (raise path). Y2 + 2-3 hires only if MRR clears £200K. Default = founder-led indefinitely.</a:t>
            </a:r>
            <a:endParaRPr lang="en-US" sz="950" dirty="0"/>
          </a:p>
        </p:txBody>
      </p:sp>
      <p:sp>
        <p:nvSpPr>
          <p:cNvPr id="45" name="Text 4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46" name="Text 4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29  ·  APPENDIX  ·  CAPACITY MANAGEMENT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Two tiers. Two density strategies. Both observable.</a:t>
            </a:r>
            <a:endParaRPr lang="en-US" sz="3000" dirty="0"/>
          </a:p>
        </p:txBody>
      </p:sp>
      <p:sp>
        <p:nvSpPr>
          <p:cNvPr id="4" name="Text 2"/>
          <p:cNvSpPr/>
          <p:nvPr/>
        </p:nvSpPr>
        <p:spPr>
          <a:xfrm>
            <a:off x="502920" y="1417320"/>
            <a:ext cx="11155680" cy="77724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Sandbox runs hot and cheap on a single CAX31 via overcommit + idle-suspend. Launch runs warm on CAX41 with bin-packing. Both have explicit watermarks that trigger horizontal scale before contention bites.</a:t>
            </a:r>
            <a:endParaRPr lang="en-US" sz="1400" dirty="0"/>
          </a:p>
        </p:txBody>
      </p:sp>
      <p:sp>
        <p:nvSpPr>
          <p:cNvPr id="5" name="Shape 3"/>
          <p:cNvSpPr/>
          <p:nvPr/>
        </p:nvSpPr>
        <p:spPr>
          <a:xfrm>
            <a:off x="502920" y="2423160"/>
            <a:ext cx="5577840" cy="3794760"/>
          </a:xfrm>
          <a:prstGeom prst="roundRect">
            <a:avLst>
              <a:gd name="adj" fmla="val 1928"/>
            </a:avLst>
          </a:prstGeom>
          <a:solidFill>
            <a:srgbClr val="FFFFFF"/>
          </a:solidFill>
          <a:ln w="9525">
            <a:solidFill>
              <a:srgbClr val="E2E8F0"/>
            </a:solidFill>
            <a:prstDash val="solid"/>
          </a:ln>
        </p:spPr>
      </p:sp>
      <p:sp>
        <p:nvSpPr>
          <p:cNvPr id="6" name="Shape 4"/>
          <p:cNvSpPr/>
          <p:nvPr/>
        </p:nvSpPr>
        <p:spPr>
          <a:xfrm>
            <a:off x="502920" y="2423160"/>
            <a:ext cx="5577840" cy="54864"/>
          </a:xfrm>
          <a:prstGeom prst="rect">
            <a:avLst/>
          </a:prstGeom>
          <a:solidFill>
            <a:srgbClr val="4F46E5"/>
          </a:solidFill>
          <a:ln w="12700">
            <a:solidFill>
              <a:srgbClr val="4F46E5"/>
            </a:solidFill>
            <a:prstDash val="solid"/>
          </a:ln>
        </p:spPr>
      </p:sp>
      <p:sp>
        <p:nvSpPr>
          <p:cNvPr id="7" name="Text 5"/>
          <p:cNvSpPr/>
          <p:nvPr/>
        </p:nvSpPr>
        <p:spPr>
          <a:xfrm>
            <a:off x="777240" y="2651760"/>
            <a:ext cx="5120640" cy="274320"/>
          </a:xfrm>
          <a:prstGeom prst="rect">
            <a:avLst/>
          </a:prstGeom>
          <a:noFill/>
          <a:ln/>
        </p:spPr>
        <p:txBody>
          <a:bodyPr wrap="square" rtlCol="0" anchor="ctr"/>
          <a:lstStyle/>
          <a:p>
            <a:pPr indent="0" marL="0">
              <a:buNone/>
            </a:pPr>
            <a:r>
              <a:rPr lang="en-US" sz="900" b="1" spc="300" kern="0" dirty="0">
                <a:solidFill>
                  <a:srgbClr val="3730A3"/>
                </a:solidFill>
                <a:latin typeface="JetBrains Mono" pitchFamily="34" charset="0"/>
                <a:ea typeface="JetBrains Mono" pitchFamily="34" charset="-122"/>
                <a:cs typeface="JetBrains Mono" pitchFamily="34" charset="-120"/>
              </a:rPr>
              <a:t>SANDBOX TIER  ·  CAX31  ·  £0.30/mo</a:t>
            </a:r>
            <a:endParaRPr lang="en-US" sz="900" dirty="0"/>
          </a:p>
        </p:txBody>
      </p:sp>
      <p:sp>
        <p:nvSpPr>
          <p:cNvPr id="8" name="Text 6"/>
          <p:cNvSpPr/>
          <p:nvPr/>
        </p:nvSpPr>
        <p:spPr>
          <a:xfrm>
            <a:off x="777240" y="2971800"/>
            <a:ext cx="5120640" cy="365760"/>
          </a:xfrm>
          <a:prstGeom prst="rect">
            <a:avLst/>
          </a:prstGeom>
          <a:noFill/>
          <a:ln/>
        </p:spPr>
        <p:txBody>
          <a:bodyPr wrap="square" rtlCol="0" anchor="ctr"/>
          <a:lstStyle/>
          <a:p>
            <a:pPr indent="0" marL="0">
              <a:buNone/>
            </a:pPr>
            <a:r>
              <a:rPr lang="en-US" sz="1600" b="1" dirty="0">
                <a:solidFill>
                  <a:srgbClr val="0F172A"/>
                </a:solidFill>
                <a:latin typeface="DM Sans" pitchFamily="34" charset="0"/>
                <a:ea typeface="DM Sans" pitchFamily="34" charset="-122"/>
                <a:cs typeface="DM Sans" pitchFamily="34" charset="-120"/>
              </a:rPr>
              <a:t>Target ~45 tenants/host</a:t>
            </a:r>
            <a:endParaRPr lang="en-US" sz="1600" dirty="0"/>
          </a:p>
        </p:txBody>
      </p:sp>
      <p:sp>
        <p:nvSpPr>
          <p:cNvPr id="9" name="Shape 7"/>
          <p:cNvSpPr/>
          <p:nvPr/>
        </p:nvSpPr>
        <p:spPr>
          <a:xfrm>
            <a:off x="777240" y="3520440"/>
            <a:ext cx="109728" cy="109728"/>
          </a:xfrm>
          <a:prstGeom prst="ellipse">
            <a:avLst/>
          </a:prstGeom>
          <a:solidFill>
            <a:srgbClr val="4F46E5"/>
          </a:solidFill>
          <a:ln w="12700">
            <a:solidFill>
              <a:srgbClr val="333333"/>
            </a:solidFill>
            <a:prstDash val="solid"/>
          </a:ln>
        </p:spPr>
      </p:sp>
      <p:sp>
        <p:nvSpPr>
          <p:cNvPr id="10" name="Text 8"/>
          <p:cNvSpPr/>
          <p:nvPr/>
        </p:nvSpPr>
        <p:spPr>
          <a:xfrm>
            <a:off x="960120" y="3410712"/>
            <a:ext cx="160020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Drop Studio</a:t>
            </a:r>
            <a:endParaRPr lang="en-US" sz="1000" dirty="0"/>
          </a:p>
        </p:txBody>
      </p:sp>
      <p:sp>
        <p:nvSpPr>
          <p:cNvPr id="11" name="Text 9"/>
          <p:cNvSpPr/>
          <p:nvPr/>
        </p:nvSpPr>
        <p:spPr>
          <a:xfrm>
            <a:off x="960120" y="36301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Saves ~400 MB RAM + ~300 MB disk per tenant. Launch+ feature only.</a:t>
            </a:r>
            <a:endParaRPr lang="en-US" sz="850" dirty="0"/>
          </a:p>
        </p:txBody>
      </p:sp>
      <p:sp>
        <p:nvSpPr>
          <p:cNvPr id="12" name="Shape 10"/>
          <p:cNvSpPr/>
          <p:nvPr/>
        </p:nvSpPr>
        <p:spPr>
          <a:xfrm>
            <a:off x="777240" y="3977640"/>
            <a:ext cx="109728" cy="109728"/>
          </a:xfrm>
          <a:prstGeom prst="ellipse">
            <a:avLst/>
          </a:prstGeom>
          <a:solidFill>
            <a:srgbClr val="4F46E5"/>
          </a:solidFill>
          <a:ln w="12700">
            <a:solidFill>
              <a:srgbClr val="333333"/>
            </a:solidFill>
            <a:prstDash val="solid"/>
          </a:ln>
        </p:spPr>
      </p:sp>
      <p:sp>
        <p:nvSpPr>
          <p:cNvPr id="13" name="Text 11"/>
          <p:cNvSpPr/>
          <p:nvPr/>
        </p:nvSpPr>
        <p:spPr>
          <a:xfrm>
            <a:off x="960120" y="3867912"/>
            <a:ext cx="160020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Memory overcommit</a:t>
            </a:r>
            <a:endParaRPr lang="en-US" sz="1000" dirty="0"/>
          </a:p>
        </p:txBody>
      </p:sp>
      <p:sp>
        <p:nvSpPr>
          <p:cNvPr id="14" name="Text 12"/>
          <p:cNvSpPr/>
          <p:nvPr/>
        </p:nvSpPr>
        <p:spPr>
          <a:xfrm>
            <a:off x="960120" y="40873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vm.overcommit_memory=1 + 16 GB swap on NVMe. 1.5× effective RAM density.</a:t>
            </a:r>
            <a:endParaRPr lang="en-US" sz="850" dirty="0"/>
          </a:p>
        </p:txBody>
      </p:sp>
      <p:sp>
        <p:nvSpPr>
          <p:cNvPr id="15" name="Shape 13"/>
          <p:cNvSpPr/>
          <p:nvPr/>
        </p:nvSpPr>
        <p:spPr>
          <a:xfrm>
            <a:off x="777240" y="4434840"/>
            <a:ext cx="109728" cy="109728"/>
          </a:xfrm>
          <a:prstGeom prst="ellipse">
            <a:avLst/>
          </a:prstGeom>
          <a:solidFill>
            <a:srgbClr val="4F46E5"/>
          </a:solidFill>
          <a:ln w="12700">
            <a:solidFill>
              <a:srgbClr val="333333"/>
            </a:solidFill>
            <a:prstDash val="solid"/>
          </a:ln>
        </p:spPr>
      </p:sp>
      <p:sp>
        <p:nvSpPr>
          <p:cNvPr id="16" name="Text 14"/>
          <p:cNvSpPr/>
          <p:nvPr/>
        </p:nvSpPr>
        <p:spPr>
          <a:xfrm>
            <a:off x="960120" y="4325112"/>
            <a:ext cx="160020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2h idle-suspend</a:t>
            </a:r>
            <a:endParaRPr lang="en-US" sz="1000" dirty="0"/>
          </a:p>
        </p:txBody>
      </p:sp>
      <p:sp>
        <p:nvSpPr>
          <p:cNvPr id="17" name="Text 15"/>
          <p:cNvSpPr/>
          <p:nvPr/>
        </p:nvSpPr>
        <p:spPr>
          <a:xfrm>
            <a:off x="960120" y="45445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docker compose stop after no traffic. Wake on first request (~10-15s).</a:t>
            </a:r>
            <a:endParaRPr lang="en-US" sz="850" dirty="0"/>
          </a:p>
        </p:txBody>
      </p:sp>
      <p:sp>
        <p:nvSpPr>
          <p:cNvPr id="18" name="Shape 16"/>
          <p:cNvSpPr/>
          <p:nvPr/>
        </p:nvSpPr>
        <p:spPr>
          <a:xfrm>
            <a:off x="777240" y="4892040"/>
            <a:ext cx="109728" cy="109728"/>
          </a:xfrm>
          <a:prstGeom prst="ellipse">
            <a:avLst/>
          </a:prstGeom>
          <a:solidFill>
            <a:srgbClr val="4F46E5"/>
          </a:solidFill>
          <a:ln w="12700">
            <a:solidFill>
              <a:srgbClr val="333333"/>
            </a:solidFill>
            <a:prstDash val="solid"/>
          </a:ln>
        </p:spPr>
      </p:sp>
      <p:sp>
        <p:nvSpPr>
          <p:cNvPr id="19" name="Text 17"/>
          <p:cNvSpPr/>
          <p:nvPr/>
        </p:nvSpPr>
        <p:spPr>
          <a:xfrm>
            <a:off x="960120" y="4782312"/>
            <a:ext cx="160020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30-day idle-archive</a:t>
            </a:r>
            <a:endParaRPr lang="en-US" sz="1000" dirty="0"/>
          </a:p>
        </p:txBody>
      </p:sp>
      <p:sp>
        <p:nvSpPr>
          <p:cNvPr id="20" name="Text 18"/>
          <p:cNvSpPr/>
          <p:nvPr/>
        </p:nvSpPr>
        <p:spPr>
          <a:xfrm>
            <a:off x="960120" y="50017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Free-tier reclaim. Snapshot + 7-day grace before deletion.</a:t>
            </a:r>
            <a:endParaRPr lang="en-US" sz="850" dirty="0"/>
          </a:p>
        </p:txBody>
      </p:sp>
      <p:sp>
        <p:nvSpPr>
          <p:cNvPr id="21" name="Shape 19"/>
          <p:cNvSpPr/>
          <p:nvPr/>
        </p:nvSpPr>
        <p:spPr>
          <a:xfrm>
            <a:off x="777240" y="5349240"/>
            <a:ext cx="109728" cy="109728"/>
          </a:xfrm>
          <a:prstGeom prst="ellipse">
            <a:avLst/>
          </a:prstGeom>
          <a:solidFill>
            <a:srgbClr val="4F46E5"/>
          </a:solidFill>
          <a:ln w="12700">
            <a:solidFill>
              <a:srgbClr val="333333"/>
            </a:solidFill>
            <a:prstDash val="solid"/>
          </a:ln>
        </p:spPr>
      </p:sp>
      <p:sp>
        <p:nvSpPr>
          <p:cNvPr id="22" name="Text 20"/>
          <p:cNvSpPr/>
          <p:nvPr/>
        </p:nvSpPr>
        <p:spPr>
          <a:xfrm>
            <a:off x="960120" y="5239512"/>
            <a:ext cx="160020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Pressure watchdog</a:t>
            </a:r>
            <a:endParaRPr lang="en-US" sz="1000" dirty="0"/>
          </a:p>
        </p:txBody>
      </p:sp>
      <p:sp>
        <p:nvSpPr>
          <p:cNvPr id="23" name="Text 21"/>
          <p:cNvSpPr/>
          <p:nvPr/>
        </p:nvSpPr>
        <p:spPr>
          <a:xfrm>
            <a:off x="960120" y="54589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systemd timer reads /proc/pressure/memory; alerts at avg10 &gt; 20.</a:t>
            </a:r>
            <a:endParaRPr lang="en-US" sz="850" dirty="0"/>
          </a:p>
        </p:txBody>
      </p:sp>
      <p:sp>
        <p:nvSpPr>
          <p:cNvPr id="24" name="Shape 22"/>
          <p:cNvSpPr/>
          <p:nvPr/>
        </p:nvSpPr>
        <p:spPr>
          <a:xfrm>
            <a:off x="777240" y="5806440"/>
            <a:ext cx="109728" cy="109728"/>
          </a:xfrm>
          <a:prstGeom prst="ellipse">
            <a:avLst/>
          </a:prstGeom>
          <a:solidFill>
            <a:srgbClr val="4F46E5"/>
          </a:solidFill>
          <a:ln w="12700">
            <a:solidFill>
              <a:srgbClr val="333333"/>
            </a:solidFill>
            <a:prstDash val="solid"/>
          </a:ln>
        </p:spPr>
      </p:sp>
      <p:sp>
        <p:nvSpPr>
          <p:cNvPr id="25" name="Text 23"/>
          <p:cNvSpPr/>
          <p:nvPr/>
        </p:nvSpPr>
        <p:spPr>
          <a:xfrm>
            <a:off x="960120" y="5696712"/>
            <a:ext cx="160020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Auto-scale watermark</a:t>
            </a:r>
            <a:endParaRPr lang="en-US" sz="1000" dirty="0"/>
          </a:p>
        </p:txBody>
      </p:sp>
      <p:sp>
        <p:nvSpPr>
          <p:cNvPr id="26" name="Text 24"/>
          <p:cNvSpPr/>
          <p:nvPr/>
        </p:nvSpPr>
        <p:spPr>
          <a:xfrm>
            <a:off x="960120" y="59161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At 35-warm-concurrent → operator provisions 2nd CAX31 (+£11.30/mo).</a:t>
            </a:r>
            <a:endParaRPr lang="en-US" sz="850" dirty="0"/>
          </a:p>
        </p:txBody>
      </p:sp>
      <p:sp>
        <p:nvSpPr>
          <p:cNvPr id="27" name="Shape 25"/>
          <p:cNvSpPr/>
          <p:nvPr/>
        </p:nvSpPr>
        <p:spPr>
          <a:xfrm>
            <a:off x="6263640" y="2423160"/>
            <a:ext cx="5577840" cy="3794760"/>
          </a:xfrm>
          <a:prstGeom prst="roundRect">
            <a:avLst>
              <a:gd name="adj" fmla="val 1928"/>
            </a:avLst>
          </a:prstGeom>
          <a:solidFill>
            <a:srgbClr val="FFFFFF"/>
          </a:solidFill>
          <a:ln w="9525">
            <a:solidFill>
              <a:srgbClr val="E2E8F0"/>
            </a:solidFill>
            <a:prstDash val="solid"/>
          </a:ln>
        </p:spPr>
      </p:sp>
      <p:sp>
        <p:nvSpPr>
          <p:cNvPr id="28" name="Shape 26"/>
          <p:cNvSpPr/>
          <p:nvPr/>
        </p:nvSpPr>
        <p:spPr>
          <a:xfrm>
            <a:off x="6263640" y="2423160"/>
            <a:ext cx="5577840" cy="54864"/>
          </a:xfrm>
          <a:prstGeom prst="rect">
            <a:avLst/>
          </a:prstGeom>
          <a:solidFill>
            <a:srgbClr val="F59E0B"/>
          </a:solidFill>
          <a:ln w="12700">
            <a:solidFill>
              <a:srgbClr val="F59E0B"/>
            </a:solidFill>
            <a:prstDash val="solid"/>
          </a:ln>
        </p:spPr>
      </p:sp>
      <p:sp>
        <p:nvSpPr>
          <p:cNvPr id="29" name="Text 27"/>
          <p:cNvSpPr/>
          <p:nvPr/>
        </p:nvSpPr>
        <p:spPr>
          <a:xfrm>
            <a:off x="6537960" y="2651760"/>
            <a:ext cx="512064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LAUNCH TIER  ·  CAX41  ·  bin-packed</a:t>
            </a:r>
            <a:endParaRPr lang="en-US" sz="900" dirty="0"/>
          </a:p>
        </p:txBody>
      </p:sp>
      <p:sp>
        <p:nvSpPr>
          <p:cNvPr id="30" name="Text 28"/>
          <p:cNvSpPr/>
          <p:nvPr/>
        </p:nvSpPr>
        <p:spPr>
          <a:xfrm>
            <a:off x="6537960" y="2971800"/>
            <a:ext cx="5120640" cy="365760"/>
          </a:xfrm>
          <a:prstGeom prst="rect">
            <a:avLst/>
          </a:prstGeom>
          <a:noFill/>
          <a:ln/>
        </p:spPr>
        <p:txBody>
          <a:bodyPr wrap="square" rtlCol="0" anchor="ctr"/>
          <a:lstStyle/>
          <a:p>
            <a:pPr indent="0" marL="0">
              <a:buNone/>
            </a:pPr>
            <a:r>
              <a:rPr lang="en-US" sz="1600" b="1" dirty="0">
                <a:solidFill>
                  <a:srgbClr val="0F172A"/>
                </a:solidFill>
                <a:latin typeface="DM Sans" pitchFamily="34" charset="0"/>
                <a:ea typeface="DM Sans" pitchFamily="34" charset="-122"/>
                <a:cs typeface="DM Sans" pitchFamily="34" charset="-120"/>
              </a:rPr>
              <a:t>Target ~25 tenants/host</a:t>
            </a:r>
            <a:endParaRPr lang="en-US" sz="1600" dirty="0"/>
          </a:p>
        </p:txBody>
      </p:sp>
      <p:sp>
        <p:nvSpPr>
          <p:cNvPr id="31" name="Shape 29"/>
          <p:cNvSpPr/>
          <p:nvPr/>
        </p:nvSpPr>
        <p:spPr>
          <a:xfrm>
            <a:off x="6537960" y="3520440"/>
            <a:ext cx="109728" cy="109728"/>
          </a:xfrm>
          <a:prstGeom prst="ellipse">
            <a:avLst/>
          </a:prstGeom>
          <a:solidFill>
            <a:srgbClr val="F59E0B"/>
          </a:solidFill>
          <a:ln w="12700">
            <a:solidFill>
              <a:srgbClr val="333333"/>
            </a:solidFill>
            <a:prstDash val="solid"/>
          </a:ln>
        </p:spPr>
      </p:sp>
      <p:sp>
        <p:nvSpPr>
          <p:cNvPr id="32" name="Text 30"/>
          <p:cNvSpPr/>
          <p:nvPr/>
        </p:nvSpPr>
        <p:spPr>
          <a:xfrm>
            <a:off x="6720840" y="3410712"/>
            <a:ext cx="178308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Shared CAX41 host</a:t>
            </a:r>
            <a:endParaRPr lang="en-US" sz="1000" dirty="0"/>
          </a:p>
        </p:txBody>
      </p:sp>
      <p:sp>
        <p:nvSpPr>
          <p:cNvPr id="33" name="Text 31"/>
          <p:cNvSpPr/>
          <p:nvPr/>
        </p:nvSpPr>
        <p:spPr>
          <a:xfrm>
            <a:off x="6720840" y="36301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Per-tenant compose stack on isolated Docker network. Distinct slug-keyed.</a:t>
            </a:r>
            <a:endParaRPr lang="en-US" sz="850" dirty="0"/>
          </a:p>
        </p:txBody>
      </p:sp>
      <p:sp>
        <p:nvSpPr>
          <p:cNvPr id="34" name="Shape 32"/>
          <p:cNvSpPr/>
          <p:nvPr/>
        </p:nvSpPr>
        <p:spPr>
          <a:xfrm>
            <a:off x="6537960" y="3977640"/>
            <a:ext cx="109728" cy="109728"/>
          </a:xfrm>
          <a:prstGeom prst="ellipse">
            <a:avLst/>
          </a:prstGeom>
          <a:solidFill>
            <a:srgbClr val="F59E0B"/>
          </a:solidFill>
          <a:ln w="12700">
            <a:solidFill>
              <a:srgbClr val="333333"/>
            </a:solidFill>
            <a:prstDash val="solid"/>
          </a:ln>
        </p:spPr>
      </p:sp>
      <p:sp>
        <p:nvSpPr>
          <p:cNvPr id="35" name="Text 33"/>
          <p:cNvSpPr/>
          <p:nvPr/>
        </p:nvSpPr>
        <p:spPr>
          <a:xfrm>
            <a:off x="6720840" y="3867912"/>
            <a:ext cx="178308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Bin-packing on promote</a:t>
            </a:r>
            <a:endParaRPr lang="en-US" sz="1000" dirty="0"/>
          </a:p>
        </p:txBody>
      </p:sp>
      <p:sp>
        <p:nvSpPr>
          <p:cNvPr id="36" name="Text 34"/>
          <p:cNvSpPr/>
          <p:nvPr/>
        </p:nvSpPr>
        <p:spPr>
          <a:xfrm>
            <a:off x="6720840" y="40873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promote.py picks first host with capacity; provisions new CAX41 if all full.</a:t>
            </a:r>
            <a:endParaRPr lang="en-US" sz="850" dirty="0"/>
          </a:p>
        </p:txBody>
      </p:sp>
      <p:sp>
        <p:nvSpPr>
          <p:cNvPr id="37" name="Shape 35"/>
          <p:cNvSpPr/>
          <p:nvPr/>
        </p:nvSpPr>
        <p:spPr>
          <a:xfrm>
            <a:off x="6537960" y="4434840"/>
            <a:ext cx="109728" cy="109728"/>
          </a:xfrm>
          <a:prstGeom prst="ellipse">
            <a:avLst/>
          </a:prstGeom>
          <a:solidFill>
            <a:srgbClr val="F59E0B"/>
          </a:solidFill>
          <a:ln w="12700">
            <a:solidFill>
              <a:srgbClr val="333333"/>
            </a:solidFill>
            <a:prstDash val="solid"/>
          </a:ln>
        </p:spPr>
      </p:sp>
      <p:sp>
        <p:nvSpPr>
          <p:cNvPr id="38" name="Text 36"/>
          <p:cNvSpPr/>
          <p:nvPr/>
        </p:nvSpPr>
        <p:spPr>
          <a:xfrm>
            <a:off x="6720840" y="4325112"/>
            <a:ext cx="178308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Port-range allocation</a:t>
            </a:r>
            <a:endParaRPr lang="en-US" sz="1000" dirty="0"/>
          </a:p>
        </p:txBody>
      </p:sp>
      <p:sp>
        <p:nvSpPr>
          <p:cNvPr id="39" name="Text 37"/>
          <p:cNvSpPr/>
          <p:nvPr/>
        </p:nvSpPr>
        <p:spPr>
          <a:xfrm>
            <a:off x="6720840" y="45445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Each tenant gets a port slice; host Caddy routes domain → tenant port range.</a:t>
            </a:r>
            <a:endParaRPr lang="en-US" sz="850" dirty="0"/>
          </a:p>
        </p:txBody>
      </p:sp>
      <p:sp>
        <p:nvSpPr>
          <p:cNvPr id="40" name="Shape 38"/>
          <p:cNvSpPr/>
          <p:nvPr/>
        </p:nvSpPr>
        <p:spPr>
          <a:xfrm>
            <a:off x="6537960" y="4892040"/>
            <a:ext cx="109728" cy="109728"/>
          </a:xfrm>
          <a:prstGeom prst="ellipse">
            <a:avLst/>
          </a:prstGeom>
          <a:solidFill>
            <a:srgbClr val="F59E0B"/>
          </a:solidFill>
          <a:ln w="12700">
            <a:solidFill>
              <a:srgbClr val="333333"/>
            </a:solidFill>
            <a:prstDash val="solid"/>
          </a:ln>
        </p:spPr>
      </p:sp>
      <p:sp>
        <p:nvSpPr>
          <p:cNvPr id="41" name="Text 39"/>
          <p:cNvSpPr/>
          <p:nvPr/>
        </p:nvSpPr>
        <p:spPr>
          <a:xfrm>
            <a:off x="6720840" y="4782312"/>
            <a:ext cx="178308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Studio + 3 mailboxes</a:t>
            </a:r>
            <a:endParaRPr lang="en-US" sz="1000" dirty="0"/>
          </a:p>
        </p:txBody>
      </p:sp>
      <p:sp>
        <p:nvSpPr>
          <p:cNvPr id="42" name="Text 40"/>
          <p:cNvSpPr/>
          <p:nvPr/>
        </p:nvSpPr>
        <p:spPr>
          <a:xfrm>
            <a:off x="6720840" y="50017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Per-tenant Supabase Studio enabled via launch compose profile.</a:t>
            </a:r>
            <a:endParaRPr lang="en-US" sz="850" dirty="0"/>
          </a:p>
        </p:txBody>
      </p:sp>
      <p:sp>
        <p:nvSpPr>
          <p:cNvPr id="43" name="Shape 41"/>
          <p:cNvSpPr/>
          <p:nvPr/>
        </p:nvSpPr>
        <p:spPr>
          <a:xfrm>
            <a:off x="6537960" y="5349240"/>
            <a:ext cx="109728" cy="109728"/>
          </a:xfrm>
          <a:prstGeom prst="ellipse">
            <a:avLst/>
          </a:prstGeom>
          <a:solidFill>
            <a:srgbClr val="F59E0B"/>
          </a:solidFill>
          <a:ln w="12700">
            <a:solidFill>
              <a:srgbClr val="333333"/>
            </a:solidFill>
            <a:prstDash val="solid"/>
          </a:ln>
        </p:spPr>
      </p:sp>
      <p:sp>
        <p:nvSpPr>
          <p:cNvPr id="44" name="Text 42"/>
          <p:cNvSpPr/>
          <p:nvPr/>
        </p:nvSpPr>
        <p:spPr>
          <a:xfrm>
            <a:off x="6720840" y="5239512"/>
            <a:ext cx="178308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Migration to Growth</a:t>
            </a:r>
            <a:endParaRPr lang="en-US" sz="1000" dirty="0"/>
          </a:p>
        </p:txBody>
      </p:sp>
      <p:sp>
        <p:nvSpPr>
          <p:cNvPr id="45" name="Text 43"/>
          <p:cNvSpPr/>
          <p:nvPr/>
        </p:nvSpPr>
        <p:spPr>
          <a:xfrm>
            <a:off x="6720840" y="54589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At customer 15th end-user signup → fresh CAX31 dedicated VPS, DB migrated.</a:t>
            </a:r>
            <a:endParaRPr lang="en-US" sz="850" dirty="0"/>
          </a:p>
        </p:txBody>
      </p:sp>
      <p:sp>
        <p:nvSpPr>
          <p:cNvPr id="46" name="Shape 44"/>
          <p:cNvSpPr/>
          <p:nvPr/>
        </p:nvSpPr>
        <p:spPr>
          <a:xfrm>
            <a:off x="6537960" y="5806440"/>
            <a:ext cx="109728" cy="109728"/>
          </a:xfrm>
          <a:prstGeom prst="ellipse">
            <a:avLst/>
          </a:prstGeom>
          <a:solidFill>
            <a:srgbClr val="F59E0B"/>
          </a:solidFill>
          <a:ln w="12700">
            <a:solidFill>
              <a:srgbClr val="333333"/>
            </a:solidFill>
            <a:prstDash val="solid"/>
          </a:ln>
        </p:spPr>
      </p:sp>
      <p:sp>
        <p:nvSpPr>
          <p:cNvPr id="47" name="Text 45"/>
          <p:cNvSpPr/>
          <p:nvPr/>
        </p:nvSpPr>
        <p:spPr>
          <a:xfrm>
            <a:off x="6720840" y="5696712"/>
            <a:ext cx="1783080" cy="219456"/>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Watermark autoscale</a:t>
            </a:r>
            <a:endParaRPr lang="en-US" sz="1000" dirty="0"/>
          </a:p>
        </p:txBody>
      </p:sp>
      <p:sp>
        <p:nvSpPr>
          <p:cNvPr id="48" name="Text 46"/>
          <p:cNvSpPr/>
          <p:nvPr/>
        </p:nvSpPr>
        <p:spPr>
          <a:xfrm>
            <a:off x="6720840" y="5916168"/>
            <a:ext cx="4800600" cy="256032"/>
          </a:xfrm>
          <a:prstGeom prst="rect">
            <a:avLst/>
          </a:prstGeom>
          <a:noFill/>
          <a:ln/>
        </p:spPr>
        <p:txBody>
          <a:bodyPr wrap="square" rtlCol="0" anchor="ctr"/>
          <a:lstStyle/>
          <a:p>
            <a:pPr indent="0" marL="0">
              <a:lnSpc>
                <a:spcPct val="125000"/>
              </a:lnSpc>
              <a:buNone/>
            </a:pPr>
            <a:r>
              <a:rPr lang="en-US" sz="850" i="1" dirty="0">
                <a:solidFill>
                  <a:srgbClr val="334155"/>
                </a:solidFill>
                <a:latin typeface="DM Sans" pitchFamily="34" charset="0"/>
                <a:ea typeface="DM Sans" pitchFamily="34" charset="-122"/>
                <a:cs typeface="DM Sans" pitchFamily="34" charset="-120"/>
              </a:rPr>
              <a:t>At 22-tenants-per-host → cordon host, route new promotes to next CAX41.</a:t>
            </a:r>
            <a:endParaRPr lang="en-US" sz="850" dirty="0"/>
          </a:p>
        </p:txBody>
      </p:sp>
      <p:sp>
        <p:nvSpPr>
          <p:cNvPr id="49" name="Text 47"/>
          <p:cNvSpPr/>
          <p:nvPr/>
        </p:nvSpPr>
        <p:spPr>
          <a:xfrm>
            <a:off x="502920" y="6309360"/>
            <a:ext cx="11155680" cy="27432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Observability cross-tier: Cloudflare in front (DDoS + caching) · Hetzner Cloud snapshots nightly · per-tenant Caddy logs aggregated to host · pg_dump → Backblaze B2 on Growth · status.hatchik.com.</a:t>
            </a:r>
            <a:endParaRPr lang="en-US" sz="900" dirty="0"/>
          </a:p>
        </p:txBody>
      </p:sp>
      <p:sp>
        <p:nvSpPr>
          <p:cNvPr id="50" name="Text 48"/>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1" name="Text 49"/>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30  ·  APPENDIX  ·  ETHOS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Customer trust as moat. AI agents as scale.</a:t>
            </a:r>
            <a:endParaRPr lang="en-US" sz="3000" dirty="0"/>
          </a:p>
        </p:txBody>
      </p:sp>
      <p:sp>
        <p:nvSpPr>
          <p:cNvPr id="4" name="Text 2"/>
          <p:cNvSpPr/>
          <p:nvPr/>
        </p:nvSpPr>
        <p:spPr>
          <a:xfrm>
            <a:off x="502920" y="1417320"/>
            <a:ext cx="11155680" cy="82296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No platform lock-in. Code stays on the customer’s GitHub. Substrate goes open-source. Support, onboarding, moderation — agent-led where possible, founder-led only where it matters. The raise funds the tooling, not the toil.</a:t>
            </a:r>
            <a:endParaRPr lang="en-US" sz="1400" dirty="0"/>
          </a:p>
        </p:txBody>
      </p:sp>
      <p:sp>
        <p:nvSpPr>
          <p:cNvPr id="5" name="Shape 3"/>
          <p:cNvSpPr/>
          <p:nvPr/>
        </p:nvSpPr>
        <p:spPr>
          <a:xfrm>
            <a:off x="502920" y="2103120"/>
            <a:ext cx="11155680" cy="868680"/>
          </a:xfrm>
          <a:prstGeom prst="roundRect">
            <a:avLst>
              <a:gd name="adj" fmla="val 8421"/>
            </a:avLst>
          </a:prstGeom>
          <a:solidFill>
            <a:srgbClr val="FFFFFF"/>
          </a:solidFill>
          <a:ln w="9525">
            <a:solidFill>
              <a:srgbClr val="E2E8F0"/>
            </a:solidFill>
            <a:prstDash val="solid"/>
          </a:ln>
        </p:spPr>
      </p:sp>
      <p:sp>
        <p:nvSpPr>
          <p:cNvPr id="6" name="Shape 4"/>
          <p:cNvSpPr/>
          <p:nvPr/>
        </p:nvSpPr>
        <p:spPr>
          <a:xfrm>
            <a:off x="502920" y="2103120"/>
            <a:ext cx="91440" cy="868680"/>
          </a:xfrm>
          <a:prstGeom prst="rect">
            <a:avLst/>
          </a:prstGeom>
          <a:solidFill>
            <a:srgbClr val="4F46E5"/>
          </a:solidFill>
          <a:ln w="12700">
            <a:solidFill>
              <a:srgbClr val="333333"/>
            </a:solidFill>
            <a:prstDash val="solid"/>
          </a:ln>
        </p:spPr>
      </p:sp>
      <p:sp>
        <p:nvSpPr>
          <p:cNvPr id="7" name="Text 5"/>
          <p:cNvSpPr/>
          <p:nvPr/>
        </p:nvSpPr>
        <p:spPr>
          <a:xfrm>
            <a:off x="777240" y="2194560"/>
            <a:ext cx="4572000" cy="201168"/>
          </a:xfrm>
          <a:prstGeom prst="rect">
            <a:avLst/>
          </a:prstGeom>
          <a:noFill/>
          <a:ln/>
        </p:spPr>
        <p:txBody>
          <a:bodyPr wrap="square" rtlCol="0" anchor="ctr"/>
          <a:lstStyle/>
          <a:p>
            <a:pPr indent="0" marL="0">
              <a:buNone/>
            </a:pPr>
            <a:r>
              <a:rPr lang="en-US" sz="800" b="1" spc="300" kern="0" dirty="0">
                <a:solidFill>
                  <a:srgbClr val="3730A3"/>
                </a:solidFill>
                <a:latin typeface="JetBrains Mono" pitchFamily="34" charset="0"/>
                <a:ea typeface="JetBrains Mono" pitchFamily="34" charset="-122"/>
                <a:cs typeface="JetBrains Mono" pitchFamily="34" charset="-120"/>
              </a:rPr>
              <a:t>MONTHS 0-3  ·  FOUNDATIONS</a:t>
            </a:r>
            <a:endParaRPr lang="en-US" sz="800" dirty="0"/>
          </a:p>
        </p:txBody>
      </p:sp>
      <p:sp>
        <p:nvSpPr>
          <p:cNvPr id="8" name="Text 6"/>
          <p:cNvSpPr/>
          <p:nvPr/>
        </p:nvSpPr>
        <p:spPr>
          <a:xfrm>
            <a:off x="777240" y="2423160"/>
            <a:ext cx="4572000" cy="502920"/>
          </a:xfrm>
          <a:prstGeom prst="rect">
            <a:avLst/>
          </a:prstGeom>
          <a:noFill/>
          <a:ln/>
        </p:spPr>
        <p:txBody>
          <a:bodyPr wrap="square" rtlCol="0" anchor="ctr"/>
          <a:lstStyle/>
          <a:p>
            <a:pPr indent="0" marL="0">
              <a:lnSpc>
                <a:spcPct val="115000"/>
              </a:lnSpc>
              <a:buNone/>
            </a:pPr>
            <a:r>
              <a:rPr lang="en-US" sz="1200" b="1" dirty="0">
                <a:solidFill>
                  <a:srgbClr val="0F172A"/>
                </a:solidFill>
                <a:latin typeface="DM Sans" pitchFamily="34" charset="0"/>
                <a:ea typeface="DM Sans" pitchFamily="34" charset="-122"/>
                <a:cs typeface="DM Sans" pitchFamily="34" charset="-120"/>
              </a:rPr>
              <a:t>Public GitHub, open Discord, AI_CONTEXT.md handoff</a:t>
            </a:r>
            <a:endParaRPr lang="en-US" sz="1200" dirty="0"/>
          </a:p>
        </p:txBody>
      </p:sp>
      <p:sp>
        <p:nvSpPr>
          <p:cNvPr id="9" name="Text 7"/>
          <p:cNvSpPr/>
          <p:nvPr/>
        </p:nvSpPr>
        <p:spPr>
          <a:xfrm>
            <a:off x="5532120" y="2240280"/>
            <a:ext cx="5943600" cy="68580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Substrate repo public from launch (BSL 1.1 → Apache 2.0 on change date). Discord opens with read-only public channels; AI bot triages incoming questions before founder sees them. Customer-owned GitHub repo on day one — exit cost stays zero.</a:t>
            </a:r>
            <a:endParaRPr lang="en-US" sz="950" dirty="0"/>
          </a:p>
        </p:txBody>
      </p:sp>
      <p:sp>
        <p:nvSpPr>
          <p:cNvPr id="10" name="Shape 8"/>
          <p:cNvSpPr/>
          <p:nvPr/>
        </p:nvSpPr>
        <p:spPr>
          <a:xfrm>
            <a:off x="502920" y="3063240"/>
            <a:ext cx="11155680" cy="868680"/>
          </a:xfrm>
          <a:prstGeom prst="roundRect">
            <a:avLst>
              <a:gd name="adj" fmla="val 8421"/>
            </a:avLst>
          </a:prstGeom>
          <a:solidFill>
            <a:srgbClr val="FFFFFF"/>
          </a:solidFill>
          <a:ln w="9525">
            <a:solidFill>
              <a:srgbClr val="E2E8F0"/>
            </a:solidFill>
            <a:prstDash val="solid"/>
          </a:ln>
        </p:spPr>
      </p:sp>
      <p:sp>
        <p:nvSpPr>
          <p:cNvPr id="11" name="Shape 9"/>
          <p:cNvSpPr/>
          <p:nvPr/>
        </p:nvSpPr>
        <p:spPr>
          <a:xfrm>
            <a:off x="502920" y="3063240"/>
            <a:ext cx="91440" cy="868680"/>
          </a:xfrm>
          <a:prstGeom prst="rect">
            <a:avLst/>
          </a:prstGeom>
          <a:solidFill>
            <a:srgbClr val="F59E0B"/>
          </a:solidFill>
          <a:ln w="12700">
            <a:solidFill>
              <a:srgbClr val="333333"/>
            </a:solidFill>
            <a:prstDash val="solid"/>
          </a:ln>
        </p:spPr>
      </p:sp>
      <p:sp>
        <p:nvSpPr>
          <p:cNvPr id="12" name="Text 10"/>
          <p:cNvSpPr/>
          <p:nvPr/>
        </p:nvSpPr>
        <p:spPr>
          <a:xfrm>
            <a:off x="777240" y="3154680"/>
            <a:ext cx="4572000" cy="201168"/>
          </a:xfrm>
          <a:prstGeom prst="rect">
            <a:avLst/>
          </a:prstGeom>
          <a:noFill/>
          <a:ln/>
        </p:spPr>
        <p:txBody>
          <a:bodyPr wrap="square" rtlCol="0" anchor="ctr"/>
          <a:lstStyle/>
          <a:p>
            <a:pPr indent="0" marL="0">
              <a:buNone/>
            </a:pPr>
            <a:r>
              <a:rPr lang="en-US" sz="800" b="1" spc="300" kern="0" dirty="0">
                <a:solidFill>
                  <a:srgbClr val="B45309"/>
                </a:solidFill>
                <a:latin typeface="JetBrains Mono" pitchFamily="34" charset="0"/>
                <a:ea typeface="JetBrains Mono" pitchFamily="34" charset="-122"/>
                <a:cs typeface="JetBrains Mono" pitchFamily="34" charset="-120"/>
              </a:rPr>
              <a:t>MONTHS 3-6  ·  AGENT-LED SUPPORT</a:t>
            </a:r>
            <a:endParaRPr lang="en-US" sz="800" dirty="0"/>
          </a:p>
        </p:txBody>
      </p:sp>
      <p:sp>
        <p:nvSpPr>
          <p:cNvPr id="13" name="Text 11"/>
          <p:cNvSpPr/>
          <p:nvPr/>
        </p:nvSpPr>
        <p:spPr>
          <a:xfrm>
            <a:off x="777240" y="3383280"/>
            <a:ext cx="4572000" cy="502920"/>
          </a:xfrm>
          <a:prstGeom prst="rect">
            <a:avLst/>
          </a:prstGeom>
          <a:noFill/>
          <a:ln/>
        </p:spPr>
        <p:txBody>
          <a:bodyPr wrap="square" rtlCol="0" anchor="ctr"/>
          <a:lstStyle/>
          <a:p>
            <a:pPr indent="0" marL="0">
              <a:lnSpc>
                <a:spcPct val="115000"/>
              </a:lnSpc>
              <a:buNone/>
            </a:pPr>
            <a:r>
              <a:rPr lang="en-US" sz="1200" b="1" dirty="0">
                <a:solidFill>
                  <a:srgbClr val="0F172A"/>
                </a:solidFill>
                <a:latin typeface="DM Sans" pitchFamily="34" charset="0"/>
                <a:ea typeface="DM Sans" pitchFamily="34" charset="-122"/>
                <a:cs typeface="DM Sans" pitchFamily="34" charset="-120"/>
              </a:rPr>
              <a:t>Hatchik AI agent for L1 support across all surfaces</a:t>
            </a:r>
            <a:endParaRPr lang="en-US" sz="1200" dirty="0"/>
          </a:p>
        </p:txBody>
      </p:sp>
      <p:sp>
        <p:nvSpPr>
          <p:cNvPr id="14" name="Text 12"/>
          <p:cNvSpPr/>
          <p:nvPr/>
        </p:nvSpPr>
        <p:spPr>
          <a:xfrm>
            <a:off x="5532120" y="3200400"/>
            <a:ext cx="5943600" cy="68580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Single agent reads AI_CONTEXT.md, repo snapshots, FAQ, runbooks. Answers in Discord, GitHub Discussions, and the in-product help widget. Founder escalation only for novel issues. Resolves ~70% of L1 unsupervised; rest get a same-day human reply.</a:t>
            </a:r>
            <a:endParaRPr lang="en-US" sz="950" dirty="0"/>
          </a:p>
        </p:txBody>
      </p:sp>
      <p:sp>
        <p:nvSpPr>
          <p:cNvPr id="15" name="Shape 13"/>
          <p:cNvSpPr/>
          <p:nvPr/>
        </p:nvSpPr>
        <p:spPr>
          <a:xfrm>
            <a:off x="502920" y="4023360"/>
            <a:ext cx="11155680" cy="868680"/>
          </a:xfrm>
          <a:prstGeom prst="roundRect">
            <a:avLst>
              <a:gd name="adj" fmla="val 8421"/>
            </a:avLst>
          </a:prstGeom>
          <a:solidFill>
            <a:srgbClr val="FFFFFF"/>
          </a:solidFill>
          <a:ln w="9525">
            <a:solidFill>
              <a:srgbClr val="E2E8F0"/>
            </a:solidFill>
            <a:prstDash val="solid"/>
          </a:ln>
        </p:spPr>
      </p:sp>
      <p:sp>
        <p:nvSpPr>
          <p:cNvPr id="16" name="Shape 14"/>
          <p:cNvSpPr/>
          <p:nvPr/>
        </p:nvSpPr>
        <p:spPr>
          <a:xfrm>
            <a:off x="502920" y="4023360"/>
            <a:ext cx="91440" cy="868680"/>
          </a:xfrm>
          <a:prstGeom prst="rect">
            <a:avLst/>
          </a:prstGeom>
          <a:solidFill>
            <a:srgbClr val="4F46E5"/>
          </a:solidFill>
          <a:ln w="12700">
            <a:solidFill>
              <a:srgbClr val="333333"/>
            </a:solidFill>
            <a:prstDash val="solid"/>
          </a:ln>
        </p:spPr>
      </p:sp>
      <p:sp>
        <p:nvSpPr>
          <p:cNvPr id="17" name="Text 15"/>
          <p:cNvSpPr/>
          <p:nvPr/>
        </p:nvSpPr>
        <p:spPr>
          <a:xfrm>
            <a:off x="777240" y="4114800"/>
            <a:ext cx="4572000" cy="201168"/>
          </a:xfrm>
          <a:prstGeom prst="rect">
            <a:avLst/>
          </a:prstGeom>
          <a:noFill/>
          <a:ln/>
        </p:spPr>
        <p:txBody>
          <a:bodyPr wrap="square" rtlCol="0" anchor="ctr"/>
          <a:lstStyle/>
          <a:p>
            <a:pPr indent="0" marL="0">
              <a:buNone/>
            </a:pPr>
            <a:r>
              <a:rPr lang="en-US" sz="800" b="1" spc="300" kern="0" dirty="0">
                <a:solidFill>
                  <a:srgbClr val="3730A3"/>
                </a:solidFill>
                <a:latin typeface="JetBrains Mono" pitchFamily="34" charset="0"/>
                <a:ea typeface="JetBrains Mono" pitchFamily="34" charset="-122"/>
                <a:cs typeface="JetBrains Mono" pitchFamily="34" charset="-120"/>
              </a:rPr>
              <a:t>MONTHS 6-12  ·  OSS SANDBOX + COMMUNITY</a:t>
            </a:r>
            <a:endParaRPr lang="en-US" sz="800" dirty="0"/>
          </a:p>
        </p:txBody>
      </p:sp>
      <p:sp>
        <p:nvSpPr>
          <p:cNvPr id="18" name="Text 16"/>
          <p:cNvSpPr/>
          <p:nvPr/>
        </p:nvSpPr>
        <p:spPr>
          <a:xfrm>
            <a:off x="777240" y="4343400"/>
            <a:ext cx="4572000" cy="502920"/>
          </a:xfrm>
          <a:prstGeom prst="rect">
            <a:avLst/>
          </a:prstGeom>
          <a:noFill/>
          <a:ln/>
        </p:spPr>
        <p:txBody>
          <a:bodyPr wrap="square" rtlCol="0" anchor="ctr"/>
          <a:lstStyle/>
          <a:p>
            <a:pPr indent="0" marL="0">
              <a:lnSpc>
                <a:spcPct val="115000"/>
              </a:lnSpc>
              <a:buNone/>
            </a:pPr>
            <a:r>
              <a:rPr lang="en-US" sz="1200" b="1" dirty="0">
                <a:solidFill>
                  <a:srgbClr val="0F172A"/>
                </a:solidFill>
                <a:latin typeface="DM Sans" pitchFamily="34" charset="0"/>
                <a:ea typeface="DM Sans" pitchFamily="34" charset="-122"/>
                <a:cs typeface="DM Sans" pitchFamily="34" charset="-120"/>
              </a:rPr>
              <a:t>Open-source self-host edition + customer-led case studies</a:t>
            </a:r>
            <a:endParaRPr lang="en-US" sz="1200" dirty="0"/>
          </a:p>
        </p:txBody>
      </p:sp>
      <p:sp>
        <p:nvSpPr>
          <p:cNvPr id="19" name="Text 17"/>
          <p:cNvSpPr/>
          <p:nvPr/>
        </p:nvSpPr>
        <p:spPr>
          <a:xfrm>
            <a:off x="5532120" y="4160520"/>
            <a:ext cx="5943600" cy="68580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Self-host Hatchik OSS edition ships (strips switching-cost concern, drives top-of-funnel). Community-elected features added via public RFC. Weekly customer-MRR posts on X — customer-led, ghostwritten with their permission, AI-assisted, founder-supervised.</a:t>
            </a:r>
            <a:endParaRPr lang="en-US" sz="950" dirty="0"/>
          </a:p>
        </p:txBody>
      </p:sp>
      <p:sp>
        <p:nvSpPr>
          <p:cNvPr id="20" name="Shape 18"/>
          <p:cNvSpPr/>
          <p:nvPr/>
        </p:nvSpPr>
        <p:spPr>
          <a:xfrm>
            <a:off x="502920" y="4983480"/>
            <a:ext cx="11155680" cy="868680"/>
          </a:xfrm>
          <a:prstGeom prst="roundRect">
            <a:avLst>
              <a:gd name="adj" fmla="val 8421"/>
            </a:avLst>
          </a:prstGeom>
          <a:solidFill>
            <a:srgbClr val="FFFFFF"/>
          </a:solidFill>
          <a:ln w="9525">
            <a:solidFill>
              <a:srgbClr val="E2E8F0"/>
            </a:solidFill>
            <a:prstDash val="solid"/>
          </a:ln>
        </p:spPr>
      </p:sp>
      <p:sp>
        <p:nvSpPr>
          <p:cNvPr id="21" name="Shape 19"/>
          <p:cNvSpPr/>
          <p:nvPr/>
        </p:nvSpPr>
        <p:spPr>
          <a:xfrm>
            <a:off x="502920" y="4983480"/>
            <a:ext cx="91440" cy="868680"/>
          </a:xfrm>
          <a:prstGeom prst="rect">
            <a:avLst/>
          </a:prstGeom>
          <a:solidFill>
            <a:srgbClr val="F59E0B"/>
          </a:solidFill>
          <a:ln w="12700">
            <a:solidFill>
              <a:srgbClr val="333333"/>
            </a:solidFill>
            <a:prstDash val="solid"/>
          </a:ln>
        </p:spPr>
      </p:sp>
      <p:sp>
        <p:nvSpPr>
          <p:cNvPr id="22" name="Text 20"/>
          <p:cNvSpPr/>
          <p:nvPr/>
        </p:nvSpPr>
        <p:spPr>
          <a:xfrm>
            <a:off x="777240" y="5074920"/>
            <a:ext cx="4572000" cy="201168"/>
          </a:xfrm>
          <a:prstGeom prst="rect">
            <a:avLst/>
          </a:prstGeom>
          <a:noFill/>
          <a:ln/>
        </p:spPr>
        <p:txBody>
          <a:bodyPr wrap="square" rtlCol="0" anchor="ctr"/>
          <a:lstStyle/>
          <a:p>
            <a:pPr indent="0" marL="0">
              <a:buNone/>
            </a:pPr>
            <a:r>
              <a:rPr lang="en-US" sz="800" b="1" spc="300" kern="0" dirty="0">
                <a:solidFill>
                  <a:srgbClr val="B45309"/>
                </a:solidFill>
                <a:latin typeface="JetBrains Mono" pitchFamily="34" charset="0"/>
                <a:ea typeface="JetBrains Mono" pitchFamily="34" charset="-122"/>
                <a:cs typeface="JetBrains Mono" pitchFamily="34" charset="-120"/>
              </a:rPr>
              <a:t>MONTHS 12+  ·  COMMUNITY GOVERNANCE</a:t>
            </a:r>
            <a:endParaRPr lang="en-US" sz="800" dirty="0"/>
          </a:p>
        </p:txBody>
      </p:sp>
      <p:sp>
        <p:nvSpPr>
          <p:cNvPr id="23" name="Text 21"/>
          <p:cNvSpPr/>
          <p:nvPr/>
        </p:nvSpPr>
        <p:spPr>
          <a:xfrm>
            <a:off x="777240" y="5303520"/>
            <a:ext cx="4572000" cy="502920"/>
          </a:xfrm>
          <a:prstGeom prst="rect">
            <a:avLst/>
          </a:prstGeom>
          <a:noFill/>
          <a:ln/>
        </p:spPr>
        <p:txBody>
          <a:bodyPr wrap="square" rtlCol="0" anchor="ctr"/>
          <a:lstStyle/>
          <a:p>
            <a:pPr indent="0" marL="0">
              <a:lnSpc>
                <a:spcPct val="115000"/>
              </a:lnSpc>
              <a:buNone/>
            </a:pPr>
            <a:r>
              <a:rPr lang="en-US" sz="1200" b="1" dirty="0">
                <a:solidFill>
                  <a:srgbClr val="0F172A"/>
                </a:solidFill>
                <a:latin typeface="DM Sans" pitchFamily="34" charset="0"/>
                <a:ea typeface="DM Sans" pitchFamily="34" charset="-122"/>
                <a:cs typeface="DM Sans" pitchFamily="34" charset="-120"/>
              </a:rPr>
              <a:t>Public roadmap voting, advisory board, moderation agents</a:t>
            </a:r>
            <a:endParaRPr lang="en-US" sz="1200" dirty="0"/>
          </a:p>
        </p:txBody>
      </p:sp>
      <p:sp>
        <p:nvSpPr>
          <p:cNvPr id="24" name="Text 22"/>
          <p:cNvSpPr/>
          <p:nvPr/>
        </p:nvSpPr>
        <p:spPr>
          <a:xfrm>
            <a:off x="5532120" y="5120640"/>
            <a:ext cx="5943600" cy="68580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Customers vote substrate features quarterly. Customer advisory board (5 paying founders, rotating) gets early access + influences priorities. AI moderation in Discord/forums (toxicity, spam, off-topic) — community-led with agent enforcement. Founder time on product, not policing.</a:t>
            </a:r>
            <a:endParaRPr lang="en-US" sz="950" dirty="0"/>
          </a:p>
        </p:txBody>
      </p:sp>
      <p:sp>
        <p:nvSpPr>
          <p:cNvPr id="25" name="Text 23"/>
          <p:cNvSpPr/>
          <p:nvPr/>
        </p:nvSpPr>
        <p:spPr>
          <a:xfrm>
            <a:off x="502920" y="6080760"/>
            <a:ext cx="11155680" cy="27432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Raise enables: dedicated engineer building the AI-agent support harness + OSS release engineering. Marketer running community moderation playbooks. Without the raise: same direction, ~3× slower; community fewer agents, more founder hours.</a:t>
            </a:r>
            <a:endParaRPr lang="en-US" sz="900" dirty="0"/>
          </a:p>
        </p:txBody>
      </p:sp>
      <p:sp>
        <p:nvSpPr>
          <p:cNvPr id="26" name="Text 2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7" name="Text 2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31  ·  APPENDIX  ·  STRATEGIC OFFERINGS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Prototype today. Product tomorrow. Business after that.</a:t>
            </a:r>
            <a:endParaRPr lang="en-US" sz="3000" dirty="0"/>
          </a:p>
        </p:txBody>
      </p:sp>
      <p:sp>
        <p:nvSpPr>
          <p:cNvPr id="4" name="Text 2"/>
          <p:cNvSpPr/>
          <p:nvPr/>
        </p:nvSpPr>
        <p:spPr>
          <a:xfrm>
            <a:off x="502920" y="1417320"/>
            <a:ext cx="11155680" cy="6400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Hatchik moves down the founder’s value chain. Each step compounds the relationship; each step opens a new revenue line.</a:t>
            </a:r>
            <a:endParaRPr lang="en-US" sz="1400" dirty="0"/>
          </a:p>
        </p:txBody>
      </p:sp>
      <p:sp>
        <p:nvSpPr>
          <p:cNvPr id="5" name="Shape 3"/>
          <p:cNvSpPr/>
          <p:nvPr/>
        </p:nvSpPr>
        <p:spPr>
          <a:xfrm>
            <a:off x="502920" y="2148840"/>
            <a:ext cx="3611880" cy="3017520"/>
          </a:xfrm>
          <a:prstGeom prst="roundRect">
            <a:avLst>
              <a:gd name="adj" fmla="val 3030"/>
            </a:avLst>
          </a:prstGeom>
          <a:solidFill>
            <a:srgbClr val="F6F5F1"/>
          </a:solidFill>
          <a:ln w="9525">
            <a:solidFill>
              <a:srgbClr val="E2E8F0"/>
            </a:solidFill>
            <a:prstDash val="solid"/>
          </a:ln>
        </p:spPr>
      </p:sp>
      <p:sp>
        <p:nvSpPr>
          <p:cNvPr id="6" name="Text 4"/>
          <p:cNvSpPr/>
          <p:nvPr/>
        </p:nvSpPr>
        <p:spPr>
          <a:xfrm>
            <a:off x="777240" y="2377440"/>
            <a:ext cx="3154680" cy="274320"/>
          </a:xfrm>
          <a:prstGeom prst="rect">
            <a:avLst/>
          </a:prstGeom>
          <a:noFill/>
          <a:ln/>
        </p:spPr>
        <p:txBody>
          <a:bodyPr wrap="square" rtlCol="0" anchor="ctr"/>
          <a:lstStyle/>
          <a:p>
            <a:pPr indent="0" marL="0">
              <a:buNone/>
            </a:pPr>
            <a:r>
              <a:rPr lang="en-US" sz="850" b="1" spc="300" kern="0" dirty="0">
                <a:solidFill>
                  <a:srgbClr val="94A3B8"/>
                </a:solidFill>
                <a:latin typeface="JetBrains Mono" pitchFamily="34" charset="0"/>
                <a:ea typeface="JetBrains Mono" pitchFamily="34" charset="-122"/>
                <a:cs typeface="JetBrains Mono" pitchFamily="34" charset="-120"/>
              </a:rPr>
              <a:t>YESTERDAY  ·  WHAT AI ALREADY DOES</a:t>
            </a:r>
            <a:endParaRPr lang="en-US" sz="850" dirty="0"/>
          </a:p>
        </p:txBody>
      </p:sp>
      <p:sp>
        <p:nvSpPr>
          <p:cNvPr id="7" name="Text 5"/>
          <p:cNvSpPr/>
          <p:nvPr/>
        </p:nvSpPr>
        <p:spPr>
          <a:xfrm>
            <a:off x="777240" y="26974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Idea → Prototype</a:t>
            </a:r>
            <a:endParaRPr lang="en-US" sz="1700" dirty="0"/>
          </a:p>
        </p:txBody>
      </p:sp>
      <p:sp>
        <p:nvSpPr>
          <p:cNvPr id="8" name="Text 6"/>
          <p:cNvSpPr/>
          <p:nvPr/>
        </p:nvSpPr>
        <p:spPr>
          <a:xfrm>
            <a:off x="777240" y="3337560"/>
            <a:ext cx="3154680" cy="27432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Cursor / Lovable / Bolt / Claude Code</a:t>
            </a:r>
            <a:endParaRPr lang="en-US" sz="1000" dirty="0"/>
          </a:p>
        </p:txBody>
      </p:sp>
      <p:sp>
        <p:nvSpPr>
          <p:cNvPr id="9" name="Text 7"/>
          <p:cNvSpPr/>
          <p:nvPr/>
        </p:nvSpPr>
        <p:spPr>
          <a:xfrm>
            <a:off x="777240" y="3657600"/>
            <a:ext cx="3154680" cy="822960"/>
          </a:xfrm>
          <a:prstGeom prst="rect">
            <a:avLst/>
          </a:prstGeom>
          <a:noFill/>
          <a:ln/>
        </p:spPr>
        <p:txBody>
          <a:bodyPr wrap="square" rtlCol="0" anchor="ctr"/>
          <a:lstStyle/>
          <a:p>
            <a:pPr indent="0" marL="0">
              <a:lnSpc>
                <a:spcPct val="140000"/>
              </a:lnSpc>
              <a:buNone/>
            </a:pPr>
            <a:r>
              <a:rPr lang="en-US" sz="1000" dirty="0">
                <a:solidFill>
                  <a:srgbClr val="334155"/>
                </a:solidFill>
                <a:latin typeface="DM Sans" pitchFamily="34" charset="0"/>
                <a:ea typeface="DM Sans" pitchFamily="34" charset="-122"/>
                <a:cs typeface="DM Sans" pitchFamily="34" charset="-120"/>
              </a:rPr>
              <a:t>Non-technical founder uses AI to ship a working-looking prototype. The category that put a fire under this whole space.</a:t>
            </a:r>
            <a:endParaRPr lang="en-US" sz="1000" dirty="0"/>
          </a:p>
        </p:txBody>
      </p:sp>
      <p:sp>
        <p:nvSpPr>
          <p:cNvPr id="10" name="Shape 8"/>
          <p:cNvSpPr/>
          <p:nvPr/>
        </p:nvSpPr>
        <p:spPr>
          <a:xfrm>
            <a:off x="777240" y="4526280"/>
            <a:ext cx="3063240" cy="9144"/>
          </a:xfrm>
          <a:prstGeom prst="rect">
            <a:avLst/>
          </a:prstGeom>
          <a:solidFill>
            <a:srgbClr val="F1F5F9"/>
          </a:solidFill>
          <a:ln w="12700">
            <a:solidFill>
              <a:srgbClr val="333333"/>
            </a:solidFill>
            <a:prstDash val="solid"/>
          </a:ln>
        </p:spPr>
      </p:sp>
      <p:sp>
        <p:nvSpPr>
          <p:cNvPr id="11" name="Text 9"/>
          <p:cNvSpPr/>
          <p:nvPr/>
        </p:nvSpPr>
        <p:spPr>
          <a:xfrm>
            <a:off x="777240" y="4617720"/>
            <a:ext cx="3154680" cy="502920"/>
          </a:xfrm>
          <a:prstGeom prst="rect">
            <a:avLst/>
          </a:prstGeom>
          <a:noFill/>
          <a:ln/>
        </p:spPr>
        <p:txBody>
          <a:bodyPr wrap="square" rtlCol="0" anchor="ctr"/>
          <a:lstStyle/>
          <a:p>
            <a:pPr indent="0" marL="0">
              <a:lnSpc>
                <a:spcPct val="130000"/>
              </a:lnSpc>
              <a:buNone/>
            </a:pPr>
            <a:r>
              <a:rPr lang="en-US" sz="950" b="1" dirty="0">
                <a:solidFill>
                  <a:srgbClr val="64748B"/>
                </a:solidFill>
                <a:latin typeface="DM Sans" pitchFamily="34" charset="0"/>
                <a:ea typeface="DM Sans" pitchFamily="34" charset="-122"/>
                <a:cs typeface="DM Sans" pitchFamily="34" charset="-120"/>
              </a:rPr>
              <a:t>Not us. We meet you AFTER this step — when the prototype hits the infrastructure wall.</a:t>
            </a:r>
            <a:endParaRPr lang="en-US" sz="950" dirty="0"/>
          </a:p>
        </p:txBody>
      </p:sp>
      <p:sp>
        <p:nvSpPr>
          <p:cNvPr id="12" name="Shape 10"/>
          <p:cNvSpPr/>
          <p:nvPr/>
        </p:nvSpPr>
        <p:spPr>
          <a:xfrm>
            <a:off x="4297680" y="2148840"/>
            <a:ext cx="3611880" cy="3017520"/>
          </a:xfrm>
          <a:prstGeom prst="roundRect">
            <a:avLst>
              <a:gd name="adj" fmla="val 3030"/>
            </a:avLst>
          </a:prstGeom>
          <a:solidFill>
            <a:srgbClr val="0F172A"/>
          </a:solidFill>
          <a:ln w="25400">
            <a:solidFill>
              <a:srgbClr val="F59E0B"/>
            </a:solidFill>
            <a:prstDash val="solid"/>
          </a:ln>
        </p:spPr>
      </p:sp>
      <p:sp>
        <p:nvSpPr>
          <p:cNvPr id="13" name="Text 11"/>
          <p:cNvSpPr/>
          <p:nvPr/>
        </p:nvSpPr>
        <p:spPr>
          <a:xfrm>
            <a:off x="4572000" y="2377440"/>
            <a:ext cx="31546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TODAY  ·  WHAT HATCHIK SHIPS</a:t>
            </a:r>
            <a:endParaRPr lang="en-US" sz="850" dirty="0"/>
          </a:p>
        </p:txBody>
      </p:sp>
      <p:sp>
        <p:nvSpPr>
          <p:cNvPr id="14" name="Text 12"/>
          <p:cNvSpPr/>
          <p:nvPr/>
        </p:nvSpPr>
        <p:spPr>
          <a:xfrm>
            <a:off x="4572000" y="2697480"/>
            <a:ext cx="3154680" cy="594360"/>
          </a:xfrm>
          <a:prstGeom prst="rect">
            <a:avLst/>
          </a:prstGeom>
          <a:noFill/>
          <a:ln/>
        </p:spPr>
        <p:txBody>
          <a:bodyPr wrap="square" rtlCol="0" anchor="ctr"/>
          <a:lstStyle/>
          <a:p>
            <a:pPr indent="0" marL="0">
              <a:lnSpc>
                <a:spcPct val="115000"/>
              </a:lnSpc>
              <a:buNone/>
            </a:pPr>
            <a:r>
              <a:rPr lang="en-US" sz="1700" b="1" dirty="0">
                <a:solidFill>
                  <a:srgbClr val="FFFFFF"/>
                </a:solidFill>
                <a:latin typeface="DM Sans" pitchFamily="34" charset="0"/>
                <a:ea typeface="DM Sans" pitchFamily="34" charset="-122"/>
                <a:cs typeface="DM Sans" pitchFamily="34" charset="-120"/>
              </a:rPr>
              <a:t>Prototype → Sellable product</a:t>
            </a:r>
            <a:endParaRPr lang="en-US" sz="1700" dirty="0"/>
          </a:p>
        </p:txBody>
      </p:sp>
      <p:sp>
        <p:nvSpPr>
          <p:cNvPr id="15" name="Text 13"/>
          <p:cNvSpPr/>
          <p:nvPr/>
        </p:nvSpPr>
        <p:spPr>
          <a:xfrm>
            <a:off x="4572000" y="3337560"/>
            <a:ext cx="3154680" cy="274320"/>
          </a:xfrm>
          <a:prstGeom prst="rect">
            <a:avLst/>
          </a:prstGeom>
          <a:noFill/>
          <a:ln/>
        </p:spPr>
        <p:txBody>
          <a:bodyPr wrap="square" rtlCol="0" anchor="ctr"/>
          <a:lstStyle/>
          <a:p>
            <a:pPr indent="0" marL="0">
              <a:buNone/>
            </a:pPr>
            <a:r>
              <a:rPr lang="en-US" sz="1000" i="1" dirty="0">
                <a:solidFill>
                  <a:srgbClr val="F59E0B"/>
                </a:solidFill>
                <a:latin typeface="DM Sans" pitchFamily="34" charset="0"/>
                <a:ea typeface="DM Sans" pitchFamily="34" charset="-122"/>
                <a:cs typeface="DM Sans" pitchFamily="34" charset="-120"/>
              </a:rPr>
              <a:t>Hatchik substrate (live)</a:t>
            </a:r>
            <a:endParaRPr lang="en-US" sz="1000" dirty="0"/>
          </a:p>
        </p:txBody>
      </p:sp>
      <p:sp>
        <p:nvSpPr>
          <p:cNvPr id="16" name="Text 14"/>
          <p:cNvSpPr/>
          <p:nvPr/>
        </p:nvSpPr>
        <p:spPr>
          <a:xfrm>
            <a:off x="4572000" y="3657600"/>
            <a:ext cx="3154680" cy="822960"/>
          </a:xfrm>
          <a:prstGeom prst="rect">
            <a:avLst/>
          </a:prstGeom>
          <a:noFill/>
          <a:ln/>
        </p:spPr>
        <p:txBody>
          <a:bodyPr wrap="square" rtlCol="0" anchor="ctr"/>
          <a:lstStyle/>
          <a:p>
            <a:pPr indent="0" marL="0">
              <a:lnSpc>
                <a:spcPct val="140000"/>
              </a:lnSpc>
              <a:buNone/>
            </a:pPr>
            <a:r>
              <a:rPr lang="en-US" sz="1000" dirty="0">
                <a:solidFill>
                  <a:srgbClr val="EEF2FF"/>
                </a:solidFill>
                <a:latin typeface="DM Sans" pitchFamily="34" charset="0"/>
                <a:ea typeface="DM Sans" pitchFamily="34" charset="-122"/>
                <a:cs typeface="DM Sans" pitchFamily="34" charset="-120"/>
              </a:rPr>
              <a:t>Auth, Postgres, payments, mail, mobile, MoR billing, GitHub repo. Day-one SaaS. Customer signs up, pays, gets receipts, ships mobile.</a:t>
            </a:r>
            <a:endParaRPr lang="en-US" sz="1000" dirty="0"/>
          </a:p>
        </p:txBody>
      </p:sp>
      <p:sp>
        <p:nvSpPr>
          <p:cNvPr id="17" name="Shape 15"/>
          <p:cNvSpPr/>
          <p:nvPr/>
        </p:nvSpPr>
        <p:spPr>
          <a:xfrm>
            <a:off x="4572000" y="4526280"/>
            <a:ext cx="3063240" cy="9144"/>
          </a:xfrm>
          <a:prstGeom prst="rect">
            <a:avLst/>
          </a:prstGeom>
          <a:solidFill>
            <a:srgbClr val="334155"/>
          </a:solidFill>
          <a:ln w="12700">
            <a:solidFill>
              <a:srgbClr val="333333"/>
            </a:solidFill>
            <a:prstDash val="solid"/>
          </a:ln>
        </p:spPr>
      </p:sp>
      <p:sp>
        <p:nvSpPr>
          <p:cNvPr id="18" name="Text 16"/>
          <p:cNvSpPr/>
          <p:nvPr/>
        </p:nvSpPr>
        <p:spPr>
          <a:xfrm>
            <a:off x="4572000" y="4617720"/>
            <a:ext cx="3154680" cy="502920"/>
          </a:xfrm>
          <a:prstGeom prst="rect">
            <a:avLst/>
          </a:prstGeom>
          <a:noFill/>
          <a:ln/>
        </p:spPr>
        <p:txBody>
          <a:bodyPr wrap="square" rtlCol="0" anchor="ctr"/>
          <a:lstStyle/>
          <a:p>
            <a:pPr indent="0" marL="0">
              <a:lnSpc>
                <a:spcPct val="130000"/>
              </a:lnSpc>
              <a:buNone/>
            </a:pPr>
            <a:r>
              <a:rPr lang="en-US" sz="950" b="1" dirty="0">
                <a:solidFill>
                  <a:srgbClr val="F59E0B"/>
                </a:solidFill>
                <a:latin typeface="DM Sans" pitchFamily="34" charset="0"/>
                <a:ea typeface="DM Sans" pitchFamily="34" charset="-122"/>
                <a:cs typeface="DM Sans" pitchFamily="34" charset="-120"/>
              </a:rPr>
              <a:t>Launch tier £14/mo (annual) — production hosting + domain + 3 mailboxes + AI deploy. Growth tier £39/mo — dedicated VPS.</a:t>
            </a:r>
            <a:endParaRPr lang="en-US" sz="950" dirty="0"/>
          </a:p>
        </p:txBody>
      </p:sp>
      <p:sp>
        <p:nvSpPr>
          <p:cNvPr id="19" name="Shape 17"/>
          <p:cNvSpPr/>
          <p:nvPr/>
        </p:nvSpPr>
        <p:spPr>
          <a:xfrm>
            <a:off x="8092440" y="2148840"/>
            <a:ext cx="3611880" cy="3017520"/>
          </a:xfrm>
          <a:prstGeom prst="roundRect">
            <a:avLst>
              <a:gd name="adj" fmla="val 3030"/>
            </a:avLst>
          </a:prstGeom>
          <a:solidFill>
            <a:srgbClr val="F6F5F1"/>
          </a:solidFill>
          <a:ln w="9525">
            <a:solidFill>
              <a:srgbClr val="E2E8F0"/>
            </a:solidFill>
            <a:prstDash val="solid"/>
          </a:ln>
        </p:spPr>
      </p:sp>
      <p:sp>
        <p:nvSpPr>
          <p:cNvPr id="20" name="Text 18"/>
          <p:cNvSpPr/>
          <p:nvPr/>
        </p:nvSpPr>
        <p:spPr>
          <a:xfrm>
            <a:off x="8366760" y="2377440"/>
            <a:ext cx="3154680" cy="274320"/>
          </a:xfrm>
          <a:prstGeom prst="rect">
            <a:avLst/>
          </a:prstGeom>
          <a:noFill/>
          <a:ln/>
        </p:spPr>
        <p:txBody>
          <a:bodyPr wrap="square" rtlCol="0" anchor="ctr"/>
          <a:lstStyle/>
          <a:p>
            <a:pPr indent="0" marL="0">
              <a:buNone/>
            </a:pPr>
            <a:r>
              <a:rPr lang="en-US" sz="850" b="1" spc="300" kern="0" dirty="0">
                <a:solidFill>
                  <a:srgbClr val="4F46E5"/>
                </a:solidFill>
                <a:latin typeface="JetBrains Mono" pitchFamily="34" charset="0"/>
                <a:ea typeface="JetBrains Mono" pitchFamily="34" charset="-122"/>
                <a:cs typeface="JetBrains Mono" pitchFamily="34" charset="-120"/>
              </a:rPr>
              <a:t>TOMORROW  ·  WHAT HATCHIK WILL SHIP</a:t>
            </a:r>
            <a:endParaRPr lang="en-US" sz="850" dirty="0"/>
          </a:p>
        </p:txBody>
      </p:sp>
      <p:sp>
        <p:nvSpPr>
          <p:cNvPr id="21" name="Text 19"/>
          <p:cNvSpPr/>
          <p:nvPr/>
        </p:nvSpPr>
        <p:spPr>
          <a:xfrm>
            <a:off x="8366760" y="26974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Product → Real business</a:t>
            </a:r>
            <a:endParaRPr lang="en-US" sz="1700" dirty="0"/>
          </a:p>
        </p:txBody>
      </p:sp>
      <p:sp>
        <p:nvSpPr>
          <p:cNvPr id="22" name="Text 20"/>
          <p:cNvSpPr/>
          <p:nvPr/>
        </p:nvSpPr>
        <p:spPr>
          <a:xfrm>
            <a:off x="8366760" y="3337560"/>
            <a:ext cx="3154680" cy="27432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Hatchik+ end-user services (Y2 watchlist)</a:t>
            </a:r>
            <a:endParaRPr lang="en-US" sz="1000" dirty="0"/>
          </a:p>
        </p:txBody>
      </p:sp>
      <p:sp>
        <p:nvSpPr>
          <p:cNvPr id="23" name="Text 21"/>
          <p:cNvSpPr/>
          <p:nvPr/>
        </p:nvSpPr>
        <p:spPr>
          <a:xfrm>
            <a:off x="8366760" y="3657600"/>
            <a:ext cx="3154680" cy="822960"/>
          </a:xfrm>
          <a:prstGeom prst="rect">
            <a:avLst/>
          </a:prstGeom>
          <a:noFill/>
          <a:ln/>
        </p:spPr>
        <p:txBody>
          <a:bodyPr wrap="square" rtlCol="0" anchor="ctr"/>
          <a:lstStyle/>
          <a:p>
            <a:pPr indent="0" marL="0">
              <a:lnSpc>
                <a:spcPct val="140000"/>
              </a:lnSpc>
              <a:buNone/>
            </a:pPr>
            <a:r>
              <a:rPr lang="en-US" sz="1000" dirty="0">
                <a:solidFill>
                  <a:srgbClr val="334155"/>
                </a:solidFill>
                <a:latin typeface="DM Sans" pitchFamily="34" charset="0"/>
                <a:ea typeface="DM Sans" pitchFamily="34" charset="-122"/>
                <a:cs typeface="DM Sans" pitchFamily="34" charset="-120"/>
              </a:rPr>
              <a:t>White-labeled AI agents and growth services the customer offers to THEIR end users — built on the substrate already running.</a:t>
            </a:r>
            <a:endParaRPr lang="en-US" sz="1000" dirty="0"/>
          </a:p>
        </p:txBody>
      </p:sp>
      <p:sp>
        <p:nvSpPr>
          <p:cNvPr id="24" name="Shape 22"/>
          <p:cNvSpPr/>
          <p:nvPr/>
        </p:nvSpPr>
        <p:spPr>
          <a:xfrm>
            <a:off x="8366760" y="4526280"/>
            <a:ext cx="3063240" cy="9144"/>
          </a:xfrm>
          <a:prstGeom prst="rect">
            <a:avLst/>
          </a:prstGeom>
          <a:solidFill>
            <a:srgbClr val="F1F5F9"/>
          </a:solidFill>
          <a:ln w="12700">
            <a:solidFill>
              <a:srgbClr val="333333"/>
            </a:solidFill>
            <a:prstDash val="solid"/>
          </a:ln>
        </p:spPr>
      </p:sp>
      <p:sp>
        <p:nvSpPr>
          <p:cNvPr id="25" name="Text 23"/>
          <p:cNvSpPr/>
          <p:nvPr/>
        </p:nvSpPr>
        <p:spPr>
          <a:xfrm>
            <a:off x="8366760" y="4617720"/>
            <a:ext cx="3154680" cy="502920"/>
          </a:xfrm>
          <a:prstGeom prst="rect">
            <a:avLst/>
          </a:prstGeom>
          <a:noFill/>
          <a:ln/>
        </p:spPr>
        <p:txBody>
          <a:bodyPr wrap="square" rtlCol="0" anchor="ctr"/>
          <a:lstStyle/>
          <a:p>
            <a:pPr indent="0" marL="0">
              <a:lnSpc>
                <a:spcPct val="130000"/>
              </a:lnSpc>
              <a:buNone/>
            </a:pPr>
            <a:r>
              <a:rPr lang="en-US" sz="950" b="1" dirty="0">
                <a:solidFill>
                  <a:srgbClr val="3730A3"/>
                </a:solidFill>
                <a:latin typeface="DM Sans" pitchFamily="34" charset="0"/>
                <a:ea typeface="DM Sans" pitchFamily="34" charset="-122"/>
                <a:cs typeface="DM Sans" pitchFamily="34" charset="-120"/>
              </a:rPr>
              <a:t>New revenue lines on top of subscription. Per-service or % of revenue.</a:t>
            </a:r>
            <a:endParaRPr lang="en-US" sz="950" dirty="0"/>
          </a:p>
        </p:txBody>
      </p:sp>
      <p:sp>
        <p:nvSpPr>
          <p:cNvPr id="26" name="Shape 24"/>
          <p:cNvSpPr/>
          <p:nvPr/>
        </p:nvSpPr>
        <p:spPr>
          <a:xfrm>
            <a:off x="502920" y="5349240"/>
            <a:ext cx="11155680" cy="1005840"/>
          </a:xfrm>
          <a:prstGeom prst="roundRect">
            <a:avLst>
              <a:gd name="adj" fmla="val 7273"/>
            </a:avLst>
          </a:prstGeom>
          <a:solidFill>
            <a:srgbClr val="EEF2FF"/>
          </a:solidFill>
          <a:ln w="12700">
            <a:solidFill>
              <a:srgbClr val="4F46E5"/>
            </a:solidFill>
            <a:prstDash val="solid"/>
          </a:ln>
        </p:spPr>
      </p:sp>
      <p:sp>
        <p:nvSpPr>
          <p:cNvPr id="27" name="Text 25"/>
          <p:cNvSpPr/>
          <p:nvPr/>
        </p:nvSpPr>
        <p:spPr>
          <a:xfrm>
            <a:off x="777240" y="5440680"/>
            <a:ext cx="1060704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TOMORROW  ·  END-USER SERVICES WE’LL BUILD ON THE SUBSTRATE</a:t>
            </a:r>
            <a:endParaRPr lang="en-US" sz="850" dirty="0"/>
          </a:p>
        </p:txBody>
      </p:sp>
      <p:sp>
        <p:nvSpPr>
          <p:cNvPr id="28" name="Text 26"/>
          <p:cNvSpPr/>
          <p:nvPr/>
        </p:nvSpPr>
        <p:spPr>
          <a:xfrm>
            <a:off x="777240" y="5715000"/>
            <a:ext cx="182880" cy="22860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29" name="Text 27"/>
          <p:cNvSpPr/>
          <p:nvPr/>
        </p:nvSpPr>
        <p:spPr>
          <a:xfrm>
            <a:off x="941832" y="5715000"/>
            <a:ext cx="3352800" cy="228600"/>
          </a:xfrm>
          <a:prstGeom prst="rect">
            <a:avLst/>
          </a:prstGeom>
          <a:noFill/>
          <a:ln/>
        </p:spPr>
        <p:txBody>
          <a:bodyPr wrap="square" rtlCol="0" anchor="ctr"/>
          <a:lstStyle/>
          <a:p>
            <a:pPr indent="0" marL="0">
              <a:buNone/>
            </a:pPr>
            <a:r>
              <a:rPr lang="en-US" sz="950" dirty="0">
                <a:solidFill>
                  <a:srgbClr val="1E293B"/>
                </a:solidFill>
                <a:latin typeface="DM Sans" pitchFamily="34" charset="0"/>
                <a:ea typeface="DM Sans" pitchFamily="34" charset="-122"/>
                <a:cs typeface="DM Sans" pitchFamily="34" charset="-120"/>
              </a:rPr>
              <a:t>AI agent customer support (white-label)</a:t>
            </a:r>
            <a:endParaRPr lang="en-US" sz="950" dirty="0"/>
          </a:p>
        </p:txBody>
      </p:sp>
      <p:sp>
        <p:nvSpPr>
          <p:cNvPr id="30" name="Text 28"/>
          <p:cNvSpPr/>
          <p:nvPr/>
        </p:nvSpPr>
        <p:spPr>
          <a:xfrm>
            <a:off x="4312920" y="5715000"/>
            <a:ext cx="182880" cy="22860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31" name="Text 29"/>
          <p:cNvSpPr/>
          <p:nvPr/>
        </p:nvSpPr>
        <p:spPr>
          <a:xfrm>
            <a:off x="4477512" y="5715000"/>
            <a:ext cx="3352800" cy="228600"/>
          </a:xfrm>
          <a:prstGeom prst="rect">
            <a:avLst/>
          </a:prstGeom>
          <a:noFill/>
          <a:ln/>
        </p:spPr>
        <p:txBody>
          <a:bodyPr wrap="square" rtlCol="0" anchor="ctr"/>
          <a:lstStyle/>
          <a:p>
            <a:pPr indent="0" marL="0">
              <a:buNone/>
            </a:pPr>
            <a:r>
              <a:rPr lang="en-US" sz="950" dirty="0">
                <a:solidFill>
                  <a:srgbClr val="1E293B"/>
                </a:solidFill>
                <a:latin typeface="DM Sans" pitchFamily="34" charset="0"/>
                <a:ea typeface="DM Sans" pitchFamily="34" charset="-122"/>
                <a:cs typeface="DM Sans" pitchFamily="34" charset="-120"/>
              </a:rPr>
              <a:t>AI marketing + branding agent (campaigns, copy, social)</a:t>
            </a:r>
            <a:endParaRPr lang="en-US" sz="950" dirty="0"/>
          </a:p>
        </p:txBody>
      </p:sp>
      <p:sp>
        <p:nvSpPr>
          <p:cNvPr id="32" name="Text 30"/>
          <p:cNvSpPr/>
          <p:nvPr/>
        </p:nvSpPr>
        <p:spPr>
          <a:xfrm>
            <a:off x="7848600" y="5715000"/>
            <a:ext cx="182880" cy="22860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33" name="Text 31"/>
          <p:cNvSpPr/>
          <p:nvPr/>
        </p:nvSpPr>
        <p:spPr>
          <a:xfrm>
            <a:off x="8013192" y="5715000"/>
            <a:ext cx="3352800" cy="228600"/>
          </a:xfrm>
          <a:prstGeom prst="rect">
            <a:avLst/>
          </a:prstGeom>
          <a:noFill/>
          <a:ln/>
        </p:spPr>
        <p:txBody>
          <a:bodyPr wrap="square" rtlCol="0" anchor="ctr"/>
          <a:lstStyle/>
          <a:p>
            <a:pPr indent="0" marL="0">
              <a:buNone/>
            </a:pPr>
            <a:r>
              <a:rPr lang="en-US" sz="950" dirty="0">
                <a:solidFill>
                  <a:srgbClr val="1E293B"/>
                </a:solidFill>
                <a:latin typeface="DM Sans" pitchFamily="34" charset="0"/>
                <a:ea typeface="DM Sans" pitchFamily="34" charset="-122"/>
                <a:cs typeface="DM Sans" pitchFamily="34" charset="-120"/>
              </a:rPr>
              <a:t>Funding / incubator network access (warm intros, term-sheet review)</a:t>
            </a:r>
            <a:endParaRPr lang="en-US" sz="950" dirty="0"/>
          </a:p>
        </p:txBody>
      </p:sp>
      <p:sp>
        <p:nvSpPr>
          <p:cNvPr id="34" name="Text 32"/>
          <p:cNvSpPr/>
          <p:nvPr/>
        </p:nvSpPr>
        <p:spPr>
          <a:xfrm>
            <a:off x="777240" y="6007608"/>
            <a:ext cx="182880" cy="22860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35" name="Text 33"/>
          <p:cNvSpPr/>
          <p:nvPr/>
        </p:nvSpPr>
        <p:spPr>
          <a:xfrm>
            <a:off x="941832" y="6007608"/>
            <a:ext cx="3352800" cy="228600"/>
          </a:xfrm>
          <a:prstGeom prst="rect">
            <a:avLst/>
          </a:prstGeom>
          <a:noFill/>
          <a:ln/>
        </p:spPr>
        <p:txBody>
          <a:bodyPr wrap="square" rtlCol="0" anchor="ctr"/>
          <a:lstStyle/>
          <a:p>
            <a:pPr indent="0" marL="0">
              <a:buNone/>
            </a:pPr>
            <a:r>
              <a:rPr lang="en-US" sz="950" dirty="0">
                <a:solidFill>
                  <a:srgbClr val="1E293B"/>
                </a:solidFill>
                <a:latin typeface="DM Sans" pitchFamily="34" charset="0"/>
                <a:ea typeface="DM Sans" pitchFamily="34" charset="-122"/>
                <a:cs typeface="DM Sans" pitchFamily="34" charset="-120"/>
              </a:rPr>
              <a:t>AI agent ops (onboarding, finance ops, HR basics)</a:t>
            </a:r>
            <a:endParaRPr lang="en-US" sz="950" dirty="0"/>
          </a:p>
        </p:txBody>
      </p:sp>
      <p:sp>
        <p:nvSpPr>
          <p:cNvPr id="36" name="Text 34"/>
          <p:cNvSpPr/>
          <p:nvPr/>
        </p:nvSpPr>
        <p:spPr>
          <a:xfrm>
            <a:off x="4312920" y="6007608"/>
            <a:ext cx="182880" cy="22860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37" name="Text 35"/>
          <p:cNvSpPr/>
          <p:nvPr/>
        </p:nvSpPr>
        <p:spPr>
          <a:xfrm>
            <a:off x="4477512" y="6007608"/>
            <a:ext cx="3352800" cy="228600"/>
          </a:xfrm>
          <a:prstGeom prst="rect">
            <a:avLst/>
          </a:prstGeom>
          <a:noFill/>
          <a:ln/>
        </p:spPr>
        <p:txBody>
          <a:bodyPr wrap="square" rtlCol="0" anchor="ctr"/>
          <a:lstStyle/>
          <a:p>
            <a:pPr indent="0" marL="0">
              <a:buNone/>
            </a:pPr>
            <a:r>
              <a:rPr lang="en-US" sz="950" dirty="0">
                <a:solidFill>
                  <a:srgbClr val="1E293B"/>
                </a:solidFill>
                <a:latin typeface="DM Sans" pitchFamily="34" charset="0"/>
                <a:ea typeface="DM Sans" pitchFamily="34" charset="-122"/>
                <a:cs typeface="DM Sans" pitchFamily="34" charset="-120"/>
              </a:rPr>
              <a:t>Compliance-in-a-box (privacy policy, terms, GDPR/CCPA tooling)</a:t>
            </a:r>
            <a:endParaRPr lang="en-US" sz="950" dirty="0"/>
          </a:p>
        </p:txBody>
      </p:sp>
      <p:sp>
        <p:nvSpPr>
          <p:cNvPr id="38" name="Text 36"/>
          <p:cNvSpPr/>
          <p:nvPr/>
        </p:nvSpPr>
        <p:spPr>
          <a:xfrm>
            <a:off x="7848600" y="6007608"/>
            <a:ext cx="182880" cy="22860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39" name="Text 37"/>
          <p:cNvSpPr/>
          <p:nvPr/>
        </p:nvSpPr>
        <p:spPr>
          <a:xfrm>
            <a:off x="8013192" y="6007608"/>
            <a:ext cx="3352800" cy="228600"/>
          </a:xfrm>
          <a:prstGeom prst="rect">
            <a:avLst/>
          </a:prstGeom>
          <a:noFill/>
          <a:ln/>
        </p:spPr>
        <p:txBody>
          <a:bodyPr wrap="square" rtlCol="0" anchor="ctr"/>
          <a:lstStyle/>
          <a:p>
            <a:pPr indent="0" marL="0">
              <a:buNone/>
            </a:pPr>
            <a:r>
              <a:rPr lang="en-US" sz="950" dirty="0">
                <a:solidFill>
                  <a:srgbClr val="1E293B"/>
                </a:solidFill>
                <a:latin typeface="DM Sans" pitchFamily="34" charset="0"/>
                <a:ea typeface="DM Sans" pitchFamily="34" charset="-122"/>
                <a:cs typeface="DM Sans" pitchFamily="34" charset="-120"/>
              </a:rPr>
              <a:t>Hosted growth analytics + cohort dashboards</a:t>
            </a:r>
            <a:endParaRPr lang="en-US" sz="950" dirty="0"/>
          </a:p>
        </p:txBody>
      </p:sp>
      <p:sp>
        <p:nvSpPr>
          <p:cNvPr id="40" name="Text 38"/>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41" name="Text 39"/>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Hatchik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Hatchik — Investor + partner deck — May 2026</dc:title>
  <dc:subject>PptxGenJS Presentation</dc:subject>
  <dc:creator>Hatchik</dc:creator>
  <cp:lastModifiedBy>Hatchik</cp:lastModifiedBy>
  <cp:revision>1</cp:revision>
  <dcterms:created xsi:type="dcterms:W3CDTF">2026-05-15T05:29:56Z</dcterms:created>
  <dcterms:modified xsi:type="dcterms:W3CDTF">2026-05-15T05:29:56Z</dcterms:modified>
</cp:coreProperties>
</file>