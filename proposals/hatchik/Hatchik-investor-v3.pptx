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5040E5"/>
          </a:solidFill>
          <a:ln/>
        </p:spPr>
      </p:sp>
      <p:sp>
        <p:nvSpPr>
          <p:cNvPr id="3" name="Shape 1"/>
          <p:cNvSpPr/>
          <p:nvPr/>
        </p:nvSpPr>
        <p:spPr>
          <a:xfrm>
            <a:off x="502920" y="292608"/>
            <a:ext cx="292608" cy="292608"/>
          </a:xfrm>
          <a:prstGeom prst="ellipse">
            <a:avLst/>
          </a:prstGeom>
          <a:solidFill>
            <a:srgbClr val="0B0E1F"/>
          </a:solidFill>
          <a:ln/>
        </p:spPr>
      </p:sp>
      <p:sp>
        <p:nvSpPr>
          <p:cNvPr id="4" name="Shape 2"/>
          <p:cNvSpPr/>
          <p:nvPr/>
        </p:nvSpPr>
        <p:spPr>
          <a:xfrm>
            <a:off x="576072" y="453542"/>
            <a:ext cx="146304" cy="11704"/>
          </a:xfrm>
          <a:prstGeom prst="rect">
            <a:avLst/>
          </a:prstGeom>
          <a:solidFill>
            <a:srgbClr val="FFFFFF"/>
          </a:solidFill>
          <a:ln/>
        </p:spPr>
      </p:sp>
      <p:sp>
        <p:nvSpPr>
          <p:cNvPr id="5" name="Text 3"/>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7162495" y="274320"/>
            <a:ext cx="4572000" cy="320040"/>
          </a:xfrm>
          <a:prstGeom prst="rect">
            <a:avLst/>
          </a:prstGeom>
          <a:noFill/>
          <a:ln/>
        </p:spPr>
        <p:txBody>
          <a:bodyPr wrap="square"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INVESTOR &amp; PARTNER DECK  ·  MAY 2026</a:t>
            </a:r>
            <a:endParaRPr lang="en-US" sz="1050" dirty="0"/>
          </a:p>
        </p:txBody>
      </p:sp>
      <p:sp>
        <p:nvSpPr>
          <p:cNvPr id="8" name="Text 6"/>
          <p:cNvSpPr/>
          <p:nvPr/>
        </p:nvSpPr>
        <p:spPr>
          <a:xfrm>
            <a:off x="502920" y="2103120"/>
            <a:ext cx="7315200" cy="365760"/>
          </a:xfrm>
          <a:prstGeom prst="rect">
            <a:avLst/>
          </a:prstGeom>
          <a:noFill/>
          <a:ln/>
        </p:spPr>
        <p:txBody>
          <a:bodyPr wrap="square" rtlCol="0" anchor="ctr"/>
          <a:lstStyle/>
          <a:p>
            <a:pPr algn="l" indent="0" marL="0">
              <a:buNone/>
            </a:pPr>
            <a:r>
              <a:rPr lang="en-US" sz="1300" spc="400" kern="0" dirty="0">
                <a:solidFill>
                  <a:srgbClr val="5040E5"/>
                </a:solidFill>
                <a:latin typeface="JetBrains Mono" pitchFamily="34" charset="0"/>
                <a:ea typeface="JetBrains Mono" pitchFamily="34" charset="-122"/>
                <a:cs typeface="JetBrains Mono" pitchFamily="34" charset="-120"/>
              </a:rPr>
              <a:t>THE PRODUCTION SUBSTRATE FOR AI-BUILT SAAS</a:t>
            </a:r>
            <a:endParaRPr lang="en-US" sz="1300" dirty="0"/>
          </a:p>
        </p:txBody>
      </p:sp>
      <p:sp>
        <p:nvSpPr>
          <p:cNvPr id="9" name="Text 7"/>
          <p:cNvSpPr/>
          <p:nvPr/>
        </p:nvSpPr>
        <p:spPr>
          <a:xfrm>
            <a:off x="502920" y="2286000"/>
            <a:ext cx="6858000" cy="1097280"/>
          </a:xfrm>
          <a:prstGeom prst="rect">
            <a:avLst/>
          </a:prstGeom>
          <a:noFill/>
          <a:ln/>
        </p:spPr>
        <p:txBody>
          <a:bodyPr wrap="square" rtlCol="0" anchor="t"/>
          <a:lstStyle/>
          <a:p>
            <a:pPr algn="l" indent="0" marL="0">
              <a:buNone/>
            </a:pPr>
            <a:r>
              <a:rPr lang="en-US" sz="5600" b="1" dirty="0">
                <a:solidFill>
                  <a:srgbClr val="0F172A"/>
                </a:solidFill>
                <a:latin typeface="Inter" pitchFamily="34" charset="0"/>
                <a:ea typeface="Inter" pitchFamily="34" charset="-122"/>
                <a:cs typeface="Inter" pitchFamily="34" charset="-120"/>
              </a:rPr>
              <a:t>Got an idea?</a:t>
            </a:r>
            <a:endParaRPr lang="en-US" sz="5600" dirty="0"/>
          </a:p>
        </p:txBody>
      </p:sp>
      <p:sp>
        <p:nvSpPr>
          <p:cNvPr id="10" name="Text 8"/>
          <p:cNvSpPr/>
          <p:nvPr/>
        </p:nvSpPr>
        <p:spPr>
          <a:xfrm>
            <a:off x="502920" y="3246120"/>
            <a:ext cx="6858000" cy="1097280"/>
          </a:xfrm>
          <a:prstGeom prst="rect">
            <a:avLst/>
          </a:prstGeom>
          <a:noFill/>
          <a:ln/>
        </p:spPr>
        <p:txBody>
          <a:bodyPr wrap="square" rtlCol="0" anchor="t"/>
          <a:lstStyle/>
          <a:p>
            <a:pPr algn="l" indent="0" marL="0">
              <a:buNone/>
            </a:pPr>
            <a:r>
              <a:rPr lang="en-US" sz="5600" b="1" dirty="0">
                <a:solidFill>
                  <a:srgbClr val="5040E5"/>
                </a:solidFill>
                <a:latin typeface="Inter" pitchFamily="34" charset="0"/>
                <a:ea typeface="Inter" pitchFamily="34" charset="-122"/>
                <a:cs typeface="Inter" pitchFamily="34" charset="-120"/>
              </a:rPr>
              <a:t>We'll get it launched.</a:t>
            </a:r>
            <a:endParaRPr lang="en-US" sz="5600" dirty="0"/>
          </a:p>
        </p:txBody>
      </p:sp>
      <p:sp>
        <p:nvSpPr>
          <p:cNvPr id="11" name="Shape 9"/>
          <p:cNvSpPr/>
          <p:nvPr/>
        </p:nvSpPr>
        <p:spPr>
          <a:xfrm>
            <a:off x="7040880" y="2423160"/>
            <a:ext cx="4709160" cy="2697480"/>
          </a:xfrm>
          <a:prstGeom prst="roundRect">
            <a:avLst>
              <a:gd name="adj" fmla="val 4068"/>
            </a:avLst>
          </a:prstGeom>
          <a:solidFill>
            <a:srgbClr val="0B0E1F"/>
          </a:solidFill>
          <a:ln/>
        </p:spPr>
      </p:sp>
      <p:sp>
        <p:nvSpPr>
          <p:cNvPr id="12" name="Text 10"/>
          <p:cNvSpPr/>
          <p:nvPr/>
        </p:nvSpPr>
        <p:spPr>
          <a:xfrm>
            <a:off x="7269480" y="2560320"/>
            <a:ext cx="4251960" cy="274320"/>
          </a:xfrm>
          <a:prstGeom prst="rect">
            <a:avLst/>
          </a:prstGeom>
          <a:noFill/>
          <a:ln/>
        </p:spPr>
        <p:txBody>
          <a:bodyPr wrap="square" rtlCol="0" anchor="ctr"/>
          <a:lstStyle/>
          <a:p>
            <a:pPr algn="l" indent="0" marL="0">
              <a:buNone/>
            </a:pPr>
            <a:r>
              <a:rPr lang="en-US" sz="1000" spc="300" kern="0" dirty="0">
                <a:solidFill>
                  <a:srgbClr val="B4ACEF"/>
                </a:solidFill>
                <a:latin typeface="JetBrains Mono" pitchFamily="34" charset="0"/>
                <a:ea typeface="JetBrains Mono" pitchFamily="34" charset="-122"/>
                <a:cs typeface="JetBrains Mono" pitchFamily="34" charset="-120"/>
              </a:rPr>
              <a:t>YOUR AI · CHAT      ● ● ●</a:t>
            </a:r>
            <a:endParaRPr lang="en-US" sz="1000" dirty="0"/>
          </a:p>
        </p:txBody>
      </p:sp>
      <p:sp>
        <p:nvSpPr>
          <p:cNvPr id="13" name="Text 11"/>
          <p:cNvSpPr/>
          <p:nvPr/>
        </p:nvSpPr>
        <p:spPr>
          <a:xfrm>
            <a:off x="7315200" y="2880360"/>
            <a:ext cx="4160520" cy="2057400"/>
          </a:xfrm>
          <a:prstGeom prst="rect">
            <a:avLst/>
          </a:prstGeom>
          <a:noFill/>
          <a:ln/>
        </p:spPr>
        <p:txBody>
          <a:bodyPr wrap="square" lIns="0" tIns="0" rIns="0" bIns="0" rtlCol="0" anchor="t"/>
          <a:lstStyle/>
          <a:p>
            <a:pPr algn="l" indent="0" marL="0">
              <a:buNone/>
            </a:pPr>
            <a:r>
              <a:rPr lang="en-US" sz="1150" dirty="0">
                <a:solidFill>
                  <a:srgbClr val="FFFFFF"/>
                </a:solidFill>
                <a:latin typeface="JetBrains Mono" pitchFamily="34" charset="0"/>
                <a:ea typeface="JetBrains Mono" pitchFamily="34" charset="-122"/>
                <a:cs typeface="JetBrains Mono" pitchFamily="34" charset="-120"/>
              </a:rPr>
              <a:t>you › build me a meal prep app called PrepSheet
</a:t>
            </a:r>
            <a:pPr algn="l" indent="0" marL="0">
              <a:buNone/>
            </a:pPr>
            <a:r>
              <a:rPr lang="en-US" sz="1150" dirty="0">
                <a:solidFill>
                  <a:srgbClr val="FFFFFF"/>
                </a:solidFill>
                <a:latin typeface="JetBrains Mono" pitchFamily="34" charset="0"/>
                <a:ea typeface="JetBrains Mono" pitchFamily="34" charset="-122"/>
                <a:cs typeface="JetBrains Mono" pitchFamily="34" charset="-120"/>
              </a:rPr>
              <a:t>
</a:t>
            </a:r>
            <a:pPr algn="l" indent="0" marL="0">
              <a:buNone/>
            </a:pPr>
            <a:r>
              <a:rPr lang="en-US" sz="1150" dirty="0">
                <a:solidFill>
                  <a:srgbClr val="B4ACEF"/>
                </a:solidFill>
                <a:latin typeface="JetBrains Mono" pitchFamily="34" charset="0"/>
                <a:ea typeface="JetBrains Mono" pitchFamily="34" charset="-122"/>
                <a:cs typeface="JetBrains Mono" pitchFamily="34" charset="-120"/>
              </a:rPr>
              <a:t>claude › I'll set up a free Sandbox so we can
</a:t>
            </a:r>
            <a:pPr algn="l" indent="0" marL="0">
              <a:buNone/>
            </a:pPr>
            <a:r>
              <a:rPr lang="en-US" sz="1150" dirty="0">
                <a:solidFill>
                  <a:srgbClr val="B4ACEF"/>
                </a:solidFill>
                <a:latin typeface="JetBrains Mono" pitchFamily="34" charset="0"/>
                <a:ea typeface="JetBrains Mono" pitchFamily="34" charset="-122"/>
                <a:cs typeface="JetBrains Mono" pitchFamily="34" charset="-120"/>
              </a:rPr>
              <a:t>         start building straight away. OK?
</a:t>
            </a:r>
            <a:pPr algn="l" indent="0" marL="0">
              <a:buNone/>
            </a:pPr>
            <a:r>
              <a:rPr lang="en-US" sz="1150" dirty="0">
                <a:solidFill>
                  <a:srgbClr val="FFFFFF"/>
                </a:solidFill>
                <a:latin typeface="JetBrains Mono" pitchFamily="34" charset="0"/>
                <a:ea typeface="JetBrains Mono" pitchFamily="34" charset="-122"/>
                <a:cs typeface="JetBrains Mono" pitchFamily="34" charset="-120"/>
              </a:rPr>
              <a:t>
</a:t>
            </a:r>
            <a:pPr algn="l" indent="0" marL="0">
              <a:buNone/>
            </a:pPr>
            <a:r>
              <a:rPr lang="en-US" sz="1150" dirty="0">
                <a:solidFill>
                  <a:srgbClr val="FFFFFF"/>
                </a:solidFill>
                <a:latin typeface="JetBrains Mono" pitchFamily="34" charset="0"/>
                <a:ea typeface="JetBrains Mono" pitchFamily="34" charset="-122"/>
                <a:cs typeface="JetBrains Mono" pitchFamily="34" charset="-120"/>
              </a:rPr>
              <a:t>you › yes please
</a:t>
            </a:r>
            <a:pPr algn="l" indent="0" marL="0">
              <a:buNone/>
            </a:pPr>
            <a:r>
              <a:rPr lang="en-US" sz="1150" dirty="0">
                <a:solidFill>
                  <a:srgbClr val="FFFFFF"/>
                </a:solidFill>
                <a:latin typeface="JetBrains Mono" pitchFamily="34" charset="0"/>
                <a:ea typeface="JetBrains Mono" pitchFamily="34" charset="-122"/>
                <a:cs typeface="JetBrains Mono" pitchFamily="34" charset="-120"/>
              </a:rPr>
              <a:t>
</a:t>
            </a:r>
            <a:pPr algn="l" indent="0" marL="0">
              <a:buNone/>
            </a:pPr>
            <a:r>
              <a:rPr lang="en-US" sz="1150" dirty="0">
                <a:solidFill>
                  <a:srgbClr val="B4ACEF"/>
                </a:solidFill>
                <a:latin typeface="JetBrains Mono" pitchFamily="34" charset="0"/>
                <a:ea typeface="JetBrains Mono" pitchFamily="34" charset="-122"/>
                <a:cs typeface="JetBrains Mono" pitchFamily="34" charset="-120"/>
              </a:rPr>
              <a:t>claude ›
</a:t>
            </a:r>
            <a:pPr algn="l" indent="0" marL="0">
              <a:buNone/>
            </a:pPr>
            <a:r>
              <a:rPr lang="en-US" sz="1150" dirty="0">
                <a:solidFill>
                  <a:srgbClr val="10B981"/>
                </a:solidFill>
                <a:latin typeface="JetBrains Mono" pitchFamily="34" charset="0"/>
                <a:ea typeface="JetBrains Mono" pitchFamily="34" charset="-122"/>
                <a:cs typeface="JetBrains Mono" pitchFamily="34" charset="-120"/>
              </a:rPr>
              <a:t>   ✓ live at prepsheet.hatchik.com
</a:t>
            </a:r>
            <a:pPr algn="l" indent="0" marL="0">
              <a:buNone/>
            </a:pPr>
            <a:r>
              <a:rPr lang="en-US" sz="1150" dirty="0">
                <a:solidFill>
                  <a:srgbClr val="10B981"/>
                </a:solidFill>
                <a:latin typeface="JetBrains Mono" pitchFamily="34" charset="0"/>
                <a:ea typeface="JetBrains Mono" pitchFamily="34" charset="-122"/>
                <a:cs typeface="JetBrains Mono" pitchFamily="34" charset="-120"/>
              </a:rPr>
              <a:t>   ✓ repo cloned
</a:t>
            </a:r>
            <a:pPr algn="l" indent="0" marL="0">
              <a:buNone/>
            </a:pPr>
            <a:r>
              <a:rPr lang="en-US" sz="1150" dirty="0">
                <a:solidFill>
                  <a:srgbClr val="10B981"/>
                </a:solidFill>
                <a:latin typeface="JetBrains Mono" pitchFamily="34" charset="0"/>
                <a:ea typeface="JetBrains Mono" pitchFamily="34" charset="-122"/>
                <a:cs typeface="JetBrains Mono" pitchFamily="34" charset="-120"/>
              </a:rPr>
              <a:t>   ✓ 23 starter tasks ready
</a:t>
            </a:r>
            <a:pPr algn="l" indent="0" marL="0">
              <a:buNone/>
            </a:pPr>
            <a:r>
              <a:rPr lang="en-US" sz="1150" dirty="0">
                <a:solidFill>
                  <a:srgbClr val="FFFFFF"/>
                </a:solidFill>
                <a:latin typeface="JetBrains Mono" pitchFamily="34" charset="0"/>
                <a:ea typeface="JetBrains Mono" pitchFamily="34" charset="-122"/>
                <a:cs typeface="JetBrains Mono" pitchFamily="34" charset="-120"/>
              </a:rPr>
              <a:t>   what shall we build first?
</a:t>
            </a:r>
            <a:endParaRPr lang="en-US" sz="1150" dirty="0"/>
          </a:p>
        </p:txBody>
      </p:sp>
      <p:sp>
        <p:nvSpPr>
          <p:cNvPr id="14" name="Text 12"/>
          <p:cNvSpPr/>
          <p:nvPr/>
        </p:nvSpPr>
        <p:spPr>
          <a:xfrm>
            <a:off x="502920" y="5349240"/>
            <a:ext cx="6400800" cy="914400"/>
          </a:xfrm>
          <a:prstGeom prst="rect">
            <a:avLst/>
          </a:prstGeom>
          <a:noFill/>
          <a:ln/>
        </p:spPr>
        <p:txBody>
          <a:bodyPr wrap="square" rtlCol="0" anchor="t"/>
          <a:lstStyle/>
          <a:p>
            <a:pPr algn="l" indent="0" marL="0">
              <a:buNone/>
            </a:pPr>
            <a:r>
              <a:rPr lang="en-US" sz="1500" dirty="0">
                <a:solidFill>
                  <a:srgbClr val="475569"/>
                </a:solidFill>
                <a:latin typeface="Inter" pitchFamily="34" charset="0"/>
                <a:ea typeface="Inter" pitchFamily="34" charset="-122"/>
                <a:cs typeface="Inter" pitchFamily="34" charset="-120"/>
              </a:rPr>
              <a:t>Your domain · your data · no platform · no lock-in. Owning the seam between AI builders and infrastructure — £20–100M strategic-exit window in 12–18 months.</a:t>
            </a:r>
            <a:endParaRPr lang="en-US" sz="1500" dirty="0"/>
          </a:p>
        </p:txBody>
      </p:sp>
      <p:sp>
        <p:nvSpPr>
          <p:cNvPr id="15" name="Text 13"/>
          <p:cNvSpPr/>
          <p:nvPr/>
        </p:nvSpPr>
        <p:spPr>
          <a:xfrm>
            <a:off x="502920" y="6355080"/>
            <a:ext cx="7315200" cy="274320"/>
          </a:xfrm>
          <a:prstGeom prst="rect">
            <a:avLst/>
          </a:prstGeom>
          <a:noFill/>
          <a:ln/>
        </p:spPr>
        <p:txBody>
          <a:bodyPr wrap="square"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FARHAN IRSHAD  ·  FOUNDER  ·  OMANI-REGISTERED COMPANY</a:t>
            </a:r>
            <a:endParaRPr lang="en-US" sz="950" dirty="0"/>
          </a:p>
        </p:txBody>
      </p:sp>
      <p:sp>
        <p:nvSpPr>
          <p:cNvPr id="16" name="Text 14"/>
          <p:cNvSpPr/>
          <p:nvPr/>
        </p:nvSpPr>
        <p:spPr>
          <a:xfrm>
            <a:off x="7619695" y="6355080"/>
            <a:ext cx="4069080" cy="274320"/>
          </a:xfrm>
          <a:prstGeom prst="rect">
            <a:avLst/>
          </a:prstGeom>
          <a:noFill/>
          <a:ln/>
        </p:spPr>
        <p:txBody>
          <a:bodyPr wrap="square"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HATCHIK.COM  ·  HELLO@HATCHIK.COM</a:t>
            </a:r>
            <a:endParaRPr lang="en-US" sz="950" dirty="0"/>
          </a:p>
        </p:txBody>
      </p:sp>
      <p:sp>
        <p:nvSpPr>
          <p:cNvPr id="17" name="Shape 15"/>
          <p:cNvSpPr/>
          <p:nvPr/>
        </p:nvSpPr>
        <p:spPr>
          <a:xfrm>
            <a:off x="502920" y="6263640"/>
            <a:ext cx="11185855" cy="0"/>
          </a:xfrm>
          <a:prstGeom prst="line">
            <a:avLst/>
          </a:prstGeom>
          <a:noFill/>
          <a:ln w="6350">
            <a:solidFill>
              <a:srgbClr val="E2E0F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02  ·  THE PROBLEM</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AI builds the prototype. </a:t>
            </a:r>
            <a:pPr algn="l" indent="0" marL="0">
              <a:buNone/>
            </a:pPr>
            <a:r>
              <a:rPr lang="en-US" sz="3600" b="1" dirty="0">
                <a:solidFill>
                  <a:srgbClr val="5040E5"/>
                </a:solidFill>
                <a:latin typeface="Inter" pitchFamily="34" charset="0"/>
                <a:ea typeface="Inter" pitchFamily="34" charset="-122"/>
                <a:cs typeface="Inter" pitchFamily="34" charset="-120"/>
              </a:rPr>
              <a:t>Then they hit a wall.</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Non-technical founders ship working-looking prototypes with AI tools. They get stuck on the infrastructure step — auth, payments, mailboxes, mobile, a real database — and the project quietly dies between "looks working" and "real business".</a:t>
            </a:r>
            <a:endParaRPr lang="en-US" sz="1550" dirty="0"/>
          </a:p>
        </p:txBody>
      </p:sp>
      <p:sp>
        <p:nvSpPr>
          <p:cNvPr id="9" name="Shape 7"/>
          <p:cNvSpPr/>
          <p:nvPr/>
        </p:nvSpPr>
        <p:spPr>
          <a:xfrm>
            <a:off x="502920" y="2606040"/>
            <a:ext cx="11185855" cy="1097280"/>
          </a:xfrm>
          <a:prstGeom prst="roundRect">
            <a:avLst>
              <a:gd name="adj" fmla="val 10000"/>
            </a:avLst>
          </a:prstGeom>
          <a:solidFill>
            <a:srgbClr val="F0EDFC"/>
          </a:solidFill>
          <a:ln w="9525">
            <a:solidFill>
              <a:srgbClr val="E8E5FB"/>
            </a:solidFill>
            <a:prstDash val="solid"/>
          </a:ln>
        </p:spPr>
      </p:sp>
      <p:sp>
        <p:nvSpPr>
          <p:cNvPr id="10" name="Text 8"/>
          <p:cNvSpPr/>
          <p:nvPr/>
        </p:nvSpPr>
        <p:spPr>
          <a:xfrm>
            <a:off x="731520" y="2743200"/>
            <a:ext cx="5486400"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WHAT THE MARKET IS SAYING  ·  TRIANGULATED</a:t>
            </a:r>
            <a:endParaRPr lang="en-US" sz="1050" dirty="0"/>
          </a:p>
        </p:txBody>
      </p:sp>
      <p:sp>
        <p:nvSpPr>
          <p:cNvPr id="11" name="Text 9"/>
          <p:cNvSpPr/>
          <p:nvPr/>
        </p:nvSpPr>
        <p:spPr>
          <a:xfrm>
            <a:off x="640080" y="3017520"/>
            <a:ext cx="2636444" cy="365760"/>
          </a:xfrm>
          <a:prstGeom prst="rect">
            <a:avLst/>
          </a:prstGeom>
          <a:noFill/>
          <a:ln/>
        </p:spPr>
        <p:txBody>
          <a:bodyPr wrap="square" lIns="0" tIns="0" rIns="0" bIns="0" rtlCol="0" anchor="t"/>
          <a:lstStyle/>
          <a:p>
            <a:pPr algn="l" indent="0" marL="0">
              <a:buNone/>
            </a:pPr>
            <a:r>
              <a:rPr lang="en-US" sz="2000" b="1" dirty="0">
                <a:solidFill>
                  <a:srgbClr val="5040E5"/>
                </a:solidFill>
                <a:latin typeface="Inter" pitchFamily="34" charset="0"/>
                <a:ea typeface="Inter" pitchFamily="34" charset="-122"/>
                <a:cs typeface="Inter" pitchFamily="34" charset="-120"/>
              </a:rPr>
              <a:t>12,400+</a:t>
            </a:r>
            <a:endParaRPr lang="en-US" sz="2000" dirty="0"/>
          </a:p>
        </p:txBody>
      </p:sp>
      <p:sp>
        <p:nvSpPr>
          <p:cNvPr id="12" name="Text 10"/>
          <p:cNvSpPr/>
          <p:nvPr/>
        </p:nvSpPr>
        <p:spPr>
          <a:xfrm>
            <a:off x="640080" y="3337560"/>
            <a:ext cx="2636444" cy="182880"/>
          </a:xfrm>
          <a:prstGeom prst="rect">
            <a:avLst/>
          </a:prstGeom>
          <a:noFill/>
          <a:ln/>
        </p:spPr>
        <p:txBody>
          <a:bodyPr wrap="square" lIns="0" tIns="0" rIns="0" bIns="0" rtlCol="0" anchor="t"/>
          <a:lstStyle/>
          <a:p>
            <a:pPr algn="l" indent="0" marL="0">
              <a:buNone/>
            </a:pPr>
            <a:r>
              <a:rPr lang="en-US" sz="1000" dirty="0">
                <a:solidFill>
                  <a:srgbClr val="475569"/>
                </a:solidFill>
                <a:latin typeface="Inter" pitchFamily="34" charset="0"/>
                <a:ea typeface="Inter" pitchFamily="34" charset="-122"/>
                <a:cs typeface="Inter" pitchFamily="34" charset="-120"/>
              </a:rPr>
              <a:t>Reddit threads on AI-deploy / hosting / auth</a:t>
            </a:r>
            <a:endParaRPr lang="en-US" sz="1000" dirty="0"/>
          </a:p>
        </p:txBody>
      </p:sp>
      <p:sp>
        <p:nvSpPr>
          <p:cNvPr id="13" name="Text 11"/>
          <p:cNvSpPr/>
          <p:nvPr/>
        </p:nvSpPr>
        <p:spPr>
          <a:xfrm>
            <a:off x="640080" y="3520440"/>
            <a:ext cx="2636444" cy="164592"/>
          </a:xfrm>
          <a:prstGeom prst="rect">
            <a:avLst/>
          </a:prstGeom>
          <a:noFill/>
          <a:ln/>
        </p:spPr>
        <p:txBody>
          <a:bodyPr wrap="square" lIns="0" tIns="0" rIns="0" bIns="0" rtlCol="0" anchor="ctr"/>
          <a:lstStyle/>
          <a:p>
            <a:pPr algn="l" indent="0" marL="0">
              <a:buNone/>
            </a:pPr>
            <a:r>
              <a:rPr lang="en-US" sz="850" dirty="0">
                <a:solidFill>
                  <a:srgbClr val="94A3B8"/>
                </a:solidFill>
                <a:latin typeface="JetBrains Mono" pitchFamily="34" charset="0"/>
                <a:ea typeface="JetBrains Mono" pitchFamily="34" charset="-122"/>
                <a:cs typeface="JetBrains Mono" pitchFamily="34" charset="-120"/>
              </a:rPr>
              <a:t>r/cursor · r/ClaudeAI · 90d</a:t>
            </a:r>
            <a:endParaRPr lang="en-US" sz="850" dirty="0"/>
          </a:p>
        </p:txBody>
      </p:sp>
      <p:sp>
        <p:nvSpPr>
          <p:cNvPr id="14" name="Text 12"/>
          <p:cNvSpPr/>
          <p:nvPr/>
        </p:nvSpPr>
        <p:spPr>
          <a:xfrm>
            <a:off x="3413684" y="3017520"/>
            <a:ext cx="2636444" cy="365760"/>
          </a:xfrm>
          <a:prstGeom prst="rect">
            <a:avLst/>
          </a:prstGeom>
          <a:noFill/>
          <a:ln/>
        </p:spPr>
        <p:txBody>
          <a:bodyPr wrap="square" lIns="0" tIns="0" rIns="0" bIns="0" rtlCol="0" anchor="t"/>
          <a:lstStyle/>
          <a:p>
            <a:pPr algn="l" indent="0" marL="0">
              <a:buNone/>
            </a:pPr>
            <a:r>
              <a:rPr lang="en-US" sz="2000" b="1" dirty="0">
                <a:solidFill>
                  <a:srgbClr val="5040E5"/>
                </a:solidFill>
                <a:latin typeface="Inter" pitchFamily="34" charset="0"/>
                <a:ea typeface="Inter" pitchFamily="34" charset="-122"/>
                <a:cs typeface="Inter" pitchFamily="34" charset="-120"/>
              </a:rPr>
              <a:t>~62%</a:t>
            </a:r>
            <a:endParaRPr lang="en-US" sz="2000" dirty="0"/>
          </a:p>
        </p:txBody>
      </p:sp>
      <p:sp>
        <p:nvSpPr>
          <p:cNvPr id="15" name="Text 13"/>
          <p:cNvSpPr/>
          <p:nvPr/>
        </p:nvSpPr>
        <p:spPr>
          <a:xfrm>
            <a:off x="3413684" y="3337560"/>
            <a:ext cx="2636444" cy="182880"/>
          </a:xfrm>
          <a:prstGeom prst="rect">
            <a:avLst/>
          </a:prstGeom>
          <a:noFill/>
          <a:ln/>
        </p:spPr>
        <p:txBody>
          <a:bodyPr wrap="square" lIns="0" tIns="0" rIns="0" bIns="0" rtlCol="0" anchor="t"/>
          <a:lstStyle/>
          <a:p>
            <a:pPr algn="l" indent="0" marL="0">
              <a:buNone/>
            </a:pPr>
            <a:r>
              <a:rPr lang="en-US" sz="1000" dirty="0">
                <a:solidFill>
                  <a:srgbClr val="475569"/>
                </a:solidFill>
                <a:latin typeface="Inter" pitchFamily="34" charset="0"/>
                <a:ea typeface="Inter" pitchFamily="34" charset="-122"/>
                <a:cs typeface="Inter" pitchFamily="34" charset="-120"/>
              </a:rPr>
              <a:t>of indie-hacker wish-lists cite 'production stack'</a:t>
            </a:r>
            <a:endParaRPr lang="en-US" sz="1000" dirty="0"/>
          </a:p>
        </p:txBody>
      </p:sp>
      <p:sp>
        <p:nvSpPr>
          <p:cNvPr id="16" name="Text 14"/>
          <p:cNvSpPr/>
          <p:nvPr/>
        </p:nvSpPr>
        <p:spPr>
          <a:xfrm>
            <a:off x="3413684" y="3520440"/>
            <a:ext cx="2636444" cy="164592"/>
          </a:xfrm>
          <a:prstGeom prst="rect">
            <a:avLst/>
          </a:prstGeom>
          <a:noFill/>
          <a:ln/>
        </p:spPr>
        <p:txBody>
          <a:bodyPr wrap="square" lIns="0" tIns="0" rIns="0" bIns="0" rtlCol="0" anchor="ctr"/>
          <a:lstStyle/>
          <a:p>
            <a:pPr algn="l" indent="0" marL="0">
              <a:buNone/>
            </a:pPr>
            <a:r>
              <a:rPr lang="en-US" sz="850" dirty="0">
                <a:solidFill>
                  <a:srgbClr val="94A3B8"/>
                </a:solidFill>
                <a:latin typeface="JetBrains Mono" pitchFamily="34" charset="0"/>
                <a:ea typeface="JetBrains Mono" pitchFamily="34" charset="-122"/>
                <a:cs typeface="JetBrains Mono" pitchFamily="34" charset="-120"/>
              </a:rPr>
              <a:t>Indie Hackers survey 2025</a:t>
            </a:r>
            <a:endParaRPr lang="en-US" sz="850" dirty="0"/>
          </a:p>
        </p:txBody>
      </p:sp>
      <p:sp>
        <p:nvSpPr>
          <p:cNvPr id="17" name="Text 15"/>
          <p:cNvSpPr/>
          <p:nvPr/>
        </p:nvSpPr>
        <p:spPr>
          <a:xfrm>
            <a:off x="6187288" y="3017520"/>
            <a:ext cx="2636444" cy="365760"/>
          </a:xfrm>
          <a:prstGeom prst="rect">
            <a:avLst/>
          </a:prstGeom>
          <a:noFill/>
          <a:ln/>
        </p:spPr>
        <p:txBody>
          <a:bodyPr wrap="square" lIns="0" tIns="0" rIns="0" bIns="0" rtlCol="0" anchor="t"/>
          <a:lstStyle/>
          <a:p>
            <a:pPr algn="l" indent="0" marL="0">
              <a:buNone/>
            </a:pPr>
            <a:r>
              <a:rPr lang="en-US" sz="2000" b="1" dirty="0">
                <a:solidFill>
                  <a:srgbClr val="5040E5"/>
                </a:solidFill>
                <a:latin typeface="Inter" pitchFamily="34" charset="0"/>
                <a:ea typeface="Inter" pitchFamily="34" charset="-122"/>
                <a:cs typeface="Inter" pitchFamily="34" charset="-120"/>
              </a:rPr>
              <a:t>$2.4B</a:t>
            </a:r>
            <a:endParaRPr lang="en-US" sz="2000" dirty="0"/>
          </a:p>
        </p:txBody>
      </p:sp>
      <p:sp>
        <p:nvSpPr>
          <p:cNvPr id="18" name="Text 16"/>
          <p:cNvSpPr/>
          <p:nvPr/>
        </p:nvSpPr>
        <p:spPr>
          <a:xfrm>
            <a:off x="6187288" y="3337560"/>
            <a:ext cx="2636444" cy="182880"/>
          </a:xfrm>
          <a:prstGeom prst="rect">
            <a:avLst/>
          </a:prstGeom>
          <a:noFill/>
          <a:ln/>
        </p:spPr>
        <p:txBody>
          <a:bodyPr wrap="square" lIns="0" tIns="0" rIns="0" bIns="0" rtlCol="0" anchor="t"/>
          <a:lstStyle/>
          <a:p>
            <a:pPr algn="l" indent="0" marL="0">
              <a:buNone/>
            </a:pPr>
            <a:r>
              <a:rPr lang="en-US" sz="1000" dirty="0">
                <a:solidFill>
                  <a:srgbClr val="475569"/>
                </a:solidFill>
                <a:latin typeface="Inter" pitchFamily="34" charset="0"/>
                <a:ea typeface="Inter" pitchFamily="34" charset="-122"/>
                <a:cs typeface="Inter" pitchFamily="34" charset="-120"/>
              </a:rPr>
              <a:t>AI-coding tools ARR Q4 '25</a:t>
            </a:r>
            <a:endParaRPr lang="en-US" sz="1000" dirty="0"/>
          </a:p>
        </p:txBody>
      </p:sp>
      <p:sp>
        <p:nvSpPr>
          <p:cNvPr id="19" name="Text 17"/>
          <p:cNvSpPr/>
          <p:nvPr/>
        </p:nvSpPr>
        <p:spPr>
          <a:xfrm>
            <a:off x="6187288" y="3520440"/>
            <a:ext cx="2636444" cy="164592"/>
          </a:xfrm>
          <a:prstGeom prst="rect">
            <a:avLst/>
          </a:prstGeom>
          <a:noFill/>
          <a:ln/>
        </p:spPr>
        <p:txBody>
          <a:bodyPr wrap="square" lIns="0" tIns="0" rIns="0" bIns="0" rtlCol="0" anchor="ctr"/>
          <a:lstStyle/>
          <a:p>
            <a:pPr algn="l" indent="0" marL="0">
              <a:buNone/>
            </a:pPr>
            <a:r>
              <a:rPr lang="en-US" sz="850" dirty="0">
                <a:solidFill>
                  <a:srgbClr val="94A3B8"/>
                </a:solidFill>
                <a:latin typeface="JetBrains Mono" pitchFamily="34" charset="0"/>
                <a:ea typeface="JetBrains Mono" pitchFamily="34" charset="-122"/>
                <a:cs typeface="JetBrains Mono" pitchFamily="34" charset="-120"/>
              </a:rPr>
              <a:t>a16z state of AI, GP reports</a:t>
            </a:r>
            <a:endParaRPr lang="en-US" sz="850" dirty="0"/>
          </a:p>
        </p:txBody>
      </p:sp>
      <p:sp>
        <p:nvSpPr>
          <p:cNvPr id="20" name="Text 18"/>
          <p:cNvSpPr/>
          <p:nvPr/>
        </p:nvSpPr>
        <p:spPr>
          <a:xfrm>
            <a:off x="8960891" y="3017520"/>
            <a:ext cx="2636444" cy="365760"/>
          </a:xfrm>
          <a:prstGeom prst="rect">
            <a:avLst/>
          </a:prstGeom>
          <a:noFill/>
          <a:ln/>
        </p:spPr>
        <p:txBody>
          <a:bodyPr wrap="square" lIns="0" tIns="0" rIns="0" bIns="0" rtlCol="0" anchor="t"/>
          <a:lstStyle/>
          <a:p>
            <a:pPr algn="l" indent="0" marL="0">
              <a:buNone/>
            </a:pPr>
            <a:r>
              <a:rPr lang="en-US" sz="2000" b="1" dirty="0">
                <a:solidFill>
                  <a:srgbClr val="5040E5"/>
                </a:solidFill>
                <a:latin typeface="Inter" pitchFamily="34" charset="0"/>
                <a:ea typeface="Inter" pitchFamily="34" charset="-122"/>
                <a:cs typeface="Inter" pitchFamily="34" charset="-120"/>
              </a:rPr>
              <a:t>310K</a:t>
            </a:r>
            <a:endParaRPr lang="en-US" sz="2000" dirty="0"/>
          </a:p>
        </p:txBody>
      </p:sp>
      <p:sp>
        <p:nvSpPr>
          <p:cNvPr id="21" name="Text 19"/>
          <p:cNvSpPr/>
          <p:nvPr/>
        </p:nvSpPr>
        <p:spPr>
          <a:xfrm>
            <a:off x="8960891" y="3337560"/>
            <a:ext cx="2636444" cy="182880"/>
          </a:xfrm>
          <a:prstGeom prst="rect">
            <a:avLst/>
          </a:prstGeom>
          <a:noFill/>
          <a:ln/>
        </p:spPr>
        <p:txBody>
          <a:bodyPr wrap="square" lIns="0" tIns="0" rIns="0" bIns="0" rtlCol="0" anchor="t"/>
          <a:lstStyle/>
          <a:p>
            <a:pPr algn="l" indent="0" marL="0">
              <a:buNone/>
            </a:pPr>
            <a:r>
              <a:rPr lang="en-US" sz="1000" dirty="0">
                <a:solidFill>
                  <a:srgbClr val="475569"/>
                </a:solidFill>
                <a:latin typeface="Inter" pitchFamily="34" charset="0"/>
                <a:ea typeface="Inter" pitchFamily="34" charset="-122"/>
                <a:cs typeface="Inter" pitchFamily="34" charset="-120"/>
              </a:rPr>
              <a:t>AI-coder paid seats in English-first markets</a:t>
            </a:r>
            <a:endParaRPr lang="en-US" sz="1000" dirty="0"/>
          </a:p>
        </p:txBody>
      </p:sp>
      <p:sp>
        <p:nvSpPr>
          <p:cNvPr id="22" name="Text 20"/>
          <p:cNvSpPr/>
          <p:nvPr/>
        </p:nvSpPr>
        <p:spPr>
          <a:xfrm>
            <a:off x="8960891" y="3520440"/>
            <a:ext cx="2636444" cy="164592"/>
          </a:xfrm>
          <a:prstGeom prst="rect">
            <a:avLst/>
          </a:prstGeom>
          <a:noFill/>
          <a:ln/>
        </p:spPr>
        <p:txBody>
          <a:bodyPr wrap="square" lIns="0" tIns="0" rIns="0" bIns="0" rtlCol="0" anchor="ctr"/>
          <a:lstStyle/>
          <a:p>
            <a:pPr algn="l" indent="0" marL="0">
              <a:buNone/>
            </a:pPr>
            <a:r>
              <a:rPr lang="en-US" sz="850" dirty="0">
                <a:solidFill>
                  <a:srgbClr val="94A3B8"/>
                </a:solidFill>
                <a:latin typeface="JetBrains Mono" pitchFamily="34" charset="0"/>
                <a:ea typeface="JetBrains Mono" pitchFamily="34" charset="-122"/>
                <a:cs typeface="JetBrains Mono" pitchFamily="34" charset="-120"/>
              </a:rPr>
              <a:t>Cursor / Lovable / Bolt filings</a:t>
            </a:r>
            <a:endParaRPr lang="en-US" sz="850" dirty="0"/>
          </a:p>
        </p:txBody>
      </p:sp>
      <p:sp>
        <p:nvSpPr>
          <p:cNvPr id="23" name="Shape 21"/>
          <p:cNvSpPr/>
          <p:nvPr/>
        </p:nvSpPr>
        <p:spPr>
          <a:xfrm>
            <a:off x="502920" y="3886200"/>
            <a:ext cx="3606698" cy="1965960"/>
          </a:xfrm>
          <a:prstGeom prst="roundRect">
            <a:avLst>
              <a:gd name="adj" fmla="val 5581"/>
            </a:avLst>
          </a:prstGeom>
          <a:solidFill>
            <a:srgbClr val="FFFFFF"/>
          </a:solidFill>
          <a:ln w="9525">
            <a:solidFill>
              <a:srgbClr val="E2E0F0"/>
            </a:solidFill>
            <a:prstDash val="solid"/>
          </a:ln>
        </p:spPr>
      </p:sp>
      <p:sp>
        <p:nvSpPr>
          <p:cNvPr id="24" name="Text 22"/>
          <p:cNvSpPr/>
          <p:nvPr/>
        </p:nvSpPr>
        <p:spPr>
          <a:xfrm>
            <a:off x="731520" y="4023360"/>
            <a:ext cx="314949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PERSONAL TRAINER</a:t>
            </a:r>
            <a:endParaRPr lang="en-US" sz="1050" dirty="0"/>
          </a:p>
        </p:txBody>
      </p:sp>
      <p:sp>
        <p:nvSpPr>
          <p:cNvPr id="25" name="Text 23"/>
          <p:cNvSpPr/>
          <p:nvPr/>
        </p:nvSpPr>
        <p:spPr>
          <a:xfrm>
            <a:off x="731520" y="4270248"/>
            <a:ext cx="3149498" cy="36576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A meal-prep app for clients.</a:t>
            </a:r>
            <a:endParaRPr lang="en-US" sz="1600" dirty="0"/>
          </a:p>
        </p:txBody>
      </p:sp>
      <p:sp>
        <p:nvSpPr>
          <p:cNvPr id="26" name="Text 24"/>
          <p:cNvSpPr/>
          <p:nvPr/>
        </p:nvSpPr>
        <p:spPr>
          <a:xfrm>
            <a:off x="731520" y="4754880"/>
            <a:ext cx="3149498" cy="320040"/>
          </a:xfrm>
          <a:prstGeom prst="rect">
            <a:avLst/>
          </a:prstGeom>
          <a:noFill/>
          <a:ln/>
        </p:spPr>
        <p:txBody>
          <a:bodyPr wrap="square" lIns="0" tIns="0" rIns="0" bIns="0" rtlCol="0" anchor="ctr"/>
          <a:lstStyle/>
          <a:p>
            <a:pPr algn="l" indent="0" marL="0">
              <a:buNone/>
            </a:pPr>
            <a:r>
              <a:rPr lang="en-US" sz="1000" dirty="0">
                <a:solidFill>
                  <a:srgbClr val="EF4444"/>
                </a:solidFill>
                <a:latin typeface="JetBrains Mono" pitchFamily="34" charset="0"/>
                <a:ea typeface="JetBrains Mono" pitchFamily="34" charset="-122"/>
                <a:cs typeface="JetBrains Mono" pitchFamily="34" charset="-120"/>
              </a:rPr>
              <a:t>⚠ stripe · no API key configured</a:t>
            </a:r>
            <a:endParaRPr lang="en-US" sz="1000" dirty="0"/>
          </a:p>
        </p:txBody>
      </p:sp>
      <p:sp>
        <p:nvSpPr>
          <p:cNvPr id="27" name="Text 25"/>
          <p:cNvSpPr/>
          <p:nvPr/>
        </p:nvSpPr>
        <p:spPr>
          <a:xfrm>
            <a:off x="731520" y="5120640"/>
            <a:ext cx="3149498" cy="82296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Where they plateau: generates meal plans. Cannot bill, cannot send weekly emails, no mobile build.</a:t>
            </a:r>
            <a:endParaRPr lang="en-US" sz="1150" dirty="0"/>
          </a:p>
        </p:txBody>
      </p:sp>
      <p:sp>
        <p:nvSpPr>
          <p:cNvPr id="28" name="Shape 26"/>
          <p:cNvSpPr/>
          <p:nvPr/>
        </p:nvSpPr>
        <p:spPr>
          <a:xfrm>
            <a:off x="4292498" y="3886200"/>
            <a:ext cx="3606698" cy="1965960"/>
          </a:xfrm>
          <a:prstGeom prst="roundRect">
            <a:avLst>
              <a:gd name="adj" fmla="val 5581"/>
            </a:avLst>
          </a:prstGeom>
          <a:solidFill>
            <a:srgbClr val="FFFFFF"/>
          </a:solidFill>
          <a:ln w="9525">
            <a:solidFill>
              <a:srgbClr val="E2E0F0"/>
            </a:solidFill>
            <a:prstDash val="solid"/>
          </a:ln>
        </p:spPr>
      </p:sp>
      <p:sp>
        <p:nvSpPr>
          <p:cNvPr id="29" name="Text 27"/>
          <p:cNvSpPr/>
          <p:nvPr/>
        </p:nvSpPr>
        <p:spPr>
          <a:xfrm>
            <a:off x="4521098" y="4023360"/>
            <a:ext cx="314949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CONSULTANT</a:t>
            </a:r>
            <a:endParaRPr lang="en-US" sz="1050" dirty="0"/>
          </a:p>
        </p:txBody>
      </p:sp>
      <p:sp>
        <p:nvSpPr>
          <p:cNvPr id="30" name="Text 28"/>
          <p:cNvSpPr/>
          <p:nvPr/>
        </p:nvSpPr>
        <p:spPr>
          <a:xfrm>
            <a:off x="4521098" y="4270248"/>
            <a:ext cx="3149498" cy="36576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An interactive framework demo.</a:t>
            </a:r>
            <a:endParaRPr lang="en-US" sz="1600" dirty="0"/>
          </a:p>
        </p:txBody>
      </p:sp>
      <p:sp>
        <p:nvSpPr>
          <p:cNvPr id="31" name="Text 29"/>
          <p:cNvSpPr/>
          <p:nvPr/>
        </p:nvSpPr>
        <p:spPr>
          <a:xfrm>
            <a:off x="4521098" y="4754880"/>
            <a:ext cx="3149498" cy="320040"/>
          </a:xfrm>
          <a:prstGeom prst="rect">
            <a:avLst/>
          </a:prstGeom>
          <a:noFill/>
          <a:ln/>
        </p:spPr>
        <p:txBody>
          <a:bodyPr wrap="square" lIns="0" tIns="0" rIns="0" bIns="0" rtlCol="0" anchor="ctr"/>
          <a:lstStyle/>
          <a:p>
            <a:pPr algn="l" indent="0" marL="0">
              <a:buNone/>
            </a:pPr>
            <a:r>
              <a:rPr lang="en-US" sz="1000" dirty="0">
                <a:solidFill>
                  <a:srgbClr val="EF4444"/>
                </a:solidFill>
                <a:latin typeface="JetBrains Mono" pitchFamily="34" charset="0"/>
                <a:ea typeface="JetBrains Mono" pitchFamily="34" charset="-122"/>
                <a:cs typeface="JetBrains Mono" pitchFamily="34" charset="-120"/>
              </a:rPr>
              <a:t>⚠ no auth · no billing</a:t>
            </a:r>
            <a:endParaRPr lang="en-US" sz="1000" dirty="0"/>
          </a:p>
        </p:txBody>
      </p:sp>
      <p:sp>
        <p:nvSpPr>
          <p:cNvPr id="32" name="Text 30"/>
          <p:cNvSpPr/>
          <p:nvPr/>
        </p:nvSpPr>
        <p:spPr>
          <a:xfrm>
            <a:off x="4521098" y="5120640"/>
            <a:ext cx="3149498" cy="82296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Where they plateau: slick interaction. No login, no usage limits, no way to charge the £5K it's worth.</a:t>
            </a:r>
            <a:endParaRPr lang="en-US" sz="1150" dirty="0"/>
          </a:p>
        </p:txBody>
      </p:sp>
      <p:sp>
        <p:nvSpPr>
          <p:cNvPr id="33" name="Shape 31"/>
          <p:cNvSpPr/>
          <p:nvPr/>
        </p:nvSpPr>
        <p:spPr>
          <a:xfrm>
            <a:off x="8082077" y="3886200"/>
            <a:ext cx="3606698" cy="1965960"/>
          </a:xfrm>
          <a:prstGeom prst="roundRect">
            <a:avLst>
              <a:gd name="adj" fmla="val 5581"/>
            </a:avLst>
          </a:prstGeom>
          <a:solidFill>
            <a:srgbClr val="FFFFFF"/>
          </a:solidFill>
          <a:ln w="9525">
            <a:solidFill>
              <a:srgbClr val="E2E0F0"/>
            </a:solidFill>
            <a:prstDash val="solid"/>
          </a:ln>
        </p:spPr>
      </p:sp>
      <p:sp>
        <p:nvSpPr>
          <p:cNvPr id="34" name="Text 32"/>
          <p:cNvSpPr/>
          <p:nvPr/>
        </p:nvSpPr>
        <p:spPr>
          <a:xfrm>
            <a:off x="8310677" y="4023360"/>
            <a:ext cx="314949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DESIGNER</a:t>
            </a:r>
            <a:endParaRPr lang="en-US" sz="1050" dirty="0"/>
          </a:p>
        </p:txBody>
      </p:sp>
      <p:sp>
        <p:nvSpPr>
          <p:cNvPr id="35" name="Text 33"/>
          <p:cNvSpPr/>
          <p:nvPr/>
        </p:nvSpPr>
        <p:spPr>
          <a:xfrm>
            <a:off x="8310677" y="4270248"/>
            <a:ext cx="3149498" cy="36576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The tool they always wanted.</a:t>
            </a:r>
            <a:endParaRPr lang="en-US" sz="1600" dirty="0"/>
          </a:p>
        </p:txBody>
      </p:sp>
      <p:sp>
        <p:nvSpPr>
          <p:cNvPr id="36" name="Text 34"/>
          <p:cNvSpPr/>
          <p:nvPr/>
        </p:nvSpPr>
        <p:spPr>
          <a:xfrm>
            <a:off x="8310677" y="4754880"/>
            <a:ext cx="3149498" cy="320040"/>
          </a:xfrm>
          <a:prstGeom prst="rect">
            <a:avLst/>
          </a:prstGeom>
          <a:noFill/>
          <a:ln/>
        </p:spPr>
        <p:txBody>
          <a:bodyPr wrap="square" lIns="0" tIns="0" rIns="0" bIns="0" rtlCol="0" anchor="ctr"/>
          <a:lstStyle/>
          <a:p>
            <a:pPr algn="l" indent="0" marL="0">
              <a:buNone/>
            </a:pPr>
            <a:r>
              <a:rPr lang="en-US" sz="1000" dirty="0">
                <a:solidFill>
                  <a:srgbClr val="EF4444"/>
                </a:solidFill>
                <a:latin typeface="JetBrains Mono" pitchFamily="34" charset="0"/>
                <a:ea typeface="JetBrains Mono" pitchFamily="34" charset="-122"/>
                <a:cs typeface="JetBrains Mono" pitchFamily="34" charset="-120"/>
              </a:rPr>
              <a:t>⚠ no signed iOS build</a:t>
            </a:r>
            <a:endParaRPr lang="en-US" sz="1000" dirty="0"/>
          </a:p>
        </p:txBody>
      </p:sp>
      <p:sp>
        <p:nvSpPr>
          <p:cNvPr id="37" name="Text 35"/>
          <p:cNvSpPr/>
          <p:nvPr/>
        </p:nvSpPr>
        <p:spPr>
          <a:xfrm>
            <a:off x="8310677" y="5120640"/>
            <a:ext cx="3149498" cy="82296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Where they plateau: lovely UI. No real database, no auth, no signed mobile build to demo on a phone.</a:t>
            </a:r>
            <a:endParaRPr lang="en-US" sz="1150" dirty="0"/>
          </a:p>
        </p:txBody>
      </p:sp>
      <p:sp>
        <p:nvSpPr>
          <p:cNvPr id="38" name="Text 36"/>
          <p:cNvSpPr/>
          <p:nvPr/>
        </p:nvSpPr>
        <p:spPr>
          <a:xfrm>
            <a:off x="502920" y="5943600"/>
            <a:ext cx="11185855" cy="274320"/>
          </a:xfrm>
          <a:prstGeom prst="rect">
            <a:avLst/>
          </a:prstGeom>
          <a:noFill/>
          <a:ln/>
        </p:spPr>
        <p:txBody>
          <a:bodyPr wrap="square" rtlCol="0" anchor="ctr"/>
          <a:lstStyle/>
          <a:p>
            <a:pPr algn="l" indent="0" marL="0">
              <a:buNone/>
            </a:pPr>
            <a:r>
              <a:rPr lang="en-US" sz="1300" dirty="0">
                <a:solidFill>
                  <a:srgbClr val="0F172A"/>
                </a:solidFill>
                <a:latin typeface="Inter" pitchFamily="34" charset="0"/>
                <a:ea typeface="Inter" pitchFamily="34" charset="-122"/>
                <a:cs typeface="Inter" pitchFamily="34" charset="-120"/>
              </a:rPr>
              <a:t>Every persona above ships a working-looking thing. </a:t>
            </a:r>
            <a:pPr algn="l" indent="0" marL="0">
              <a:buNone/>
            </a:pPr>
            <a:r>
              <a:rPr lang="en-US" sz="1300" b="1" dirty="0">
                <a:solidFill>
                  <a:srgbClr val="5040E5"/>
                </a:solidFill>
                <a:latin typeface="Inter" pitchFamily="34" charset="0"/>
                <a:ea typeface="Inter" pitchFamily="34" charset="-122"/>
                <a:cs typeface="Inter" pitchFamily="34" charset="-120"/>
              </a:rPr>
              <a:t>None of them ships a business. ~310K of them, £56M+ TAM today.</a:t>
            </a:r>
            <a:endParaRPr lang="en-US" sz="1300" dirty="0"/>
          </a:p>
        </p:txBody>
      </p:sp>
      <p:sp>
        <p:nvSpPr>
          <p:cNvPr id="39" name="Shape 37"/>
          <p:cNvSpPr/>
          <p:nvPr/>
        </p:nvSpPr>
        <p:spPr>
          <a:xfrm>
            <a:off x="502920" y="6263640"/>
            <a:ext cx="11185855" cy="0"/>
          </a:xfrm>
          <a:prstGeom prst="line">
            <a:avLst/>
          </a:prstGeom>
          <a:noFill/>
          <a:ln w="6350">
            <a:solidFill>
              <a:srgbClr val="E2E0F0"/>
            </a:solidFill>
            <a:prstDash val="solid"/>
          </a:ln>
        </p:spPr>
      </p:sp>
      <p:sp>
        <p:nvSpPr>
          <p:cNvPr id="40" name="Text 38"/>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41" name="Text 39"/>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02  /  28</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03  ·  THE SOLUTION</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We give the AI tool </a:t>
            </a:r>
            <a:pPr algn="l" indent="0" marL="0">
              <a:buNone/>
            </a:pPr>
            <a:r>
              <a:rPr lang="en-US" sz="3600" b="1" dirty="0">
                <a:solidFill>
                  <a:srgbClr val="5040E5"/>
                </a:solidFill>
                <a:latin typeface="Inter" pitchFamily="34" charset="0"/>
                <a:ea typeface="Inter" pitchFamily="34" charset="-122"/>
                <a:cs typeface="Inter" pitchFamily="34" charset="-120"/>
              </a:rPr>
              <a:t>a real SaaS to build on.</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Customer signs up. In ~60 seconds they have a sandbox at slug.hatchik.com with auth, Postgres, payments, mail, mobile and a private GitHub repo all wired. Their AI tool reads the handoff file, pushes to the repo, we redeploy in ~30 seconds.</a:t>
            </a:r>
            <a:endParaRPr lang="en-US" sz="1550" dirty="0"/>
          </a:p>
        </p:txBody>
      </p:sp>
      <p:sp>
        <p:nvSpPr>
          <p:cNvPr id="9" name="Shape 7"/>
          <p:cNvSpPr/>
          <p:nvPr/>
        </p:nvSpPr>
        <p:spPr>
          <a:xfrm>
            <a:off x="502920" y="2697480"/>
            <a:ext cx="11185855" cy="3017520"/>
          </a:xfrm>
          <a:prstGeom prst="roundRect">
            <a:avLst>
              <a:gd name="adj" fmla="val 3636"/>
            </a:avLst>
          </a:prstGeom>
          <a:solidFill>
            <a:srgbClr val="FFFFFF"/>
          </a:solidFill>
          <a:ln w="9525">
            <a:solidFill>
              <a:srgbClr val="E2E0F0"/>
            </a:solidFill>
            <a:prstDash val="solid"/>
          </a:ln>
        </p:spPr>
      </p:sp>
      <p:sp>
        <p:nvSpPr>
          <p:cNvPr id="10" name="Text 8"/>
          <p:cNvSpPr/>
          <p:nvPr/>
        </p:nvSpPr>
        <p:spPr>
          <a:xfrm>
            <a:off x="777240" y="2971800"/>
            <a:ext cx="1828800" cy="530352"/>
          </a:xfrm>
          <a:prstGeom prst="rect">
            <a:avLst/>
          </a:prstGeom>
          <a:noFill/>
          <a:ln/>
        </p:spPr>
        <p:txBody>
          <a:bodyPr wrap="square" lIns="0" tIns="0" rIns="0" bIns="0" rtlCol="0" anchor="ctr"/>
          <a:lstStyle/>
          <a:p>
            <a:pPr algn="l" indent="0" marL="0">
              <a:buNone/>
            </a:pPr>
            <a:r>
              <a:rPr lang="en-US" sz="1250" b="1" spc="300" kern="0" dirty="0">
                <a:solidFill>
                  <a:srgbClr val="0F172A"/>
                </a:solidFill>
                <a:latin typeface="JetBrains Mono" pitchFamily="34" charset="0"/>
                <a:ea typeface="JetBrains Mono" pitchFamily="34" charset="-122"/>
                <a:cs typeface="JetBrains Mono" pitchFamily="34" charset="-120"/>
              </a:rPr>
              <a:t>TENANT EDGE</a:t>
            </a:r>
            <a:endParaRPr lang="en-US" sz="1250" dirty="0"/>
          </a:p>
        </p:txBody>
      </p:sp>
      <p:sp>
        <p:nvSpPr>
          <p:cNvPr id="11" name="Shape 9"/>
          <p:cNvSpPr/>
          <p:nvPr/>
        </p:nvSpPr>
        <p:spPr>
          <a:xfrm>
            <a:off x="2743200" y="2990088"/>
            <a:ext cx="2064944" cy="493776"/>
          </a:xfrm>
          <a:prstGeom prst="roundRect">
            <a:avLst>
              <a:gd name="adj" fmla="val 50000"/>
            </a:avLst>
          </a:prstGeom>
          <a:solidFill>
            <a:srgbClr val="DCEBFF"/>
          </a:solidFill>
          <a:ln/>
        </p:spPr>
      </p:sp>
      <p:sp>
        <p:nvSpPr>
          <p:cNvPr id="12" name="Text 10"/>
          <p:cNvSpPr/>
          <p:nvPr/>
        </p:nvSpPr>
        <p:spPr>
          <a:xfrm>
            <a:off x="2743200" y="2990088"/>
            <a:ext cx="2064944" cy="493776"/>
          </a:xfrm>
          <a:prstGeom prst="rect">
            <a:avLst/>
          </a:prstGeom>
          <a:noFill/>
          <a:ln/>
        </p:spPr>
        <p:txBody>
          <a:bodyPr wrap="square" lIns="0" tIns="0" rIns="0" bIns="0" rtlCol="0" anchor="ctr"/>
          <a:lstStyle/>
          <a:p>
            <a:pPr algn="ctr" indent="0" marL="0">
              <a:buNone/>
            </a:pPr>
            <a:r>
              <a:rPr lang="en-US" sz="1350" spc="200" kern="0" dirty="0">
                <a:solidFill>
                  <a:srgbClr val="1E3A8A"/>
                </a:solidFill>
                <a:latin typeface="JetBrains Mono" pitchFamily="34" charset="0"/>
                <a:ea typeface="JetBrains Mono" pitchFamily="34" charset="-122"/>
                <a:cs typeface="JetBrains Mono" pitchFamily="34" charset="-120"/>
              </a:rPr>
              <a:t>slug.hatchik.com</a:t>
            </a:r>
            <a:endParaRPr lang="en-US" sz="1350" dirty="0"/>
          </a:p>
        </p:txBody>
      </p:sp>
      <p:sp>
        <p:nvSpPr>
          <p:cNvPr id="13" name="Shape 11"/>
          <p:cNvSpPr/>
          <p:nvPr/>
        </p:nvSpPr>
        <p:spPr>
          <a:xfrm>
            <a:off x="4945304" y="2990088"/>
            <a:ext cx="2064944" cy="493776"/>
          </a:xfrm>
          <a:prstGeom prst="roundRect">
            <a:avLst>
              <a:gd name="adj" fmla="val 50000"/>
            </a:avLst>
          </a:prstGeom>
          <a:solidFill>
            <a:srgbClr val="DCEBFF"/>
          </a:solidFill>
          <a:ln/>
        </p:spPr>
      </p:sp>
      <p:sp>
        <p:nvSpPr>
          <p:cNvPr id="14" name="Text 12"/>
          <p:cNvSpPr/>
          <p:nvPr/>
        </p:nvSpPr>
        <p:spPr>
          <a:xfrm>
            <a:off x="4945304" y="2990088"/>
            <a:ext cx="2064944" cy="493776"/>
          </a:xfrm>
          <a:prstGeom prst="rect">
            <a:avLst/>
          </a:prstGeom>
          <a:noFill/>
          <a:ln/>
        </p:spPr>
        <p:txBody>
          <a:bodyPr wrap="square" lIns="0" tIns="0" rIns="0" bIns="0" rtlCol="0" anchor="ctr"/>
          <a:lstStyle/>
          <a:p>
            <a:pPr algn="ctr" indent="0" marL="0">
              <a:buNone/>
            </a:pPr>
            <a:r>
              <a:rPr lang="en-US" sz="1350" spc="200" kern="0" dirty="0">
                <a:solidFill>
                  <a:srgbClr val="1E3A8A"/>
                </a:solidFill>
                <a:latin typeface="JetBrains Mono" pitchFamily="34" charset="0"/>
                <a:ea typeface="JetBrains Mono" pitchFamily="34" charset="-122"/>
                <a:cs typeface="JetBrains Mono" pitchFamily="34" charset="-120"/>
              </a:rPr>
              <a:t>Caddy · TLS</a:t>
            </a:r>
            <a:endParaRPr lang="en-US" sz="1350" dirty="0"/>
          </a:p>
        </p:txBody>
      </p:sp>
      <p:sp>
        <p:nvSpPr>
          <p:cNvPr id="15" name="Shape 13"/>
          <p:cNvSpPr/>
          <p:nvPr/>
        </p:nvSpPr>
        <p:spPr>
          <a:xfrm>
            <a:off x="7147408" y="2990088"/>
            <a:ext cx="2064944" cy="493776"/>
          </a:xfrm>
          <a:prstGeom prst="roundRect">
            <a:avLst>
              <a:gd name="adj" fmla="val 50000"/>
            </a:avLst>
          </a:prstGeom>
          <a:solidFill>
            <a:srgbClr val="DCEBFF"/>
          </a:solidFill>
          <a:ln/>
        </p:spPr>
      </p:sp>
      <p:sp>
        <p:nvSpPr>
          <p:cNvPr id="16" name="Text 14"/>
          <p:cNvSpPr/>
          <p:nvPr/>
        </p:nvSpPr>
        <p:spPr>
          <a:xfrm>
            <a:off x="7147408" y="2990088"/>
            <a:ext cx="2064944" cy="493776"/>
          </a:xfrm>
          <a:prstGeom prst="rect">
            <a:avLst/>
          </a:prstGeom>
          <a:noFill/>
          <a:ln/>
        </p:spPr>
        <p:txBody>
          <a:bodyPr wrap="square" lIns="0" tIns="0" rIns="0" bIns="0" rtlCol="0" anchor="ctr"/>
          <a:lstStyle/>
          <a:p>
            <a:pPr algn="ctr" indent="0" marL="0">
              <a:buNone/>
            </a:pPr>
            <a:r>
              <a:rPr lang="en-US" sz="1350" spc="200" kern="0" dirty="0">
                <a:solidFill>
                  <a:srgbClr val="1E3A8A"/>
                </a:solidFill>
                <a:latin typeface="JetBrains Mono" pitchFamily="34" charset="0"/>
                <a:ea typeface="JetBrains Mono" pitchFamily="34" charset="-122"/>
                <a:cs typeface="JetBrains Mono" pitchFamily="34" charset="-120"/>
              </a:rPr>
              <a:t>Cloudflare</a:t>
            </a:r>
            <a:endParaRPr lang="en-US" sz="1350" dirty="0"/>
          </a:p>
        </p:txBody>
      </p:sp>
      <p:sp>
        <p:nvSpPr>
          <p:cNvPr id="17" name="Shape 15"/>
          <p:cNvSpPr/>
          <p:nvPr/>
        </p:nvSpPr>
        <p:spPr>
          <a:xfrm>
            <a:off x="9349511" y="2990088"/>
            <a:ext cx="2064944" cy="493776"/>
          </a:xfrm>
          <a:prstGeom prst="roundRect">
            <a:avLst>
              <a:gd name="adj" fmla="val 50000"/>
            </a:avLst>
          </a:prstGeom>
          <a:solidFill>
            <a:srgbClr val="DCEBFF"/>
          </a:solidFill>
          <a:ln/>
        </p:spPr>
      </p:sp>
      <p:sp>
        <p:nvSpPr>
          <p:cNvPr id="18" name="Text 16"/>
          <p:cNvSpPr/>
          <p:nvPr/>
        </p:nvSpPr>
        <p:spPr>
          <a:xfrm>
            <a:off x="9349511" y="2990088"/>
            <a:ext cx="2064944" cy="493776"/>
          </a:xfrm>
          <a:prstGeom prst="rect">
            <a:avLst/>
          </a:prstGeom>
          <a:noFill/>
          <a:ln/>
        </p:spPr>
        <p:txBody>
          <a:bodyPr wrap="square" lIns="0" tIns="0" rIns="0" bIns="0" rtlCol="0" anchor="ctr"/>
          <a:lstStyle/>
          <a:p>
            <a:pPr algn="ctr" indent="0" marL="0">
              <a:buNone/>
            </a:pPr>
            <a:r>
              <a:rPr lang="en-US" sz="1350" spc="200" kern="0" dirty="0">
                <a:solidFill>
                  <a:srgbClr val="1E3A8A"/>
                </a:solidFill>
                <a:latin typeface="JetBrains Mono" pitchFamily="34" charset="0"/>
                <a:ea typeface="JetBrains Mono" pitchFamily="34" charset="-122"/>
                <a:cs typeface="JetBrains Mono" pitchFamily="34" charset="-120"/>
              </a:rPr>
              <a:t>Turnstile</a:t>
            </a:r>
            <a:endParaRPr lang="en-US" sz="1350" dirty="0"/>
          </a:p>
        </p:txBody>
      </p:sp>
      <p:sp>
        <p:nvSpPr>
          <p:cNvPr id="19" name="Text 17"/>
          <p:cNvSpPr/>
          <p:nvPr/>
        </p:nvSpPr>
        <p:spPr>
          <a:xfrm>
            <a:off x="777240" y="3557016"/>
            <a:ext cx="1828800" cy="530352"/>
          </a:xfrm>
          <a:prstGeom prst="rect">
            <a:avLst/>
          </a:prstGeom>
          <a:noFill/>
          <a:ln/>
        </p:spPr>
        <p:txBody>
          <a:bodyPr wrap="square" lIns="0" tIns="0" rIns="0" bIns="0" rtlCol="0" anchor="ctr"/>
          <a:lstStyle/>
          <a:p>
            <a:pPr algn="l" indent="0" marL="0">
              <a:buNone/>
            </a:pPr>
            <a:r>
              <a:rPr lang="en-US" sz="1250" b="1" spc="300" kern="0" dirty="0">
                <a:solidFill>
                  <a:srgbClr val="0F172A"/>
                </a:solidFill>
                <a:latin typeface="JetBrains Mono" pitchFamily="34" charset="0"/>
                <a:ea typeface="JetBrains Mono" pitchFamily="34" charset="-122"/>
                <a:cs typeface="JetBrains Mono" pitchFamily="34" charset="-120"/>
              </a:rPr>
              <a:t>APP LAYER</a:t>
            </a:r>
            <a:endParaRPr lang="en-US" sz="1250" dirty="0"/>
          </a:p>
        </p:txBody>
      </p:sp>
      <p:sp>
        <p:nvSpPr>
          <p:cNvPr id="20" name="Shape 18"/>
          <p:cNvSpPr/>
          <p:nvPr/>
        </p:nvSpPr>
        <p:spPr>
          <a:xfrm>
            <a:off x="2743200" y="3575304"/>
            <a:ext cx="2798978" cy="493776"/>
          </a:xfrm>
          <a:prstGeom prst="roundRect">
            <a:avLst>
              <a:gd name="adj" fmla="val 50000"/>
            </a:avLst>
          </a:prstGeom>
          <a:solidFill>
            <a:srgbClr val="E8E5FB"/>
          </a:solidFill>
          <a:ln/>
        </p:spPr>
      </p:sp>
      <p:sp>
        <p:nvSpPr>
          <p:cNvPr id="21" name="Text 19"/>
          <p:cNvSpPr/>
          <p:nvPr/>
        </p:nvSpPr>
        <p:spPr>
          <a:xfrm>
            <a:off x="2743200" y="3575304"/>
            <a:ext cx="2798978" cy="493776"/>
          </a:xfrm>
          <a:prstGeom prst="rect">
            <a:avLst/>
          </a:prstGeom>
          <a:noFill/>
          <a:ln/>
        </p:spPr>
        <p:txBody>
          <a:bodyPr wrap="square" lIns="0" tIns="0" rIns="0" bIns="0" rtlCol="0" anchor="ctr"/>
          <a:lstStyle/>
          <a:p>
            <a:pPr algn="ctr" indent="0" marL="0">
              <a:buNone/>
            </a:pPr>
            <a:r>
              <a:rPr lang="en-US" sz="1350" spc="200" kern="0" dirty="0">
                <a:solidFill>
                  <a:srgbClr val="3A2BC0"/>
                </a:solidFill>
                <a:latin typeface="JetBrains Mono" pitchFamily="34" charset="0"/>
                <a:ea typeface="JetBrains Mono" pitchFamily="34" charset="-122"/>
                <a:cs typeface="JetBrains Mono" pitchFamily="34" charset="-120"/>
              </a:rPr>
              <a:t>Next.js · web</a:t>
            </a:r>
            <a:endParaRPr lang="en-US" sz="1350" dirty="0"/>
          </a:p>
        </p:txBody>
      </p:sp>
      <p:sp>
        <p:nvSpPr>
          <p:cNvPr id="22" name="Shape 20"/>
          <p:cNvSpPr/>
          <p:nvPr/>
        </p:nvSpPr>
        <p:spPr>
          <a:xfrm>
            <a:off x="5679338" y="3575304"/>
            <a:ext cx="2798978" cy="493776"/>
          </a:xfrm>
          <a:prstGeom prst="roundRect">
            <a:avLst>
              <a:gd name="adj" fmla="val 50000"/>
            </a:avLst>
          </a:prstGeom>
          <a:solidFill>
            <a:srgbClr val="E8E5FB"/>
          </a:solidFill>
          <a:ln/>
        </p:spPr>
      </p:sp>
      <p:sp>
        <p:nvSpPr>
          <p:cNvPr id="23" name="Text 21"/>
          <p:cNvSpPr/>
          <p:nvPr/>
        </p:nvSpPr>
        <p:spPr>
          <a:xfrm>
            <a:off x="5679338" y="3575304"/>
            <a:ext cx="2798978" cy="493776"/>
          </a:xfrm>
          <a:prstGeom prst="rect">
            <a:avLst/>
          </a:prstGeom>
          <a:noFill/>
          <a:ln/>
        </p:spPr>
        <p:txBody>
          <a:bodyPr wrap="square" lIns="0" tIns="0" rIns="0" bIns="0" rtlCol="0" anchor="ctr"/>
          <a:lstStyle/>
          <a:p>
            <a:pPr algn="ctr" indent="0" marL="0">
              <a:buNone/>
            </a:pPr>
            <a:r>
              <a:rPr lang="en-US" sz="1350" spc="200" kern="0" dirty="0">
                <a:solidFill>
                  <a:srgbClr val="3A2BC0"/>
                </a:solidFill>
                <a:latin typeface="JetBrains Mono" pitchFamily="34" charset="0"/>
                <a:ea typeface="JetBrains Mono" pitchFamily="34" charset="-122"/>
                <a:cs typeface="JetBrains Mono" pitchFamily="34" charset="-120"/>
              </a:rPr>
              <a:t>Capacitor · iOS + Android</a:t>
            </a:r>
            <a:endParaRPr lang="en-US" sz="1350" dirty="0"/>
          </a:p>
        </p:txBody>
      </p:sp>
      <p:sp>
        <p:nvSpPr>
          <p:cNvPr id="24" name="Shape 22"/>
          <p:cNvSpPr/>
          <p:nvPr/>
        </p:nvSpPr>
        <p:spPr>
          <a:xfrm>
            <a:off x="8615477" y="3575304"/>
            <a:ext cx="2798978" cy="493776"/>
          </a:xfrm>
          <a:prstGeom prst="roundRect">
            <a:avLst>
              <a:gd name="adj" fmla="val 50000"/>
            </a:avLst>
          </a:prstGeom>
          <a:solidFill>
            <a:srgbClr val="E8E5FB"/>
          </a:solidFill>
          <a:ln/>
        </p:spPr>
      </p:sp>
      <p:sp>
        <p:nvSpPr>
          <p:cNvPr id="25" name="Text 23"/>
          <p:cNvSpPr/>
          <p:nvPr/>
        </p:nvSpPr>
        <p:spPr>
          <a:xfrm>
            <a:off x="8615477" y="3575304"/>
            <a:ext cx="2798978" cy="493776"/>
          </a:xfrm>
          <a:prstGeom prst="rect">
            <a:avLst/>
          </a:prstGeom>
          <a:noFill/>
          <a:ln/>
        </p:spPr>
        <p:txBody>
          <a:bodyPr wrap="square" lIns="0" tIns="0" rIns="0" bIns="0" rtlCol="0" anchor="ctr"/>
          <a:lstStyle/>
          <a:p>
            <a:pPr algn="ctr" indent="0" marL="0">
              <a:buNone/>
            </a:pPr>
            <a:r>
              <a:rPr lang="en-US" sz="1350" spc="200" kern="0" dirty="0">
                <a:solidFill>
                  <a:srgbClr val="3A2BC0"/>
                </a:solidFill>
                <a:latin typeface="JetBrains Mono" pitchFamily="34" charset="0"/>
                <a:ea typeface="JetBrains Mono" pitchFamily="34" charset="-122"/>
                <a:cs typeface="JetBrains Mono" pitchFamily="34" charset="-120"/>
              </a:rPr>
              <a:t>AI_CONTEXT.md handoff</a:t>
            </a:r>
            <a:endParaRPr lang="en-US" sz="1350" dirty="0"/>
          </a:p>
        </p:txBody>
      </p:sp>
      <p:sp>
        <p:nvSpPr>
          <p:cNvPr id="26" name="Text 24"/>
          <p:cNvSpPr/>
          <p:nvPr/>
        </p:nvSpPr>
        <p:spPr>
          <a:xfrm>
            <a:off x="777240" y="4142232"/>
            <a:ext cx="1828800" cy="530352"/>
          </a:xfrm>
          <a:prstGeom prst="rect">
            <a:avLst/>
          </a:prstGeom>
          <a:noFill/>
          <a:ln/>
        </p:spPr>
        <p:txBody>
          <a:bodyPr wrap="square" lIns="0" tIns="0" rIns="0" bIns="0" rtlCol="0" anchor="ctr"/>
          <a:lstStyle/>
          <a:p>
            <a:pPr algn="l" indent="0" marL="0">
              <a:buNone/>
            </a:pPr>
            <a:r>
              <a:rPr lang="en-US" sz="1250" b="1" spc="300" kern="0" dirty="0">
                <a:solidFill>
                  <a:srgbClr val="0F172A"/>
                </a:solidFill>
                <a:latin typeface="JetBrains Mono" pitchFamily="34" charset="0"/>
                <a:ea typeface="JetBrains Mono" pitchFamily="34" charset="-122"/>
                <a:cs typeface="JetBrains Mono" pitchFamily="34" charset="-120"/>
              </a:rPr>
              <a:t>DATA + IDENTITY</a:t>
            </a:r>
            <a:endParaRPr lang="en-US" sz="1250" dirty="0"/>
          </a:p>
        </p:txBody>
      </p:sp>
      <p:sp>
        <p:nvSpPr>
          <p:cNvPr id="27" name="Shape 25"/>
          <p:cNvSpPr/>
          <p:nvPr/>
        </p:nvSpPr>
        <p:spPr>
          <a:xfrm>
            <a:off x="2743200" y="4160520"/>
            <a:ext cx="2064944" cy="493776"/>
          </a:xfrm>
          <a:prstGeom prst="roundRect">
            <a:avLst>
              <a:gd name="adj" fmla="val 50000"/>
            </a:avLst>
          </a:prstGeom>
          <a:solidFill>
            <a:srgbClr val="D7F5E5"/>
          </a:solidFill>
          <a:ln/>
        </p:spPr>
      </p:sp>
      <p:sp>
        <p:nvSpPr>
          <p:cNvPr id="28" name="Text 26"/>
          <p:cNvSpPr/>
          <p:nvPr/>
        </p:nvSpPr>
        <p:spPr>
          <a:xfrm>
            <a:off x="2743200" y="4160520"/>
            <a:ext cx="2064944" cy="493776"/>
          </a:xfrm>
          <a:prstGeom prst="rect">
            <a:avLst/>
          </a:prstGeom>
          <a:noFill/>
          <a:ln/>
        </p:spPr>
        <p:txBody>
          <a:bodyPr wrap="square" lIns="0" tIns="0" rIns="0" bIns="0" rtlCol="0" anchor="ctr"/>
          <a:lstStyle/>
          <a:p>
            <a:pPr algn="ctr" indent="0" marL="0">
              <a:buNone/>
            </a:pPr>
            <a:r>
              <a:rPr lang="en-US" sz="1350" spc="200" kern="0" dirty="0">
                <a:solidFill>
                  <a:srgbClr val="065F46"/>
                </a:solidFill>
                <a:latin typeface="JetBrains Mono" pitchFamily="34" charset="0"/>
                <a:ea typeface="JetBrains Mono" pitchFamily="34" charset="-122"/>
                <a:cs typeface="JetBrains Mono" pitchFamily="34" charset="-120"/>
              </a:rPr>
              <a:t>Postgres · Supabase</a:t>
            </a:r>
            <a:endParaRPr lang="en-US" sz="1350" dirty="0"/>
          </a:p>
        </p:txBody>
      </p:sp>
      <p:sp>
        <p:nvSpPr>
          <p:cNvPr id="29" name="Shape 27"/>
          <p:cNvSpPr/>
          <p:nvPr/>
        </p:nvSpPr>
        <p:spPr>
          <a:xfrm>
            <a:off x="4945304" y="4160520"/>
            <a:ext cx="2064944" cy="493776"/>
          </a:xfrm>
          <a:prstGeom prst="roundRect">
            <a:avLst>
              <a:gd name="adj" fmla="val 50000"/>
            </a:avLst>
          </a:prstGeom>
          <a:solidFill>
            <a:srgbClr val="D7F5E5"/>
          </a:solidFill>
          <a:ln/>
        </p:spPr>
      </p:sp>
      <p:sp>
        <p:nvSpPr>
          <p:cNvPr id="30" name="Text 28"/>
          <p:cNvSpPr/>
          <p:nvPr/>
        </p:nvSpPr>
        <p:spPr>
          <a:xfrm>
            <a:off x="4945304" y="4160520"/>
            <a:ext cx="2064944" cy="493776"/>
          </a:xfrm>
          <a:prstGeom prst="rect">
            <a:avLst/>
          </a:prstGeom>
          <a:noFill/>
          <a:ln/>
        </p:spPr>
        <p:txBody>
          <a:bodyPr wrap="square" lIns="0" tIns="0" rIns="0" bIns="0" rtlCol="0" anchor="ctr"/>
          <a:lstStyle/>
          <a:p>
            <a:pPr algn="ctr" indent="0" marL="0">
              <a:buNone/>
            </a:pPr>
            <a:r>
              <a:rPr lang="en-US" sz="1350" spc="200" kern="0" dirty="0">
                <a:solidFill>
                  <a:srgbClr val="065F46"/>
                </a:solidFill>
                <a:latin typeface="JetBrains Mono" pitchFamily="34" charset="0"/>
                <a:ea typeface="JetBrains Mono" pitchFamily="34" charset="-122"/>
                <a:cs typeface="JetBrains Mono" pitchFamily="34" charset="-120"/>
              </a:rPr>
              <a:t>Auth · magic-link</a:t>
            </a:r>
            <a:endParaRPr lang="en-US" sz="1350" dirty="0"/>
          </a:p>
        </p:txBody>
      </p:sp>
      <p:sp>
        <p:nvSpPr>
          <p:cNvPr id="31" name="Shape 29"/>
          <p:cNvSpPr/>
          <p:nvPr/>
        </p:nvSpPr>
        <p:spPr>
          <a:xfrm>
            <a:off x="7147408" y="4160520"/>
            <a:ext cx="2064944" cy="493776"/>
          </a:xfrm>
          <a:prstGeom prst="roundRect">
            <a:avLst>
              <a:gd name="adj" fmla="val 50000"/>
            </a:avLst>
          </a:prstGeom>
          <a:solidFill>
            <a:srgbClr val="D7F5E5"/>
          </a:solidFill>
          <a:ln/>
        </p:spPr>
      </p:sp>
      <p:sp>
        <p:nvSpPr>
          <p:cNvPr id="32" name="Text 30"/>
          <p:cNvSpPr/>
          <p:nvPr/>
        </p:nvSpPr>
        <p:spPr>
          <a:xfrm>
            <a:off x="7147408" y="4160520"/>
            <a:ext cx="2064944" cy="493776"/>
          </a:xfrm>
          <a:prstGeom prst="rect">
            <a:avLst/>
          </a:prstGeom>
          <a:noFill/>
          <a:ln/>
        </p:spPr>
        <p:txBody>
          <a:bodyPr wrap="square" lIns="0" tIns="0" rIns="0" bIns="0" rtlCol="0" anchor="ctr"/>
          <a:lstStyle/>
          <a:p>
            <a:pPr algn="ctr" indent="0" marL="0">
              <a:buNone/>
            </a:pPr>
            <a:r>
              <a:rPr lang="en-US" sz="1350" spc="200" kern="0" dirty="0">
                <a:solidFill>
                  <a:srgbClr val="065F46"/>
                </a:solidFill>
                <a:latin typeface="JetBrains Mono" pitchFamily="34" charset="0"/>
                <a:ea typeface="JetBrains Mono" pitchFamily="34" charset="-122"/>
                <a:cs typeface="JetBrains Mono" pitchFamily="34" charset="-120"/>
              </a:rPr>
              <a:t>Storage</a:t>
            </a:r>
            <a:endParaRPr lang="en-US" sz="1350" dirty="0"/>
          </a:p>
        </p:txBody>
      </p:sp>
      <p:sp>
        <p:nvSpPr>
          <p:cNvPr id="33" name="Shape 31"/>
          <p:cNvSpPr/>
          <p:nvPr/>
        </p:nvSpPr>
        <p:spPr>
          <a:xfrm>
            <a:off x="9349511" y="4160520"/>
            <a:ext cx="2064944" cy="493776"/>
          </a:xfrm>
          <a:prstGeom prst="roundRect">
            <a:avLst>
              <a:gd name="adj" fmla="val 50000"/>
            </a:avLst>
          </a:prstGeom>
          <a:solidFill>
            <a:srgbClr val="D7F5E5"/>
          </a:solidFill>
          <a:ln/>
        </p:spPr>
      </p:sp>
      <p:sp>
        <p:nvSpPr>
          <p:cNvPr id="34" name="Text 32"/>
          <p:cNvSpPr/>
          <p:nvPr/>
        </p:nvSpPr>
        <p:spPr>
          <a:xfrm>
            <a:off x="9349511" y="4160520"/>
            <a:ext cx="2064944" cy="493776"/>
          </a:xfrm>
          <a:prstGeom prst="rect">
            <a:avLst/>
          </a:prstGeom>
          <a:noFill/>
          <a:ln/>
        </p:spPr>
        <p:txBody>
          <a:bodyPr wrap="square" lIns="0" tIns="0" rIns="0" bIns="0" rtlCol="0" anchor="ctr"/>
          <a:lstStyle/>
          <a:p>
            <a:pPr algn="ctr" indent="0" marL="0">
              <a:buNone/>
            </a:pPr>
            <a:r>
              <a:rPr lang="en-US" sz="1350" spc="200" kern="0" dirty="0">
                <a:solidFill>
                  <a:srgbClr val="065F46"/>
                </a:solidFill>
                <a:latin typeface="JetBrains Mono" pitchFamily="34" charset="0"/>
                <a:ea typeface="JetBrains Mono" pitchFamily="34" charset="-122"/>
                <a:cs typeface="JetBrains Mono" pitchFamily="34" charset="-120"/>
              </a:rPr>
              <a:t>Realtime</a:t>
            </a:r>
            <a:endParaRPr lang="en-US" sz="1350" dirty="0"/>
          </a:p>
        </p:txBody>
      </p:sp>
      <p:sp>
        <p:nvSpPr>
          <p:cNvPr id="35" name="Text 33"/>
          <p:cNvSpPr/>
          <p:nvPr/>
        </p:nvSpPr>
        <p:spPr>
          <a:xfrm>
            <a:off x="777240" y="4727448"/>
            <a:ext cx="1828800" cy="530352"/>
          </a:xfrm>
          <a:prstGeom prst="rect">
            <a:avLst/>
          </a:prstGeom>
          <a:noFill/>
          <a:ln/>
        </p:spPr>
        <p:txBody>
          <a:bodyPr wrap="square" lIns="0" tIns="0" rIns="0" bIns="0" rtlCol="0" anchor="ctr"/>
          <a:lstStyle/>
          <a:p>
            <a:pPr algn="l" indent="0" marL="0">
              <a:buNone/>
            </a:pPr>
            <a:r>
              <a:rPr lang="en-US" sz="1250" b="1" spc="300" kern="0" dirty="0">
                <a:solidFill>
                  <a:srgbClr val="0F172A"/>
                </a:solidFill>
                <a:latin typeface="JetBrains Mono" pitchFamily="34" charset="0"/>
                <a:ea typeface="JetBrains Mono" pitchFamily="34" charset="-122"/>
                <a:cs typeface="JetBrains Mono" pitchFamily="34" charset="-120"/>
              </a:rPr>
              <a:t>BUSINESS PLUMBING</a:t>
            </a:r>
            <a:endParaRPr lang="en-US" sz="1250" dirty="0"/>
          </a:p>
        </p:txBody>
      </p:sp>
      <p:sp>
        <p:nvSpPr>
          <p:cNvPr id="36" name="Shape 34"/>
          <p:cNvSpPr/>
          <p:nvPr/>
        </p:nvSpPr>
        <p:spPr>
          <a:xfrm>
            <a:off x="2743200" y="4745736"/>
            <a:ext cx="2064944" cy="493776"/>
          </a:xfrm>
          <a:prstGeom prst="roundRect">
            <a:avLst>
              <a:gd name="adj" fmla="val 50000"/>
            </a:avLst>
          </a:prstGeom>
          <a:solidFill>
            <a:srgbClr val="FEF0CC"/>
          </a:solidFill>
          <a:ln/>
        </p:spPr>
      </p:sp>
      <p:sp>
        <p:nvSpPr>
          <p:cNvPr id="37" name="Text 35"/>
          <p:cNvSpPr/>
          <p:nvPr/>
        </p:nvSpPr>
        <p:spPr>
          <a:xfrm>
            <a:off x="2743200" y="4745736"/>
            <a:ext cx="2064944" cy="493776"/>
          </a:xfrm>
          <a:prstGeom prst="rect">
            <a:avLst/>
          </a:prstGeom>
          <a:noFill/>
          <a:ln/>
        </p:spPr>
        <p:txBody>
          <a:bodyPr wrap="square" lIns="0" tIns="0" rIns="0" bIns="0" rtlCol="0" anchor="ctr"/>
          <a:lstStyle/>
          <a:p>
            <a:pPr algn="ctr" indent="0" marL="0">
              <a:buNone/>
            </a:pPr>
            <a:r>
              <a:rPr lang="en-US" sz="1350" spc="200" kern="0" dirty="0">
                <a:solidFill>
                  <a:srgbClr val="92400E"/>
                </a:solidFill>
                <a:latin typeface="JetBrains Mono" pitchFamily="34" charset="0"/>
                <a:ea typeface="JetBrains Mono" pitchFamily="34" charset="-122"/>
                <a:cs typeface="JetBrains Mono" pitchFamily="34" charset="-120"/>
              </a:rPr>
              <a:t>Stripe · checkout</a:t>
            </a:r>
            <a:endParaRPr lang="en-US" sz="1350" dirty="0"/>
          </a:p>
        </p:txBody>
      </p:sp>
      <p:sp>
        <p:nvSpPr>
          <p:cNvPr id="38" name="Shape 36"/>
          <p:cNvSpPr/>
          <p:nvPr/>
        </p:nvSpPr>
        <p:spPr>
          <a:xfrm>
            <a:off x="4945304" y="4745736"/>
            <a:ext cx="2064944" cy="493776"/>
          </a:xfrm>
          <a:prstGeom prst="roundRect">
            <a:avLst>
              <a:gd name="adj" fmla="val 50000"/>
            </a:avLst>
          </a:prstGeom>
          <a:solidFill>
            <a:srgbClr val="FEF0CC"/>
          </a:solidFill>
          <a:ln/>
        </p:spPr>
      </p:sp>
      <p:sp>
        <p:nvSpPr>
          <p:cNvPr id="39" name="Text 37"/>
          <p:cNvSpPr/>
          <p:nvPr/>
        </p:nvSpPr>
        <p:spPr>
          <a:xfrm>
            <a:off x="4945304" y="4745736"/>
            <a:ext cx="2064944" cy="493776"/>
          </a:xfrm>
          <a:prstGeom prst="rect">
            <a:avLst/>
          </a:prstGeom>
          <a:noFill/>
          <a:ln/>
        </p:spPr>
        <p:txBody>
          <a:bodyPr wrap="square" lIns="0" tIns="0" rIns="0" bIns="0" rtlCol="0" anchor="ctr"/>
          <a:lstStyle/>
          <a:p>
            <a:pPr algn="ctr" indent="0" marL="0">
              <a:buNone/>
            </a:pPr>
            <a:r>
              <a:rPr lang="en-US" sz="1350" spc="200" kern="0" dirty="0">
                <a:solidFill>
                  <a:srgbClr val="92400E"/>
                </a:solidFill>
                <a:latin typeface="JetBrains Mono" pitchFamily="34" charset="0"/>
                <a:ea typeface="JetBrains Mono" pitchFamily="34" charset="-122"/>
                <a:cs typeface="JetBrains Mono" pitchFamily="34" charset="-120"/>
              </a:rPr>
              <a:t>Paddle · MoR</a:t>
            </a:r>
            <a:endParaRPr lang="en-US" sz="1350" dirty="0"/>
          </a:p>
        </p:txBody>
      </p:sp>
      <p:sp>
        <p:nvSpPr>
          <p:cNvPr id="40" name="Shape 38"/>
          <p:cNvSpPr/>
          <p:nvPr/>
        </p:nvSpPr>
        <p:spPr>
          <a:xfrm>
            <a:off x="7147408" y="4745736"/>
            <a:ext cx="2064944" cy="493776"/>
          </a:xfrm>
          <a:prstGeom prst="roundRect">
            <a:avLst>
              <a:gd name="adj" fmla="val 50000"/>
            </a:avLst>
          </a:prstGeom>
          <a:solidFill>
            <a:srgbClr val="FEF0CC"/>
          </a:solidFill>
          <a:ln/>
        </p:spPr>
      </p:sp>
      <p:sp>
        <p:nvSpPr>
          <p:cNvPr id="41" name="Text 39"/>
          <p:cNvSpPr/>
          <p:nvPr/>
        </p:nvSpPr>
        <p:spPr>
          <a:xfrm>
            <a:off x="7147408" y="4745736"/>
            <a:ext cx="2064944" cy="493776"/>
          </a:xfrm>
          <a:prstGeom prst="rect">
            <a:avLst/>
          </a:prstGeom>
          <a:noFill/>
          <a:ln/>
        </p:spPr>
        <p:txBody>
          <a:bodyPr wrap="square" lIns="0" tIns="0" rIns="0" bIns="0" rtlCol="0" anchor="ctr"/>
          <a:lstStyle/>
          <a:p>
            <a:pPr algn="ctr" indent="0" marL="0">
              <a:buNone/>
            </a:pPr>
            <a:r>
              <a:rPr lang="en-US" sz="1350" spc="200" kern="0" dirty="0">
                <a:solidFill>
                  <a:srgbClr val="92400E"/>
                </a:solidFill>
                <a:latin typeface="JetBrains Mono" pitchFamily="34" charset="0"/>
                <a:ea typeface="JetBrains Mono" pitchFamily="34" charset="-122"/>
                <a:cs typeface="JetBrains Mono" pitchFamily="34" charset="-120"/>
              </a:rPr>
              <a:t>Resend · mail</a:t>
            </a:r>
            <a:endParaRPr lang="en-US" sz="1350" dirty="0"/>
          </a:p>
        </p:txBody>
      </p:sp>
      <p:sp>
        <p:nvSpPr>
          <p:cNvPr id="42" name="Shape 40"/>
          <p:cNvSpPr/>
          <p:nvPr/>
        </p:nvSpPr>
        <p:spPr>
          <a:xfrm>
            <a:off x="9349511" y="4745736"/>
            <a:ext cx="2064944" cy="493776"/>
          </a:xfrm>
          <a:prstGeom prst="roundRect">
            <a:avLst>
              <a:gd name="adj" fmla="val 50000"/>
            </a:avLst>
          </a:prstGeom>
          <a:solidFill>
            <a:srgbClr val="FEF0CC"/>
          </a:solidFill>
          <a:ln/>
        </p:spPr>
      </p:sp>
      <p:sp>
        <p:nvSpPr>
          <p:cNvPr id="43" name="Text 41"/>
          <p:cNvSpPr/>
          <p:nvPr/>
        </p:nvSpPr>
        <p:spPr>
          <a:xfrm>
            <a:off x="9349511" y="4745736"/>
            <a:ext cx="2064944" cy="493776"/>
          </a:xfrm>
          <a:prstGeom prst="rect">
            <a:avLst/>
          </a:prstGeom>
          <a:noFill/>
          <a:ln/>
        </p:spPr>
        <p:txBody>
          <a:bodyPr wrap="square" lIns="0" tIns="0" rIns="0" bIns="0" rtlCol="0" anchor="ctr"/>
          <a:lstStyle/>
          <a:p>
            <a:pPr algn="ctr" indent="0" marL="0">
              <a:buNone/>
            </a:pPr>
            <a:r>
              <a:rPr lang="en-US" sz="1350" spc="200" kern="0" dirty="0">
                <a:solidFill>
                  <a:srgbClr val="92400E"/>
                </a:solidFill>
                <a:latin typeface="JetBrains Mono" pitchFamily="34" charset="0"/>
                <a:ea typeface="JetBrains Mono" pitchFamily="34" charset="-122"/>
                <a:cs typeface="JetBrains Mono" pitchFamily="34" charset="-120"/>
              </a:rPr>
              <a:t>Infomaniak · 5 inbox</a:t>
            </a:r>
            <a:endParaRPr lang="en-US" sz="1350" dirty="0"/>
          </a:p>
        </p:txBody>
      </p:sp>
      <p:sp>
        <p:nvSpPr>
          <p:cNvPr id="44" name="Text 42"/>
          <p:cNvSpPr/>
          <p:nvPr/>
        </p:nvSpPr>
        <p:spPr>
          <a:xfrm>
            <a:off x="777240" y="5312664"/>
            <a:ext cx="1828800" cy="530352"/>
          </a:xfrm>
          <a:prstGeom prst="rect">
            <a:avLst/>
          </a:prstGeom>
          <a:noFill/>
          <a:ln/>
        </p:spPr>
        <p:txBody>
          <a:bodyPr wrap="square" lIns="0" tIns="0" rIns="0" bIns="0" rtlCol="0" anchor="ctr"/>
          <a:lstStyle/>
          <a:p>
            <a:pPr algn="l" indent="0" marL="0">
              <a:buNone/>
            </a:pPr>
            <a:r>
              <a:rPr lang="en-US" sz="1250" b="1" spc="300" kern="0" dirty="0">
                <a:solidFill>
                  <a:srgbClr val="0F172A"/>
                </a:solidFill>
                <a:latin typeface="JetBrains Mono" pitchFamily="34" charset="0"/>
                <a:ea typeface="JetBrains Mono" pitchFamily="34" charset="-122"/>
                <a:cs typeface="JetBrains Mono" pitchFamily="34" charset="-120"/>
              </a:rPr>
              <a:t>OPS + DELIVERY</a:t>
            </a:r>
            <a:endParaRPr lang="en-US" sz="1250" dirty="0"/>
          </a:p>
        </p:txBody>
      </p:sp>
      <p:sp>
        <p:nvSpPr>
          <p:cNvPr id="45" name="Shape 43"/>
          <p:cNvSpPr/>
          <p:nvPr/>
        </p:nvSpPr>
        <p:spPr>
          <a:xfrm>
            <a:off x="2743200" y="5330952"/>
            <a:ext cx="2064944" cy="493776"/>
          </a:xfrm>
          <a:prstGeom prst="roundRect">
            <a:avLst>
              <a:gd name="adj" fmla="val 50000"/>
            </a:avLst>
          </a:prstGeom>
          <a:solidFill>
            <a:srgbClr val="FFDFE3"/>
          </a:solidFill>
          <a:ln/>
        </p:spPr>
      </p:sp>
      <p:sp>
        <p:nvSpPr>
          <p:cNvPr id="46" name="Text 44"/>
          <p:cNvSpPr/>
          <p:nvPr/>
        </p:nvSpPr>
        <p:spPr>
          <a:xfrm>
            <a:off x="2743200" y="5330952"/>
            <a:ext cx="2064944" cy="493776"/>
          </a:xfrm>
          <a:prstGeom prst="rect">
            <a:avLst/>
          </a:prstGeom>
          <a:noFill/>
          <a:ln/>
        </p:spPr>
        <p:txBody>
          <a:bodyPr wrap="square" lIns="0" tIns="0" rIns="0" bIns="0" rtlCol="0" anchor="ctr"/>
          <a:lstStyle/>
          <a:p>
            <a:pPr algn="ctr" indent="0" marL="0">
              <a:buNone/>
            </a:pPr>
            <a:r>
              <a:rPr lang="en-US" sz="1350" spc="200" kern="0" dirty="0">
                <a:solidFill>
                  <a:srgbClr val="9F1239"/>
                </a:solidFill>
                <a:latin typeface="JetBrains Mono" pitchFamily="34" charset="0"/>
                <a:ea typeface="JetBrains Mono" pitchFamily="34" charset="-122"/>
                <a:cs typeface="JetBrains Mono" pitchFamily="34" charset="-120"/>
              </a:rPr>
              <a:t>Private GitHub repo</a:t>
            </a:r>
            <a:endParaRPr lang="en-US" sz="1350" dirty="0"/>
          </a:p>
        </p:txBody>
      </p:sp>
      <p:sp>
        <p:nvSpPr>
          <p:cNvPr id="47" name="Shape 45"/>
          <p:cNvSpPr/>
          <p:nvPr/>
        </p:nvSpPr>
        <p:spPr>
          <a:xfrm>
            <a:off x="4945304" y="5330952"/>
            <a:ext cx="2064944" cy="493776"/>
          </a:xfrm>
          <a:prstGeom prst="roundRect">
            <a:avLst>
              <a:gd name="adj" fmla="val 50000"/>
            </a:avLst>
          </a:prstGeom>
          <a:solidFill>
            <a:srgbClr val="FFDFE3"/>
          </a:solidFill>
          <a:ln/>
        </p:spPr>
      </p:sp>
      <p:sp>
        <p:nvSpPr>
          <p:cNvPr id="48" name="Text 46"/>
          <p:cNvSpPr/>
          <p:nvPr/>
        </p:nvSpPr>
        <p:spPr>
          <a:xfrm>
            <a:off x="4945304" y="5330952"/>
            <a:ext cx="2064944" cy="493776"/>
          </a:xfrm>
          <a:prstGeom prst="rect">
            <a:avLst/>
          </a:prstGeom>
          <a:noFill/>
          <a:ln/>
        </p:spPr>
        <p:txBody>
          <a:bodyPr wrap="square" lIns="0" tIns="0" rIns="0" bIns="0" rtlCol="0" anchor="ctr"/>
          <a:lstStyle/>
          <a:p>
            <a:pPr algn="ctr" indent="0" marL="0">
              <a:buNone/>
            </a:pPr>
            <a:r>
              <a:rPr lang="en-US" sz="1350" spc="200" kern="0" dirty="0">
                <a:solidFill>
                  <a:srgbClr val="9F1239"/>
                </a:solidFill>
                <a:latin typeface="JetBrains Mono" pitchFamily="34" charset="0"/>
                <a:ea typeface="JetBrains Mono" pitchFamily="34" charset="-122"/>
                <a:cs typeface="JetBrains Mono" pitchFamily="34" charset="-120"/>
              </a:rPr>
              <a:t>Push-to-deploy webhook</a:t>
            </a:r>
            <a:endParaRPr lang="en-US" sz="1350" dirty="0"/>
          </a:p>
        </p:txBody>
      </p:sp>
      <p:sp>
        <p:nvSpPr>
          <p:cNvPr id="49" name="Shape 47"/>
          <p:cNvSpPr/>
          <p:nvPr/>
        </p:nvSpPr>
        <p:spPr>
          <a:xfrm>
            <a:off x="7147408" y="5330952"/>
            <a:ext cx="2064944" cy="493776"/>
          </a:xfrm>
          <a:prstGeom prst="roundRect">
            <a:avLst>
              <a:gd name="adj" fmla="val 50000"/>
            </a:avLst>
          </a:prstGeom>
          <a:solidFill>
            <a:srgbClr val="FFDFE3"/>
          </a:solidFill>
          <a:ln/>
        </p:spPr>
      </p:sp>
      <p:sp>
        <p:nvSpPr>
          <p:cNvPr id="50" name="Text 48"/>
          <p:cNvSpPr/>
          <p:nvPr/>
        </p:nvSpPr>
        <p:spPr>
          <a:xfrm>
            <a:off x="7147408" y="5330952"/>
            <a:ext cx="2064944" cy="493776"/>
          </a:xfrm>
          <a:prstGeom prst="rect">
            <a:avLst/>
          </a:prstGeom>
          <a:noFill/>
          <a:ln/>
        </p:spPr>
        <p:txBody>
          <a:bodyPr wrap="square" lIns="0" tIns="0" rIns="0" bIns="0" rtlCol="0" anchor="ctr"/>
          <a:lstStyle/>
          <a:p>
            <a:pPr algn="ctr" indent="0" marL="0">
              <a:buNone/>
            </a:pPr>
            <a:r>
              <a:rPr lang="en-US" sz="1350" spc="200" kern="0" dirty="0">
                <a:solidFill>
                  <a:srgbClr val="9F1239"/>
                </a:solidFill>
                <a:latin typeface="JetBrains Mono" pitchFamily="34" charset="0"/>
                <a:ea typeface="JetBrains Mono" pitchFamily="34" charset="-122"/>
                <a:cs typeface="JetBrains Mono" pitchFamily="34" charset="-120"/>
              </a:rPr>
              <a:t>Status page</a:t>
            </a:r>
            <a:endParaRPr lang="en-US" sz="1350" dirty="0"/>
          </a:p>
        </p:txBody>
      </p:sp>
      <p:sp>
        <p:nvSpPr>
          <p:cNvPr id="51" name="Shape 49"/>
          <p:cNvSpPr/>
          <p:nvPr/>
        </p:nvSpPr>
        <p:spPr>
          <a:xfrm>
            <a:off x="9349511" y="5330952"/>
            <a:ext cx="2064944" cy="493776"/>
          </a:xfrm>
          <a:prstGeom prst="roundRect">
            <a:avLst>
              <a:gd name="adj" fmla="val 50000"/>
            </a:avLst>
          </a:prstGeom>
          <a:solidFill>
            <a:srgbClr val="FFDFE3"/>
          </a:solidFill>
          <a:ln/>
        </p:spPr>
      </p:sp>
      <p:sp>
        <p:nvSpPr>
          <p:cNvPr id="52" name="Text 50"/>
          <p:cNvSpPr/>
          <p:nvPr/>
        </p:nvSpPr>
        <p:spPr>
          <a:xfrm>
            <a:off x="9349511" y="5330952"/>
            <a:ext cx="2064944" cy="493776"/>
          </a:xfrm>
          <a:prstGeom prst="rect">
            <a:avLst/>
          </a:prstGeom>
          <a:noFill/>
          <a:ln/>
        </p:spPr>
        <p:txBody>
          <a:bodyPr wrap="square" lIns="0" tIns="0" rIns="0" bIns="0" rtlCol="0" anchor="ctr"/>
          <a:lstStyle/>
          <a:p>
            <a:pPr algn="ctr" indent="0" marL="0">
              <a:buNone/>
            </a:pPr>
            <a:r>
              <a:rPr lang="en-US" sz="1350" spc="200" kern="0" dirty="0">
                <a:solidFill>
                  <a:srgbClr val="9F1239"/>
                </a:solidFill>
                <a:latin typeface="JetBrains Mono" pitchFamily="34" charset="0"/>
                <a:ea typeface="JetBrains Mono" pitchFamily="34" charset="-122"/>
                <a:cs typeface="JetBrains Mono" pitchFamily="34" charset="-120"/>
              </a:rPr>
              <a:t>Snapshot + restore</a:t>
            </a:r>
            <a:endParaRPr lang="en-US" sz="1350" dirty="0"/>
          </a:p>
        </p:txBody>
      </p:sp>
      <p:sp>
        <p:nvSpPr>
          <p:cNvPr id="53" name="Text 51"/>
          <p:cNvSpPr/>
          <p:nvPr/>
        </p:nvSpPr>
        <p:spPr>
          <a:xfrm>
            <a:off x="502920" y="5943600"/>
            <a:ext cx="11185855" cy="274320"/>
          </a:xfrm>
          <a:prstGeom prst="rect">
            <a:avLst/>
          </a:prstGeom>
          <a:noFill/>
          <a:ln/>
        </p:spPr>
        <p:txBody>
          <a:bodyPr wrap="square" rtlCol="0" anchor="ctr"/>
          <a:lstStyle/>
          <a:p>
            <a:pPr algn="l" indent="0" marL="0">
              <a:buNone/>
            </a:pPr>
            <a:r>
              <a:rPr lang="en-US" sz="1300" dirty="0">
                <a:solidFill>
                  <a:srgbClr val="0F172A"/>
                </a:solidFill>
                <a:latin typeface="Inter" pitchFamily="34" charset="0"/>
                <a:ea typeface="Inter" pitchFamily="34" charset="-122"/>
                <a:cs typeface="Inter" pitchFamily="34" charset="-120"/>
              </a:rPr>
              <a:t>Customer goes from "looks working" to "real product" </a:t>
            </a:r>
            <a:pPr algn="l" indent="0" marL="0">
              <a:buNone/>
            </a:pPr>
            <a:r>
              <a:rPr lang="en-US" sz="1300" b="1" dirty="0">
                <a:solidFill>
                  <a:srgbClr val="5040E5"/>
                </a:solidFill>
                <a:latin typeface="Inter" pitchFamily="34" charset="0"/>
                <a:ea typeface="Inter" pitchFamily="34" charset="-122"/>
                <a:cs typeface="Inter" pitchFamily="34" charset="-120"/>
              </a:rPr>
              <a:t>without learning infrastructure.</a:t>
            </a:r>
            <a:endParaRPr lang="en-US" sz="1300" dirty="0"/>
          </a:p>
        </p:txBody>
      </p:sp>
      <p:sp>
        <p:nvSpPr>
          <p:cNvPr id="54" name="Shape 52"/>
          <p:cNvSpPr/>
          <p:nvPr/>
        </p:nvSpPr>
        <p:spPr>
          <a:xfrm>
            <a:off x="502920" y="6263640"/>
            <a:ext cx="11185855" cy="0"/>
          </a:xfrm>
          <a:prstGeom prst="line">
            <a:avLst/>
          </a:prstGeom>
          <a:noFill/>
          <a:ln w="6350">
            <a:solidFill>
              <a:srgbClr val="E2E0F0"/>
            </a:solidFill>
            <a:prstDash val="solid"/>
          </a:ln>
        </p:spPr>
      </p:sp>
      <p:sp>
        <p:nvSpPr>
          <p:cNvPr id="55" name="Text 53"/>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56" name="Text 54"/>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03  /  28</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04  ·  WHERE HATCHIK PLAYS</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Available today. </a:t>
            </a:r>
            <a:pPr algn="l" indent="0" marL="0">
              <a:buNone/>
            </a:pPr>
            <a:r>
              <a:rPr lang="en-US" sz="3600" b="1" dirty="0">
                <a:solidFill>
                  <a:srgbClr val="5040E5"/>
                </a:solidFill>
                <a:latin typeface="Inter" pitchFamily="34" charset="0"/>
                <a:ea typeface="Inter" pitchFamily="34" charset="-122"/>
                <a:cs typeface="Inter" pitchFamily="34" charset="-120"/>
              </a:rPr>
              <a:t>The gap. Tomorrow's opportunity.</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Three points on the founder's value chain. Hatchik owns the middle today, and earns the right to compound into the third.</a:t>
            </a:r>
            <a:endParaRPr lang="en-US" sz="1550" dirty="0"/>
          </a:p>
        </p:txBody>
      </p:sp>
      <p:sp>
        <p:nvSpPr>
          <p:cNvPr id="9" name="Shape 7"/>
          <p:cNvSpPr/>
          <p:nvPr/>
        </p:nvSpPr>
        <p:spPr>
          <a:xfrm>
            <a:off x="502920" y="2606040"/>
            <a:ext cx="11185855" cy="1051560"/>
          </a:xfrm>
          <a:prstGeom prst="roundRect">
            <a:avLst>
              <a:gd name="adj" fmla="val 10435"/>
            </a:avLst>
          </a:prstGeom>
          <a:solidFill>
            <a:srgbClr val="FFFFFF"/>
          </a:solidFill>
          <a:ln w="9525">
            <a:solidFill>
              <a:srgbClr val="E2E0F0"/>
            </a:solidFill>
            <a:prstDash val="solid"/>
          </a:ln>
        </p:spPr>
      </p:sp>
      <p:sp>
        <p:nvSpPr>
          <p:cNvPr id="10" name="Text 8"/>
          <p:cNvSpPr/>
          <p:nvPr/>
        </p:nvSpPr>
        <p:spPr>
          <a:xfrm>
            <a:off x="777240" y="2743200"/>
            <a:ext cx="2377440" cy="292608"/>
          </a:xfrm>
          <a:prstGeom prst="rect">
            <a:avLst/>
          </a:prstGeom>
          <a:noFill/>
          <a:ln/>
        </p:spPr>
        <p:txBody>
          <a:bodyPr wrap="square" lIns="0" tIns="0" rIns="0" bIns="0" rtlCol="0" anchor="ctr"/>
          <a:lstStyle/>
          <a:p>
            <a:pPr algn="l" indent="0" marL="0">
              <a:buNone/>
            </a:pPr>
            <a:r>
              <a:rPr lang="en-US" sz="1050" spc="300" kern="0" dirty="0">
                <a:solidFill>
                  <a:srgbClr val="94A3B8"/>
                </a:solidFill>
                <a:latin typeface="JetBrains Mono" pitchFamily="34" charset="0"/>
                <a:ea typeface="JetBrains Mono" pitchFamily="34" charset="-122"/>
                <a:cs typeface="JetBrains Mono" pitchFamily="34" charset="-120"/>
              </a:rPr>
              <a:t>AVAILABLE TODAY  ·  NOT US</a:t>
            </a:r>
            <a:endParaRPr lang="en-US" sz="1050" dirty="0"/>
          </a:p>
        </p:txBody>
      </p:sp>
      <p:sp>
        <p:nvSpPr>
          <p:cNvPr id="11" name="Text 9"/>
          <p:cNvSpPr/>
          <p:nvPr/>
        </p:nvSpPr>
        <p:spPr>
          <a:xfrm>
            <a:off x="3246120" y="2697480"/>
            <a:ext cx="5120640" cy="365760"/>
          </a:xfrm>
          <a:prstGeom prst="rect">
            <a:avLst/>
          </a:prstGeom>
          <a:noFill/>
          <a:ln/>
        </p:spPr>
        <p:txBody>
          <a:bodyPr wrap="square" lIns="0" tIns="0" rIns="0" bIns="0" rtlCol="0" anchor="t"/>
          <a:lstStyle/>
          <a:p>
            <a:pPr algn="l" indent="0" marL="0">
              <a:buNone/>
            </a:pPr>
            <a:r>
              <a:rPr lang="en-US" sz="1800" b="1" dirty="0">
                <a:solidFill>
                  <a:srgbClr val="0F172A"/>
                </a:solidFill>
                <a:latin typeface="Inter" pitchFamily="34" charset="0"/>
                <a:ea typeface="Inter" pitchFamily="34" charset="-122"/>
                <a:cs typeface="Inter" pitchFamily="34" charset="-120"/>
              </a:rPr>
              <a:t>Idea  →  Prototype.</a:t>
            </a:r>
            <a:endParaRPr lang="en-US" sz="1800" dirty="0"/>
          </a:p>
        </p:txBody>
      </p:sp>
      <p:sp>
        <p:nvSpPr>
          <p:cNvPr id="12" name="Text 10"/>
          <p:cNvSpPr/>
          <p:nvPr/>
        </p:nvSpPr>
        <p:spPr>
          <a:xfrm>
            <a:off x="3246120" y="3081528"/>
            <a:ext cx="5120640" cy="256032"/>
          </a:xfrm>
          <a:prstGeom prst="rect">
            <a:avLst/>
          </a:prstGeom>
          <a:noFill/>
          <a:ln/>
        </p:spPr>
        <p:txBody>
          <a:bodyPr wrap="square" lIns="0" tIns="0" rIns="0" bIns="0" rtlCol="0" anchor="ctr"/>
          <a:lstStyle/>
          <a:p>
            <a:pPr algn="l" indent="0" marL="0">
              <a:buNone/>
            </a:pPr>
            <a:r>
              <a:rPr lang="en-US" sz="1050" spc="200" kern="0" dirty="0">
                <a:solidFill>
                  <a:srgbClr val="94A3B8"/>
                </a:solidFill>
                <a:latin typeface="JetBrains Mono" pitchFamily="34" charset="0"/>
                <a:ea typeface="JetBrains Mono" pitchFamily="34" charset="-122"/>
                <a:cs typeface="JetBrains Mono" pitchFamily="34" charset="-120"/>
              </a:rPr>
              <a:t>Cursor · Lovable · Bolt · Claude Code</a:t>
            </a:r>
            <a:endParaRPr lang="en-US" sz="1050" dirty="0"/>
          </a:p>
        </p:txBody>
      </p:sp>
      <p:sp>
        <p:nvSpPr>
          <p:cNvPr id="13" name="Text 11"/>
          <p:cNvSpPr/>
          <p:nvPr/>
        </p:nvSpPr>
        <p:spPr>
          <a:xfrm>
            <a:off x="3246120" y="3319272"/>
            <a:ext cx="5120640" cy="3200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Non-technical founder uses AI to ship a working-looking prototype. Hot category, not where we play.</a:t>
            </a:r>
            <a:endParaRPr lang="en-US" sz="1100" dirty="0"/>
          </a:p>
        </p:txBody>
      </p:sp>
      <p:sp>
        <p:nvSpPr>
          <p:cNvPr id="14" name="Text 12"/>
          <p:cNvSpPr/>
          <p:nvPr/>
        </p:nvSpPr>
        <p:spPr>
          <a:xfrm>
            <a:off x="8503920" y="2971800"/>
            <a:ext cx="2910535" cy="365760"/>
          </a:xfrm>
          <a:prstGeom prst="rect">
            <a:avLst/>
          </a:prstGeom>
          <a:noFill/>
          <a:ln/>
        </p:spPr>
        <p:txBody>
          <a:bodyPr wrap="square" lIns="0" tIns="0" rIns="0" bIns="0" rtlCol="0" anchor="ctr"/>
          <a:lstStyle/>
          <a:p>
            <a:pPr algn="r" indent="0" marL="0">
              <a:buNone/>
            </a:pPr>
            <a:r>
              <a:rPr lang="en-US" sz="1100" spc="200" kern="0" dirty="0">
                <a:solidFill>
                  <a:srgbClr val="475569"/>
                </a:solidFill>
                <a:latin typeface="JetBrains Mono" pitchFamily="34" charset="0"/>
                <a:ea typeface="JetBrains Mono" pitchFamily="34" charset="-122"/>
                <a:cs typeface="JetBrains Mono" pitchFamily="34" charset="-120"/>
              </a:rPr>
              <a:t>We meet you AFTER this step.</a:t>
            </a:r>
            <a:endParaRPr lang="en-US" sz="1100" dirty="0"/>
          </a:p>
        </p:txBody>
      </p:sp>
      <p:sp>
        <p:nvSpPr>
          <p:cNvPr id="15" name="Shape 13"/>
          <p:cNvSpPr/>
          <p:nvPr/>
        </p:nvSpPr>
        <p:spPr>
          <a:xfrm>
            <a:off x="502920" y="3794760"/>
            <a:ext cx="11185855" cy="1051560"/>
          </a:xfrm>
          <a:prstGeom prst="roundRect">
            <a:avLst>
              <a:gd name="adj" fmla="val 10435"/>
            </a:avLst>
          </a:prstGeom>
          <a:solidFill>
            <a:srgbClr val="0B0E1F"/>
          </a:solidFill>
          <a:ln w="15240">
            <a:solidFill>
              <a:srgbClr val="26305A"/>
            </a:solidFill>
            <a:prstDash val="solid"/>
          </a:ln>
        </p:spPr>
      </p:sp>
      <p:sp>
        <p:nvSpPr>
          <p:cNvPr id="16" name="Text 14"/>
          <p:cNvSpPr/>
          <p:nvPr/>
        </p:nvSpPr>
        <p:spPr>
          <a:xfrm>
            <a:off x="777240" y="3931920"/>
            <a:ext cx="2377440" cy="292608"/>
          </a:xfrm>
          <a:prstGeom prst="rect">
            <a:avLst/>
          </a:prstGeom>
          <a:noFill/>
          <a:ln/>
        </p:spPr>
        <p:txBody>
          <a:bodyPr wrap="square" lIns="0" tIns="0" rIns="0" bIns="0" rtlCol="0" anchor="ctr"/>
          <a:lstStyle/>
          <a:p>
            <a:pPr algn="l" indent="0" marL="0">
              <a:buNone/>
            </a:pPr>
            <a:r>
              <a:rPr lang="en-US" sz="1050" spc="300" kern="0" dirty="0">
                <a:solidFill>
                  <a:srgbClr val="B4ACEF"/>
                </a:solidFill>
                <a:latin typeface="JetBrains Mono" pitchFamily="34" charset="0"/>
                <a:ea typeface="JetBrains Mono" pitchFamily="34" charset="-122"/>
                <a:cs typeface="JetBrains Mono" pitchFamily="34" charset="-120"/>
              </a:rPr>
              <a:t>THE GAP HATCHIK ADDRESSES  ·  TODAY (LIVE)</a:t>
            </a:r>
            <a:endParaRPr lang="en-US" sz="1050" dirty="0"/>
          </a:p>
        </p:txBody>
      </p:sp>
      <p:sp>
        <p:nvSpPr>
          <p:cNvPr id="17" name="Text 15"/>
          <p:cNvSpPr/>
          <p:nvPr/>
        </p:nvSpPr>
        <p:spPr>
          <a:xfrm>
            <a:off x="3246120" y="3886200"/>
            <a:ext cx="5120640" cy="365760"/>
          </a:xfrm>
          <a:prstGeom prst="rect">
            <a:avLst/>
          </a:prstGeom>
          <a:noFill/>
          <a:ln/>
        </p:spPr>
        <p:txBody>
          <a:bodyPr wrap="square" lIns="0" tIns="0" rIns="0" bIns="0" rtlCol="0" anchor="t"/>
          <a:lstStyle/>
          <a:p>
            <a:pPr algn="l" indent="0" marL="0">
              <a:buNone/>
            </a:pPr>
            <a:r>
              <a:rPr lang="en-US" sz="1800" b="1" dirty="0">
                <a:solidFill>
                  <a:srgbClr val="FFFFFF"/>
                </a:solidFill>
                <a:latin typeface="Inter" pitchFamily="34" charset="0"/>
                <a:ea typeface="Inter" pitchFamily="34" charset="-122"/>
                <a:cs typeface="Inter" pitchFamily="34" charset="-120"/>
              </a:rPr>
              <a:t>Prototype  →  Sellable product.</a:t>
            </a:r>
            <a:endParaRPr lang="en-US" sz="1800" dirty="0"/>
          </a:p>
        </p:txBody>
      </p:sp>
      <p:sp>
        <p:nvSpPr>
          <p:cNvPr id="18" name="Text 16"/>
          <p:cNvSpPr/>
          <p:nvPr/>
        </p:nvSpPr>
        <p:spPr>
          <a:xfrm>
            <a:off x="3246120" y="4270248"/>
            <a:ext cx="5120640" cy="256032"/>
          </a:xfrm>
          <a:prstGeom prst="rect">
            <a:avLst/>
          </a:prstGeom>
          <a:noFill/>
          <a:ln/>
        </p:spPr>
        <p:txBody>
          <a:bodyPr wrap="square" lIns="0" tIns="0" rIns="0" bIns="0" rtlCol="0" anchor="ctr"/>
          <a:lstStyle/>
          <a:p>
            <a:pPr algn="l" indent="0" marL="0">
              <a:buNone/>
            </a:pPr>
            <a:r>
              <a:rPr lang="en-US" sz="1050" spc="200" kern="0" dirty="0">
                <a:solidFill>
                  <a:srgbClr val="B4ACEF"/>
                </a:solidFill>
                <a:latin typeface="JetBrains Mono" pitchFamily="34" charset="0"/>
                <a:ea typeface="JetBrains Mono" pitchFamily="34" charset="-122"/>
                <a:cs typeface="JetBrains Mono" pitchFamily="34" charset="-120"/>
              </a:rPr>
              <a:t>Hatchik substrate</a:t>
            </a:r>
            <a:endParaRPr lang="en-US" sz="1050" dirty="0"/>
          </a:p>
        </p:txBody>
      </p:sp>
      <p:sp>
        <p:nvSpPr>
          <p:cNvPr id="19" name="Text 17"/>
          <p:cNvSpPr/>
          <p:nvPr/>
        </p:nvSpPr>
        <p:spPr>
          <a:xfrm>
            <a:off x="3246120" y="4507992"/>
            <a:ext cx="5120640" cy="320040"/>
          </a:xfrm>
          <a:prstGeom prst="rect">
            <a:avLst/>
          </a:prstGeom>
          <a:noFill/>
          <a:ln/>
        </p:spPr>
        <p:txBody>
          <a:bodyPr wrap="square" lIns="0" tIns="0" rIns="0" bIns="0" rtlCol="0" anchor="t"/>
          <a:lstStyle/>
          <a:p>
            <a:pPr algn="l" indent="0" marL="0">
              <a:buNone/>
            </a:pPr>
            <a:r>
              <a:rPr lang="en-US" sz="1100" dirty="0">
                <a:solidFill>
                  <a:srgbClr val="C7CCE8"/>
                </a:solidFill>
                <a:latin typeface="Inter" pitchFamily="34" charset="0"/>
                <a:ea typeface="Inter" pitchFamily="34" charset="-122"/>
                <a:cs typeface="Inter" pitchFamily="34" charset="-120"/>
              </a:rPr>
              <a:t>Auth, Postgres, payments, mail, mobile, MoR billing, GitHub repo. Day-one SaaS. Sign up, pay, get receipts, ship mobile.</a:t>
            </a:r>
            <a:endParaRPr lang="en-US" sz="1100" dirty="0"/>
          </a:p>
        </p:txBody>
      </p:sp>
      <p:sp>
        <p:nvSpPr>
          <p:cNvPr id="20" name="Text 18"/>
          <p:cNvSpPr/>
          <p:nvPr/>
        </p:nvSpPr>
        <p:spPr>
          <a:xfrm>
            <a:off x="8503920" y="4160520"/>
            <a:ext cx="2910535" cy="365760"/>
          </a:xfrm>
          <a:prstGeom prst="rect">
            <a:avLst/>
          </a:prstGeom>
          <a:noFill/>
          <a:ln/>
        </p:spPr>
        <p:txBody>
          <a:bodyPr wrap="square" lIns="0" tIns="0" rIns="0" bIns="0" rtlCol="0" anchor="ctr"/>
          <a:lstStyle/>
          <a:p>
            <a:pPr algn="r" indent="0" marL="0">
              <a:buNone/>
            </a:pPr>
            <a:r>
              <a:rPr lang="en-US" sz="1100" b="1" spc="200" kern="0" dirty="0">
                <a:solidFill>
                  <a:srgbClr val="B4ACEF"/>
                </a:solidFill>
                <a:latin typeface="JetBrains Mono" pitchFamily="34" charset="0"/>
                <a:ea typeface="JetBrains Mono" pitchFamily="34" charset="-122"/>
                <a:cs typeface="JetBrains Mono" pitchFamily="34" charset="-120"/>
              </a:rPr>
              <a:t>LAUNCH £14/MO  ·  GROWTH £39/MO</a:t>
            </a:r>
            <a:endParaRPr lang="en-US" sz="1100" dirty="0"/>
          </a:p>
        </p:txBody>
      </p:sp>
      <p:sp>
        <p:nvSpPr>
          <p:cNvPr id="21" name="Shape 19"/>
          <p:cNvSpPr/>
          <p:nvPr/>
        </p:nvSpPr>
        <p:spPr>
          <a:xfrm>
            <a:off x="502920" y="4983480"/>
            <a:ext cx="11185855" cy="1051560"/>
          </a:xfrm>
          <a:prstGeom prst="roundRect">
            <a:avLst>
              <a:gd name="adj" fmla="val 10435"/>
            </a:avLst>
          </a:prstGeom>
          <a:solidFill>
            <a:srgbClr val="FFFFFF"/>
          </a:solidFill>
          <a:ln w="9525">
            <a:solidFill>
              <a:srgbClr val="E2E0F0"/>
            </a:solidFill>
            <a:prstDash val="solid"/>
          </a:ln>
        </p:spPr>
      </p:sp>
      <p:sp>
        <p:nvSpPr>
          <p:cNvPr id="22" name="Text 20"/>
          <p:cNvSpPr/>
          <p:nvPr/>
        </p:nvSpPr>
        <p:spPr>
          <a:xfrm>
            <a:off x="777240" y="5120640"/>
            <a:ext cx="2377440" cy="292608"/>
          </a:xfrm>
          <a:prstGeom prst="rect">
            <a:avLst/>
          </a:prstGeom>
          <a:noFill/>
          <a:ln/>
        </p:spPr>
        <p:txBody>
          <a:bodyPr wrap="square" lIns="0" tIns="0" rIns="0" bIns="0" rtlCol="0" anchor="ctr"/>
          <a:lstStyle/>
          <a:p>
            <a:pPr algn="l" indent="0" marL="0">
              <a:buNone/>
            </a:pPr>
            <a:r>
              <a:rPr lang="en-US" sz="1050" spc="300" kern="0" dirty="0">
                <a:solidFill>
                  <a:srgbClr val="94A3B8"/>
                </a:solidFill>
                <a:latin typeface="JetBrains Mono" pitchFamily="34" charset="0"/>
                <a:ea typeface="JetBrains Mono" pitchFamily="34" charset="-122"/>
                <a:cs typeface="JetBrains Mono" pitchFamily="34" charset="-120"/>
              </a:rPr>
              <a:t>HATCHIK'S OPPORTUNITY TOMORROW  ·  Y2 WATCHLIST</a:t>
            </a:r>
            <a:endParaRPr lang="en-US" sz="1050" dirty="0"/>
          </a:p>
        </p:txBody>
      </p:sp>
      <p:sp>
        <p:nvSpPr>
          <p:cNvPr id="23" name="Text 21"/>
          <p:cNvSpPr/>
          <p:nvPr/>
        </p:nvSpPr>
        <p:spPr>
          <a:xfrm>
            <a:off x="3246120" y="5074920"/>
            <a:ext cx="5120640" cy="365760"/>
          </a:xfrm>
          <a:prstGeom prst="rect">
            <a:avLst/>
          </a:prstGeom>
          <a:noFill/>
          <a:ln/>
        </p:spPr>
        <p:txBody>
          <a:bodyPr wrap="square" lIns="0" tIns="0" rIns="0" bIns="0" rtlCol="0" anchor="t"/>
          <a:lstStyle/>
          <a:p>
            <a:pPr algn="l" indent="0" marL="0">
              <a:buNone/>
            </a:pPr>
            <a:r>
              <a:rPr lang="en-US" sz="1800" b="1" dirty="0">
                <a:solidFill>
                  <a:srgbClr val="0F172A"/>
                </a:solidFill>
                <a:latin typeface="Inter" pitchFamily="34" charset="0"/>
                <a:ea typeface="Inter" pitchFamily="34" charset="-122"/>
                <a:cs typeface="Inter" pitchFamily="34" charset="-120"/>
              </a:rPr>
              <a:t>Product  →  Real business.</a:t>
            </a:r>
            <a:endParaRPr lang="en-US" sz="1800" dirty="0"/>
          </a:p>
        </p:txBody>
      </p:sp>
      <p:sp>
        <p:nvSpPr>
          <p:cNvPr id="24" name="Text 22"/>
          <p:cNvSpPr/>
          <p:nvPr/>
        </p:nvSpPr>
        <p:spPr>
          <a:xfrm>
            <a:off x="3246120" y="5458968"/>
            <a:ext cx="5120640" cy="256032"/>
          </a:xfrm>
          <a:prstGeom prst="rect">
            <a:avLst/>
          </a:prstGeom>
          <a:noFill/>
          <a:ln/>
        </p:spPr>
        <p:txBody>
          <a:bodyPr wrap="square" lIns="0" tIns="0" rIns="0" bIns="0" rtlCol="0" anchor="ctr"/>
          <a:lstStyle/>
          <a:p>
            <a:pPr algn="l" indent="0" marL="0">
              <a:buNone/>
            </a:pPr>
            <a:r>
              <a:rPr lang="en-US" sz="1050" spc="200" kern="0" dirty="0">
                <a:solidFill>
                  <a:srgbClr val="94A3B8"/>
                </a:solidFill>
                <a:latin typeface="JetBrains Mono" pitchFamily="34" charset="0"/>
                <a:ea typeface="JetBrains Mono" pitchFamily="34" charset="-122"/>
                <a:cs typeface="JetBrains Mono" pitchFamily="34" charset="-120"/>
              </a:rPr>
              <a:t>Hatchik+ end-user services</a:t>
            </a:r>
            <a:endParaRPr lang="en-US" sz="1050" dirty="0"/>
          </a:p>
        </p:txBody>
      </p:sp>
      <p:sp>
        <p:nvSpPr>
          <p:cNvPr id="25" name="Text 23"/>
          <p:cNvSpPr/>
          <p:nvPr/>
        </p:nvSpPr>
        <p:spPr>
          <a:xfrm>
            <a:off x="3246120" y="5696712"/>
            <a:ext cx="5120640" cy="3200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White-labeled AI agents the customer offers to THEIR end users — built on the substrate already running.</a:t>
            </a:r>
            <a:endParaRPr lang="en-US" sz="1100" dirty="0"/>
          </a:p>
        </p:txBody>
      </p:sp>
      <p:sp>
        <p:nvSpPr>
          <p:cNvPr id="26" name="Text 24"/>
          <p:cNvSpPr/>
          <p:nvPr/>
        </p:nvSpPr>
        <p:spPr>
          <a:xfrm>
            <a:off x="8503920" y="5349240"/>
            <a:ext cx="2910535" cy="365760"/>
          </a:xfrm>
          <a:prstGeom prst="rect">
            <a:avLst/>
          </a:prstGeom>
          <a:noFill/>
          <a:ln/>
        </p:spPr>
        <p:txBody>
          <a:bodyPr wrap="square" lIns="0" tIns="0" rIns="0" bIns="0" rtlCol="0" anchor="ctr"/>
          <a:lstStyle/>
          <a:p>
            <a:pPr algn="r" indent="0" marL="0">
              <a:buNone/>
            </a:pPr>
            <a:r>
              <a:rPr lang="en-US" sz="1100" spc="200" kern="0" dirty="0">
                <a:solidFill>
                  <a:srgbClr val="475569"/>
                </a:solidFill>
                <a:latin typeface="JetBrains Mono" pitchFamily="34" charset="0"/>
                <a:ea typeface="JetBrains Mono" pitchFamily="34" charset="-122"/>
                <a:cs typeface="JetBrains Mono" pitchFamily="34" charset="-120"/>
              </a:rPr>
              <a:t>Per-service or % of revenue.</a:t>
            </a:r>
            <a:endParaRPr lang="en-US" sz="1100" dirty="0"/>
          </a:p>
        </p:txBody>
      </p:sp>
      <p:sp>
        <p:nvSpPr>
          <p:cNvPr id="27" name="Shape 25"/>
          <p:cNvSpPr/>
          <p:nvPr/>
        </p:nvSpPr>
        <p:spPr>
          <a:xfrm>
            <a:off x="502920" y="6263640"/>
            <a:ext cx="11185855" cy="0"/>
          </a:xfrm>
          <a:prstGeom prst="line">
            <a:avLst/>
          </a:prstGeom>
          <a:noFill/>
          <a:ln w="6350">
            <a:solidFill>
              <a:srgbClr val="E2E0F0"/>
            </a:solidFill>
            <a:prstDash val="solid"/>
          </a:ln>
        </p:spPr>
      </p:sp>
      <p:sp>
        <p:nvSpPr>
          <p:cNvPr id="28" name="Text 26"/>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29" name="Text 27"/>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04  /  28</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F"/>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FFFFFF"/>
          </a:solidFill>
          <a:ln/>
        </p:spPr>
      </p:sp>
      <p:sp>
        <p:nvSpPr>
          <p:cNvPr id="3" name="Shape 1"/>
          <p:cNvSpPr/>
          <p:nvPr/>
        </p:nvSpPr>
        <p:spPr>
          <a:xfrm>
            <a:off x="576072" y="453542"/>
            <a:ext cx="146304" cy="11704"/>
          </a:xfrm>
          <a:prstGeom prst="rect">
            <a:avLst/>
          </a:prstGeom>
          <a:solidFill>
            <a:srgbClr val="0B0E1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FFFFFF"/>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B4ACEF"/>
                </a:solidFill>
                <a:latin typeface="JetBrains Mono" pitchFamily="34" charset="0"/>
                <a:ea typeface="JetBrains Mono" pitchFamily="34" charset="-122"/>
                <a:cs typeface="JetBrains Mono" pitchFamily="34" charset="-120"/>
              </a:rPr>
              <a:t>05  ·  WHY NOW</a:t>
            </a:r>
            <a:endParaRPr lang="en-US" sz="1050" dirty="0"/>
          </a:p>
        </p:txBody>
      </p:sp>
      <p:sp>
        <p:nvSpPr>
          <p:cNvPr id="6" name="Shape 4"/>
          <p:cNvSpPr/>
          <p:nvPr/>
        </p:nvSpPr>
        <p:spPr>
          <a:xfrm>
            <a:off x="502920" y="713232"/>
            <a:ext cx="11185855" cy="0"/>
          </a:xfrm>
          <a:prstGeom prst="line">
            <a:avLst/>
          </a:prstGeom>
          <a:noFill/>
          <a:ln w="6350">
            <a:solidFill>
              <a:srgbClr val="26305A"/>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FFFFFF"/>
                </a:solidFill>
                <a:latin typeface="Inter" pitchFamily="34" charset="0"/>
                <a:ea typeface="Inter" pitchFamily="34" charset="-122"/>
                <a:cs typeface="Inter" pitchFamily="34" charset="-120"/>
              </a:rPr>
              <a:t>Not a 3-year SaaS. </a:t>
            </a:r>
            <a:pPr algn="l" indent="0" marL="0">
              <a:buNone/>
            </a:pPr>
            <a:r>
              <a:rPr lang="en-US" sz="3600" b="1" dirty="0">
                <a:solidFill>
                  <a:srgbClr val="B4ACEF"/>
                </a:solidFill>
                <a:latin typeface="Inter" pitchFamily="34" charset="0"/>
                <a:ea typeface="Inter" pitchFamily="34" charset="-122"/>
                <a:cs typeface="Inter" pitchFamily="34" charset="-120"/>
              </a:rPr>
              <a:t>A 12–18 month sprint.</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B4ACEF"/>
                </a:solidFill>
                <a:latin typeface="Inter" pitchFamily="34" charset="0"/>
                <a:ea typeface="Inter" pitchFamily="34" charset="-122"/>
                <a:cs typeface="Inter" pitchFamily="34" charset="-120"/>
              </a:rPr>
              <a:t>AI coding tools are hyper-growing right now — not gradually, not eventually. Someone is going to own the production substrate every Cursor, Lovable and Bolt user graduates to. Founders who waited on Cursor's 2023 curve are not catching it in 2026.</a:t>
            </a:r>
            <a:endParaRPr lang="en-US" sz="1550" dirty="0"/>
          </a:p>
        </p:txBody>
      </p:sp>
      <p:sp>
        <p:nvSpPr>
          <p:cNvPr id="9" name="Shape 7"/>
          <p:cNvSpPr/>
          <p:nvPr/>
        </p:nvSpPr>
        <p:spPr>
          <a:xfrm>
            <a:off x="502920" y="2606040"/>
            <a:ext cx="3606698" cy="3337560"/>
          </a:xfrm>
          <a:prstGeom prst="roundRect">
            <a:avLst>
              <a:gd name="adj" fmla="val 3288"/>
            </a:avLst>
          </a:prstGeom>
          <a:solidFill>
            <a:srgbClr val="151A33"/>
          </a:solidFill>
          <a:ln w="9525">
            <a:solidFill>
              <a:srgbClr val="26305A"/>
            </a:solidFill>
            <a:prstDash val="solid"/>
          </a:ln>
        </p:spPr>
      </p:sp>
      <p:sp>
        <p:nvSpPr>
          <p:cNvPr id="10" name="Text 8"/>
          <p:cNvSpPr/>
          <p:nvPr/>
        </p:nvSpPr>
        <p:spPr>
          <a:xfrm>
            <a:off x="777240" y="2834640"/>
            <a:ext cx="3058058" cy="548640"/>
          </a:xfrm>
          <a:prstGeom prst="rect">
            <a:avLst/>
          </a:prstGeom>
          <a:noFill/>
          <a:ln/>
        </p:spPr>
        <p:txBody>
          <a:bodyPr wrap="square" lIns="0" tIns="0" rIns="0" bIns="0" rtlCol="0" anchor="ctr"/>
          <a:lstStyle/>
          <a:p>
            <a:pPr algn="l" indent="0" marL="0">
              <a:buNone/>
            </a:pPr>
            <a:r>
              <a:rPr lang="en-US" sz="3600" b="1" dirty="0">
                <a:solidFill>
                  <a:srgbClr val="FFFFFF"/>
                </a:solidFill>
                <a:latin typeface="Inter" pitchFamily="34" charset="0"/>
                <a:ea typeface="Inter" pitchFamily="34" charset="-122"/>
                <a:cs typeface="Inter" pitchFamily="34" charset="-120"/>
              </a:rPr>
              <a:t>cursor</a:t>
            </a:r>
            <a:endParaRPr lang="en-US" sz="3600" dirty="0"/>
          </a:p>
        </p:txBody>
      </p:sp>
      <p:sp>
        <p:nvSpPr>
          <p:cNvPr id="11" name="Text 9"/>
          <p:cNvSpPr/>
          <p:nvPr/>
        </p:nvSpPr>
        <p:spPr>
          <a:xfrm>
            <a:off x="777240" y="3447288"/>
            <a:ext cx="3058058" cy="274320"/>
          </a:xfrm>
          <a:prstGeom prst="rect">
            <a:avLst/>
          </a:prstGeom>
          <a:noFill/>
          <a:ln/>
        </p:spPr>
        <p:txBody>
          <a:bodyPr wrap="square" lIns="0" tIns="0" rIns="0" bIns="0" rtlCol="0" anchor="ctr"/>
          <a:lstStyle/>
          <a:p>
            <a:pPr algn="l" indent="0" marL="0">
              <a:buNone/>
            </a:pPr>
            <a:r>
              <a:rPr lang="en-US" sz="1050" spc="300" kern="0" dirty="0">
                <a:solidFill>
                  <a:srgbClr val="B4ACEF"/>
                </a:solidFill>
                <a:latin typeface="JetBrains Mono" pitchFamily="34" charset="0"/>
                <a:ea typeface="JetBrains Mono" pitchFamily="34" charset="-122"/>
                <a:cs typeface="JetBrains Mono" pitchFamily="34" charset="-120"/>
              </a:rPr>
              <a:t>2023 → 2025</a:t>
            </a:r>
            <a:endParaRPr lang="en-US" sz="1050" dirty="0"/>
          </a:p>
        </p:txBody>
      </p:sp>
      <p:sp>
        <p:nvSpPr>
          <p:cNvPr id="12" name="Text 10"/>
          <p:cNvSpPr/>
          <p:nvPr/>
        </p:nvSpPr>
        <p:spPr>
          <a:xfrm>
            <a:off x="777240" y="3749040"/>
            <a:ext cx="3058058" cy="822960"/>
          </a:xfrm>
          <a:prstGeom prst="rect">
            <a:avLst/>
          </a:prstGeom>
          <a:noFill/>
          <a:ln/>
        </p:spPr>
        <p:txBody>
          <a:bodyPr wrap="square" lIns="0" tIns="0" rIns="0" bIns="0" rtlCol="0" anchor="t"/>
          <a:lstStyle/>
          <a:p>
            <a:pPr algn="l" indent="0" marL="0">
              <a:buNone/>
            </a:pPr>
            <a:r>
              <a:rPr lang="en-US" sz="4800" b="1" dirty="0">
                <a:solidFill>
                  <a:srgbClr val="B4ACEF"/>
                </a:solidFill>
                <a:latin typeface="Inter" pitchFamily="34" charset="0"/>
                <a:ea typeface="Inter" pitchFamily="34" charset="-122"/>
                <a:cs typeface="Inter" pitchFamily="34" charset="-120"/>
              </a:rPr>
              <a:t>1M+</a:t>
            </a:r>
            <a:endParaRPr lang="en-US" sz="4800" dirty="0"/>
          </a:p>
        </p:txBody>
      </p:sp>
      <p:sp>
        <p:nvSpPr>
          <p:cNvPr id="13" name="Text 11"/>
          <p:cNvSpPr/>
          <p:nvPr/>
        </p:nvSpPr>
        <p:spPr>
          <a:xfrm>
            <a:off x="777240" y="4526280"/>
            <a:ext cx="3058058" cy="256032"/>
          </a:xfrm>
          <a:prstGeom prst="rect">
            <a:avLst/>
          </a:prstGeom>
          <a:noFill/>
          <a:ln/>
        </p:spPr>
        <p:txBody>
          <a:bodyPr wrap="square" lIns="0" tIns="0" rIns="0" bIns="0" rtlCol="0" anchor="ctr"/>
          <a:lstStyle/>
          <a:p>
            <a:pPr algn="l" indent="0" marL="0">
              <a:buNone/>
            </a:pPr>
            <a:r>
              <a:rPr lang="en-US" sz="1100" dirty="0">
                <a:solidFill>
                  <a:srgbClr val="C7CCE8"/>
                </a:solidFill>
                <a:latin typeface="Inter" pitchFamily="34" charset="0"/>
                <a:ea typeface="Inter" pitchFamily="34" charset="-122"/>
                <a:cs typeface="Inter" pitchFamily="34" charset="-120"/>
              </a:rPr>
              <a:t>paid users in ~24 months</a:t>
            </a:r>
            <a:endParaRPr lang="en-US" sz="1100" dirty="0"/>
          </a:p>
        </p:txBody>
      </p:sp>
      <p:sp>
        <p:nvSpPr>
          <p:cNvPr id="14" name="Shape 12"/>
          <p:cNvSpPr/>
          <p:nvPr/>
        </p:nvSpPr>
        <p:spPr>
          <a:xfrm>
            <a:off x="777240" y="5298948"/>
            <a:ext cx="433476" cy="50292"/>
          </a:xfrm>
          <a:prstGeom prst="rect">
            <a:avLst/>
          </a:prstGeom>
          <a:solidFill>
            <a:srgbClr val="5F6BB8"/>
          </a:solidFill>
          <a:ln/>
        </p:spPr>
      </p:sp>
      <p:sp>
        <p:nvSpPr>
          <p:cNvPr id="15" name="Shape 13"/>
          <p:cNvSpPr/>
          <p:nvPr/>
        </p:nvSpPr>
        <p:spPr>
          <a:xfrm>
            <a:off x="1256436" y="5258714"/>
            <a:ext cx="433476" cy="90526"/>
          </a:xfrm>
          <a:prstGeom prst="rect">
            <a:avLst/>
          </a:prstGeom>
          <a:solidFill>
            <a:srgbClr val="5F6BB8"/>
          </a:solidFill>
          <a:ln/>
        </p:spPr>
      </p:sp>
      <p:sp>
        <p:nvSpPr>
          <p:cNvPr id="16" name="Shape 14"/>
          <p:cNvSpPr/>
          <p:nvPr/>
        </p:nvSpPr>
        <p:spPr>
          <a:xfrm>
            <a:off x="1735633" y="5188306"/>
            <a:ext cx="433476" cy="160934"/>
          </a:xfrm>
          <a:prstGeom prst="rect">
            <a:avLst/>
          </a:prstGeom>
          <a:solidFill>
            <a:srgbClr val="5F6BB8"/>
          </a:solidFill>
          <a:ln/>
        </p:spPr>
      </p:sp>
      <p:sp>
        <p:nvSpPr>
          <p:cNvPr id="17" name="Shape 15"/>
          <p:cNvSpPr/>
          <p:nvPr/>
        </p:nvSpPr>
        <p:spPr>
          <a:xfrm>
            <a:off x="2214829" y="5072634"/>
            <a:ext cx="433476" cy="276606"/>
          </a:xfrm>
          <a:prstGeom prst="rect">
            <a:avLst/>
          </a:prstGeom>
          <a:solidFill>
            <a:srgbClr val="5F6BB8"/>
          </a:solidFill>
          <a:ln/>
        </p:spPr>
      </p:sp>
      <p:sp>
        <p:nvSpPr>
          <p:cNvPr id="18" name="Shape 16"/>
          <p:cNvSpPr/>
          <p:nvPr/>
        </p:nvSpPr>
        <p:spPr>
          <a:xfrm>
            <a:off x="2694026" y="4946904"/>
            <a:ext cx="433476" cy="402336"/>
          </a:xfrm>
          <a:prstGeom prst="rect">
            <a:avLst/>
          </a:prstGeom>
          <a:solidFill>
            <a:srgbClr val="5F6BB8"/>
          </a:solidFill>
          <a:ln/>
        </p:spPr>
      </p:sp>
      <p:sp>
        <p:nvSpPr>
          <p:cNvPr id="19" name="Shape 17"/>
          <p:cNvSpPr/>
          <p:nvPr/>
        </p:nvSpPr>
        <p:spPr>
          <a:xfrm>
            <a:off x="3173222" y="4846320"/>
            <a:ext cx="433476" cy="502920"/>
          </a:xfrm>
          <a:prstGeom prst="rect">
            <a:avLst/>
          </a:prstGeom>
          <a:solidFill>
            <a:srgbClr val="B4ACEF"/>
          </a:solidFill>
          <a:ln/>
        </p:spPr>
      </p:sp>
      <p:sp>
        <p:nvSpPr>
          <p:cNvPr id="20" name="Text 18"/>
          <p:cNvSpPr/>
          <p:nvPr/>
        </p:nvSpPr>
        <p:spPr>
          <a:xfrm>
            <a:off x="777240" y="5394960"/>
            <a:ext cx="3058058" cy="457200"/>
          </a:xfrm>
          <a:prstGeom prst="rect">
            <a:avLst/>
          </a:prstGeom>
          <a:noFill/>
          <a:ln/>
        </p:spPr>
        <p:txBody>
          <a:bodyPr wrap="square" lIns="0" tIns="0" rIns="0" bIns="0" rtlCol="0" anchor="t"/>
          <a:lstStyle/>
          <a:p>
            <a:pPr algn="l" indent="0" marL="0">
              <a:buNone/>
            </a:pPr>
            <a:r>
              <a:rPr lang="en-US" sz="1000" dirty="0">
                <a:solidFill>
                  <a:srgbClr val="C7CCE8"/>
                </a:solidFill>
                <a:latin typeface="Inter" pitchFamily="34" charset="0"/>
                <a:ea typeface="Inter" pitchFamily="34" charset="-122"/>
                <a:cs typeface="Inter" pitchFamily="34" charset="-120"/>
              </a:rPr>
              <a:t>~40–50%/month compounding through the hype peak.</a:t>
            </a:r>
            <a:endParaRPr lang="en-US" sz="1000" dirty="0"/>
          </a:p>
        </p:txBody>
      </p:sp>
      <p:sp>
        <p:nvSpPr>
          <p:cNvPr id="21" name="Shape 19"/>
          <p:cNvSpPr/>
          <p:nvPr/>
        </p:nvSpPr>
        <p:spPr>
          <a:xfrm>
            <a:off x="4292498" y="2606040"/>
            <a:ext cx="3606698" cy="3337560"/>
          </a:xfrm>
          <a:prstGeom prst="roundRect">
            <a:avLst>
              <a:gd name="adj" fmla="val 3288"/>
            </a:avLst>
          </a:prstGeom>
          <a:solidFill>
            <a:srgbClr val="151A33"/>
          </a:solidFill>
          <a:ln w="9525">
            <a:solidFill>
              <a:srgbClr val="26305A"/>
            </a:solidFill>
            <a:prstDash val="solid"/>
          </a:ln>
        </p:spPr>
      </p:sp>
      <p:sp>
        <p:nvSpPr>
          <p:cNvPr id="22" name="Text 20"/>
          <p:cNvSpPr/>
          <p:nvPr/>
        </p:nvSpPr>
        <p:spPr>
          <a:xfrm>
            <a:off x="4566818" y="2834640"/>
            <a:ext cx="3058058" cy="548640"/>
          </a:xfrm>
          <a:prstGeom prst="rect">
            <a:avLst/>
          </a:prstGeom>
          <a:noFill/>
          <a:ln/>
        </p:spPr>
        <p:txBody>
          <a:bodyPr wrap="square" lIns="0" tIns="0" rIns="0" bIns="0" rtlCol="0" anchor="ctr"/>
          <a:lstStyle/>
          <a:p>
            <a:pPr algn="l" indent="0" marL="0">
              <a:buNone/>
            </a:pPr>
            <a:r>
              <a:rPr lang="en-US" sz="3600" b="1" dirty="0">
                <a:solidFill>
                  <a:srgbClr val="FFFFFF"/>
                </a:solidFill>
                <a:latin typeface="Inter" pitchFamily="34" charset="0"/>
                <a:ea typeface="Inter" pitchFamily="34" charset="-122"/>
                <a:cs typeface="Inter" pitchFamily="34" charset="-120"/>
              </a:rPr>
              <a:t>lovable</a:t>
            </a:r>
            <a:endParaRPr lang="en-US" sz="3600" dirty="0"/>
          </a:p>
        </p:txBody>
      </p:sp>
      <p:sp>
        <p:nvSpPr>
          <p:cNvPr id="23" name="Text 21"/>
          <p:cNvSpPr/>
          <p:nvPr/>
        </p:nvSpPr>
        <p:spPr>
          <a:xfrm>
            <a:off x="4566818" y="3447288"/>
            <a:ext cx="3058058" cy="274320"/>
          </a:xfrm>
          <a:prstGeom prst="rect">
            <a:avLst/>
          </a:prstGeom>
          <a:noFill/>
          <a:ln/>
        </p:spPr>
        <p:txBody>
          <a:bodyPr wrap="square" lIns="0" tIns="0" rIns="0" bIns="0" rtlCol="0" anchor="ctr"/>
          <a:lstStyle/>
          <a:p>
            <a:pPr algn="l" indent="0" marL="0">
              <a:buNone/>
            </a:pPr>
            <a:r>
              <a:rPr lang="en-US" sz="1050" spc="300" kern="0" dirty="0">
                <a:solidFill>
                  <a:srgbClr val="B4ACEF"/>
                </a:solidFill>
                <a:latin typeface="JetBrains Mono" pitchFamily="34" charset="0"/>
                <a:ea typeface="JetBrains Mono" pitchFamily="34" charset="-122"/>
                <a:cs typeface="JetBrains Mono" pitchFamily="34" charset="-120"/>
              </a:rPr>
              <a:t>2024 → 2025</a:t>
            </a:r>
            <a:endParaRPr lang="en-US" sz="1050" dirty="0"/>
          </a:p>
        </p:txBody>
      </p:sp>
      <p:sp>
        <p:nvSpPr>
          <p:cNvPr id="24" name="Text 22"/>
          <p:cNvSpPr/>
          <p:nvPr/>
        </p:nvSpPr>
        <p:spPr>
          <a:xfrm>
            <a:off x="4566818" y="3749040"/>
            <a:ext cx="3058058" cy="822960"/>
          </a:xfrm>
          <a:prstGeom prst="rect">
            <a:avLst/>
          </a:prstGeom>
          <a:noFill/>
          <a:ln/>
        </p:spPr>
        <p:txBody>
          <a:bodyPr wrap="square" lIns="0" tIns="0" rIns="0" bIns="0" rtlCol="0" anchor="t"/>
          <a:lstStyle/>
          <a:p>
            <a:pPr algn="l" indent="0" marL="0">
              <a:buNone/>
            </a:pPr>
            <a:r>
              <a:rPr lang="en-US" sz="4800" b="1" dirty="0">
                <a:solidFill>
                  <a:srgbClr val="B4ACEF"/>
                </a:solidFill>
                <a:latin typeface="Inter" pitchFamily="34" charset="0"/>
                <a:ea typeface="Inter" pitchFamily="34" charset="-122"/>
                <a:cs typeface="Inter" pitchFamily="34" charset="-120"/>
              </a:rPr>
              <a:t>$5M+</a:t>
            </a:r>
            <a:endParaRPr lang="en-US" sz="4800" dirty="0"/>
          </a:p>
        </p:txBody>
      </p:sp>
      <p:sp>
        <p:nvSpPr>
          <p:cNvPr id="25" name="Text 23"/>
          <p:cNvSpPr/>
          <p:nvPr/>
        </p:nvSpPr>
        <p:spPr>
          <a:xfrm>
            <a:off x="4566818" y="4526280"/>
            <a:ext cx="3058058" cy="256032"/>
          </a:xfrm>
          <a:prstGeom prst="rect">
            <a:avLst/>
          </a:prstGeom>
          <a:noFill/>
          <a:ln/>
        </p:spPr>
        <p:txBody>
          <a:bodyPr wrap="square" lIns="0" tIns="0" rIns="0" bIns="0" rtlCol="0" anchor="ctr"/>
          <a:lstStyle/>
          <a:p>
            <a:pPr algn="l" indent="0" marL="0">
              <a:buNone/>
            </a:pPr>
            <a:r>
              <a:rPr lang="en-US" sz="1100" dirty="0">
                <a:solidFill>
                  <a:srgbClr val="C7CCE8"/>
                </a:solidFill>
                <a:latin typeface="Inter" pitchFamily="34" charset="0"/>
                <a:ea typeface="Inter" pitchFamily="34" charset="-122"/>
                <a:cs typeface="Inter" pitchFamily="34" charset="-120"/>
              </a:rPr>
              <a:t>MRR in ~12 months</a:t>
            </a:r>
            <a:endParaRPr lang="en-US" sz="1100" dirty="0"/>
          </a:p>
        </p:txBody>
      </p:sp>
      <p:sp>
        <p:nvSpPr>
          <p:cNvPr id="26" name="Shape 24"/>
          <p:cNvSpPr/>
          <p:nvPr/>
        </p:nvSpPr>
        <p:spPr>
          <a:xfrm>
            <a:off x="4566818" y="5319065"/>
            <a:ext cx="433476" cy="30175"/>
          </a:xfrm>
          <a:prstGeom prst="rect">
            <a:avLst/>
          </a:prstGeom>
          <a:solidFill>
            <a:srgbClr val="5F6BB8"/>
          </a:solidFill>
          <a:ln/>
        </p:spPr>
      </p:sp>
      <p:sp>
        <p:nvSpPr>
          <p:cNvPr id="27" name="Shape 25"/>
          <p:cNvSpPr/>
          <p:nvPr/>
        </p:nvSpPr>
        <p:spPr>
          <a:xfrm>
            <a:off x="5046015" y="5288890"/>
            <a:ext cx="433476" cy="60350"/>
          </a:xfrm>
          <a:prstGeom prst="rect">
            <a:avLst/>
          </a:prstGeom>
          <a:solidFill>
            <a:srgbClr val="5F6BB8"/>
          </a:solidFill>
          <a:ln/>
        </p:spPr>
      </p:sp>
      <p:sp>
        <p:nvSpPr>
          <p:cNvPr id="28" name="Shape 26"/>
          <p:cNvSpPr/>
          <p:nvPr/>
        </p:nvSpPr>
        <p:spPr>
          <a:xfrm>
            <a:off x="5525211" y="5228539"/>
            <a:ext cx="433476" cy="120701"/>
          </a:xfrm>
          <a:prstGeom prst="rect">
            <a:avLst/>
          </a:prstGeom>
          <a:solidFill>
            <a:srgbClr val="5F6BB8"/>
          </a:solidFill>
          <a:ln/>
        </p:spPr>
      </p:sp>
      <p:sp>
        <p:nvSpPr>
          <p:cNvPr id="29" name="Shape 27"/>
          <p:cNvSpPr/>
          <p:nvPr/>
        </p:nvSpPr>
        <p:spPr>
          <a:xfrm>
            <a:off x="6004408" y="5107838"/>
            <a:ext cx="433476" cy="241402"/>
          </a:xfrm>
          <a:prstGeom prst="rect">
            <a:avLst/>
          </a:prstGeom>
          <a:solidFill>
            <a:srgbClr val="5F6BB8"/>
          </a:solidFill>
          <a:ln/>
        </p:spPr>
      </p:sp>
      <p:sp>
        <p:nvSpPr>
          <p:cNvPr id="30" name="Shape 28"/>
          <p:cNvSpPr/>
          <p:nvPr/>
        </p:nvSpPr>
        <p:spPr>
          <a:xfrm>
            <a:off x="6483604" y="4967021"/>
            <a:ext cx="433476" cy="382219"/>
          </a:xfrm>
          <a:prstGeom prst="rect">
            <a:avLst/>
          </a:prstGeom>
          <a:solidFill>
            <a:srgbClr val="5F6BB8"/>
          </a:solidFill>
          <a:ln/>
        </p:spPr>
      </p:sp>
      <p:sp>
        <p:nvSpPr>
          <p:cNvPr id="31" name="Shape 29"/>
          <p:cNvSpPr/>
          <p:nvPr/>
        </p:nvSpPr>
        <p:spPr>
          <a:xfrm>
            <a:off x="6962800" y="4846320"/>
            <a:ext cx="433476" cy="502920"/>
          </a:xfrm>
          <a:prstGeom prst="rect">
            <a:avLst/>
          </a:prstGeom>
          <a:solidFill>
            <a:srgbClr val="B4ACEF"/>
          </a:solidFill>
          <a:ln/>
        </p:spPr>
      </p:sp>
      <p:sp>
        <p:nvSpPr>
          <p:cNvPr id="32" name="Text 30"/>
          <p:cNvSpPr/>
          <p:nvPr/>
        </p:nvSpPr>
        <p:spPr>
          <a:xfrm>
            <a:off x="4566818" y="5394960"/>
            <a:ext cx="3058058" cy="457200"/>
          </a:xfrm>
          <a:prstGeom prst="rect">
            <a:avLst/>
          </a:prstGeom>
          <a:noFill/>
          <a:ln/>
        </p:spPr>
        <p:txBody>
          <a:bodyPr wrap="square" lIns="0" tIns="0" rIns="0" bIns="0" rtlCol="0" anchor="t"/>
          <a:lstStyle/>
          <a:p>
            <a:pPr algn="l" indent="0" marL="0">
              <a:buNone/>
            </a:pPr>
            <a:r>
              <a:rPr lang="en-US" sz="1000" dirty="0">
                <a:solidFill>
                  <a:srgbClr val="C7CCE8"/>
                </a:solidFill>
                <a:latin typeface="Inter" pitchFamily="34" charset="0"/>
                <a:ea typeface="Inter" pitchFamily="34" charset="-122"/>
                <a:cs typeface="Inter" pitchFamily="34" charset="-120"/>
              </a:rPr>
              <a:t>~50K paying users from a standing start.</a:t>
            </a:r>
            <a:endParaRPr lang="en-US" sz="1000" dirty="0"/>
          </a:p>
        </p:txBody>
      </p:sp>
      <p:sp>
        <p:nvSpPr>
          <p:cNvPr id="33" name="Shape 31"/>
          <p:cNvSpPr/>
          <p:nvPr/>
        </p:nvSpPr>
        <p:spPr>
          <a:xfrm>
            <a:off x="8082077" y="2606040"/>
            <a:ext cx="3606698" cy="3337560"/>
          </a:xfrm>
          <a:prstGeom prst="roundRect">
            <a:avLst>
              <a:gd name="adj" fmla="val 3288"/>
            </a:avLst>
          </a:prstGeom>
          <a:solidFill>
            <a:srgbClr val="151A33"/>
          </a:solidFill>
          <a:ln w="9525">
            <a:solidFill>
              <a:srgbClr val="26305A"/>
            </a:solidFill>
            <a:prstDash val="solid"/>
          </a:ln>
        </p:spPr>
      </p:sp>
      <p:sp>
        <p:nvSpPr>
          <p:cNvPr id="34" name="Text 32"/>
          <p:cNvSpPr/>
          <p:nvPr/>
        </p:nvSpPr>
        <p:spPr>
          <a:xfrm>
            <a:off x="8356397" y="2834640"/>
            <a:ext cx="3058058" cy="548640"/>
          </a:xfrm>
          <a:prstGeom prst="rect">
            <a:avLst/>
          </a:prstGeom>
          <a:noFill/>
          <a:ln/>
        </p:spPr>
        <p:txBody>
          <a:bodyPr wrap="square" lIns="0" tIns="0" rIns="0" bIns="0" rtlCol="0" anchor="ctr"/>
          <a:lstStyle/>
          <a:p>
            <a:pPr algn="l" indent="0" marL="0">
              <a:buNone/>
            </a:pPr>
            <a:r>
              <a:rPr lang="en-US" sz="3400" b="1" dirty="0">
                <a:solidFill>
                  <a:srgbClr val="FFFFFF"/>
                </a:solidFill>
                <a:latin typeface="Inter" pitchFamily="34" charset="0"/>
                <a:ea typeface="Inter" pitchFamily="34" charset="-122"/>
                <a:cs typeface="Inter" pitchFamily="34" charset="-120"/>
              </a:rPr>
              <a:t>bolt.new</a:t>
            </a:r>
            <a:endParaRPr lang="en-US" sz="3400" dirty="0"/>
          </a:p>
        </p:txBody>
      </p:sp>
      <p:sp>
        <p:nvSpPr>
          <p:cNvPr id="35" name="Text 33"/>
          <p:cNvSpPr/>
          <p:nvPr/>
        </p:nvSpPr>
        <p:spPr>
          <a:xfrm>
            <a:off x="8356397" y="3447288"/>
            <a:ext cx="3058058" cy="274320"/>
          </a:xfrm>
          <a:prstGeom prst="rect">
            <a:avLst/>
          </a:prstGeom>
          <a:noFill/>
          <a:ln/>
        </p:spPr>
        <p:txBody>
          <a:bodyPr wrap="square" lIns="0" tIns="0" rIns="0" bIns="0" rtlCol="0" anchor="ctr"/>
          <a:lstStyle/>
          <a:p>
            <a:pPr algn="l" indent="0" marL="0">
              <a:buNone/>
            </a:pPr>
            <a:r>
              <a:rPr lang="en-US" sz="1050" spc="300" kern="0" dirty="0">
                <a:solidFill>
                  <a:srgbClr val="B4ACEF"/>
                </a:solidFill>
                <a:latin typeface="JetBrains Mono" pitchFamily="34" charset="0"/>
                <a:ea typeface="JetBrains Mono" pitchFamily="34" charset="-122"/>
                <a:cs typeface="JetBrains Mono" pitchFamily="34" charset="-120"/>
              </a:rPr>
              <a:t>2024</a:t>
            </a:r>
            <a:endParaRPr lang="en-US" sz="1050" dirty="0"/>
          </a:p>
        </p:txBody>
      </p:sp>
      <p:sp>
        <p:nvSpPr>
          <p:cNvPr id="36" name="Text 34"/>
          <p:cNvSpPr/>
          <p:nvPr/>
        </p:nvSpPr>
        <p:spPr>
          <a:xfrm>
            <a:off x="8356397" y="3749040"/>
            <a:ext cx="3058058" cy="822960"/>
          </a:xfrm>
          <a:prstGeom prst="rect">
            <a:avLst/>
          </a:prstGeom>
          <a:noFill/>
          <a:ln/>
        </p:spPr>
        <p:txBody>
          <a:bodyPr wrap="square" lIns="0" tIns="0" rIns="0" bIns="0" rtlCol="0" anchor="t"/>
          <a:lstStyle/>
          <a:p>
            <a:pPr algn="l" indent="0" marL="0">
              <a:buNone/>
            </a:pPr>
            <a:r>
              <a:rPr lang="en-US" sz="4800" b="1" dirty="0">
                <a:solidFill>
                  <a:srgbClr val="B4ACEF"/>
                </a:solidFill>
                <a:latin typeface="Inter" pitchFamily="34" charset="0"/>
                <a:ea typeface="Inter" pitchFamily="34" charset="-122"/>
                <a:cs typeface="Inter" pitchFamily="34" charset="-120"/>
              </a:rPr>
              <a:t>1M</a:t>
            </a:r>
            <a:endParaRPr lang="en-US" sz="4800" dirty="0"/>
          </a:p>
        </p:txBody>
      </p:sp>
      <p:sp>
        <p:nvSpPr>
          <p:cNvPr id="37" name="Text 35"/>
          <p:cNvSpPr/>
          <p:nvPr/>
        </p:nvSpPr>
        <p:spPr>
          <a:xfrm>
            <a:off x="8356397" y="4526280"/>
            <a:ext cx="3058058" cy="256032"/>
          </a:xfrm>
          <a:prstGeom prst="rect">
            <a:avLst/>
          </a:prstGeom>
          <a:noFill/>
          <a:ln/>
        </p:spPr>
        <p:txBody>
          <a:bodyPr wrap="square" lIns="0" tIns="0" rIns="0" bIns="0" rtlCol="0" anchor="ctr"/>
          <a:lstStyle/>
          <a:p>
            <a:pPr algn="l" indent="0" marL="0">
              <a:buNone/>
            </a:pPr>
            <a:r>
              <a:rPr lang="en-US" sz="1100" dirty="0">
                <a:solidFill>
                  <a:srgbClr val="C7CCE8"/>
                </a:solidFill>
                <a:latin typeface="Inter" pitchFamily="34" charset="0"/>
                <a:ea typeface="Inter" pitchFamily="34" charset="-122"/>
                <a:cs typeface="Inter" pitchFamily="34" charset="-120"/>
              </a:rPr>
              <a:t>users in &lt;12 months</a:t>
            </a:r>
            <a:endParaRPr lang="en-US" sz="1100" dirty="0"/>
          </a:p>
        </p:txBody>
      </p:sp>
      <p:sp>
        <p:nvSpPr>
          <p:cNvPr id="38" name="Shape 36"/>
          <p:cNvSpPr/>
          <p:nvPr/>
        </p:nvSpPr>
        <p:spPr>
          <a:xfrm>
            <a:off x="8356397" y="5324094"/>
            <a:ext cx="433476" cy="25146"/>
          </a:xfrm>
          <a:prstGeom prst="rect">
            <a:avLst/>
          </a:prstGeom>
          <a:solidFill>
            <a:srgbClr val="5F6BB8"/>
          </a:solidFill>
          <a:ln/>
        </p:spPr>
      </p:sp>
      <p:sp>
        <p:nvSpPr>
          <p:cNvPr id="39" name="Shape 37"/>
          <p:cNvSpPr/>
          <p:nvPr/>
        </p:nvSpPr>
        <p:spPr>
          <a:xfrm>
            <a:off x="8835593" y="5288890"/>
            <a:ext cx="433476" cy="60350"/>
          </a:xfrm>
          <a:prstGeom prst="rect">
            <a:avLst/>
          </a:prstGeom>
          <a:solidFill>
            <a:srgbClr val="5F6BB8"/>
          </a:solidFill>
          <a:ln/>
        </p:spPr>
      </p:sp>
      <p:sp>
        <p:nvSpPr>
          <p:cNvPr id="40" name="Shape 38"/>
          <p:cNvSpPr/>
          <p:nvPr/>
        </p:nvSpPr>
        <p:spPr>
          <a:xfrm>
            <a:off x="9314790" y="5228539"/>
            <a:ext cx="433476" cy="120701"/>
          </a:xfrm>
          <a:prstGeom prst="rect">
            <a:avLst/>
          </a:prstGeom>
          <a:solidFill>
            <a:srgbClr val="5F6BB8"/>
          </a:solidFill>
          <a:ln/>
        </p:spPr>
      </p:sp>
      <p:sp>
        <p:nvSpPr>
          <p:cNvPr id="41" name="Shape 39"/>
          <p:cNvSpPr/>
          <p:nvPr/>
        </p:nvSpPr>
        <p:spPr>
          <a:xfrm>
            <a:off x="9793986" y="5122926"/>
            <a:ext cx="433476" cy="226314"/>
          </a:xfrm>
          <a:prstGeom prst="rect">
            <a:avLst/>
          </a:prstGeom>
          <a:solidFill>
            <a:srgbClr val="5F6BB8"/>
          </a:solidFill>
          <a:ln/>
        </p:spPr>
      </p:sp>
      <p:sp>
        <p:nvSpPr>
          <p:cNvPr id="42" name="Shape 40"/>
          <p:cNvSpPr/>
          <p:nvPr/>
        </p:nvSpPr>
        <p:spPr>
          <a:xfrm>
            <a:off x="10273182" y="4987138"/>
            <a:ext cx="433476" cy="362102"/>
          </a:xfrm>
          <a:prstGeom prst="rect">
            <a:avLst/>
          </a:prstGeom>
          <a:solidFill>
            <a:srgbClr val="5F6BB8"/>
          </a:solidFill>
          <a:ln/>
        </p:spPr>
      </p:sp>
      <p:sp>
        <p:nvSpPr>
          <p:cNvPr id="43" name="Shape 41"/>
          <p:cNvSpPr/>
          <p:nvPr/>
        </p:nvSpPr>
        <p:spPr>
          <a:xfrm>
            <a:off x="10752379" y="4846320"/>
            <a:ext cx="433476" cy="502920"/>
          </a:xfrm>
          <a:prstGeom prst="rect">
            <a:avLst/>
          </a:prstGeom>
          <a:solidFill>
            <a:srgbClr val="B4ACEF"/>
          </a:solidFill>
          <a:ln/>
        </p:spPr>
      </p:sp>
      <p:sp>
        <p:nvSpPr>
          <p:cNvPr id="44" name="Text 42"/>
          <p:cNvSpPr/>
          <p:nvPr/>
        </p:nvSpPr>
        <p:spPr>
          <a:xfrm>
            <a:off x="8356397" y="5394960"/>
            <a:ext cx="3058058" cy="457200"/>
          </a:xfrm>
          <a:prstGeom prst="rect">
            <a:avLst/>
          </a:prstGeom>
          <a:noFill/>
          <a:ln/>
        </p:spPr>
        <p:txBody>
          <a:bodyPr wrap="square" lIns="0" tIns="0" rIns="0" bIns="0" rtlCol="0" anchor="t"/>
          <a:lstStyle/>
          <a:p>
            <a:pPr algn="l" indent="0" marL="0">
              <a:buNone/>
            </a:pPr>
            <a:r>
              <a:rPr lang="en-US" sz="1000" dirty="0">
                <a:solidFill>
                  <a:srgbClr val="C7CCE8"/>
                </a:solidFill>
                <a:latin typeface="Inter" pitchFamily="34" charset="0"/>
                <a:ea typeface="Inter" pitchFamily="34" charset="-122"/>
                <a:cs typeface="Inter" pitchFamily="34" charset="-120"/>
              </a:rPr>
              <a:t>Peak weeks hit four-figure signups per day.</a:t>
            </a:r>
            <a:endParaRPr lang="en-US" sz="1000" dirty="0"/>
          </a:p>
        </p:txBody>
      </p:sp>
      <p:sp>
        <p:nvSpPr>
          <p:cNvPr id="45" name="Text 43"/>
          <p:cNvSpPr/>
          <p:nvPr/>
        </p:nvSpPr>
        <p:spPr>
          <a:xfrm>
            <a:off x="502920" y="6035040"/>
            <a:ext cx="11185855" cy="274320"/>
          </a:xfrm>
          <a:prstGeom prst="rect">
            <a:avLst/>
          </a:prstGeom>
          <a:noFill/>
          <a:ln/>
        </p:spPr>
        <p:txBody>
          <a:bodyPr wrap="square" rtlCol="0" anchor="ctr"/>
          <a:lstStyle/>
          <a:p>
            <a:pPr algn="l" indent="0" marL="0">
              <a:buNone/>
            </a:pPr>
            <a:r>
              <a:rPr lang="en-US" sz="1300" dirty="0">
                <a:solidFill>
                  <a:srgbClr val="FFFFFF"/>
                </a:solidFill>
                <a:latin typeface="Inter" pitchFamily="34" charset="0"/>
                <a:ea typeface="Inter" pitchFamily="34" charset="-122"/>
                <a:cs typeface="Inter" pitchFamily="34" charset="-120"/>
              </a:rPr>
              <a:t>This window is now. </a:t>
            </a:r>
            <a:pPr algn="l" indent="0" marL="0">
              <a:buNone/>
            </a:pPr>
            <a:r>
              <a:rPr lang="en-US" sz="1300" b="1" dirty="0">
                <a:solidFill>
                  <a:srgbClr val="B4ACEF"/>
                </a:solidFill>
                <a:latin typeface="Inter" pitchFamily="34" charset="0"/>
                <a:ea typeface="Inter" pitchFamily="34" charset="-122"/>
                <a:cs typeface="Inter" pitchFamily="34" charset="-120"/>
              </a:rPr>
              <a:t>The infrastructure layer is unowned.</a:t>
            </a:r>
            <a:endParaRPr lang="en-US" sz="1300" dirty="0"/>
          </a:p>
        </p:txBody>
      </p:sp>
      <p:sp>
        <p:nvSpPr>
          <p:cNvPr id="46" name="Shape 44"/>
          <p:cNvSpPr/>
          <p:nvPr/>
        </p:nvSpPr>
        <p:spPr>
          <a:xfrm>
            <a:off x="502920" y="6263640"/>
            <a:ext cx="11185855" cy="0"/>
          </a:xfrm>
          <a:prstGeom prst="line">
            <a:avLst/>
          </a:prstGeom>
          <a:noFill/>
          <a:ln w="6350">
            <a:solidFill>
              <a:srgbClr val="26305A"/>
            </a:solidFill>
            <a:prstDash val="solid"/>
          </a:ln>
        </p:spPr>
      </p:sp>
      <p:sp>
        <p:nvSpPr>
          <p:cNvPr id="47" name="Text 45"/>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B4ACEF"/>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48" name="Text 46"/>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B4ACEF"/>
                </a:solidFill>
                <a:latin typeface="JetBrains Mono" pitchFamily="34" charset="0"/>
                <a:ea typeface="JetBrains Mono" pitchFamily="34" charset="-122"/>
                <a:cs typeface="JetBrains Mono" pitchFamily="34" charset="-120"/>
              </a:rPr>
              <a:t>05  /  28</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06  ·  PRODUCT FLOW</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From wizard to live. </a:t>
            </a:r>
            <a:pPr algn="l" indent="0" marL="0">
              <a:buNone/>
            </a:pPr>
            <a:r>
              <a:rPr lang="en-US" sz="3600" b="1" dirty="0">
                <a:solidFill>
                  <a:srgbClr val="5040E5"/>
                </a:solidFill>
                <a:latin typeface="Inter" pitchFamily="34" charset="0"/>
                <a:ea typeface="Inter" pitchFamily="34" charset="-122"/>
                <a:cs typeface="Inter" pitchFamily="34" charset="-120"/>
              </a:rPr>
              <a:t>One sitting.</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Start: founder runs the website wizard while chatting with the AI. Output: live URL + repo + an AI_CONTEXT.md handoff. Then the AI pushes; we redeploy.</a:t>
            </a:r>
            <a:endParaRPr lang="en-US" sz="1550" dirty="0"/>
          </a:p>
        </p:txBody>
      </p:sp>
      <p:sp>
        <p:nvSpPr>
          <p:cNvPr id="9" name="Shape 7"/>
          <p:cNvSpPr/>
          <p:nvPr/>
        </p:nvSpPr>
        <p:spPr>
          <a:xfrm>
            <a:off x="502920" y="2697480"/>
            <a:ext cx="3606698" cy="1623060"/>
          </a:xfrm>
          <a:prstGeom prst="roundRect">
            <a:avLst>
              <a:gd name="adj" fmla="val 6761"/>
            </a:avLst>
          </a:prstGeom>
          <a:solidFill>
            <a:srgbClr val="FFFFFF"/>
          </a:solidFill>
          <a:ln w="9525">
            <a:solidFill>
              <a:srgbClr val="E2E0F0"/>
            </a:solidFill>
            <a:prstDash val="solid"/>
          </a:ln>
        </p:spPr>
      </p:sp>
      <p:sp>
        <p:nvSpPr>
          <p:cNvPr id="10" name="Text 8"/>
          <p:cNvSpPr/>
          <p:nvPr/>
        </p:nvSpPr>
        <p:spPr>
          <a:xfrm>
            <a:off x="685800" y="2807208"/>
            <a:ext cx="324093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01 · WIZARD AT /START</a:t>
            </a:r>
            <a:endParaRPr lang="en-US" sz="1050" dirty="0"/>
          </a:p>
        </p:txBody>
      </p:sp>
      <p:sp>
        <p:nvSpPr>
          <p:cNvPr id="11" name="Text 9"/>
          <p:cNvSpPr/>
          <p:nvPr/>
        </p:nvSpPr>
        <p:spPr>
          <a:xfrm>
            <a:off x="685800" y="3044952"/>
            <a:ext cx="3240938" cy="292608"/>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Founder kicks it off.</a:t>
            </a:r>
            <a:endParaRPr lang="en-US" sz="1350" dirty="0"/>
          </a:p>
        </p:txBody>
      </p:sp>
      <p:sp>
        <p:nvSpPr>
          <p:cNvPr id="12" name="Shape 10"/>
          <p:cNvSpPr/>
          <p:nvPr/>
        </p:nvSpPr>
        <p:spPr>
          <a:xfrm>
            <a:off x="685800" y="3410712"/>
            <a:ext cx="3240938" cy="800100"/>
          </a:xfrm>
          <a:prstGeom prst="roundRect">
            <a:avLst>
              <a:gd name="adj" fmla="val 13714"/>
            </a:avLst>
          </a:prstGeom>
          <a:solidFill>
            <a:srgbClr val="0B0E1F"/>
          </a:solidFill>
          <a:ln/>
        </p:spPr>
      </p:sp>
      <p:sp>
        <p:nvSpPr>
          <p:cNvPr id="13" name="Text 11"/>
          <p:cNvSpPr/>
          <p:nvPr/>
        </p:nvSpPr>
        <p:spPr>
          <a:xfrm>
            <a:off x="960120" y="3639312"/>
            <a:ext cx="2692298" cy="388620"/>
          </a:xfrm>
          <a:prstGeom prst="rect">
            <a:avLst/>
          </a:prstGeom>
          <a:noFill/>
          <a:ln/>
        </p:spPr>
        <p:txBody>
          <a:bodyPr wrap="square" lIns="0" tIns="0" rIns="0" bIns="0" rtlCol="0" anchor="t"/>
          <a:lstStyle/>
          <a:p>
            <a:pPr algn="l" indent="0" marL="0">
              <a:buNone/>
            </a:pPr>
            <a:r>
              <a:rPr lang="en-US" sz="900" dirty="0">
                <a:solidFill>
                  <a:srgbClr val="B4ACEF"/>
                </a:solidFill>
                <a:latin typeface="JetBrains Mono" pitchFamily="34" charset="0"/>
                <a:ea typeface="JetBrains Mono" pitchFamily="34" charset="-122"/>
                <a:cs typeface="JetBrains Mono" pitchFamily="34" charset="-120"/>
              </a:rPr>
              <a:t>hatchik.com/start
</a:t>
            </a:r>
            <a:pPr algn="l" indent="0" marL="0">
              <a:buNone/>
            </a:pPr>
            <a:r>
              <a:rPr lang="en-US" sz="900" dirty="0">
                <a:solidFill>
                  <a:srgbClr val="FFFFFF"/>
                </a:solidFill>
                <a:latin typeface="JetBrains Mono" pitchFamily="34" charset="0"/>
                <a:ea typeface="JetBrains Mono" pitchFamily="34" charset="-122"/>
                <a:cs typeface="JetBrains Mono" pitchFamily="34" charset="-120"/>
              </a:rPr>
              <a:t>idea › PrepSheet —
</a:t>
            </a:r>
            <a:pPr algn="l" indent="0" marL="0">
              <a:buNone/>
            </a:pPr>
            <a:r>
              <a:rPr lang="en-US" sz="900" dirty="0">
                <a:solidFill>
                  <a:srgbClr val="FFFFFF"/>
                </a:solidFill>
                <a:latin typeface="JetBrains Mono" pitchFamily="34" charset="0"/>
                <a:ea typeface="JetBrains Mono" pitchFamily="34" charset="-122"/>
                <a:cs typeface="JetBrains Mono" pitchFamily="34" charset="-120"/>
              </a:rPr>
              <a:t>       meals for PT clients
</a:t>
            </a:r>
            <a:pPr algn="l" indent="0" marL="0">
              <a:buNone/>
            </a:pPr>
            <a:r>
              <a:rPr lang="en-US" sz="900" dirty="0">
                <a:solidFill>
                  <a:srgbClr val="10B981"/>
                </a:solidFill>
                <a:latin typeface="JetBrains Mono" pitchFamily="34" charset="0"/>
                <a:ea typeface="JetBrains Mono" pitchFamily="34" charset="-122"/>
                <a:cs typeface="JetBrains Mono" pitchFamily="34" charset="-120"/>
              </a:rPr>
              <a:t>plan › Sandbox (free)
</a:t>
            </a:r>
            <a:pPr algn="l" indent="0" marL="0">
              <a:buNone/>
            </a:pPr>
            <a:r>
              <a:rPr lang="en-US" sz="900" b="1" dirty="0">
                <a:solidFill>
                  <a:srgbClr val="B4ACEF"/>
                </a:solidFill>
                <a:latin typeface="JetBrains Mono" pitchFamily="34" charset="0"/>
                <a:ea typeface="JetBrains Mono" pitchFamily="34" charset="-122"/>
                <a:cs typeface="JetBrains Mono" pitchFamily="34" charset="-120"/>
              </a:rPr>
              <a:t>[ Start → ]
</a:t>
            </a:r>
            <a:endParaRPr lang="en-US" sz="900" dirty="0"/>
          </a:p>
        </p:txBody>
      </p:sp>
      <p:sp>
        <p:nvSpPr>
          <p:cNvPr id="14" name="Shape 12"/>
          <p:cNvSpPr/>
          <p:nvPr/>
        </p:nvSpPr>
        <p:spPr>
          <a:xfrm>
            <a:off x="502920" y="4457700"/>
            <a:ext cx="3606698" cy="1623060"/>
          </a:xfrm>
          <a:prstGeom prst="roundRect">
            <a:avLst>
              <a:gd name="adj" fmla="val 6761"/>
            </a:avLst>
          </a:prstGeom>
          <a:solidFill>
            <a:srgbClr val="FFFFFF"/>
          </a:solidFill>
          <a:ln w="9525">
            <a:solidFill>
              <a:srgbClr val="E2E0F0"/>
            </a:solidFill>
            <a:prstDash val="solid"/>
          </a:ln>
        </p:spPr>
      </p:sp>
      <p:sp>
        <p:nvSpPr>
          <p:cNvPr id="15" name="Text 13"/>
          <p:cNvSpPr/>
          <p:nvPr/>
        </p:nvSpPr>
        <p:spPr>
          <a:xfrm>
            <a:off x="685800" y="4567428"/>
            <a:ext cx="324093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01b · AI CONVERSATION</a:t>
            </a:r>
            <a:endParaRPr lang="en-US" sz="1050" dirty="0"/>
          </a:p>
        </p:txBody>
      </p:sp>
      <p:sp>
        <p:nvSpPr>
          <p:cNvPr id="16" name="Text 14"/>
          <p:cNvSpPr/>
          <p:nvPr/>
        </p:nvSpPr>
        <p:spPr>
          <a:xfrm>
            <a:off x="685800" y="4805172"/>
            <a:ext cx="3240938" cy="292608"/>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In their AI tool.</a:t>
            </a:r>
            <a:endParaRPr lang="en-US" sz="1350" dirty="0"/>
          </a:p>
        </p:txBody>
      </p:sp>
      <p:sp>
        <p:nvSpPr>
          <p:cNvPr id="17" name="Shape 15"/>
          <p:cNvSpPr/>
          <p:nvPr/>
        </p:nvSpPr>
        <p:spPr>
          <a:xfrm>
            <a:off x="685800" y="5170932"/>
            <a:ext cx="3240938" cy="800100"/>
          </a:xfrm>
          <a:prstGeom prst="roundRect">
            <a:avLst>
              <a:gd name="adj" fmla="val 13714"/>
            </a:avLst>
          </a:prstGeom>
          <a:solidFill>
            <a:srgbClr val="0B0E1F"/>
          </a:solidFill>
          <a:ln/>
        </p:spPr>
      </p:sp>
      <p:sp>
        <p:nvSpPr>
          <p:cNvPr id="18" name="Text 16"/>
          <p:cNvSpPr/>
          <p:nvPr/>
        </p:nvSpPr>
        <p:spPr>
          <a:xfrm>
            <a:off x="960120" y="5399532"/>
            <a:ext cx="2692298" cy="388620"/>
          </a:xfrm>
          <a:prstGeom prst="rect">
            <a:avLst/>
          </a:prstGeom>
          <a:noFill/>
          <a:ln/>
        </p:spPr>
        <p:txBody>
          <a:bodyPr wrap="square" lIns="0" tIns="0" rIns="0" bIns="0" rtlCol="0" anchor="t"/>
          <a:lstStyle/>
          <a:p>
            <a:pPr algn="l" indent="0" marL="0">
              <a:buNone/>
            </a:pPr>
            <a:r>
              <a:rPr lang="en-US" sz="900" dirty="0">
                <a:solidFill>
                  <a:srgbClr val="B4ACEF"/>
                </a:solidFill>
                <a:latin typeface="JetBrains Mono" pitchFamily="34" charset="0"/>
                <a:ea typeface="JetBrains Mono" pitchFamily="34" charset="-122"/>
                <a:cs typeface="JetBrains Mono" pitchFamily="34" charset="-120"/>
              </a:rPr>
              <a:t>claude · MCP connected
</a:t>
            </a:r>
            <a:pPr algn="l" indent="0" marL="0">
              <a:buNone/>
            </a:pPr>
            <a:r>
              <a:rPr lang="en-US" sz="900" dirty="0">
                <a:solidFill>
                  <a:srgbClr val="FFFFFF"/>
                </a:solidFill>
                <a:latin typeface="JetBrains Mono" pitchFamily="34" charset="0"/>
                <a:ea typeface="JetBrains Mono" pitchFamily="34" charset="-122"/>
                <a:cs typeface="JetBrains Mono" pitchFamily="34" charset="-120"/>
              </a:rPr>
              <a:t>you › build meal-builder
</a:t>
            </a:r>
            <a:pPr algn="l" indent="0" marL="0">
              <a:buNone/>
            </a:pPr>
            <a:r>
              <a:rPr lang="en-US" sz="900" dirty="0">
                <a:solidFill>
                  <a:srgbClr val="10B981"/>
                </a:solidFill>
                <a:latin typeface="JetBrains Mono" pitchFamily="34" charset="0"/>
                <a:ea typeface="JetBrains Mono" pitchFamily="34" charset="-122"/>
                <a:cs typeface="JetBrains Mono" pitchFamily="34" charset="-120"/>
              </a:rPr>
              <a:t>claude › reading AI_CONTEXT…
</a:t>
            </a:r>
            <a:pPr algn="l" indent="0" marL="0">
              <a:buNone/>
            </a:pPr>
            <a:r>
              <a:rPr lang="en-US" sz="900" dirty="0">
                <a:solidFill>
                  <a:srgbClr val="FFFFFF"/>
                </a:solidFill>
                <a:latin typeface="JetBrains Mono" pitchFamily="34" charset="0"/>
                <a:ea typeface="JetBrains Mono" pitchFamily="34" charset="-122"/>
                <a:cs typeface="JetBrains Mono" pitchFamily="34" charset="-120"/>
              </a:rPr>
              <a:t>claude › apps/web/...
</a:t>
            </a:r>
            <a:pPr algn="l" indent="0" marL="0">
              <a:buNone/>
            </a:pPr>
            <a:r>
              <a:rPr lang="en-US" sz="900" dirty="0">
                <a:solidFill>
                  <a:srgbClr val="FFFFFF"/>
                </a:solidFill>
                <a:latin typeface="JetBrains Mono" pitchFamily="34" charset="0"/>
                <a:ea typeface="JetBrains Mono" pitchFamily="34" charset="-122"/>
                <a:cs typeface="JetBrains Mono" pitchFamily="34" charset="-120"/>
              </a:rPr>
              <a:t>         feed-builder.tsx
</a:t>
            </a:r>
            <a:endParaRPr lang="en-US" sz="900" dirty="0"/>
          </a:p>
        </p:txBody>
      </p:sp>
      <p:sp>
        <p:nvSpPr>
          <p:cNvPr id="19" name="Shape 17"/>
          <p:cNvSpPr/>
          <p:nvPr/>
        </p:nvSpPr>
        <p:spPr>
          <a:xfrm>
            <a:off x="4292498" y="2697480"/>
            <a:ext cx="3606698" cy="3383280"/>
          </a:xfrm>
          <a:prstGeom prst="roundRect">
            <a:avLst>
              <a:gd name="adj" fmla="val 3243"/>
            </a:avLst>
          </a:prstGeom>
          <a:solidFill>
            <a:srgbClr val="F0EDFC"/>
          </a:solidFill>
          <a:ln w="9525">
            <a:solidFill>
              <a:srgbClr val="E8E5FB"/>
            </a:solidFill>
            <a:prstDash val="solid"/>
          </a:ln>
        </p:spPr>
      </p:sp>
      <p:sp>
        <p:nvSpPr>
          <p:cNvPr id="20" name="Text 18"/>
          <p:cNvSpPr/>
          <p:nvPr/>
        </p:nvSpPr>
        <p:spPr>
          <a:xfrm>
            <a:off x="4475378" y="2834640"/>
            <a:ext cx="324093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02 · SANDBOX LIVE  ·  ~60S</a:t>
            </a:r>
            <a:endParaRPr lang="en-US" sz="1050" dirty="0"/>
          </a:p>
        </p:txBody>
      </p:sp>
      <p:sp>
        <p:nvSpPr>
          <p:cNvPr id="21" name="Text 19"/>
          <p:cNvSpPr/>
          <p:nvPr/>
        </p:nvSpPr>
        <p:spPr>
          <a:xfrm>
            <a:off x="4475378" y="3081528"/>
            <a:ext cx="3240938" cy="329184"/>
          </a:xfrm>
          <a:prstGeom prst="rect">
            <a:avLst/>
          </a:prstGeom>
          <a:noFill/>
          <a:ln/>
        </p:spPr>
        <p:txBody>
          <a:bodyPr wrap="square" lIns="0" tIns="0" rIns="0" bIns="0" rtlCol="0" anchor="t"/>
          <a:lstStyle/>
          <a:p>
            <a:pPr algn="l" indent="0" marL="0">
              <a:buNone/>
            </a:pPr>
            <a:r>
              <a:rPr lang="en-US" sz="1450" b="1" dirty="0">
                <a:solidFill>
                  <a:srgbClr val="0F172A"/>
                </a:solidFill>
                <a:latin typeface="Inter" pitchFamily="34" charset="0"/>
                <a:ea typeface="Inter" pitchFamily="34" charset="-122"/>
                <a:cs typeface="Inter" pitchFamily="34" charset="-120"/>
              </a:rPr>
              <a:t>What they get.</a:t>
            </a:r>
            <a:endParaRPr lang="en-US" sz="1450" dirty="0"/>
          </a:p>
        </p:txBody>
      </p:sp>
      <p:sp>
        <p:nvSpPr>
          <p:cNvPr id="22" name="Text 20"/>
          <p:cNvSpPr/>
          <p:nvPr/>
        </p:nvSpPr>
        <p:spPr>
          <a:xfrm>
            <a:off x="4475378" y="3566160"/>
            <a:ext cx="320040" cy="346166"/>
          </a:xfrm>
          <a:prstGeom prst="rect">
            <a:avLst/>
          </a:prstGeom>
          <a:noFill/>
          <a:ln/>
        </p:spPr>
        <p:txBody>
          <a:bodyPr wrap="square" lIns="0" tIns="0" rIns="0" bIns="0" rtlCol="0" anchor="ctr"/>
          <a:lstStyle/>
          <a:p>
            <a:pPr algn="ctr" indent="0" marL="0">
              <a:buNone/>
            </a:pPr>
            <a:r>
              <a:rPr lang="en-US" sz="1400" dirty="0">
                <a:solidFill>
                  <a:srgbClr val="0F172A"/>
                </a:solidFill>
                <a:latin typeface="Inter" pitchFamily="34" charset="0"/>
                <a:ea typeface="Inter" pitchFamily="34" charset="-122"/>
                <a:cs typeface="Inter" pitchFamily="34" charset="-120"/>
              </a:rPr>
              <a:t>🌐</a:t>
            </a:r>
            <a:endParaRPr lang="en-US" sz="1400" dirty="0"/>
          </a:p>
        </p:txBody>
      </p:sp>
      <p:sp>
        <p:nvSpPr>
          <p:cNvPr id="23" name="Text 21"/>
          <p:cNvSpPr/>
          <p:nvPr/>
        </p:nvSpPr>
        <p:spPr>
          <a:xfrm>
            <a:off x="4795418" y="3584448"/>
            <a:ext cx="2920898" cy="173083"/>
          </a:xfrm>
          <a:prstGeom prst="rect">
            <a:avLst/>
          </a:prstGeom>
          <a:noFill/>
          <a:ln/>
        </p:spPr>
        <p:txBody>
          <a:bodyPr wrap="square" lIns="0" tIns="0" rIns="0" bIns="0" rtlCol="0" anchor="ctr"/>
          <a:lstStyle/>
          <a:p>
            <a:pPr algn="l" indent="0" marL="0">
              <a:buNone/>
            </a:pPr>
            <a:r>
              <a:rPr lang="en-US" sz="1050" b="1" dirty="0">
                <a:solidFill>
                  <a:srgbClr val="0F172A"/>
                </a:solidFill>
                <a:latin typeface="Inter" pitchFamily="34" charset="0"/>
                <a:ea typeface="Inter" pitchFamily="34" charset="-122"/>
                <a:cs typeface="Inter" pitchFamily="34" charset="-120"/>
              </a:rPr>
              <a:t>Live URL</a:t>
            </a:r>
            <a:endParaRPr lang="en-US" sz="1050" dirty="0"/>
          </a:p>
        </p:txBody>
      </p:sp>
      <p:sp>
        <p:nvSpPr>
          <p:cNvPr id="24" name="Text 22"/>
          <p:cNvSpPr/>
          <p:nvPr/>
        </p:nvSpPr>
        <p:spPr>
          <a:xfrm>
            <a:off x="4795418" y="3721935"/>
            <a:ext cx="2920898" cy="173083"/>
          </a:xfrm>
          <a:prstGeom prst="rect">
            <a:avLst/>
          </a:prstGeom>
          <a:noFill/>
          <a:ln/>
        </p:spPr>
        <p:txBody>
          <a:bodyPr wrap="square" lIns="0" tIns="0" rIns="0" bIns="0" rtlCol="0" anchor="ctr"/>
          <a:lstStyle/>
          <a:p>
            <a:pPr algn="l" indent="0" marL="0">
              <a:buNone/>
            </a:pPr>
            <a:r>
              <a:rPr lang="en-US" sz="850" dirty="0">
                <a:solidFill>
                  <a:srgbClr val="475569"/>
                </a:solidFill>
                <a:latin typeface="Inter" pitchFamily="34" charset="0"/>
                <a:ea typeface="Inter" pitchFamily="34" charset="-122"/>
                <a:cs typeface="Inter" pitchFamily="34" charset="-120"/>
              </a:rPr>
              <a:t>prepsheet.hatchik.com · TLS</a:t>
            </a:r>
            <a:endParaRPr lang="en-US" sz="850" dirty="0"/>
          </a:p>
        </p:txBody>
      </p:sp>
      <p:sp>
        <p:nvSpPr>
          <p:cNvPr id="25" name="Text 23"/>
          <p:cNvSpPr/>
          <p:nvPr/>
        </p:nvSpPr>
        <p:spPr>
          <a:xfrm>
            <a:off x="4475378" y="3912326"/>
            <a:ext cx="320040" cy="346166"/>
          </a:xfrm>
          <a:prstGeom prst="rect">
            <a:avLst/>
          </a:prstGeom>
          <a:noFill/>
          <a:ln/>
        </p:spPr>
        <p:txBody>
          <a:bodyPr wrap="square" lIns="0" tIns="0" rIns="0" bIns="0" rtlCol="0" anchor="ctr"/>
          <a:lstStyle/>
          <a:p>
            <a:pPr algn="ctr" indent="0" marL="0">
              <a:buNone/>
            </a:pPr>
            <a:r>
              <a:rPr lang="en-US" sz="1400" dirty="0">
                <a:solidFill>
                  <a:srgbClr val="0F172A"/>
                </a:solidFill>
                <a:latin typeface="Inter" pitchFamily="34" charset="0"/>
                <a:ea typeface="Inter" pitchFamily="34" charset="-122"/>
                <a:cs typeface="Inter" pitchFamily="34" charset="-120"/>
              </a:rPr>
              <a:t>🔐</a:t>
            </a:r>
            <a:endParaRPr lang="en-US" sz="1400" dirty="0"/>
          </a:p>
        </p:txBody>
      </p:sp>
      <p:sp>
        <p:nvSpPr>
          <p:cNvPr id="26" name="Text 24"/>
          <p:cNvSpPr/>
          <p:nvPr/>
        </p:nvSpPr>
        <p:spPr>
          <a:xfrm>
            <a:off x="4795418" y="3930614"/>
            <a:ext cx="2920898" cy="173083"/>
          </a:xfrm>
          <a:prstGeom prst="rect">
            <a:avLst/>
          </a:prstGeom>
          <a:noFill/>
          <a:ln/>
        </p:spPr>
        <p:txBody>
          <a:bodyPr wrap="square" lIns="0" tIns="0" rIns="0" bIns="0" rtlCol="0" anchor="ctr"/>
          <a:lstStyle/>
          <a:p>
            <a:pPr algn="l" indent="0" marL="0">
              <a:buNone/>
            </a:pPr>
            <a:r>
              <a:rPr lang="en-US" sz="1050" b="1" dirty="0">
                <a:solidFill>
                  <a:srgbClr val="0F172A"/>
                </a:solidFill>
                <a:latin typeface="Inter" pitchFamily="34" charset="0"/>
                <a:ea typeface="Inter" pitchFamily="34" charset="-122"/>
                <a:cs typeface="Inter" pitchFamily="34" charset="-120"/>
              </a:rPr>
              <a:t>Auth + sign-up</a:t>
            </a:r>
            <a:endParaRPr lang="en-US" sz="1050" dirty="0"/>
          </a:p>
        </p:txBody>
      </p:sp>
      <p:sp>
        <p:nvSpPr>
          <p:cNvPr id="27" name="Text 25"/>
          <p:cNvSpPr/>
          <p:nvPr/>
        </p:nvSpPr>
        <p:spPr>
          <a:xfrm>
            <a:off x="4795418" y="4068100"/>
            <a:ext cx="2920898" cy="173083"/>
          </a:xfrm>
          <a:prstGeom prst="rect">
            <a:avLst/>
          </a:prstGeom>
          <a:noFill/>
          <a:ln/>
        </p:spPr>
        <p:txBody>
          <a:bodyPr wrap="square" lIns="0" tIns="0" rIns="0" bIns="0" rtlCol="0" anchor="ctr"/>
          <a:lstStyle/>
          <a:p>
            <a:pPr algn="l" indent="0" marL="0">
              <a:buNone/>
            </a:pPr>
            <a:r>
              <a:rPr lang="en-US" sz="850" dirty="0">
                <a:solidFill>
                  <a:srgbClr val="475569"/>
                </a:solidFill>
                <a:latin typeface="Inter" pitchFamily="34" charset="0"/>
                <a:ea typeface="Inter" pitchFamily="34" charset="-122"/>
                <a:cs typeface="Inter" pitchFamily="34" charset="-120"/>
              </a:rPr>
              <a:t>Magic-link + email verify</a:t>
            </a:r>
            <a:endParaRPr lang="en-US" sz="850" dirty="0"/>
          </a:p>
        </p:txBody>
      </p:sp>
      <p:sp>
        <p:nvSpPr>
          <p:cNvPr id="28" name="Text 26"/>
          <p:cNvSpPr/>
          <p:nvPr/>
        </p:nvSpPr>
        <p:spPr>
          <a:xfrm>
            <a:off x="4475378" y="4258491"/>
            <a:ext cx="320040" cy="346166"/>
          </a:xfrm>
          <a:prstGeom prst="rect">
            <a:avLst/>
          </a:prstGeom>
          <a:noFill/>
          <a:ln/>
        </p:spPr>
        <p:txBody>
          <a:bodyPr wrap="square" lIns="0" tIns="0" rIns="0" bIns="0" rtlCol="0" anchor="ctr"/>
          <a:lstStyle/>
          <a:p>
            <a:pPr algn="ctr" indent="0" marL="0">
              <a:buNone/>
            </a:pPr>
            <a:r>
              <a:rPr lang="en-US" sz="1400" dirty="0">
                <a:solidFill>
                  <a:srgbClr val="0F172A"/>
                </a:solidFill>
                <a:latin typeface="Inter" pitchFamily="34" charset="0"/>
                <a:ea typeface="Inter" pitchFamily="34" charset="-122"/>
                <a:cs typeface="Inter" pitchFamily="34" charset="-120"/>
              </a:rPr>
              <a:t>🗄</a:t>
            </a:r>
            <a:endParaRPr lang="en-US" sz="1400" dirty="0"/>
          </a:p>
        </p:txBody>
      </p:sp>
      <p:sp>
        <p:nvSpPr>
          <p:cNvPr id="29" name="Text 27"/>
          <p:cNvSpPr/>
          <p:nvPr/>
        </p:nvSpPr>
        <p:spPr>
          <a:xfrm>
            <a:off x="4795418" y="4276779"/>
            <a:ext cx="2920898" cy="173083"/>
          </a:xfrm>
          <a:prstGeom prst="rect">
            <a:avLst/>
          </a:prstGeom>
          <a:noFill/>
          <a:ln/>
        </p:spPr>
        <p:txBody>
          <a:bodyPr wrap="square" lIns="0" tIns="0" rIns="0" bIns="0" rtlCol="0" anchor="ctr"/>
          <a:lstStyle/>
          <a:p>
            <a:pPr algn="l" indent="0" marL="0">
              <a:buNone/>
            </a:pPr>
            <a:r>
              <a:rPr lang="en-US" sz="1050" b="1" dirty="0">
                <a:solidFill>
                  <a:srgbClr val="0F172A"/>
                </a:solidFill>
                <a:latin typeface="Inter" pitchFamily="34" charset="0"/>
                <a:ea typeface="Inter" pitchFamily="34" charset="-122"/>
                <a:cs typeface="Inter" pitchFamily="34" charset="-120"/>
              </a:rPr>
              <a:t>Database</a:t>
            </a:r>
            <a:endParaRPr lang="en-US" sz="1050" dirty="0"/>
          </a:p>
        </p:txBody>
      </p:sp>
      <p:sp>
        <p:nvSpPr>
          <p:cNvPr id="30" name="Text 28"/>
          <p:cNvSpPr/>
          <p:nvPr/>
        </p:nvSpPr>
        <p:spPr>
          <a:xfrm>
            <a:off x="4795418" y="4414266"/>
            <a:ext cx="2920898" cy="173083"/>
          </a:xfrm>
          <a:prstGeom prst="rect">
            <a:avLst/>
          </a:prstGeom>
          <a:noFill/>
          <a:ln/>
        </p:spPr>
        <p:txBody>
          <a:bodyPr wrap="square" lIns="0" tIns="0" rIns="0" bIns="0" rtlCol="0" anchor="ctr"/>
          <a:lstStyle/>
          <a:p>
            <a:pPr algn="l" indent="0" marL="0">
              <a:buNone/>
            </a:pPr>
            <a:r>
              <a:rPr lang="en-US" sz="850" dirty="0">
                <a:solidFill>
                  <a:srgbClr val="475569"/>
                </a:solidFill>
                <a:latin typeface="Inter" pitchFamily="34" charset="0"/>
                <a:ea typeface="Inter" pitchFamily="34" charset="-122"/>
                <a:cs typeface="Inter" pitchFamily="34" charset="-120"/>
              </a:rPr>
              <a:t>Postgres + nightly backups</a:t>
            </a:r>
            <a:endParaRPr lang="en-US" sz="850" dirty="0"/>
          </a:p>
        </p:txBody>
      </p:sp>
      <p:sp>
        <p:nvSpPr>
          <p:cNvPr id="31" name="Text 29"/>
          <p:cNvSpPr/>
          <p:nvPr/>
        </p:nvSpPr>
        <p:spPr>
          <a:xfrm>
            <a:off x="4475378" y="4604657"/>
            <a:ext cx="320040" cy="346166"/>
          </a:xfrm>
          <a:prstGeom prst="rect">
            <a:avLst/>
          </a:prstGeom>
          <a:noFill/>
          <a:ln/>
        </p:spPr>
        <p:txBody>
          <a:bodyPr wrap="square" lIns="0" tIns="0" rIns="0" bIns="0" rtlCol="0" anchor="ctr"/>
          <a:lstStyle/>
          <a:p>
            <a:pPr algn="ctr" indent="0" marL="0">
              <a:buNone/>
            </a:pPr>
            <a:r>
              <a:rPr lang="en-US" sz="1400" dirty="0">
                <a:solidFill>
                  <a:srgbClr val="0F172A"/>
                </a:solidFill>
                <a:latin typeface="Inter" pitchFamily="34" charset="0"/>
                <a:ea typeface="Inter" pitchFamily="34" charset="-122"/>
                <a:cs typeface="Inter" pitchFamily="34" charset="-120"/>
              </a:rPr>
              <a:t>✉</a:t>
            </a:r>
            <a:endParaRPr lang="en-US" sz="1400" dirty="0"/>
          </a:p>
        </p:txBody>
      </p:sp>
      <p:sp>
        <p:nvSpPr>
          <p:cNvPr id="32" name="Text 30"/>
          <p:cNvSpPr/>
          <p:nvPr/>
        </p:nvSpPr>
        <p:spPr>
          <a:xfrm>
            <a:off x="4795418" y="4622945"/>
            <a:ext cx="2920898" cy="173083"/>
          </a:xfrm>
          <a:prstGeom prst="rect">
            <a:avLst/>
          </a:prstGeom>
          <a:noFill/>
          <a:ln/>
        </p:spPr>
        <p:txBody>
          <a:bodyPr wrap="square" lIns="0" tIns="0" rIns="0" bIns="0" rtlCol="0" anchor="ctr"/>
          <a:lstStyle/>
          <a:p>
            <a:pPr algn="l" indent="0" marL="0">
              <a:buNone/>
            </a:pPr>
            <a:r>
              <a:rPr lang="en-US" sz="1050" b="1" dirty="0">
                <a:solidFill>
                  <a:srgbClr val="0F172A"/>
                </a:solidFill>
                <a:latin typeface="Inter" pitchFamily="34" charset="0"/>
                <a:ea typeface="Inter" pitchFamily="34" charset="-122"/>
                <a:cs typeface="Inter" pitchFamily="34" charset="-120"/>
              </a:rPr>
              <a:t>Mailbox</a:t>
            </a:r>
            <a:endParaRPr lang="en-US" sz="1050" dirty="0"/>
          </a:p>
        </p:txBody>
      </p:sp>
      <p:sp>
        <p:nvSpPr>
          <p:cNvPr id="33" name="Text 31"/>
          <p:cNvSpPr/>
          <p:nvPr/>
        </p:nvSpPr>
        <p:spPr>
          <a:xfrm>
            <a:off x="4795418" y="4760432"/>
            <a:ext cx="2920898" cy="173083"/>
          </a:xfrm>
          <a:prstGeom prst="rect">
            <a:avLst/>
          </a:prstGeom>
          <a:noFill/>
          <a:ln/>
        </p:spPr>
        <p:txBody>
          <a:bodyPr wrap="square" lIns="0" tIns="0" rIns="0" bIns="0" rtlCol="0" anchor="ctr"/>
          <a:lstStyle/>
          <a:p>
            <a:pPr algn="l" indent="0" marL="0">
              <a:buNone/>
            </a:pPr>
            <a:r>
              <a:rPr lang="en-US" sz="850" dirty="0">
                <a:solidFill>
                  <a:srgbClr val="475569"/>
                </a:solidFill>
                <a:latin typeface="Inter" pitchFamily="34" charset="0"/>
                <a:ea typeface="Inter" pitchFamily="34" charset="-122"/>
                <a:cs typeface="Inter" pitchFamily="34" charset="-120"/>
              </a:rPr>
              <a:t>alex@prepsheet.app, DKIM</a:t>
            </a:r>
            <a:endParaRPr lang="en-US" sz="850" dirty="0"/>
          </a:p>
        </p:txBody>
      </p:sp>
      <p:sp>
        <p:nvSpPr>
          <p:cNvPr id="34" name="Text 32"/>
          <p:cNvSpPr/>
          <p:nvPr/>
        </p:nvSpPr>
        <p:spPr>
          <a:xfrm>
            <a:off x="4475378" y="4950823"/>
            <a:ext cx="320040" cy="346166"/>
          </a:xfrm>
          <a:prstGeom prst="rect">
            <a:avLst/>
          </a:prstGeom>
          <a:noFill/>
          <a:ln/>
        </p:spPr>
        <p:txBody>
          <a:bodyPr wrap="square" lIns="0" tIns="0" rIns="0" bIns="0" rtlCol="0" anchor="ctr"/>
          <a:lstStyle/>
          <a:p>
            <a:pPr algn="ctr" indent="0" marL="0">
              <a:buNone/>
            </a:pPr>
            <a:r>
              <a:rPr lang="en-US" sz="1400" dirty="0">
                <a:solidFill>
                  <a:srgbClr val="0F172A"/>
                </a:solidFill>
                <a:latin typeface="Inter" pitchFamily="34" charset="0"/>
                <a:ea typeface="Inter" pitchFamily="34" charset="-122"/>
                <a:cs typeface="Inter" pitchFamily="34" charset="-120"/>
              </a:rPr>
              <a:t>💳</a:t>
            </a:r>
            <a:endParaRPr lang="en-US" sz="1400" dirty="0"/>
          </a:p>
        </p:txBody>
      </p:sp>
      <p:sp>
        <p:nvSpPr>
          <p:cNvPr id="35" name="Text 33"/>
          <p:cNvSpPr/>
          <p:nvPr/>
        </p:nvSpPr>
        <p:spPr>
          <a:xfrm>
            <a:off x="4795418" y="4969111"/>
            <a:ext cx="2920898" cy="173083"/>
          </a:xfrm>
          <a:prstGeom prst="rect">
            <a:avLst/>
          </a:prstGeom>
          <a:noFill/>
          <a:ln/>
        </p:spPr>
        <p:txBody>
          <a:bodyPr wrap="square" lIns="0" tIns="0" rIns="0" bIns="0" rtlCol="0" anchor="ctr"/>
          <a:lstStyle/>
          <a:p>
            <a:pPr algn="l" indent="0" marL="0">
              <a:buNone/>
            </a:pPr>
            <a:r>
              <a:rPr lang="en-US" sz="1050" b="1" dirty="0">
                <a:solidFill>
                  <a:srgbClr val="0F172A"/>
                </a:solidFill>
                <a:latin typeface="Inter" pitchFamily="34" charset="0"/>
                <a:ea typeface="Inter" pitchFamily="34" charset="-122"/>
                <a:cs typeface="Inter" pitchFamily="34" charset="-120"/>
              </a:rPr>
              <a:t>Test payments</a:t>
            </a:r>
            <a:endParaRPr lang="en-US" sz="1050" dirty="0"/>
          </a:p>
        </p:txBody>
      </p:sp>
      <p:sp>
        <p:nvSpPr>
          <p:cNvPr id="36" name="Text 34"/>
          <p:cNvSpPr/>
          <p:nvPr/>
        </p:nvSpPr>
        <p:spPr>
          <a:xfrm>
            <a:off x="4795418" y="5106597"/>
            <a:ext cx="2920898" cy="173083"/>
          </a:xfrm>
          <a:prstGeom prst="rect">
            <a:avLst/>
          </a:prstGeom>
          <a:noFill/>
          <a:ln/>
        </p:spPr>
        <p:txBody>
          <a:bodyPr wrap="square" lIns="0" tIns="0" rIns="0" bIns="0" rtlCol="0" anchor="ctr"/>
          <a:lstStyle/>
          <a:p>
            <a:pPr algn="l" indent="0" marL="0">
              <a:buNone/>
            </a:pPr>
            <a:r>
              <a:rPr lang="en-US" sz="850" dirty="0">
                <a:solidFill>
                  <a:srgbClr val="475569"/>
                </a:solidFill>
                <a:latin typeface="Inter" pitchFamily="34" charset="0"/>
                <a:ea typeface="Inter" pitchFamily="34" charset="-122"/>
                <a:cs typeface="Inter" pitchFamily="34" charset="-120"/>
              </a:rPr>
              <a:t>Stripe sandbox keys</a:t>
            </a:r>
            <a:endParaRPr lang="en-US" sz="850" dirty="0"/>
          </a:p>
        </p:txBody>
      </p:sp>
      <p:sp>
        <p:nvSpPr>
          <p:cNvPr id="37" name="Text 35"/>
          <p:cNvSpPr/>
          <p:nvPr/>
        </p:nvSpPr>
        <p:spPr>
          <a:xfrm>
            <a:off x="4475378" y="5296989"/>
            <a:ext cx="320040" cy="346166"/>
          </a:xfrm>
          <a:prstGeom prst="rect">
            <a:avLst/>
          </a:prstGeom>
          <a:noFill/>
          <a:ln/>
        </p:spPr>
        <p:txBody>
          <a:bodyPr wrap="square" lIns="0" tIns="0" rIns="0" bIns="0" rtlCol="0" anchor="ctr"/>
          <a:lstStyle/>
          <a:p>
            <a:pPr algn="ctr" indent="0" marL="0">
              <a:buNone/>
            </a:pPr>
            <a:r>
              <a:rPr lang="en-US" sz="1400" dirty="0">
                <a:solidFill>
                  <a:srgbClr val="0F172A"/>
                </a:solidFill>
                <a:latin typeface="Inter" pitchFamily="34" charset="0"/>
                <a:ea typeface="Inter" pitchFamily="34" charset="-122"/>
                <a:cs typeface="Inter" pitchFamily="34" charset="-120"/>
              </a:rPr>
              <a:t>📱</a:t>
            </a:r>
            <a:endParaRPr lang="en-US" sz="1400" dirty="0"/>
          </a:p>
        </p:txBody>
      </p:sp>
      <p:sp>
        <p:nvSpPr>
          <p:cNvPr id="38" name="Text 36"/>
          <p:cNvSpPr/>
          <p:nvPr/>
        </p:nvSpPr>
        <p:spPr>
          <a:xfrm>
            <a:off x="4795418" y="5315277"/>
            <a:ext cx="2920898" cy="173083"/>
          </a:xfrm>
          <a:prstGeom prst="rect">
            <a:avLst/>
          </a:prstGeom>
          <a:noFill/>
          <a:ln/>
        </p:spPr>
        <p:txBody>
          <a:bodyPr wrap="square" lIns="0" tIns="0" rIns="0" bIns="0" rtlCol="0" anchor="ctr"/>
          <a:lstStyle/>
          <a:p>
            <a:pPr algn="l" indent="0" marL="0">
              <a:buNone/>
            </a:pPr>
            <a:r>
              <a:rPr lang="en-US" sz="1050" b="1" dirty="0">
                <a:solidFill>
                  <a:srgbClr val="0F172A"/>
                </a:solidFill>
                <a:latin typeface="Inter" pitchFamily="34" charset="0"/>
                <a:ea typeface="Inter" pitchFamily="34" charset="-122"/>
                <a:cs typeface="Inter" pitchFamily="34" charset="-120"/>
              </a:rPr>
              <a:t>Mobile shells</a:t>
            </a:r>
            <a:endParaRPr lang="en-US" sz="1050" dirty="0"/>
          </a:p>
        </p:txBody>
      </p:sp>
      <p:sp>
        <p:nvSpPr>
          <p:cNvPr id="39" name="Text 37"/>
          <p:cNvSpPr/>
          <p:nvPr/>
        </p:nvSpPr>
        <p:spPr>
          <a:xfrm>
            <a:off x="4795418" y="5452763"/>
            <a:ext cx="2920898" cy="173083"/>
          </a:xfrm>
          <a:prstGeom prst="rect">
            <a:avLst/>
          </a:prstGeom>
          <a:noFill/>
          <a:ln/>
        </p:spPr>
        <p:txBody>
          <a:bodyPr wrap="square" lIns="0" tIns="0" rIns="0" bIns="0" rtlCol="0" anchor="ctr"/>
          <a:lstStyle/>
          <a:p>
            <a:pPr algn="l" indent="0" marL="0">
              <a:buNone/>
            </a:pPr>
            <a:r>
              <a:rPr lang="en-US" sz="850" dirty="0">
                <a:solidFill>
                  <a:srgbClr val="475569"/>
                </a:solidFill>
                <a:latin typeface="Inter" pitchFamily="34" charset="0"/>
                <a:ea typeface="Inter" pitchFamily="34" charset="-122"/>
                <a:cs typeface="Inter" pitchFamily="34" charset="-120"/>
              </a:rPr>
              <a:t>iOS + Android, ~8 min</a:t>
            </a:r>
            <a:endParaRPr lang="en-US" sz="850" dirty="0"/>
          </a:p>
        </p:txBody>
      </p:sp>
      <p:sp>
        <p:nvSpPr>
          <p:cNvPr id="40" name="Text 38"/>
          <p:cNvSpPr/>
          <p:nvPr/>
        </p:nvSpPr>
        <p:spPr>
          <a:xfrm>
            <a:off x="4475378" y="5643154"/>
            <a:ext cx="320040" cy="346166"/>
          </a:xfrm>
          <a:prstGeom prst="rect">
            <a:avLst/>
          </a:prstGeom>
          <a:noFill/>
          <a:ln/>
        </p:spPr>
        <p:txBody>
          <a:bodyPr wrap="square" lIns="0" tIns="0" rIns="0" bIns="0" rtlCol="0" anchor="ctr"/>
          <a:lstStyle/>
          <a:p>
            <a:pPr algn="ctr" indent="0" marL="0">
              <a:buNone/>
            </a:pPr>
            <a:r>
              <a:rPr lang="en-US" sz="1400" dirty="0">
                <a:solidFill>
                  <a:srgbClr val="0F172A"/>
                </a:solidFill>
                <a:latin typeface="Inter" pitchFamily="34" charset="0"/>
                <a:ea typeface="Inter" pitchFamily="34" charset="-122"/>
                <a:cs typeface="Inter" pitchFamily="34" charset="-120"/>
              </a:rPr>
              <a:t>✨</a:t>
            </a:r>
            <a:endParaRPr lang="en-US" sz="1400" dirty="0"/>
          </a:p>
        </p:txBody>
      </p:sp>
      <p:sp>
        <p:nvSpPr>
          <p:cNvPr id="41" name="Text 39"/>
          <p:cNvSpPr/>
          <p:nvPr/>
        </p:nvSpPr>
        <p:spPr>
          <a:xfrm>
            <a:off x="4795418" y="5661442"/>
            <a:ext cx="2920898" cy="173083"/>
          </a:xfrm>
          <a:prstGeom prst="rect">
            <a:avLst/>
          </a:prstGeom>
          <a:noFill/>
          <a:ln/>
        </p:spPr>
        <p:txBody>
          <a:bodyPr wrap="square" lIns="0" tIns="0" rIns="0" bIns="0" rtlCol="0" anchor="ctr"/>
          <a:lstStyle/>
          <a:p>
            <a:pPr algn="l" indent="0" marL="0">
              <a:buNone/>
            </a:pPr>
            <a:r>
              <a:rPr lang="en-US" sz="1050" b="1" dirty="0">
                <a:solidFill>
                  <a:srgbClr val="0F172A"/>
                </a:solidFill>
                <a:latin typeface="Inter" pitchFamily="34" charset="0"/>
                <a:ea typeface="Inter" pitchFamily="34" charset="-122"/>
                <a:cs typeface="Inter" pitchFamily="34" charset="-120"/>
              </a:rPr>
              <a:t>£0.50 AI credit</a:t>
            </a:r>
            <a:endParaRPr lang="en-US" sz="1050" dirty="0"/>
          </a:p>
        </p:txBody>
      </p:sp>
      <p:sp>
        <p:nvSpPr>
          <p:cNvPr id="42" name="Text 40"/>
          <p:cNvSpPr/>
          <p:nvPr/>
        </p:nvSpPr>
        <p:spPr>
          <a:xfrm>
            <a:off x="4795418" y="5798929"/>
            <a:ext cx="2920898" cy="173083"/>
          </a:xfrm>
          <a:prstGeom prst="rect">
            <a:avLst/>
          </a:prstGeom>
          <a:noFill/>
          <a:ln/>
        </p:spPr>
        <p:txBody>
          <a:bodyPr wrap="square" lIns="0" tIns="0" rIns="0" bIns="0" rtlCol="0" anchor="ctr"/>
          <a:lstStyle/>
          <a:p>
            <a:pPr algn="l" indent="0" marL="0">
              <a:buNone/>
            </a:pPr>
            <a:r>
              <a:rPr lang="en-US" sz="850" dirty="0">
                <a:solidFill>
                  <a:srgbClr val="475569"/>
                </a:solidFill>
                <a:latin typeface="Inter" pitchFamily="34" charset="0"/>
                <a:ea typeface="Inter" pitchFamily="34" charset="-122"/>
                <a:cs typeface="Inter" pitchFamily="34" charset="-120"/>
              </a:rPr>
              <a:t>First feature, no API key</a:t>
            </a:r>
            <a:endParaRPr lang="en-US" sz="850" dirty="0"/>
          </a:p>
        </p:txBody>
      </p:sp>
      <p:sp>
        <p:nvSpPr>
          <p:cNvPr id="43" name="Shape 41"/>
          <p:cNvSpPr/>
          <p:nvPr/>
        </p:nvSpPr>
        <p:spPr>
          <a:xfrm>
            <a:off x="8082077" y="2697480"/>
            <a:ext cx="3606698" cy="1623060"/>
          </a:xfrm>
          <a:prstGeom prst="roundRect">
            <a:avLst>
              <a:gd name="adj" fmla="val 6761"/>
            </a:avLst>
          </a:prstGeom>
          <a:solidFill>
            <a:srgbClr val="FFFFFF"/>
          </a:solidFill>
          <a:ln w="9525">
            <a:solidFill>
              <a:srgbClr val="E2E0F0"/>
            </a:solidFill>
            <a:prstDash val="solid"/>
          </a:ln>
        </p:spPr>
      </p:sp>
      <p:sp>
        <p:nvSpPr>
          <p:cNvPr id="44" name="Text 42"/>
          <p:cNvSpPr/>
          <p:nvPr/>
        </p:nvSpPr>
        <p:spPr>
          <a:xfrm>
            <a:off x="8264957" y="2807208"/>
            <a:ext cx="324093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03 · HANDOFF FILE</a:t>
            </a:r>
            <a:endParaRPr lang="en-US" sz="1050" dirty="0"/>
          </a:p>
        </p:txBody>
      </p:sp>
      <p:sp>
        <p:nvSpPr>
          <p:cNvPr id="45" name="Text 43"/>
          <p:cNvSpPr/>
          <p:nvPr/>
        </p:nvSpPr>
        <p:spPr>
          <a:xfrm>
            <a:off x="8264957" y="3044952"/>
            <a:ext cx="3240938" cy="292608"/>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AI reads the spec.</a:t>
            </a:r>
            <a:endParaRPr lang="en-US" sz="1350" dirty="0"/>
          </a:p>
        </p:txBody>
      </p:sp>
      <p:sp>
        <p:nvSpPr>
          <p:cNvPr id="46" name="Shape 44"/>
          <p:cNvSpPr/>
          <p:nvPr/>
        </p:nvSpPr>
        <p:spPr>
          <a:xfrm>
            <a:off x="8264957" y="3410712"/>
            <a:ext cx="3240938" cy="800100"/>
          </a:xfrm>
          <a:prstGeom prst="roundRect">
            <a:avLst>
              <a:gd name="adj" fmla="val 13714"/>
            </a:avLst>
          </a:prstGeom>
          <a:solidFill>
            <a:srgbClr val="0B0E1F"/>
          </a:solidFill>
          <a:ln/>
        </p:spPr>
      </p:sp>
      <p:sp>
        <p:nvSpPr>
          <p:cNvPr id="47" name="Text 45"/>
          <p:cNvSpPr/>
          <p:nvPr/>
        </p:nvSpPr>
        <p:spPr>
          <a:xfrm>
            <a:off x="8539277" y="3639312"/>
            <a:ext cx="2692298" cy="388620"/>
          </a:xfrm>
          <a:prstGeom prst="rect">
            <a:avLst/>
          </a:prstGeom>
          <a:noFill/>
          <a:ln/>
        </p:spPr>
        <p:txBody>
          <a:bodyPr wrap="square" lIns="0" tIns="0" rIns="0" bIns="0" rtlCol="0" anchor="t"/>
          <a:lstStyle/>
          <a:p>
            <a:pPr algn="l" indent="0" marL="0">
              <a:buNone/>
            </a:pPr>
            <a:r>
              <a:rPr lang="en-US" sz="900" dirty="0">
                <a:solidFill>
                  <a:srgbClr val="B4ACEF"/>
                </a:solidFill>
                <a:latin typeface="JetBrains Mono" pitchFamily="34" charset="0"/>
                <a:ea typeface="JetBrains Mono" pitchFamily="34" charset="-122"/>
                <a:cs typeface="JetBrains Mono" pitchFamily="34" charset="-120"/>
              </a:rPr>
              <a:t>AI_CONTEXT.md  ~14s
</a:t>
            </a:r>
            <a:pPr algn="l" indent="0" marL="0">
              <a:buNone/>
            </a:pPr>
            <a:r>
              <a:rPr lang="en-US" sz="900" dirty="0">
                <a:solidFill>
                  <a:srgbClr val="10B981"/>
                </a:solidFill>
                <a:latin typeface="JetBrains Mono" pitchFamily="34" charset="0"/>
                <a:ea typeface="JetBrains Mono" pitchFamily="34" charset="-122"/>
                <a:cs typeface="JetBrains Mono" pitchFamily="34" charset="-120"/>
              </a:rPr>
              <a:t># Stack
</a:t>
            </a:r>
            <a:pPr algn="l" indent="0" marL="0">
              <a:buNone/>
            </a:pPr>
            <a:r>
              <a:rPr lang="en-US" sz="900" dirty="0">
                <a:solidFill>
                  <a:srgbClr val="FFFFFF"/>
                </a:solidFill>
                <a:latin typeface="JetBrains Mono" pitchFamily="34" charset="0"/>
                <a:ea typeface="JetBrains Mono" pitchFamily="34" charset="-122"/>
                <a:cs typeface="JetBrains Mono" pitchFamily="34" charset="-120"/>
              </a:rPr>
              <a:t>Next.js · Supabase
</a:t>
            </a:r>
            <a:pPr algn="l" indent="0" marL="0">
              <a:buNone/>
            </a:pPr>
            <a:r>
              <a:rPr lang="en-US" sz="900" dirty="0">
                <a:solidFill>
                  <a:srgbClr val="FFFFFF"/>
                </a:solidFill>
                <a:latin typeface="JetBrains Mono" pitchFamily="34" charset="0"/>
                <a:ea typeface="JetBrains Mono" pitchFamily="34" charset="-122"/>
                <a:cs typeface="JetBrains Mono" pitchFamily="34" charset="-120"/>
              </a:rPr>
              <a:t>Stripe · Resend
</a:t>
            </a:r>
            <a:pPr algn="l" indent="0" marL="0">
              <a:buNone/>
            </a:pPr>
            <a:r>
              <a:rPr lang="en-US" sz="900" dirty="0">
                <a:solidFill>
                  <a:srgbClr val="10B981"/>
                </a:solidFill>
                <a:latin typeface="JetBrains Mono" pitchFamily="34" charset="0"/>
                <a:ea typeface="JetBrains Mono" pitchFamily="34" charset="-122"/>
                <a:cs typeface="JetBrains Mono" pitchFamily="34" charset="-120"/>
              </a:rPr>
              <a:t># Paths, env, conventions
</a:t>
            </a:r>
            <a:endParaRPr lang="en-US" sz="900" dirty="0"/>
          </a:p>
        </p:txBody>
      </p:sp>
      <p:sp>
        <p:nvSpPr>
          <p:cNvPr id="48" name="Shape 46"/>
          <p:cNvSpPr/>
          <p:nvPr/>
        </p:nvSpPr>
        <p:spPr>
          <a:xfrm>
            <a:off x="8082077" y="4457700"/>
            <a:ext cx="3606698" cy="1623060"/>
          </a:xfrm>
          <a:prstGeom prst="roundRect">
            <a:avLst>
              <a:gd name="adj" fmla="val 6761"/>
            </a:avLst>
          </a:prstGeom>
          <a:solidFill>
            <a:srgbClr val="0B0E1F"/>
          </a:solidFill>
          <a:ln w="9525">
            <a:solidFill>
              <a:srgbClr val="26305A"/>
            </a:solidFill>
            <a:prstDash val="solid"/>
          </a:ln>
        </p:spPr>
      </p:sp>
      <p:sp>
        <p:nvSpPr>
          <p:cNvPr id="49" name="Text 47"/>
          <p:cNvSpPr/>
          <p:nvPr/>
        </p:nvSpPr>
        <p:spPr>
          <a:xfrm>
            <a:off x="8264957" y="4567428"/>
            <a:ext cx="3240938"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04 · PUSH-TO-DEPLOY</a:t>
            </a:r>
            <a:endParaRPr lang="en-US" sz="1050" dirty="0"/>
          </a:p>
        </p:txBody>
      </p:sp>
      <p:sp>
        <p:nvSpPr>
          <p:cNvPr id="50" name="Text 48"/>
          <p:cNvSpPr/>
          <p:nvPr/>
        </p:nvSpPr>
        <p:spPr>
          <a:xfrm>
            <a:off x="8264957" y="4805172"/>
            <a:ext cx="3240938" cy="292608"/>
          </a:xfrm>
          <a:prstGeom prst="rect">
            <a:avLst/>
          </a:prstGeom>
          <a:noFill/>
          <a:ln/>
        </p:spPr>
        <p:txBody>
          <a:bodyPr wrap="square" lIns="0" tIns="0" rIns="0" bIns="0" rtlCol="0" anchor="t"/>
          <a:lstStyle/>
          <a:p>
            <a:pPr algn="l" indent="0" marL="0">
              <a:buNone/>
            </a:pPr>
            <a:r>
              <a:rPr lang="en-US" sz="1350" b="1" dirty="0">
                <a:solidFill>
                  <a:srgbClr val="FFFFFF"/>
                </a:solidFill>
                <a:latin typeface="Inter" pitchFamily="34" charset="0"/>
                <a:ea typeface="Inter" pitchFamily="34" charset="-122"/>
                <a:cs typeface="Inter" pitchFamily="34" charset="-120"/>
              </a:rPr>
              <a:t>Live in ~30s.</a:t>
            </a:r>
            <a:endParaRPr lang="en-US" sz="1350" dirty="0"/>
          </a:p>
        </p:txBody>
      </p:sp>
      <p:sp>
        <p:nvSpPr>
          <p:cNvPr id="51" name="Shape 49"/>
          <p:cNvSpPr/>
          <p:nvPr/>
        </p:nvSpPr>
        <p:spPr>
          <a:xfrm>
            <a:off x="8264957" y="5170932"/>
            <a:ext cx="3240938" cy="800100"/>
          </a:xfrm>
          <a:prstGeom prst="roundRect">
            <a:avLst>
              <a:gd name="adj" fmla="val 13714"/>
            </a:avLst>
          </a:prstGeom>
          <a:solidFill>
            <a:srgbClr val="151A33"/>
          </a:solidFill>
          <a:ln/>
        </p:spPr>
      </p:sp>
      <p:sp>
        <p:nvSpPr>
          <p:cNvPr id="52" name="Text 50"/>
          <p:cNvSpPr/>
          <p:nvPr/>
        </p:nvSpPr>
        <p:spPr>
          <a:xfrm>
            <a:off x="8539277" y="5399532"/>
            <a:ext cx="2692298" cy="388620"/>
          </a:xfrm>
          <a:prstGeom prst="rect">
            <a:avLst/>
          </a:prstGeom>
          <a:noFill/>
          <a:ln/>
        </p:spPr>
        <p:txBody>
          <a:bodyPr wrap="square" lIns="0" tIns="0" rIns="0" bIns="0" rtlCol="0" anchor="t"/>
          <a:lstStyle/>
          <a:p>
            <a:pPr algn="l" indent="0" marL="0">
              <a:buNone/>
            </a:pPr>
            <a:r>
              <a:rPr lang="en-US" sz="900" dirty="0">
                <a:solidFill>
                  <a:srgbClr val="B4ACEF"/>
                </a:solidFill>
                <a:latin typeface="JetBrains Mono" pitchFamily="34" charset="0"/>
                <a:ea typeface="JetBrains Mono" pitchFamily="34" charset="-122"/>
                <a:cs typeface="JetBrains Mono" pitchFamily="34" charset="-120"/>
              </a:rPr>
              <a:t>webhook sha=a12c4e1
</a:t>
            </a:r>
            <a:pPr algn="l" indent="0" marL="0">
              <a:buNone/>
            </a:pPr>
            <a:r>
              <a:rPr lang="en-US" sz="900" dirty="0">
                <a:solidFill>
                  <a:srgbClr val="FFFFFF"/>
                </a:solidFill>
                <a:latin typeface="JetBrains Mono" pitchFamily="34" charset="0"/>
                <a:ea typeface="JetBrains Mono" pitchFamily="34" charset="-122"/>
                <a:cs typeface="JetBrains Mono" pitchFamily="34" charset="-120"/>
              </a:rPr>
              <a:t>compose rebuilt 2/9
</a:t>
            </a:r>
            <a:pPr algn="l" indent="0" marL="0">
              <a:buNone/>
            </a:pPr>
            <a:r>
              <a:rPr lang="en-US" sz="900" b="1" dirty="0">
                <a:solidFill>
                  <a:srgbClr val="10B981"/>
                </a:solidFill>
                <a:latin typeface="JetBrains Mono" pitchFamily="34" charset="0"/>
                <a:ea typeface="JetBrains Mono" pitchFamily="34" charset="-122"/>
                <a:cs typeface="JetBrains Mono" pitchFamily="34" charset="-120"/>
              </a:rPr>
              <a:t>→ live  ·  28s total
</a:t>
            </a:r>
            <a:endParaRPr lang="en-US" sz="900" dirty="0"/>
          </a:p>
        </p:txBody>
      </p:sp>
      <p:sp>
        <p:nvSpPr>
          <p:cNvPr id="53" name="Shape 51"/>
          <p:cNvSpPr/>
          <p:nvPr/>
        </p:nvSpPr>
        <p:spPr>
          <a:xfrm>
            <a:off x="502920" y="6263640"/>
            <a:ext cx="11185855" cy="0"/>
          </a:xfrm>
          <a:prstGeom prst="line">
            <a:avLst/>
          </a:prstGeom>
          <a:noFill/>
          <a:ln w="6350">
            <a:solidFill>
              <a:srgbClr val="E2E0F0"/>
            </a:solidFill>
            <a:prstDash val="solid"/>
          </a:ln>
        </p:spPr>
      </p:sp>
      <p:sp>
        <p:nvSpPr>
          <p:cNvPr id="54" name="Text 5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55" name="Text 53"/>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06  /  28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07  ·  WHAT'S WIRED  ·  SHIPPED</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Everything they need. </a:t>
            </a:r>
            <a:pPr algn="l" indent="0" marL="0">
              <a:buNone/>
            </a:pPr>
            <a:r>
              <a:rPr lang="en-US" sz="3600" b="1" dirty="0">
                <a:solidFill>
                  <a:srgbClr val="5040E5"/>
                </a:solidFill>
                <a:latin typeface="Inter" pitchFamily="34" charset="0"/>
                <a:ea typeface="Inter" pitchFamily="34" charset="-122"/>
                <a:cs typeface="Inter" pitchFamily="34" charset="-120"/>
              </a:rPr>
              <a:t>Already shipping.</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What the founder gets from minute one — and what we've built solo + AI-augmented in ~3 weeks. Cross-referenced against the live customer runbook.</a:t>
            </a:r>
            <a:endParaRPr lang="en-US" sz="1550" dirty="0"/>
          </a:p>
        </p:txBody>
      </p:sp>
      <p:sp>
        <p:nvSpPr>
          <p:cNvPr id="9" name="Shape 7"/>
          <p:cNvSpPr/>
          <p:nvPr/>
        </p:nvSpPr>
        <p:spPr>
          <a:xfrm>
            <a:off x="502920" y="2606040"/>
            <a:ext cx="2625014" cy="1063752"/>
          </a:xfrm>
          <a:prstGeom prst="roundRect">
            <a:avLst>
              <a:gd name="adj" fmla="val 10315"/>
            </a:avLst>
          </a:prstGeom>
          <a:solidFill>
            <a:srgbClr val="FFFFFF"/>
          </a:solidFill>
          <a:ln w="9525">
            <a:solidFill>
              <a:srgbClr val="E2E0F0"/>
            </a:solidFill>
            <a:prstDash val="solid"/>
          </a:ln>
        </p:spPr>
      </p:sp>
      <p:sp>
        <p:nvSpPr>
          <p:cNvPr id="10" name="Shape 8"/>
          <p:cNvSpPr/>
          <p:nvPr/>
        </p:nvSpPr>
        <p:spPr>
          <a:xfrm>
            <a:off x="685800" y="2770632"/>
            <a:ext cx="384048" cy="384048"/>
          </a:xfrm>
          <a:prstGeom prst="roundRect">
            <a:avLst>
              <a:gd name="adj" fmla="val 23810"/>
            </a:avLst>
          </a:prstGeom>
          <a:solidFill>
            <a:srgbClr val="E8E5FB"/>
          </a:solidFill>
          <a:ln/>
        </p:spPr>
      </p:sp>
      <p:sp>
        <p:nvSpPr>
          <p:cNvPr id="11" name="Text 9"/>
          <p:cNvSpPr/>
          <p:nvPr/>
        </p:nvSpPr>
        <p:spPr>
          <a:xfrm>
            <a:off x="685800" y="2770632"/>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2" name="Text 10"/>
          <p:cNvSpPr/>
          <p:nvPr/>
        </p:nvSpPr>
        <p:spPr>
          <a:xfrm>
            <a:off x="2396414" y="2807208"/>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13" name="Text 11"/>
          <p:cNvSpPr/>
          <p:nvPr/>
        </p:nvSpPr>
        <p:spPr>
          <a:xfrm>
            <a:off x="685800" y="3200400"/>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Live website</a:t>
            </a:r>
            <a:endParaRPr lang="en-US" sz="1350" dirty="0"/>
          </a:p>
        </p:txBody>
      </p:sp>
      <p:sp>
        <p:nvSpPr>
          <p:cNvPr id="14" name="Text 12"/>
          <p:cNvSpPr/>
          <p:nvPr/>
        </p:nvSpPr>
        <p:spPr>
          <a:xfrm>
            <a:off x="685800" y="3538728"/>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A working URL anyone can visit. Sign-in baked in.</a:t>
            </a:r>
            <a:endParaRPr lang="en-US" sz="950" dirty="0"/>
          </a:p>
        </p:txBody>
      </p:sp>
      <p:sp>
        <p:nvSpPr>
          <p:cNvPr id="15" name="Shape 13"/>
          <p:cNvSpPr/>
          <p:nvPr/>
        </p:nvSpPr>
        <p:spPr>
          <a:xfrm>
            <a:off x="3356534" y="2606040"/>
            <a:ext cx="2625014" cy="1063752"/>
          </a:xfrm>
          <a:prstGeom prst="roundRect">
            <a:avLst>
              <a:gd name="adj" fmla="val 10315"/>
            </a:avLst>
          </a:prstGeom>
          <a:solidFill>
            <a:srgbClr val="FFFFFF"/>
          </a:solidFill>
          <a:ln w="9525">
            <a:solidFill>
              <a:srgbClr val="E2E0F0"/>
            </a:solidFill>
            <a:prstDash val="solid"/>
          </a:ln>
        </p:spPr>
      </p:sp>
      <p:sp>
        <p:nvSpPr>
          <p:cNvPr id="16" name="Shape 14"/>
          <p:cNvSpPr/>
          <p:nvPr/>
        </p:nvSpPr>
        <p:spPr>
          <a:xfrm>
            <a:off x="3539414" y="2770632"/>
            <a:ext cx="384048" cy="384048"/>
          </a:xfrm>
          <a:prstGeom prst="roundRect">
            <a:avLst>
              <a:gd name="adj" fmla="val 23810"/>
            </a:avLst>
          </a:prstGeom>
          <a:solidFill>
            <a:srgbClr val="E8E5FB"/>
          </a:solidFill>
          <a:ln/>
        </p:spPr>
      </p:sp>
      <p:sp>
        <p:nvSpPr>
          <p:cNvPr id="17" name="Text 15"/>
          <p:cNvSpPr/>
          <p:nvPr/>
        </p:nvSpPr>
        <p:spPr>
          <a:xfrm>
            <a:off x="3539414" y="2770632"/>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8" name="Text 16"/>
          <p:cNvSpPr/>
          <p:nvPr/>
        </p:nvSpPr>
        <p:spPr>
          <a:xfrm>
            <a:off x="5250028" y="2807208"/>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19" name="Text 17"/>
          <p:cNvSpPr/>
          <p:nvPr/>
        </p:nvSpPr>
        <p:spPr>
          <a:xfrm>
            <a:off x="3539414" y="3200400"/>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Sign-up &amp; sign-in</a:t>
            </a:r>
            <a:endParaRPr lang="en-US" sz="1350" dirty="0"/>
          </a:p>
        </p:txBody>
      </p:sp>
      <p:sp>
        <p:nvSpPr>
          <p:cNvPr id="20" name="Text 18"/>
          <p:cNvSpPr/>
          <p:nvPr/>
        </p:nvSpPr>
        <p:spPr>
          <a:xfrm>
            <a:off x="3539414" y="3538728"/>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Magic-link + email verification — out of the box.</a:t>
            </a:r>
            <a:endParaRPr lang="en-US" sz="950" dirty="0"/>
          </a:p>
        </p:txBody>
      </p:sp>
      <p:sp>
        <p:nvSpPr>
          <p:cNvPr id="21" name="Shape 19"/>
          <p:cNvSpPr/>
          <p:nvPr/>
        </p:nvSpPr>
        <p:spPr>
          <a:xfrm>
            <a:off x="6210148" y="2606040"/>
            <a:ext cx="2625014" cy="1063752"/>
          </a:xfrm>
          <a:prstGeom prst="roundRect">
            <a:avLst>
              <a:gd name="adj" fmla="val 10315"/>
            </a:avLst>
          </a:prstGeom>
          <a:solidFill>
            <a:srgbClr val="FFFFFF"/>
          </a:solidFill>
          <a:ln w="9525">
            <a:solidFill>
              <a:srgbClr val="E2E0F0"/>
            </a:solidFill>
            <a:prstDash val="solid"/>
          </a:ln>
        </p:spPr>
      </p:sp>
      <p:sp>
        <p:nvSpPr>
          <p:cNvPr id="22" name="Shape 20"/>
          <p:cNvSpPr/>
          <p:nvPr/>
        </p:nvSpPr>
        <p:spPr>
          <a:xfrm>
            <a:off x="6393028" y="2770632"/>
            <a:ext cx="384048" cy="384048"/>
          </a:xfrm>
          <a:prstGeom prst="roundRect">
            <a:avLst>
              <a:gd name="adj" fmla="val 23810"/>
            </a:avLst>
          </a:prstGeom>
          <a:solidFill>
            <a:srgbClr val="E8E5FB"/>
          </a:solidFill>
          <a:ln/>
        </p:spPr>
      </p:sp>
      <p:sp>
        <p:nvSpPr>
          <p:cNvPr id="23" name="Text 21"/>
          <p:cNvSpPr/>
          <p:nvPr/>
        </p:nvSpPr>
        <p:spPr>
          <a:xfrm>
            <a:off x="6393028" y="2770632"/>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4" name="Text 22"/>
          <p:cNvSpPr/>
          <p:nvPr/>
        </p:nvSpPr>
        <p:spPr>
          <a:xfrm>
            <a:off x="8103641" y="2807208"/>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25" name="Text 23"/>
          <p:cNvSpPr/>
          <p:nvPr/>
        </p:nvSpPr>
        <p:spPr>
          <a:xfrm>
            <a:off x="6393028" y="3200400"/>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Database</a:t>
            </a:r>
            <a:endParaRPr lang="en-US" sz="1350" dirty="0"/>
          </a:p>
        </p:txBody>
      </p:sp>
      <p:sp>
        <p:nvSpPr>
          <p:cNvPr id="26" name="Text 24"/>
          <p:cNvSpPr/>
          <p:nvPr/>
        </p:nvSpPr>
        <p:spPr>
          <a:xfrm>
            <a:off x="6393028" y="3538728"/>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Postgres + RLS-scoped, nightly backups built in.</a:t>
            </a:r>
            <a:endParaRPr lang="en-US" sz="950" dirty="0"/>
          </a:p>
        </p:txBody>
      </p:sp>
      <p:sp>
        <p:nvSpPr>
          <p:cNvPr id="27" name="Shape 25"/>
          <p:cNvSpPr/>
          <p:nvPr/>
        </p:nvSpPr>
        <p:spPr>
          <a:xfrm>
            <a:off x="9063761" y="2606040"/>
            <a:ext cx="2625014" cy="1063752"/>
          </a:xfrm>
          <a:prstGeom prst="roundRect">
            <a:avLst>
              <a:gd name="adj" fmla="val 10315"/>
            </a:avLst>
          </a:prstGeom>
          <a:solidFill>
            <a:srgbClr val="FFFFFF"/>
          </a:solidFill>
          <a:ln w="9525">
            <a:solidFill>
              <a:srgbClr val="E2E0F0"/>
            </a:solidFill>
            <a:prstDash val="solid"/>
          </a:ln>
        </p:spPr>
      </p:sp>
      <p:sp>
        <p:nvSpPr>
          <p:cNvPr id="28" name="Shape 26"/>
          <p:cNvSpPr/>
          <p:nvPr/>
        </p:nvSpPr>
        <p:spPr>
          <a:xfrm>
            <a:off x="9246641" y="2770632"/>
            <a:ext cx="384048" cy="384048"/>
          </a:xfrm>
          <a:prstGeom prst="roundRect">
            <a:avLst>
              <a:gd name="adj" fmla="val 23810"/>
            </a:avLst>
          </a:prstGeom>
          <a:solidFill>
            <a:srgbClr val="E8E5FB"/>
          </a:solidFill>
          <a:ln/>
        </p:spPr>
      </p:sp>
      <p:sp>
        <p:nvSpPr>
          <p:cNvPr id="29" name="Text 27"/>
          <p:cNvSpPr/>
          <p:nvPr/>
        </p:nvSpPr>
        <p:spPr>
          <a:xfrm>
            <a:off x="9246641" y="2770632"/>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0" name="Text 28"/>
          <p:cNvSpPr/>
          <p:nvPr/>
        </p:nvSpPr>
        <p:spPr>
          <a:xfrm>
            <a:off x="10957255" y="2807208"/>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31" name="Text 29"/>
          <p:cNvSpPr/>
          <p:nvPr/>
        </p:nvSpPr>
        <p:spPr>
          <a:xfrm>
            <a:off x="9246641" y="3200400"/>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File storage</a:t>
            </a:r>
            <a:endParaRPr lang="en-US" sz="1350" dirty="0"/>
          </a:p>
        </p:txBody>
      </p:sp>
      <p:sp>
        <p:nvSpPr>
          <p:cNvPr id="32" name="Text 30"/>
          <p:cNvSpPr/>
          <p:nvPr/>
        </p:nvSpPr>
        <p:spPr>
          <a:xfrm>
            <a:off x="9246641" y="3538728"/>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For photos, documents, anything your app uploads.</a:t>
            </a:r>
            <a:endParaRPr lang="en-US" sz="950" dirty="0"/>
          </a:p>
        </p:txBody>
      </p:sp>
      <p:sp>
        <p:nvSpPr>
          <p:cNvPr id="33" name="Shape 31"/>
          <p:cNvSpPr/>
          <p:nvPr/>
        </p:nvSpPr>
        <p:spPr>
          <a:xfrm>
            <a:off x="502920" y="3834384"/>
            <a:ext cx="2625014" cy="1063752"/>
          </a:xfrm>
          <a:prstGeom prst="roundRect">
            <a:avLst>
              <a:gd name="adj" fmla="val 10315"/>
            </a:avLst>
          </a:prstGeom>
          <a:solidFill>
            <a:srgbClr val="FFFFFF"/>
          </a:solidFill>
          <a:ln w="9525">
            <a:solidFill>
              <a:srgbClr val="E2E0F0"/>
            </a:solidFill>
            <a:prstDash val="solid"/>
          </a:ln>
        </p:spPr>
      </p:sp>
      <p:sp>
        <p:nvSpPr>
          <p:cNvPr id="34" name="Shape 32"/>
          <p:cNvSpPr/>
          <p:nvPr/>
        </p:nvSpPr>
        <p:spPr>
          <a:xfrm>
            <a:off x="685800" y="3998976"/>
            <a:ext cx="384048" cy="384048"/>
          </a:xfrm>
          <a:prstGeom prst="roundRect">
            <a:avLst>
              <a:gd name="adj" fmla="val 23810"/>
            </a:avLst>
          </a:prstGeom>
          <a:solidFill>
            <a:srgbClr val="E8E5FB"/>
          </a:solidFill>
          <a:ln/>
        </p:spPr>
      </p:sp>
      <p:sp>
        <p:nvSpPr>
          <p:cNvPr id="35" name="Text 33"/>
          <p:cNvSpPr/>
          <p:nvPr/>
        </p:nvSpPr>
        <p:spPr>
          <a:xfrm>
            <a:off x="685800" y="3998976"/>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6" name="Text 34"/>
          <p:cNvSpPr/>
          <p:nvPr/>
        </p:nvSpPr>
        <p:spPr>
          <a:xfrm>
            <a:off x="2396414" y="4035552"/>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37" name="Text 35"/>
          <p:cNvSpPr/>
          <p:nvPr/>
        </p:nvSpPr>
        <p:spPr>
          <a:xfrm>
            <a:off x="685800" y="4428744"/>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Email sending</a:t>
            </a:r>
            <a:endParaRPr lang="en-US" sz="1350" dirty="0"/>
          </a:p>
        </p:txBody>
      </p:sp>
      <p:sp>
        <p:nvSpPr>
          <p:cNvPr id="38" name="Text 36"/>
          <p:cNvSpPr/>
          <p:nvPr/>
        </p:nvSpPr>
        <p:spPr>
          <a:xfrm>
            <a:off x="685800" y="4767072"/>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Sign-up + password-reset emails, DKIM signed.</a:t>
            </a:r>
            <a:endParaRPr lang="en-US" sz="950" dirty="0"/>
          </a:p>
        </p:txBody>
      </p:sp>
      <p:sp>
        <p:nvSpPr>
          <p:cNvPr id="39" name="Shape 37"/>
          <p:cNvSpPr/>
          <p:nvPr/>
        </p:nvSpPr>
        <p:spPr>
          <a:xfrm>
            <a:off x="3356534" y="3834384"/>
            <a:ext cx="2625014" cy="1063752"/>
          </a:xfrm>
          <a:prstGeom prst="roundRect">
            <a:avLst>
              <a:gd name="adj" fmla="val 10315"/>
            </a:avLst>
          </a:prstGeom>
          <a:solidFill>
            <a:srgbClr val="FFFFFF"/>
          </a:solidFill>
          <a:ln w="9525">
            <a:solidFill>
              <a:srgbClr val="E2E0F0"/>
            </a:solidFill>
            <a:prstDash val="solid"/>
          </a:ln>
        </p:spPr>
      </p:sp>
      <p:sp>
        <p:nvSpPr>
          <p:cNvPr id="40" name="Shape 38"/>
          <p:cNvSpPr/>
          <p:nvPr/>
        </p:nvSpPr>
        <p:spPr>
          <a:xfrm>
            <a:off x="3539414" y="3998976"/>
            <a:ext cx="384048" cy="384048"/>
          </a:xfrm>
          <a:prstGeom prst="roundRect">
            <a:avLst>
              <a:gd name="adj" fmla="val 23810"/>
            </a:avLst>
          </a:prstGeom>
          <a:solidFill>
            <a:srgbClr val="E8E5FB"/>
          </a:solidFill>
          <a:ln/>
        </p:spPr>
      </p:sp>
      <p:sp>
        <p:nvSpPr>
          <p:cNvPr id="41" name="Text 39"/>
          <p:cNvSpPr/>
          <p:nvPr/>
        </p:nvSpPr>
        <p:spPr>
          <a:xfrm>
            <a:off x="3539414" y="3998976"/>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42" name="Text 40"/>
          <p:cNvSpPr/>
          <p:nvPr/>
        </p:nvSpPr>
        <p:spPr>
          <a:xfrm>
            <a:off x="5250028" y="4035552"/>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43" name="Text 41"/>
          <p:cNvSpPr/>
          <p:nvPr/>
        </p:nvSpPr>
        <p:spPr>
          <a:xfrm>
            <a:off x="3539414" y="4428744"/>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Test + live payments</a:t>
            </a:r>
            <a:endParaRPr lang="en-US" sz="1350" dirty="0"/>
          </a:p>
        </p:txBody>
      </p:sp>
      <p:sp>
        <p:nvSpPr>
          <p:cNvPr id="44" name="Text 42"/>
          <p:cNvSpPr/>
          <p:nvPr/>
        </p:nvSpPr>
        <p:spPr>
          <a:xfrm>
            <a:off x="3539414" y="4767072"/>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Stripe sandbox keys. Switch to live when ready.</a:t>
            </a:r>
            <a:endParaRPr lang="en-US" sz="950" dirty="0"/>
          </a:p>
        </p:txBody>
      </p:sp>
      <p:sp>
        <p:nvSpPr>
          <p:cNvPr id="45" name="Shape 43"/>
          <p:cNvSpPr/>
          <p:nvPr/>
        </p:nvSpPr>
        <p:spPr>
          <a:xfrm>
            <a:off x="6210148" y="3834384"/>
            <a:ext cx="2625014" cy="1063752"/>
          </a:xfrm>
          <a:prstGeom prst="roundRect">
            <a:avLst>
              <a:gd name="adj" fmla="val 10315"/>
            </a:avLst>
          </a:prstGeom>
          <a:solidFill>
            <a:srgbClr val="FFFFFF"/>
          </a:solidFill>
          <a:ln w="9525">
            <a:solidFill>
              <a:srgbClr val="E2E0F0"/>
            </a:solidFill>
            <a:prstDash val="solid"/>
          </a:ln>
        </p:spPr>
      </p:sp>
      <p:sp>
        <p:nvSpPr>
          <p:cNvPr id="46" name="Shape 44"/>
          <p:cNvSpPr/>
          <p:nvPr/>
        </p:nvSpPr>
        <p:spPr>
          <a:xfrm>
            <a:off x="6393028" y="3998976"/>
            <a:ext cx="384048" cy="384048"/>
          </a:xfrm>
          <a:prstGeom prst="roundRect">
            <a:avLst>
              <a:gd name="adj" fmla="val 23810"/>
            </a:avLst>
          </a:prstGeom>
          <a:solidFill>
            <a:srgbClr val="E8E5FB"/>
          </a:solidFill>
          <a:ln/>
        </p:spPr>
      </p:sp>
      <p:sp>
        <p:nvSpPr>
          <p:cNvPr id="47" name="Text 45"/>
          <p:cNvSpPr/>
          <p:nvPr/>
        </p:nvSpPr>
        <p:spPr>
          <a:xfrm>
            <a:off x="6393028" y="3998976"/>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48" name="Text 46"/>
          <p:cNvSpPr/>
          <p:nvPr/>
        </p:nvSpPr>
        <p:spPr>
          <a:xfrm>
            <a:off x="8103641" y="4035552"/>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49" name="Text 47"/>
          <p:cNvSpPr/>
          <p:nvPr/>
        </p:nvSpPr>
        <p:spPr>
          <a:xfrm>
            <a:off x="6393028" y="4428744"/>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Mailboxes</a:t>
            </a:r>
            <a:endParaRPr lang="en-US" sz="1350" dirty="0"/>
          </a:p>
        </p:txBody>
      </p:sp>
      <p:sp>
        <p:nvSpPr>
          <p:cNvPr id="50" name="Text 48"/>
          <p:cNvSpPr/>
          <p:nvPr/>
        </p:nvSpPr>
        <p:spPr>
          <a:xfrm>
            <a:off x="6393028" y="4767072"/>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alex@yours.app, 3-5 inboxes on Infomaniak.</a:t>
            </a:r>
            <a:endParaRPr lang="en-US" sz="950" dirty="0"/>
          </a:p>
        </p:txBody>
      </p:sp>
      <p:sp>
        <p:nvSpPr>
          <p:cNvPr id="51" name="Shape 49"/>
          <p:cNvSpPr/>
          <p:nvPr/>
        </p:nvSpPr>
        <p:spPr>
          <a:xfrm>
            <a:off x="9063761" y="3834384"/>
            <a:ext cx="2625014" cy="1063752"/>
          </a:xfrm>
          <a:prstGeom prst="roundRect">
            <a:avLst>
              <a:gd name="adj" fmla="val 10315"/>
            </a:avLst>
          </a:prstGeom>
          <a:solidFill>
            <a:srgbClr val="FFFFFF"/>
          </a:solidFill>
          <a:ln w="9525">
            <a:solidFill>
              <a:srgbClr val="E2E0F0"/>
            </a:solidFill>
            <a:prstDash val="solid"/>
          </a:ln>
        </p:spPr>
      </p:sp>
      <p:sp>
        <p:nvSpPr>
          <p:cNvPr id="52" name="Shape 50"/>
          <p:cNvSpPr/>
          <p:nvPr/>
        </p:nvSpPr>
        <p:spPr>
          <a:xfrm>
            <a:off x="9246641" y="3998976"/>
            <a:ext cx="384048" cy="384048"/>
          </a:xfrm>
          <a:prstGeom prst="roundRect">
            <a:avLst>
              <a:gd name="adj" fmla="val 23810"/>
            </a:avLst>
          </a:prstGeom>
          <a:solidFill>
            <a:srgbClr val="E8E5FB"/>
          </a:solidFill>
          <a:ln/>
        </p:spPr>
      </p:sp>
      <p:sp>
        <p:nvSpPr>
          <p:cNvPr id="53" name="Text 51"/>
          <p:cNvSpPr/>
          <p:nvPr/>
        </p:nvSpPr>
        <p:spPr>
          <a:xfrm>
            <a:off x="9246641" y="3998976"/>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54" name="Text 52"/>
          <p:cNvSpPr/>
          <p:nvPr/>
        </p:nvSpPr>
        <p:spPr>
          <a:xfrm>
            <a:off x="10957255" y="4035552"/>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55" name="Text 53"/>
          <p:cNvSpPr/>
          <p:nvPr/>
        </p:nvSpPr>
        <p:spPr>
          <a:xfrm>
            <a:off x="9246641" y="4428744"/>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Mobile app shells</a:t>
            </a:r>
            <a:endParaRPr lang="en-US" sz="1350" dirty="0"/>
          </a:p>
        </p:txBody>
      </p:sp>
      <p:sp>
        <p:nvSpPr>
          <p:cNvPr id="56" name="Text 54"/>
          <p:cNvSpPr/>
          <p:nvPr/>
        </p:nvSpPr>
        <p:spPr>
          <a:xfrm>
            <a:off x="9246641" y="4767072"/>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iOS + Android, ready to build — ~8–15 min.</a:t>
            </a:r>
            <a:endParaRPr lang="en-US" sz="950" dirty="0"/>
          </a:p>
        </p:txBody>
      </p:sp>
      <p:sp>
        <p:nvSpPr>
          <p:cNvPr id="57" name="Shape 55"/>
          <p:cNvSpPr/>
          <p:nvPr/>
        </p:nvSpPr>
        <p:spPr>
          <a:xfrm>
            <a:off x="502920" y="5062728"/>
            <a:ext cx="2625014" cy="1063752"/>
          </a:xfrm>
          <a:prstGeom prst="roundRect">
            <a:avLst>
              <a:gd name="adj" fmla="val 10315"/>
            </a:avLst>
          </a:prstGeom>
          <a:solidFill>
            <a:srgbClr val="FFFFFF"/>
          </a:solidFill>
          <a:ln w="9525">
            <a:solidFill>
              <a:srgbClr val="E2E0F0"/>
            </a:solidFill>
            <a:prstDash val="solid"/>
          </a:ln>
        </p:spPr>
      </p:sp>
      <p:sp>
        <p:nvSpPr>
          <p:cNvPr id="58" name="Shape 56"/>
          <p:cNvSpPr/>
          <p:nvPr/>
        </p:nvSpPr>
        <p:spPr>
          <a:xfrm>
            <a:off x="685800" y="5227320"/>
            <a:ext cx="384048" cy="384048"/>
          </a:xfrm>
          <a:prstGeom prst="roundRect">
            <a:avLst>
              <a:gd name="adj" fmla="val 23810"/>
            </a:avLst>
          </a:prstGeom>
          <a:solidFill>
            <a:srgbClr val="E8E5FB"/>
          </a:solidFill>
          <a:ln/>
        </p:spPr>
      </p:sp>
      <p:sp>
        <p:nvSpPr>
          <p:cNvPr id="59" name="Text 57"/>
          <p:cNvSpPr/>
          <p:nvPr/>
        </p:nvSpPr>
        <p:spPr>
          <a:xfrm>
            <a:off x="685800" y="5227320"/>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60" name="Text 58"/>
          <p:cNvSpPr/>
          <p:nvPr/>
        </p:nvSpPr>
        <p:spPr>
          <a:xfrm>
            <a:off x="2396414" y="5263896"/>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61" name="Text 59"/>
          <p:cNvSpPr/>
          <p:nvPr/>
        </p:nvSpPr>
        <p:spPr>
          <a:xfrm>
            <a:off x="685800" y="5657088"/>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Private GitHub repo</a:t>
            </a:r>
            <a:endParaRPr lang="en-US" sz="1350" dirty="0"/>
          </a:p>
        </p:txBody>
      </p:sp>
      <p:sp>
        <p:nvSpPr>
          <p:cNvPr id="62" name="Text 60"/>
          <p:cNvSpPr/>
          <p:nvPr/>
        </p:nvSpPr>
        <p:spPr>
          <a:xfrm>
            <a:off x="685800" y="5995416"/>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Per-tenant. Code stays yours. Webhook deploys.</a:t>
            </a:r>
            <a:endParaRPr lang="en-US" sz="950" dirty="0"/>
          </a:p>
        </p:txBody>
      </p:sp>
      <p:sp>
        <p:nvSpPr>
          <p:cNvPr id="63" name="Shape 61"/>
          <p:cNvSpPr/>
          <p:nvPr/>
        </p:nvSpPr>
        <p:spPr>
          <a:xfrm>
            <a:off x="3356534" y="5062728"/>
            <a:ext cx="2625014" cy="1063752"/>
          </a:xfrm>
          <a:prstGeom prst="roundRect">
            <a:avLst>
              <a:gd name="adj" fmla="val 10315"/>
            </a:avLst>
          </a:prstGeom>
          <a:solidFill>
            <a:srgbClr val="FFFFFF"/>
          </a:solidFill>
          <a:ln w="9525">
            <a:solidFill>
              <a:srgbClr val="E2E0F0"/>
            </a:solidFill>
            <a:prstDash val="solid"/>
          </a:ln>
        </p:spPr>
      </p:sp>
      <p:sp>
        <p:nvSpPr>
          <p:cNvPr id="64" name="Shape 62"/>
          <p:cNvSpPr/>
          <p:nvPr/>
        </p:nvSpPr>
        <p:spPr>
          <a:xfrm>
            <a:off x="3539414" y="5227320"/>
            <a:ext cx="384048" cy="384048"/>
          </a:xfrm>
          <a:prstGeom prst="roundRect">
            <a:avLst>
              <a:gd name="adj" fmla="val 23810"/>
            </a:avLst>
          </a:prstGeom>
          <a:solidFill>
            <a:srgbClr val="E8E5FB"/>
          </a:solidFill>
          <a:ln/>
        </p:spPr>
      </p:sp>
      <p:sp>
        <p:nvSpPr>
          <p:cNvPr id="65" name="Text 63"/>
          <p:cNvSpPr/>
          <p:nvPr/>
        </p:nvSpPr>
        <p:spPr>
          <a:xfrm>
            <a:off x="3539414" y="5227320"/>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66" name="Text 64"/>
          <p:cNvSpPr/>
          <p:nvPr/>
        </p:nvSpPr>
        <p:spPr>
          <a:xfrm>
            <a:off x="5250028" y="5263896"/>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67" name="Text 65"/>
          <p:cNvSpPr/>
          <p:nvPr/>
        </p:nvSpPr>
        <p:spPr>
          <a:xfrm>
            <a:off x="3539414" y="5657088"/>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Push-to-deploy</a:t>
            </a:r>
            <a:endParaRPr lang="en-US" sz="1350" dirty="0"/>
          </a:p>
        </p:txBody>
      </p:sp>
      <p:sp>
        <p:nvSpPr>
          <p:cNvPr id="68" name="Text 66"/>
          <p:cNvSpPr/>
          <p:nvPr/>
        </p:nvSpPr>
        <p:spPr>
          <a:xfrm>
            <a:off x="3539414" y="5995416"/>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Your AI commits, we redeploy in ~30 seconds.</a:t>
            </a:r>
            <a:endParaRPr lang="en-US" sz="950" dirty="0"/>
          </a:p>
        </p:txBody>
      </p:sp>
      <p:sp>
        <p:nvSpPr>
          <p:cNvPr id="69" name="Shape 67"/>
          <p:cNvSpPr/>
          <p:nvPr/>
        </p:nvSpPr>
        <p:spPr>
          <a:xfrm>
            <a:off x="6210148" y="5062728"/>
            <a:ext cx="2625014" cy="1063752"/>
          </a:xfrm>
          <a:prstGeom prst="roundRect">
            <a:avLst>
              <a:gd name="adj" fmla="val 10315"/>
            </a:avLst>
          </a:prstGeom>
          <a:solidFill>
            <a:srgbClr val="FFFFFF"/>
          </a:solidFill>
          <a:ln w="9525">
            <a:solidFill>
              <a:srgbClr val="E2E0F0"/>
            </a:solidFill>
            <a:prstDash val="solid"/>
          </a:ln>
        </p:spPr>
      </p:sp>
      <p:sp>
        <p:nvSpPr>
          <p:cNvPr id="70" name="Shape 68"/>
          <p:cNvSpPr/>
          <p:nvPr/>
        </p:nvSpPr>
        <p:spPr>
          <a:xfrm>
            <a:off x="6393028" y="5227320"/>
            <a:ext cx="384048" cy="384048"/>
          </a:xfrm>
          <a:prstGeom prst="roundRect">
            <a:avLst>
              <a:gd name="adj" fmla="val 23810"/>
            </a:avLst>
          </a:prstGeom>
          <a:solidFill>
            <a:srgbClr val="E8E5FB"/>
          </a:solidFill>
          <a:ln/>
        </p:spPr>
      </p:sp>
      <p:sp>
        <p:nvSpPr>
          <p:cNvPr id="71" name="Text 69"/>
          <p:cNvSpPr/>
          <p:nvPr/>
        </p:nvSpPr>
        <p:spPr>
          <a:xfrm>
            <a:off x="6393028" y="5227320"/>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72" name="Text 70"/>
          <p:cNvSpPr/>
          <p:nvPr/>
        </p:nvSpPr>
        <p:spPr>
          <a:xfrm>
            <a:off x="8103641" y="5263896"/>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73" name="Text 71"/>
          <p:cNvSpPr/>
          <p:nvPr/>
        </p:nvSpPr>
        <p:spPr>
          <a:xfrm>
            <a:off x="6393028" y="5657088"/>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Status + analytics</a:t>
            </a:r>
            <a:endParaRPr lang="en-US" sz="1350" dirty="0"/>
          </a:p>
        </p:txBody>
      </p:sp>
      <p:sp>
        <p:nvSpPr>
          <p:cNvPr id="74" name="Text 72"/>
          <p:cNvSpPr/>
          <p:nvPr/>
        </p:nvSpPr>
        <p:spPr>
          <a:xfrm>
            <a:off x="6393028" y="5995416"/>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status.hatchik.com · cohort dashboard.</a:t>
            </a:r>
            <a:endParaRPr lang="en-US" sz="950" dirty="0"/>
          </a:p>
        </p:txBody>
      </p:sp>
      <p:sp>
        <p:nvSpPr>
          <p:cNvPr id="75" name="Shape 73"/>
          <p:cNvSpPr/>
          <p:nvPr/>
        </p:nvSpPr>
        <p:spPr>
          <a:xfrm>
            <a:off x="9063761" y="5062728"/>
            <a:ext cx="2625014" cy="1063752"/>
          </a:xfrm>
          <a:prstGeom prst="roundRect">
            <a:avLst>
              <a:gd name="adj" fmla="val 10315"/>
            </a:avLst>
          </a:prstGeom>
          <a:solidFill>
            <a:srgbClr val="FFFFFF"/>
          </a:solidFill>
          <a:ln w="9525">
            <a:solidFill>
              <a:srgbClr val="E2E0F0"/>
            </a:solidFill>
            <a:prstDash val="solid"/>
          </a:ln>
        </p:spPr>
      </p:sp>
      <p:sp>
        <p:nvSpPr>
          <p:cNvPr id="76" name="Shape 74"/>
          <p:cNvSpPr/>
          <p:nvPr/>
        </p:nvSpPr>
        <p:spPr>
          <a:xfrm>
            <a:off x="9246641" y="5227320"/>
            <a:ext cx="384048" cy="384048"/>
          </a:xfrm>
          <a:prstGeom prst="roundRect">
            <a:avLst>
              <a:gd name="adj" fmla="val 23810"/>
            </a:avLst>
          </a:prstGeom>
          <a:solidFill>
            <a:srgbClr val="E8E5FB"/>
          </a:solidFill>
          <a:ln/>
        </p:spPr>
      </p:sp>
      <p:sp>
        <p:nvSpPr>
          <p:cNvPr id="77" name="Text 75"/>
          <p:cNvSpPr/>
          <p:nvPr/>
        </p:nvSpPr>
        <p:spPr>
          <a:xfrm>
            <a:off x="9246641" y="5227320"/>
            <a:ext cx="384048" cy="384048"/>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78" name="Text 76"/>
          <p:cNvSpPr/>
          <p:nvPr/>
        </p:nvSpPr>
        <p:spPr>
          <a:xfrm>
            <a:off x="10957255" y="5263896"/>
            <a:ext cx="594360" cy="274320"/>
          </a:xfrm>
          <a:prstGeom prst="rect">
            <a:avLst/>
          </a:prstGeom>
          <a:noFill/>
          <a:ln/>
        </p:spPr>
        <p:txBody>
          <a:bodyPr wrap="square" lIns="0" tIns="0" rIns="0" bIns="0" rtlCol="0" anchor="ctr"/>
          <a:lstStyle/>
          <a:p>
            <a:pPr algn="r" indent="0" marL="0">
              <a:buNone/>
            </a:pPr>
            <a:r>
              <a:rPr lang="en-US" sz="900" b="1" spc="250" kern="0" dirty="0">
                <a:solidFill>
                  <a:srgbClr val="10B981"/>
                </a:solidFill>
                <a:latin typeface="JetBrains Mono" pitchFamily="34" charset="0"/>
                <a:ea typeface="JetBrains Mono" pitchFamily="34" charset="-122"/>
                <a:cs typeface="JetBrains Mono" pitchFamily="34" charset="-120"/>
              </a:rPr>
              <a:t>LIVE</a:t>
            </a:r>
            <a:endParaRPr lang="en-US" sz="900" dirty="0"/>
          </a:p>
        </p:txBody>
      </p:sp>
      <p:sp>
        <p:nvSpPr>
          <p:cNvPr id="79" name="Text 77"/>
          <p:cNvSpPr/>
          <p:nvPr/>
        </p:nvSpPr>
        <p:spPr>
          <a:xfrm>
            <a:off x="9246641" y="5657088"/>
            <a:ext cx="2259254" cy="329184"/>
          </a:xfrm>
          <a:prstGeom prst="rect">
            <a:avLst/>
          </a:prstGeom>
          <a:noFill/>
          <a:ln/>
        </p:spPr>
        <p:txBody>
          <a:bodyPr wrap="square" lIns="0" tIns="0" rIns="0" bIns="0" rtlCol="0" anchor="t"/>
          <a:lstStyle/>
          <a:p>
            <a:pPr algn="l" indent="0" marL="0">
              <a:buNone/>
            </a:pPr>
            <a:r>
              <a:rPr lang="en-US" sz="1350" b="1" dirty="0">
                <a:solidFill>
                  <a:srgbClr val="0F172A"/>
                </a:solidFill>
                <a:latin typeface="Inter" pitchFamily="34" charset="0"/>
                <a:ea typeface="Inter" pitchFamily="34" charset="-122"/>
                <a:cs typeface="Inter" pitchFamily="34" charset="-120"/>
              </a:rPr>
              <a:t>Abuse + lifecycle</a:t>
            </a:r>
            <a:endParaRPr lang="en-US" sz="1350" dirty="0"/>
          </a:p>
        </p:txBody>
      </p:sp>
      <p:sp>
        <p:nvSpPr>
          <p:cNvPr id="80" name="Text 78"/>
          <p:cNvSpPr/>
          <p:nvPr/>
        </p:nvSpPr>
        <p:spPr>
          <a:xfrm>
            <a:off x="9246641" y="5995416"/>
            <a:ext cx="2259254" cy="57912"/>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Turnstile · geo throttle · idle archive + restore.</a:t>
            </a:r>
            <a:endParaRPr lang="en-US" sz="950" dirty="0"/>
          </a:p>
        </p:txBody>
      </p:sp>
      <p:sp>
        <p:nvSpPr>
          <p:cNvPr id="81" name="Shape 79"/>
          <p:cNvSpPr/>
          <p:nvPr/>
        </p:nvSpPr>
        <p:spPr>
          <a:xfrm>
            <a:off x="502920" y="6263640"/>
            <a:ext cx="11185855" cy="0"/>
          </a:xfrm>
          <a:prstGeom prst="line">
            <a:avLst/>
          </a:prstGeom>
          <a:noFill/>
          <a:ln w="6350">
            <a:solidFill>
              <a:srgbClr val="E2E0F0"/>
            </a:solidFill>
            <a:prstDash val="solid"/>
          </a:ln>
        </p:spPr>
      </p:sp>
      <p:sp>
        <p:nvSpPr>
          <p:cNvPr id="82" name="Text 80"/>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83" name="Text 81"/>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07  /  28</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08  ·  MARKET  ·  TAM / SAM / SOM</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Shape 5"/>
          <p:cNvSpPr/>
          <p:nvPr/>
        </p:nvSpPr>
        <p:spPr>
          <a:xfrm>
            <a:off x="-3337560" y="2240280"/>
            <a:ext cx="7680960" cy="7680960"/>
          </a:xfrm>
          <a:prstGeom prst="ellipse">
            <a:avLst/>
          </a:prstGeom>
          <a:solidFill>
            <a:srgbClr val="E8E5FB"/>
          </a:solidFill>
          <a:ln/>
        </p:spPr>
      </p:sp>
      <p:sp>
        <p:nvSpPr>
          <p:cNvPr id="8" name="Shape 6"/>
          <p:cNvSpPr/>
          <p:nvPr/>
        </p:nvSpPr>
        <p:spPr>
          <a:xfrm>
            <a:off x="-2148840" y="3429000"/>
            <a:ext cx="5303520" cy="5303520"/>
          </a:xfrm>
          <a:prstGeom prst="ellipse">
            <a:avLst/>
          </a:prstGeom>
          <a:solidFill>
            <a:srgbClr val="D0CAFB"/>
          </a:solidFill>
          <a:ln/>
        </p:spPr>
      </p:sp>
      <p:sp>
        <p:nvSpPr>
          <p:cNvPr id="9" name="Shape 7"/>
          <p:cNvSpPr/>
          <p:nvPr/>
        </p:nvSpPr>
        <p:spPr>
          <a:xfrm>
            <a:off x="-1051560" y="4526280"/>
            <a:ext cx="3108960" cy="3108960"/>
          </a:xfrm>
          <a:prstGeom prst="ellipse">
            <a:avLst/>
          </a:prstGeom>
          <a:solidFill>
            <a:srgbClr val="5040E5"/>
          </a:solidFill>
          <a:ln/>
        </p:spPr>
      </p:sp>
      <p:sp>
        <p:nvSpPr>
          <p:cNvPr id="10" name="Shape 8"/>
          <p:cNvSpPr/>
          <p:nvPr/>
        </p:nvSpPr>
        <p:spPr>
          <a:xfrm>
            <a:off x="0" y="0"/>
            <a:ext cx="502920" cy="6858000"/>
          </a:xfrm>
          <a:prstGeom prst="rect">
            <a:avLst/>
          </a:prstGeom>
          <a:solidFill>
            <a:srgbClr val="F3F1FA"/>
          </a:solidFill>
          <a:ln/>
        </p:spPr>
      </p:sp>
      <p:sp>
        <p:nvSpPr>
          <p:cNvPr id="11" name="Shape 9"/>
          <p:cNvSpPr/>
          <p:nvPr/>
        </p:nvSpPr>
        <p:spPr>
          <a:xfrm>
            <a:off x="0" y="6080760"/>
            <a:ext cx="12191695" cy="777240"/>
          </a:xfrm>
          <a:prstGeom prst="rect">
            <a:avLst/>
          </a:prstGeom>
          <a:solidFill>
            <a:srgbClr val="F3F1FA"/>
          </a:solidFill>
          <a:ln/>
        </p:spPr>
      </p:sp>
      <p:sp>
        <p:nvSpPr>
          <p:cNvPr id="12" name="Text 10"/>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TAM, SAM, SOM. </a:t>
            </a:r>
            <a:pPr algn="l" indent="0" marL="0">
              <a:buNone/>
            </a:pPr>
            <a:r>
              <a:rPr lang="en-US" sz="3600" b="1" dirty="0">
                <a:solidFill>
                  <a:srgbClr val="5040E5"/>
                </a:solidFill>
                <a:latin typeface="Inter" pitchFamily="34" charset="0"/>
                <a:ea typeface="Inter" pitchFamily="34" charset="-122"/>
                <a:cs typeface="Inter" pitchFamily="34" charset="-120"/>
              </a:rPr>
              <a:t>Sized from public numbers.</a:t>
            </a:r>
            <a:endParaRPr lang="en-US" sz="3600" dirty="0"/>
          </a:p>
        </p:txBody>
      </p:sp>
      <p:sp>
        <p:nvSpPr>
          <p:cNvPr id="13" name="Text 11"/>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Anchored on AI-coder tool disclosures from Cursor, Lovable, and Bolt. Conservative blended ARPU. SOM scoped to the 12–18 month sprint window.</a:t>
            </a:r>
            <a:endParaRPr lang="en-US" sz="1550" dirty="0"/>
          </a:p>
        </p:txBody>
      </p:sp>
      <p:sp>
        <p:nvSpPr>
          <p:cNvPr id="14" name="Text 12"/>
          <p:cNvSpPr/>
          <p:nvPr/>
        </p:nvSpPr>
        <p:spPr>
          <a:xfrm>
            <a:off x="777240" y="2468880"/>
            <a:ext cx="914400" cy="274320"/>
          </a:xfrm>
          <a:prstGeom prst="rect">
            <a:avLst/>
          </a:prstGeom>
          <a:noFill/>
          <a:ln/>
        </p:spPr>
        <p:txBody>
          <a:bodyPr wrap="square" rtlCol="0" anchor="ctr"/>
          <a:lstStyle/>
          <a:p>
            <a:pPr algn="l" indent="0" marL="0">
              <a:buNone/>
            </a:pPr>
            <a:r>
              <a:rPr lang="en-US" sz="1100" b="1" spc="300" kern="0" dirty="0">
                <a:solidFill>
                  <a:srgbClr val="475569"/>
                </a:solidFill>
                <a:latin typeface="JetBrains Mono" pitchFamily="34" charset="0"/>
                <a:ea typeface="JetBrains Mono" pitchFamily="34" charset="-122"/>
                <a:cs typeface="JetBrains Mono" pitchFamily="34" charset="-120"/>
              </a:rPr>
              <a:t>TAM</a:t>
            </a:r>
            <a:endParaRPr lang="en-US" sz="1100" dirty="0"/>
          </a:p>
        </p:txBody>
      </p:sp>
      <p:sp>
        <p:nvSpPr>
          <p:cNvPr id="15" name="Text 13"/>
          <p:cNvSpPr/>
          <p:nvPr/>
        </p:nvSpPr>
        <p:spPr>
          <a:xfrm>
            <a:off x="777240" y="3657600"/>
            <a:ext cx="914400" cy="274320"/>
          </a:xfrm>
          <a:prstGeom prst="rect">
            <a:avLst/>
          </a:prstGeom>
          <a:noFill/>
          <a:ln/>
        </p:spPr>
        <p:txBody>
          <a:bodyPr wrap="square" rtlCol="0" anchor="ctr"/>
          <a:lstStyle/>
          <a:p>
            <a:pPr algn="l" indent="0" marL="0">
              <a:buNone/>
            </a:pPr>
            <a:r>
              <a:rPr lang="en-US" sz="1100" b="1" spc="300" kern="0" dirty="0">
                <a:solidFill>
                  <a:srgbClr val="3A2BC0"/>
                </a:solidFill>
                <a:latin typeface="JetBrains Mono" pitchFamily="34" charset="0"/>
                <a:ea typeface="JetBrains Mono" pitchFamily="34" charset="-122"/>
                <a:cs typeface="JetBrains Mono" pitchFamily="34" charset="-120"/>
              </a:rPr>
              <a:t>SAM</a:t>
            </a:r>
            <a:endParaRPr lang="en-US" sz="1100" dirty="0"/>
          </a:p>
        </p:txBody>
      </p:sp>
      <p:sp>
        <p:nvSpPr>
          <p:cNvPr id="16" name="Text 14"/>
          <p:cNvSpPr/>
          <p:nvPr/>
        </p:nvSpPr>
        <p:spPr>
          <a:xfrm>
            <a:off x="777240" y="4754880"/>
            <a:ext cx="914400" cy="274320"/>
          </a:xfrm>
          <a:prstGeom prst="rect">
            <a:avLst/>
          </a:prstGeom>
          <a:noFill/>
          <a:ln/>
        </p:spPr>
        <p:txBody>
          <a:bodyPr wrap="square" rtlCol="0" anchor="ctr"/>
          <a:lstStyle/>
          <a:p>
            <a:pPr algn="l" indent="0" marL="0">
              <a:buNone/>
            </a:pPr>
            <a:r>
              <a:rPr lang="en-US" sz="1100" b="1" spc="300" kern="0" dirty="0">
                <a:solidFill>
                  <a:srgbClr val="FFFFFF"/>
                </a:solidFill>
                <a:latin typeface="JetBrains Mono" pitchFamily="34" charset="0"/>
                <a:ea typeface="JetBrains Mono" pitchFamily="34" charset="-122"/>
                <a:cs typeface="JetBrains Mono" pitchFamily="34" charset="-120"/>
              </a:rPr>
              <a:t>SOM</a:t>
            </a:r>
            <a:endParaRPr lang="en-US" sz="1100" dirty="0"/>
          </a:p>
        </p:txBody>
      </p:sp>
      <p:sp>
        <p:nvSpPr>
          <p:cNvPr id="17" name="Shape 15"/>
          <p:cNvSpPr/>
          <p:nvPr/>
        </p:nvSpPr>
        <p:spPr>
          <a:xfrm>
            <a:off x="6035040" y="2606040"/>
            <a:ext cx="5653735" cy="960120"/>
          </a:xfrm>
          <a:prstGeom prst="roundRect">
            <a:avLst>
              <a:gd name="adj" fmla="val 11429"/>
            </a:avLst>
          </a:prstGeom>
          <a:solidFill>
            <a:srgbClr val="FFFFFF"/>
          </a:solidFill>
          <a:ln w="9525">
            <a:solidFill>
              <a:srgbClr val="E2E0F0"/>
            </a:solidFill>
            <a:prstDash val="solid"/>
          </a:ln>
        </p:spPr>
      </p:sp>
      <p:sp>
        <p:nvSpPr>
          <p:cNvPr id="18" name="Text 16"/>
          <p:cNvSpPr/>
          <p:nvPr/>
        </p:nvSpPr>
        <p:spPr>
          <a:xfrm>
            <a:off x="6309360" y="2697480"/>
            <a:ext cx="5105095" cy="219456"/>
          </a:xfrm>
          <a:prstGeom prst="rect">
            <a:avLst/>
          </a:prstGeom>
          <a:noFill/>
          <a:ln/>
        </p:spPr>
        <p:txBody>
          <a:bodyPr wrap="square" lIns="0" tIns="0" rIns="0" bIns="0" rtlCol="0" anchor="ctr"/>
          <a:lstStyle/>
          <a:p>
            <a:pPr algn="l" indent="0" marL="0">
              <a:buNone/>
            </a:pPr>
            <a:r>
              <a:rPr lang="en-US" sz="1000" spc="300" kern="0" dirty="0">
                <a:solidFill>
                  <a:srgbClr val="94A3B8"/>
                </a:solidFill>
                <a:latin typeface="JetBrains Mono" pitchFamily="34" charset="0"/>
                <a:ea typeface="JetBrains Mono" pitchFamily="34" charset="-122"/>
                <a:cs typeface="JetBrains Mono" pitchFamily="34" charset="-120"/>
              </a:rPr>
              <a:t>TAM  ·  TOTAL ADDRESSABLE</a:t>
            </a:r>
            <a:endParaRPr lang="en-US" sz="1000" dirty="0"/>
          </a:p>
        </p:txBody>
      </p:sp>
      <p:sp>
        <p:nvSpPr>
          <p:cNvPr id="19" name="Text 17"/>
          <p:cNvSpPr/>
          <p:nvPr/>
        </p:nvSpPr>
        <p:spPr>
          <a:xfrm>
            <a:off x="6309360" y="2898648"/>
            <a:ext cx="5105095" cy="438912"/>
          </a:xfrm>
          <a:prstGeom prst="rect">
            <a:avLst/>
          </a:prstGeom>
          <a:noFill/>
          <a:ln/>
        </p:spPr>
        <p:txBody>
          <a:bodyPr wrap="square" lIns="0" tIns="0" rIns="0" bIns="0" rtlCol="0" anchor="t"/>
          <a:lstStyle/>
          <a:p>
            <a:pPr algn="l" indent="0" marL="0">
              <a:buNone/>
            </a:pPr>
            <a:r>
              <a:rPr lang="en-US" sz="3000" b="1" dirty="0">
                <a:solidFill>
                  <a:srgbClr val="0F172A"/>
                </a:solidFill>
                <a:latin typeface="Inter" pitchFamily="34" charset="0"/>
                <a:ea typeface="Inter" pitchFamily="34" charset="-122"/>
                <a:cs typeface="Inter" pitchFamily="34" charset="-120"/>
              </a:rPr>
              <a:t>~310K</a:t>
            </a:r>
            <a:endParaRPr lang="en-US" sz="3000" dirty="0"/>
          </a:p>
        </p:txBody>
      </p:sp>
      <p:sp>
        <p:nvSpPr>
          <p:cNvPr id="20" name="Text 18"/>
          <p:cNvSpPr/>
          <p:nvPr/>
        </p:nvSpPr>
        <p:spPr>
          <a:xfrm>
            <a:off x="6309360" y="3291840"/>
            <a:ext cx="5105095" cy="256032"/>
          </a:xfrm>
          <a:prstGeom prst="rect">
            <a:avLst/>
          </a:prstGeom>
          <a:noFill/>
          <a:ln/>
        </p:spPr>
        <p:txBody>
          <a:bodyPr wrap="square" lIns="0" tIns="0" rIns="0" bIns="0" rtlCol="0" anchor="ctr"/>
          <a:lstStyle/>
          <a:p>
            <a:pPr algn="l" indent="0" marL="0">
              <a:buNone/>
            </a:pPr>
            <a:r>
              <a:rPr lang="en-US" sz="1050" dirty="0">
                <a:solidFill>
                  <a:srgbClr val="475569"/>
                </a:solidFill>
                <a:latin typeface="Inter" pitchFamily="34" charset="0"/>
                <a:ea typeface="Inter" pitchFamily="34" charset="-122"/>
                <a:cs typeface="Inter" pitchFamily="34" charset="-120"/>
              </a:rPr>
              <a:t>users · £56M/yr today</a:t>
            </a:r>
            <a:endParaRPr lang="en-US" sz="1050" dirty="0"/>
          </a:p>
        </p:txBody>
      </p:sp>
      <p:sp>
        <p:nvSpPr>
          <p:cNvPr id="21" name="Shape 19"/>
          <p:cNvSpPr/>
          <p:nvPr/>
        </p:nvSpPr>
        <p:spPr>
          <a:xfrm>
            <a:off x="6035040" y="3730752"/>
            <a:ext cx="5653735" cy="960120"/>
          </a:xfrm>
          <a:prstGeom prst="roundRect">
            <a:avLst>
              <a:gd name="adj" fmla="val 11429"/>
            </a:avLst>
          </a:prstGeom>
          <a:solidFill>
            <a:srgbClr val="FFFFFF"/>
          </a:solidFill>
          <a:ln w="9525">
            <a:solidFill>
              <a:srgbClr val="E2E0F0"/>
            </a:solidFill>
            <a:prstDash val="solid"/>
          </a:ln>
        </p:spPr>
      </p:sp>
      <p:sp>
        <p:nvSpPr>
          <p:cNvPr id="22" name="Text 20"/>
          <p:cNvSpPr/>
          <p:nvPr/>
        </p:nvSpPr>
        <p:spPr>
          <a:xfrm>
            <a:off x="6309360" y="3822192"/>
            <a:ext cx="5105095" cy="219456"/>
          </a:xfrm>
          <a:prstGeom prst="rect">
            <a:avLst/>
          </a:prstGeom>
          <a:noFill/>
          <a:ln/>
        </p:spPr>
        <p:txBody>
          <a:bodyPr wrap="square" lIns="0" tIns="0" rIns="0" bIns="0" rtlCol="0" anchor="ctr"/>
          <a:lstStyle/>
          <a:p>
            <a:pPr algn="l" indent="0" marL="0">
              <a:buNone/>
            </a:pPr>
            <a:r>
              <a:rPr lang="en-US" sz="1000" spc="300" kern="0" dirty="0">
                <a:solidFill>
                  <a:srgbClr val="94A3B8"/>
                </a:solidFill>
                <a:latin typeface="JetBrains Mono" pitchFamily="34" charset="0"/>
                <a:ea typeface="JetBrains Mono" pitchFamily="34" charset="-122"/>
                <a:cs typeface="JetBrains Mono" pitchFamily="34" charset="-120"/>
              </a:rPr>
              <a:t>SAM  ·  SERVICEABLE</a:t>
            </a:r>
            <a:endParaRPr lang="en-US" sz="1000" dirty="0"/>
          </a:p>
        </p:txBody>
      </p:sp>
      <p:sp>
        <p:nvSpPr>
          <p:cNvPr id="23" name="Text 21"/>
          <p:cNvSpPr/>
          <p:nvPr/>
        </p:nvSpPr>
        <p:spPr>
          <a:xfrm>
            <a:off x="6309360" y="4023360"/>
            <a:ext cx="5105095" cy="438912"/>
          </a:xfrm>
          <a:prstGeom prst="rect">
            <a:avLst/>
          </a:prstGeom>
          <a:noFill/>
          <a:ln/>
        </p:spPr>
        <p:txBody>
          <a:bodyPr wrap="square" lIns="0" tIns="0" rIns="0" bIns="0" rtlCol="0" anchor="t"/>
          <a:lstStyle/>
          <a:p>
            <a:pPr algn="l" indent="0" marL="0">
              <a:buNone/>
            </a:pPr>
            <a:r>
              <a:rPr lang="en-US" sz="3000" b="1" dirty="0">
                <a:solidFill>
                  <a:srgbClr val="0F172A"/>
                </a:solidFill>
                <a:latin typeface="Inter" pitchFamily="34" charset="0"/>
                <a:ea typeface="Inter" pitchFamily="34" charset="-122"/>
                <a:cs typeface="Inter" pitchFamily="34" charset="-120"/>
              </a:rPr>
              <a:t>~190K</a:t>
            </a:r>
            <a:endParaRPr lang="en-US" sz="3000" dirty="0"/>
          </a:p>
        </p:txBody>
      </p:sp>
      <p:sp>
        <p:nvSpPr>
          <p:cNvPr id="24" name="Text 22"/>
          <p:cNvSpPr/>
          <p:nvPr/>
        </p:nvSpPr>
        <p:spPr>
          <a:xfrm>
            <a:off x="6309360" y="4416552"/>
            <a:ext cx="5105095" cy="256032"/>
          </a:xfrm>
          <a:prstGeom prst="rect">
            <a:avLst/>
          </a:prstGeom>
          <a:noFill/>
          <a:ln/>
        </p:spPr>
        <p:txBody>
          <a:bodyPr wrap="square" lIns="0" tIns="0" rIns="0" bIns="0" rtlCol="0" anchor="ctr"/>
          <a:lstStyle/>
          <a:p>
            <a:pPr algn="l" indent="0" marL="0">
              <a:buNone/>
            </a:pPr>
            <a:r>
              <a:rPr lang="en-US" sz="1050" dirty="0">
                <a:solidFill>
                  <a:srgbClr val="475569"/>
                </a:solidFill>
                <a:latin typeface="Inter" pitchFamily="34" charset="0"/>
                <a:ea typeface="Inter" pitchFamily="34" charset="-122"/>
                <a:cs typeface="Inter" pitchFamily="34" charset="-120"/>
              </a:rPr>
              <a:t>users · £34M → £120M/yr by 2027</a:t>
            </a:r>
            <a:endParaRPr lang="en-US" sz="1050" dirty="0"/>
          </a:p>
        </p:txBody>
      </p:sp>
      <p:sp>
        <p:nvSpPr>
          <p:cNvPr id="25" name="Shape 23"/>
          <p:cNvSpPr/>
          <p:nvPr/>
        </p:nvSpPr>
        <p:spPr>
          <a:xfrm>
            <a:off x="6035040" y="4855464"/>
            <a:ext cx="5653735" cy="960120"/>
          </a:xfrm>
          <a:prstGeom prst="roundRect">
            <a:avLst>
              <a:gd name="adj" fmla="val 11429"/>
            </a:avLst>
          </a:prstGeom>
          <a:solidFill>
            <a:srgbClr val="0B0E1F"/>
          </a:solidFill>
          <a:ln w="9525">
            <a:solidFill>
              <a:srgbClr val="26305A"/>
            </a:solidFill>
            <a:prstDash val="solid"/>
          </a:ln>
        </p:spPr>
      </p:sp>
      <p:sp>
        <p:nvSpPr>
          <p:cNvPr id="26" name="Text 24"/>
          <p:cNvSpPr/>
          <p:nvPr/>
        </p:nvSpPr>
        <p:spPr>
          <a:xfrm>
            <a:off x="6309360" y="4946904"/>
            <a:ext cx="5105095" cy="219456"/>
          </a:xfrm>
          <a:prstGeom prst="rect">
            <a:avLst/>
          </a:prstGeom>
          <a:noFill/>
          <a:ln/>
        </p:spPr>
        <p:txBody>
          <a:bodyPr wrap="square" lIns="0" tIns="0" rIns="0" bIns="0" rtlCol="0" anchor="ctr"/>
          <a:lstStyle/>
          <a:p>
            <a:pPr algn="l" indent="0" marL="0">
              <a:buNone/>
            </a:pPr>
            <a:r>
              <a:rPr lang="en-US" sz="1000" spc="300" kern="0" dirty="0">
                <a:solidFill>
                  <a:srgbClr val="B4ACEF"/>
                </a:solidFill>
                <a:latin typeface="JetBrains Mono" pitchFamily="34" charset="0"/>
                <a:ea typeface="JetBrains Mono" pitchFamily="34" charset="-122"/>
                <a:cs typeface="JetBrains Mono" pitchFamily="34" charset="-120"/>
              </a:rPr>
              <a:t>SOM  ·  12–18 MONTH SPRINT</a:t>
            </a:r>
            <a:endParaRPr lang="en-US" sz="1000" dirty="0"/>
          </a:p>
        </p:txBody>
      </p:sp>
      <p:sp>
        <p:nvSpPr>
          <p:cNvPr id="27" name="Text 25"/>
          <p:cNvSpPr/>
          <p:nvPr/>
        </p:nvSpPr>
        <p:spPr>
          <a:xfrm>
            <a:off x="6309360" y="5148072"/>
            <a:ext cx="5105095" cy="438912"/>
          </a:xfrm>
          <a:prstGeom prst="rect">
            <a:avLst/>
          </a:prstGeom>
          <a:noFill/>
          <a:ln/>
        </p:spPr>
        <p:txBody>
          <a:bodyPr wrap="square" lIns="0" tIns="0" rIns="0" bIns="0" rtlCol="0" anchor="t"/>
          <a:lstStyle/>
          <a:p>
            <a:pPr algn="l" indent="0" marL="0">
              <a:buNone/>
            </a:pPr>
            <a:r>
              <a:rPr lang="en-US" sz="3000" b="1" dirty="0">
                <a:solidFill>
                  <a:srgbClr val="FFFFFF"/>
                </a:solidFill>
                <a:latin typeface="Inter" pitchFamily="34" charset="0"/>
                <a:ea typeface="Inter" pitchFamily="34" charset="-122"/>
                <a:cs typeface="Inter" pitchFamily="34" charset="-120"/>
              </a:rPr>
              <a:t>5–15K</a:t>
            </a:r>
            <a:endParaRPr lang="en-US" sz="3000" dirty="0"/>
          </a:p>
        </p:txBody>
      </p:sp>
      <p:sp>
        <p:nvSpPr>
          <p:cNvPr id="28" name="Text 26"/>
          <p:cNvSpPr/>
          <p:nvPr/>
        </p:nvSpPr>
        <p:spPr>
          <a:xfrm>
            <a:off x="6309360" y="5541264"/>
            <a:ext cx="5105095" cy="256032"/>
          </a:xfrm>
          <a:prstGeom prst="rect">
            <a:avLst/>
          </a:prstGeom>
          <a:noFill/>
          <a:ln/>
        </p:spPr>
        <p:txBody>
          <a:bodyPr wrap="square" lIns="0" tIns="0" rIns="0" bIns="0" rtlCol="0" anchor="ctr"/>
          <a:lstStyle/>
          <a:p>
            <a:pPr algn="l" indent="0" marL="0">
              <a:buNone/>
            </a:pPr>
            <a:r>
              <a:rPr lang="en-US" sz="1050" dirty="0">
                <a:solidFill>
                  <a:srgbClr val="C7CCE8"/>
                </a:solidFill>
                <a:latin typeface="Inter" pitchFamily="34" charset="0"/>
                <a:ea typeface="Inter" pitchFamily="34" charset="-122"/>
                <a:cs typeface="Inter" pitchFamily="34" charset="-120"/>
              </a:rPr>
              <a:t>paying customers by M18</a:t>
            </a:r>
            <a:endParaRPr lang="en-US" sz="1050" dirty="0"/>
          </a:p>
        </p:txBody>
      </p:sp>
      <p:sp>
        <p:nvSpPr>
          <p:cNvPr id="29" name="Text 27"/>
          <p:cNvSpPr/>
          <p:nvPr/>
        </p:nvSpPr>
        <p:spPr>
          <a:xfrm>
            <a:off x="502920" y="5989320"/>
            <a:ext cx="11185855" cy="201168"/>
          </a:xfrm>
          <a:prstGeom prst="rect">
            <a:avLst/>
          </a:prstGeom>
          <a:noFill/>
          <a:ln/>
        </p:spPr>
        <p:txBody>
          <a:bodyPr wrap="square" lIns="0" tIns="0" rIns="0" bIns="0" rtlCol="0" anchor="ctr"/>
          <a:lstStyle/>
          <a:p>
            <a:pPr algn="l" indent="0" marL="0">
              <a:buNone/>
            </a:pPr>
            <a:r>
              <a:rPr lang="en-US" sz="900" dirty="0">
                <a:solidFill>
                  <a:srgbClr val="94A3B8"/>
                </a:solidFill>
                <a:latin typeface="JetBrains Mono" pitchFamily="34" charset="0"/>
                <a:ea typeface="JetBrains Mono" pitchFamily="34" charset="-122"/>
                <a:cs typeface="JetBrains Mono" pitchFamily="34" charset="-120"/>
              </a:rPr>
              <a:t>TAM/SAM from marketing plan §2-3  ·  Sprint scenarios anchored on Cursor / Lovable / Bolt curves.</a:t>
            </a:r>
            <a:endParaRPr lang="en-US" sz="900" dirty="0"/>
          </a:p>
        </p:txBody>
      </p:sp>
      <p:sp>
        <p:nvSpPr>
          <p:cNvPr id="30" name="Shape 28"/>
          <p:cNvSpPr/>
          <p:nvPr/>
        </p:nvSpPr>
        <p:spPr>
          <a:xfrm>
            <a:off x="502920" y="6263640"/>
            <a:ext cx="11185855" cy="0"/>
          </a:xfrm>
          <a:prstGeom prst="line">
            <a:avLst/>
          </a:prstGeom>
          <a:noFill/>
          <a:ln w="6350">
            <a:solidFill>
              <a:srgbClr val="E2E0F0"/>
            </a:solidFill>
            <a:prstDash val="solid"/>
          </a:ln>
        </p:spPr>
      </p:sp>
      <p:sp>
        <p:nvSpPr>
          <p:cNvPr id="31" name="Text 29"/>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32" name="Text 30"/>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08  /  28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09  ·  CUSTOMER PROFILE</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Three faces. </a:t>
            </a:r>
            <a:pPr algn="l" indent="0" marL="0">
              <a:buNone/>
            </a:pPr>
            <a:r>
              <a:rPr lang="en-US" sz="3600" b="1" dirty="0">
                <a:solidFill>
                  <a:srgbClr val="5040E5"/>
                </a:solidFill>
                <a:latin typeface="Inter" pitchFamily="34" charset="0"/>
                <a:ea typeface="Inter" pitchFamily="34" charset="-122"/>
                <a:cs typeface="Inter" pitchFamily="34" charset="-120"/>
              </a:rPr>
              <a:t>One reason to pay.</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Founders with an idea and a thin tech stomach. Light-to-power AI usage, time-poor, looking for a working product — not another tool to learn.</a:t>
            </a:r>
            <a:endParaRPr lang="en-US" sz="1550" dirty="0"/>
          </a:p>
        </p:txBody>
      </p:sp>
      <p:sp>
        <p:nvSpPr>
          <p:cNvPr id="9" name="Shape 7"/>
          <p:cNvSpPr/>
          <p:nvPr/>
        </p:nvSpPr>
        <p:spPr>
          <a:xfrm>
            <a:off x="548640" y="2606040"/>
            <a:ext cx="2705024" cy="594360"/>
          </a:xfrm>
          <a:prstGeom prst="roundRect">
            <a:avLst>
              <a:gd name="adj" fmla="val 18462"/>
            </a:avLst>
          </a:prstGeom>
          <a:solidFill>
            <a:srgbClr val="F0EDFC"/>
          </a:solidFill>
          <a:ln w="6350">
            <a:solidFill>
              <a:srgbClr val="E8E5FB"/>
            </a:solidFill>
            <a:prstDash val="solid"/>
          </a:ln>
        </p:spPr>
      </p:sp>
      <p:sp>
        <p:nvSpPr>
          <p:cNvPr id="10" name="Text 8"/>
          <p:cNvSpPr/>
          <p:nvPr/>
        </p:nvSpPr>
        <p:spPr>
          <a:xfrm>
            <a:off x="731520" y="2606040"/>
            <a:ext cx="1280160" cy="594360"/>
          </a:xfrm>
          <a:prstGeom prst="rect">
            <a:avLst/>
          </a:prstGeom>
          <a:noFill/>
          <a:ln/>
        </p:spPr>
        <p:txBody>
          <a:bodyPr wrap="square" lIns="0" tIns="0" rIns="0" bIns="0" rtlCol="0" anchor="ctr"/>
          <a:lstStyle/>
          <a:p>
            <a:pPr algn="l" indent="0" marL="0">
              <a:buNone/>
            </a:pPr>
            <a:r>
              <a:rPr lang="en-US" sz="1800" b="1" dirty="0">
                <a:solidFill>
                  <a:srgbClr val="5040E5"/>
                </a:solidFill>
                <a:latin typeface="Inter" pitchFamily="34" charset="0"/>
                <a:ea typeface="Inter" pitchFamily="34" charset="-122"/>
                <a:cs typeface="Inter" pitchFamily="34" charset="-120"/>
              </a:rPr>
              <a:t>40%</a:t>
            </a:r>
            <a:endParaRPr lang="en-US" sz="1800" dirty="0"/>
          </a:p>
        </p:txBody>
      </p:sp>
      <p:sp>
        <p:nvSpPr>
          <p:cNvPr id="11" name="Text 9"/>
          <p:cNvSpPr/>
          <p:nvPr/>
        </p:nvSpPr>
        <p:spPr>
          <a:xfrm>
            <a:off x="2057400" y="2606040"/>
            <a:ext cx="1104824" cy="594360"/>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of UK adults running a side-hustle (Henley 2023)</a:t>
            </a:r>
            <a:endParaRPr lang="en-US" sz="1000" dirty="0"/>
          </a:p>
        </p:txBody>
      </p:sp>
      <p:sp>
        <p:nvSpPr>
          <p:cNvPr id="12" name="Shape 10"/>
          <p:cNvSpPr/>
          <p:nvPr/>
        </p:nvSpPr>
        <p:spPr>
          <a:xfrm>
            <a:off x="3345104" y="2606040"/>
            <a:ext cx="2705024" cy="594360"/>
          </a:xfrm>
          <a:prstGeom prst="roundRect">
            <a:avLst>
              <a:gd name="adj" fmla="val 18462"/>
            </a:avLst>
          </a:prstGeom>
          <a:solidFill>
            <a:srgbClr val="F0EDFC"/>
          </a:solidFill>
          <a:ln w="6350">
            <a:solidFill>
              <a:srgbClr val="E8E5FB"/>
            </a:solidFill>
            <a:prstDash val="solid"/>
          </a:ln>
        </p:spPr>
      </p:sp>
      <p:sp>
        <p:nvSpPr>
          <p:cNvPr id="13" name="Text 11"/>
          <p:cNvSpPr/>
          <p:nvPr/>
        </p:nvSpPr>
        <p:spPr>
          <a:xfrm>
            <a:off x="3527984" y="2606040"/>
            <a:ext cx="1280160" cy="594360"/>
          </a:xfrm>
          <a:prstGeom prst="rect">
            <a:avLst/>
          </a:prstGeom>
          <a:noFill/>
          <a:ln/>
        </p:spPr>
        <p:txBody>
          <a:bodyPr wrap="square" lIns="0" tIns="0" rIns="0" bIns="0" rtlCol="0" anchor="ctr"/>
          <a:lstStyle/>
          <a:p>
            <a:pPr algn="l" indent="0" marL="0">
              <a:buNone/>
            </a:pPr>
            <a:r>
              <a:rPr lang="en-US" sz="1800" b="1" dirty="0">
                <a:solidFill>
                  <a:srgbClr val="5040E5"/>
                </a:solidFill>
                <a:latin typeface="Inter" pitchFamily="34" charset="0"/>
                <a:ea typeface="Inter" pitchFamily="34" charset="-122"/>
                <a:cs typeface="Inter" pitchFamily="34" charset="-120"/>
              </a:rPr>
              <a:t>3M+</a:t>
            </a:r>
            <a:endParaRPr lang="en-US" sz="1800" dirty="0"/>
          </a:p>
        </p:txBody>
      </p:sp>
      <p:sp>
        <p:nvSpPr>
          <p:cNvPr id="14" name="Text 12"/>
          <p:cNvSpPr/>
          <p:nvPr/>
        </p:nvSpPr>
        <p:spPr>
          <a:xfrm>
            <a:off x="4853864" y="2606040"/>
            <a:ext cx="1104824" cy="594360"/>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paid AI-coder seats globally (Cursor / Claude / Lovable)</a:t>
            </a:r>
            <a:endParaRPr lang="en-US" sz="1000" dirty="0"/>
          </a:p>
        </p:txBody>
      </p:sp>
      <p:sp>
        <p:nvSpPr>
          <p:cNvPr id="15" name="Shape 13"/>
          <p:cNvSpPr/>
          <p:nvPr/>
        </p:nvSpPr>
        <p:spPr>
          <a:xfrm>
            <a:off x="6141568" y="2606040"/>
            <a:ext cx="2705024" cy="594360"/>
          </a:xfrm>
          <a:prstGeom prst="roundRect">
            <a:avLst>
              <a:gd name="adj" fmla="val 18462"/>
            </a:avLst>
          </a:prstGeom>
          <a:solidFill>
            <a:srgbClr val="F0EDFC"/>
          </a:solidFill>
          <a:ln w="6350">
            <a:solidFill>
              <a:srgbClr val="E8E5FB"/>
            </a:solidFill>
            <a:prstDash val="solid"/>
          </a:ln>
        </p:spPr>
      </p:sp>
      <p:sp>
        <p:nvSpPr>
          <p:cNvPr id="16" name="Text 14"/>
          <p:cNvSpPr/>
          <p:nvPr/>
        </p:nvSpPr>
        <p:spPr>
          <a:xfrm>
            <a:off x="6324448" y="2606040"/>
            <a:ext cx="1280160" cy="594360"/>
          </a:xfrm>
          <a:prstGeom prst="rect">
            <a:avLst/>
          </a:prstGeom>
          <a:noFill/>
          <a:ln/>
        </p:spPr>
        <p:txBody>
          <a:bodyPr wrap="square" lIns="0" tIns="0" rIns="0" bIns="0" rtlCol="0" anchor="ctr"/>
          <a:lstStyle/>
          <a:p>
            <a:pPr algn="l" indent="0" marL="0">
              <a:buNone/>
            </a:pPr>
            <a:r>
              <a:rPr lang="en-US" sz="1800" b="1" dirty="0">
                <a:solidFill>
                  <a:srgbClr val="5040E5"/>
                </a:solidFill>
                <a:latin typeface="Inter" pitchFamily="34" charset="0"/>
                <a:ea typeface="Inter" pitchFamily="34" charset="-122"/>
                <a:cs typeface="Inter" pitchFamily="34" charset="-120"/>
              </a:rPr>
              <a:t>£10-40/mo</a:t>
            </a:r>
            <a:endParaRPr lang="en-US" sz="1800" dirty="0"/>
          </a:p>
        </p:txBody>
      </p:sp>
      <p:sp>
        <p:nvSpPr>
          <p:cNvPr id="17" name="Text 15"/>
          <p:cNvSpPr/>
          <p:nvPr/>
        </p:nvSpPr>
        <p:spPr>
          <a:xfrm>
            <a:off x="7650328" y="2606040"/>
            <a:ext cx="1104824" cy="594360"/>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typical AI subscription our ICP already pays</a:t>
            </a:r>
            <a:endParaRPr lang="en-US" sz="1000" dirty="0"/>
          </a:p>
        </p:txBody>
      </p:sp>
      <p:sp>
        <p:nvSpPr>
          <p:cNvPr id="18" name="Shape 16"/>
          <p:cNvSpPr/>
          <p:nvPr/>
        </p:nvSpPr>
        <p:spPr>
          <a:xfrm>
            <a:off x="8938031" y="2606040"/>
            <a:ext cx="2705024" cy="594360"/>
          </a:xfrm>
          <a:prstGeom prst="roundRect">
            <a:avLst>
              <a:gd name="adj" fmla="val 18462"/>
            </a:avLst>
          </a:prstGeom>
          <a:solidFill>
            <a:srgbClr val="F0EDFC"/>
          </a:solidFill>
          <a:ln w="6350">
            <a:solidFill>
              <a:srgbClr val="E8E5FB"/>
            </a:solidFill>
            <a:prstDash val="solid"/>
          </a:ln>
        </p:spPr>
      </p:sp>
      <p:sp>
        <p:nvSpPr>
          <p:cNvPr id="19" name="Text 17"/>
          <p:cNvSpPr/>
          <p:nvPr/>
        </p:nvSpPr>
        <p:spPr>
          <a:xfrm>
            <a:off x="9120911" y="2606040"/>
            <a:ext cx="1280160" cy="594360"/>
          </a:xfrm>
          <a:prstGeom prst="rect">
            <a:avLst/>
          </a:prstGeom>
          <a:noFill/>
          <a:ln/>
        </p:spPr>
        <p:txBody>
          <a:bodyPr wrap="square" lIns="0" tIns="0" rIns="0" bIns="0" rtlCol="0" anchor="ctr"/>
          <a:lstStyle/>
          <a:p>
            <a:pPr algn="l" indent="0" marL="0">
              <a:buNone/>
            </a:pPr>
            <a:r>
              <a:rPr lang="en-US" sz="1800" b="1" dirty="0">
                <a:solidFill>
                  <a:srgbClr val="5040E5"/>
                </a:solidFill>
                <a:latin typeface="Inter" pitchFamily="34" charset="0"/>
                <a:ea typeface="Inter" pitchFamily="34" charset="-122"/>
                <a:cs typeface="Inter" pitchFamily="34" charset="-120"/>
              </a:rPr>
              <a:t>50+ hrs</a:t>
            </a:r>
            <a:endParaRPr lang="en-US" sz="1800" dirty="0"/>
          </a:p>
        </p:txBody>
      </p:sp>
      <p:sp>
        <p:nvSpPr>
          <p:cNvPr id="20" name="Text 18"/>
          <p:cNvSpPr/>
          <p:nvPr/>
        </p:nvSpPr>
        <p:spPr>
          <a:xfrm>
            <a:off x="10446791" y="2606040"/>
            <a:ext cx="1104824" cy="594360"/>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stitching infra together solo (indie-hacker reports)</a:t>
            </a:r>
            <a:endParaRPr lang="en-US" sz="1000" dirty="0"/>
          </a:p>
        </p:txBody>
      </p:sp>
      <p:sp>
        <p:nvSpPr>
          <p:cNvPr id="21" name="Shape 19"/>
          <p:cNvSpPr/>
          <p:nvPr/>
        </p:nvSpPr>
        <p:spPr>
          <a:xfrm>
            <a:off x="502920" y="3383280"/>
            <a:ext cx="3606698" cy="2926080"/>
          </a:xfrm>
          <a:prstGeom prst="roundRect">
            <a:avLst>
              <a:gd name="adj" fmla="val 3750"/>
            </a:avLst>
          </a:prstGeom>
          <a:solidFill>
            <a:srgbClr val="FFFFFF"/>
          </a:solidFill>
          <a:ln w="9525">
            <a:solidFill>
              <a:srgbClr val="E2E0F0"/>
            </a:solidFill>
            <a:prstDash val="solid"/>
          </a:ln>
        </p:spPr>
      </p:sp>
      <p:sp>
        <p:nvSpPr>
          <p:cNvPr id="22" name="Shape 20"/>
          <p:cNvSpPr/>
          <p:nvPr/>
        </p:nvSpPr>
        <p:spPr>
          <a:xfrm>
            <a:off x="731520" y="3611880"/>
            <a:ext cx="640080" cy="640080"/>
          </a:xfrm>
          <a:prstGeom prst="ellipse">
            <a:avLst/>
          </a:prstGeom>
          <a:solidFill>
            <a:srgbClr val="E8E5FB"/>
          </a:solidFill>
          <a:ln/>
        </p:spPr>
      </p:sp>
      <p:sp>
        <p:nvSpPr>
          <p:cNvPr id="23" name="Text 21"/>
          <p:cNvSpPr/>
          <p:nvPr/>
        </p:nvSpPr>
        <p:spPr>
          <a:xfrm>
            <a:off x="731520" y="3611880"/>
            <a:ext cx="640080" cy="640080"/>
          </a:xfrm>
          <a:prstGeom prst="rect">
            <a:avLst/>
          </a:prstGeom>
          <a:noFill/>
          <a:ln/>
        </p:spPr>
        <p:txBody>
          <a:bodyPr wrap="square" lIns="0" tIns="0" rIns="0" bIns="0" rtlCol="0" anchor="ctr"/>
          <a:lstStyle/>
          <a:p>
            <a:pPr algn="ctr" indent="0" marL="0">
              <a:buNone/>
            </a:pPr>
            <a:r>
              <a:rPr lang="en-US" sz="2400" b="1" dirty="0">
                <a:solidFill>
                  <a:srgbClr val="5040E5"/>
                </a:solidFill>
                <a:latin typeface="Inter" pitchFamily="34" charset="0"/>
                <a:ea typeface="Inter" pitchFamily="34" charset="-122"/>
                <a:cs typeface="Inter" pitchFamily="34" charset="-120"/>
              </a:rPr>
              <a:t>A</a:t>
            </a:r>
            <a:endParaRPr lang="en-US" sz="2400" dirty="0"/>
          </a:p>
        </p:txBody>
      </p:sp>
      <p:sp>
        <p:nvSpPr>
          <p:cNvPr id="24" name="Text 22"/>
          <p:cNvSpPr/>
          <p:nvPr/>
        </p:nvSpPr>
        <p:spPr>
          <a:xfrm>
            <a:off x="1508760" y="3611880"/>
            <a:ext cx="2417978" cy="320040"/>
          </a:xfrm>
          <a:prstGeom prst="rect">
            <a:avLst/>
          </a:prstGeom>
          <a:noFill/>
          <a:ln/>
        </p:spPr>
        <p:txBody>
          <a:bodyPr wrap="square" lIns="0" tIns="0" rIns="0" bIns="0" rtlCol="0" anchor="ctr"/>
          <a:lstStyle/>
          <a:p>
            <a:pPr algn="l" indent="0" marL="0">
              <a:buNone/>
            </a:pPr>
            <a:r>
              <a:rPr lang="en-US" sz="1900" b="1" dirty="0">
                <a:solidFill>
                  <a:srgbClr val="0F172A"/>
                </a:solidFill>
                <a:latin typeface="Inter" pitchFamily="34" charset="0"/>
                <a:ea typeface="Inter" pitchFamily="34" charset="-122"/>
                <a:cs typeface="Inter" pitchFamily="34" charset="-120"/>
              </a:rPr>
              <a:t>Aisha, 31</a:t>
            </a:r>
            <a:endParaRPr lang="en-US" sz="1900" dirty="0"/>
          </a:p>
        </p:txBody>
      </p:sp>
      <p:sp>
        <p:nvSpPr>
          <p:cNvPr id="25" name="Text 23"/>
          <p:cNvSpPr/>
          <p:nvPr/>
        </p:nvSpPr>
        <p:spPr>
          <a:xfrm>
            <a:off x="1508760" y="3931920"/>
            <a:ext cx="2417978" cy="274320"/>
          </a:xfrm>
          <a:prstGeom prst="rect">
            <a:avLst/>
          </a:prstGeom>
          <a:noFill/>
          <a:ln/>
        </p:spPr>
        <p:txBody>
          <a:bodyPr wrap="square" lIns="0" tIns="0" rIns="0" bIns="0" rtlCol="0" anchor="ctr"/>
          <a:lstStyle/>
          <a:p>
            <a:pPr algn="l" indent="0" marL="0">
              <a:buNone/>
            </a:pPr>
            <a:r>
              <a:rPr lang="en-US" sz="1050" spc="300" kern="0" dirty="0">
                <a:solidFill>
                  <a:srgbClr val="94A3B8"/>
                </a:solidFill>
                <a:latin typeface="JetBrains Mono" pitchFamily="34" charset="0"/>
                <a:ea typeface="JetBrains Mono" pitchFamily="34" charset="-122"/>
                <a:cs typeface="JetBrains Mono" pitchFamily="34" charset="-120"/>
              </a:rPr>
              <a:t>🇬🇧   UK  ·  PERSONAL TRAINER</a:t>
            </a:r>
            <a:endParaRPr lang="en-US" sz="1050" dirty="0"/>
          </a:p>
        </p:txBody>
      </p:sp>
      <p:sp>
        <p:nvSpPr>
          <p:cNvPr id="26" name="Shape 24"/>
          <p:cNvSpPr/>
          <p:nvPr/>
        </p:nvSpPr>
        <p:spPr>
          <a:xfrm>
            <a:off x="731520" y="4389120"/>
            <a:ext cx="3149498" cy="0"/>
          </a:xfrm>
          <a:prstGeom prst="line">
            <a:avLst/>
          </a:prstGeom>
          <a:noFill/>
          <a:ln w="6350">
            <a:solidFill>
              <a:srgbClr val="E2E0F0"/>
            </a:solidFill>
            <a:prstDash val="solid"/>
          </a:ln>
        </p:spPr>
      </p:sp>
      <p:sp>
        <p:nvSpPr>
          <p:cNvPr id="27" name="Text 25"/>
          <p:cNvSpPr/>
          <p:nvPr/>
        </p:nvSpPr>
        <p:spPr>
          <a:xfrm>
            <a:off x="731520" y="4434840"/>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PROFILE</a:t>
            </a:r>
            <a:endParaRPr lang="en-US" sz="850" dirty="0"/>
          </a:p>
        </p:txBody>
      </p:sp>
      <p:sp>
        <p:nvSpPr>
          <p:cNvPr id="28" name="Text 26"/>
          <p:cNvSpPr/>
          <p:nvPr/>
        </p:nvSpPr>
        <p:spPr>
          <a:xfrm>
            <a:off x="1874520" y="4434840"/>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Personal trainer · Manchester · £42K + freelance clients</a:t>
            </a:r>
            <a:endParaRPr lang="en-US" sz="950" dirty="0"/>
          </a:p>
        </p:txBody>
      </p:sp>
      <p:sp>
        <p:nvSpPr>
          <p:cNvPr id="29" name="Text 27"/>
          <p:cNvSpPr/>
          <p:nvPr/>
        </p:nvSpPr>
        <p:spPr>
          <a:xfrm>
            <a:off x="731520" y="4764024"/>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TOOLS  ·  LIGHT</a:t>
            </a:r>
            <a:endParaRPr lang="en-US" sz="850" dirty="0"/>
          </a:p>
        </p:txBody>
      </p:sp>
      <p:sp>
        <p:nvSpPr>
          <p:cNvPr id="30" name="Text 28"/>
          <p:cNvSpPr/>
          <p:nvPr/>
        </p:nvSpPr>
        <p:spPr>
          <a:xfrm>
            <a:off x="1874520" y="4764024"/>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ChatGPT (mostly for captions)</a:t>
            </a:r>
            <a:endParaRPr lang="en-US" sz="950" dirty="0"/>
          </a:p>
        </p:txBody>
      </p:sp>
      <p:sp>
        <p:nvSpPr>
          <p:cNvPr id="31" name="Text 29"/>
          <p:cNvSpPr/>
          <p:nvPr/>
        </p:nvSpPr>
        <p:spPr>
          <a:xfrm>
            <a:off x="731520" y="5093208"/>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IDEA</a:t>
            </a:r>
            <a:endParaRPr lang="en-US" sz="850" dirty="0"/>
          </a:p>
        </p:txBody>
      </p:sp>
      <p:sp>
        <p:nvSpPr>
          <p:cNvPr id="32" name="Text 30"/>
          <p:cNvSpPr/>
          <p:nvPr/>
        </p:nvSpPr>
        <p:spPr>
          <a:xfrm>
            <a:off x="1874520" y="5093208"/>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Meal-prep app her PT clients can use between sessions</a:t>
            </a:r>
            <a:endParaRPr lang="en-US" sz="950" dirty="0"/>
          </a:p>
        </p:txBody>
      </p:sp>
      <p:sp>
        <p:nvSpPr>
          <p:cNvPr id="33" name="Text 31"/>
          <p:cNvSpPr/>
          <p:nvPr/>
        </p:nvSpPr>
        <p:spPr>
          <a:xfrm>
            <a:off x="731520" y="5422392"/>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PAIN</a:t>
            </a:r>
            <a:endParaRPr lang="en-US" sz="850" dirty="0"/>
          </a:p>
        </p:txBody>
      </p:sp>
      <p:sp>
        <p:nvSpPr>
          <p:cNvPr id="34" name="Text 32"/>
          <p:cNvSpPr/>
          <p:nvPr/>
        </p:nvSpPr>
        <p:spPr>
          <a:xfrm>
            <a:off x="1874520" y="5422392"/>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Doesn't know what 'auth' means. Just wants the AI to make it work.</a:t>
            </a:r>
            <a:endParaRPr lang="en-US" sz="950" dirty="0"/>
          </a:p>
        </p:txBody>
      </p:sp>
      <p:sp>
        <p:nvSpPr>
          <p:cNvPr id="35" name="Text 33"/>
          <p:cNvSpPr/>
          <p:nvPr/>
        </p:nvSpPr>
        <p:spPr>
          <a:xfrm>
            <a:off x="731520" y="5806440"/>
            <a:ext cx="3149498" cy="411480"/>
          </a:xfrm>
          <a:prstGeom prst="rect">
            <a:avLst/>
          </a:prstGeom>
          <a:noFill/>
          <a:ln/>
        </p:spPr>
        <p:txBody>
          <a:bodyPr wrap="square" lIns="0" tIns="0" rIns="0" bIns="0" rtlCol="0" anchor="t"/>
          <a:lstStyle/>
          <a:p>
            <a:pPr algn="l" indent="0" marL="0">
              <a:buNone/>
            </a:pPr>
            <a:r>
              <a:rPr lang="en-US" sz="1000" i="1" dirty="0">
                <a:solidFill>
                  <a:srgbClr val="5040E5"/>
                </a:solidFill>
                <a:latin typeface="Inter" pitchFamily="34" charset="0"/>
                <a:ea typeface="Inter" pitchFamily="34" charset="-122"/>
                <a:cs typeface="Inter" pitchFamily="34" charset="-120"/>
              </a:rPr>
              <a:t>"I tried Lovable. It looks like an app — but I can't actually charge anyone."</a:t>
            </a:r>
            <a:endParaRPr lang="en-US" sz="1000" dirty="0"/>
          </a:p>
        </p:txBody>
      </p:sp>
      <p:sp>
        <p:nvSpPr>
          <p:cNvPr id="36" name="Shape 34"/>
          <p:cNvSpPr/>
          <p:nvPr/>
        </p:nvSpPr>
        <p:spPr>
          <a:xfrm>
            <a:off x="4292498" y="3383280"/>
            <a:ext cx="3606698" cy="2926080"/>
          </a:xfrm>
          <a:prstGeom prst="roundRect">
            <a:avLst>
              <a:gd name="adj" fmla="val 3750"/>
            </a:avLst>
          </a:prstGeom>
          <a:solidFill>
            <a:srgbClr val="FFFFFF"/>
          </a:solidFill>
          <a:ln w="9525">
            <a:solidFill>
              <a:srgbClr val="E2E0F0"/>
            </a:solidFill>
            <a:prstDash val="solid"/>
          </a:ln>
        </p:spPr>
      </p:sp>
      <p:sp>
        <p:nvSpPr>
          <p:cNvPr id="37" name="Shape 35"/>
          <p:cNvSpPr/>
          <p:nvPr/>
        </p:nvSpPr>
        <p:spPr>
          <a:xfrm>
            <a:off x="4521098" y="3611880"/>
            <a:ext cx="640080" cy="640080"/>
          </a:xfrm>
          <a:prstGeom prst="ellipse">
            <a:avLst/>
          </a:prstGeom>
          <a:solidFill>
            <a:srgbClr val="E8E5FB"/>
          </a:solidFill>
          <a:ln/>
        </p:spPr>
      </p:sp>
      <p:sp>
        <p:nvSpPr>
          <p:cNvPr id="38" name="Text 36"/>
          <p:cNvSpPr/>
          <p:nvPr/>
        </p:nvSpPr>
        <p:spPr>
          <a:xfrm>
            <a:off x="4521098" y="3611880"/>
            <a:ext cx="640080" cy="640080"/>
          </a:xfrm>
          <a:prstGeom prst="rect">
            <a:avLst/>
          </a:prstGeom>
          <a:noFill/>
          <a:ln/>
        </p:spPr>
        <p:txBody>
          <a:bodyPr wrap="square" lIns="0" tIns="0" rIns="0" bIns="0" rtlCol="0" anchor="ctr"/>
          <a:lstStyle/>
          <a:p>
            <a:pPr algn="ctr" indent="0" marL="0">
              <a:buNone/>
            </a:pPr>
            <a:r>
              <a:rPr lang="en-US" sz="2400" b="1" dirty="0">
                <a:solidFill>
                  <a:srgbClr val="5040E5"/>
                </a:solidFill>
                <a:latin typeface="Inter" pitchFamily="34" charset="0"/>
                <a:ea typeface="Inter" pitchFamily="34" charset="-122"/>
                <a:cs typeface="Inter" pitchFamily="34" charset="-120"/>
              </a:rPr>
              <a:t>T</a:t>
            </a:r>
            <a:endParaRPr lang="en-US" sz="2400" dirty="0"/>
          </a:p>
        </p:txBody>
      </p:sp>
      <p:sp>
        <p:nvSpPr>
          <p:cNvPr id="39" name="Text 37"/>
          <p:cNvSpPr/>
          <p:nvPr/>
        </p:nvSpPr>
        <p:spPr>
          <a:xfrm>
            <a:off x="5298338" y="3611880"/>
            <a:ext cx="2417978" cy="320040"/>
          </a:xfrm>
          <a:prstGeom prst="rect">
            <a:avLst/>
          </a:prstGeom>
          <a:noFill/>
          <a:ln/>
        </p:spPr>
        <p:txBody>
          <a:bodyPr wrap="square" lIns="0" tIns="0" rIns="0" bIns="0" rtlCol="0" anchor="ctr"/>
          <a:lstStyle/>
          <a:p>
            <a:pPr algn="l" indent="0" marL="0">
              <a:buNone/>
            </a:pPr>
            <a:r>
              <a:rPr lang="en-US" sz="1900" b="1" dirty="0">
                <a:solidFill>
                  <a:srgbClr val="0F172A"/>
                </a:solidFill>
                <a:latin typeface="Inter" pitchFamily="34" charset="0"/>
                <a:ea typeface="Inter" pitchFamily="34" charset="-122"/>
                <a:cs typeface="Inter" pitchFamily="34" charset="-120"/>
              </a:rPr>
              <a:t>Tom, 39</a:t>
            </a:r>
            <a:endParaRPr lang="en-US" sz="1900" dirty="0"/>
          </a:p>
        </p:txBody>
      </p:sp>
      <p:sp>
        <p:nvSpPr>
          <p:cNvPr id="40" name="Text 38"/>
          <p:cNvSpPr/>
          <p:nvPr/>
        </p:nvSpPr>
        <p:spPr>
          <a:xfrm>
            <a:off x="5298338" y="3931920"/>
            <a:ext cx="2417978" cy="274320"/>
          </a:xfrm>
          <a:prstGeom prst="rect">
            <a:avLst/>
          </a:prstGeom>
          <a:noFill/>
          <a:ln/>
        </p:spPr>
        <p:txBody>
          <a:bodyPr wrap="square" lIns="0" tIns="0" rIns="0" bIns="0" rtlCol="0" anchor="ctr"/>
          <a:lstStyle/>
          <a:p>
            <a:pPr algn="l" indent="0" marL="0">
              <a:buNone/>
            </a:pPr>
            <a:r>
              <a:rPr lang="en-US" sz="1050" spc="300" kern="0" dirty="0">
                <a:solidFill>
                  <a:srgbClr val="94A3B8"/>
                </a:solidFill>
                <a:latin typeface="JetBrains Mono" pitchFamily="34" charset="0"/>
                <a:ea typeface="JetBrains Mono" pitchFamily="34" charset="-122"/>
                <a:cs typeface="JetBrains Mono" pitchFamily="34" charset="-120"/>
              </a:rPr>
              <a:t>🇺🇸   US  ·  CORPORATE CONSULTANT</a:t>
            </a:r>
            <a:endParaRPr lang="en-US" sz="1050" dirty="0"/>
          </a:p>
        </p:txBody>
      </p:sp>
      <p:sp>
        <p:nvSpPr>
          <p:cNvPr id="41" name="Shape 39"/>
          <p:cNvSpPr/>
          <p:nvPr/>
        </p:nvSpPr>
        <p:spPr>
          <a:xfrm>
            <a:off x="4521098" y="4389120"/>
            <a:ext cx="3149498" cy="0"/>
          </a:xfrm>
          <a:prstGeom prst="line">
            <a:avLst/>
          </a:prstGeom>
          <a:noFill/>
          <a:ln w="6350">
            <a:solidFill>
              <a:srgbClr val="E2E0F0"/>
            </a:solidFill>
            <a:prstDash val="solid"/>
          </a:ln>
        </p:spPr>
      </p:sp>
      <p:sp>
        <p:nvSpPr>
          <p:cNvPr id="42" name="Text 40"/>
          <p:cNvSpPr/>
          <p:nvPr/>
        </p:nvSpPr>
        <p:spPr>
          <a:xfrm>
            <a:off x="4521098" y="4434840"/>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PROFILE</a:t>
            </a:r>
            <a:endParaRPr lang="en-US" sz="850" dirty="0"/>
          </a:p>
        </p:txBody>
      </p:sp>
      <p:sp>
        <p:nvSpPr>
          <p:cNvPr id="43" name="Text 41"/>
          <p:cNvSpPr/>
          <p:nvPr/>
        </p:nvSpPr>
        <p:spPr>
          <a:xfrm>
            <a:off x="5664098" y="4434840"/>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Strategy consultant · Chicago · $145K + side-IP</a:t>
            </a:r>
            <a:endParaRPr lang="en-US" sz="950" dirty="0"/>
          </a:p>
        </p:txBody>
      </p:sp>
      <p:sp>
        <p:nvSpPr>
          <p:cNvPr id="44" name="Text 42"/>
          <p:cNvSpPr/>
          <p:nvPr/>
        </p:nvSpPr>
        <p:spPr>
          <a:xfrm>
            <a:off x="4521098" y="4764024"/>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TOOLS  ·  WORK-DRIVEN</a:t>
            </a:r>
            <a:endParaRPr lang="en-US" sz="850" dirty="0"/>
          </a:p>
        </p:txBody>
      </p:sp>
      <p:sp>
        <p:nvSpPr>
          <p:cNvPr id="45" name="Text 43"/>
          <p:cNvSpPr/>
          <p:nvPr/>
        </p:nvSpPr>
        <p:spPr>
          <a:xfrm>
            <a:off x="5664098" y="4764024"/>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Copilot · ChatGPT (corporate)</a:t>
            </a:r>
            <a:endParaRPr lang="en-US" sz="950" dirty="0"/>
          </a:p>
        </p:txBody>
      </p:sp>
      <p:sp>
        <p:nvSpPr>
          <p:cNvPr id="46" name="Text 44"/>
          <p:cNvSpPr/>
          <p:nvPr/>
        </p:nvSpPr>
        <p:spPr>
          <a:xfrm>
            <a:off x="4521098" y="5093208"/>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IDEA</a:t>
            </a:r>
            <a:endParaRPr lang="en-US" sz="850" dirty="0"/>
          </a:p>
        </p:txBody>
      </p:sp>
      <p:sp>
        <p:nvSpPr>
          <p:cNvPr id="47" name="Text 45"/>
          <p:cNvSpPr/>
          <p:nvPr/>
        </p:nvSpPr>
        <p:spPr>
          <a:xfrm>
            <a:off x="5664098" y="5093208"/>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Productised version of his client diagnostic framework</a:t>
            </a:r>
            <a:endParaRPr lang="en-US" sz="950" dirty="0"/>
          </a:p>
        </p:txBody>
      </p:sp>
      <p:sp>
        <p:nvSpPr>
          <p:cNvPr id="48" name="Text 46"/>
          <p:cNvSpPr/>
          <p:nvPr/>
        </p:nvSpPr>
        <p:spPr>
          <a:xfrm>
            <a:off x="4521098" y="5422392"/>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PAIN</a:t>
            </a:r>
            <a:endParaRPr lang="en-US" sz="850" dirty="0"/>
          </a:p>
        </p:txBody>
      </p:sp>
      <p:sp>
        <p:nvSpPr>
          <p:cNvPr id="49" name="Text 47"/>
          <p:cNvSpPr/>
          <p:nvPr/>
        </p:nvSpPr>
        <p:spPr>
          <a:xfrm>
            <a:off x="5664098" y="5422392"/>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Knows enough to be dangerous. Won't spend Saturdays plumbing infra.</a:t>
            </a:r>
            <a:endParaRPr lang="en-US" sz="950" dirty="0"/>
          </a:p>
        </p:txBody>
      </p:sp>
      <p:sp>
        <p:nvSpPr>
          <p:cNvPr id="50" name="Text 48"/>
          <p:cNvSpPr/>
          <p:nvPr/>
        </p:nvSpPr>
        <p:spPr>
          <a:xfrm>
            <a:off x="4521098" y="5806440"/>
            <a:ext cx="3149498" cy="411480"/>
          </a:xfrm>
          <a:prstGeom prst="rect">
            <a:avLst/>
          </a:prstGeom>
          <a:noFill/>
          <a:ln/>
        </p:spPr>
        <p:txBody>
          <a:bodyPr wrap="square" lIns="0" tIns="0" rIns="0" bIns="0" rtlCol="0" anchor="t"/>
          <a:lstStyle/>
          <a:p>
            <a:pPr algn="l" indent="0" marL="0">
              <a:buNone/>
            </a:pPr>
            <a:r>
              <a:rPr lang="en-US" sz="1000" i="1" dirty="0">
                <a:solidFill>
                  <a:srgbClr val="5040E5"/>
                </a:solidFill>
                <a:latin typeface="Inter" pitchFamily="34" charset="0"/>
                <a:ea typeface="Inter" pitchFamily="34" charset="-122"/>
                <a:cs typeface="Inter" pitchFamily="34" charset="-120"/>
              </a:rPr>
              <a:t>"I have one weekend a month for this. Either it ships or it doesn't."</a:t>
            </a:r>
            <a:endParaRPr lang="en-US" sz="1000" dirty="0"/>
          </a:p>
        </p:txBody>
      </p:sp>
      <p:sp>
        <p:nvSpPr>
          <p:cNvPr id="51" name="Shape 49"/>
          <p:cNvSpPr/>
          <p:nvPr/>
        </p:nvSpPr>
        <p:spPr>
          <a:xfrm>
            <a:off x="8082077" y="3383280"/>
            <a:ext cx="3606698" cy="2926080"/>
          </a:xfrm>
          <a:prstGeom prst="roundRect">
            <a:avLst>
              <a:gd name="adj" fmla="val 3750"/>
            </a:avLst>
          </a:prstGeom>
          <a:solidFill>
            <a:srgbClr val="FFFFFF"/>
          </a:solidFill>
          <a:ln w="9525">
            <a:solidFill>
              <a:srgbClr val="E2E0F0"/>
            </a:solidFill>
            <a:prstDash val="solid"/>
          </a:ln>
        </p:spPr>
      </p:sp>
      <p:sp>
        <p:nvSpPr>
          <p:cNvPr id="52" name="Shape 50"/>
          <p:cNvSpPr/>
          <p:nvPr/>
        </p:nvSpPr>
        <p:spPr>
          <a:xfrm>
            <a:off x="8310677" y="3611880"/>
            <a:ext cx="640080" cy="640080"/>
          </a:xfrm>
          <a:prstGeom prst="ellipse">
            <a:avLst/>
          </a:prstGeom>
          <a:solidFill>
            <a:srgbClr val="E8E5FB"/>
          </a:solidFill>
          <a:ln/>
        </p:spPr>
      </p:sp>
      <p:sp>
        <p:nvSpPr>
          <p:cNvPr id="53" name="Text 51"/>
          <p:cNvSpPr/>
          <p:nvPr/>
        </p:nvSpPr>
        <p:spPr>
          <a:xfrm>
            <a:off x="8310677" y="3611880"/>
            <a:ext cx="640080" cy="640080"/>
          </a:xfrm>
          <a:prstGeom prst="rect">
            <a:avLst/>
          </a:prstGeom>
          <a:noFill/>
          <a:ln/>
        </p:spPr>
        <p:txBody>
          <a:bodyPr wrap="square" lIns="0" tIns="0" rIns="0" bIns="0" rtlCol="0" anchor="ctr"/>
          <a:lstStyle/>
          <a:p>
            <a:pPr algn="ctr" indent="0" marL="0">
              <a:buNone/>
            </a:pPr>
            <a:r>
              <a:rPr lang="en-US" sz="2400" b="1" dirty="0">
                <a:solidFill>
                  <a:srgbClr val="5040E5"/>
                </a:solidFill>
                <a:latin typeface="Inter" pitchFamily="34" charset="0"/>
                <a:ea typeface="Inter" pitchFamily="34" charset="-122"/>
                <a:cs typeface="Inter" pitchFamily="34" charset="-120"/>
              </a:rPr>
              <a:t>Z</a:t>
            </a:r>
            <a:endParaRPr lang="en-US" sz="2400" dirty="0"/>
          </a:p>
        </p:txBody>
      </p:sp>
      <p:sp>
        <p:nvSpPr>
          <p:cNvPr id="54" name="Text 52"/>
          <p:cNvSpPr/>
          <p:nvPr/>
        </p:nvSpPr>
        <p:spPr>
          <a:xfrm>
            <a:off x="9087917" y="3611880"/>
            <a:ext cx="2417978" cy="320040"/>
          </a:xfrm>
          <a:prstGeom prst="rect">
            <a:avLst/>
          </a:prstGeom>
          <a:noFill/>
          <a:ln/>
        </p:spPr>
        <p:txBody>
          <a:bodyPr wrap="square" lIns="0" tIns="0" rIns="0" bIns="0" rtlCol="0" anchor="ctr"/>
          <a:lstStyle/>
          <a:p>
            <a:pPr algn="l" indent="0" marL="0">
              <a:buNone/>
            </a:pPr>
            <a:r>
              <a:rPr lang="en-US" sz="1900" b="1" dirty="0">
                <a:solidFill>
                  <a:srgbClr val="0F172A"/>
                </a:solidFill>
                <a:latin typeface="Inter" pitchFamily="34" charset="0"/>
                <a:ea typeface="Inter" pitchFamily="34" charset="-122"/>
                <a:cs typeface="Inter" pitchFamily="34" charset="-120"/>
              </a:rPr>
              <a:t>Zayd, 34</a:t>
            </a:r>
            <a:endParaRPr lang="en-US" sz="1900" dirty="0"/>
          </a:p>
        </p:txBody>
      </p:sp>
      <p:sp>
        <p:nvSpPr>
          <p:cNvPr id="55" name="Text 53"/>
          <p:cNvSpPr/>
          <p:nvPr/>
        </p:nvSpPr>
        <p:spPr>
          <a:xfrm>
            <a:off x="9087917" y="3931920"/>
            <a:ext cx="2417978" cy="274320"/>
          </a:xfrm>
          <a:prstGeom prst="rect">
            <a:avLst/>
          </a:prstGeom>
          <a:noFill/>
          <a:ln/>
        </p:spPr>
        <p:txBody>
          <a:bodyPr wrap="square" lIns="0" tIns="0" rIns="0" bIns="0" rtlCol="0" anchor="ctr"/>
          <a:lstStyle/>
          <a:p>
            <a:pPr algn="l" indent="0" marL="0">
              <a:buNone/>
            </a:pPr>
            <a:r>
              <a:rPr lang="en-US" sz="1050" spc="300" kern="0" dirty="0">
                <a:solidFill>
                  <a:srgbClr val="94A3B8"/>
                </a:solidFill>
                <a:latin typeface="JetBrains Mono" pitchFamily="34" charset="0"/>
                <a:ea typeface="JetBrains Mono" pitchFamily="34" charset="-122"/>
                <a:cs typeface="JetBrains Mono" pitchFamily="34" charset="-120"/>
              </a:rPr>
              <a:t>🇦🇪   GCC  ·  AI-TOOL POWER USER</a:t>
            </a:r>
            <a:endParaRPr lang="en-US" sz="1050" dirty="0"/>
          </a:p>
        </p:txBody>
      </p:sp>
      <p:sp>
        <p:nvSpPr>
          <p:cNvPr id="56" name="Shape 54"/>
          <p:cNvSpPr/>
          <p:nvPr/>
        </p:nvSpPr>
        <p:spPr>
          <a:xfrm>
            <a:off x="8310677" y="4389120"/>
            <a:ext cx="3149498" cy="0"/>
          </a:xfrm>
          <a:prstGeom prst="line">
            <a:avLst/>
          </a:prstGeom>
          <a:noFill/>
          <a:ln w="6350">
            <a:solidFill>
              <a:srgbClr val="E2E0F0"/>
            </a:solidFill>
            <a:prstDash val="solid"/>
          </a:ln>
        </p:spPr>
      </p:sp>
      <p:sp>
        <p:nvSpPr>
          <p:cNvPr id="57" name="Text 55"/>
          <p:cNvSpPr/>
          <p:nvPr/>
        </p:nvSpPr>
        <p:spPr>
          <a:xfrm>
            <a:off x="8310677" y="4434840"/>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PROFILE</a:t>
            </a:r>
            <a:endParaRPr lang="en-US" sz="850" dirty="0"/>
          </a:p>
        </p:txBody>
      </p:sp>
      <p:sp>
        <p:nvSpPr>
          <p:cNvPr id="58" name="Text 56"/>
          <p:cNvSpPr/>
          <p:nvPr/>
        </p:nvSpPr>
        <p:spPr>
          <a:xfrm>
            <a:off x="9453677" y="4434840"/>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Indie hacker / ex-engineer · Dubai · self-funded</a:t>
            </a:r>
            <a:endParaRPr lang="en-US" sz="950" dirty="0"/>
          </a:p>
        </p:txBody>
      </p:sp>
      <p:sp>
        <p:nvSpPr>
          <p:cNvPr id="59" name="Text 57"/>
          <p:cNvSpPr/>
          <p:nvPr/>
        </p:nvSpPr>
        <p:spPr>
          <a:xfrm>
            <a:off x="8310677" y="4764024"/>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TOOLS  ·  POWER</a:t>
            </a:r>
            <a:endParaRPr lang="en-US" sz="850" dirty="0"/>
          </a:p>
        </p:txBody>
      </p:sp>
      <p:sp>
        <p:nvSpPr>
          <p:cNvPr id="60" name="Text 58"/>
          <p:cNvSpPr/>
          <p:nvPr/>
        </p:nvSpPr>
        <p:spPr>
          <a:xfrm>
            <a:off x="9453677" y="4764024"/>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Cursor + Claude Code · GitHub</a:t>
            </a:r>
            <a:endParaRPr lang="en-US" sz="950" dirty="0"/>
          </a:p>
        </p:txBody>
      </p:sp>
      <p:sp>
        <p:nvSpPr>
          <p:cNvPr id="61" name="Text 59"/>
          <p:cNvSpPr/>
          <p:nvPr/>
        </p:nvSpPr>
        <p:spPr>
          <a:xfrm>
            <a:off x="8310677" y="5093208"/>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IDEA</a:t>
            </a:r>
            <a:endParaRPr lang="en-US" sz="850" dirty="0"/>
          </a:p>
        </p:txBody>
      </p:sp>
      <p:sp>
        <p:nvSpPr>
          <p:cNvPr id="62" name="Text 60"/>
          <p:cNvSpPr/>
          <p:nvPr/>
        </p:nvSpPr>
        <p:spPr>
          <a:xfrm>
            <a:off x="9453677" y="5093208"/>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Booking SaaS for SE-Asian wedding &amp; event vendors</a:t>
            </a:r>
            <a:endParaRPr lang="en-US" sz="950" dirty="0"/>
          </a:p>
        </p:txBody>
      </p:sp>
      <p:sp>
        <p:nvSpPr>
          <p:cNvPr id="63" name="Text 61"/>
          <p:cNvSpPr/>
          <p:nvPr/>
        </p:nvSpPr>
        <p:spPr>
          <a:xfrm>
            <a:off x="8310677" y="5422392"/>
            <a:ext cx="1143000" cy="292608"/>
          </a:xfrm>
          <a:prstGeom prst="rect">
            <a:avLst/>
          </a:prstGeom>
          <a:noFill/>
          <a:ln/>
        </p:spPr>
        <p:txBody>
          <a:bodyPr wrap="square" lIns="0" tIns="0" rIns="0" bIns="0" rtlCol="0" anchor="t"/>
          <a:lstStyle/>
          <a:p>
            <a:pPr algn="l" indent="0" marL="0">
              <a:buNone/>
            </a:pPr>
            <a:r>
              <a:rPr lang="en-US" sz="850" spc="200" kern="0" dirty="0">
                <a:solidFill>
                  <a:srgbClr val="94A3B8"/>
                </a:solidFill>
                <a:latin typeface="JetBrains Mono" pitchFamily="34" charset="0"/>
                <a:ea typeface="JetBrains Mono" pitchFamily="34" charset="-122"/>
                <a:cs typeface="JetBrains Mono" pitchFamily="34" charset="-120"/>
              </a:rPr>
              <a:t>PAIN</a:t>
            </a:r>
            <a:endParaRPr lang="en-US" sz="850" dirty="0"/>
          </a:p>
        </p:txBody>
      </p:sp>
      <p:sp>
        <p:nvSpPr>
          <p:cNvPr id="64" name="Text 62"/>
          <p:cNvSpPr/>
          <p:nvPr/>
        </p:nvSpPr>
        <p:spPr>
          <a:xfrm>
            <a:off x="9453677" y="5422392"/>
            <a:ext cx="2052218" cy="310896"/>
          </a:xfrm>
          <a:prstGeom prst="rect">
            <a:avLst/>
          </a:prstGeom>
          <a:noFill/>
          <a:ln/>
        </p:spPr>
        <p:txBody>
          <a:bodyPr wrap="square" lIns="0" tIns="0" rIns="0" bIns="0" rtlCol="0" anchor="t"/>
          <a:lstStyle/>
          <a:p>
            <a:pPr algn="l" indent="0" marL="0">
              <a:buNone/>
            </a:pPr>
            <a:r>
              <a:rPr lang="en-US" sz="950" dirty="0">
                <a:solidFill>
                  <a:srgbClr val="0F172A"/>
                </a:solidFill>
                <a:latin typeface="Inter" pitchFamily="34" charset="0"/>
                <a:ea typeface="Inter" pitchFamily="34" charset="-122"/>
                <a:cs typeface="Inter" pitchFamily="34" charset="-120"/>
              </a:rPr>
              <a:t>Comfortable in the stack — burned out by glue work he could automate.</a:t>
            </a:r>
            <a:endParaRPr lang="en-US" sz="950" dirty="0"/>
          </a:p>
        </p:txBody>
      </p:sp>
      <p:sp>
        <p:nvSpPr>
          <p:cNvPr id="65" name="Text 63"/>
          <p:cNvSpPr/>
          <p:nvPr/>
        </p:nvSpPr>
        <p:spPr>
          <a:xfrm>
            <a:off x="8310677" y="5806440"/>
            <a:ext cx="3149498" cy="411480"/>
          </a:xfrm>
          <a:prstGeom prst="rect">
            <a:avLst/>
          </a:prstGeom>
          <a:noFill/>
          <a:ln/>
        </p:spPr>
        <p:txBody>
          <a:bodyPr wrap="square" lIns="0" tIns="0" rIns="0" bIns="0" rtlCol="0" anchor="t"/>
          <a:lstStyle/>
          <a:p>
            <a:pPr algn="l" indent="0" marL="0">
              <a:buNone/>
            </a:pPr>
            <a:r>
              <a:rPr lang="en-US" sz="1000" i="1" dirty="0">
                <a:solidFill>
                  <a:srgbClr val="5040E5"/>
                </a:solidFill>
                <a:latin typeface="Inter" pitchFamily="34" charset="0"/>
                <a:ea typeface="Inter" pitchFamily="34" charset="-122"/>
                <a:cs typeface="Inter" pitchFamily="34" charset="-120"/>
              </a:rPr>
              <a:t>"I want Paddle MoR + a real GitHub repo from day one — not a walled garden."</a:t>
            </a:r>
            <a:endParaRPr lang="en-US" sz="1000" dirty="0"/>
          </a:p>
        </p:txBody>
      </p:sp>
      <p:sp>
        <p:nvSpPr>
          <p:cNvPr id="66" name="Shape 64"/>
          <p:cNvSpPr/>
          <p:nvPr/>
        </p:nvSpPr>
        <p:spPr>
          <a:xfrm>
            <a:off x="502920" y="6263640"/>
            <a:ext cx="11185855" cy="0"/>
          </a:xfrm>
          <a:prstGeom prst="line">
            <a:avLst/>
          </a:prstGeom>
          <a:noFill/>
          <a:ln w="6350">
            <a:solidFill>
              <a:srgbClr val="E2E0F0"/>
            </a:solidFill>
            <a:prstDash val="solid"/>
          </a:ln>
        </p:spPr>
      </p:sp>
      <p:sp>
        <p:nvSpPr>
          <p:cNvPr id="67" name="Text 65"/>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68" name="Text 66"/>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09  /  28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10  ·  COMPETITIVE LANDSCAPE</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Two layers exist. </a:t>
            </a:r>
            <a:pPr algn="l" indent="0" marL="0">
              <a:buNone/>
            </a:pPr>
            <a:r>
              <a:rPr lang="en-US" sz="3600" b="1" dirty="0">
                <a:solidFill>
                  <a:srgbClr val="5040E5"/>
                </a:solidFill>
                <a:latin typeface="Inter" pitchFamily="34" charset="0"/>
                <a:ea typeface="Inter" pitchFamily="34" charset="-122"/>
                <a:cs typeface="Inter" pitchFamily="34" charset="-120"/>
              </a:rPr>
              <a:t>Nobody owns the seam.</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AI builders own chat → prototype. Infra players own code → runtime. The substrate-with-business-plumbing layer the AI-coder customer actually needs is unowned.</a:t>
            </a:r>
            <a:endParaRPr lang="en-US" sz="1550" dirty="0"/>
          </a:p>
        </p:txBody>
      </p:sp>
      <p:sp>
        <p:nvSpPr>
          <p:cNvPr id="9" name="Shape 7"/>
          <p:cNvSpPr/>
          <p:nvPr/>
        </p:nvSpPr>
        <p:spPr>
          <a:xfrm>
            <a:off x="502920" y="2788920"/>
            <a:ext cx="4129888" cy="3108960"/>
          </a:xfrm>
          <a:prstGeom prst="roundRect">
            <a:avLst>
              <a:gd name="adj" fmla="val 3529"/>
            </a:avLst>
          </a:prstGeom>
          <a:solidFill>
            <a:srgbClr val="FFFFFF"/>
          </a:solidFill>
          <a:ln w="9525">
            <a:solidFill>
              <a:srgbClr val="E2E0F0"/>
            </a:solidFill>
            <a:prstDash val="solid"/>
          </a:ln>
        </p:spPr>
      </p:sp>
      <p:sp>
        <p:nvSpPr>
          <p:cNvPr id="10" name="Text 8"/>
          <p:cNvSpPr/>
          <p:nvPr/>
        </p:nvSpPr>
        <p:spPr>
          <a:xfrm>
            <a:off x="731520" y="2926080"/>
            <a:ext cx="367268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AI BUILDERS  ·  CHAT → PROTOTYPE</a:t>
            </a:r>
            <a:endParaRPr lang="en-US" sz="1050" dirty="0"/>
          </a:p>
        </p:txBody>
      </p:sp>
      <p:sp>
        <p:nvSpPr>
          <p:cNvPr id="11" name="Shape 9"/>
          <p:cNvSpPr/>
          <p:nvPr/>
        </p:nvSpPr>
        <p:spPr>
          <a:xfrm>
            <a:off x="731520" y="3291840"/>
            <a:ext cx="1790624" cy="384048"/>
          </a:xfrm>
          <a:prstGeom prst="roundRect">
            <a:avLst>
              <a:gd name="adj" fmla="val 50000"/>
            </a:avLst>
          </a:prstGeom>
          <a:solidFill>
            <a:srgbClr val="FFFFFF"/>
          </a:solidFill>
          <a:ln w="6350">
            <a:solidFill>
              <a:srgbClr val="E2E0F0"/>
            </a:solidFill>
            <a:prstDash val="solid"/>
          </a:ln>
        </p:spPr>
      </p:sp>
      <p:sp>
        <p:nvSpPr>
          <p:cNvPr id="12" name="Text 10"/>
          <p:cNvSpPr/>
          <p:nvPr/>
        </p:nvSpPr>
        <p:spPr>
          <a:xfrm>
            <a:off x="731520" y="3291840"/>
            <a:ext cx="1790624" cy="384048"/>
          </a:xfrm>
          <a:prstGeom prst="rect">
            <a:avLst/>
          </a:prstGeom>
          <a:noFill/>
          <a:ln/>
        </p:spPr>
        <p:txBody>
          <a:bodyPr wrap="square" lIns="0" tIns="0" rIns="0" bIns="0" rtlCol="0" anchor="ctr"/>
          <a:lstStyle/>
          <a:p>
            <a:pPr algn="ctr" indent="0" marL="0">
              <a:buNone/>
            </a:pPr>
            <a:r>
              <a:rPr lang="en-US" sz="1200" b="1" spc="100" kern="0" dirty="0">
                <a:solidFill>
                  <a:srgbClr val="EB4D8E"/>
                </a:solidFill>
                <a:latin typeface="Inter" pitchFamily="34" charset="0"/>
                <a:ea typeface="Inter" pitchFamily="34" charset="-122"/>
                <a:cs typeface="Inter" pitchFamily="34" charset="-120"/>
              </a:rPr>
              <a:t>Lovable</a:t>
            </a:r>
            <a:endParaRPr lang="en-US" sz="1200" dirty="0"/>
          </a:p>
        </p:txBody>
      </p:sp>
      <p:sp>
        <p:nvSpPr>
          <p:cNvPr id="13" name="Shape 11"/>
          <p:cNvSpPr/>
          <p:nvPr/>
        </p:nvSpPr>
        <p:spPr>
          <a:xfrm>
            <a:off x="2613584" y="3291840"/>
            <a:ext cx="1790624" cy="384048"/>
          </a:xfrm>
          <a:prstGeom prst="roundRect">
            <a:avLst>
              <a:gd name="adj" fmla="val 50000"/>
            </a:avLst>
          </a:prstGeom>
          <a:solidFill>
            <a:srgbClr val="FFFFFF"/>
          </a:solidFill>
          <a:ln w="6350">
            <a:solidFill>
              <a:srgbClr val="E2E0F0"/>
            </a:solidFill>
            <a:prstDash val="solid"/>
          </a:ln>
        </p:spPr>
      </p:sp>
      <p:sp>
        <p:nvSpPr>
          <p:cNvPr id="14" name="Text 12"/>
          <p:cNvSpPr/>
          <p:nvPr/>
        </p:nvSpPr>
        <p:spPr>
          <a:xfrm>
            <a:off x="2613584" y="3291840"/>
            <a:ext cx="1790624" cy="384048"/>
          </a:xfrm>
          <a:prstGeom prst="rect">
            <a:avLst/>
          </a:prstGeom>
          <a:noFill/>
          <a:ln/>
        </p:spPr>
        <p:txBody>
          <a:bodyPr wrap="square" lIns="0" tIns="0" rIns="0" bIns="0" rtlCol="0" anchor="ctr"/>
          <a:lstStyle/>
          <a:p>
            <a:pPr algn="ctr" indent="0" marL="0">
              <a:buNone/>
            </a:pPr>
            <a:r>
              <a:rPr lang="en-US" sz="1200" b="1" spc="100" kern="0" dirty="0">
                <a:solidFill>
                  <a:srgbClr val="1A1A1A"/>
                </a:solidFill>
                <a:latin typeface="Inter" pitchFamily="34" charset="0"/>
                <a:ea typeface="Inter" pitchFamily="34" charset="-122"/>
                <a:cs typeface="Inter" pitchFamily="34" charset="-120"/>
              </a:rPr>
              <a:t>Bolt.new</a:t>
            </a:r>
            <a:endParaRPr lang="en-US" sz="1200" dirty="0"/>
          </a:p>
        </p:txBody>
      </p:sp>
      <p:sp>
        <p:nvSpPr>
          <p:cNvPr id="15" name="Shape 13"/>
          <p:cNvSpPr/>
          <p:nvPr/>
        </p:nvSpPr>
        <p:spPr>
          <a:xfrm>
            <a:off x="731520" y="3767328"/>
            <a:ext cx="1790624" cy="384048"/>
          </a:xfrm>
          <a:prstGeom prst="roundRect">
            <a:avLst>
              <a:gd name="adj" fmla="val 50000"/>
            </a:avLst>
          </a:prstGeom>
          <a:solidFill>
            <a:srgbClr val="FFFFFF"/>
          </a:solidFill>
          <a:ln w="6350">
            <a:solidFill>
              <a:srgbClr val="E2E0F0"/>
            </a:solidFill>
            <a:prstDash val="solid"/>
          </a:ln>
        </p:spPr>
      </p:sp>
      <p:sp>
        <p:nvSpPr>
          <p:cNvPr id="16" name="Text 14"/>
          <p:cNvSpPr/>
          <p:nvPr/>
        </p:nvSpPr>
        <p:spPr>
          <a:xfrm>
            <a:off x="731520" y="3767328"/>
            <a:ext cx="1790624" cy="384048"/>
          </a:xfrm>
          <a:prstGeom prst="rect">
            <a:avLst/>
          </a:prstGeom>
          <a:noFill/>
          <a:ln/>
        </p:spPr>
        <p:txBody>
          <a:bodyPr wrap="square" lIns="0" tIns="0" rIns="0" bIns="0" rtlCol="0" anchor="ctr"/>
          <a:lstStyle/>
          <a:p>
            <a:pPr algn="ctr" indent="0" marL="0">
              <a:buNone/>
            </a:pPr>
            <a:r>
              <a:rPr lang="en-US" sz="1200" b="1" spc="100" kern="0" dirty="0">
                <a:solidFill>
                  <a:srgbClr val="0A0A0A"/>
                </a:solidFill>
                <a:latin typeface="Inter" pitchFamily="34" charset="0"/>
                <a:ea typeface="Inter" pitchFamily="34" charset="-122"/>
                <a:cs typeface="Inter" pitchFamily="34" charset="-120"/>
              </a:rPr>
              <a:t>v0 (Vercel)</a:t>
            </a:r>
            <a:endParaRPr lang="en-US" sz="1200" dirty="0"/>
          </a:p>
        </p:txBody>
      </p:sp>
      <p:sp>
        <p:nvSpPr>
          <p:cNvPr id="17" name="Shape 15"/>
          <p:cNvSpPr/>
          <p:nvPr/>
        </p:nvSpPr>
        <p:spPr>
          <a:xfrm>
            <a:off x="2613584" y="3767328"/>
            <a:ext cx="1790624" cy="384048"/>
          </a:xfrm>
          <a:prstGeom prst="roundRect">
            <a:avLst>
              <a:gd name="adj" fmla="val 50000"/>
            </a:avLst>
          </a:prstGeom>
          <a:solidFill>
            <a:srgbClr val="FFFFFF"/>
          </a:solidFill>
          <a:ln w="6350">
            <a:solidFill>
              <a:srgbClr val="E2E0F0"/>
            </a:solidFill>
            <a:prstDash val="solid"/>
          </a:ln>
        </p:spPr>
      </p:sp>
      <p:sp>
        <p:nvSpPr>
          <p:cNvPr id="18" name="Text 16"/>
          <p:cNvSpPr/>
          <p:nvPr/>
        </p:nvSpPr>
        <p:spPr>
          <a:xfrm>
            <a:off x="2613584" y="3767328"/>
            <a:ext cx="1790624" cy="384048"/>
          </a:xfrm>
          <a:prstGeom prst="rect">
            <a:avLst/>
          </a:prstGeom>
          <a:noFill/>
          <a:ln/>
        </p:spPr>
        <p:txBody>
          <a:bodyPr wrap="square" lIns="0" tIns="0" rIns="0" bIns="0" rtlCol="0" anchor="ctr"/>
          <a:lstStyle/>
          <a:p>
            <a:pPr algn="ctr" indent="0" marL="0">
              <a:buNone/>
            </a:pPr>
            <a:r>
              <a:rPr lang="en-US" sz="1200" b="1" spc="100" kern="0" dirty="0">
                <a:solidFill>
                  <a:srgbClr val="F26207"/>
                </a:solidFill>
                <a:latin typeface="Inter" pitchFamily="34" charset="0"/>
                <a:ea typeface="Inter" pitchFamily="34" charset="-122"/>
                <a:cs typeface="Inter" pitchFamily="34" charset="-120"/>
              </a:rPr>
              <a:t>Replit Agent</a:t>
            </a:r>
            <a:endParaRPr lang="en-US" sz="1200" dirty="0"/>
          </a:p>
        </p:txBody>
      </p:sp>
      <p:sp>
        <p:nvSpPr>
          <p:cNvPr id="19" name="Shape 17"/>
          <p:cNvSpPr/>
          <p:nvPr/>
        </p:nvSpPr>
        <p:spPr>
          <a:xfrm>
            <a:off x="731520" y="4242816"/>
            <a:ext cx="1790624" cy="384048"/>
          </a:xfrm>
          <a:prstGeom prst="roundRect">
            <a:avLst>
              <a:gd name="adj" fmla="val 50000"/>
            </a:avLst>
          </a:prstGeom>
          <a:solidFill>
            <a:srgbClr val="FFFFFF"/>
          </a:solidFill>
          <a:ln w="6350">
            <a:solidFill>
              <a:srgbClr val="E2E0F0"/>
            </a:solidFill>
            <a:prstDash val="solid"/>
          </a:ln>
        </p:spPr>
      </p:sp>
      <p:sp>
        <p:nvSpPr>
          <p:cNvPr id="20" name="Text 18"/>
          <p:cNvSpPr/>
          <p:nvPr/>
        </p:nvSpPr>
        <p:spPr>
          <a:xfrm>
            <a:off x="731520" y="4242816"/>
            <a:ext cx="1790624" cy="384048"/>
          </a:xfrm>
          <a:prstGeom prst="rect">
            <a:avLst/>
          </a:prstGeom>
          <a:noFill/>
          <a:ln/>
        </p:spPr>
        <p:txBody>
          <a:bodyPr wrap="square" lIns="0" tIns="0" rIns="0" bIns="0" rtlCol="0" anchor="ctr"/>
          <a:lstStyle/>
          <a:p>
            <a:pPr algn="ctr" indent="0" marL="0">
              <a:buNone/>
            </a:pPr>
            <a:r>
              <a:rPr lang="en-US" sz="1200" b="1" spc="100" kern="0" dirty="0">
                <a:solidFill>
                  <a:srgbClr val="3B82F6"/>
                </a:solidFill>
                <a:latin typeface="Inter" pitchFamily="34" charset="0"/>
                <a:ea typeface="Inter" pitchFamily="34" charset="-122"/>
                <a:cs typeface="Inter" pitchFamily="34" charset="-120"/>
              </a:rPr>
              <a:t>Pi App Studio</a:t>
            </a:r>
            <a:endParaRPr lang="en-US" sz="1200" dirty="0"/>
          </a:p>
        </p:txBody>
      </p:sp>
      <p:sp>
        <p:nvSpPr>
          <p:cNvPr id="21" name="Shape 19"/>
          <p:cNvSpPr/>
          <p:nvPr/>
        </p:nvSpPr>
        <p:spPr>
          <a:xfrm>
            <a:off x="2613584" y="4242816"/>
            <a:ext cx="1790624" cy="384048"/>
          </a:xfrm>
          <a:prstGeom prst="roundRect">
            <a:avLst>
              <a:gd name="adj" fmla="val 50000"/>
            </a:avLst>
          </a:prstGeom>
          <a:solidFill>
            <a:srgbClr val="FFFFFF"/>
          </a:solidFill>
          <a:ln w="6350">
            <a:solidFill>
              <a:srgbClr val="E2E0F0"/>
            </a:solidFill>
            <a:prstDash val="solid"/>
          </a:ln>
        </p:spPr>
      </p:sp>
      <p:sp>
        <p:nvSpPr>
          <p:cNvPr id="22" name="Text 20"/>
          <p:cNvSpPr/>
          <p:nvPr/>
        </p:nvSpPr>
        <p:spPr>
          <a:xfrm>
            <a:off x="2613584" y="4242816"/>
            <a:ext cx="1790624" cy="384048"/>
          </a:xfrm>
          <a:prstGeom prst="rect">
            <a:avLst/>
          </a:prstGeom>
          <a:noFill/>
          <a:ln/>
        </p:spPr>
        <p:txBody>
          <a:bodyPr wrap="square" lIns="0" tIns="0" rIns="0" bIns="0" rtlCol="0" anchor="ctr"/>
          <a:lstStyle/>
          <a:p>
            <a:pPr algn="ctr" indent="0" marL="0">
              <a:buNone/>
            </a:pPr>
            <a:r>
              <a:rPr lang="en-US" sz="1200" b="1" spc="100" kern="0" dirty="0">
                <a:solidFill>
                  <a:srgbClr val="0E2EFF"/>
                </a:solidFill>
                <a:latin typeface="Inter" pitchFamily="34" charset="0"/>
                <a:ea typeface="Inter" pitchFamily="34" charset="-122"/>
                <a:cs typeface="Inter" pitchFamily="34" charset="-120"/>
              </a:rPr>
              <a:t>Bubble</a:t>
            </a:r>
            <a:endParaRPr lang="en-US" sz="1200" dirty="0"/>
          </a:p>
        </p:txBody>
      </p:sp>
      <p:sp>
        <p:nvSpPr>
          <p:cNvPr id="23" name="Text 21"/>
          <p:cNvSpPr/>
          <p:nvPr/>
        </p:nvSpPr>
        <p:spPr>
          <a:xfrm>
            <a:off x="731520" y="4855464"/>
            <a:ext cx="3672688" cy="201168"/>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 Their AI, their chat, their runtime. No BYO.</a:t>
            </a:r>
            <a:endParaRPr lang="en-US" sz="1000" dirty="0"/>
          </a:p>
        </p:txBody>
      </p:sp>
      <p:sp>
        <p:nvSpPr>
          <p:cNvPr id="24" name="Text 22"/>
          <p:cNvSpPr/>
          <p:nvPr/>
        </p:nvSpPr>
        <p:spPr>
          <a:xfrm>
            <a:off x="731520" y="5074920"/>
            <a:ext cx="3672688" cy="201168"/>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 Code in their walled garden. Export friction.</a:t>
            </a:r>
            <a:endParaRPr lang="en-US" sz="1000" dirty="0"/>
          </a:p>
        </p:txBody>
      </p:sp>
      <p:sp>
        <p:nvSpPr>
          <p:cNvPr id="25" name="Text 23"/>
          <p:cNvSpPr/>
          <p:nvPr/>
        </p:nvSpPr>
        <p:spPr>
          <a:xfrm>
            <a:off x="731520" y="5294376"/>
            <a:ext cx="3672688" cy="201168"/>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 No auth · payments · mail. "Deploy" = preview.</a:t>
            </a:r>
            <a:endParaRPr lang="en-US" sz="1000" dirty="0"/>
          </a:p>
        </p:txBody>
      </p:sp>
      <p:sp>
        <p:nvSpPr>
          <p:cNvPr id="26" name="Text 24"/>
          <p:cNvSpPr/>
          <p:nvPr/>
        </p:nvSpPr>
        <p:spPr>
          <a:xfrm>
            <a:off x="731520" y="5532120"/>
            <a:ext cx="3672688" cy="274320"/>
          </a:xfrm>
          <a:prstGeom prst="rect">
            <a:avLst/>
          </a:prstGeom>
          <a:noFill/>
          <a:ln/>
        </p:spPr>
        <p:txBody>
          <a:bodyPr wrap="square" lIns="0" tIns="0" rIns="0" bIns="0" rtlCol="0" anchor="ctr"/>
          <a:lstStyle/>
          <a:p>
            <a:pPr algn="l" indent="0" marL="0">
              <a:buNone/>
            </a:pPr>
            <a:r>
              <a:rPr lang="en-US" sz="1050" b="1" dirty="0">
                <a:solidFill>
                  <a:srgbClr val="5040E5"/>
                </a:solidFill>
                <a:latin typeface="Inter" pitchFamily="34" charset="0"/>
                <a:ea typeface="Inter" pitchFamily="34" charset="-122"/>
                <a:cs typeface="Inter" pitchFamily="34" charset="-120"/>
              </a:rPr>
              <a:t>Where Hatchik wins: substrate pre-wired · day-one SaaS.</a:t>
            </a:r>
            <a:endParaRPr lang="en-US" sz="1050" dirty="0"/>
          </a:p>
        </p:txBody>
      </p:sp>
      <p:sp>
        <p:nvSpPr>
          <p:cNvPr id="27" name="Shape 25"/>
          <p:cNvSpPr/>
          <p:nvPr/>
        </p:nvSpPr>
        <p:spPr>
          <a:xfrm>
            <a:off x="4861408" y="3063240"/>
            <a:ext cx="2468880" cy="2560320"/>
          </a:xfrm>
          <a:prstGeom prst="roundRect">
            <a:avLst>
              <a:gd name="adj" fmla="val 4444"/>
            </a:avLst>
          </a:prstGeom>
          <a:solidFill>
            <a:srgbClr val="0B0E1F"/>
          </a:solidFill>
          <a:ln w="19050">
            <a:solidFill>
              <a:srgbClr val="5040E5"/>
            </a:solidFill>
            <a:prstDash val="solid"/>
          </a:ln>
        </p:spPr>
      </p:sp>
      <p:sp>
        <p:nvSpPr>
          <p:cNvPr id="28" name="Shape 26"/>
          <p:cNvSpPr/>
          <p:nvPr/>
        </p:nvSpPr>
        <p:spPr>
          <a:xfrm>
            <a:off x="5707228" y="3337560"/>
            <a:ext cx="777240" cy="960120"/>
          </a:xfrm>
          <a:prstGeom prst="ellipse">
            <a:avLst/>
          </a:prstGeom>
          <a:solidFill>
            <a:srgbClr val="FFFFFF"/>
          </a:solidFill>
          <a:ln/>
        </p:spPr>
      </p:sp>
      <p:sp>
        <p:nvSpPr>
          <p:cNvPr id="29" name="Shape 27"/>
          <p:cNvSpPr/>
          <p:nvPr/>
        </p:nvSpPr>
        <p:spPr>
          <a:xfrm>
            <a:off x="5912968" y="3886200"/>
            <a:ext cx="365760" cy="36576"/>
          </a:xfrm>
          <a:prstGeom prst="rect">
            <a:avLst/>
          </a:prstGeom>
          <a:solidFill>
            <a:srgbClr val="0B0E1F"/>
          </a:solidFill>
          <a:ln/>
        </p:spPr>
      </p:sp>
      <p:sp>
        <p:nvSpPr>
          <p:cNvPr id="30" name="Text 28"/>
          <p:cNvSpPr/>
          <p:nvPr/>
        </p:nvSpPr>
        <p:spPr>
          <a:xfrm>
            <a:off x="4861408" y="4389120"/>
            <a:ext cx="24688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hatchik</a:t>
            </a:r>
            <a:endParaRPr lang="en-US" sz="1800" dirty="0"/>
          </a:p>
        </p:txBody>
      </p:sp>
      <p:sp>
        <p:nvSpPr>
          <p:cNvPr id="31" name="Text 29"/>
          <p:cNvSpPr/>
          <p:nvPr/>
        </p:nvSpPr>
        <p:spPr>
          <a:xfrm>
            <a:off x="5044288" y="4892040"/>
            <a:ext cx="2103120" cy="274320"/>
          </a:xfrm>
          <a:prstGeom prst="rect">
            <a:avLst/>
          </a:prstGeom>
          <a:noFill/>
          <a:ln/>
        </p:spPr>
        <p:txBody>
          <a:bodyPr wrap="square" lIns="0" tIns="0" rIns="0" bIns="0" rtlCol="0" anchor="ctr"/>
          <a:lstStyle/>
          <a:p>
            <a:pPr algn="ctr" indent="0" marL="0">
              <a:buNone/>
            </a:pPr>
            <a:r>
              <a:rPr lang="en-US" sz="1200" b="1" dirty="0">
                <a:solidFill>
                  <a:srgbClr val="B4ACEF"/>
                </a:solidFill>
                <a:latin typeface="Inter" pitchFamily="34" charset="0"/>
                <a:ea typeface="Inter" pitchFamily="34" charset="-122"/>
                <a:cs typeface="Inter" pitchFamily="34" charset="-120"/>
              </a:rPr>
              <a:t>Hatchik sits where</a:t>
            </a:r>
            <a:endParaRPr lang="en-US" sz="1200" dirty="0"/>
          </a:p>
        </p:txBody>
      </p:sp>
      <p:sp>
        <p:nvSpPr>
          <p:cNvPr id="32" name="Text 30"/>
          <p:cNvSpPr/>
          <p:nvPr/>
        </p:nvSpPr>
        <p:spPr>
          <a:xfrm>
            <a:off x="5044288" y="5166360"/>
            <a:ext cx="2103120" cy="274320"/>
          </a:xfrm>
          <a:prstGeom prst="rect">
            <a:avLst/>
          </a:prstGeom>
          <a:noFill/>
          <a:ln/>
        </p:spPr>
        <p:txBody>
          <a:bodyPr wrap="square" lIns="0" tIns="0" rIns="0" bIns="0" rtlCol="0" anchor="ctr"/>
          <a:lstStyle/>
          <a:p>
            <a:pPr algn="ctr" indent="0" marL="0">
              <a:buNone/>
            </a:pPr>
            <a:r>
              <a:rPr lang="en-US" sz="1200" b="1" dirty="0">
                <a:solidFill>
                  <a:srgbClr val="B4ACEF"/>
                </a:solidFill>
                <a:latin typeface="Inter" pitchFamily="34" charset="0"/>
                <a:ea typeface="Inter" pitchFamily="34" charset="-122"/>
                <a:cs typeface="Inter" pitchFamily="34" charset="-120"/>
              </a:rPr>
              <a:t>both groups stop.</a:t>
            </a:r>
            <a:endParaRPr lang="en-US" sz="1200" dirty="0"/>
          </a:p>
        </p:txBody>
      </p:sp>
      <p:sp>
        <p:nvSpPr>
          <p:cNvPr id="33" name="Shape 31"/>
          <p:cNvSpPr/>
          <p:nvPr/>
        </p:nvSpPr>
        <p:spPr>
          <a:xfrm>
            <a:off x="7558888" y="2788920"/>
            <a:ext cx="4129888" cy="3108960"/>
          </a:xfrm>
          <a:prstGeom prst="roundRect">
            <a:avLst>
              <a:gd name="adj" fmla="val 3529"/>
            </a:avLst>
          </a:prstGeom>
          <a:solidFill>
            <a:srgbClr val="FFFFFF"/>
          </a:solidFill>
          <a:ln w="9525">
            <a:solidFill>
              <a:srgbClr val="E2E0F0"/>
            </a:solidFill>
            <a:prstDash val="solid"/>
          </a:ln>
        </p:spPr>
      </p:sp>
      <p:sp>
        <p:nvSpPr>
          <p:cNvPr id="34" name="Text 32"/>
          <p:cNvSpPr/>
          <p:nvPr/>
        </p:nvSpPr>
        <p:spPr>
          <a:xfrm>
            <a:off x="7787488" y="2971800"/>
            <a:ext cx="367268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INFRA · DEPLOY  ·  CODE → RUNTIME</a:t>
            </a:r>
            <a:endParaRPr lang="en-US" sz="1050" dirty="0"/>
          </a:p>
        </p:txBody>
      </p:sp>
      <p:sp>
        <p:nvSpPr>
          <p:cNvPr id="35" name="Shape 33"/>
          <p:cNvSpPr/>
          <p:nvPr/>
        </p:nvSpPr>
        <p:spPr>
          <a:xfrm>
            <a:off x="7787488" y="3291840"/>
            <a:ext cx="1790624" cy="384048"/>
          </a:xfrm>
          <a:prstGeom prst="roundRect">
            <a:avLst>
              <a:gd name="adj" fmla="val 50000"/>
            </a:avLst>
          </a:prstGeom>
          <a:solidFill>
            <a:srgbClr val="FFFFFF"/>
          </a:solidFill>
          <a:ln w="6350">
            <a:solidFill>
              <a:srgbClr val="E2E0F0"/>
            </a:solidFill>
            <a:prstDash val="solid"/>
          </a:ln>
        </p:spPr>
      </p:sp>
      <p:sp>
        <p:nvSpPr>
          <p:cNvPr id="36" name="Text 34"/>
          <p:cNvSpPr/>
          <p:nvPr/>
        </p:nvSpPr>
        <p:spPr>
          <a:xfrm>
            <a:off x="7787488" y="3291840"/>
            <a:ext cx="1790624" cy="384048"/>
          </a:xfrm>
          <a:prstGeom prst="rect">
            <a:avLst/>
          </a:prstGeom>
          <a:noFill/>
          <a:ln/>
        </p:spPr>
        <p:txBody>
          <a:bodyPr wrap="square" lIns="0" tIns="0" rIns="0" bIns="0" rtlCol="0" anchor="ctr"/>
          <a:lstStyle/>
          <a:p>
            <a:pPr algn="ctr" indent="0" marL="0">
              <a:buNone/>
            </a:pPr>
            <a:r>
              <a:rPr lang="en-US" sz="1200" b="1" spc="100" kern="0" dirty="0">
                <a:solidFill>
                  <a:srgbClr val="0A0A0A"/>
                </a:solidFill>
                <a:latin typeface="Inter" pitchFamily="34" charset="0"/>
                <a:ea typeface="Inter" pitchFamily="34" charset="-122"/>
                <a:cs typeface="Inter" pitchFamily="34" charset="-120"/>
              </a:rPr>
              <a:t>Vercel</a:t>
            </a:r>
            <a:endParaRPr lang="en-US" sz="1200" dirty="0"/>
          </a:p>
        </p:txBody>
      </p:sp>
      <p:sp>
        <p:nvSpPr>
          <p:cNvPr id="37" name="Shape 35"/>
          <p:cNvSpPr/>
          <p:nvPr/>
        </p:nvSpPr>
        <p:spPr>
          <a:xfrm>
            <a:off x="9669551" y="3291840"/>
            <a:ext cx="1790624" cy="384048"/>
          </a:xfrm>
          <a:prstGeom prst="roundRect">
            <a:avLst>
              <a:gd name="adj" fmla="val 50000"/>
            </a:avLst>
          </a:prstGeom>
          <a:solidFill>
            <a:srgbClr val="FFFFFF"/>
          </a:solidFill>
          <a:ln w="6350">
            <a:solidFill>
              <a:srgbClr val="E2E0F0"/>
            </a:solidFill>
            <a:prstDash val="solid"/>
          </a:ln>
        </p:spPr>
      </p:sp>
      <p:sp>
        <p:nvSpPr>
          <p:cNvPr id="38" name="Text 36"/>
          <p:cNvSpPr/>
          <p:nvPr/>
        </p:nvSpPr>
        <p:spPr>
          <a:xfrm>
            <a:off x="9669551" y="3291840"/>
            <a:ext cx="1790624" cy="384048"/>
          </a:xfrm>
          <a:prstGeom prst="rect">
            <a:avLst/>
          </a:prstGeom>
          <a:noFill/>
          <a:ln/>
        </p:spPr>
        <p:txBody>
          <a:bodyPr wrap="square" lIns="0" tIns="0" rIns="0" bIns="0" rtlCol="0" anchor="ctr"/>
          <a:lstStyle/>
          <a:p>
            <a:pPr algn="ctr" indent="0" marL="0">
              <a:buNone/>
            </a:pPr>
            <a:r>
              <a:rPr lang="en-US" sz="1200" b="1" spc="100" kern="0" dirty="0">
                <a:solidFill>
                  <a:srgbClr val="10B981"/>
                </a:solidFill>
                <a:latin typeface="Inter" pitchFamily="34" charset="0"/>
                <a:ea typeface="Inter" pitchFamily="34" charset="-122"/>
                <a:cs typeface="Inter" pitchFamily="34" charset="-120"/>
              </a:rPr>
              <a:t>Render</a:t>
            </a:r>
            <a:endParaRPr lang="en-US" sz="1200" dirty="0"/>
          </a:p>
        </p:txBody>
      </p:sp>
      <p:sp>
        <p:nvSpPr>
          <p:cNvPr id="39" name="Shape 37"/>
          <p:cNvSpPr/>
          <p:nvPr/>
        </p:nvSpPr>
        <p:spPr>
          <a:xfrm>
            <a:off x="7787488" y="3767328"/>
            <a:ext cx="1790624" cy="384048"/>
          </a:xfrm>
          <a:prstGeom prst="roundRect">
            <a:avLst>
              <a:gd name="adj" fmla="val 50000"/>
            </a:avLst>
          </a:prstGeom>
          <a:solidFill>
            <a:srgbClr val="FFFFFF"/>
          </a:solidFill>
          <a:ln w="6350">
            <a:solidFill>
              <a:srgbClr val="E2E0F0"/>
            </a:solidFill>
            <a:prstDash val="solid"/>
          </a:ln>
        </p:spPr>
      </p:sp>
      <p:sp>
        <p:nvSpPr>
          <p:cNvPr id="40" name="Text 38"/>
          <p:cNvSpPr/>
          <p:nvPr/>
        </p:nvSpPr>
        <p:spPr>
          <a:xfrm>
            <a:off x="7787488" y="3767328"/>
            <a:ext cx="1790624" cy="384048"/>
          </a:xfrm>
          <a:prstGeom prst="rect">
            <a:avLst/>
          </a:prstGeom>
          <a:noFill/>
          <a:ln/>
        </p:spPr>
        <p:txBody>
          <a:bodyPr wrap="square" lIns="0" tIns="0" rIns="0" bIns="0" rtlCol="0" anchor="ctr"/>
          <a:lstStyle/>
          <a:p>
            <a:pPr algn="ctr" indent="0" marL="0">
              <a:buNone/>
            </a:pPr>
            <a:r>
              <a:rPr lang="en-US" sz="1200" b="1" spc="100" kern="0" dirty="0">
                <a:solidFill>
                  <a:srgbClr val="5B1AD9"/>
                </a:solidFill>
                <a:latin typeface="Inter" pitchFamily="34" charset="0"/>
                <a:ea typeface="Inter" pitchFamily="34" charset="-122"/>
                <a:cs typeface="Inter" pitchFamily="34" charset="-120"/>
              </a:rPr>
              <a:t>Railway</a:t>
            </a:r>
            <a:endParaRPr lang="en-US" sz="1200" dirty="0"/>
          </a:p>
        </p:txBody>
      </p:sp>
      <p:sp>
        <p:nvSpPr>
          <p:cNvPr id="41" name="Shape 39"/>
          <p:cNvSpPr/>
          <p:nvPr/>
        </p:nvSpPr>
        <p:spPr>
          <a:xfrm>
            <a:off x="9669551" y="3767328"/>
            <a:ext cx="1790624" cy="384048"/>
          </a:xfrm>
          <a:prstGeom prst="roundRect">
            <a:avLst>
              <a:gd name="adj" fmla="val 50000"/>
            </a:avLst>
          </a:prstGeom>
          <a:solidFill>
            <a:srgbClr val="FFFFFF"/>
          </a:solidFill>
          <a:ln w="6350">
            <a:solidFill>
              <a:srgbClr val="E2E0F0"/>
            </a:solidFill>
            <a:prstDash val="solid"/>
          </a:ln>
        </p:spPr>
      </p:sp>
      <p:sp>
        <p:nvSpPr>
          <p:cNvPr id="42" name="Text 40"/>
          <p:cNvSpPr/>
          <p:nvPr/>
        </p:nvSpPr>
        <p:spPr>
          <a:xfrm>
            <a:off x="9669551" y="3767328"/>
            <a:ext cx="1790624" cy="384048"/>
          </a:xfrm>
          <a:prstGeom prst="rect">
            <a:avLst/>
          </a:prstGeom>
          <a:noFill/>
          <a:ln/>
        </p:spPr>
        <p:txBody>
          <a:bodyPr wrap="square" lIns="0" tIns="0" rIns="0" bIns="0" rtlCol="0" anchor="ctr"/>
          <a:lstStyle/>
          <a:p>
            <a:pPr algn="ctr" indent="0" marL="0">
              <a:buNone/>
            </a:pPr>
            <a:r>
              <a:rPr lang="en-US" sz="1200" b="1" spc="100" kern="0" dirty="0">
                <a:solidFill>
                  <a:srgbClr val="7B3AED"/>
                </a:solidFill>
                <a:latin typeface="Inter" pitchFamily="34" charset="0"/>
                <a:ea typeface="Inter" pitchFamily="34" charset="-122"/>
                <a:cs typeface="Inter" pitchFamily="34" charset="-120"/>
              </a:rPr>
              <a:t>Fly.io</a:t>
            </a:r>
            <a:endParaRPr lang="en-US" sz="1200" dirty="0"/>
          </a:p>
        </p:txBody>
      </p:sp>
      <p:sp>
        <p:nvSpPr>
          <p:cNvPr id="43" name="Shape 41"/>
          <p:cNvSpPr/>
          <p:nvPr/>
        </p:nvSpPr>
        <p:spPr>
          <a:xfrm>
            <a:off x="7787488" y="4242816"/>
            <a:ext cx="1790624" cy="384048"/>
          </a:xfrm>
          <a:prstGeom prst="roundRect">
            <a:avLst>
              <a:gd name="adj" fmla="val 50000"/>
            </a:avLst>
          </a:prstGeom>
          <a:solidFill>
            <a:srgbClr val="FFFFFF"/>
          </a:solidFill>
          <a:ln w="6350">
            <a:solidFill>
              <a:srgbClr val="E2E0F0"/>
            </a:solidFill>
            <a:prstDash val="solid"/>
          </a:ln>
        </p:spPr>
      </p:sp>
      <p:sp>
        <p:nvSpPr>
          <p:cNvPr id="44" name="Text 42"/>
          <p:cNvSpPr/>
          <p:nvPr/>
        </p:nvSpPr>
        <p:spPr>
          <a:xfrm>
            <a:off x="7787488" y="4242816"/>
            <a:ext cx="1790624" cy="384048"/>
          </a:xfrm>
          <a:prstGeom prst="rect">
            <a:avLst/>
          </a:prstGeom>
          <a:noFill/>
          <a:ln/>
        </p:spPr>
        <p:txBody>
          <a:bodyPr wrap="square" lIns="0" tIns="0" rIns="0" bIns="0" rtlCol="0" anchor="ctr"/>
          <a:lstStyle/>
          <a:p>
            <a:pPr algn="ctr" indent="0" marL="0">
              <a:buNone/>
            </a:pPr>
            <a:r>
              <a:rPr lang="en-US" sz="1200" b="1" spc="100" kern="0" dirty="0">
                <a:solidFill>
                  <a:srgbClr val="430098"/>
                </a:solidFill>
                <a:latin typeface="Inter" pitchFamily="34" charset="0"/>
                <a:ea typeface="Inter" pitchFamily="34" charset="-122"/>
                <a:cs typeface="Inter" pitchFamily="34" charset="-120"/>
              </a:rPr>
              <a:t>Heroku</a:t>
            </a:r>
            <a:endParaRPr lang="en-US" sz="1200" dirty="0"/>
          </a:p>
        </p:txBody>
      </p:sp>
      <p:sp>
        <p:nvSpPr>
          <p:cNvPr id="45" name="Shape 43"/>
          <p:cNvSpPr/>
          <p:nvPr/>
        </p:nvSpPr>
        <p:spPr>
          <a:xfrm>
            <a:off x="9669551" y="4242816"/>
            <a:ext cx="1790624" cy="384048"/>
          </a:xfrm>
          <a:prstGeom prst="roundRect">
            <a:avLst>
              <a:gd name="adj" fmla="val 50000"/>
            </a:avLst>
          </a:prstGeom>
          <a:solidFill>
            <a:srgbClr val="FFFFFF"/>
          </a:solidFill>
          <a:ln w="6350">
            <a:solidFill>
              <a:srgbClr val="E2E0F0"/>
            </a:solidFill>
            <a:prstDash val="solid"/>
          </a:ln>
        </p:spPr>
      </p:sp>
      <p:sp>
        <p:nvSpPr>
          <p:cNvPr id="46" name="Text 44"/>
          <p:cNvSpPr/>
          <p:nvPr/>
        </p:nvSpPr>
        <p:spPr>
          <a:xfrm>
            <a:off x="9669551" y="4242816"/>
            <a:ext cx="1790624" cy="384048"/>
          </a:xfrm>
          <a:prstGeom prst="rect">
            <a:avLst/>
          </a:prstGeom>
          <a:noFill/>
          <a:ln/>
        </p:spPr>
        <p:txBody>
          <a:bodyPr wrap="square" lIns="0" tIns="0" rIns="0" bIns="0" rtlCol="0" anchor="ctr"/>
          <a:lstStyle/>
          <a:p>
            <a:pPr algn="ctr" indent="0" marL="0">
              <a:buNone/>
            </a:pPr>
            <a:r>
              <a:rPr lang="en-US" sz="1200" b="1" spc="100" kern="0" dirty="0">
                <a:solidFill>
                  <a:srgbClr val="0080FF"/>
                </a:solidFill>
                <a:latin typeface="Inter" pitchFamily="34" charset="0"/>
                <a:ea typeface="Inter" pitchFamily="34" charset="-122"/>
                <a:cs typeface="Inter" pitchFamily="34" charset="-120"/>
              </a:rPr>
              <a:t>DO App Platform</a:t>
            </a:r>
            <a:endParaRPr lang="en-US" sz="1200" dirty="0"/>
          </a:p>
        </p:txBody>
      </p:sp>
      <p:sp>
        <p:nvSpPr>
          <p:cNvPr id="47" name="Text 45"/>
          <p:cNvSpPr/>
          <p:nvPr/>
        </p:nvSpPr>
        <p:spPr>
          <a:xfrm>
            <a:off x="7787488" y="4855464"/>
            <a:ext cx="3672688" cy="201168"/>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 Deploys code. Auth · mail · payments are yours.</a:t>
            </a:r>
            <a:endParaRPr lang="en-US" sz="1000" dirty="0"/>
          </a:p>
        </p:txBody>
      </p:sp>
      <p:sp>
        <p:nvSpPr>
          <p:cNvPr id="48" name="Text 46"/>
          <p:cNvSpPr/>
          <p:nvPr/>
        </p:nvSpPr>
        <p:spPr>
          <a:xfrm>
            <a:off x="7787488" y="5074920"/>
            <a:ext cx="3672688" cy="201168"/>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 Built for engineers. Non-tech founder can't stitch.</a:t>
            </a:r>
            <a:endParaRPr lang="en-US" sz="1000" dirty="0"/>
          </a:p>
        </p:txBody>
      </p:sp>
      <p:sp>
        <p:nvSpPr>
          <p:cNvPr id="49" name="Text 47"/>
          <p:cNvSpPr/>
          <p:nvPr/>
        </p:nvSpPr>
        <p:spPr>
          <a:xfrm>
            <a:off x="7787488" y="5294376"/>
            <a:ext cx="3672688" cy="201168"/>
          </a:xfrm>
          <a:prstGeom prst="rect">
            <a:avLst/>
          </a:prstGeom>
          <a:noFill/>
          <a:ln/>
        </p:spPr>
        <p:txBody>
          <a:bodyPr wrap="square" lIns="0" tIns="0" rIns="0" bIns="0" rtlCol="0" anchor="ctr"/>
          <a:lstStyle/>
          <a:p>
            <a:pPr algn="l" indent="0" marL="0">
              <a:buNone/>
            </a:pPr>
            <a:r>
              <a:rPr lang="en-US" sz="1000" dirty="0">
                <a:solidFill>
                  <a:srgbClr val="475569"/>
                </a:solidFill>
                <a:latin typeface="Inter" pitchFamily="34" charset="0"/>
                <a:ea typeface="Inter" pitchFamily="34" charset="-122"/>
                <a:cs typeface="Inter" pitchFamily="34" charset="-120"/>
              </a:rPr>
              <a:t>— Usage-based pricing hard for a learner to predict.</a:t>
            </a:r>
            <a:endParaRPr lang="en-US" sz="1000" dirty="0"/>
          </a:p>
        </p:txBody>
      </p:sp>
      <p:sp>
        <p:nvSpPr>
          <p:cNvPr id="50" name="Text 48"/>
          <p:cNvSpPr/>
          <p:nvPr/>
        </p:nvSpPr>
        <p:spPr>
          <a:xfrm>
            <a:off x="7787488" y="5532120"/>
            <a:ext cx="3672688" cy="274320"/>
          </a:xfrm>
          <a:prstGeom prst="rect">
            <a:avLst/>
          </a:prstGeom>
          <a:noFill/>
          <a:ln/>
        </p:spPr>
        <p:txBody>
          <a:bodyPr wrap="square" lIns="0" tIns="0" rIns="0" bIns="0" rtlCol="0" anchor="ctr"/>
          <a:lstStyle/>
          <a:p>
            <a:pPr algn="l" indent="0" marL="0">
              <a:buNone/>
            </a:pPr>
            <a:r>
              <a:rPr lang="en-US" sz="1050" b="1" dirty="0">
                <a:solidFill>
                  <a:srgbClr val="5040E5"/>
                </a:solidFill>
                <a:latin typeface="Inter" pitchFamily="34" charset="0"/>
                <a:ea typeface="Inter" pitchFamily="34" charset="-122"/>
                <a:cs typeface="Inter" pitchFamily="34" charset="-120"/>
              </a:rPr>
              <a:t>Where Hatchik wins: BYO AI tool · real GitHub · real stack.</a:t>
            </a:r>
            <a:endParaRPr lang="en-US" sz="1050" dirty="0"/>
          </a:p>
        </p:txBody>
      </p:sp>
      <p:sp>
        <p:nvSpPr>
          <p:cNvPr id="51" name="Shape 49"/>
          <p:cNvSpPr/>
          <p:nvPr/>
        </p:nvSpPr>
        <p:spPr>
          <a:xfrm>
            <a:off x="502920" y="6263640"/>
            <a:ext cx="11185855" cy="0"/>
          </a:xfrm>
          <a:prstGeom prst="line">
            <a:avLst/>
          </a:prstGeom>
          <a:noFill/>
          <a:ln w="6350">
            <a:solidFill>
              <a:srgbClr val="E2E0F0"/>
            </a:solidFill>
            <a:prstDash val="solid"/>
          </a:ln>
        </p:spPr>
      </p:sp>
      <p:sp>
        <p:nvSpPr>
          <p:cNvPr id="52" name="Text 50"/>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53" name="Text 51"/>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10  /  28</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11  ·  WHERE WE WIN</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Six things </a:t>
            </a:r>
            <a:pPr algn="l" indent="0" marL="0">
              <a:buNone/>
            </a:pPr>
            <a:r>
              <a:rPr lang="en-US" sz="3600" b="1" dirty="0">
                <a:solidFill>
                  <a:srgbClr val="5040E5"/>
                </a:solidFill>
                <a:latin typeface="Inter" pitchFamily="34" charset="0"/>
                <a:ea typeface="Inter" pitchFamily="34" charset="-122"/>
                <a:cs typeface="Inter" pitchFamily="34" charset="-120"/>
              </a:rPr>
              <a:t>no competitor combines.</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Each wedge solves a real founder cost — knowledge, time, money, or trust. Together: a path from idea to revenue without an engineering hire.</a:t>
            </a:r>
            <a:endParaRPr lang="en-US" sz="1550" dirty="0"/>
          </a:p>
        </p:txBody>
      </p:sp>
      <p:sp>
        <p:nvSpPr>
          <p:cNvPr id="9" name="Shape 7"/>
          <p:cNvSpPr/>
          <p:nvPr/>
        </p:nvSpPr>
        <p:spPr>
          <a:xfrm>
            <a:off x="502920" y="2697480"/>
            <a:ext cx="3606698" cy="1463040"/>
          </a:xfrm>
          <a:prstGeom prst="roundRect">
            <a:avLst>
              <a:gd name="adj" fmla="val 7500"/>
            </a:avLst>
          </a:prstGeom>
          <a:solidFill>
            <a:srgbClr val="FFFFFF"/>
          </a:solidFill>
          <a:ln w="9525">
            <a:solidFill>
              <a:srgbClr val="E2E0F0"/>
            </a:solidFill>
            <a:prstDash val="solid"/>
          </a:ln>
        </p:spPr>
      </p:sp>
      <p:sp>
        <p:nvSpPr>
          <p:cNvPr id="10" name="Text 8"/>
          <p:cNvSpPr/>
          <p:nvPr/>
        </p:nvSpPr>
        <p:spPr>
          <a:xfrm>
            <a:off x="777240" y="28803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01</a:t>
            </a:r>
            <a:endParaRPr lang="en-US" sz="1300" dirty="0"/>
          </a:p>
        </p:txBody>
      </p:sp>
      <p:sp>
        <p:nvSpPr>
          <p:cNvPr id="11" name="Shape 9"/>
          <p:cNvSpPr/>
          <p:nvPr/>
        </p:nvSpPr>
        <p:spPr>
          <a:xfrm>
            <a:off x="2417978" y="2898648"/>
            <a:ext cx="1463040" cy="329184"/>
          </a:xfrm>
          <a:prstGeom prst="roundRect">
            <a:avLst>
              <a:gd name="adj" fmla="val 50000"/>
            </a:avLst>
          </a:prstGeom>
          <a:solidFill>
            <a:srgbClr val="E8E5FB"/>
          </a:solidFill>
          <a:ln/>
        </p:spPr>
      </p:sp>
      <p:sp>
        <p:nvSpPr>
          <p:cNvPr id="12" name="Text 10"/>
          <p:cNvSpPr/>
          <p:nvPr/>
        </p:nvSpPr>
        <p:spPr>
          <a:xfrm>
            <a:off x="2417978" y="2898648"/>
            <a:ext cx="1463040" cy="329184"/>
          </a:xfrm>
          <a:prstGeom prst="rect">
            <a:avLst/>
          </a:prstGeom>
          <a:noFill/>
          <a:ln/>
        </p:spPr>
        <p:txBody>
          <a:bodyPr wrap="square" lIns="0" tIns="0" rIns="0" bIns="0" rtlCol="0" anchor="ctr"/>
          <a:lstStyle/>
          <a:p>
            <a:pPr algn="ctr" indent="0" marL="0">
              <a:buNone/>
            </a:pPr>
            <a:r>
              <a:rPr lang="en-US" sz="950" b="1" spc="200" kern="0" dirty="0">
                <a:solidFill>
                  <a:srgbClr val="3A2BC0"/>
                </a:solidFill>
                <a:latin typeface="JetBrains Mono" pitchFamily="34" charset="0"/>
                <a:ea typeface="JetBrains Mono" pitchFamily="34" charset="-122"/>
                <a:cs typeface="JetBrains Mono" pitchFamily="34" charset="-120"/>
              </a:rPr>
              <a:t>ZERO STITCHING</a:t>
            </a:r>
            <a:endParaRPr lang="en-US" sz="950" dirty="0"/>
          </a:p>
        </p:txBody>
      </p:sp>
      <p:sp>
        <p:nvSpPr>
          <p:cNvPr id="13" name="Text 11"/>
          <p:cNvSpPr/>
          <p:nvPr/>
        </p:nvSpPr>
        <p:spPr>
          <a:xfrm>
            <a:off x="777240" y="333756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One-click convenience.</a:t>
            </a:r>
            <a:endParaRPr lang="en-US" sz="1600" dirty="0"/>
          </a:p>
        </p:txBody>
      </p:sp>
      <p:sp>
        <p:nvSpPr>
          <p:cNvPr id="14" name="Text 12"/>
          <p:cNvSpPr/>
          <p:nvPr/>
        </p:nvSpPr>
        <p:spPr>
          <a:xfrm>
            <a:off x="777240" y="3886200"/>
            <a:ext cx="3058058" cy="18288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Wizard → live SaaS in ~60 seconds. No infra learning curve. No yak-shaving.</a:t>
            </a:r>
            <a:endParaRPr lang="en-US" sz="1150" dirty="0"/>
          </a:p>
        </p:txBody>
      </p:sp>
      <p:sp>
        <p:nvSpPr>
          <p:cNvPr id="15" name="Shape 13"/>
          <p:cNvSpPr/>
          <p:nvPr/>
        </p:nvSpPr>
        <p:spPr>
          <a:xfrm>
            <a:off x="4292498" y="2697480"/>
            <a:ext cx="3606698" cy="1463040"/>
          </a:xfrm>
          <a:prstGeom prst="roundRect">
            <a:avLst>
              <a:gd name="adj" fmla="val 7500"/>
            </a:avLst>
          </a:prstGeom>
          <a:solidFill>
            <a:srgbClr val="FFFFFF"/>
          </a:solidFill>
          <a:ln w="9525">
            <a:solidFill>
              <a:srgbClr val="E2E0F0"/>
            </a:solidFill>
            <a:prstDash val="solid"/>
          </a:ln>
        </p:spPr>
      </p:sp>
      <p:sp>
        <p:nvSpPr>
          <p:cNvPr id="16" name="Text 14"/>
          <p:cNvSpPr/>
          <p:nvPr/>
        </p:nvSpPr>
        <p:spPr>
          <a:xfrm>
            <a:off x="4566818" y="28803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02</a:t>
            </a:r>
            <a:endParaRPr lang="en-US" sz="1300" dirty="0"/>
          </a:p>
        </p:txBody>
      </p:sp>
      <p:sp>
        <p:nvSpPr>
          <p:cNvPr id="17" name="Shape 15"/>
          <p:cNvSpPr/>
          <p:nvPr/>
        </p:nvSpPr>
        <p:spPr>
          <a:xfrm>
            <a:off x="6207557" y="2898648"/>
            <a:ext cx="1463040" cy="329184"/>
          </a:xfrm>
          <a:prstGeom prst="roundRect">
            <a:avLst>
              <a:gd name="adj" fmla="val 50000"/>
            </a:avLst>
          </a:prstGeom>
          <a:solidFill>
            <a:srgbClr val="E8E5FB"/>
          </a:solidFill>
          <a:ln/>
        </p:spPr>
      </p:sp>
      <p:sp>
        <p:nvSpPr>
          <p:cNvPr id="18" name="Text 16"/>
          <p:cNvSpPr/>
          <p:nvPr/>
        </p:nvSpPr>
        <p:spPr>
          <a:xfrm>
            <a:off x="6207557" y="2898648"/>
            <a:ext cx="1463040" cy="329184"/>
          </a:xfrm>
          <a:prstGeom prst="rect">
            <a:avLst/>
          </a:prstGeom>
          <a:noFill/>
          <a:ln/>
        </p:spPr>
        <p:txBody>
          <a:bodyPr wrap="square" lIns="0" tIns="0" rIns="0" bIns="0" rtlCol="0" anchor="ctr"/>
          <a:lstStyle/>
          <a:p>
            <a:pPr algn="ctr" indent="0" marL="0">
              <a:buNone/>
            </a:pPr>
            <a:r>
              <a:rPr lang="en-US" sz="950" b="1" spc="200" kern="0" dirty="0">
                <a:solidFill>
                  <a:srgbClr val="3A2BC0"/>
                </a:solidFill>
                <a:latin typeface="JetBrains Mono" pitchFamily="34" charset="0"/>
                <a:ea typeface="JetBrains Mono" pitchFamily="34" charset="-122"/>
                <a:cs typeface="JetBrains Mono" pitchFamily="34" charset="-120"/>
              </a:rPr>
              <a:t>12 PIECES WIRED</a:t>
            </a:r>
            <a:endParaRPr lang="en-US" sz="950" dirty="0"/>
          </a:p>
        </p:txBody>
      </p:sp>
      <p:sp>
        <p:nvSpPr>
          <p:cNvPr id="19" name="Text 17"/>
          <p:cNvSpPr/>
          <p:nvPr/>
        </p:nvSpPr>
        <p:spPr>
          <a:xfrm>
            <a:off x="4566818" y="333756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Full suite to monetise.</a:t>
            </a:r>
            <a:endParaRPr lang="en-US" sz="1600" dirty="0"/>
          </a:p>
        </p:txBody>
      </p:sp>
      <p:sp>
        <p:nvSpPr>
          <p:cNvPr id="20" name="Text 18"/>
          <p:cNvSpPr/>
          <p:nvPr/>
        </p:nvSpPr>
        <p:spPr>
          <a:xfrm>
            <a:off x="4566818" y="3886200"/>
            <a:ext cx="3058058" cy="18288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Payments, MoR, email, mobile shells, status — every piece a real product needs, day one.</a:t>
            </a:r>
            <a:endParaRPr lang="en-US" sz="1150" dirty="0"/>
          </a:p>
        </p:txBody>
      </p:sp>
      <p:sp>
        <p:nvSpPr>
          <p:cNvPr id="21" name="Shape 19"/>
          <p:cNvSpPr/>
          <p:nvPr/>
        </p:nvSpPr>
        <p:spPr>
          <a:xfrm>
            <a:off x="8082077" y="2697480"/>
            <a:ext cx="3606698" cy="1463040"/>
          </a:xfrm>
          <a:prstGeom prst="roundRect">
            <a:avLst>
              <a:gd name="adj" fmla="val 7500"/>
            </a:avLst>
          </a:prstGeom>
          <a:solidFill>
            <a:srgbClr val="FFFFFF"/>
          </a:solidFill>
          <a:ln w="9525">
            <a:solidFill>
              <a:srgbClr val="E2E0F0"/>
            </a:solidFill>
            <a:prstDash val="solid"/>
          </a:ln>
        </p:spPr>
      </p:sp>
      <p:sp>
        <p:nvSpPr>
          <p:cNvPr id="22" name="Text 20"/>
          <p:cNvSpPr/>
          <p:nvPr/>
        </p:nvSpPr>
        <p:spPr>
          <a:xfrm>
            <a:off x="8356397" y="28803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03</a:t>
            </a:r>
            <a:endParaRPr lang="en-US" sz="1300" dirty="0"/>
          </a:p>
        </p:txBody>
      </p:sp>
      <p:sp>
        <p:nvSpPr>
          <p:cNvPr id="23" name="Shape 21"/>
          <p:cNvSpPr/>
          <p:nvPr/>
        </p:nvSpPr>
        <p:spPr>
          <a:xfrm>
            <a:off x="9997135" y="2898648"/>
            <a:ext cx="1463040" cy="329184"/>
          </a:xfrm>
          <a:prstGeom prst="roundRect">
            <a:avLst>
              <a:gd name="adj" fmla="val 50000"/>
            </a:avLst>
          </a:prstGeom>
          <a:solidFill>
            <a:srgbClr val="E8E5FB"/>
          </a:solidFill>
          <a:ln/>
        </p:spPr>
      </p:sp>
      <p:sp>
        <p:nvSpPr>
          <p:cNvPr id="24" name="Text 22"/>
          <p:cNvSpPr/>
          <p:nvPr/>
        </p:nvSpPr>
        <p:spPr>
          <a:xfrm>
            <a:off x="9997135" y="2898648"/>
            <a:ext cx="1463040" cy="329184"/>
          </a:xfrm>
          <a:prstGeom prst="rect">
            <a:avLst/>
          </a:prstGeom>
          <a:noFill/>
          <a:ln/>
        </p:spPr>
        <p:txBody>
          <a:bodyPr wrap="square" lIns="0" tIns="0" rIns="0" bIns="0" rtlCol="0" anchor="ctr"/>
          <a:lstStyle/>
          <a:p>
            <a:pPr algn="ctr" indent="0" marL="0">
              <a:buNone/>
            </a:pPr>
            <a:r>
              <a:rPr lang="en-US" sz="950" b="1" spc="200" kern="0" dirty="0">
                <a:solidFill>
                  <a:srgbClr val="3A2BC0"/>
                </a:solidFill>
                <a:latin typeface="JetBrains Mono" pitchFamily="34" charset="0"/>
                <a:ea typeface="JetBrains Mono" pitchFamily="34" charset="-122"/>
                <a:cs typeface="JetBrains Mono" pitchFamily="34" charset="-120"/>
              </a:rPr>
              <a:t>EXPERT-OPTIONAL</a:t>
            </a:r>
            <a:endParaRPr lang="en-US" sz="950" dirty="0"/>
          </a:p>
        </p:txBody>
      </p:sp>
      <p:sp>
        <p:nvSpPr>
          <p:cNvPr id="25" name="Text 23"/>
          <p:cNvSpPr/>
          <p:nvPr/>
        </p:nvSpPr>
        <p:spPr>
          <a:xfrm>
            <a:off x="8356397" y="333756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Abstraction over complexity.</a:t>
            </a:r>
            <a:endParaRPr lang="en-US" sz="1600" dirty="0"/>
          </a:p>
        </p:txBody>
      </p:sp>
      <p:sp>
        <p:nvSpPr>
          <p:cNvPr id="26" name="Text 24"/>
          <p:cNvSpPr/>
          <p:nvPr/>
        </p:nvSpPr>
        <p:spPr>
          <a:xfrm>
            <a:off x="8356397" y="3886200"/>
            <a:ext cx="3058058" cy="18288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Customer doesn't see Caddy, Docker, RLS, DKIM. They see a working product they can charge for.</a:t>
            </a:r>
            <a:endParaRPr lang="en-US" sz="1150" dirty="0"/>
          </a:p>
        </p:txBody>
      </p:sp>
      <p:sp>
        <p:nvSpPr>
          <p:cNvPr id="27" name="Shape 25"/>
          <p:cNvSpPr/>
          <p:nvPr/>
        </p:nvSpPr>
        <p:spPr>
          <a:xfrm>
            <a:off x="502920" y="4434840"/>
            <a:ext cx="3606698" cy="1463040"/>
          </a:xfrm>
          <a:prstGeom prst="roundRect">
            <a:avLst>
              <a:gd name="adj" fmla="val 7500"/>
            </a:avLst>
          </a:prstGeom>
          <a:solidFill>
            <a:srgbClr val="FFFFFF"/>
          </a:solidFill>
          <a:ln w="9525">
            <a:solidFill>
              <a:srgbClr val="E2E0F0"/>
            </a:solidFill>
            <a:prstDash val="solid"/>
          </a:ln>
        </p:spPr>
      </p:sp>
      <p:sp>
        <p:nvSpPr>
          <p:cNvPr id="28" name="Text 26"/>
          <p:cNvSpPr/>
          <p:nvPr/>
        </p:nvSpPr>
        <p:spPr>
          <a:xfrm>
            <a:off x="777240" y="461772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04</a:t>
            </a:r>
            <a:endParaRPr lang="en-US" sz="1300" dirty="0"/>
          </a:p>
        </p:txBody>
      </p:sp>
      <p:sp>
        <p:nvSpPr>
          <p:cNvPr id="29" name="Shape 27"/>
          <p:cNvSpPr/>
          <p:nvPr/>
        </p:nvSpPr>
        <p:spPr>
          <a:xfrm>
            <a:off x="2417978" y="4636008"/>
            <a:ext cx="1463040" cy="329184"/>
          </a:xfrm>
          <a:prstGeom prst="roundRect">
            <a:avLst>
              <a:gd name="adj" fmla="val 50000"/>
            </a:avLst>
          </a:prstGeom>
          <a:solidFill>
            <a:srgbClr val="E8E5FB"/>
          </a:solidFill>
          <a:ln/>
        </p:spPr>
      </p:sp>
      <p:sp>
        <p:nvSpPr>
          <p:cNvPr id="30" name="Text 28"/>
          <p:cNvSpPr/>
          <p:nvPr/>
        </p:nvSpPr>
        <p:spPr>
          <a:xfrm>
            <a:off x="2417978" y="4636008"/>
            <a:ext cx="1463040" cy="329184"/>
          </a:xfrm>
          <a:prstGeom prst="rect">
            <a:avLst/>
          </a:prstGeom>
          <a:noFill/>
          <a:ln/>
        </p:spPr>
        <p:txBody>
          <a:bodyPr wrap="square" lIns="0" tIns="0" rIns="0" bIns="0" rtlCol="0" anchor="ctr"/>
          <a:lstStyle/>
          <a:p>
            <a:pPr algn="ctr" indent="0" marL="0">
              <a:buNone/>
            </a:pPr>
            <a:r>
              <a:rPr lang="en-US" sz="950" b="1" spc="200" kern="0" dirty="0">
                <a:solidFill>
                  <a:srgbClr val="3A2BC0"/>
                </a:solidFill>
                <a:latin typeface="JetBrains Mono" pitchFamily="34" charset="0"/>
                <a:ea typeface="JetBrains Mono" pitchFamily="34" charset="-122"/>
                <a:cs typeface="JetBrains Mono" pitchFamily="34" charset="-120"/>
              </a:rPr>
              <a:t>BYO AI</a:t>
            </a:r>
            <a:endParaRPr lang="en-US" sz="950" dirty="0"/>
          </a:p>
        </p:txBody>
      </p:sp>
      <p:sp>
        <p:nvSpPr>
          <p:cNvPr id="31" name="Text 29"/>
          <p:cNvSpPr/>
          <p:nvPr/>
        </p:nvSpPr>
        <p:spPr>
          <a:xfrm>
            <a:off x="777240" y="507492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Your AI tool, not ours.</a:t>
            </a:r>
            <a:endParaRPr lang="en-US" sz="1600" dirty="0"/>
          </a:p>
        </p:txBody>
      </p:sp>
      <p:sp>
        <p:nvSpPr>
          <p:cNvPr id="32" name="Text 30"/>
          <p:cNvSpPr/>
          <p:nvPr/>
        </p:nvSpPr>
        <p:spPr>
          <a:xfrm>
            <a:off x="777240" y="5623560"/>
            <a:ext cx="3058058" cy="18288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Cursor, Claude Code, Windsurf, Copilot — plug into the one your customer already trusts.</a:t>
            </a:r>
            <a:endParaRPr lang="en-US" sz="1150" dirty="0"/>
          </a:p>
        </p:txBody>
      </p:sp>
      <p:sp>
        <p:nvSpPr>
          <p:cNvPr id="33" name="Shape 31"/>
          <p:cNvSpPr/>
          <p:nvPr/>
        </p:nvSpPr>
        <p:spPr>
          <a:xfrm>
            <a:off x="4292498" y="4434840"/>
            <a:ext cx="3606698" cy="1463040"/>
          </a:xfrm>
          <a:prstGeom prst="roundRect">
            <a:avLst>
              <a:gd name="adj" fmla="val 7500"/>
            </a:avLst>
          </a:prstGeom>
          <a:solidFill>
            <a:srgbClr val="FFFFFF"/>
          </a:solidFill>
          <a:ln w="9525">
            <a:solidFill>
              <a:srgbClr val="E2E0F0"/>
            </a:solidFill>
            <a:prstDash val="solid"/>
          </a:ln>
        </p:spPr>
      </p:sp>
      <p:sp>
        <p:nvSpPr>
          <p:cNvPr id="34" name="Text 32"/>
          <p:cNvSpPr/>
          <p:nvPr/>
        </p:nvSpPr>
        <p:spPr>
          <a:xfrm>
            <a:off x="4566818" y="461772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05</a:t>
            </a:r>
            <a:endParaRPr lang="en-US" sz="1300" dirty="0"/>
          </a:p>
        </p:txBody>
      </p:sp>
      <p:sp>
        <p:nvSpPr>
          <p:cNvPr id="35" name="Shape 33"/>
          <p:cNvSpPr/>
          <p:nvPr/>
        </p:nvSpPr>
        <p:spPr>
          <a:xfrm>
            <a:off x="6207557" y="4636008"/>
            <a:ext cx="1463040" cy="329184"/>
          </a:xfrm>
          <a:prstGeom prst="roundRect">
            <a:avLst>
              <a:gd name="adj" fmla="val 50000"/>
            </a:avLst>
          </a:prstGeom>
          <a:solidFill>
            <a:srgbClr val="E8E5FB"/>
          </a:solidFill>
          <a:ln/>
        </p:spPr>
      </p:sp>
      <p:sp>
        <p:nvSpPr>
          <p:cNvPr id="36" name="Text 34"/>
          <p:cNvSpPr/>
          <p:nvPr/>
        </p:nvSpPr>
        <p:spPr>
          <a:xfrm>
            <a:off x="6207557" y="4636008"/>
            <a:ext cx="1463040" cy="329184"/>
          </a:xfrm>
          <a:prstGeom prst="rect">
            <a:avLst/>
          </a:prstGeom>
          <a:noFill/>
          <a:ln/>
        </p:spPr>
        <p:txBody>
          <a:bodyPr wrap="square" lIns="0" tIns="0" rIns="0" bIns="0" rtlCol="0" anchor="ctr"/>
          <a:lstStyle/>
          <a:p>
            <a:pPr algn="ctr" indent="0" marL="0">
              <a:buNone/>
            </a:pPr>
            <a:r>
              <a:rPr lang="en-US" sz="950" b="1" spc="200" kern="0" dirty="0">
                <a:solidFill>
                  <a:srgbClr val="3A2BC0"/>
                </a:solidFill>
                <a:latin typeface="JetBrains Mono" pitchFamily="34" charset="0"/>
                <a:ea typeface="JetBrains Mono" pitchFamily="34" charset="-122"/>
                <a:cs typeface="JetBrains Mono" pitchFamily="34" charset="-120"/>
              </a:rPr>
              <a:t>ZERO LOCK-IN</a:t>
            </a:r>
            <a:endParaRPr lang="en-US" sz="950" dirty="0"/>
          </a:p>
        </p:txBody>
      </p:sp>
      <p:sp>
        <p:nvSpPr>
          <p:cNvPr id="37" name="Text 35"/>
          <p:cNvSpPr/>
          <p:nvPr/>
        </p:nvSpPr>
        <p:spPr>
          <a:xfrm>
            <a:off x="4566818" y="507492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Your code, your repo, your VPS.</a:t>
            </a:r>
            <a:endParaRPr lang="en-US" sz="1600" dirty="0"/>
          </a:p>
        </p:txBody>
      </p:sp>
      <p:sp>
        <p:nvSpPr>
          <p:cNvPr id="38" name="Text 36"/>
          <p:cNvSpPr/>
          <p:nvPr/>
        </p:nvSpPr>
        <p:spPr>
          <a:xfrm>
            <a:off x="4566818" y="5623560"/>
            <a:ext cx="3058058" cy="18288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Per-tenant private GitHub repo on day one. Want to leave? You already own everything.</a:t>
            </a:r>
            <a:endParaRPr lang="en-US" sz="1150" dirty="0"/>
          </a:p>
        </p:txBody>
      </p:sp>
      <p:sp>
        <p:nvSpPr>
          <p:cNvPr id="39" name="Shape 37"/>
          <p:cNvSpPr/>
          <p:nvPr/>
        </p:nvSpPr>
        <p:spPr>
          <a:xfrm>
            <a:off x="8082077" y="4434840"/>
            <a:ext cx="3606698" cy="1463040"/>
          </a:xfrm>
          <a:prstGeom prst="roundRect">
            <a:avLst>
              <a:gd name="adj" fmla="val 7500"/>
            </a:avLst>
          </a:prstGeom>
          <a:solidFill>
            <a:srgbClr val="FFFFFF"/>
          </a:solidFill>
          <a:ln w="9525">
            <a:solidFill>
              <a:srgbClr val="E2E0F0"/>
            </a:solidFill>
            <a:prstDash val="solid"/>
          </a:ln>
        </p:spPr>
      </p:sp>
      <p:sp>
        <p:nvSpPr>
          <p:cNvPr id="40" name="Text 38"/>
          <p:cNvSpPr/>
          <p:nvPr/>
        </p:nvSpPr>
        <p:spPr>
          <a:xfrm>
            <a:off x="8356397" y="461772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06</a:t>
            </a:r>
            <a:endParaRPr lang="en-US" sz="1300" dirty="0"/>
          </a:p>
        </p:txBody>
      </p:sp>
      <p:sp>
        <p:nvSpPr>
          <p:cNvPr id="41" name="Shape 39"/>
          <p:cNvSpPr/>
          <p:nvPr/>
        </p:nvSpPr>
        <p:spPr>
          <a:xfrm>
            <a:off x="9997135" y="4636008"/>
            <a:ext cx="1463040" cy="329184"/>
          </a:xfrm>
          <a:prstGeom prst="roundRect">
            <a:avLst>
              <a:gd name="adj" fmla="val 50000"/>
            </a:avLst>
          </a:prstGeom>
          <a:solidFill>
            <a:srgbClr val="E8E5FB"/>
          </a:solidFill>
          <a:ln/>
        </p:spPr>
      </p:sp>
      <p:sp>
        <p:nvSpPr>
          <p:cNvPr id="42" name="Text 40"/>
          <p:cNvSpPr/>
          <p:nvPr/>
        </p:nvSpPr>
        <p:spPr>
          <a:xfrm>
            <a:off x="9997135" y="4636008"/>
            <a:ext cx="1463040" cy="329184"/>
          </a:xfrm>
          <a:prstGeom prst="rect">
            <a:avLst/>
          </a:prstGeom>
          <a:noFill/>
          <a:ln/>
        </p:spPr>
        <p:txBody>
          <a:bodyPr wrap="square" lIns="0" tIns="0" rIns="0" bIns="0" rtlCol="0" anchor="ctr"/>
          <a:lstStyle/>
          <a:p>
            <a:pPr algn="ctr" indent="0" marL="0">
              <a:buNone/>
            </a:pPr>
            <a:r>
              <a:rPr lang="en-US" sz="950" b="1" spc="200" kern="0" dirty="0">
                <a:solidFill>
                  <a:srgbClr val="3A2BC0"/>
                </a:solidFill>
                <a:latin typeface="JetBrains Mono" pitchFamily="34" charset="0"/>
                <a:ea typeface="JetBrains Mono" pitchFamily="34" charset="-122"/>
                <a:cs typeface="JetBrains Mono" pitchFamily="34" charset="-120"/>
              </a:rPr>
              <a:t>FIXED + KNOWABLE</a:t>
            </a:r>
            <a:endParaRPr lang="en-US" sz="950" dirty="0"/>
          </a:p>
        </p:txBody>
      </p:sp>
      <p:sp>
        <p:nvSpPr>
          <p:cNvPr id="43" name="Text 41"/>
          <p:cNvSpPr/>
          <p:nvPr/>
        </p:nvSpPr>
        <p:spPr>
          <a:xfrm>
            <a:off x="8356397" y="507492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Predictable cost, no surprise bills.</a:t>
            </a:r>
            <a:endParaRPr lang="en-US" sz="1600" dirty="0"/>
          </a:p>
        </p:txBody>
      </p:sp>
      <p:sp>
        <p:nvSpPr>
          <p:cNvPr id="44" name="Text 42"/>
          <p:cNvSpPr/>
          <p:nvPr/>
        </p:nvSpPr>
        <p:spPr>
          <a:xfrm>
            <a:off x="8356397" y="5623560"/>
            <a:ext cx="3058058" cy="18288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Pass-through overage × 1.60. PAYG top-ups. AI credit included. No surprise £400 month.</a:t>
            </a:r>
            <a:endParaRPr lang="en-US" sz="1150" dirty="0"/>
          </a:p>
        </p:txBody>
      </p:sp>
      <p:sp>
        <p:nvSpPr>
          <p:cNvPr id="45" name="Shape 43"/>
          <p:cNvSpPr/>
          <p:nvPr/>
        </p:nvSpPr>
        <p:spPr>
          <a:xfrm>
            <a:off x="502920" y="6263640"/>
            <a:ext cx="11185855" cy="0"/>
          </a:xfrm>
          <a:prstGeom prst="line">
            <a:avLst/>
          </a:prstGeom>
          <a:noFill/>
          <a:ln w="6350">
            <a:solidFill>
              <a:srgbClr val="E2E0F0"/>
            </a:solidFill>
            <a:prstDash val="solid"/>
          </a:ln>
        </p:spPr>
      </p:sp>
      <p:sp>
        <p:nvSpPr>
          <p:cNvPr id="46" name="Text 44"/>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47" name="Text 45"/>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11  /  28</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12  ·  BUSINESS MODEL</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Three tiers. </a:t>
            </a:r>
            <a:pPr algn="l" indent="0" marL="0">
              <a:buNone/>
            </a:pPr>
            <a:r>
              <a:rPr lang="en-US" sz="3600" b="1" dirty="0">
                <a:solidFill>
                  <a:srgbClr val="5040E5"/>
                </a:solidFill>
                <a:latin typeface="Inter" pitchFamily="34" charset="0"/>
                <a:ea typeface="Inter" pitchFamily="34" charset="-122"/>
                <a:cs typeface="Inter" pitchFamily="34" charset="-120"/>
              </a:rPr>
              <a:t>Paddle as MoR.</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Sandbox is the frictionless entry — designed to convert. Launch is the working SaaS. Growth auto-promotes when traction earns it.</a:t>
            </a:r>
            <a:endParaRPr lang="en-US" sz="1550" dirty="0"/>
          </a:p>
        </p:txBody>
      </p:sp>
      <p:sp>
        <p:nvSpPr>
          <p:cNvPr id="9" name="Shape 7"/>
          <p:cNvSpPr/>
          <p:nvPr/>
        </p:nvSpPr>
        <p:spPr>
          <a:xfrm>
            <a:off x="502920" y="2606040"/>
            <a:ext cx="3606698" cy="3246120"/>
          </a:xfrm>
          <a:prstGeom prst="roundRect">
            <a:avLst>
              <a:gd name="adj" fmla="val 3380"/>
            </a:avLst>
          </a:prstGeom>
          <a:solidFill>
            <a:srgbClr val="FFFFFF"/>
          </a:solidFill>
          <a:ln w="9525">
            <a:solidFill>
              <a:srgbClr val="E2E0F0"/>
            </a:solidFill>
            <a:prstDash val="solid"/>
          </a:ln>
        </p:spPr>
      </p:sp>
      <p:sp>
        <p:nvSpPr>
          <p:cNvPr id="10" name="Shape 8"/>
          <p:cNvSpPr/>
          <p:nvPr/>
        </p:nvSpPr>
        <p:spPr>
          <a:xfrm>
            <a:off x="2555138" y="2423160"/>
            <a:ext cx="1417320" cy="365760"/>
          </a:xfrm>
          <a:prstGeom prst="roundRect">
            <a:avLst>
              <a:gd name="adj" fmla="val 50000"/>
            </a:avLst>
          </a:prstGeom>
          <a:solidFill>
            <a:srgbClr val="5040E5"/>
          </a:solidFill>
          <a:ln/>
        </p:spPr>
      </p:sp>
      <p:sp>
        <p:nvSpPr>
          <p:cNvPr id="11" name="Text 9"/>
          <p:cNvSpPr/>
          <p:nvPr/>
        </p:nvSpPr>
        <p:spPr>
          <a:xfrm>
            <a:off x="2555138" y="2423160"/>
            <a:ext cx="1417320" cy="36576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JetBrains Mono" pitchFamily="34" charset="0"/>
                <a:ea typeface="JetBrains Mono" pitchFamily="34" charset="-122"/>
                <a:cs typeface="JetBrains Mono" pitchFamily="34" charset="-120"/>
              </a:rPr>
              <a:t>RECOMMENDED</a:t>
            </a:r>
            <a:endParaRPr lang="en-US" sz="1000" dirty="0"/>
          </a:p>
        </p:txBody>
      </p:sp>
      <p:sp>
        <p:nvSpPr>
          <p:cNvPr id="12" name="Text 10"/>
          <p:cNvSpPr/>
          <p:nvPr/>
        </p:nvSpPr>
        <p:spPr>
          <a:xfrm>
            <a:off x="731520" y="2788920"/>
            <a:ext cx="314949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STAGE 0  ·  EVALUATION</a:t>
            </a:r>
            <a:endParaRPr lang="en-US" sz="1050" dirty="0"/>
          </a:p>
        </p:txBody>
      </p:sp>
      <p:sp>
        <p:nvSpPr>
          <p:cNvPr id="13" name="Text 11"/>
          <p:cNvSpPr/>
          <p:nvPr/>
        </p:nvSpPr>
        <p:spPr>
          <a:xfrm>
            <a:off x="731520" y="3017520"/>
            <a:ext cx="3149498" cy="45720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Sandbox</a:t>
            </a:r>
            <a:endParaRPr lang="en-US" sz="2600" dirty="0"/>
          </a:p>
        </p:txBody>
      </p:sp>
      <p:sp>
        <p:nvSpPr>
          <p:cNvPr id="14" name="Text 12"/>
          <p:cNvSpPr/>
          <p:nvPr/>
        </p:nvSpPr>
        <p:spPr>
          <a:xfrm>
            <a:off x="731520" y="3474720"/>
            <a:ext cx="3149498" cy="50292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£0</a:t>
            </a:r>
            <a:pPr algn="l" indent="0" marL="0">
              <a:buNone/>
            </a:pPr>
            <a:endParaRPr lang="en-US" sz="3600" dirty="0"/>
          </a:p>
        </p:txBody>
      </p:sp>
      <p:sp>
        <p:nvSpPr>
          <p:cNvPr id="15" name="Text 13"/>
          <p:cNvSpPr/>
          <p:nvPr/>
        </p:nvSpPr>
        <p:spPr>
          <a:xfrm>
            <a:off x="731520" y="4023360"/>
            <a:ext cx="3149498" cy="256032"/>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Free forever while active · 30-day idle auto-archive</a:t>
            </a:r>
            <a:endParaRPr lang="en-US" sz="1000" dirty="0"/>
          </a:p>
        </p:txBody>
      </p:sp>
      <p:sp>
        <p:nvSpPr>
          <p:cNvPr id="16" name="Shape 14"/>
          <p:cNvSpPr/>
          <p:nvPr/>
        </p:nvSpPr>
        <p:spPr>
          <a:xfrm>
            <a:off x="731520" y="4297680"/>
            <a:ext cx="3149498" cy="292608"/>
          </a:xfrm>
          <a:prstGeom prst="roundRect">
            <a:avLst>
              <a:gd name="adj" fmla="val 50000"/>
            </a:avLst>
          </a:prstGeom>
          <a:solidFill>
            <a:srgbClr val="F0EDFC"/>
          </a:solidFill>
          <a:ln/>
        </p:spPr>
      </p:sp>
      <p:sp>
        <p:nvSpPr>
          <p:cNvPr id="17" name="Text 15"/>
          <p:cNvSpPr/>
          <p:nvPr/>
        </p:nvSpPr>
        <p:spPr>
          <a:xfrm>
            <a:off x="731520" y="4297680"/>
            <a:ext cx="3149498" cy="292608"/>
          </a:xfrm>
          <a:prstGeom prst="rect">
            <a:avLst/>
          </a:prstGeom>
          <a:noFill/>
          <a:ln/>
        </p:spPr>
        <p:txBody>
          <a:bodyPr wrap="square" lIns="0" tIns="0" rIns="0" bIns="0" rtlCol="0" anchor="ctr"/>
          <a:lstStyle/>
          <a:p>
            <a:pPr algn="ctr" indent="0" marL="0">
              <a:buNone/>
            </a:pPr>
            <a:r>
              <a:rPr lang="en-US" sz="900" b="1" spc="200" kern="0" dirty="0">
                <a:solidFill>
                  <a:srgbClr val="3A2BC0"/>
                </a:solidFill>
                <a:latin typeface="JetBrains Mono" pitchFamily="34" charset="0"/>
                <a:ea typeface="JetBrains Mono" pitchFamily="34" charset="-122"/>
                <a:cs typeface="JetBrains Mono" pitchFamily="34" charset="-120"/>
              </a:rPr>
              <a:t>FRICTIONLESS  ·  1–2 DAYS AFTER AWARENESS</a:t>
            </a:r>
            <a:endParaRPr lang="en-US" sz="900" dirty="0"/>
          </a:p>
        </p:txBody>
      </p:sp>
      <p:sp>
        <p:nvSpPr>
          <p:cNvPr id="18" name="Shape 16"/>
          <p:cNvSpPr/>
          <p:nvPr/>
        </p:nvSpPr>
        <p:spPr>
          <a:xfrm>
            <a:off x="731520" y="4617720"/>
            <a:ext cx="3149498" cy="292608"/>
          </a:xfrm>
          <a:prstGeom prst="roundRect">
            <a:avLst>
              <a:gd name="adj" fmla="val 50000"/>
            </a:avLst>
          </a:prstGeom>
          <a:solidFill>
            <a:srgbClr val="F5F3FE"/>
          </a:solidFill>
          <a:ln/>
        </p:spPr>
      </p:sp>
      <p:sp>
        <p:nvSpPr>
          <p:cNvPr id="19" name="Text 17"/>
          <p:cNvSpPr/>
          <p:nvPr/>
        </p:nvSpPr>
        <p:spPr>
          <a:xfrm>
            <a:off x="731520" y="4617720"/>
            <a:ext cx="3149498" cy="292608"/>
          </a:xfrm>
          <a:prstGeom prst="rect">
            <a:avLst/>
          </a:prstGeom>
          <a:noFill/>
          <a:ln/>
        </p:spPr>
        <p:txBody>
          <a:bodyPr wrap="square" lIns="0" tIns="0" rIns="0" bIns="0" rtlCol="0" anchor="ctr"/>
          <a:lstStyle/>
          <a:p>
            <a:pPr algn="ctr" indent="0" marL="0">
              <a:buNone/>
            </a:pPr>
            <a:r>
              <a:rPr lang="en-US" sz="900" spc="200" kern="0" dirty="0">
                <a:solidFill>
                  <a:srgbClr val="475569"/>
                </a:solidFill>
                <a:latin typeface="JetBrains Mono" pitchFamily="34" charset="0"/>
                <a:ea typeface="JetBrains Mono" pitchFamily="34" charset="-122"/>
                <a:cs typeface="JetBrains Mono" pitchFamily="34" charset="-120"/>
              </a:rPr>
              <a:t>100% TOP-OF-FUNNEL</a:t>
            </a:r>
            <a:endParaRPr lang="en-US" sz="900" dirty="0"/>
          </a:p>
        </p:txBody>
      </p:sp>
      <p:sp>
        <p:nvSpPr>
          <p:cNvPr id="20" name="Shape 18"/>
          <p:cNvSpPr/>
          <p:nvPr/>
        </p:nvSpPr>
        <p:spPr>
          <a:xfrm>
            <a:off x="777240" y="5056632"/>
            <a:ext cx="45720" cy="45720"/>
          </a:xfrm>
          <a:prstGeom prst="ellipse">
            <a:avLst/>
          </a:prstGeom>
          <a:solidFill>
            <a:srgbClr val="94A3B8"/>
          </a:solidFill>
          <a:ln/>
        </p:spPr>
      </p:sp>
      <p:sp>
        <p:nvSpPr>
          <p:cNvPr id="21" name="Text 19"/>
          <p:cNvSpPr/>
          <p:nvPr/>
        </p:nvSpPr>
        <p:spPr>
          <a:xfrm>
            <a:off x="886968" y="5001768"/>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Sandbox at slug.hatchik.com</a:t>
            </a:r>
            <a:endParaRPr lang="en-US" sz="900" dirty="0"/>
          </a:p>
        </p:txBody>
      </p:sp>
      <p:sp>
        <p:nvSpPr>
          <p:cNvPr id="22" name="Shape 20"/>
          <p:cNvSpPr/>
          <p:nvPr/>
        </p:nvSpPr>
        <p:spPr>
          <a:xfrm>
            <a:off x="777240" y="5184648"/>
            <a:ext cx="45720" cy="45720"/>
          </a:xfrm>
          <a:prstGeom prst="ellipse">
            <a:avLst/>
          </a:prstGeom>
          <a:solidFill>
            <a:srgbClr val="94A3B8"/>
          </a:solidFill>
          <a:ln/>
        </p:spPr>
      </p:sp>
      <p:sp>
        <p:nvSpPr>
          <p:cNvPr id="23" name="Text 21"/>
          <p:cNvSpPr/>
          <p:nvPr/>
        </p:nvSpPr>
        <p:spPr>
          <a:xfrm>
            <a:off x="886968" y="5129784"/>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Shared host (Hetzner CAX31)</a:t>
            </a:r>
            <a:endParaRPr lang="en-US" sz="900" dirty="0"/>
          </a:p>
        </p:txBody>
      </p:sp>
      <p:sp>
        <p:nvSpPr>
          <p:cNvPr id="24" name="Shape 22"/>
          <p:cNvSpPr/>
          <p:nvPr/>
        </p:nvSpPr>
        <p:spPr>
          <a:xfrm>
            <a:off x="777240" y="5312664"/>
            <a:ext cx="45720" cy="45720"/>
          </a:xfrm>
          <a:prstGeom prst="ellipse">
            <a:avLst/>
          </a:prstGeom>
          <a:solidFill>
            <a:srgbClr val="94A3B8"/>
          </a:solidFill>
          <a:ln/>
        </p:spPr>
      </p:sp>
      <p:sp>
        <p:nvSpPr>
          <p:cNvPr id="25" name="Text 23"/>
          <p:cNvSpPr/>
          <p:nvPr/>
        </p:nvSpPr>
        <p:spPr>
          <a:xfrm>
            <a:off x="886968" y="5257800"/>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Private GitHub repo + AI handoff</a:t>
            </a:r>
            <a:endParaRPr lang="en-US" sz="900" dirty="0"/>
          </a:p>
        </p:txBody>
      </p:sp>
      <p:sp>
        <p:nvSpPr>
          <p:cNvPr id="26" name="Shape 24"/>
          <p:cNvSpPr/>
          <p:nvPr/>
        </p:nvSpPr>
        <p:spPr>
          <a:xfrm>
            <a:off x="777240" y="5440680"/>
            <a:ext cx="45720" cy="45720"/>
          </a:xfrm>
          <a:prstGeom prst="ellipse">
            <a:avLst/>
          </a:prstGeom>
          <a:solidFill>
            <a:srgbClr val="94A3B8"/>
          </a:solidFill>
          <a:ln/>
        </p:spPr>
      </p:sp>
      <p:sp>
        <p:nvSpPr>
          <p:cNvPr id="27" name="Text 25"/>
          <p:cNvSpPr/>
          <p:nvPr/>
        </p:nvSpPr>
        <p:spPr>
          <a:xfrm>
            <a:off x="886968" y="5385816"/>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Capped one active per email</a:t>
            </a:r>
            <a:endParaRPr lang="en-US" sz="900" dirty="0"/>
          </a:p>
        </p:txBody>
      </p:sp>
      <p:sp>
        <p:nvSpPr>
          <p:cNvPr id="28" name="Shape 26"/>
          <p:cNvSpPr/>
          <p:nvPr/>
        </p:nvSpPr>
        <p:spPr>
          <a:xfrm>
            <a:off x="777240" y="5568696"/>
            <a:ext cx="45720" cy="45720"/>
          </a:xfrm>
          <a:prstGeom prst="ellipse">
            <a:avLst/>
          </a:prstGeom>
          <a:solidFill>
            <a:srgbClr val="94A3B8"/>
          </a:solidFill>
          <a:ln/>
        </p:spPr>
      </p:sp>
      <p:sp>
        <p:nvSpPr>
          <p:cNvPr id="29" name="Text 27"/>
          <p:cNvSpPr/>
          <p:nvPr/>
        </p:nvSpPr>
        <p:spPr>
          <a:xfrm>
            <a:off x="886968" y="5513832"/>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£0.50 one-off AI credit</a:t>
            </a:r>
            <a:endParaRPr lang="en-US" sz="900" dirty="0"/>
          </a:p>
        </p:txBody>
      </p:sp>
      <p:sp>
        <p:nvSpPr>
          <p:cNvPr id="30" name="Shape 28"/>
          <p:cNvSpPr/>
          <p:nvPr/>
        </p:nvSpPr>
        <p:spPr>
          <a:xfrm>
            <a:off x="4292498" y="2606040"/>
            <a:ext cx="3606698" cy="3246120"/>
          </a:xfrm>
          <a:prstGeom prst="roundRect">
            <a:avLst>
              <a:gd name="adj" fmla="val 3380"/>
            </a:avLst>
          </a:prstGeom>
          <a:solidFill>
            <a:srgbClr val="FFFFFF"/>
          </a:solidFill>
          <a:ln w="9525">
            <a:solidFill>
              <a:srgbClr val="E2E0F0"/>
            </a:solidFill>
            <a:prstDash val="solid"/>
          </a:ln>
        </p:spPr>
      </p:sp>
      <p:sp>
        <p:nvSpPr>
          <p:cNvPr id="31" name="Text 29"/>
          <p:cNvSpPr/>
          <p:nvPr/>
        </p:nvSpPr>
        <p:spPr>
          <a:xfrm>
            <a:off x="4521098" y="2788920"/>
            <a:ext cx="314949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STAGE 1  ·  PRODUCTION  ·  SOLO</a:t>
            </a:r>
            <a:endParaRPr lang="en-US" sz="1050" dirty="0"/>
          </a:p>
        </p:txBody>
      </p:sp>
      <p:sp>
        <p:nvSpPr>
          <p:cNvPr id="32" name="Text 30"/>
          <p:cNvSpPr/>
          <p:nvPr/>
        </p:nvSpPr>
        <p:spPr>
          <a:xfrm>
            <a:off x="4521098" y="3017520"/>
            <a:ext cx="3149498" cy="45720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Launch</a:t>
            </a:r>
            <a:endParaRPr lang="en-US" sz="2600" dirty="0"/>
          </a:p>
        </p:txBody>
      </p:sp>
      <p:sp>
        <p:nvSpPr>
          <p:cNvPr id="33" name="Text 31"/>
          <p:cNvSpPr/>
          <p:nvPr/>
        </p:nvSpPr>
        <p:spPr>
          <a:xfrm>
            <a:off x="4521098" y="3474720"/>
            <a:ext cx="3149498" cy="50292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£89</a:t>
            </a:r>
            <a:pPr algn="l" indent="0" marL="0">
              <a:buNone/>
            </a:pPr>
            <a:r>
              <a:rPr lang="en-US" sz="1300" dirty="0">
                <a:solidFill>
                  <a:srgbClr val="475569"/>
                </a:solidFill>
                <a:latin typeface="Inter" pitchFamily="34" charset="0"/>
                <a:ea typeface="Inter" pitchFamily="34" charset="-122"/>
                <a:cs typeface="Inter" pitchFamily="34" charset="-120"/>
              </a:rPr>
              <a:t> +£14/mo</a:t>
            </a:r>
            <a:endParaRPr lang="en-US" sz="3600" dirty="0"/>
          </a:p>
        </p:txBody>
      </p:sp>
      <p:sp>
        <p:nvSpPr>
          <p:cNvPr id="34" name="Text 32"/>
          <p:cNvSpPr/>
          <p:nvPr/>
        </p:nvSpPr>
        <p:spPr>
          <a:xfrm>
            <a:off x="4521098" y="4023360"/>
            <a:ext cx="3149498" cy="256032"/>
          </a:xfrm>
          <a:prstGeom prst="rect">
            <a:avLst/>
          </a:prstGeom>
          <a:noFill/>
          <a:ln/>
        </p:spPr>
        <p:txBody>
          <a:bodyPr wrap="square" lIns="0" tIns="0" rIns="0" bIns="0" rtlCol="0" anchor="ctr"/>
          <a:lstStyle/>
          <a:p>
            <a:pPr algn="l" indent="0" marL="0">
              <a:buNone/>
            </a:pPr>
            <a:r>
              <a:rPr lang="en-US" sz="1000" dirty="0">
                <a:solidFill>
                  <a:srgbClr val="94A3B8"/>
                </a:solidFill>
                <a:latin typeface="Inter" pitchFamily="34" charset="0"/>
                <a:ea typeface="Inter" pitchFamily="34" charset="-122"/>
                <a:cs typeface="Inter" pitchFamily="34" charset="-120"/>
              </a:rPr>
              <a:t>Setup, then £14/mo annual or £17/mo monthly</a:t>
            </a:r>
            <a:endParaRPr lang="en-US" sz="1000" dirty="0"/>
          </a:p>
        </p:txBody>
      </p:sp>
      <p:sp>
        <p:nvSpPr>
          <p:cNvPr id="35" name="Shape 33"/>
          <p:cNvSpPr/>
          <p:nvPr/>
        </p:nvSpPr>
        <p:spPr>
          <a:xfrm>
            <a:off x="4521098" y="4297680"/>
            <a:ext cx="3149498" cy="292608"/>
          </a:xfrm>
          <a:prstGeom prst="roundRect">
            <a:avLst>
              <a:gd name="adj" fmla="val 50000"/>
            </a:avLst>
          </a:prstGeom>
          <a:solidFill>
            <a:srgbClr val="F0EDFC"/>
          </a:solidFill>
          <a:ln/>
        </p:spPr>
      </p:sp>
      <p:sp>
        <p:nvSpPr>
          <p:cNvPr id="36" name="Text 34"/>
          <p:cNvSpPr/>
          <p:nvPr/>
        </p:nvSpPr>
        <p:spPr>
          <a:xfrm>
            <a:off x="4521098" y="4297680"/>
            <a:ext cx="3149498" cy="292608"/>
          </a:xfrm>
          <a:prstGeom prst="rect">
            <a:avLst/>
          </a:prstGeom>
          <a:noFill/>
          <a:ln/>
        </p:spPr>
        <p:txBody>
          <a:bodyPr wrap="square" lIns="0" tIns="0" rIns="0" bIns="0" rtlCol="0" anchor="ctr"/>
          <a:lstStyle/>
          <a:p>
            <a:pPr algn="ctr" indent="0" marL="0">
              <a:buNone/>
            </a:pPr>
            <a:r>
              <a:rPr lang="en-US" sz="900" b="1" spc="200" kern="0" dirty="0">
                <a:solidFill>
                  <a:srgbClr val="3A2BC0"/>
                </a:solidFill>
                <a:latin typeface="JetBrains Mono" pitchFamily="34" charset="0"/>
                <a:ea typeface="JetBrains Mono" pitchFamily="34" charset="-122"/>
                <a:cs typeface="JetBrains Mono" pitchFamily="34" charset="-120"/>
              </a:rPr>
              <a:t>WITHIN 30 DAYS OF SIGN-UP</a:t>
            </a:r>
            <a:endParaRPr lang="en-US" sz="900" dirty="0"/>
          </a:p>
        </p:txBody>
      </p:sp>
      <p:sp>
        <p:nvSpPr>
          <p:cNvPr id="37" name="Shape 35"/>
          <p:cNvSpPr/>
          <p:nvPr/>
        </p:nvSpPr>
        <p:spPr>
          <a:xfrm>
            <a:off x="4521098" y="4617720"/>
            <a:ext cx="3149498" cy="292608"/>
          </a:xfrm>
          <a:prstGeom prst="roundRect">
            <a:avLst>
              <a:gd name="adj" fmla="val 50000"/>
            </a:avLst>
          </a:prstGeom>
          <a:solidFill>
            <a:srgbClr val="F5F3FE"/>
          </a:solidFill>
          <a:ln/>
        </p:spPr>
      </p:sp>
      <p:sp>
        <p:nvSpPr>
          <p:cNvPr id="38" name="Text 36"/>
          <p:cNvSpPr/>
          <p:nvPr/>
        </p:nvSpPr>
        <p:spPr>
          <a:xfrm>
            <a:off x="4521098" y="4617720"/>
            <a:ext cx="3149498" cy="292608"/>
          </a:xfrm>
          <a:prstGeom prst="rect">
            <a:avLst/>
          </a:prstGeom>
          <a:noFill/>
          <a:ln/>
        </p:spPr>
        <p:txBody>
          <a:bodyPr wrap="square" lIns="0" tIns="0" rIns="0" bIns="0" rtlCol="0" anchor="ctr"/>
          <a:lstStyle/>
          <a:p>
            <a:pPr algn="ctr" indent="0" marL="0">
              <a:buNone/>
            </a:pPr>
            <a:r>
              <a:rPr lang="en-US" sz="900" spc="200" kern="0" dirty="0">
                <a:solidFill>
                  <a:srgbClr val="475569"/>
                </a:solidFill>
                <a:latin typeface="JetBrains Mono" pitchFamily="34" charset="0"/>
                <a:ea typeface="JetBrains Mono" pitchFamily="34" charset="-122"/>
                <a:cs typeface="JetBrains Mono" pitchFamily="34" charset="-120"/>
              </a:rPr>
              <a:t>5% OF SANDBOXES</a:t>
            </a:r>
            <a:endParaRPr lang="en-US" sz="900" dirty="0"/>
          </a:p>
        </p:txBody>
      </p:sp>
      <p:sp>
        <p:nvSpPr>
          <p:cNvPr id="39" name="Shape 37"/>
          <p:cNvSpPr/>
          <p:nvPr/>
        </p:nvSpPr>
        <p:spPr>
          <a:xfrm>
            <a:off x="4566818" y="5056632"/>
            <a:ext cx="45720" cy="45720"/>
          </a:xfrm>
          <a:prstGeom prst="ellipse">
            <a:avLst/>
          </a:prstGeom>
          <a:solidFill>
            <a:srgbClr val="94A3B8"/>
          </a:solidFill>
          <a:ln/>
        </p:spPr>
      </p:sp>
      <p:sp>
        <p:nvSpPr>
          <p:cNvPr id="40" name="Text 38"/>
          <p:cNvSpPr/>
          <p:nvPr/>
        </p:nvSpPr>
        <p:spPr>
          <a:xfrm>
            <a:off x="4676546" y="5001768"/>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Production hosting + domain + mailboxes</a:t>
            </a:r>
            <a:endParaRPr lang="en-US" sz="900" dirty="0"/>
          </a:p>
        </p:txBody>
      </p:sp>
      <p:sp>
        <p:nvSpPr>
          <p:cNvPr id="41" name="Shape 39"/>
          <p:cNvSpPr/>
          <p:nvPr/>
        </p:nvSpPr>
        <p:spPr>
          <a:xfrm>
            <a:off x="4566818" y="5184648"/>
            <a:ext cx="45720" cy="45720"/>
          </a:xfrm>
          <a:prstGeom prst="ellipse">
            <a:avLst/>
          </a:prstGeom>
          <a:solidFill>
            <a:srgbClr val="94A3B8"/>
          </a:solidFill>
          <a:ln/>
        </p:spPr>
      </p:sp>
      <p:sp>
        <p:nvSpPr>
          <p:cNvPr id="42" name="Text 40"/>
          <p:cNvSpPr/>
          <p:nvPr/>
        </p:nvSpPr>
        <p:spPr>
          <a:xfrm>
            <a:off x="4676546" y="5129784"/>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Shared host in customer region</a:t>
            </a:r>
            <a:endParaRPr lang="en-US" sz="900" dirty="0"/>
          </a:p>
        </p:txBody>
      </p:sp>
      <p:sp>
        <p:nvSpPr>
          <p:cNvPr id="43" name="Shape 41"/>
          <p:cNvSpPr/>
          <p:nvPr/>
        </p:nvSpPr>
        <p:spPr>
          <a:xfrm>
            <a:off x="4566818" y="5312664"/>
            <a:ext cx="45720" cy="45720"/>
          </a:xfrm>
          <a:prstGeom prst="ellipse">
            <a:avLst/>
          </a:prstGeom>
          <a:solidFill>
            <a:srgbClr val="94A3B8"/>
          </a:solidFill>
          <a:ln/>
        </p:spPr>
      </p:sp>
      <p:sp>
        <p:nvSpPr>
          <p:cNvPr id="44" name="Text 42"/>
          <p:cNvSpPr/>
          <p:nvPr/>
        </p:nvSpPr>
        <p:spPr>
          <a:xfrm>
            <a:off x="4676546" y="5257800"/>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3 mailboxes (Infomaniak)</a:t>
            </a:r>
            <a:endParaRPr lang="en-US" sz="900" dirty="0"/>
          </a:p>
        </p:txBody>
      </p:sp>
      <p:sp>
        <p:nvSpPr>
          <p:cNvPr id="45" name="Shape 43"/>
          <p:cNvSpPr/>
          <p:nvPr/>
        </p:nvSpPr>
        <p:spPr>
          <a:xfrm>
            <a:off x="4566818" y="5440680"/>
            <a:ext cx="45720" cy="45720"/>
          </a:xfrm>
          <a:prstGeom prst="ellipse">
            <a:avLst/>
          </a:prstGeom>
          <a:solidFill>
            <a:srgbClr val="94A3B8"/>
          </a:solidFill>
          <a:ln/>
        </p:spPr>
      </p:sp>
      <p:sp>
        <p:nvSpPr>
          <p:cNvPr id="46" name="Text 44"/>
          <p:cNvSpPr/>
          <p:nvPr/>
        </p:nvSpPr>
        <p:spPr>
          <a:xfrm>
            <a:off x="4676546" y="5385816"/>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BYO or registered domain</a:t>
            </a:r>
            <a:endParaRPr lang="en-US" sz="900" dirty="0"/>
          </a:p>
        </p:txBody>
      </p:sp>
      <p:sp>
        <p:nvSpPr>
          <p:cNvPr id="47" name="Shape 45"/>
          <p:cNvSpPr/>
          <p:nvPr/>
        </p:nvSpPr>
        <p:spPr>
          <a:xfrm>
            <a:off x="4566818" y="5568696"/>
            <a:ext cx="45720" cy="45720"/>
          </a:xfrm>
          <a:prstGeom prst="ellipse">
            <a:avLst/>
          </a:prstGeom>
          <a:solidFill>
            <a:srgbClr val="94A3B8"/>
          </a:solidFill>
          <a:ln/>
        </p:spPr>
      </p:sp>
      <p:sp>
        <p:nvSpPr>
          <p:cNvPr id="48" name="Text 46"/>
          <p:cNvSpPr/>
          <p:nvPr/>
        </p:nvSpPr>
        <p:spPr>
          <a:xfrm>
            <a:off x="4676546" y="5513832"/>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Push-to-deploy + mobile builds</a:t>
            </a:r>
            <a:endParaRPr lang="en-US" sz="900" dirty="0"/>
          </a:p>
        </p:txBody>
      </p:sp>
      <p:sp>
        <p:nvSpPr>
          <p:cNvPr id="49" name="Shape 47"/>
          <p:cNvSpPr/>
          <p:nvPr/>
        </p:nvSpPr>
        <p:spPr>
          <a:xfrm>
            <a:off x="4566818" y="5696712"/>
            <a:ext cx="45720" cy="45720"/>
          </a:xfrm>
          <a:prstGeom prst="ellipse">
            <a:avLst/>
          </a:prstGeom>
          <a:solidFill>
            <a:srgbClr val="94A3B8"/>
          </a:solidFill>
          <a:ln/>
        </p:spPr>
      </p:sp>
      <p:sp>
        <p:nvSpPr>
          <p:cNvPr id="50" name="Text 48"/>
          <p:cNvSpPr/>
          <p:nvPr/>
        </p:nvSpPr>
        <p:spPr>
          <a:xfrm>
            <a:off x="4676546" y="5641848"/>
            <a:ext cx="3039770" cy="146304"/>
          </a:xfrm>
          <a:prstGeom prst="rect">
            <a:avLst/>
          </a:prstGeom>
          <a:noFill/>
          <a:ln/>
        </p:spPr>
        <p:txBody>
          <a:bodyPr wrap="square" lIns="0" tIns="0" rIns="0" bIns="0" rtlCol="0" anchor="ctr"/>
          <a:lstStyle/>
          <a:p>
            <a:pPr algn="l" indent="0" marL="0">
              <a:buNone/>
            </a:pPr>
            <a:r>
              <a:rPr lang="en-US" sz="900" dirty="0">
                <a:solidFill>
                  <a:srgbClr val="475569"/>
                </a:solidFill>
                <a:latin typeface="Inter" pitchFamily="34" charset="0"/>
                <a:ea typeface="Inter" pitchFamily="34" charset="-122"/>
                <a:cs typeface="Inter" pitchFamily="34" charset="-120"/>
              </a:rPr>
              <a:t>£3/month AI credit included</a:t>
            </a:r>
            <a:endParaRPr lang="en-US" sz="900" dirty="0"/>
          </a:p>
        </p:txBody>
      </p:sp>
      <p:sp>
        <p:nvSpPr>
          <p:cNvPr id="51" name="Shape 49"/>
          <p:cNvSpPr/>
          <p:nvPr/>
        </p:nvSpPr>
        <p:spPr>
          <a:xfrm>
            <a:off x="8082077" y="2606040"/>
            <a:ext cx="3606698" cy="3246120"/>
          </a:xfrm>
          <a:prstGeom prst="roundRect">
            <a:avLst>
              <a:gd name="adj" fmla="val 3380"/>
            </a:avLst>
          </a:prstGeom>
          <a:solidFill>
            <a:srgbClr val="0B0E1F"/>
          </a:solidFill>
          <a:ln w="9525">
            <a:solidFill>
              <a:srgbClr val="26305A"/>
            </a:solidFill>
            <a:prstDash val="solid"/>
          </a:ln>
        </p:spPr>
      </p:sp>
      <p:sp>
        <p:nvSpPr>
          <p:cNvPr id="52" name="Text 50"/>
          <p:cNvSpPr/>
          <p:nvPr/>
        </p:nvSpPr>
        <p:spPr>
          <a:xfrm>
            <a:off x="8310677" y="2788920"/>
            <a:ext cx="3149498"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STAGE 2  ·  PRODUCTION  ·  SCALE</a:t>
            </a:r>
            <a:endParaRPr lang="en-US" sz="1050" dirty="0"/>
          </a:p>
        </p:txBody>
      </p:sp>
      <p:sp>
        <p:nvSpPr>
          <p:cNvPr id="53" name="Text 51"/>
          <p:cNvSpPr/>
          <p:nvPr/>
        </p:nvSpPr>
        <p:spPr>
          <a:xfrm>
            <a:off x="8310677" y="3017520"/>
            <a:ext cx="3149498" cy="457200"/>
          </a:xfrm>
          <a:prstGeom prst="rect">
            <a:avLst/>
          </a:prstGeom>
          <a:noFill/>
          <a:ln/>
        </p:spPr>
        <p:txBody>
          <a:bodyPr wrap="square" lIns="0" tIns="0" rIns="0" bIns="0" rtlCol="0" anchor="t"/>
          <a:lstStyle/>
          <a:p>
            <a:pPr algn="l" indent="0" marL="0">
              <a:buNone/>
            </a:pPr>
            <a:r>
              <a:rPr lang="en-US" sz="2600" b="1" dirty="0">
                <a:solidFill>
                  <a:srgbClr val="FFFFFF"/>
                </a:solidFill>
                <a:latin typeface="Inter" pitchFamily="34" charset="0"/>
                <a:ea typeface="Inter" pitchFamily="34" charset="-122"/>
                <a:cs typeface="Inter" pitchFamily="34" charset="-120"/>
              </a:rPr>
              <a:t>Growth</a:t>
            </a:r>
            <a:endParaRPr lang="en-US" sz="2600" dirty="0"/>
          </a:p>
        </p:txBody>
      </p:sp>
      <p:sp>
        <p:nvSpPr>
          <p:cNvPr id="54" name="Text 52"/>
          <p:cNvSpPr/>
          <p:nvPr/>
        </p:nvSpPr>
        <p:spPr>
          <a:xfrm>
            <a:off x="8310677" y="3474720"/>
            <a:ext cx="3149498" cy="502920"/>
          </a:xfrm>
          <a:prstGeom prst="rect">
            <a:avLst/>
          </a:prstGeom>
          <a:noFill/>
          <a:ln/>
        </p:spPr>
        <p:txBody>
          <a:bodyPr wrap="square" lIns="0" tIns="0" rIns="0" bIns="0" rtlCol="0" anchor="t"/>
          <a:lstStyle/>
          <a:p>
            <a:pPr algn="l" indent="0" marL="0">
              <a:buNone/>
            </a:pPr>
            <a:r>
              <a:rPr lang="en-US" sz="3600" b="1" dirty="0">
                <a:solidFill>
                  <a:srgbClr val="FFFFFF"/>
                </a:solidFill>
                <a:latin typeface="Inter" pitchFamily="34" charset="0"/>
                <a:ea typeface="Inter" pitchFamily="34" charset="-122"/>
                <a:cs typeface="Inter" pitchFamily="34" charset="-120"/>
              </a:rPr>
              <a:t>£39</a:t>
            </a:r>
            <a:pPr algn="l" indent="0" marL="0">
              <a:buNone/>
            </a:pPr>
            <a:r>
              <a:rPr lang="en-US" sz="1300" dirty="0">
                <a:solidFill>
                  <a:srgbClr val="B4ACEF"/>
                </a:solidFill>
                <a:latin typeface="Inter" pitchFamily="34" charset="0"/>
                <a:ea typeface="Inter" pitchFamily="34" charset="-122"/>
                <a:cs typeface="Inter" pitchFamily="34" charset="-120"/>
              </a:rPr>
              <a:t>/mo</a:t>
            </a:r>
            <a:endParaRPr lang="en-US" sz="3600" dirty="0"/>
          </a:p>
        </p:txBody>
      </p:sp>
      <p:sp>
        <p:nvSpPr>
          <p:cNvPr id="55" name="Text 53"/>
          <p:cNvSpPr/>
          <p:nvPr/>
        </p:nvSpPr>
        <p:spPr>
          <a:xfrm>
            <a:off x="8310677" y="4023360"/>
            <a:ext cx="3149498" cy="256032"/>
          </a:xfrm>
          <a:prstGeom prst="rect">
            <a:avLst/>
          </a:prstGeom>
          <a:noFill/>
          <a:ln/>
        </p:spPr>
        <p:txBody>
          <a:bodyPr wrap="square" lIns="0" tIns="0" rIns="0" bIns="0" rtlCol="0" anchor="ctr"/>
          <a:lstStyle/>
          <a:p>
            <a:pPr algn="l" indent="0" marL="0">
              <a:buNone/>
            </a:pPr>
            <a:r>
              <a:rPr lang="en-US" sz="1000" dirty="0">
                <a:solidFill>
                  <a:srgbClr val="B4ACEF"/>
                </a:solidFill>
                <a:latin typeface="Inter" pitchFamily="34" charset="0"/>
                <a:ea typeface="Inter" pitchFamily="34" charset="-122"/>
                <a:cs typeface="Inter" pitchFamily="34" charset="-120"/>
              </a:rPr>
              <a:t>Auto-graduates at customer's 15th end-user signup</a:t>
            </a:r>
            <a:endParaRPr lang="en-US" sz="1000" dirty="0"/>
          </a:p>
        </p:txBody>
      </p:sp>
      <p:sp>
        <p:nvSpPr>
          <p:cNvPr id="56" name="Shape 54"/>
          <p:cNvSpPr/>
          <p:nvPr/>
        </p:nvSpPr>
        <p:spPr>
          <a:xfrm>
            <a:off x="8310677" y="4297680"/>
            <a:ext cx="3149498" cy="292608"/>
          </a:xfrm>
          <a:prstGeom prst="roundRect">
            <a:avLst>
              <a:gd name="adj" fmla="val 50000"/>
            </a:avLst>
          </a:prstGeom>
          <a:solidFill>
            <a:srgbClr val="1F2547"/>
          </a:solidFill>
          <a:ln/>
        </p:spPr>
      </p:sp>
      <p:sp>
        <p:nvSpPr>
          <p:cNvPr id="57" name="Text 55"/>
          <p:cNvSpPr/>
          <p:nvPr/>
        </p:nvSpPr>
        <p:spPr>
          <a:xfrm>
            <a:off x="8310677" y="4297680"/>
            <a:ext cx="3149498" cy="292608"/>
          </a:xfrm>
          <a:prstGeom prst="rect">
            <a:avLst/>
          </a:prstGeom>
          <a:noFill/>
          <a:ln/>
        </p:spPr>
        <p:txBody>
          <a:bodyPr wrap="square" lIns="0" tIns="0" rIns="0" bIns="0" rtlCol="0" anchor="ctr"/>
          <a:lstStyle/>
          <a:p>
            <a:pPr algn="ctr" indent="0" marL="0">
              <a:buNone/>
            </a:pPr>
            <a:r>
              <a:rPr lang="en-US" sz="900" b="1" spc="200" kern="0" dirty="0">
                <a:solidFill>
                  <a:srgbClr val="B4ACEF"/>
                </a:solidFill>
                <a:latin typeface="JetBrains Mono" pitchFamily="34" charset="0"/>
                <a:ea typeface="JetBrains Mono" pitchFamily="34" charset="-122"/>
                <a:cs typeface="JetBrains Mono" pitchFamily="34" charset="-120"/>
              </a:rPr>
              <a:t>WITHIN 6 MONTHS OF LAUNCH</a:t>
            </a:r>
            <a:endParaRPr lang="en-US" sz="900" dirty="0"/>
          </a:p>
        </p:txBody>
      </p:sp>
      <p:sp>
        <p:nvSpPr>
          <p:cNvPr id="58" name="Shape 56"/>
          <p:cNvSpPr/>
          <p:nvPr/>
        </p:nvSpPr>
        <p:spPr>
          <a:xfrm>
            <a:off x="8310677" y="4617720"/>
            <a:ext cx="3149498" cy="292608"/>
          </a:xfrm>
          <a:prstGeom prst="roundRect">
            <a:avLst>
              <a:gd name="adj" fmla="val 50000"/>
            </a:avLst>
          </a:prstGeom>
          <a:solidFill>
            <a:srgbClr val="1F2547"/>
          </a:solidFill>
          <a:ln/>
        </p:spPr>
      </p:sp>
      <p:sp>
        <p:nvSpPr>
          <p:cNvPr id="59" name="Text 57"/>
          <p:cNvSpPr/>
          <p:nvPr/>
        </p:nvSpPr>
        <p:spPr>
          <a:xfrm>
            <a:off x="8310677" y="4617720"/>
            <a:ext cx="3149498" cy="292608"/>
          </a:xfrm>
          <a:prstGeom prst="rect">
            <a:avLst/>
          </a:prstGeom>
          <a:noFill/>
          <a:ln/>
        </p:spPr>
        <p:txBody>
          <a:bodyPr wrap="square" lIns="0" tIns="0" rIns="0" bIns="0" rtlCol="0" anchor="ctr"/>
          <a:lstStyle/>
          <a:p>
            <a:pPr algn="ctr" indent="0" marL="0">
              <a:buNone/>
            </a:pPr>
            <a:r>
              <a:rPr lang="en-US" sz="900" spc="200" kern="0" dirty="0">
                <a:solidFill>
                  <a:srgbClr val="C7CCE8"/>
                </a:solidFill>
                <a:latin typeface="JetBrains Mono" pitchFamily="34" charset="0"/>
                <a:ea typeface="JetBrains Mono" pitchFamily="34" charset="-122"/>
                <a:cs typeface="JetBrains Mono" pitchFamily="34" charset="-120"/>
              </a:rPr>
              <a:t>1% OF SANDBOXES</a:t>
            </a:r>
            <a:endParaRPr lang="en-US" sz="900" dirty="0"/>
          </a:p>
        </p:txBody>
      </p:sp>
      <p:sp>
        <p:nvSpPr>
          <p:cNvPr id="60" name="Shape 58"/>
          <p:cNvSpPr/>
          <p:nvPr/>
        </p:nvSpPr>
        <p:spPr>
          <a:xfrm>
            <a:off x="8356397" y="5056632"/>
            <a:ext cx="45720" cy="45720"/>
          </a:xfrm>
          <a:prstGeom prst="ellipse">
            <a:avLst/>
          </a:prstGeom>
          <a:solidFill>
            <a:srgbClr val="B4ACEF"/>
          </a:solidFill>
          <a:ln/>
        </p:spPr>
      </p:sp>
      <p:sp>
        <p:nvSpPr>
          <p:cNvPr id="61" name="Text 59"/>
          <p:cNvSpPr/>
          <p:nvPr/>
        </p:nvSpPr>
        <p:spPr>
          <a:xfrm>
            <a:off x="8466125" y="5001768"/>
            <a:ext cx="3039770" cy="146304"/>
          </a:xfrm>
          <a:prstGeom prst="rect">
            <a:avLst/>
          </a:prstGeom>
          <a:noFill/>
          <a:ln/>
        </p:spPr>
        <p:txBody>
          <a:bodyPr wrap="square" lIns="0" tIns="0" rIns="0" bIns="0" rtlCol="0" anchor="ctr"/>
          <a:lstStyle/>
          <a:p>
            <a:pPr algn="l" indent="0" marL="0">
              <a:buNone/>
            </a:pPr>
            <a:r>
              <a:rPr lang="en-US" sz="900" dirty="0">
                <a:solidFill>
                  <a:srgbClr val="C7CCE8"/>
                </a:solidFill>
                <a:latin typeface="Inter" pitchFamily="34" charset="0"/>
                <a:ea typeface="Inter" pitchFamily="34" charset="-122"/>
                <a:cs typeface="Inter" pitchFamily="34" charset="-120"/>
              </a:rPr>
              <a:t>Dedicated VPS in your region</a:t>
            </a:r>
            <a:endParaRPr lang="en-US" sz="900" dirty="0"/>
          </a:p>
        </p:txBody>
      </p:sp>
      <p:sp>
        <p:nvSpPr>
          <p:cNvPr id="62" name="Shape 60"/>
          <p:cNvSpPr/>
          <p:nvPr/>
        </p:nvSpPr>
        <p:spPr>
          <a:xfrm>
            <a:off x="8356397" y="5184648"/>
            <a:ext cx="45720" cy="45720"/>
          </a:xfrm>
          <a:prstGeom prst="ellipse">
            <a:avLst/>
          </a:prstGeom>
          <a:solidFill>
            <a:srgbClr val="B4ACEF"/>
          </a:solidFill>
          <a:ln/>
        </p:spPr>
      </p:sp>
      <p:sp>
        <p:nvSpPr>
          <p:cNvPr id="63" name="Text 61"/>
          <p:cNvSpPr/>
          <p:nvPr/>
        </p:nvSpPr>
        <p:spPr>
          <a:xfrm>
            <a:off x="8466125" y="5129784"/>
            <a:ext cx="3039770" cy="146304"/>
          </a:xfrm>
          <a:prstGeom prst="rect">
            <a:avLst/>
          </a:prstGeom>
          <a:noFill/>
          <a:ln/>
        </p:spPr>
        <p:txBody>
          <a:bodyPr wrap="square" lIns="0" tIns="0" rIns="0" bIns="0" rtlCol="0" anchor="ctr"/>
          <a:lstStyle/>
          <a:p>
            <a:pPr algn="l" indent="0" marL="0">
              <a:buNone/>
            </a:pPr>
            <a:r>
              <a:rPr lang="en-US" sz="900" dirty="0">
                <a:solidFill>
                  <a:srgbClr val="C7CCE8"/>
                </a:solidFill>
                <a:latin typeface="Inter" pitchFamily="34" charset="0"/>
                <a:ea typeface="Inter" pitchFamily="34" charset="-122"/>
                <a:cs typeface="Inter" pitchFamily="34" charset="-120"/>
              </a:rPr>
              <a:t>Priority redeploy queue</a:t>
            </a:r>
            <a:endParaRPr lang="en-US" sz="900" dirty="0"/>
          </a:p>
        </p:txBody>
      </p:sp>
      <p:sp>
        <p:nvSpPr>
          <p:cNvPr id="64" name="Shape 62"/>
          <p:cNvSpPr/>
          <p:nvPr/>
        </p:nvSpPr>
        <p:spPr>
          <a:xfrm>
            <a:off x="8356397" y="5312664"/>
            <a:ext cx="45720" cy="45720"/>
          </a:xfrm>
          <a:prstGeom prst="ellipse">
            <a:avLst/>
          </a:prstGeom>
          <a:solidFill>
            <a:srgbClr val="B4ACEF"/>
          </a:solidFill>
          <a:ln/>
        </p:spPr>
      </p:sp>
      <p:sp>
        <p:nvSpPr>
          <p:cNvPr id="65" name="Text 63"/>
          <p:cNvSpPr/>
          <p:nvPr/>
        </p:nvSpPr>
        <p:spPr>
          <a:xfrm>
            <a:off x="8466125" y="5257800"/>
            <a:ext cx="3039770" cy="146304"/>
          </a:xfrm>
          <a:prstGeom prst="rect">
            <a:avLst/>
          </a:prstGeom>
          <a:noFill/>
          <a:ln/>
        </p:spPr>
        <p:txBody>
          <a:bodyPr wrap="square" lIns="0" tIns="0" rIns="0" bIns="0" rtlCol="0" anchor="ctr"/>
          <a:lstStyle/>
          <a:p>
            <a:pPr algn="l" indent="0" marL="0">
              <a:buNone/>
            </a:pPr>
            <a:r>
              <a:rPr lang="en-US" sz="900" dirty="0">
                <a:solidFill>
                  <a:srgbClr val="C7CCE8"/>
                </a:solidFill>
                <a:latin typeface="Inter" pitchFamily="34" charset="0"/>
                <a:ea typeface="Inter" pitchFamily="34" charset="-122"/>
                <a:cs typeface="Inter" pitchFamily="34" charset="-120"/>
              </a:rPr>
              <a:t>10 mailboxes + Supabase Studio</a:t>
            </a:r>
            <a:endParaRPr lang="en-US" sz="900" dirty="0"/>
          </a:p>
        </p:txBody>
      </p:sp>
      <p:sp>
        <p:nvSpPr>
          <p:cNvPr id="66" name="Shape 64"/>
          <p:cNvSpPr/>
          <p:nvPr/>
        </p:nvSpPr>
        <p:spPr>
          <a:xfrm>
            <a:off x="8356397" y="5440680"/>
            <a:ext cx="45720" cy="45720"/>
          </a:xfrm>
          <a:prstGeom prst="ellipse">
            <a:avLst/>
          </a:prstGeom>
          <a:solidFill>
            <a:srgbClr val="B4ACEF"/>
          </a:solidFill>
          <a:ln/>
        </p:spPr>
      </p:sp>
      <p:sp>
        <p:nvSpPr>
          <p:cNvPr id="67" name="Text 65"/>
          <p:cNvSpPr/>
          <p:nvPr/>
        </p:nvSpPr>
        <p:spPr>
          <a:xfrm>
            <a:off x="8466125" y="5385816"/>
            <a:ext cx="3039770" cy="146304"/>
          </a:xfrm>
          <a:prstGeom prst="rect">
            <a:avLst/>
          </a:prstGeom>
          <a:noFill/>
          <a:ln/>
        </p:spPr>
        <p:txBody>
          <a:bodyPr wrap="square" lIns="0" tIns="0" rIns="0" bIns="0" rtlCol="0" anchor="ctr"/>
          <a:lstStyle/>
          <a:p>
            <a:pPr algn="l" indent="0" marL="0">
              <a:buNone/>
            </a:pPr>
            <a:r>
              <a:rPr lang="en-US" sz="900" dirty="0">
                <a:solidFill>
                  <a:srgbClr val="C7CCE8"/>
                </a:solidFill>
                <a:latin typeface="Inter" pitchFamily="34" charset="0"/>
                <a:ea typeface="Inter" pitchFamily="34" charset="-122"/>
                <a:cs typeface="Inter" pitchFamily="34" charset="-120"/>
              </a:rPr>
              <a:t>Cohort analytics access</a:t>
            </a:r>
            <a:endParaRPr lang="en-US" sz="900" dirty="0"/>
          </a:p>
        </p:txBody>
      </p:sp>
      <p:sp>
        <p:nvSpPr>
          <p:cNvPr id="68" name="Shape 66"/>
          <p:cNvSpPr/>
          <p:nvPr/>
        </p:nvSpPr>
        <p:spPr>
          <a:xfrm>
            <a:off x="8356397" y="5568696"/>
            <a:ext cx="45720" cy="45720"/>
          </a:xfrm>
          <a:prstGeom prst="ellipse">
            <a:avLst/>
          </a:prstGeom>
          <a:solidFill>
            <a:srgbClr val="B4ACEF"/>
          </a:solidFill>
          <a:ln/>
        </p:spPr>
      </p:sp>
      <p:sp>
        <p:nvSpPr>
          <p:cNvPr id="69" name="Text 67"/>
          <p:cNvSpPr/>
          <p:nvPr/>
        </p:nvSpPr>
        <p:spPr>
          <a:xfrm>
            <a:off x="8466125" y="5513832"/>
            <a:ext cx="3039770" cy="146304"/>
          </a:xfrm>
          <a:prstGeom prst="rect">
            <a:avLst/>
          </a:prstGeom>
          <a:noFill/>
          <a:ln/>
        </p:spPr>
        <p:txBody>
          <a:bodyPr wrap="square" lIns="0" tIns="0" rIns="0" bIns="0" rtlCol="0" anchor="ctr"/>
          <a:lstStyle/>
          <a:p>
            <a:pPr algn="l" indent="0" marL="0">
              <a:buNone/>
            </a:pPr>
            <a:r>
              <a:rPr lang="en-US" sz="900" dirty="0">
                <a:solidFill>
                  <a:srgbClr val="C7CCE8"/>
                </a:solidFill>
                <a:latin typeface="Inter" pitchFamily="34" charset="0"/>
                <a:ea typeface="Inter" pitchFamily="34" charset="-122"/>
                <a:cs typeface="Inter" pitchFamily="34" charset="-120"/>
              </a:rPr>
              <a:t>Founder support window</a:t>
            </a:r>
            <a:endParaRPr lang="en-US" sz="900" dirty="0"/>
          </a:p>
        </p:txBody>
      </p:sp>
      <p:sp>
        <p:nvSpPr>
          <p:cNvPr id="70" name="Shape 68"/>
          <p:cNvSpPr/>
          <p:nvPr/>
        </p:nvSpPr>
        <p:spPr>
          <a:xfrm>
            <a:off x="8356397" y="5696712"/>
            <a:ext cx="45720" cy="45720"/>
          </a:xfrm>
          <a:prstGeom prst="ellipse">
            <a:avLst/>
          </a:prstGeom>
          <a:solidFill>
            <a:srgbClr val="B4ACEF"/>
          </a:solidFill>
          <a:ln/>
        </p:spPr>
      </p:sp>
      <p:sp>
        <p:nvSpPr>
          <p:cNvPr id="71" name="Text 69"/>
          <p:cNvSpPr/>
          <p:nvPr/>
        </p:nvSpPr>
        <p:spPr>
          <a:xfrm>
            <a:off x="8466125" y="5641848"/>
            <a:ext cx="3039770" cy="146304"/>
          </a:xfrm>
          <a:prstGeom prst="rect">
            <a:avLst/>
          </a:prstGeom>
          <a:noFill/>
          <a:ln/>
        </p:spPr>
        <p:txBody>
          <a:bodyPr wrap="square" lIns="0" tIns="0" rIns="0" bIns="0" rtlCol="0" anchor="ctr"/>
          <a:lstStyle/>
          <a:p>
            <a:pPr algn="l" indent="0" marL="0">
              <a:buNone/>
            </a:pPr>
            <a:r>
              <a:rPr lang="en-US" sz="900" dirty="0">
                <a:solidFill>
                  <a:srgbClr val="C7CCE8"/>
                </a:solidFill>
                <a:latin typeface="Inter" pitchFamily="34" charset="0"/>
                <a:ea typeface="Inter" pitchFamily="34" charset="-122"/>
                <a:cs typeface="Inter" pitchFamily="34" charset="-120"/>
              </a:rPr>
              <a:t>£10/month AI credit included</a:t>
            </a:r>
            <a:endParaRPr lang="en-US" sz="900" dirty="0"/>
          </a:p>
        </p:txBody>
      </p:sp>
      <p:sp>
        <p:nvSpPr>
          <p:cNvPr id="72" name="Text 70"/>
          <p:cNvSpPr/>
          <p:nvPr/>
        </p:nvSpPr>
        <p:spPr>
          <a:xfrm>
            <a:off x="502920" y="5989320"/>
            <a:ext cx="11185855" cy="228600"/>
          </a:xfrm>
          <a:prstGeom prst="rect">
            <a:avLst/>
          </a:prstGeom>
          <a:noFill/>
          <a:ln/>
        </p:spPr>
        <p:txBody>
          <a:bodyPr wrap="square" lIns="0" tIns="0" rIns="0" bIns="0" rtlCol="0" anchor="ctr"/>
          <a:lstStyle/>
          <a:p>
            <a:pPr algn="l" indent="0" marL="0">
              <a:buNone/>
            </a:pPr>
            <a:r>
              <a:rPr lang="en-US" sz="950" dirty="0">
                <a:solidFill>
                  <a:srgbClr val="94A3B8"/>
                </a:solidFill>
                <a:latin typeface="JetBrains Mono" pitchFamily="34" charset="0"/>
                <a:ea typeface="JetBrains Mono" pitchFamily="34" charset="-122"/>
                <a:cs typeface="JetBrains Mono" pitchFamily="34" charset="-120"/>
              </a:rPr>
              <a:t>Pass-through overage at cost × 1.60 (40% net + Paddle fee). Mid-range Launch £11.55/mo · Growth £31.74/mo · Sandbox cost £0.30/mo.</a:t>
            </a:r>
            <a:endParaRPr lang="en-US" sz="950" dirty="0"/>
          </a:p>
        </p:txBody>
      </p:sp>
      <p:sp>
        <p:nvSpPr>
          <p:cNvPr id="73" name="Shape 71"/>
          <p:cNvSpPr/>
          <p:nvPr/>
        </p:nvSpPr>
        <p:spPr>
          <a:xfrm>
            <a:off x="502920" y="6263640"/>
            <a:ext cx="11185855" cy="0"/>
          </a:xfrm>
          <a:prstGeom prst="line">
            <a:avLst/>
          </a:prstGeom>
          <a:noFill/>
          <a:ln w="6350">
            <a:solidFill>
              <a:srgbClr val="E2E0F0"/>
            </a:solidFill>
            <a:prstDash val="solid"/>
          </a:ln>
        </p:spPr>
      </p:sp>
      <p:sp>
        <p:nvSpPr>
          <p:cNvPr id="74" name="Text 7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75" name="Text 73"/>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12  /  28</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13  ·  GO-TO-MARKET  ·  AUDIENCES</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Where they live. </a:t>
            </a:r>
            <a:pPr algn="l" indent="0" marL="0">
              <a:buNone/>
            </a:pPr>
            <a:r>
              <a:rPr lang="en-US" sz="3600" b="1" dirty="0">
                <a:solidFill>
                  <a:srgbClr val="5040E5"/>
                </a:solidFill>
                <a:latin typeface="Inter" pitchFamily="34" charset="0"/>
                <a:ea typeface="Inter" pitchFamily="34" charset="-122"/>
                <a:cs typeface="Inter" pitchFamily="34" charset="-120"/>
              </a:rPr>
              <a:t>How we reach them.</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Four addressable audiences. Each with channel, visual, and per-channel CAC. Combined ceiling sits well below blended LTV.</a:t>
            </a:r>
            <a:endParaRPr lang="en-US" sz="1550" dirty="0"/>
          </a:p>
        </p:txBody>
      </p:sp>
      <p:sp>
        <p:nvSpPr>
          <p:cNvPr id="9" name="Shape 7"/>
          <p:cNvSpPr/>
          <p:nvPr/>
        </p:nvSpPr>
        <p:spPr>
          <a:xfrm>
            <a:off x="502920" y="2697480"/>
            <a:ext cx="11185855" cy="685800"/>
          </a:xfrm>
          <a:prstGeom prst="roundRect">
            <a:avLst>
              <a:gd name="adj" fmla="val 16000"/>
            </a:avLst>
          </a:prstGeom>
          <a:solidFill>
            <a:srgbClr val="F0EDFC"/>
          </a:solidFill>
          <a:ln w="9525">
            <a:solidFill>
              <a:srgbClr val="E8E5FB"/>
            </a:solidFill>
            <a:prstDash val="solid"/>
          </a:ln>
        </p:spPr>
      </p:sp>
      <p:sp>
        <p:nvSpPr>
          <p:cNvPr id="10" name="Text 8"/>
          <p:cNvSpPr/>
          <p:nvPr/>
        </p:nvSpPr>
        <p:spPr>
          <a:xfrm>
            <a:off x="685800" y="2697480"/>
            <a:ext cx="10820095" cy="685800"/>
          </a:xfrm>
          <a:prstGeom prst="rect">
            <a:avLst/>
          </a:prstGeom>
          <a:noFill/>
          <a:ln/>
        </p:spPr>
        <p:txBody>
          <a:bodyPr wrap="square" lIns="0" tIns="0" rIns="0" bIns="0" rtlCol="0" anchor="ctr"/>
          <a:lstStyle/>
          <a:p>
            <a:pPr algn="l" indent="0" marL="0">
              <a:buNone/>
            </a:pPr>
            <a:r>
              <a:rPr lang="en-US" sz="1100" spc="300" kern="0" dirty="0">
                <a:solidFill>
                  <a:srgbClr val="94A3B8"/>
                </a:solidFill>
                <a:latin typeface="JetBrains Mono" pitchFamily="34" charset="0"/>
                <a:ea typeface="JetBrains Mono" pitchFamily="34" charset="-122"/>
                <a:cs typeface="JetBrains Mono" pitchFamily="34" charset="-120"/>
              </a:rPr>
              <a:t>BLENDED LTV </a:t>
            </a:r>
            <a:pPr algn="l" indent="0" marL="0">
              <a:buNone/>
            </a:pPr>
            <a:r>
              <a:rPr lang="en-US" sz="2200" b="1" dirty="0">
                <a:solidFill>
                  <a:srgbClr val="0F172A"/>
                </a:solidFill>
                <a:latin typeface="Inter" pitchFamily="34" charset="0"/>
                <a:ea typeface="Inter" pitchFamily="34" charset="-122"/>
                <a:cs typeface="Inter" pitchFamily="34" charset="-120"/>
              </a:rPr>
              <a:t>£520   </a:t>
            </a:r>
            <a:pPr algn="l" indent="0" marL="0">
              <a:buNone/>
            </a:pPr>
            <a:r>
              <a:rPr lang="en-US" sz="1100" spc="300" kern="0" dirty="0">
                <a:solidFill>
                  <a:srgbClr val="94A3B8"/>
                </a:solidFill>
                <a:latin typeface="JetBrains Mono" pitchFamily="34" charset="0"/>
                <a:ea typeface="JetBrains Mono" pitchFamily="34" charset="-122"/>
                <a:cs typeface="JetBrains Mono" pitchFamily="34" charset="-120"/>
              </a:rPr>
              <a:t>·  CAC CEILING (3:1) </a:t>
            </a:r>
            <a:pPr algn="l" indent="0" marL="0">
              <a:buNone/>
            </a:pPr>
            <a:r>
              <a:rPr lang="en-US" sz="2200" b="1" dirty="0">
                <a:solidFill>
                  <a:srgbClr val="5040E5"/>
                </a:solidFill>
                <a:latin typeface="Inter" pitchFamily="34" charset="0"/>
                <a:ea typeface="Inter" pitchFamily="34" charset="-122"/>
                <a:cs typeface="Inter" pitchFamily="34" charset="-120"/>
              </a:rPr>
              <a:t>£175   </a:t>
            </a:r>
            <a:pPr algn="l" indent="0" marL="0">
              <a:buNone/>
            </a:pPr>
            <a:r>
              <a:rPr lang="en-US" sz="1100" spc="300" kern="0" dirty="0">
                <a:solidFill>
                  <a:srgbClr val="475569"/>
                </a:solidFill>
                <a:latin typeface="JetBrains Mono" pitchFamily="34" charset="0"/>
                <a:ea typeface="JetBrains Mono" pitchFamily="34" charset="-122"/>
                <a:cs typeface="JetBrains Mono" pitchFamily="34" charset="-120"/>
              </a:rPr>
              <a:t>·  ALL BELOW-CEILING ACROSS CHANNELS</a:t>
            </a:r>
            <a:endParaRPr lang="en-US" sz="1100" dirty="0"/>
          </a:p>
        </p:txBody>
      </p:sp>
      <p:sp>
        <p:nvSpPr>
          <p:cNvPr id="11" name="Shape 9"/>
          <p:cNvSpPr/>
          <p:nvPr/>
        </p:nvSpPr>
        <p:spPr>
          <a:xfrm>
            <a:off x="502920" y="3657600"/>
            <a:ext cx="2693594" cy="2606040"/>
          </a:xfrm>
          <a:prstGeom prst="roundRect">
            <a:avLst>
              <a:gd name="adj" fmla="val 4211"/>
            </a:avLst>
          </a:prstGeom>
          <a:solidFill>
            <a:srgbClr val="FFFFFF"/>
          </a:solidFill>
          <a:ln w="9525">
            <a:solidFill>
              <a:srgbClr val="E2E0F0"/>
            </a:solidFill>
            <a:prstDash val="solid"/>
          </a:ln>
        </p:spPr>
      </p:sp>
      <p:sp>
        <p:nvSpPr>
          <p:cNvPr id="12" name="Text 10"/>
          <p:cNvSpPr/>
          <p:nvPr/>
        </p:nvSpPr>
        <p:spPr>
          <a:xfrm>
            <a:off x="685800" y="3822192"/>
            <a:ext cx="2327834"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AUDIENCE 01  ·  REDDIT + X</a:t>
            </a:r>
            <a:endParaRPr lang="en-US" sz="1050" dirty="0"/>
          </a:p>
        </p:txBody>
      </p:sp>
      <p:sp>
        <p:nvSpPr>
          <p:cNvPr id="13" name="Shape 11"/>
          <p:cNvSpPr/>
          <p:nvPr/>
        </p:nvSpPr>
        <p:spPr>
          <a:xfrm>
            <a:off x="685800" y="4160520"/>
            <a:ext cx="2327834" cy="594360"/>
          </a:xfrm>
          <a:prstGeom prst="roundRect">
            <a:avLst>
              <a:gd name="adj" fmla="val 15385"/>
            </a:avLst>
          </a:prstGeom>
          <a:solidFill>
            <a:srgbClr val="F0EDFC"/>
          </a:solidFill>
          <a:ln/>
        </p:spPr>
      </p:sp>
      <p:sp>
        <p:nvSpPr>
          <p:cNvPr id="14" name="Text 12"/>
          <p:cNvSpPr/>
          <p:nvPr/>
        </p:nvSpPr>
        <p:spPr>
          <a:xfrm>
            <a:off x="777240" y="4160520"/>
            <a:ext cx="2144954" cy="594360"/>
          </a:xfrm>
          <a:prstGeom prst="rect">
            <a:avLst/>
          </a:prstGeom>
          <a:noFill/>
          <a:ln/>
        </p:spPr>
        <p:txBody>
          <a:bodyPr wrap="square" lIns="0" tIns="0" rIns="0" bIns="0" rtlCol="0" anchor="ctr"/>
          <a:lstStyle/>
          <a:p>
            <a:pPr algn="l" indent="0" marL="0">
              <a:buNone/>
            </a:pPr>
            <a:r>
              <a:rPr lang="en-US" sz="1100" b="1" spc="200" kern="0" dirty="0">
                <a:solidFill>
                  <a:srgbClr val="3A2BC0"/>
                </a:solidFill>
                <a:latin typeface="JetBrains Mono" pitchFamily="34" charset="0"/>
                <a:ea typeface="JetBrains Mono" pitchFamily="34" charset="-122"/>
                <a:cs typeface="JetBrains Mono" pitchFamily="34" charset="-120"/>
              </a:rPr>
              <a:t>r/cursor   ·   r/ClaudeAI   ·   X / hn</a:t>
            </a:r>
            <a:endParaRPr lang="en-US" sz="1100" dirty="0"/>
          </a:p>
        </p:txBody>
      </p:sp>
      <p:sp>
        <p:nvSpPr>
          <p:cNvPr id="15" name="Text 13"/>
          <p:cNvSpPr/>
          <p:nvPr/>
        </p:nvSpPr>
        <p:spPr>
          <a:xfrm>
            <a:off x="685800" y="4892040"/>
            <a:ext cx="2327834"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AI-tool power users.</a:t>
            </a:r>
            <a:endParaRPr lang="en-US" sz="1600" dirty="0"/>
          </a:p>
        </p:txBody>
      </p:sp>
      <p:sp>
        <p:nvSpPr>
          <p:cNvPr id="16" name="Text 14"/>
          <p:cNvSpPr/>
          <p:nvPr/>
        </p:nvSpPr>
        <p:spPr>
          <a:xfrm>
            <a:off x="685800" y="5349240"/>
            <a:ext cx="2327834" cy="502920"/>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Build-in-public threads. Weekly MRR posts. AI_CONTEXT.md handoff demos. Organic-led.</a:t>
            </a:r>
            <a:endParaRPr lang="en-US" sz="950" dirty="0"/>
          </a:p>
        </p:txBody>
      </p:sp>
      <p:sp>
        <p:nvSpPr>
          <p:cNvPr id="17" name="Shape 15"/>
          <p:cNvSpPr/>
          <p:nvPr/>
        </p:nvSpPr>
        <p:spPr>
          <a:xfrm>
            <a:off x="685800" y="5806440"/>
            <a:ext cx="2327834" cy="329184"/>
          </a:xfrm>
          <a:prstGeom prst="roundRect">
            <a:avLst>
              <a:gd name="adj" fmla="val 50000"/>
            </a:avLst>
          </a:prstGeom>
          <a:solidFill>
            <a:srgbClr val="5040E5"/>
          </a:solidFill>
          <a:ln/>
        </p:spPr>
      </p:sp>
      <p:sp>
        <p:nvSpPr>
          <p:cNvPr id="18" name="Text 16"/>
          <p:cNvSpPr/>
          <p:nvPr/>
        </p:nvSpPr>
        <p:spPr>
          <a:xfrm>
            <a:off x="685800" y="5806440"/>
            <a:ext cx="2327834"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JetBrains Mono" pitchFamily="34" charset="0"/>
                <a:ea typeface="JetBrains Mono" pitchFamily="34" charset="-122"/>
                <a:cs typeface="JetBrains Mono" pitchFamily="34" charset="-120"/>
              </a:rPr>
              <a:t>CAC £0–40</a:t>
            </a:r>
            <a:endParaRPr lang="en-US" sz="1100" dirty="0"/>
          </a:p>
        </p:txBody>
      </p:sp>
      <p:sp>
        <p:nvSpPr>
          <p:cNvPr id="19" name="Shape 17"/>
          <p:cNvSpPr/>
          <p:nvPr/>
        </p:nvSpPr>
        <p:spPr>
          <a:xfrm>
            <a:off x="3333674" y="3657600"/>
            <a:ext cx="2693594" cy="2606040"/>
          </a:xfrm>
          <a:prstGeom prst="roundRect">
            <a:avLst>
              <a:gd name="adj" fmla="val 4211"/>
            </a:avLst>
          </a:prstGeom>
          <a:solidFill>
            <a:srgbClr val="FFFFFF"/>
          </a:solidFill>
          <a:ln w="9525">
            <a:solidFill>
              <a:srgbClr val="E2E0F0"/>
            </a:solidFill>
            <a:prstDash val="solid"/>
          </a:ln>
        </p:spPr>
      </p:sp>
      <p:sp>
        <p:nvSpPr>
          <p:cNvPr id="20" name="Text 18"/>
          <p:cNvSpPr/>
          <p:nvPr/>
        </p:nvSpPr>
        <p:spPr>
          <a:xfrm>
            <a:off x="3516554" y="3822192"/>
            <a:ext cx="2327834"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AUDIENCE 02  ·  YOUTUBE</a:t>
            </a:r>
            <a:endParaRPr lang="en-US" sz="1050" dirty="0"/>
          </a:p>
        </p:txBody>
      </p:sp>
      <p:sp>
        <p:nvSpPr>
          <p:cNvPr id="21" name="Shape 19"/>
          <p:cNvSpPr/>
          <p:nvPr/>
        </p:nvSpPr>
        <p:spPr>
          <a:xfrm>
            <a:off x="3516554" y="4160520"/>
            <a:ext cx="2327834" cy="594360"/>
          </a:xfrm>
          <a:prstGeom prst="roundRect">
            <a:avLst>
              <a:gd name="adj" fmla="val 15385"/>
            </a:avLst>
          </a:prstGeom>
          <a:solidFill>
            <a:srgbClr val="F0EDFC"/>
          </a:solidFill>
          <a:ln/>
        </p:spPr>
      </p:sp>
      <p:sp>
        <p:nvSpPr>
          <p:cNvPr id="22" name="Text 20"/>
          <p:cNvSpPr/>
          <p:nvPr/>
        </p:nvSpPr>
        <p:spPr>
          <a:xfrm>
            <a:off x="3607994" y="4160520"/>
            <a:ext cx="2144954" cy="594360"/>
          </a:xfrm>
          <a:prstGeom prst="rect">
            <a:avLst/>
          </a:prstGeom>
          <a:noFill/>
          <a:ln/>
        </p:spPr>
        <p:txBody>
          <a:bodyPr wrap="square" lIns="0" tIns="0" rIns="0" bIns="0" rtlCol="0" anchor="ctr"/>
          <a:lstStyle/>
          <a:p>
            <a:pPr algn="l" indent="0" marL="0">
              <a:buNone/>
            </a:pPr>
            <a:r>
              <a:rPr lang="en-US" sz="1100" b="1" spc="200" kern="0" dirty="0">
                <a:solidFill>
                  <a:srgbClr val="3A2BC0"/>
                </a:solidFill>
                <a:latin typeface="JetBrains Mono" pitchFamily="34" charset="0"/>
                <a:ea typeface="JetBrains Mono" pitchFamily="34" charset="-122"/>
                <a:cs typeface="JetBrains Mono" pitchFamily="34" charset="-120"/>
              </a:rPr>
              <a:t>Theo   ·   Fireship-adj   ·   vibe coders</a:t>
            </a:r>
            <a:endParaRPr lang="en-US" sz="1100" dirty="0"/>
          </a:p>
        </p:txBody>
      </p:sp>
      <p:sp>
        <p:nvSpPr>
          <p:cNvPr id="23" name="Text 21"/>
          <p:cNvSpPr/>
          <p:nvPr/>
        </p:nvSpPr>
        <p:spPr>
          <a:xfrm>
            <a:off x="3516554" y="4892040"/>
            <a:ext cx="2327834"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Creator-adjacent founders.</a:t>
            </a:r>
            <a:endParaRPr lang="en-US" sz="1600" dirty="0"/>
          </a:p>
        </p:txBody>
      </p:sp>
      <p:sp>
        <p:nvSpPr>
          <p:cNvPr id="24" name="Text 22"/>
          <p:cNvSpPr/>
          <p:nvPr/>
        </p:nvSpPr>
        <p:spPr>
          <a:xfrm>
            <a:off x="3516554" y="5349240"/>
            <a:ext cx="2327834" cy="502920"/>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60-second sandbox demos sponsored. Promo codes → 90-day Launch credit.</a:t>
            </a:r>
            <a:endParaRPr lang="en-US" sz="950" dirty="0"/>
          </a:p>
        </p:txBody>
      </p:sp>
      <p:sp>
        <p:nvSpPr>
          <p:cNvPr id="25" name="Shape 23"/>
          <p:cNvSpPr/>
          <p:nvPr/>
        </p:nvSpPr>
        <p:spPr>
          <a:xfrm>
            <a:off x="3516554" y="5806440"/>
            <a:ext cx="2327834" cy="329184"/>
          </a:xfrm>
          <a:prstGeom prst="roundRect">
            <a:avLst>
              <a:gd name="adj" fmla="val 50000"/>
            </a:avLst>
          </a:prstGeom>
          <a:solidFill>
            <a:srgbClr val="5040E5"/>
          </a:solidFill>
          <a:ln/>
        </p:spPr>
      </p:sp>
      <p:sp>
        <p:nvSpPr>
          <p:cNvPr id="26" name="Text 24"/>
          <p:cNvSpPr/>
          <p:nvPr/>
        </p:nvSpPr>
        <p:spPr>
          <a:xfrm>
            <a:off x="3516554" y="5806440"/>
            <a:ext cx="2327834"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JetBrains Mono" pitchFamily="34" charset="0"/>
                <a:ea typeface="JetBrains Mono" pitchFamily="34" charset="-122"/>
                <a:cs typeface="JetBrains Mono" pitchFamily="34" charset="-120"/>
              </a:rPr>
              <a:t>CAC £80–140</a:t>
            </a:r>
            <a:endParaRPr lang="en-US" sz="1100" dirty="0"/>
          </a:p>
        </p:txBody>
      </p:sp>
      <p:sp>
        <p:nvSpPr>
          <p:cNvPr id="27" name="Shape 25"/>
          <p:cNvSpPr/>
          <p:nvPr/>
        </p:nvSpPr>
        <p:spPr>
          <a:xfrm>
            <a:off x="6164428" y="3657600"/>
            <a:ext cx="2693594" cy="2606040"/>
          </a:xfrm>
          <a:prstGeom prst="roundRect">
            <a:avLst>
              <a:gd name="adj" fmla="val 4211"/>
            </a:avLst>
          </a:prstGeom>
          <a:solidFill>
            <a:srgbClr val="FFFFFF"/>
          </a:solidFill>
          <a:ln w="9525">
            <a:solidFill>
              <a:srgbClr val="E2E0F0"/>
            </a:solidFill>
            <a:prstDash val="solid"/>
          </a:ln>
        </p:spPr>
      </p:sp>
      <p:sp>
        <p:nvSpPr>
          <p:cNvPr id="28" name="Text 26"/>
          <p:cNvSpPr/>
          <p:nvPr/>
        </p:nvSpPr>
        <p:spPr>
          <a:xfrm>
            <a:off x="6347308" y="3822192"/>
            <a:ext cx="2327834"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AUDIENCE 03  ·  PH / TLDR / HN</a:t>
            </a:r>
            <a:endParaRPr lang="en-US" sz="1050" dirty="0"/>
          </a:p>
        </p:txBody>
      </p:sp>
      <p:sp>
        <p:nvSpPr>
          <p:cNvPr id="29" name="Shape 27"/>
          <p:cNvSpPr/>
          <p:nvPr/>
        </p:nvSpPr>
        <p:spPr>
          <a:xfrm>
            <a:off x="6347308" y="4160520"/>
            <a:ext cx="2327834" cy="594360"/>
          </a:xfrm>
          <a:prstGeom prst="roundRect">
            <a:avLst>
              <a:gd name="adj" fmla="val 15385"/>
            </a:avLst>
          </a:prstGeom>
          <a:solidFill>
            <a:srgbClr val="F0EDFC"/>
          </a:solidFill>
          <a:ln/>
        </p:spPr>
      </p:sp>
      <p:sp>
        <p:nvSpPr>
          <p:cNvPr id="30" name="Text 28"/>
          <p:cNvSpPr/>
          <p:nvPr/>
        </p:nvSpPr>
        <p:spPr>
          <a:xfrm>
            <a:off x="6438748" y="4160520"/>
            <a:ext cx="2144954" cy="594360"/>
          </a:xfrm>
          <a:prstGeom prst="rect">
            <a:avLst/>
          </a:prstGeom>
          <a:noFill/>
          <a:ln/>
        </p:spPr>
        <p:txBody>
          <a:bodyPr wrap="square" lIns="0" tIns="0" rIns="0" bIns="0" rtlCol="0" anchor="ctr"/>
          <a:lstStyle/>
          <a:p>
            <a:pPr algn="l" indent="0" marL="0">
              <a:buNone/>
            </a:pPr>
            <a:r>
              <a:rPr lang="en-US" sz="1100" b="1" spc="200" kern="0" dirty="0">
                <a:solidFill>
                  <a:srgbClr val="3A2BC0"/>
                </a:solidFill>
                <a:latin typeface="JetBrains Mono" pitchFamily="34" charset="0"/>
                <a:ea typeface="JetBrains Mono" pitchFamily="34" charset="-122"/>
                <a:cs typeface="JetBrains Mono" pitchFamily="34" charset="-120"/>
              </a:rPr>
              <a:t>Product Hunt   ·   TLDR   ·   Hacker NL</a:t>
            </a:r>
            <a:endParaRPr lang="en-US" sz="1100" dirty="0"/>
          </a:p>
        </p:txBody>
      </p:sp>
      <p:sp>
        <p:nvSpPr>
          <p:cNvPr id="31" name="Text 29"/>
          <p:cNvSpPr/>
          <p:nvPr/>
        </p:nvSpPr>
        <p:spPr>
          <a:xfrm>
            <a:off x="6347308" y="4892040"/>
            <a:ext cx="2327834"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Indie SaaS launchers.</a:t>
            </a:r>
            <a:endParaRPr lang="en-US" sz="1600" dirty="0"/>
          </a:p>
        </p:txBody>
      </p:sp>
      <p:sp>
        <p:nvSpPr>
          <p:cNvPr id="32" name="Text 30"/>
          <p:cNvSpPr/>
          <p:nvPr/>
        </p:nvSpPr>
        <p:spPr>
          <a:xfrm>
            <a:off x="6347308" y="5349240"/>
            <a:ext cx="2327834" cy="502920"/>
          </a:xfrm>
          <a:prstGeom prst="rect">
            <a:avLst/>
          </a:prstGeom>
          <a:noFill/>
          <a:ln/>
        </p:spPr>
        <p:txBody>
          <a:bodyPr wrap="square" lIns="0" tIns="0" rIns="0" bIns="0" rtlCol="0" anchor="t"/>
          <a:lstStyle/>
          <a:p>
            <a:pPr algn="l" indent="0" marL="0">
              <a:buNone/>
            </a:pPr>
            <a:r>
              <a:rPr lang="en-US" sz="950" dirty="0">
                <a:solidFill>
                  <a:srgbClr val="475569"/>
                </a:solidFill>
                <a:latin typeface="Inter" pitchFamily="34" charset="0"/>
                <a:ea typeface="Inter" pitchFamily="34" charset="-122"/>
                <a:cs typeface="Inter" pitchFamily="34" charset="-120"/>
              </a:rPr>
              <a:t>Coordinated PH launch + newsletter sponsorships at peak hype. UTM attribution direct to signup.</a:t>
            </a:r>
            <a:endParaRPr lang="en-US" sz="950" dirty="0"/>
          </a:p>
        </p:txBody>
      </p:sp>
      <p:sp>
        <p:nvSpPr>
          <p:cNvPr id="33" name="Shape 31"/>
          <p:cNvSpPr/>
          <p:nvPr/>
        </p:nvSpPr>
        <p:spPr>
          <a:xfrm>
            <a:off x="6347308" y="5806440"/>
            <a:ext cx="2327834" cy="329184"/>
          </a:xfrm>
          <a:prstGeom prst="roundRect">
            <a:avLst>
              <a:gd name="adj" fmla="val 50000"/>
            </a:avLst>
          </a:prstGeom>
          <a:solidFill>
            <a:srgbClr val="5040E5"/>
          </a:solidFill>
          <a:ln/>
        </p:spPr>
      </p:sp>
      <p:sp>
        <p:nvSpPr>
          <p:cNvPr id="34" name="Text 32"/>
          <p:cNvSpPr/>
          <p:nvPr/>
        </p:nvSpPr>
        <p:spPr>
          <a:xfrm>
            <a:off x="6347308" y="5806440"/>
            <a:ext cx="2327834"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JetBrains Mono" pitchFamily="34" charset="0"/>
                <a:ea typeface="JetBrains Mono" pitchFamily="34" charset="-122"/>
                <a:cs typeface="JetBrains Mono" pitchFamily="34" charset="-120"/>
              </a:rPr>
              <a:t>CAC £40–120</a:t>
            </a:r>
            <a:endParaRPr lang="en-US" sz="1100" dirty="0"/>
          </a:p>
        </p:txBody>
      </p:sp>
      <p:sp>
        <p:nvSpPr>
          <p:cNvPr id="35" name="Shape 33"/>
          <p:cNvSpPr/>
          <p:nvPr/>
        </p:nvSpPr>
        <p:spPr>
          <a:xfrm>
            <a:off x="8995181" y="3657600"/>
            <a:ext cx="2693594" cy="2606040"/>
          </a:xfrm>
          <a:prstGeom prst="roundRect">
            <a:avLst>
              <a:gd name="adj" fmla="val 4211"/>
            </a:avLst>
          </a:prstGeom>
          <a:solidFill>
            <a:srgbClr val="0B0E1F"/>
          </a:solidFill>
          <a:ln w="9525">
            <a:solidFill>
              <a:srgbClr val="26305A"/>
            </a:solidFill>
            <a:prstDash val="solid"/>
          </a:ln>
        </p:spPr>
      </p:sp>
      <p:sp>
        <p:nvSpPr>
          <p:cNvPr id="36" name="Text 34"/>
          <p:cNvSpPr/>
          <p:nvPr/>
        </p:nvSpPr>
        <p:spPr>
          <a:xfrm>
            <a:off x="9178061" y="3822192"/>
            <a:ext cx="2327834"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AUDIENCE 04  ·  PARTNERS</a:t>
            </a:r>
            <a:endParaRPr lang="en-US" sz="1050" dirty="0"/>
          </a:p>
        </p:txBody>
      </p:sp>
      <p:sp>
        <p:nvSpPr>
          <p:cNvPr id="37" name="Shape 35"/>
          <p:cNvSpPr/>
          <p:nvPr/>
        </p:nvSpPr>
        <p:spPr>
          <a:xfrm>
            <a:off x="9178061" y="4160520"/>
            <a:ext cx="2327834" cy="594360"/>
          </a:xfrm>
          <a:prstGeom prst="roundRect">
            <a:avLst>
              <a:gd name="adj" fmla="val 15385"/>
            </a:avLst>
          </a:prstGeom>
          <a:solidFill>
            <a:srgbClr val="1F2547"/>
          </a:solidFill>
          <a:ln/>
        </p:spPr>
      </p:sp>
      <p:sp>
        <p:nvSpPr>
          <p:cNvPr id="38" name="Text 36"/>
          <p:cNvSpPr/>
          <p:nvPr/>
        </p:nvSpPr>
        <p:spPr>
          <a:xfrm>
            <a:off x="9269501" y="4160520"/>
            <a:ext cx="2144954" cy="594360"/>
          </a:xfrm>
          <a:prstGeom prst="rect">
            <a:avLst/>
          </a:prstGeom>
          <a:noFill/>
          <a:ln/>
        </p:spPr>
        <p:txBody>
          <a:bodyPr wrap="square" lIns="0" tIns="0" rIns="0" bIns="0" rtlCol="0" anchor="ctr"/>
          <a:lstStyle/>
          <a:p>
            <a:pPr algn="l" indent="0" marL="0">
              <a:buNone/>
            </a:pPr>
            <a:r>
              <a:rPr lang="en-US" sz="1100" b="1" spc="200" kern="0" dirty="0">
                <a:solidFill>
                  <a:srgbClr val="B4ACEF"/>
                </a:solidFill>
                <a:latin typeface="JetBrains Mono" pitchFamily="34" charset="0"/>
                <a:ea typeface="JetBrains Mono" pitchFamily="34" charset="-122"/>
                <a:cs typeface="JetBrains Mono" pitchFamily="34" charset="-120"/>
              </a:rPr>
              <a:t>Anthropic   ·   Cursor   ·   Lovable / Bolt</a:t>
            </a:r>
            <a:endParaRPr lang="en-US" sz="1100" dirty="0"/>
          </a:p>
        </p:txBody>
      </p:sp>
      <p:sp>
        <p:nvSpPr>
          <p:cNvPr id="39" name="Text 37"/>
          <p:cNvSpPr/>
          <p:nvPr/>
        </p:nvSpPr>
        <p:spPr>
          <a:xfrm>
            <a:off x="9178061" y="4892040"/>
            <a:ext cx="2327834" cy="411480"/>
          </a:xfrm>
          <a:prstGeom prst="rect">
            <a:avLst/>
          </a:prstGeom>
          <a:noFill/>
          <a:ln/>
        </p:spPr>
        <p:txBody>
          <a:bodyPr wrap="square" lIns="0" tIns="0" rIns="0" bIns="0" rtlCol="0" anchor="t"/>
          <a:lstStyle/>
          <a:p>
            <a:pPr algn="l" indent="0" marL="0">
              <a:buNone/>
            </a:pPr>
            <a:r>
              <a:rPr lang="en-US" sz="1600" b="1" dirty="0">
                <a:solidFill>
                  <a:srgbClr val="FFFFFF"/>
                </a:solidFill>
                <a:latin typeface="Inter" pitchFamily="34" charset="0"/>
                <a:ea typeface="Inter" pitchFamily="34" charset="-122"/>
                <a:cs typeface="Inter" pitchFamily="34" charset="-120"/>
              </a:rPr>
              <a:t>AI-tool partners.</a:t>
            </a:r>
            <a:endParaRPr lang="en-US" sz="1600" dirty="0"/>
          </a:p>
        </p:txBody>
      </p:sp>
      <p:sp>
        <p:nvSpPr>
          <p:cNvPr id="40" name="Text 38"/>
          <p:cNvSpPr/>
          <p:nvPr/>
        </p:nvSpPr>
        <p:spPr>
          <a:xfrm>
            <a:off x="9178061" y="5349240"/>
            <a:ext cx="2327834" cy="502920"/>
          </a:xfrm>
          <a:prstGeom prst="rect">
            <a:avLst/>
          </a:prstGeom>
          <a:noFill/>
          <a:ln/>
        </p:spPr>
        <p:txBody>
          <a:bodyPr wrap="square" lIns="0" tIns="0" rIns="0" bIns="0" rtlCol="0" anchor="t"/>
          <a:lstStyle/>
          <a:p>
            <a:pPr algn="l" indent="0" marL="0">
              <a:buNone/>
            </a:pPr>
            <a:r>
              <a:rPr lang="en-US" sz="950" dirty="0">
                <a:solidFill>
                  <a:srgbClr val="C7CCE8"/>
                </a:solidFill>
                <a:latin typeface="Inter" pitchFamily="34" charset="0"/>
                <a:ea typeface="Inter" pitchFamily="34" charset="-122"/>
                <a:cs typeface="Inter" pitchFamily="34" charset="-120"/>
              </a:rPr>
              <a:t>Co-marketing on integration listings. Doubles as acquirer signaling for the M12–18 exit window.</a:t>
            </a:r>
            <a:endParaRPr lang="en-US" sz="950" dirty="0"/>
          </a:p>
        </p:txBody>
      </p:sp>
      <p:sp>
        <p:nvSpPr>
          <p:cNvPr id="41" name="Shape 39"/>
          <p:cNvSpPr/>
          <p:nvPr/>
        </p:nvSpPr>
        <p:spPr>
          <a:xfrm>
            <a:off x="9178061" y="5806440"/>
            <a:ext cx="2327834" cy="329184"/>
          </a:xfrm>
          <a:prstGeom prst="roundRect">
            <a:avLst>
              <a:gd name="adj" fmla="val 50000"/>
            </a:avLst>
          </a:prstGeom>
          <a:solidFill>
            <a:srgbClr val="3A2BC0"/>
          </a:solidFill>
          <a:ln/>
        </p:spPr>
      </p:sp>
      <p:sp>
        <p:nvSpPr>
          <p:cNvPr id="42" name="Text 40"/>
          <p:cNvSpPr/>
          <p:nvPr/>
        </p:nvSpPr>
        <p:spPr>
          <a:xfrm>
            <a:off x="9178061" y="5806440"/>
            <a:ext cx="2327834" cy="32918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JetBrains Mono" pitchFamily="34" charset="0"/>
                <a:ea typeface="JetBrains Mono" pitchFamily="34" charset="-122"/>
                <a:cs typeface="JetBrains Mono" pitchFamily="34" charset="-120"/>
              </a:rPr>
              <a:t>CAC £0 (rev-share)</a:t>
            </a:r>
            <a:endParaRPr lang="en-US" sz="1100" dirty="0"/>
          </a:p>
        </p:txBody>
      </p:sp>
      <p:sp>
        <p:nvSpPr>
          <p:cNvPr id="43" name="Shape 41"/>
          <p:cNvSpPr/>
          <p:nvPr/>
        </p:nvSpPr>
        <p:spPr>
          <a:xfrm>
            <a:off x="502920" y="6263640"/>
            <a:ext cx="11185855" cy="0"/>
          </a:xfrm>
          <a:prstGeom prst="line">
            <a:avLst/>
          </a:prstGeom>
          <a:noFill/>
          <a:ln w="6350">
            <a:solidFill>
              <a:srgbClr val="E2E0F0"/>
            </a:solidFill>
            <a:prstDash val="solid"/>
          </a:ln>
        </p:spPr>
      </p:sp>
      <p:sp>
        <p:nvSpPr>
          <p:cNvPr id="44" name="Text 4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45" name="Text 43"/>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13  /  28</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14  ·  GO-TO-MARKET  ·  PLAN</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Month-by-month. </a:t>
            </a:r>
            <a:pPr algn="l" indent="0" marL="0">
              <a:buNone/>
            </a:pPr>
            <a:r>
              <a:rPr lang="en-US" sz="3600" b="1" dirty="0">
                <a:solidFill>
                  <a:srgbClr val="5040E5"/>
                </a:solidFill>
                <a:latin typeface="Inter" pitchFamily="34" charset="0"/>
                <a:ea typeface="Inter" pitchFamily="34" charset="-122"/>
                <a:cs typeface="Inter" pitchFamily="34" charset="-120"/>
              </a:rPr>
              <a:t>Spend tagged to phase.</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Four phases, mirroring the four audiences on the prior slide. Spend rises only after the funnel signals validation by signup #100.</a:t>
            </a:r>
            <a:endParaRPr lang="en-US" sz="1550" dirty="0"/>
          </a:p>
        </p:txBody>
      </p:sp>
      <p:sp>
        <p:nvSpPr>
          <p:cNvPr id="9" name="Shape 7"/>
          <p:cNvSpPr/>
          <p:nvPr/>
        </p:nvSpPr>
        <p:spPr>
          <a:xfrm>
            <a:off x="502920" y="2606040"/>
            <a:ext cx="2693594" cy="3246120"/>
          </a:xfrm>
          <a:prstGeom prst="roundRect">
            <a:avLst>
              <a:gd name="adj" fmla="val 4074"/>
            </a:avLst>
          </a:prstGeom>
          <a:solidFill>
            <a:srgbClr val="FFFFFF"/>
          </a:solidFill>
          <a:ln w="9525">
            <a:solidFill>
              <a:srgbClr val="E2E0F0"/>
            </a:solidFill>
            <a:prstDash val="solid"/>
          </a:ln>
        </p:spPr>
      </p:sp>
      <p:sp>
        <p:nvSpPr>
          <p:cNvPr id="10" name="Text 8"/>
          <p:cNvSpPr/>
          <p:nvPr/>
        </p:nvSpPr>
        <p:spPr>
          <a:xfrm>
            <a:off x="704088" y="2788920"/>
            <a:ext cx="229125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PHASE 01  ·  M0–M2</a:t>
            </a:r>
            <a:endParaRPr lang="en-US" sz="1050" dirty="0"/>
          </a:p>
        </p:txBody>
      </p:sp>
      <p:sp>
        <p:nvSpPr>
          <p:cNvPr id="11" name="Text 9"/>
          <p:cNvSpPr/>
          <p:nvPr/>
        </p:nvSpPr>
        <p:spPr>
          <a:xfrm>
            <a:off x="704088" y="3108960"/>
            <a:ext cx="2291258" cy="457200"/>
          </a:xfrm>
          <a:prstGeom prst="rect">
            <a:avLst/>
          </a:prstGeom>
          <a:noFill/>
          <a:ln/>
        </p:spPr>
        <p:txBody>
          <a:bodyPr wrap="square" lIns="0" tIns="0" rIns="0" bIns="0" rtlCol="0" anchor="t"/>
          <a:lstStyle/>
          <a:p>
            <a:pPr algn="l" indent="0" marL="0">
              <a:buNone/>
            </a:pPr>
            <a:r>
              <a:rPr lang="en-US" sz="2200" b="1" dirty="0">
                <a:solidFill>
                  <a:srgbClr val="0F172A"/>
                </a:solidFill>
                <a:latin typeface="Inter" pitchFamily="34" charset="0"/>
                <a:ea typeface="Inter" pitchFamily="34" charset="-122"/>
                <a:cs typeface="Inter" pitchFamily="34" charset="-120"/>
              </a:rPr>
              <a:t>Founder beta.</a:t>
            </a:r>
            <a:endParaRPr lang="en-US" sz="2200" dirty="0"/>
          </a:p>
        </p:txBody>
      </p:sp>
      <p:sp>
        <p:nvSpPr>
          <p:cNvPr id="12" name="Shape 10"/>
          <p:cNvSpPr/>
          <p:nvPr/>
        </p:nvSpPr>
        <p:spPr>
          <a:xfrm>
            <a:off x="704088" y="3611880"/>
            <a:ext cx="2291258" cy="320040"/>
          </a:xfrm>
          <a:prstGeom prst="roundRect">
            <a:avLst>
              <a:gd name="adj" fmla="val 50000"/>
            </a:avLst>
          </a:prstGeom>
          <a:solidFill>
            <a:srgbClr val="E8E5FB"/>
          </a:solidFill>
          <a:ln/>
        </p:spPr>
      </p:sp>
      <p:sp>
        <p:nvSpPr>
          <p:cNvPr id="13" name="Text 11"/>
          <p:cNvSpPr/>
          <p:nvPr/>
        </p:nvSpPr>
        <p:spPr>
          <a:xfrm>
            <a:off x="704088" y="3611880"/>
            <a:ext cx="2291258" cy="320040"/>
          </a:xfrm>
          <a:prstGeom prst="rect">
            <a:avLst/>
          </a:prstGeom>
          <a:noFill/>
          <a:ln/>
        </p:spPr>
        <p:txBody>
          <a:bodyPr wrap="square" lIns="0" tIns="0" rIns="0" bIns="0" rtlCol="0" anchor="ctr"/>
          <a:lstStyle/>
          <a:p>
            <a:pPr algn="ctr" indent="0" marL="0">
              <a:buNone/>
            </a:pPr>
            <a:r>
              <a:rPr lang="en-US" sz="950" b="1" spc="250" kern="0" dirty="0">
                <a:solidFill>
                  <a:srgbClr val="3A2BC0"/>
                </a:solidFill>
                <a:latin typeface="JetBrains Mono" pitchFamily="34" charset="0"/>
                <a:ea typeface="JetBrains Mono" pitchFamily="34" charset="-122"/>
                <a:cs typeface="JetBrains Mono" pitchFamily="34" charset="-120"/>
              </a:rPr>
              <a:t>REDDIT + X · AUDIENCE 01</a:t>
            </a:r>
            <a:endParaRPr lang="en-US" sz="950" dirty="0"/>
          </a:p>
        </p:txBody>
      </p:sp>
      <p:sp>
        <p:nvSpPr>
          <p:cNvPr id="14" name="Text 12"/>
          <p:cNvSpPr/>
          <p:nvPr/>
        </p:nvSpPr>
        <p:spPr>
          <a:xfrm>
            <a:off x="704088" y="4023360"/>
            <a:ext cx="2291258" cy="86868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100 friendly users from r/cursor and indie-hacker DMs. Pricing tested on first 50 paying.</a:t>
            </a:r>
            <a:endParaRPr lang="en-US" sz="1100" dirty="0"/>
          </a:p>
        </p:txBody>
      </p:sp>
      <p:sp>
        <p:nvSpPr>
          <p:cNvPr id="15" name="Text 13"/>
          <p:cNvSpPr/>
          <p:nvPr/>
        </p:nvSpPr>
        <p:spPr>
          <a:xfrm>
            <a:off x="704088" y="4892040"/>
            <a:ext cx="2291258" cy="201168"/>
          </a:xfrm>
          <a:prstGeom prst="rect">
            <a:avLst/>
          </a:prstGeom>
          <a:noFill/>
          <a:ln/>
        </p:spPr>
        <p:txBody>
          <a:bodyPr wrap="square" lIns="0" tIns="0" rIns="0" bIns="0" rtlCol="0" anchor="ctr"/>
          <a:lstStyle/>
          <a:p>
            <a:pPr algn="l" indent="0" marL="0">
              <a:buNone/>
            </a:pPr>
            <a:r>
              <a:rPr lang="en-US" sz="900" spc="300" kern="0" dirty="0">
                <a:solidFill>
                  <a:srgbClr val="94A3B8"/>
                </a:solidFill>
                <a:latin typeface="JetBrains Mono" pitchFamily="34" charset="0"/>
                <a:ea typeface="JetBrains Mono" pitchFamily="34" charset="-122"/>
                <a:cs typeface="JetBrains Mono" pitchFamily="34" charset="-120"/>
              </a:rPr>
              <a:t>SPEND</a:t>
            </a:r>
            <a:endParaRPr lang="en-US" sz="900" dirty="0"/>
          </a:p>
        </p:txBody>
      </p:sp>
      <p:sp>
        <p:nvSpPr>
          <p:cNvPr id="16" name="Text 14"/>
          <p:cNvSpPr/>
          <p:nvPr/>
        </p:nvSpPr>
        <p:spPr>
          <a:xfrm>
            <a:off x="704088" y="5093208"/>
            <a:ext cx="2291258" cy="274320"/>
          </a:xfrm>
          <a:prstGeom prst="rect">
            <a:avLst/>
          </a:prstGeom>
          <a:noFill/>
          <a:ln/>
        </p:spPr>
        <p:txBody>
          <a:bodyPr wrap="square" lIns="0" tIns="0" rIns="0" bIns="0" rtlCol="0" anchor="t"/>
          <a:lstStyle/>
          <a:p>
            <a:pPr algn="l" indent="0" marL="0">
              <a:buNone/>
            </a:pPr>
            <a:r>
              <a:rPr lang="en-US" sz="1250" b="1" dirty="0">
                <a:solidFill>
                  <a:srgbClr val="5040E5"/>
                </a:solidFill>
                <a:latin typeface="Inter" pitchFamily="34" charset="0"/>
                <a:ea typeface="Inter" pitchFamily="34" charset="-122"/>
                <a:cs typeface="Inter" pitchFamily="34" charset="-120"/>
              </a:rPr>
              <a:t>£0</a:t>
            </a:r>
            <a:endParaRPr lang="en-US" sz="1250" dirty="0"/>
          </a:p>
        </p:txBody>
      </p:sp>
      <p:sp>
        <p:nvSpPr>
          <p:cNvPr id="17" name="Shape 15"/>
          <p:cNvSpPr/>
          <p:nvPr/>
        </p:nvSpPr>
        <p:spPr>
          <a:xfrm>
            <a:off x="704088" y="5413248"/>
            <a:ext cx="2291258" cy="128016"/>
          </a:xfrm>
          <a:prstGeom prst="roundRect">
            <a:avLst>
              <a:gd name="adj" fmla="val 50000"/>
            </a:avLst>
          </a:prstGeom>
          <a:solidFill>
            <a:srgbClr val="F0EDFC"/>
          </a:solidFill>
          <a:ln/>
        </p:spPr>
      </p:sp>
      <p:sp>
        <p:nvSpPr>
          <p:cNvPr id="18" name="Shape 16"/>
          <p:cNvSpPr/>
          <p:nvPr/>
        </p:nvSpPr>
        <p:spPr>
          <a:xfrm>
            <a:off x="704088" y="5413248"/>
            <a:ext cx="0" cy="128016"/>
          </a:xfrm>
          <a:prstGeom prst="roundRect">
            <a:avLst>
              <a:gd name="adj" fmla="val Infinity"/>
            </a:avLst>
          </a:prstGeom>
          <a:solidFill>
            <a:srgbClr val="5040E5"/>
          </a:solidFill>
          <a:ln/>
        </p:spPr>
      </p:sp>
      <p:sp>
        <p:nvSpPr>
          <p:cNvPr id="19" name="Shape 17"/>
          <p:cNvSpPr/>
          <p:nvPr/>
        </p:nvSpPr>
        <p:spPr>
          <a:xfrm>
            <a:off x="3333674" y="2606040"/>
            <a:ext cx="2693594" cy="3246120"/>
          </a:xfrm>
          <a:prstGeom prst="roundRect">
            <a:avLst>
              <a:gd name="adj" fmla="val 4074"/>
            </a:avLst>
          </a:prstGeom>
          <a:solidFill>
            <a:srgbClr val="FFFFFF"/>
          </a:solidFill>
          <a:ln w="9525">
            <a:solidFill>
              <a:srgbClr val="E2E0F0"/>
            </a:solidFill>
            <a:prstDash val="solid"/>
          </a:ln>
        </p:spPr>
      </p:sp>
      <p:sp>
        <p:nvSpPr>
          <p:cNvPr id="20" name="Text 18"/>
          <p:cNvSpPr/>
          <p:nvPr/>
        </p:nvSpPr>
        <p:spPr>
          <a:xfrm>
            <a:off x="3534842" y="2788920"/>
            <a:ext cx="229125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PHASE 02  ·  M2–M4</a:t>
            </a:r>
            <a:endParaRPr lang="en-US" sz="1050" dirty="0"/>
          </a:p>
        </p:txBody>
      </p:sp>
      <p:sp>
        <p:nvSpPr>
          <p:cNvPr id="21" name="Text 19"/>
          <p:cNvSpPr/>
          <p:nvPr/>
        </p:nvSpPr>
        <p:spPr>
          <a:xfrm>
            <a:off x="3534842" y="3108960"/>
            <a:ext cx="2291258" cy="457200"/>
          </a:xfrm>
          <a:prstGeom prst="rect">
            <a:avLst/>
          </a:prstGeom>
          <a:noFill/>
          <a:ln/>
        </p:spPr>
        <p:txBody>
          <a:bodyPr wrap="square" lIns="0" tIns="0" rIns="0" bIns="0" rtlCol="0" anchor="t"/>
          <a:lstStyle/>
          <a:p>
            <a:pPr algn="l" indent="0" marL="0">
              <a:buNone/>
            </a:pPr>
            <a:r>
              <a:rPr lang="en-US" sz="2200" b="1" dirty="0">
                <a:solidFill>
                  <a:srgbClr val="0F172A"/>
                </a:solidFill>
                <a:latin typeface="Inter" pitchFamily="34" charset="0"/>
                <a:ea typeface="Inter" pitchFamily="34" charset="-122"/>
                <a:cs typeface="Inter" pitchFamily="34" charset="-120"/>
              </a:rPr>
              <a:t>Hype injection.</a:t>
            </a:r>
            <a:endParaRPr lang="en-US" sz="2200" dirty="0"/>
          </a:p>
        </p:txBody>
      </p:sp>
      <p:sp>
        <p:nvSpPr>
          <p:cNvPr id="22" name="Shape 20"/>
          <p:cNvSpPr/>
          <p:nvPr/>
        </p:nvSpPr>
        <p:spPr>
          <a:xfrm>
            <a:off x="3534842" y="3611880"/>
            <a:ext cx="2291258" cy="320040"/>
          </a:xfrm>
          <a:prstGeom prst="roundRect">
            <a:avLst>
              <a:gd name="adj" fmla="val 50000"/>
            </a:avLst>
          </a:prstGeom>
          <a:solidFill>
            <a:srgbClr val="E8E5FB"/>
          </a:solidFill>
          <a:ln/>
        </p:spPr>
      </p:sp>
      <p:sp>
        <p:nvSpPr>
          <p:cNvPr id="23" name="Text 21"/>
          <p:cNvSpPr/>
          <p:nvPr/>
        </p:nvSpPr>
        <p:spPr>
          <a:xfrm>
            <a:off x="3534842" y="3611880"/>
            <a:ext cx="2291258" cy="320040"/>
          </a:xfrm>
          <a:prstGeom prst="rect">
            <a:avLst/>
          </a:prstGeom>
          <a:noFill/>
          <a:ln/>
        </p:spPr>
        <p:txBody>
          <a:bodyPr wrap="square" lIns="0" tIns="0" rIns="0" bIns="0" rtlCol="0" anchor="ctr"/>
          <a:lstStyle/>
          <a:p>
            <a:pPr algn="ctr" indent="0" marL="0">
              <a:buNone/>
            </a:pPr>
            <a:r>
              <a:rPr lang="en-US" sz="950" b="1" spc="250" kern="0" dirty="0">
                <a:solidFill>
                  <a:srgbClr val="3A2BC0"/>
                </a:solidFill>
                <a:latin typeface="JetBrains Mono" pitchFamily="34" charset="0"/>
                <a:ea typeface="JetBrains Mono" pitchFamily="34" charset="-122"/>
                <a:cs typeface="JetBrains Mono" pitchFamily="34" charset="-120"/>
              </a:rPr>
              <a:t>YOUTUBE · AUDIENCE 02</a:t>
            </a:r>
            <a:endParaRPr lang="en-US" sz="950" dirty="0"/>
          </a:p>
        </p:txBody>
      </p:sp>
      <p:sp>
        <p:nvSpPr>
          <p:cNvPr id="24" name="Text 22"/>
          <p:cNvSpPr/>
          <p:nvPr/>
        </p:nvSpPr>
        <p:spPr>
          <a:xfrm>
            <a:off x="3534842" y="4023360"/>
            <a:ext cx="2291258" cy="86868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Theo + 4× Fireship-adjacent sponsorships. 60-second sandbox demos. Promo codes drive trackable signup.</a:t>
            </a:r>
            <a:endParaRPr lang="en-US" sz="1100" dirty="0"/>
          </a:p>
        </p:txBody>
      </p:sp>
      <p:sp>
        <p:nvSpPr>
          <p:cNvPr id="25" name="Text 23"/>
          <p:cNvSpPr/>
          <p:nvPr/>
        </p:nvSpPr>
        <p:spPr>
          <a:xfrm>
            <a:off x="3534842" y="4892040"/>
            <a:ext cx="2291258" cy="201168"/>
          </a:xfrm>
          <a:prstGeom prst="rect">
            <a:avLst/>
          </a:prstGeom>
          <a:noFill/>
          <a:ln/>
        </p:spPr>
        <p:txBody>
          <a:bodyPr wrap="square" lIns="0" tIns="0" rIns="0" bIns="0" rtlCol="0" anchor="ctr"/>
          <a:lstStyle/>
          <a:p>
            <a:pPr algn="l" indent="0" marL="0">
              <a:buNone/>
            </a:pPr>
            <a:r>
              <a:rPr lang="en-US" sz="900" spc="300" kern="0" dirty="0">
                <a:solidFill>
                  <a:srgbClr val="94A3B8"/>
                </a:solidFill>
                <a:latin typeface="JetBrains Mono" pitchFamily="34" charset="0"/>
                <a:ea typeface="JetBrains Mono" pitchFamily="34" charset="-122"/>
                <a:cs typeface="JetBrains Mono" pitchFamily="34" charset="-120"/>
              </a:rPr>
              <a:t>SPEND</a:t>
            </a:r>
            <a:endParaRPr lang="en-US" sz="900" dirty="0"/>
          </a:p>
        </p:txBody>
      </p:sp>
      <p:sp>
        <p:nvSpPr>
          <p:cNvPr id="26" name="Text 24"/>
          <p:cNvSpPr/>
          <p:nvPr/>
        </p:nvSpPr>
        <p:spPr>
          <a:xfrm>
            <a:off x="3534842" y="5093208"/>
            <a:ext cx="2291258" cy="274320"/>
          </a:xfrm>
          <a:prstGeom prst="rect">
            <a:avLst/>
          </a:prstGeom>
          <a:noFill/>
          <a:ln/>
        </p:spPr>
        <p:txBody>
          <a:bodyPr wrap="square" lIns="0" tIns="0" rIns="0" bIns="0" rtlCol="0" anchor="t"/>
          <a:lstStyle/>
          <a:p>
            <a:pPr algn="l" indent="0" marL="0">
              <a:buNone/>
            </a:pPr>
            <a:r>
              <a:rPr lang="en-US" sz="1250" b="1" dirty="0">
                <a:solidFill>
                  <a:srgbClr val="5040E5"/>
                </a:solidFill>
                <a:latin typeface="Inter" pitchFamily="34" charset="0"/>
                <a:ea typeface="Inter" pitchFamily="34" charset="-122"/>
                <a:cs typeface="Inter" pitchFamily="34" charset="-120"/>
              </a:rPr>
              <a:t>£55K  (£40K + £15K NL)</a:t>
            </a:r>
            <a:endParaRPr lang="en-US" sz="1250" dirty="0"/>
          </a:p>
        </p:txBody>
      </p:sp>
      <p:sp>
        <p:nvSpPr>
          <p:cNvPr id="27" name="Shape 25"/>
          <p:cNvSpPr/>
          <p:nvPr/>
        </p:nvSpPr>
        <p:spPr>
          <a:xfrm>
            <a:off x="3534842" y="5413248"/>
            <a:ext cx="2291258" cy="128016"/>
          </a:xfrm>
          <a:prstGeom prst="roundRect">
            <a:avLst>
              <a:gd name="adj" fmla="val 50000"/>
            </a:avLst>
          </a:prstGeom>
          <a:solidFill>
            <a:srgbClr val="F0EDFC"/>
          </a:solidFill>
          <a:ln/>
        </p:spPr>
      </p:sp>
      <p:sp>
        <p:nvSpPr>
          <p:cNvPr id="28" name="Shape 26"/>
          <p:cNvSpPr/>
          <p:nvPr/>
        </p:nvSpPr>
        <p:spPr>
          <a:xfrm>
            <a:off x="3534842" y="5413248"/>
            <a:ext cx="801940" cy="128016"/>
          </a:xfrm>
          <a:prstGeom prst="roundRect">
            <a:avLst>
              <a:gd name="adj" fmla="val 50000"/>
            </a:avLst>
          </a:prstGeom>
          <a:solidFill>
            <a:srgbClr val="5040E5"/>
          </a:solidFill>
          <a:ln/>
        </p:spPr>
      </p:sp>
      <p:sp>
        <p:nvSpPr>
          <p:cNvPr id="29" name="Shape 27"/>
          <p:cNvSpPr/>
          <p:nvPr/>
        </p:nvSpPr>
        <p:spPr>
          <a:xfrm>
            <a:off x="6164428" y="2606040"/>
            <a:ext cx="2693594" cy="3246120"/>
          </a:xfrm>
          <a:prstGeom prst="roundRect">
            <a:avLst>
              <a:gd name="adj" fmla="val 4074"/>
            </a:avLst>
          </a:prstGeom>
          <a:solidFill>
            <a:srgbClr val="FFFFFF"/>
          </a:solidFill>
          <a:ln w="9525">
            <a:solidFill>
              <a:srgbClr val="E2E0F0"/>
            </a:solidFill>
            <a:prstDash val="solid"/>
          </a:ln>
        </p:spPr>
      </p:sp>
      <p:sp>
        <p:nvSpPr>
          <p:cNvPr id="30" name="Text 28"/>
          <p:cNvSpPr/>
          <p:nvPr/>
        </p:nvSpPr>
        <p:spPr>
          <a:xfrm>
            <a:off x="6365596" y="2788920"/>
            <a:ext cx="229125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PHASE 03  ·  M4–M6</a:t>
            </a:r>
            <a:endParaRPr lang="en-US" sz="1050" dirty="0"/>
          </a:p>
        </p:txBody>
      </p:sp>
      <p:sp>
        <p:nvSpPr>
          <p:cNvPr id="31" name="Text 29"/>
          <p:cNvSpPr/>
          <p:nvPr/>
        </p:nvSpPr>
        <p:spPr>
          <a:xfrm>
            <a:off x="6365596" y="3108960"/>
            <a:ext cx="2291258" cy="457200"/>
          </a:xfrm>
          <a:prstGeom prst="rect">
            <a:avLst/>
          </a:prstGeom>
          <a:noFill/>
          <a:ln/>
        </p:spPr>
        <p:txBody>
          <a:bodyPr wrap="square" lIns="0" tIns="0" rIns="0" bIns="0" rtlCol="0" anchor="t"/>
          <a:lstStyle/>
          <a:p>
            <a:pPr algn="l" indent="0" marL="0">
              <a:buNone/>
            </a:pPr>
            <a:r>
              <a:rPr lang="en-US" sz="2200" b="1" dirty="0">
                <a:solidFill>
                  <a:srgbClr val="0F172A"/>
                </a:solidFill>
                <a:latin typeface="Inter" pitchFamily="34" charset="0"/>
                <a:ea typeface="Inter" pitchFamily="34" charset="-122"/>
                <a:cs typeface="Inter" pitchFamily="34" charset="-120"/>
              </a:rPr>
              <a:t>Compound.</a:t>
            </a:r>
            <a:endParaRPr lang="en-US" sz="2200" dirty="0"/>
          </a:p>
        </p:txBody>
      </p:sp>
      <p:sp>
        <p:nvSpPr>
          <p:cNvPr id="32" name="Shape 30"/>
          <p:cNvSpPr/>
          <p:nvPr/>
        </p:nvSpPr>
        <p:spPr>
          <a:xfrm>
            <a:off x="6365596" y="3611880"/>
            <a:ext cx="2291258" cy="320040"/>
          </a:xfrm>
          <a:prstGeom prst="roundRect">
            <a:avLst>
              <a:gd name="adj" fmla="val 50000"/>
            </a:avLst>
          </a:prstGeom>
          <a:solidFill>
            <a:srgbClr val="E8E5FB"/>
          </a:solidFill>
          <a:ln/>
        </p:spPr>
      </p:sp>
      <p:sp>
        <p:nvSpPr>
          <p:cNvPr id="33" name="Text 31"/>
          <p:cNvSpPr/>
          <p:nvPr/>
        </p:nvSpPr>
        <p:spPr>
          <a:xfrm>
            <a:off x="6365596" y="3611880"/>
            <a:ext cx="2291258" cy="320040"/>
          </a:xfrm>
          <a:prstGeom prst="rect">
            <a:avLst/>
          </a:prstGeom>
          <a:noFill/>
          <a:ln/>
        </p:spPr>
        <p:txBody>
          <a:bodyPr wrap="square" lIns="0" tIns="0" rIns="0" bIns="0" rtlCol="0" anchor="ctr"/>
          <a:lstStyle/>
          <a:p>
            <a:pPr algn="ctr" indent="0" marL="0">
              <a:buNone/>
            </a:pPr>
            <a:r>
              <a:rPr lang="en-US" sz="950" b="1" spc="250" kern="0" dirty="0">
                <a:solidFill>
                  <a:srgbClr val="3A2BC0"/>
                </a:solidFill>
                <a:latin typeface="JetBrains Mono" pitchFamily="34" charset="0"/>
                <a:ea typeface="JetBrains Mono" pitchFamily="34" charset="-122"/>
                <a:cs typeface="JetBrains Mono" pitchFamily="34" charset="-120"/>
              </a:rPr>
              <a:t>PH / TLDR / HN · AUDIENCE 03</a:t>
            </a:r>
            <a:endParaRPr lang="en-US" sz="950" dirty="0"/>
          </a:p>
        </p:txBody>
      </p:sp>
      <p:sp>
        <p:nvSpPr>
          <p:cNvPr id="34" name="Text 32"/>
          <p:cNvSpPr/>
          <p:nvPr/>
        </p:nvSpPr>
        <p:spPr>
          <a:xfrm>
            <a:off x="6365596" y="4023360"/>
            <a:ext cx="2291258" cy="86868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Reddit + X build-in-public + Discord. PH launch + TLDR newsletter at peak hype.</a:t>
            </a:r>
            <a:endParaRPr lang="en-US" sz="1100" dirty="0"/>
          </a:p>
        </p:txBody>
      </p:sp>
      <p:sp>
        <p:nvSpPr>
          <p:cNvPr id="35" name="Text 33"/>
          <p:cNvSpPr/>
          <p:nvPr/>
        </p:nvSpPr>
        <p:spPr>
          <a:xfrm>
            <a:off x="6365596" y="4892040"/>
            <a:ext cx="2291258" cy="201168"/>
          </a:xfrm>
          <a:prstGeom prst="rect">
            <a:avLst/>
          </a:prstGeom>
          <a:noFill/>
          <a:ln/>
        </p:spPr>
        <p:txBody>
          <a:bodyPr wrap="square" lIns="0" tIns="0" rIns="0" bIns="0" rtlCol="0" anchor="ctr"/>
          <a:lstStyle/>
          <a:p>
            <a:pPr algn="l" indent="0" marL="0">
              <a:buNone/>
            </a:pPr>
            <a:r>
              <a:rPr lang="en-US" sz="900" spc="300" kern="0" dirty="0">
                <a:solidFill>
                  <a:srgbClr val="94A3B8"/>
                </a:solidFill>
                <a:latin typeface="JetBrains Mono" pitchFamily="34" charset="0"/>
                <a:ea typeface="JetBrains Mono" pitchFamily="34" charset="-122"/>
                <a:cs typeface="JetBrains Mono" pitchFamily="34" charset="-120"/>
              </a:rPr>
              <a:t>SPEND</a:t>
            </a:r>
            <a:endParaRPr lang="en-US" sz="900" dirty="0"/>
          </a:p>
        </p:txBody>
      </p:sp>
      <p:sp>
        <p:nvSpPr>
          <p:cNvPr id="36" name="Text 34"/>
          <p:cNvSpPr/>
          <p:nvPr/>
        </p:nvSpPr>
        <p:spPr>
          <a:xfrm>
            <a:off x="6365596" y="5093208"/>
            <a:ext cx="2291258" cy="274320"/>
          </a:xfrm>
          <a:prstGeom prst="rect">
            <a:avLst/>
          </a:prstGeom>
          <a:noFill/>
          <a:ln/>
        </p:spPr>
        <p:txBody>
          <a:bodyPr wrap="square" lIns="0" tIns="0" rIns="0" bIns="0" rtlCol="0" anchor="t"/>
          <a:lstStyle/>
          <a:p>
            <a:pPr algn="l" indent="0" marL="0">
              <a:buNone/>
            </a:pPr>
            <a:r>
              <a:rPr lang="en-US" sz="1250" b="1" dirty="0">
                <a:solidFill>
                  <a:srgbClr val="5040E5"/>
                </a:solidFill>
                <a:latin typeface="Inter" pitchFamily="34" charset="0"/>
                <a:ea typeface="Inter" pitchFamily="34" charset="-122"/>
                <a:cs typeface="Inter" pitchFamily="34" charset="-120"/>
              </a:rPr>
              <a:t>£25K  (+ content)</a:t>
            </a:r>
            <a:endParaRPr lang="en-US" sz="1250" dirty="0"/>
          </a:p>
        </p:txBody>
      </p:sp>
      <p:sp>
        <p:nvSpPr>
          <p:cNvPr id="37" name="Shape 35"/>
          <p:cNvSpPr/>
          <p:nvPr/>
        </p:nvSpPr>
        <p:spPr>
          <a:xfrm>
            <a:off x="6365596" y="5413248"/>
            <a:ext cx="2291258" cy="128016"/>
          </a:xfrm>
          <a:prstGeom prst="roundRect">
            <a:avLst>
              <a:gd name="adj" fmla="val 50000"/>
            </a:avLst>
          </a:prstGeom>
          <a:solidFill>
            <a:srgbClr val="F0EDFC"/>
          </a:solidFill>
          <a:ln/>
        </p:spPr>
      </p:sp>
      <p:sp>
        <p:nvSpPr>
          <p:cNvPr id="38" name="Shape 36"/>
          <p:cNvSpPr/>
          <p:nvPr/>
        </p:nvSpPr>
        <p:spPr>
          <a:xfrm>
            <a:off x="6365596" y="5413248"/>
            <a:ext cx="458252" cy="128016"/>
          </a:xfrm>
          <a:prstGeom prst="roundRect">
            <a:avLst>
              <a:gd name="adj" fmla="val 50000"/>
            </a:avLst>
          </a:prstGeom>
          <a:solidFill>
            <a:srgbClr val="5040E5"/>
          </a:solidFill>
          <a:ln/>
        </p:spPr>
      </p:sp>
      <p:sp>
        <p:nvSpPr>
          <p:cNvPr id="39" name="Shape 37"/>
          <p:cNvSpPr/>
          <p:nvPr/>
        </p:nvSpPr>
        <p:spPr>
          <a:xfrm>
            <a:off x="8995181" y="2606040"/>
            <a:ext cx="2693594" cy="3246120"/>
          </a:xfrm>
          <a:prstGeom prst="roundRect">
            <a:avLst>
              <a:gd name="adj" fmla="val 4074"/>
            </a:avLst>
          </a:prstGeom>
          <a:solidFill>
            <a:srgbClr val="FFFFFF"/>
          </a:solidFill>
          <a:ln w="9525">
            <a:solidFill>
              <a:srgbClr val="E2E0F0"/>
            </a:solidFill>
            <a:prstDash val="solid"/>
          </a:ln>
        </p:spPr>
      </p:sp>
      <p:sp>
        <p:nvSpPr>
          <p:cNvPr id="40" name="Text 38"/>
          <p:cNvSpPr/>
          <p:nvPr/>
        </p:nvSpPr>
        <p:spPr>
          <a:xfrm>
            <a:off x="9196349" y="2788920"/>
            <a:ext cx="229125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PHASE 04  ·  M6–M15</a:t>
            </a:r>
            <a:endParaRPr lang="en-US" sz="1050" dirty="0"/>
          </a:p>
        </p:txBody>
      </p:sp>
      <p:sp>
        <p:nvSpPr>
          <p:cNvPr id="41" name="Text 39"/>
          <p:cNvSpPr/>
          <p:nvPr/>
        </p:nvSpPr>
        <p:spPr>
          <a:xfrm>
            <a:off x="9196349" y="3108960"/>
            <a:ext cx="2291258" cy="457200"/>
          </a:xfrm>
          <a:prstGeom prst="rect">
            <a:avLst/>
          </a:prstGeom>
          <a:noFill/>
          <a:ln/>
        </p:spPr>
        <p:txBody>
          <a:bodyPr wrap="square" lIns="0" tIns="0" rIns="0" bIns="0" rtlCol="0" anchor="t"/>
          <a:lstStyle/>
          <a:p>
            <a:pPr algn="l" indent="0" marL="0">
              <a:buNone/>
            </a:pPr>
            <a:r>
              <a:rPr lang="en-US" sz="2200" b="1" dirty="0">
                <a:solidFill>
                  <a:srgbClr val="0F172A"/>
                </a:solidFill>
                <a:latin typeface="Inter" pitchFamily="34" charset="0"/>
                <a:ea typeface="Inter" pitchFamily="34" charset="-122"/>
                <a:cs typeface="Inter" pitchFamily="34" charset="-120"/>
              </a:rPr>
              <a:t>Decide + scale.</a:t>
            </a:r>
            <a:endParaRPr lang="en-US" sz="2200" dirty="0"/>
          </a:p>
        </p:txBody>
      </p:sp>
      <p:sp>
        <p:nvSpPr>
          <p:cNvPr id="42" name="Shape 40"/>
          <p:cNvSpPr/>
          <p:nvPr/>
        </p:nvSpPr>
        <p:spPr>
          <a:xfrm>
            <a:off x="9196349" y="3611880"/>
            <a:ext cx="2291258" cy="320040"/>
          </a:xfrm>
          <a:prstGeom prst="roundRect">
            <a:avLst>
              <a:gd name="adj" fmla="val 50000"/>
            </a:avLst>
          </a:prstGeom>
          <a:solidFill>
            <a:srgbClr val="E8E5FB"/>
          </a:solidFill>
          <a:ln/>
        </p:spPr>
      </p:sp>
      <p:sp>
        <p:nvSpPr>
          <p:cNvPr id="43" name="Text 41"/>
          <p:cNvSpPr/>
          <p:nvPr/>
        </p:nvSpPr>
        <p:spPr>
          <a:xfrm>
            <a:off x="9196349" y="3611880"/>
            <a:ext cx="2291258" cy="320040"/>
          </a:xfrm>
          <a:prstGeom prst="rect">
            <a:avLst/>
          </a:prstGeom>
          <a:noFill/>
          <a:ln/>
        </p:spPr>
        <p:txBody>
          <a:bodyPr wrap="square" lIns="0" tIns="0" rIns="0" bIns="0" rtlCol="0" anchor="ctr"/>
          <a:lstStyle/>
          <a:p>
            <a:pPr algn="ctr" indent="0" marL="0">
              <a:buNone/>
            </a:pPr>
            <a:r>
              <a:rPr lang="en-US" sz="950" b="1" spc="250" kern="0" dirty="0">
                <a:solidFill>
                  <a:srgbClr val="3A2BC0"/>
                </a:solidFill>
                <a:latin typeface="JetBrains Mono" pitchFamily="34" charset="0"/>
                <a:ea typeface="JetBrains Mono" pitchFamily="34" charset="-122"/>
                <a:cs typeface="JetBrains Mono" pitchFamily="34" charset="-120"/>
              </a:rPr>
              <a:t>PARTNERS · AUDIENCE 04</a:t>
            </a:r>
            <a:endParaRPr lang="en-US" sz="950" dirty="0"/>
          </a:p>
        </p:txBody>
      </p:sp>
      <p:sp>
        <p:nvSpPr>
          <p:cNvPr id="44" name="Text 42"/>
          <p:cNvSpPr/>
          <p:nvPr/>
        </p:nvSpPr>
        <p:spPr>
          <a:xfrm>
            <a:off x="9196349" y="4023360"/>
            <a:ext cx="2291258" cy="86868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M6–9 pre-seed signalling or run lean. M9–15 paid acquisition if numbers hold — Meta, X, YouTube.</a:t>
            </a:r>
            <a:endParaRPr lang="en-US" sz="1100" dirty="0"/>
          </a:p>
        </p:txBody>
      </p:sp>
      <p:sp>
        <p:nvSpPr>
          <p:cNvPr id="45" name="Text 43"/>
          <p:cNvSpPr/>
          <p:nvPr/>
        </p:nvSpPr>
        <p:spPr>
          <a:xfrm>
            <a:off x="9196349" y="4892040"/>
            <a:ext cx="2291258" cy="201168"/>
          </a:xfrm>
          <a:prstGeom prst="rect">
            <a:avLst/>
          </a:prstGeom>
          <a:noFill/>
          <a:ln/>
        </p:spPr>
        <p:txBody>
          <a:bodyPr wrap="square" lIns="0" tIns="0" rIns="0" bIns="0" rtlCol="0" anchor="ctr"/>
          <a:lstStyle/>
          <a:p>
            <a:pPr algn="l" indent="0" marL="0">
              <a:buNone/>
            </a:pPr>
            <a:r>
              <a:rPr lang="en-US" sz="900" spc="300" kern="0" dirty="0">
                <a:solidFill>
                  <a:srgbClr val="94A3B8"/>
                </a:solidFill>
                <a:latin typeface="JetBrains Mono" pitchFamily="34" charset="0"/>
                <a:ea typeface="JetBrains Mono" pitchFamily="34" charset="-122"/>
                <a:cs typeface="JetBrains Mono" pitchFamily="34" charset="-120"/>
              </a:rPr>
              <a:t>SPEND</a:t>
            </a:r>
            <a:endParaRPr lang="en-US" sz="900" dirty="0"/>
          </a:p>
        </p:txBody>
      </p:sp>
      <p:sp>
        <p:nvSpPr>
          <p:cNvPr id="46" name="Text 44"/>
          <p:cNvSpPr/>
          <p:nvPr/>
        </p:nvSpPr>
        <p:spPr>
          <a:xfrm>
            <a:off x="9196349" y="5093208"/>
            <a:ext cx="2291258" cy="274320"/>
          </a:xfrm>
          <a:prstGeom prst="rect">
            <a:avLst/>
          </a:prstGeom>
          <a:noFill/>
          <a:ln/>
        </p:spPr>
        <p:txBody>
          <a:bodyPr wrap="square" lIns="0" tIns="0" rIns="0" bIns="0" rtlCol="0" anchor="t"/>
          <a:lstStyle/>
          <a:p>
            <a:pPr algn="l" indent="0" marL="0">
              <a:buNone/>
            </a:pPr>
            <a:r>
              <a:rPr lang="en-US" sz="1250" b="1" dirty="0">
                <a:solidFill>
                  <a:srgbClr val="5040E5"/>
                </a:solidFill>
                <a:latin typeface="Inter" pitchFamily="34" charset="0"/>
                <a:ea typeface="Inter" pitchFamily="34" charset="-122"/>
                <a:cs typeface="Inter" pitchFamily="34" charset="-120"/>
              </a:rPr>
              <a:t>£300K  (M9–M15)</a:t>
            </a:r>
            <a:endParaRPr lang="en-US" sz="1250" dirty="0"/>
          </a:p>
        </p:txBody>
      </p:sp>
      <p:sp>
        <p:nvSpPr>
          <p:cNvPr id="47" name="Shape 45"/>
          <p:cNvSpPr/>
          <p:nvPr/>
        </p:nvSpPr>
        <p:spPr>
          <a:xfrm>
            <a:off x="9196349" y="5413248"/>
            <a:ext cx="2291258" cy="128016"/>
          </a:xfrm>
          <a:prstGeom prst="roundRect">
            <a:avLst>
              <a:gd name="adj" fmla="val 50000"/>
            </a:avLst>
          </a:prstGeom>
          <a:solidFill>
            <a:srgbClr val="F0EDFC"/>
          </a:solidFill>
          <a:ln/>
        </p:spPr>
      </p:sp>
      <p:sp>
        <p:nvSpPr>
          <p:cNvPr id="48" name="Shape 46"/>
          <p:cNvSpPr/>
          <p:nvPr/>
        </p:nvSpPr>
        <p:spPr>
          <a:xfrm>
            <a:off x="9196349" y="5413248"/>
            <a:ext cx="2176695" cy="128016"/>
          </a:xfrm>
          <a:prstGeom prst="roundRect">
            <a:avLst>
              <a:gd name="adj" fmla="val 50000"/>
            </a:avLst>
          </a:prstGeom>
          <a:solidFill>
            <a:srgbClr val="5040E5"/>
          </a:solidFill>
          <a:ln/>
        </p:spPr>
      </p:sp>
      <p:sp>
        <p:nvSpPr>
          <p:cNvPr id="49" name="Text 47"/>
          <p:cNvSpPr/>
          <p:nvPr/>
        </p:nvSpPr>
        <p:spPr>
          <a:xfrm>
            <a:off x="502920" y="5989320"/>
            <a:ext cx="11185855" cy="228600"/>
          </a:xfrm>
          <a:prstGeom prst="rect">
            <a:avLst/>
          </a:prstGeom>
          <a:noFill/>
          <a:ln/>
        </p:spPr>
        <p:txBody>
          <a:bodyPr wrap="square" rtlCol="0" anchor="ctr"/>
          <a:lstStyle/>
          <a:p>
            <a:pPr algn="l" indent="0" marL="0">
              <a:buNone/>
            </a:pPr>
            <a:r>
              <a:rPr lang="en-US" sz="1200" b="1" dirty="0">
                <a:solidFill>
                  <a:srgbClr val="0F172A"/>
                </a:solidFill>
                <a:latin typeface="Inter" pitchFamily="34" charset="0"/>
                <a:ea typeface="Inter" pitchFamily="34" charset="-122"/>
                <a:cs typeface="Inter" pitchFamily="34" charset="-120"/>
              </a:rPr>
              <a:t>Total Y1 paid spend ≈ £420K</a:t>
            </a:r>
            <a:pPr algn="l" indent="0" marL="0">
              <a:buNone/>
            </a:pPr>
            <a:r>
              <a:rPr lang="en-US" sz="1200" dirty="0">
                <a:solidFill>
                  <a:srgbClr val="475569"/>
                </a:solidFill>
                <a:latin typeface="Inter" pitchFamily="34" charset="0"/>
                <a:ea typeface="Inter" pitchFamily="34" charset="-122"/>
                <a:cs typeface="Inter" pitchFamily="34" charset="-120"/>
              </a:rPr>
              <a:t>  (60% of raise). All channels below CAC ceiling at 3:1.</a:t>
            </a:r>
            <a:endParaRPr lang="en-US" sz="1200" dirty="0"/>
          </a:p>
        </p:txBody>
      </p:sp>
      <p:sp>
        <p:nvSpPr>
          <p:cNvPr id="50" name="Shape 48"/>
          <p:cNvSpPr/>
          <p:nvPr/>
        </p:nvSpPr>
        <p:spPr>
          <a:xfrm>
            <a:off x="502920" y="6263640"/>
            <a:ext cx="11185855" cy="0"/>
          </a:xfrm>
          <a:prstGeom prst="line">
            <a:avLst/>
          </a:prstGeom>
          <a:noFill/>
          <a:ln w="6350">
            <a:solidFill>
              <a:srgbClr val="E2E0F0"/>
            </a:solidFill>
            <a:prstDash val="solid"/>
          </a:ln>
        </p:spPr>
      </p:sp>
      <p:sp>
        <p:nvSpPr>
          <p:cNvPr id="51" name="Text 49"/>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52" name="Text 50"/>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14  /  28</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15  ·  VALIDATION + DECISION</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Validate by signup #100. </a:t>
            </a:r>
            <a:pPr algn="l" indent="0" marL="0">
              <a:buNone/>
            </a:pPr>
            <a:r>
              <a:rPr lang="en-US" sz="3600" b="1" dirty="0">
                <a:solidFill>
                  <a:srgbClr val="5040E5"/>
                </a:solidFill>
                <a:latin typeface="Inter" pitchFamily="34" charset="0"/>
                <a:ea typeface="Inter" pitchFamily="34" charset="-122"/>
                <a:cs typeface="Inter" pitchFamily="34" charset="-120"/>
              </a:rPr>
              <a:t>Decide by month 6.</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Two checkpoints, hard rules. First — does the funnel work. Second — what kind of company is this becoming.</a:t>
            </a:r>
            <a:endParaRPr lang="en-US" sz="1550" dirty="0"/>
          </a:p>
        </p:txBody>
      </p:sp>
      <p:sp>
        <p:nvSpPr>
          <p:cNvPr id="9" name="Shape 7"/>
          <p:cNvSpPr/>
          <p:nvPr/>
        </p:nvSpPr>
        <p:spPr>
          <a:xfrm>
            <a:off x="502920" y="2697480"/>
            <a:ext cx="5410048" cy="3246120"/>
          </a:xfrm>
          <a:prstGeom prst="roundRect">
            <a:avLst>
              <a:gd name="adj" fmla="val 3380"/>
            </a:avLst>
          </a:prstGeom>
          <a:solidFill>
            <a:srgbClr val="FFFFFF"/>
          </a:solidFill>
          <a:ln w="9525">
            <a:solidFill>
              <a:srgbClr val="E2E0F0"/>
            </a:solidFill>
            <a:prstDash val="solid"/>
          </a:ln>
        </p:spPr>
      </p:sp>
      <p:sp>
        <p:nvSpPr>
          <p:cNvPr id="10" name="Text 8"/>
          <p:cNvSpPr/>
          <p:nvPr/>
        </p:nvSpPr>
        <p:spPr>
          <a:xfrm>
            <a:off x="777240" y="2834640"/>
            <a:ext cx="486140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CHECK 01  ·  VALIDATE BY SIGNUP #100</a:t>
            </a:r>
            <a:endParaRPr lang="en-US" sz="1050" dirty="0"/>
          </a:p>
        </p:txBody>
      </p:sp>
      <p:sp>
        <p:nvSpPr>
          <p:cNvPr id="11" name="Text 9"/>
          <p:cNvSpPr/>
          <p:nvPr/>
        </p:nvSpPr>
        <p:spPr>
          <a:xfrm>
            <a:off x="777240" y="3108960"/>
            <a:ext cx="4861408" cy="365760"/>
          </a:xfrm>
          <a:prstGeom prst="rect">
            <a:avLst/>
          </a:prstGeom>
          <a:noFill/>
          <a:ln/>
        </p:spPr>
        <p:txBody>
          <a:bodyPr wrap="square" lIns="0" tIns="0" rIns="0" bIns="0" rtlCol="0" anchor="t"/>
          <a:lstStyle/>
          <a:p>
            <a:pPr algn="l" indent="0" marL="0">
              <a:buNone/>
            </a:pPr>
            <a:r>
              <a:rPr lang="en-US" sz="2000" b="1" dirty="0">
                <a:solidFill>
                  <a:srgbClr val="0F172A"/>
                </a:solidFill>
                <a:latin typeface="Inter" pitchFamily="34" charset="0"/>
                <a:ea typeface="Inter" pitchFamily="34" charset="-122"/>
                <a:cs typeface="Inter" pitchFamily="34" charset="-120"/>
              </a:rPr>
              <a:t>Does the funnel work at all?</a:t>
            </a:r>
            <a:endParaRPr lang="en-US" sz="2000" dirty="0"/>
          </a:p>
        </p:txBody>
      </p:sp>
      <p:sp>
        <p:nvSpPr>
          <p:cNvPr id="12" name="Text 10"/>
          <p:cNvSpPr/>
          <p:nvPr/>
        </p:nvSpPr>
        <p:spPr>
          <a:xfrm>
            <a:off x="777240" y="3520440"/>
            <a:ext cx="4861408" cy="73152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The first 100 sandbox signups tell us whether the product converts, retains, and is priced near right. If two of three miss, paid spend pauses.</a:t>
            </a:r>
            <a:endParaRPr lang="en-US" sz="1150" dirty="0"/>
          </a:p>
        </p:txBody>
      </p:sp>
      <p:sp>
        <p:nvSpPr>
          <p:cNvPr id="13" name="Shape 11"/>
          <p:cNvSpPr/>
          <p:nvPr/>
        </p:nvSpPr>
        <p:spPr>
          <a:xfrm>
            <a:off x="777240" y="4297680"/>
            <a:ext cx="4861408" cy="0"/>
          </a:xfrm>
          <a:prstGeom prst="line">
            <a:avLst/>
          </a:prstGeom>
          <a:noFill/>
          <a:ln w="6350">
            <a:solidFill>
              <a:srgbClr val="E2E0F0"/>
            </a:solidFill>
            <a:prstDash val="solid"/>
          </a:ln>
        </p:spPr>
      </p:sp>
      <p:sp>
        <p:nvSpPr>
          <p:cNvPr id="14" name="Text 12"/>
          <p:cNvSpPr/>
          <p:nvPr/>
        </p:nvSpPr>
        <p:spPr>
          <a:xfrm>
            <a:off x="777240" y="4389120"/>
            <a:ext cx="3855568" cy="457200"/>
          </a:xfrm>
          <a:prstGeom prst="rect">
            <a:avLst/>
          </a:prstGeom>
          <a:noFill/>
          <a:ln/>
        </p:spPr>
        <p:txBody>
          <a:bodyPr wrap="square" lIns="0" tIns="0" rIns="0" bIns="0" rtlCol="0" anchor="ctr"/>
          <a:lstStyle/>
          <a:p>
            <a:pPr algn="l" indent="0" marL="0">
              <a:buNone/>
            </a:pPr>
            <a:r>
              <a:rPr lang="en-US" sz="1200" dirty="0">
                <a:solidFill>
                  <a:srgbClr val="0F172A"/>
                </a:solidFill>
                <a:latin typeface="Inter" pitchFamily="34" charset="0"/>
                <a:ea typeface="Inter" pitchFamily="34" charset="-122"/>
                <a:cs typeface="Inter" pitchFamily="34" charset="-120"/>
              </a:rPr>
              <a:t>Sandbox → Launch conversion</a:t>
            </a:r>
            <a:endParaRPr lang="en-US" sz="1200" dirty="0"/>
          </a:p>
        </p:txBody>
      </p:sp>
      <p:sp>
        <p:nvSpPr>
          <p:cNvPr id="15" name="Text 13"/>
          <p:cNvSpPr/>
          <p:nvPr/>
        </p:nvSpPr>
        <p:spPr>
          <a:xfrm>
            <a:off x="4632808" y="4389120"/>
            <a:ext cx="1005840" cy="457200"/>
          </a:xfrm>
          <a:prstGeom prst="rect">
            <a:avLst/>
          </a:prstGeom>
          <a:noFill/>
          <a:ln/>
        </p:spPr>
        <p:txBody>
          <a:bodyPr wrap="square" lIns="0" tIns="0" rIns="0" bIns="0" rtlCol="0" anchor="ctr"/>
          <a:lstStyle/>
          <a:p>
            <a:pPr algn="r" indent="0" marL="0">
              <a:buNone/>
            </a:pPr>
            <a:r>
              <a:rPr lang="en-US" sz="1800" b="1" dirty="0">
                <a:solidFill>
                  <a:srgbClr val="5040E5"/>
                </a:solidFill>
                <a:latin typeface="Inter" pitchFamily="34" charset="0"/>
                <a:ea typeface="Inter" pitchFamily="34" charset="-122"/>
                <a:cs typeface="Inter" pitchFamily="34" charset="-120"/>
              </a:rPr>
              <a:t>≥ 4%</a:t>
            </a:r>
            <a:endParaRPr lang="en-US" sz="1800" dirty="0"/>
          </a:p>
        </p:txBody>
      </p:sp>
      <p:sp>
        <p:nvSpPr>
          <p:cNvPr id="16" name="Text 14"/>
          <p:cNvSpPr/>
          <p:nvPr/>
        </p:nvSpPr>
        <p:spPr>
          <a:xfrm>
            <a:off x="777240" y="4663440"/>
            <a:ext cx="4861408" cy="228600"/>
          </a:xfrm>
          <a:prstGeom prst="rect">
            <a:avLst/>
          </a:prstGeom>
          <a:noFill/>
          <a:ln/>
        </p:spPr>
        <p:txBody>
          <a:bodyPr wrap="square" lIns="0" tIns="0" rIns="0" bIns="0" rtlCol="0" anchor="t"/>
          <a:lstStyle/>
          <a:p>
            <a:pPr algn="l" indent="0" marL="0">
              <a:buNone/>
            </a:pPr>
            <a:r>
              <a:rPr lang="en-US" sz="950" dirty="0">
                <a:solidFill>
                  <a:srgbClr val="94A3B8"/>
                </a:solidFill>
                <a:latin typeface="Inter" pitchFamily="34" charset="0"/>
                <a:ea typeface="Inter" pitchFamily="34" charset="-122"/>
                <a:cs typeface="Inter" pitchFamily="34" charset="-120"/>
              </a:rPr>
              <a:t>Industry band 3–10%. Below 3% = reprice.</a:t>
            </a:r>
            <a:endParaRPr lang="en-US" sz="950" dirty="0"/>
          </a:p>
        </p:txBody>
      </p:sp>
      <p:sp>
        <p:nvSpPr>
          <p:cNvPr id="17" name="Shape 15"/>
          <p:cNvSpPr/>
          <p:nvPr/>
        </p:nvSpPr>
        <p:spPr>
          <a:xfrm>
            <a:off x="777240" y="4754880"/>
            <a:ext cx="4861408" cy="0"/>
          </a:xfrm>
          <a:prstGeom prst="line">
            <a:avLst/>
          </a:prstGeom>
          <a:noFill/>
          <a:ln w="6350">
            <a:solidFill>
              <a:srgbClr val="E2E0F0"/>
            </a:solidFill>
            <a:prstDash val="solid"/>
          </a:ln>
        </p:spPr>
      </p:sp>
      <p:sp>
        <p:nvSpPr>
          <p:cNvPr id="18" name="Text 16"/>
          <p:cNvSpPr/>
          <p:nvPr/>
        </p:nvSpPr>
        <p:spPr>
          <a:xfrm>
            <a:off x="777240" y="4846320"/>
            <a:ext cx="3855568" cy="457200"/>
          </a:xfrm>
          <a:prstGeom prst="rect">
            <a:avLst/>
          </a:prstGeom>
          <a:noFill/>
          <a:ln/>
        </p:spPr>
        <p:txBody>
          <a:bodyPr wrap="square" lIns="0" tIns="0" rIns="0" bIns="0" rtlCol="0" anchor="ctr"/>
          <a:lstStyle/>
          <a:p>
            <a:pPr algn="l" indent="0" marL="0">
              <a:buNone/>
            </a:pPr>
            <a:r>
              <a:rPr lang="en-US" sz="1200" dirty="0">
                <a:solidFill>
                  <a:srgbClr val="0F172A"/>
                </a:solidFill>
                <a:latin typeface="Inter" pitchFamily="34" charset="0"/>
                <a:ea typeface="Inter" pitchFamily="34" charset="-122"/>
                <a:cs typeface="Inter" pitchFamily="34" charset="-120"/>
              </a:rPr>
              <a:t>Launch monthly churn</a:t>
            </a:r>
            <a:endParaRPr lang="en-US" sz="1200" dirty="0"/>
          </a:p>
        </p:txBody>
      </p:sp>
      <p:sp>
        <p:nvSpPr>
          <p:cNvPr id="19" name="Text 17"/>
          <p:cNvSpPr/>
          <p:nvPr/>
        </p:nvSpPr>
        <p:spPr>
          <a:xfrm>
            <a:off x="4632808" y="4846320"/>
            <a:ext cx="1005840" cy="457200"/>
          </a:xfrm>
          <a:prstGeom prst="rect">
            <a:avLst/>
          </a:prstGeom>
          <a:noFill/>
          <a:ln/>
        </p:spPr>
        <p:txBody>
          <a:bodyPr wrap="square" lIns="0" tIns="0" rIns="0" bIns="0" rtlCol="0" anchor="ctr"/>
          <a:lstStyle/>
          <a:p>
            <a:pPr algn="r" indent="0" marL="0">
              <a:buNone/>
            </a:pPr>
            <a:r>
              <a:rPr lang="en-US" sz="1800" b="1" dirty="0">
                <a:solidFill>
                  <a:srgbClr val="5040E5"/>
                </a:solidFill>
                <a:latin typeface="Inter" pitchFamily="34" charset="0"/>
                <a:ea typeface="Inter" pitchFamily="34" charset="-122"/>
                <a:cs typeface="Inter" pitchFamily="34" charset="-120"/>
              </a:rPr>
              <a:t>≤ 4%</a:t>
            </a:r>
            <a:endParaRPr lang="en-US" sz="1800" dirty="0"/>
          </a:p>
        </p:txBody>
      </p:sp>
      <p:sp>
        <p:nvSpPr>
          <p:cNvPr id="20" name="Text 18"/>
          <p:cNvSpPr/>
          <p:nvPr/>
        </p:nvSpPr>
        <p:spPr>
          <a:xfrm>
            <a:off x="777240" y="5120640"/>
            <a:ext cx="4861408" cy="228600"/>
          </a:xfrm>
          <a:prstGeom prst="rect">
            <a:avLst/>
          </a:prstGeom>
          <a:noFill/>
          <a:ln/>
        </p:spPr>
        <p:txBody>
          <a:bodyPr wrap="square" lIns="0" tIns="0" rIns="0" bIns="0" rtlCol="0" anchor="t"/>
          <a:lstStyle/>
          <a:p>
            <a:pPr algn="l" indent="0" marL="0">
              <a:buNone/>
            </a:pPr>
            <a:r>
              <a:rPr lang="en-US" sz="950" dirty="0">
                <a:solidFill>
                  <a:srgbClr val="94A3B8"/>
                </a:solidFill>
                <a:latin typeface="Inter" pitchFamily="34" charset="0"/>
                <a:ea typeface="Inter" pitchFamily="34" charset="-122"/>
                <a:cs typeface="Inter" pitchFamily="34" charset="-120"/>
              </a:rPr>
              <a:t>Below 4% holds LTV. Above 6% = product gap.</a:t>
            </a:r>
            <a:endParaRPr lang="en-US" sz="950" dirty="0"/>
          </a:p>
        </p:txBody>
      </p:sp>
      <p:sp>
        <p:nvSpPr>
          <p:cNvPr id="21" name="Shape 19"/>
          <p:cNvSpPr/>
          <p:nvPr/>
        </p:nvSpPr>
        <p:spPr>
          <a:xfrm>
            <a:off x="777240" y="5212080"/>
            <a:ext cx="4861408" cy="0"/>
          </a:xfrm>
          <a:prstGeom prst="line">
            <a:avLst/>
          </a:prstGeom>
          <a:noFill/>
          <a:ln w="6350">
            <a:solidFill>
              <a:srgbClr val="E2E0F0"/>
            </a:solidFill>
            <a:prstDash val="solid"/>
          </a:ln>
        </p:spPr>
      </p:sp>
      <p:sp>
        <p:nvSpPr>
          <p:cNvPr id="22" name="Text 20"/>
          <p:cNvSpPr/>
          <p:nvPr/>
        </p:nvSpPr>
        <p:spPr>
          <a:xfrm>
            <a:off x="777240" y="5303520"/>
            <a:ext cx="3855568" cy="457200"/>
          </a:xfrm>
          <a:prstGeom prst="rect">
            <a:avLst/>
          </a:prstGeom>
          <a:noFill/>
          <a:ln/>
        </p:spPr>
        <p:txBody>
          <a:bodyPr wrap="square" lIns="0" tIns="0" rIns="0" bIns="0" rtlCol="0" anchor="ctr"/>
          <a:lstStyle/>
          <a:p>
            <a:pPr algn="l" indent="0" marL="0">
              <a:buNone/>
            </a:pPr>
            <a:r>
              <a:rPr lang="en-US" sz="1200" dirty="0">
                <a:solidFill>
                  <a:srgbClr val="0F172A"/>
                </a:solidFill>
                <a:latin typeface="Inter" pitchFamily="34" charset="0"/>
                <a:ea typeface="Inter" pitchFamily="34" charset="-122"/>
                <a:cs typeface="Inter" pitchFamily="34" charset="-120"/>
              </a:rPr>
              <a:t>Time to AI handoff demo</a:t>
            </a:r>
            <a:endParaRPr lang="en-US" sz="1200" dirty="0"/>
          </a:p>
        </p:txBody>
      </p:sp>
      <p:sp>
        <p:nvSpPr>
          <p:cNvPr id="23" name="Text 21"/>
          <p:cNvSpPr/>
          <p:nvPr/>
        </p:nvSpPr>
        <p:spPr>
          <a:xfrm>
            <a:off x="4632808" y="5303520"/>
            <a:ext cx="1005840" cy="457200"/>
          </a:xfrm>
          <a:prstGeom prst="rect">
            <a:avLst/>
          </a:prstGeom>
          <a:noFill/>
          <a:ln/>
        </p:spPr>
        <p:txBody>
          <a:bodyPr wrap="square" lIns="0" tIns="0" rIns="0" bIns="0" rtlCol="0" anchor="ctr"/>
          <a:lstStyle/>
          <a:p>
            <a:pPr algn="r" indent="0" marL="0">
              <a:buNone/>
            </a:pPr>
            <a:r>
              <a:rPr lang="en-US" sz="1800" b="1" dirty="0">
                <a:solidFill>
                  <a:srgbClr val="5040E5"/>
                </a:solidFill>
                <a:latin typeface="Inter" pitchFamily="34" charset="0"/>
                <a:ea typeface="Inter" pitchFamily="34" charset="-122"/>
                <a:cs typeface="Inter" pitchFamily="34" charset="-120"/>
              </a:rPr>
              <a:t>&lt; 7d</a:t>
            </a:r>
            <a:endParaRPr lang="en-US" sz="1800" dirty="0"/>
          </a:p>
        </p:txBody>
      </p:sp>
      <p:sp>
        <p:nvSpPr>
          <p:cNvPr id="24" name="Text 22"/>
          <p:cNvSpPr/>
          <p:nvPr/>
        </p:nvSpPr>
        <p:spPr>
          <a:xfrm>
            <a:off x="777240" y="5577840"/>
            <a:ext cx="4861408" cy="228600"/>
          </a:xfrm>
          <a:prstGeom prst="rect">
            <a:avLst/>
          </a:prstGeom>
          <a:noFill/>
          <a:ln/>
        </p:spPr>
        <p:txBody>
          <a:bodyPr wrap="square" lIns="0" tIns="0" rIns="0" bIns="0" rtlCol="0" anchor="t"/>
          <a:lstStyle/>
          <a:p>
            <a:pPr algn="l" indent="0" marL="0">
              <a:buNone/>
            </a:pPr>
            <a:r>
              <a:rPr lang="en-US" sz="950" dirty="0">
                <a:solidFill>
                  <a:srgbClr val="94A3B8"/>
                </a:solidFill>
                <a:latin typeface="Inter" pitchFamily="34" charset="0"/>
                <a:ea typeface="Inter" pitchFamily="34" charset="-122"/>
                <a:cs typeface="Inter" pitchFamily="34" charset="-120"/>
              </a:rPr>
              <a:t>AI tool used on the sandbox within the first week.</a:t>
            </a:r>
            <a:endParaRPr lang="en-US" sz="950" dirty="0"/>
          </a:p>
        </p:txBody>
      </p:sp>
      <p:sp>
        <p:nvSpPr>
          <p:cNvPr id="25" name="Shape 23"/>
          <p:cNvSpPr/>
          <p:nvPr/>
        </p:nvSpPr>
        <p:spPr>
          <a:xfrm>
            <a:off x="6278728" y="2697480"/>
            <a:ext cx="5410048" cy="3246120"/>
          </a:xfrm>
          <a:prstGeom prst="roundRect">
            <a:avLst>
              <a:gd name="adj" fmla="val 3380"/>
            </a:avLst>
          </a:prstGeom>
          <a:solidFill>
            <a:srgbClr val="0B0E1F"/>
          </a:solidFill>
          <a:ln w="9525">
            <a:solidFill>
              <a:srgbClr val="26305A"/>
            </a:solidFill>
            <a:prstDash val="solid"/>
          </a:ln>
        </p:spPr>
      </p:sp>
      <p:sp>
        <p:nvSpPr>
          <p:cNvPr id="26" name="Text 24"/>
          <p:cNvSpPr/>
          <p:nvPr/>
        </p:nvSpPr>
        <p:spPr>
          <a:xfrm>
            <a:off x="6553048" y="2834640"/>
            <a:ext cx="4861408"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CHECK 02  ·  MONTH 6 DECISION</a:t>
            </a:r>
            <a:endParaRPr lang="en-US" sz="1050" dirty="0"/>
          </a:p>
        </p:txBody>
      </p:sp>
      <p:sp>
        <p:nvSpPr>
          <p:cNvPr id="27" name="Text 25"/>
          <p:cNvSpPr/>
          <p:nvPr/>
        </p:nvSpPr>
        <p:spPr>
          <a:xfrm>
            <a:off x="6553048" y="3108960"/>
            <a:ext cx="4861408" cy="365760"/>
          </a:xfrm>
          <a:prstGeom prst="rect">
            <a:avLst/>
          </a:prstGeom>
          <a:noFill/>
          <a:ln/>
        </p:spPr>
        <p:txBody>
          <a:bodyPr wrap="square" lIns="0" tIns="0" rIns="0" bIns="0" rtlCol="0" anchor="t"/>
          <a:lstStyle/>
          <a:p>
            <a:pPr algn="l" indent="0" marL="0">
              <a:buNone/>
            </a:pPr>
            <a:r>
              <a:rPr lang="en-US" sz="2000" b="1" dirty="0">
                <a:solidFill>
                  <a:srgbClr val="FFFFFF"/>
                </a:solidFill>
                <a:latin typeface="Inter" pitchFamily="34" charset="0"/>
                <a:ea typeface="Inter" pitchFamily="34" charset="-122"/>
                <a:cs typeface="Inter" pitchFamily="34" charset="-120"/>
              </a:rPr>
              <a:t>What is this becoming?</a:t>
            </a:r>
            <a:endParaRPr lang="en-US" sz="2000" dirty="0"/>
          </a:p>
        </p:txBody>
      </p:sp>
      <p:sp>
        <p:nvSpPr>
          <p:cNvPr id="28" name="Text 26"/>
          <p:cNvSpPr/>
          <p:nvPr/>
        </p:nvSpPr>
        <p:spPr>
          <a:xfrm>
            <a:off x="6553048" y="3520440"/>
            <a:ext cx="4861408" cy="731520"/>
          </a:xfrm>
          <a:prstGeom prst="rect">
            <a:avLst/>
          </a:prstGeom>
          <a:noFill/>
          <a:ln/>
        </p:spPr>
        <p:txBody>
          <a:bodyPr wrap="square" lIns="0" tIns="0" rIns="0" bIns="0" rtlCol="0" anchor="t"/>
          <a:lstStyle/>
          <a:p>
            <a:pPr algn="l" indent="0" marL="0">
              <a:buNone/>
            </a:pPr>
            <a:r>
              <a:rPr lang="en-US" sz="1150" dirty="0">
                <a:solidFill>
                  <a:srgbClr val="C7CCE8"/>
                </a:solidFill>
                <a:latin typeface="Inter" pitchFamily="34" charset="0"/>
                <a:ea typeface="Inter" pitchFamily="34" charset="-122"/>
                <a:cs typeface="Inter" pitchFamily="34" charset="-120"/>
              </a:rPr>
              <a:t>At M6 the picture is clear enough to commit. We choose between three paths — and the next 6 months execute that choice.</a:t>
            </a:r>
            <a:endParaRPr lang="en-US" sz="1150" dirty="0"/>
          </a:p>
        </p:txBody>
      </p:sp>
      <p:sp>
        <p:nvSpPr>
          <p:cNvPr id="29" name="Shape 27"/>
          <p:cNvSpPr/>
          <p:nvPr/>
        </p:nvSpPr>
        <p:spPr>
          <a:xfrm>
            <a:off x="6553048" y="4297680"/>
            <a:ext cx="4861408" cy="0"/>
          </a:xfrm>
          <a:prstGeom prst="line">
            <a:avLst/>
          </a:prstGeom>
          <a:noFill/>
          <a:ln w="6350">
            <a:solidFill>
              <a:srgbClr val="26305A"/>
            </a:solidFill>
            <a:prstDash val="solid"/>
          </a:ln>
        </p:spPr>
      </p:sp>
      <p:sp>
        <p:nvSpPr>
          <p:cNvPr id="30" name="Shape 28"/>
          <p:cNvSpPr/>
          <p:nvPr/>
        </p:nvSpPr>
        <p:spPr>
          <a:xfrm>
            <a:off x="6553048" y="4462272"/>
            <a:ext cx="777240" cy="292608"/>
          </a:xfrm>
          <a:prstGeom prst="roundRect">
            <a:avLst>
              <a:gd name="adj" fmla="val 50000"/>
            </a:avLst>
          </a:prstGeom>
          <a:solidFill>
            <a:srgbClr val="5040E5"/>
          </a:solidFill>
          <a:ln/>
        </p:spPr>
      </p:sp>
      <p:sp>
        <p:nvSpPr>
          <p:cNvPr id="31" name="Text 29"/>
          <p:cNvSpPr/>
          <p:nvPr/>
        </p:nvSpPr>
        <p:spPr>
          <a:xfrm>
            <a:off x="6553048" y="4462272"/>
            <a:ext cx="777240" cy="292608"/>
          </a:xfrm>
          <a:prstGeom prst="rect">
            <a:avLst/>
          </a:prstGeom>
          <a:noFill/>
          <a:ln/>
        </p:spPr>
        <p:txBody>
          <a:bodyPr wrap="square" lIns="0" tIns="0" rIns="0" bIns="0" rtlCol="0" anchor="ctr"/>
          <a:lstStyle/>
          <a:p>
            <a:pPr algn="ctr" indent="0" marL="0">
              <a:buNone/>
            </a:pPr>
            <a:r>
              <a:rPr lang="en-US" sz="900" b="1" spc="250" kern="0" dirty="0">
                <a:solidFill>
                  <a:srgbClr val="FFFFFF"/>
                </a:solidFill>
                <a:latin typeface="JetBrains Mono" pitchFamily="34" charset="0"/>
                <a:ea typeface="JetBrains Mono" pitchFamily="34" charset="-122"/>
                <a:cs typeface="JetBrains Mono" pitchFamily="34" charset="-120"/>
              </a:rPr>
              <a:t>RAISE</a:t>
            </a:r>
            <a:endParaRPr lang="en-US" sz="900" dirty="0"/>
          </a:p>
        </p:txBody>
      </p:sp>
      <p:sp>
        <p:nvSpPr>
          <p:cNvPr id="32" name="Text 30"/>
          <p:cNvSpPr/>
          <p:nvPr/>
        </p:nvSpPr>
        <p:spPr>
          <a:xfrm>
            <a:off x="7421728" y="4389120"/>
            <a:ext cx="4038448" cy="274320"/>
          </a:xfrm>
          <a:prstGeom prst="rect">
            <a:avLst/>
          </a:prstGeom>
          <a:noFill/>
          <a:ln/>
        </p:spPr>
        <p:txBody>
          <a:bodyPr wrap="square" lIns="0" tIns="0" rIns="0" bIns="0" rtlCol="0" anchor="ctr"/>
          <a:lstStyle/>
          <a:p>
            <a:pPr algn="l" indent="0" marL="0">
              <a:buNone/>
            </a:pPr>
            <a:r>
              <a:rPr lang="en-US" sz="1350" b="1" dirty="0">
                <a:solidFill>
                  <a:srgbClr val="FFFFFF"/>
                </a:solidFill>
                <a:latin typeface="Inter" pitchFamily="34" charset="0"/>
                <a:ea typeface="Inter" pitchFamily="34" charset="-122"/>
                <a:cs typeface="Inter" pitchFamily="34" charset="-120"/>
              </a:rPr>
              <a:t>Pre-seed → seed.</a:t>
            </a:r>
            <a:endParaRPr lang="en-US" sz="1350" dirty="0"/>
          </a:p>
        </p:txBody>
      </p:sp>
      <p:sp>
        <p:nvSpPr>
          <p:cNvPr id="33" name="Text 31"/>
          <p:cNvSpPr/>
          <p:nvPr/>
        </p:nvSpPr>
        <p:spPr>
          <a:xfrm>
            <a:off x="7421728" y="4645152"/>
            <a:ext cx="4038448" cy="228600"/>
          </a:xfrm>
          <a:prstGeom prst="rect">
            <a:avLst/>
          </a:prstGeom>
          <a:noFill/>
          <a:ln/>
        </p:spPr>
        <p:txBody>
          <a:bodyPr wrap="square" lIns="0" tIns="0" rIns="0" bIns="0" rtlCol="0" anchor="t"/>
          <a:lstStyle/>
          <a:p>
            <a:pPr algn="l" indent="0" marL="0">
              <a:buNone/>
            </a:pPr>
            <a:r>
              <a:rPr lang="en-US" sz="1000" dirty="0">
                <a:solidFill>
                  <a:srgbClr val="C7CCE8"/>
                </a:solidFill>
                <a:latin typeface="Inter" pitchFamily="34" charset="0"/>
                <a:ea typeface="Inter" pitchFamily="34" charset="-122"/>
                <a:cs typeface="Inter" pitchFamily="34" charset="-120"/>
              </a:rPr>
              <a:t>If MRR + growth-rate signal hypergrowth.</a:t>
            </a:r>
            <a:endParaRPr lang="en-US" sz="1000" dirty="0"/>
          </a:p>
        </p:txBody>
      </p:sp>
      <p:sp>
        <p:nvSpPr>
          <p:cNvPr id="34" name="Shape 32"/>
          <p:cNvSpPr/>
          <p:nvPr/>
        </p:nvSpPr>
        <p:spPr>
          <a:xfrm>
            <a:off x="6553048" y="4754880"/>
            <a:ext cx="4861408" cy="0"/>
          </a:xfrm>
          <a:prstGeom prst="line">
            <a:avLst/>
          </a:prstGeom>
          <a:noFill/>
          <a:ln w="6350">
            <a:solidFill>
              <a:srgbClr val="26305A"/>
            </a:solidFill>
            <a:prstDash val="solid"/>
          </a:ln>
        </p:spPr>
      </p:sp>
      <p:sp>
        <p:nvSpPr>
          <p:cNvPr id="35" name="Shape 33"/>
          <p:cNvSpPr/>
          <p:nvPr/>
        </p:nvSpPr>
        <p:spPr>
          <a:xfrm>
            <a:off x="6553048" y="4919472"/>
            <a:ext cx="777240" cy="292608"/>
          </a:xfrm>
          <a:prstGeom prst="roundRect">
            <a:avLst>
              <a:gd name="adj" fmla="val 50000"/>
            </a:avLst>
          </a:prstGeom>
          <a:solidFill>
            <a:srgbClr val="5040E5"/>
          </a:solidFill>
          <a:ln/>
        </p:spPr>
      </p:sp>
      <p:sp>
        <p:nvSpPr>
          <p:cNvPr id="36" name="Text 34"/>
          <p:cNvSpPr/>
          <p:nvPr/>
        </p:nvSpPr>
        <p:spPr>
          <a:xfrm>
            <a:off x="6553048" y="4919472"/>
            <a:ext cx="777240" cy="292608"/>
          </a:xfrm>
          <a:prstGeom prst="rect">
            <a:avLst/>
          </a:prstGeom>
          <a:noFill/>
          <a:ln/>
        </p:spPr>
        <p:txBody>
          <a:bodyPr wrap="square" lIns="0" tIns="0" rIns="0" bIns="0" rtlCol="0" anchor="ctr"/>
          <a:lstStyle/>
          <a:p>
            <a:pPr algn="ctr" indent="0" marL="0">
              <a:buNone/>
            </a:pPr>
            <a:r>
              <a:rPr lang="en-US" sz="900" b="1" spc="250" kern="0" dirty="0">
                <a:solidFill>
                  <a:srgbClr val="FFFFFF"/>
                </a:solidFill>
                <a:latin typeface="JetBrains Mono" pitchFamily="34" charset="0"/>
                <a:ea typeface="JetBrains Mono" pitchFamily="34" charset="-122"/>
                <a:cs typeface="JetBrains Mono" pitchFamily="34" charset="-120"/>
              </a:rPr>
              <a:t>ACQUIRE</a:t>
            </a:r>
            <a:endParaRPr lang="en-US" sz="900" dirty="0"/>
          </a:p>
        </p:txBody>
      </p:sp>
      <p:sp>
        <p:nvSpPr>
          <p:cNvPr id="37" name="Text 35"/>
          <p:cNvSpPr/>
          <p:nvPr/>
        </p:nvSpPr>
        <p:spPr>
          <a:xfrm>
            <a:off x="7421728" y="4846320"/>
            <a:ext cx="4038448" cy="274320"/>
          </a:xfrm>
          <a:prstGeom prst="rect">
            <a:avLst/>
          </a:prstGeom>
          <a:noFill/>
          <a:ln/>
        </p:spPr>
        <p:txBody>
          <a:bodyPr wrap="square" lIns="0" tIns="0" rIns="0" bIns="0" rtlCol="0" anchor="ctr"/>
          <a:lstStyle/>
          <a:p>
            <a:pPr algn="l" indent="0" marL="0">
              <a:buNone/>
            </a:pPr>
            <a:r>
              <a:rPr lang="en-US" sz="1350" b="1" dirty="0">
                <a:solidFill>
                  <a:srgbClr val="FFFFFF"/>
                </a:solidFill>
                <a:latin typeface="Inter" pitchFamily="34" charset="0"/>
                <a:ea typeface="Inter" pitchFamily="34" charset="-122"/>
                <a:cs typeface="Inter" pitchFamily="34" charset="-120"/>
              </a:rPr>
              <a:t>Strategic conversations.</a:t>
            </a:r>
            <a:endParaRPr lang="en-US" sz="1350" dirty="0"/>
          </a:p>
        </p:txBody>
      </p:sp>
      <p:sp>
        <p:nvSpPr>
          <p:cNvPr id="38" name="Text 36"/>
          <p:cNvSpPr/>
          <p:nvPr/>
        </p:nvSpPr>
        <p:spPr>
          <a:xfrm>
            <a:off x="7421728" y="5102352"/>
            <a:ext cx="4038448" cy="228600"/>
          </a:xfrm>
          <a:prstGeom prst="rect">
            <a:avLst/>
          </a:prstGeom>
          <a:noFill/>
          <a:ln/>
        </p:spPr>
        <p:txBody>
          <a:bodyPr wrap="square" lIns="0" tIns="0" rIns="0" bIns="0" rtlCol="0" anchor="t"/>
          <a:lstStyle/>
          <a:p>
            <a:pPr algn="l" indent="0" marL="0">
              <a:buNone/>
            </a:pPr>
            <a:r>
              <a:rPr lang="en-US" sz="1000" dirty="0">
                <a:solidFill>
                  <a:srgbClr val="C7CCE8"/>
                </a:solidFill>
                <a:latin typeface="Inter" pitchFamily="34" charset="0"/>
                <a:ea typeface="Inter" pitchFamily="34" charset="-122"/>
                <a:cs typeface="Inter" pitchFamily="34" charset="-120"/>
              </a:rPr>
              <a:t>If a partner / AI lab signals strong interest.</a:t>
            </a:r>
            <a:endParaRPr lang="en-US" sz="1000" dirty="0"/>
          </a:p>
        </p:txBody>
      </p:sp>
      <p:sp>
        <p:nvSpPr>
          <p:cNvPr id="39" name="Shape 37"/>
          <p:cNvSpPr/>
          <p:nvPr/>
        </p:nvSpPr>
        <p:spPr>
          <a:xfrm>
            <a:off x="6553048" y="5212080"/>
            <a:ext cx="4861408" cy="0"/>
          </a:xfrm>
          <a:prstGeom prst="line">
            <a:avLst/>
          </a:prstGeom>
          <a:noFill/>
          <a:ln w="6350">
            <a:solidFill>
              <a:srgbClr val="26305A"/>
            </a:solidFill>
            <a:prstDash val="solid"/>
          </a:ln>
        </p:spPr>
      </p:sp>
      <p:sp>
        <p:nvSpPr>
          <p:cNvPr id="40" name="Shape 38"/>
          <p:cNvSpPr/>
          <p:nvPr/>
        </p:nvSpPr>
        <p:spPr>
          <a:xfrm>
            <a:off x="6553048" y="5376672"/>
            <a:ext cx="777240" cy="292608"/>
          </a:xfrm>
          <a:prstGeom prst="roundRect">
            <a:avLst>
              <a:gd name="adj" fmla="val 50000"/>
            </a:avLst>
          </a:prstGeom>
          <a:solidFill>
            <a:srgbClr val="5040E5"/>
          </a:solidFill>
          <a:ln/>
        </p:spPr>
      </p:sp>
      <p:sp>
        <p:nvSpPr>
          <p:cNvPr id="41" name="Text 39"/>
          <p:cNvSpPr/>
          <p:nvPr/>
        </p:nvSpPr>
        <p:spPr>
          <a:xfrm>
            <a:off x="6553048" y="5376672"/>
            <a:ext cx="777240" cy="292608"/>
          </a:xfrm>
          <a:prstGeom prst="rect">
            <a:avLst/>
          </a:prstGeom>
          <a:noFill/>
          <a:ln/>
        </p:spPr>
        <p:txBody>
          <a:bodyPr wrap="square" lIns="0" tIns="0" rIns="0" bIns="0" rtlCol="0" anchor="ctr"/>
          <a:lstStyle/>
          <a:p>
            <a:pPr algn="ctr" indent="0" marL="0">
              <a:buNone/>
            </a:pPr>
            <a:r>
              <a:rPr lang="en-US" sz="900" b="1" spc="250" kern="0" dirty="0">
                <a:solidFill>
                  <a:srgbClr val="FFFFFF"/>
                </a:solidFill>
                <a:latin typeface="JetBrains Mono" pitchFamily="34" charset="0"/>
                <a:ea typeface="JetBrains Mono" pitchFamily="34" charset="-122"/>
                <a:cs typeface="JetBrains Mono" pitchFamily="34" charset="-120"/>
              </a:rPr>
              <a:t>RUN LEAN</a:t>
            </a:r>
            <a:endParaRPr lang="en-US" sz="900" dirty="0"/>
          </a:p>
        </p:txBody>
      </p:sp>
      <p:sp>
        <p:nvSpPr>
          <p:cNvPr id="42" name="Text 40"/>
          <p:cNvSpPr/>
          <p:nvPr/>
        </p:nvSpPr>
        <p:spPr>
          <a:xfrm>
            <a:off x="7421728" y="5303520"/>
            <a:ext cx="4038448" cy="274320"/>
          </a:xfrm>
          <a:prstGeom prst="rect">
            <a:avLst/>
          </a:prstGeom>
          <a:noFill/>
          <a:ln/>
        </p:spPr>
        <p:txBody>
          <a:bodyPr wrap="square" lIns="0" tIns="0" rIns="0" bIns="0" rtlCol="0" anchor="ctr"/>
          <a:lstStyle/>
          <a:p>
            <a:pPr algn="l" indent="0" marL="0">
              <a:buNone/>
            </a:pPr>
            <a:r>
              <a:rPr lang="en-US" sz="1350" b="1" dirty="0">
                <a:solidFill>
                  <a:srgbClr val="FFFFFF"/>
                </a:solidFill>
                <a:latin typeface="Inter" pitchFamily="34" charset="0"/>
                <a:ea typeface="Inter" pitchFamily="34" charset="-122"/>
                <a:cs typeface="Inter" pitchFamily="34" charset="-120"/>
              </a:rPr>
              <a:t>Founder-led, no team.</a:t>
            </a:r>
            <a:endParaRPr lang="en-US" sz="1350" dirty="0"/>
          </a:p>
        </p:txBody>
      </p:sp>
      <p:sp>
        <p:nvSpPr>
          <p:cNvPr id="43" name="Text 41"/>
          <p:cNvSpPr/>
          <p:nvPr/>
        </p:nvSpPr>
        <p:spPr>
          <a:xfrm>
            <a:off x="7421728" y="5559552"/>
            <a:ext cx="4038448" cy="228600"/>
          </a:xfrm>
          <a:prstGeom prst="rect">
            <a:avLst/>
          </a:prstGeom>
          <a:noFill/>
          <a:ln/>
        </p:spPr>
        <p:txBody>
          <a:bodyPr wrap="square" lIns="0" tIns="0" rIns="0" bIns="0" rtlCol="0" anchor="t"/>
          <a:lstStyle/>
          <a:p>
            <a:pPr algn="l" indent="0" marL="0">
              <a:buNone/>
            </a:pPr>
            <a:r>
              <a:rPr lang="en-US" sz="1000" dirty="0">
                <a:solidFill>
                  <a:srgbClr val="C7CCE8"/>
                </a:solidFill>
                <a:latin typeface="Inter" pitchFamily="34" charset="0"/>
                <a:ea typeface="Inter" pitchFamily="34" charset="-122"/>
                <a:cs typeface="Inter" pitchFamily="34" charset="-120"/>
              </a:rPr>
              <a:t>If economics work but growth is steady, not vertical.</a:t>
            </a:r>
            <a:endParaRPr lang="en-US" sz="1000" dirty="0"/>
          </a:p>
        </p:txBody>
      </p:sp>
      <p:sp>
        <p:nvSpPr>
          <p:cNvPr id="44" name="Text 42"/>
          <p:cNvSpPr/>
          <p:nvPr/>
        </p:nvSpPr>
        <p:spPr>
          <a:xfrm>
            <a:off x="502920" y="6035040"/>
            <a:ext cx="11185855" cy="228600"/>
          </a:xfrm>
          <a:prstGeom prst="rect">
            <a:avLst/>
          </a:prstGeom>
          <a:noFill/>
          <a:ln/>
        </p:spPr>
        <p:txBody>
          <a:bodyPr wrap="square" rtlCol="0" anchor="ctr"/>
          <a:lstStyle/>
          <a:p>
            <a:pPr algn="l" indent="0" marL="0">
              <a:buNone/>
            </a:pPr>
            <a:r>
              <a:rPr lang="en-US" sz="1100" b="1" spc="300" kern="0" dirty="0">
                <a:solidFill>
                  <a:srgbClr val="5040E5"/>
                </a:solidFill>
                <a:latin typeface="JetBrains Mono" pitchFamily="34" charset="0"/>
                <a:ea typeface="JetBrains Mono" pitchFamily="34" charset="-122"/>
                <a:cs typeface="JetBrains Mono" pitchFamily="34" charset="-120"/>
              </a:rPr>
              <a:t>GATE  ·  </a:t>
            </a:r>
            <a:pPr algn="l" indent="0" marL="0">
              <a:buNone/>
            </a:pPr>
            <a:r>
              <a:rPr lang="en-US" sz="1100" dirty="0">
                <a:solidFill>
                  <a:srgbClr val="475569"/>
                </a:solidFill>
                <a:latin typeface="Inter" pitchFamily="34" charset="0"/>
                <a:ea typeface="Inter" pitchFamily="34" charset="-122"/>
                <a:cs typeface="Inter" pitchFamily="34" charset="-120"/>
              </a:rPr>
              <a:t>If check 01 misses, paid spend pauses. The M6 decision is a fork, not a default.</a:t>
            </a:r>
            <a:endParaRPr lang="en-US" sz="1100" dirty="0"/>
          </a:p>
        </p:txBody>
      </p:sp>
      <p:sp>
        <p:nvSpPr>
          <p:cNvPr id="45" name="Shape 43"/>
          <p:cNvSpPr/>
          <p:nvPr/>
        </p:nvSpPr>
        <p:spPr>
          <a:xfrm>
            <a:off x="502920" y="6263640"/>
            <a:ext cx="11185855" cy="0"/>
          </a:xfrm>
          <a:prstGeom prst="line">
            <a:avLst/>
          </a:prstGeom>
          <a:noFill/>
          <a:ln w="6350">
            <a:solidFill>
              <a:srgbClr val="E2E0F0"/>
            </a:solidFill>
            <a:prstDash val="solid"/>
          </a:ln>
        </p:spPr>
      </p:sp>
      <p:sp>
        <p:nvSpPr>
          <p:cNvPr id="46" name="Text 44"/>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47" name="Text 45"/>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15  /  28</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16  ·  REVENUE + EBITDA</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MRR + EBITDA. </a:t>
            </a:r>
            <a:pPr algn="l" indent="0" marL="0">
              <a:buNone/>
            </a:pPr>
            <a:r>
              <a:rPr lang="en-US" sz="3600" b="1" dirty="0">
                <a:solidFill>
                  <a:srgbClr val="5040E5"/>
                </a:solidFill>
                <a:latin typeface="Inter" pitchFamily="34" charset="0"/>
                <a:ea typeface="Inter" pitchFamily="34" charset="-122"/>
                <a:cs typeface="Inter" pitchFamily="34" charset="-120"/>
              </a:rPr>
              <a:t>Two sprint scenarios.</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Identical axes. Revenue and EBITDA on each. The base case is profitable from ~M6; the upside case has the same shape, taller.</a:t>
            </a:r>
            <a:endParaRPr lang="en-US" sz="1550" dirty="0"/>
          </a:p>
        </p:txBody>
      </p:sp>
      <p:sp>
        <p:nvSpPr>
          <p:cNvPr id="9" name="Shape 7"/>
          <p:cNvSpPr/>
          <p:nvPr/>
        </p:nvSpPr>
        <p:spPr>
          <a:xfrm>
            <a:off x="502920" y="2560320"/>
            <a:ext cx="5410048" cy="2606040"/>
          </a:xfrm>
          <a:prstGeom prst="roundRect">
            <a:avLst>
              <a:gd name="adj" fmla="val 4211"/>
            </a:avLst>
          </a:prstGeom>
          <a:solidFill>
            <a:srgbClr val="FFFFFF"/>
          </a:solidFill>
          <a:ln w="9525">
            <a:solidFill>
              <a:srgbClr val="E2E0F0"/>
            </a:solidFill>
            <a:prstDash val="solid"/>
          </a:ln>
        </p:spPr>
      </p:sp>
      <p:sp>
        <p:nvSpPr>
          <p:cNvPr id="10" name="Text 8"/>
          <p:cNvSpPr/>
          <p:nvPr/>
        </p:nvSpPr>
        <p:spPr>
          <a:xfrm>
            <a:off x="777240" y="2743200"/>
            <a:ext cx="4861408" cy="274320"/>
          </a:xfrm>
          <a:prstGeom prst="rect">
            <a:avLst/>
          </a:prstGeom>
          <a:noFill/>
          <a:ln/>
        </p:spPr>
        <p:txBody>
          <a:bodyPr wrap="square" lIns="0" tIns="0" rIns="0" bIns="0" rtlCol="0" anchor="ctr"/>
          <a:lstStyle/>
          <a:p>
            <a:pPr algn="l" indent="0" marL="0">
              <a:buNone/>
            </a:pPr>
            <a:r>
              <a:rPr lang="en-US" sz="1050" spc="300" kern="0" dirty="0">
                <a:solidFill>
                  <a:srgbClr val="94A3B8"/>
                </a:solidFill>
                <a:latin typeface="JetBrains Mono" pitchFamily="34" charset="0"/>
                <a:ea typeface="JetBrains Mono" pitchFamily="34" charset="-122"/>
                <a:cs typeface="JetBrains Mono" pitchFamily="34" charset="-120"/>
              </a:rPr>
              <a:t>SPRINT BASE  ·  M0–M18</a:t>
            </a:r>
            <a:endParaRPr lang="en-US" sz="1050" dirty="0"/>
          </a:p>
        </p:txBody>
      </p:sp>
      <p:sp>
        <p:nvSpPr>
          <p:cNvPr id="11" name="Shape 9"/>
          <p:cNvSpPr/>
          <p:nvPr/>
        </p:nvSpPr>
        <p:spPr>
          <a:xfrm>
            <a:off x="1143000" y="4709160"/>
            <a:ext cx="4541368" cy="0"/>
          </a:xfrm>
          <a:prstGeom prst="line">
            <a:avLst/>
          </a:prstGeom>
          <a:noFill/>
          <a:ln w="5080">
            <a:solidFill>
              <a:srgbClr val="EAE7F5"/>
            </a:solidFill>
            <a:prstDash val="solid"/>
          </a:ln>
        </p:spPr>
      </p:sp>
      <p:sp>
        <p:nvSpPr>
          <p:cNvPr id="12" name="Text 10"/>
          <p:cNvSpPr/>
          <p:nvPr/>
        </p:nvSpPr>
        <p:spPr>
          <a:xfrm>
            <a:off x="640080" y="4590288"/>
            <a:ext cx="475488" cy="237744"/>
          </a:xfrm>
          <a:prstGeom prst="rect">
            <a:avLst/>
          </a:prstGeom>
          <a:noFill/>
          <a:ln/>
        </p:spPr>
        <p:txBody>
          <a:bodyPr wrap="square" lIns="0" tIns="0" rIns="0" bIns="0" rtlCol="0" anchor="ctr"/>
          <a:lstStyle/>
          <a:p>
            <a:pPr algn="r" indent="0" marL="0">
              <a:buNone/>
            </a:pPr>
            <a:r>
              <a:rPr lang="en-US" sz="800" dirty="0">
                <a:solidFill>
                  <a:srgbClr val="94A3B8"/>
                </a:solidFill>
                <a:latin typeface="JetBrains Mono" pitchFamily="34" charset="0"/>
                <a:ea typeface="JetBrains Mono" pitchFamily="34" charset="-122"/>
                <a:cs typeface="JetBrains Mono" pitchFamily="34" charset="-120"/>
              </a:rPr>
              <a:t>£0K</a:t>
            </a:r>
            <a:endParaRPr lang="en-US" sz="800" dirty="0"/>
          </a:p>
        </p:txBody>
      </p:sp>
      <p:sp>
        <p:nvSpPr>
          <p:cNvPr id="13" name="Shape 11"/>
          <p:cNvSpPr/>
          <p:nvPr/>
        </p:nvSpPr>
        <p:spPr>
          <a:xfrm>
            <a:off x="1143000" y="4331970"/>
            <a:ext cx="4541368" cy="0"/>
          </a:xfrm>
          <a:prstGeom prst="line">
            <a:avLst/>
          </a:prstGeom>
          <a:noFill/>
          <a:ln w="5080">
            <a:solidFill>
              <a:srgbClr val="EAE7F5"/>
            </a:solidFill>
            <a:prstDash val="solid"/>
          </a:ln>
        </p:spPr>
      </p:sp>
      <p:sp>
        <p:nvSpPr>
          <p:cNvPr id="14" name="Text 12"/>
          <p:cNvSpPr/>
          <p:nvPr/>
        </p:nvSpPr>
        <p:spPr>
          <a:xfrm>
            <a:off x="640080" y="4213098"/>
            <a:ext cx="475488" cy="237744"/>
          </a:xfrm>
          <a:prstGeom prst="rect">
            <a:avLst/>
          </a:prstGeom>
          <a:noFill/>
          <a:ln/>
        </p:spPr>
        <p:txBody>
          <a:bodyPr wrap="square" lIns="0" tIns="0" rIns="0" bIns="0" rtlCol="0" anchor="ctr"/>
          <a:lstStyle/>
          <a:p>
            <a:pPr algn="r" indent="0" marL="0">
              <a:buNone/>
            </a:pPr>
            <a:r>
              <a:rPr lang="en-US" sz="800" dirty="0">
                <a:solidFill>
                  <a:srgbClr val="94A3B8"/>
                </a:solidFill>
                <a:latin typeface="JetBrains Mono" pitchFamily="34" charset="0"/>
                <a:ea typeface="JetBrains Mono" pitchFamily="34" charset="-122"/>
                <a:cs typeface="JetBrains Mono" pitchFamily="34" charset="-120"/>
              </a:rPr>
              <a:t>£100K</a:t>
            </a:r>
            <a:endParaRPr lang="en-US" sz="800" dirty="0"/>
          </a:p>
        </p:txBody>
      </p:sp>
      <p:sp>
        <p:nvSpPr>
          <p:cNvPr id="15" name="Shape 13"/>
          <p:cNvSpPr/>
          <p:nvPr/>
        </p:nvSpPr>
        <p:spPr>
          <a:xfrm>
            <a:off x="1143000" y="3954780"/>
            <a:ext cx="4541368" cy="0"/>
          </a:xfrm>
          <a:prstGeom prst="line">
            <a:avLst/>
          </a:prstGeom>
          <a:noFill/>
          <a:ln w="5080">
            <a:solidFill>
              <a:srgbClr val="EAE7F5"/>
            </a:solidFill>
            <a:prstDash val="solid"/>
          </a:ln>
        </p:spPr>
      </p:sp>
      <p:sp>
        <p:nvSpPr>
          <p:cNvPr id="16" name="Text 14"/>
          <p:cNvSpPr/>
          <p:nvPr/>
        </p:nvSpPr>
        <p:spPr>
          <a:xfrm>
            <a:off x="640080" y="3835908"/>
            <a:ext cx="475488" cy="237744"/>
          </a:xfrm>
          <a:prstGeom prst="rect">
            <a:avLst/>
          </a:prstGeom>
          <a:noFill/>
          <a:ln/>
        </p:spPr>
        <p:txBody>
          <a:bodyPr wrap="square" lIns="0" tIns="0" rIns="0" bIns="0" rtlCol="0" anchor="ctr"/>
          <a:lstStyle/>
          <a:p>
            <a:pPr algn="r" indent="0" marL="0">
              <a:buNone/>
            </a:pPr>
            <a:r>
              <a:rPr lang="en-US" sz="800" dirty="0">
                <a:solidFill>
                  <a:srgbClr val="94A3B8"/>
                </a:solidFill>
                <a:latin typeface="JetBrains Mono" pitchFamily="34" charset="0"/>
                <a:ea typeface="JetBrains Mono" pitchFamily="34" charset="-122"/>
                <a:cs typeface="JetBrains Mono" pitchFamily="34" charset="-120"/>
              </a:rPr>
              <a:t>£200K</a:t>
            </a:r>
            <a:endParaRPr lang="en-US" sz="800" dirty="0"/>
          </a:p>
        </p:txBody>
      </p:sp>
      <p:sp>
        <p:nvSpPr>
          <p:cNvPr id="17" name="Shape 15"/>
          <p:cNvSpPr/>
          <p:nvPr/>
        </p:nvSpPr>
        <p:spPr>
          <a:xfrm>
            <a:off x="1143000" y="3577590"/>
            <a:ext cx="4541368" cy="0"/>
          </a:xfrm>
          <a:prstGeom prst="line">
            <a:avLst/>
          </a:prstGeom>
          <a:noFill/>
          <a:ln w="5080">
            <a:solidFill>
              <a:srgbClr val="EAE7F5"/>
            </a:solidFill>
            <a:prstDash val="solid"/>
          </a:ln>
        </p:spPr>
      </p:sp>
      <p:sp>
        <p:nvSpPr>
          <p:cNvPr id="18" name="Text 16"/>
          <p:cNvSpPr/>
          <p:nvPr/>
        </p:nvSpPr>
        <p:spPr>
          <a:xfrm>
            <a:off x="640080" y="3458718"/>
            <a:ext cx="475488" cy="237744"/>
          </a:xfrm>
          <a:prstGeom prst="rect">
            <a:avLst/>
          </a:prstGeom>
          <a:noFill/>
          <a:ln/>
        </p:spPr>
        <p:txBody>
          <a:bodyPr wrap="square" lIns="0" tIns="0" rIns="0" bIns="0" rtlCol="0" anchor="ctr"/>
          <a:lstStyle/>
          <a:p>
            <a:pPr algn="r" indent="0" marL="0">
              <a:buNone/>
            </a:pPr>
            <a:r>
              <a:rPr lang="en-US" sz="800" dirty="0">
                <a:solidFill>
                  <a:srgbClr val="94A3B8"/>
                </a:solidFill>
                <a:latin typeface="JetBrains Mono" pitchFamily="34" charset="0"/>
                <a:ea typeface="JetBrains Mono" pitchFamily="34" charset="-122"/>
                <a:cs typeface="JetBrains Mono" pitchFamily="34" charset="-120"/>
              </a:rPr>
              <a:t>£300K</a:t>
            </a:r>
            <a:endParaRPr lang="en-US" sz="800" dirty="0"/>
          </a:p>
        </p:txBody>
      </p:sp>
      <p:sp>
        <p:nvSpPr>
          <p:cNvPr id="19" name="Shape 17"/>
          <p:cNvSpPr/>
          <p:nvPr/>
        </p:nvSpPr>
        <p:spPr>
          <a:xfrm>
            <a:off x="1143000" y="3200400"/>
            <a:ext cx="4541368" cy="0"/>
          </a:xfrm>
          <a:prstGeom prst="line">
            <a:avLst/>
          </a:prstGeom>
          <a:noFill/>
          <a:ln w="5080">
            <a:solidFill>
              <a:srgbClr val="EAE7F5"/>
            </a:solidFill>
            <a:prstDash val="solid"/>
          </a:ln>
        </p:spPr>
      </p:sp>
      <p:sp>
        <p:nvSpPr>
          <p:cNvPr id="20" name="Text 18"/>
          <p:cNvSpPr/>
          <p:nvPr/>
        </p:nvSpPr>
        <p:spPr>
          <a:xfrm>
            <a:off x="640080" y="3081528"/>
            <a:ext cx="475488" cy="237744"/>
          </a:xfrm>
          <a:prstGeom prst="rect">
            <a:avLst/>
          </a:prstGeom>
          <a:noFill/>
          <a:ln/>
        </p:spPr>
        <p:txBody>
          <a:bodyPr wrap="square" lIns="0" tIns="0" rIns="0" bIns="0" rtlCol="0" anchor="ctr"/>
          <a:lstStyle/>
          <a:p>
            <a:pPr algn="r" indent="0" marL="0">
              <a:buNone/>
            </a:pPr>
            <a:r>
              <a:rPr lang="en-US" sz="800" dirty="0">
                <a:solidFill>
                  <a:srgbClr val="94A3B8"/>
                </a:solidFill>
                <a:latin typeface="JetBrains Mono" pitchFamily="34" charset="0"/>
                <a:ea typeface="JetBrains Mono" pitchFamily="34" charset="-122"/>
                <a:cs typeface="JetBrains Mono" pitchFamily="34" charset="-120"/>
              </a:rPr>
              <a:t>£400K</a:t>
            </a:r>
            <a:endParaRPr lang="en-US" sz="800" dirty="0"/>
          </a:p>
        </p:txBody>
      </p:sp>
      <p:sp>
        <p:nvSpPr>
          <p:cNvPr id="21" name="Shape 19"/>
          <p:cNvSpPr/>
          <p:nvPr/>
        </p:nvSpPr>
        <p:spPr>
          <a:xfrm>
            <a:off x="1143000" y="4700440"/>
            <a:ext cx="252298" cy="-4824"/>
          </a:xfrm>
          <a:prstGeom prst="line">
            <a:avLst/>
          </a:prstGeom>
          <a:noFill/>
          <a:ln w="28575">
            <a:solidFill>
              <a:srgbClr val="5040E5"/>
            </a:solidFill>
            <a:prstDash val="solid"/>
          </a:ln>
        </p:spPr>
      </p:sp>
      <p:sp>
        <p:nvSpPr>
          <p:cNvPr id="22" name="Shape 20"/>
          <p:cNvSpPr/>
          <p:nvPr/>
        </p:nvSpPr>
        <p:spPr>
          <a:xfrm>
            <a:off x="1395298" y="4695617"/>
            <a:ext cx="252298" cy="-7381"/>
          </a:xfrm>
          <a:prstGeom prst="line">
            <a:avLst/>
          </a:prstGeom>
          <a:noFill/>
          <a:ln w="28575">
            <a:solidFill>
              <a:srgbClr val="5040E5"/>
            </a:solidFill>
            <a:prstDash val="solid"/>
          </a:ln>
        </p:spPr>
      </p:sp>
      <p:sp>
        <p:nvSpPr>
          <p:cNvPr id="23" name="Shape 21"/>
          <p:cNvSpPr/>
          <p:nvPr/>
        </p:nvSpPr>
        <p:spPr>
          <a:xfrm>
            <a:off x="1647596" y="4688236"/>
            <a:ext cx="252298" cy="-11142"/>
          </a:xfrm>
          <a:prstGeom prst="line">
            <a:avLst/>
          </a:prstGeom>
          <a:noFill/>
          <a:ln w="28575">
            <a:solidFill>
              <a:srgbClr val="5040E5"/>
            </a:solidFill>
            <a:prstDash val="solid"/>
          </a:ln>
        </p:spPr>
      </p:sp>
      <p:sp>
        <p:nvSpPr>
          <p:cNvPr id="24" name="Shape 22"/>
          <p:cNvSpPr/>
          <p:nvPr/>
        </p:nvSpPr>
        <p:spPr>
          <a:xfrm>
            <a:off x="1899895" y="4677094"/>
            <a:ext cx="252298" cy="-16486"/>
          </a:xfrm>
          <a:prstGeom prst="line">
            <a:avLst/>
          </a:prstGeom>
          <a:noFill/>
          <a:ln w="28575">
            <a:solidFill>
              <a:srgbClr val="5040E5"/>
            </a:solidFill>
            <a:prstDash val="solid"/>
          </a:ln>
        </p:spPr>
      </p:sp>
      <p:sp>
        <p:nvSpPr>
          <p:cNvPr id="25" name="Shape 23"/>
          <p:cNvSpPr/>
          <p:nvPr/>
        </p:nvSpPr>
        <p:spPr>
          <a:xfrm>
            <a:off x="2152193" y="4660607"/>
            <a:ext cx="252298" cy="-23679"/>
          </a:xfrm>
          <a:prstGeom prst="line">
            <a:avLst/>
          </a:prstGeom>
          <a:noFill/>
          <a:ln w="28575">
            <a:solidFill>
              <a:srgbClr val="5040E5"/>
            </a:solidFill>
            <a:prstDash val="solid"/>
          </a:ln>
        </p:spPr>
      </p:sp>
      <p:sp>
        <p:nvSpPr>
          <p:cNvPr id="26" name="Shape 24"/>
          <p:cNvSpPr/>
          <p:nvPr/>
        </p:nvSpPr>
        <p:spPr>
          <a:xfrm>
            <a:off x="2404491" y="4636929"/>
            <a:ext cx="252298" cy="-32599"/>
          </a:xfrm>
          <a:prstGeom prst="line">
            <a:avLst/>
          </a:prstGeom>
          <a:noFill/>
          <a:ln w="28575">
            <a:solidFill>
              <a:srgbClr val="5040E5"/>
            </a:solidFill>
            <a:prstDash val="solid"/>
          </a:ln>
        </p:spPr>
      </p:sp>
      <p:sp>
        <p:nvSpPr>
          <p:cNvPr id="27" name="Shape 25"/>
          <p:cNvSpPr/>
          <p:nvPr/>
        </p:nvSpPr>
        <p:spPr>
          <a:xfrm>
            <a:off x="2656789" y="4604329"/>
            <a:ext cx="252298" cy="-42356"/>
          </a:xfrm>
          <a:prstGeom prst="line">
            <a:avLst/>
          </a:prstGeom>
          <a:noFill/>
          <a:ln w="28575">
            <a:solidFill>
              <a:srgbClr val="5040E5"/>
            </a:solidFill>
            <a:prstDash val="solid"/>
          </a:ln>
        </p:spPr>
      </p:sp>
      <p:sp>
        <p:nvSpPr>
          <p:cNvPr id="28" name="Shape 26"/>
          <p:cNvSpPr/>
          <p:nvPr/>
        </p:nvSpPr>
        <p:spPr>
          <a:xfrm>
            <a:off x="2909087" y="4561974"/>
            <a:ext cx="252298" cy="-51079"/>
          </a:xfrm>
          <a:prstGeom prst="line">
            <a:avLst/>
          </a:prstGeom>
          <a:noFill/>
          <a:ln w="28575">
            <a:solidFill>
              <a:srgbClr val="5040E5"/>
            </a:solidFill>
            <a:prstDash val="solid"/>
          </a:ln>
        </p:spPr>
      </p:sp>
      <p:sp>
        <p:nvSpPr>
          <p:cNvPr id="29" name="Shape 27"/>
          <p:cNvSpPr/>
          <p:nvPr/>
        </p:nvSpPr>
        <p:spPr>
          <a:xfrm>
            <a:off x="3161386" y="4510895"/>
            <a:ext cx="252298" cy="-56338"/>
          </a:xfrm>
          <a:prstGeom prst="line">
            <a:avLst/>
          </a:prstGeom>
          <a:noFill/>
          <a:ln w="28575">
            <a:solidFill>
              <a:srgbClr val="5040E5"/>
            </a:solidFill>
            <a:prstDash val="solid"/>
          </a:ln>
        </p:spPr>
      </p:sp>
      <p:sp>
        <p:nvSpPr>
          <p:cNvPr id="30" name="Shape 28"/>
          <p:cNvSpPr/>
          <p:nvPr/>
        </p:nvSpPr>
        <p:spPr>
          <a:xfrm>
            <a:off x="3413684" y="4454557"/>
            <a:ext cx="252298" cy="-56338"/>
          </a:xfrm>
          <a:prstGeom prst="line">
            <a:avLst/>
          </a:prstGeom>
          <a:noFill/>
          <a:ln w="28575">
            <a:solidFill>
              <a:srgbClr val="5040E5"/>
            </a:solidFill>
            <a:prstDash val="solid"/>
          </a:ln>
        </p:spPr>
      </p:sp>
      <p:sp>
        <p:nvSpPr>
          <p:cNvPr id="31" name="Shape 29"/>
          <p:cNvSpPr/>
          <p:nvPr/>
        </p:nvSpPr>
        <p:spPr>
          <a:xfrm>
            <a:off x="3665982" y="4398219"/>
            <a:ext cx="252298" cy="-51079"/>
          </a:xfrm>
          <a:prstGeom prst="line">
            <a:avLst/>
          </a:prstGeom>
          <a:noFill/>
          <a:ln w="28575">
            <a:solidFill>
              <a:srgbClr val="5040E5"/>
            </a:solidFill>
            <a:prstDash val="solid"/>
          </a:ln>
        </p:spPr>
      </p:sp>
      <p:sp>
        <p:nvSpPr>
          <p:cNvPr id="32" name="Shape 30"/>
          <p:cNvSpPr/>
          <p:nvPr/>
        </p:nvSpPr>
        <p:spPr>
          <a:xfrm>
            <a:off x="3918280" y="4347140"/>
            <a:ext cx="252298" cy="-42356"/>
          </a:xfrm>
          <a:prstGeom prst="line">
            <a:avLst/>
          </a:prstGeom>
          <a:noFill/>
          <a:ln w="28575">
            <a:solidFill>
              <a:srgbClr val="5040E5"/>
            </a:solidFill>
            <a:prstDash val="solid"/>
          </a:ln>
        </p:spPr>
      </p:sp>
      <p:sp>
        <p:nvSpPr>
          <p:cNvPr id="33" name="Shape 31"/>
          <p:cNvSpPr/>
          <p:nvPr/>
        </p:nvSpPr>
        <p:spPr>
          <a:xfrm>
            <a:off x="4170578" y="4304784"/>
            <a:ext cx="252298" cy="-32599"/>
          </a:xfrm>
          <a:prstGeom prst="line">
            <a:avLst/>
          </a:prstGeom>
          <a:noFill/>
          <a:ln w="28575">
            <a:solidFill>
              <a:srgbClr val="5040E5"/>
            </a:solidFill>
            <a:prstDash val="solid"/>
          </a:ln>
        </p:spPr>
      </p:sp>
      <p:sp>
        <p:nvSpPr>
          <p:cNvPr id="34" name="Shape 32"/>
          <p:cNvSpPr/>
          <p:nvPr/>
        </p:nvSpPr>
        <p:spPr>
          <a:xfrm>
            <a:off x="4422877" y="4272185"/>
            <a:ext cx="252298" cy="-23679"/>
          </a:xfrm>
          <a:prstGeom prst="line">
            <a:avLst/>
          </a:prstGeom>
          <a:noFill/>
          <a:ln w="28575">
            <a:solidFill>
              <a:srgbClr val="5040E5"/>
            </a:solidFill>
            <a:prstDash val="solid"/>
          </a:ln>
        </p:spPr>
      </p:sp>
      <p:sp>
        <p:nvSpPr>
          <p:cNvPr id="35" name="Shape 33"/>
          <p:cNvSpPr/>
          <p:nvPr/>
        </p:nvSpPr>
        <p:spPr>
          <a:xfrm>
            <a:off x="4675175" y="4248506"/>
            <a:ext cx="252298" cy="-16486"/>
          </a:xfrm>
          <a:prstGeom prst="line">
            <a:avLst/>
          </a:prstGeom>
          <a:noFill/>
          <a:ln w="28575">
            <a:solidFill>
              <a:srgbClr val="5040E5"/>
            </a:solidFill>
            <a:prstDash val="solid"/>
          </a:ln>
        </p:spPr>
      </p:sp>
      <p:sp>
        <p:nvSpPr>
          <p:cNvPr id="36" name="Shape 34"/>
          <p:cNvSpPr/>
          <p:nvPr/>
        </p:nvSpPr>
        <p:spPr>
          <a:xfrm>
            <a:off x="4927473" y="4232020"/>
            <a:ext cx="252298" cy="-11142"/>
          </a:xfrm>
          <a:prstGeom prst="line">
            <a:avLst/>
          </a:prstGeom>
          <a:noFill/>
          <a:ln w="28575">
            <a:solidFill>
              <a:srgbClr val="5040E5"/>
            </a:solidFill>
            <a:prstDash val="solid"/>
          </a:ln>
        </p:spPr>
      </p:sp>
      <p:sp>
        <p:nvSpPr>
          <p:cNvPr id="37" name="Shape 35"/>
          <p:cNvSpPr/>
          <p:nvPr/>
        </p:nvSpPr>
        <p:spPr>
          <a:xfrm>
            <a:off x="5179771" y="4220877"/>
            <a:ext cx="252298" cy="-7381"/>
          </a:xfrm>
          <a:prstGeom prst="line">
            <a:avLst/>
          </a:prstGeom>
          <a:noFill/>
          <a:ln w="28575">
            <a:solidFill>
              <a:srgbClr val="5040E5"/>
            </a:solidFill>
            <a:prstDash val="solid"/>
          </a:ln>
        </p:spPr>
      </p:sp>
      <p:sp>
        <p:nvSpPr>
          <p:cNvPr id="38" name="Shape 36"/>
          <p:cNvSpPr/>
          <p:nvPr/>
        </p:nvSpPr>
        <p:spPr>
          <a:xfrm>
            <a:off x="5432069" y="4213497"/>
            <a:ext cx="252298" cy="-4824"/>
          </a:xfrm>
          <a:prstGeom prst="line">
            <a:avLst/>
          </a:prstGeom>
          <a:noFill/>
          <a:ln w="28575">
            <a:solidFill>
              <a:srgbClr val="5040E5"/>
            </a:solidFill>
            <a:prstDash val="solid"/>
          </a:ln>
        </p:spPr>
      </p:sp>
      <p:sp>
        <p:nvSpPr>
          <p:cNvPr id="39" name="Shape 37"/>
          <p:cNvSpPr/>
          <p:nvPr/>
        </p:nvSpPr>
        <p:spPr>
          <a:xfrm>
            <a:off x="5620360" y="4144665"/>
            <a:ext cx="128016" cy="128016"/>
          </a:xfrm>
          <a:prstGeom prst="ellipse">
            <a:avLst/>
          </a:prstGeom>
          <a:solidFill>
            <a:srgbClr val="5040E5"/>
          </a:solidFill>
          <a:ln/>
        </p:spPr>
      </p:sp>
      <p:sp>
        <p:nvSpPr>
          <p:cNvPr id="40" name="Shape 38"/>
          <p:cNvSpPr/>
          <p:nvPr/>
        </p:nvSpPr>
        <p:spPr>
          <a:xfrm>
            <a:off x="1143000" y="4707351"/>
            <a:ext cx="252298" cy="-1000"/>
          </a:xfrm>
          <a:prstGeom prst="line">
            <a:avLst/>
          </a:prstGeom>
          <a:noFill/>
          <a:ln w="22225">
            <a:solidFill>
              <a:srgbClr val="10B981"/>
            </a:solidFill>
            <a:prstDash val="solid"/>
          </a:ln>
        </p:spPr>
      </p:sp>
      <p:sp>
        <p:nvSpPr>
          <p:cNvPr id="41" name="Shape 39"/>
          <p:cNvSpPr/>
          <p:nvPr/>
        </p:nvSpPr>
        <p:spPr>
          <a:xfrm>
            <a:off x="1395298" y="4706351"/>
            <a:ext cx="252298" cy="-1531"/>
          </a:xfrm>
          <a:prstGeom prst="line">
            <a:avLst/>
          </a:prstGeom>
          <a:noFill/>
          <a:ln w="22225">
            <a:solidFill>
              <a:srgbClr val="10B981"/>
            </a:solidFill>
            <a:prstDash val="solid"/>
          </a:ln>
        </p:spPr>
      </p:sp>
      <p:sp>
        <p:nvSpPr>
          <p:cNvPr id="42" name="Shape 40"/>
          <p:cNvSpPr/>
          <p:nvPr/>
        </p:nvSpPr>
        <p:spPr>
          <a:xfrm>
            <a:off x="1647596" y="4704820"/>
            <a:ext cx="252298" cy="-2311"/>
          </a:xfrm>
          <a:prstGeom prst="line">
            <a:avLst/>
          </a:prstGeom>
          <a:noFill/>
          <a:ln w="22225">
            <a:solidFill>
              <a:srgbClr val="10B981"/>
            </a:solidFill>
            <a:prstDash val="solid"/>
          </a:ln>
        </p:spPr>
      </p:sp>
      <p:sp>
        <p:nvSpPr>
          <p:cNvPr id="43" name="Shape 41"/>
          <p:cNvSpPr/>
          <p:nvPr/>
        </p:nvSpPr>
        <p:spPr>
          <a:xfrm>
            <a:off x="1899895" y="4702509"/>
            <a:ext cx="252298" cy="-3419"/>
          </a:xfrm>
          <a:prstGeom prst="line">
            <a:avLst/>
          </a:prstGeom>
          <a:noFill/>
          <a:ln w="22225">
            <a:solidFill>
              <a:srgbClr val="10B981"/>
            </a:solidFill>
            <a:prstDash val="solid"/>
          </a:ln>
        </p:spPr>
      </p:sp>
      <p:sp>
        <p:nvSpPr>
          <p:cNvPr id="44" name="Shape 42"/>
          <p:cNvSpPr/>
          <p:nvPr/>
        </p:nvSpPr>
        <p:spPr>
          <a:xfrm>
            <a:off x="2152193" y="4699090"/>
            <a:ext cx="252298" cy="-4911"/>
          </a:xfrm>
          <a:prstGeom prst="line">
            <a:avLst/>
          </a:prstGeom>
          <a:noFill/>
          <a:ln w="22225">
            <a:solidFill>
              <a:srgbClr val="10B981"/>
            </a:solidFill>
            <a:prstDash val="solid"/>
          </a:ln>
        </p:spPr>
      </p:sp>
      <p:sp>
        <p:nvSpPr>
          <p:cNvPr id="45" name="Shape 43"/>
          <p:cNvSpPr/>
          <p:nvPr/>
        </p:nvSpPr>
        <p:spPr>
          <a:xfrm>
            <a:off x="2404491" y="4694179"/>
            <a:ext cx="252298" cy="-6761"/>
          </a:xfrm>
          <a:prstGeom prst="line">
            <a:avLst/>
          </a:prstGeom>
          <a:noFill/>
          <a:ln w="22225">
            <a:solidFill>
              <a:srgbClr val="10B981"/>
            </a:solidFill>
            <a:prstDash val="solid"/>
          </a:ln>
        </p:spPr>
      </p:sp>
      <p:sp>
        <p:nvSpPr>
          <p:cNvPr id="46" name="Shape 44"/>
          <p:cNvSpPr/>
          <p:nvPr/>
        </p:nvSpPr>
        <p:spPr>
          <a:xfrm>
            <a:off x="2656789" y="4687417"/>
            <a:ext cx="252298" cy="-8785"/>
          </a:xfrm>
          <a:prstGeom prst="line">
            <a:avLst/>
          </a:prstGeom>
          <a:noFill/>
          <a:ln w="22225">
            <a:solidFill>
              <a:srgbClr val="10B981"/>
            </a:solidFill>
            <a:prstDash val="solid"/>
          </a:ln>
        </p:spPr>
      </p:sp>
      <p:sp>
        <p:nvSpPr>
          <p:cNvPr id="47" name="Shape 45"/>
          <p:cNvSpPr/>
          <p:nvPr/>
        </p:nvSpPr>
        <p:spPr>
          <a:xfrm>
            <a:off x="2909087" y="4678632"/>
            <a:ext cx="252298" cy="-10594"/>
          </a:xfrm>
          <a:prstGeom prst="line">
            <a:avLst/>
          </a:prstGeom>
          <a:noFill/>
          <a:ln w="22225">
            <a:solidFill>
              <a:srgbClr val="10B981"/>
            </a:solidFill>
            <a:prstDash val="solid"/>
          </a:ln>
        </p:spPr>
      </p:sp>
      <p:sp>
        <p:nvSpPr>
          <p:cNvPr id="48" name="Shape 46"/>
          <p:cNvSpPr/>
          <p:nvPr/>
        </p:nvSpPr>
        <p:spPr>
          <a:xfrm>
            <a:off x="3161386" y="4668038"/>
            <a:ext cx="252298" cy="-11685"/>
          </a:xfrm>
          <a:prstGeom prst="line">
            <a:avLst/>
          </a:prstGeom>
          <a:noFill/>
          <a:ln w="22225">
            <a:solidFill>
              <a:srgbClr val="10B981"/>
            </a:solidFill>
            <a:prstDash val="solid"/>
          </a:ln>
        </p:spPr>
      </p:sp>
      <p:sp>
        <p:nvSpPr>
          <p:cNvPr id="49" name="Shape 47"/>
          <p:cNvSpPr/>
          <p:nvPr/>
        </p:nvSpPr>
        <p:spPr>
          <a:xfrm>
            <a:off x="3413684" y="4656353"/>
            <a:ext cx="252298" cy="-11685"/>
          </a:xfrm>
          <a:prstGeom prst="line">
            <a:avLst/>
          </a:prstGeom>
          <a:noFill/>
          <a:ln w="22225">
            <a:solidFill>
              <a:srgbClr val="10B981"/>
            </a:solidFill>
            <a:prstDash val="solid"/>
          </a:ln>
        </p:spPr>
      </p:sp>
      <p:sp>
        <p:nvSpPr>
          <p:cNvPr id="50" name="Shape 48"/>
          <p:cNvSpPr/>
          <p:nvPr/>
        </p:nvSpPr>
        <p:spPr>
          <a:xfrm>
            <a:off x="3665982" y="4644668"/>
            <a:ext cx="252298" cy="-10594"/>
          </a:xfrm>
          <a:prstGeom prst="line">
            <a:avLst/>
          </a:prstGeom>
          <a:noFill/>
          <a:ln w="22225">
            <a:solidFill>
              <a:srgbClr val="10B981"/>
            </a:solidFill>
            <a:prstDash val="solid"/>
          </a:ln>
        </p:spPr>
      </p:sp>
      <p:sp>
        <p:nvSpPr>
          <p:cNvPr id="51" name="Shape 49"/>
          <p:cNvSpPr/>
          <p:nvPr/>
        </p:nvSpPr>
        <p:spPr>
          <a:xfrm>
            <a:off x="3918280" y="4634074"/>
            <a:ext cx="252298" cy="-8785"/>
          </a:xfrm>
          <a:prstGeom prst="line">
            <a:avLst/>
          </a:prstGeom>
          <a:noFill/>
          <a:ln w="22225">
            <a:solidFill>
              <a:srgbClr val="10B981"/>
            </a:solidFill>
            <a:prstDash val="solid"/>
          </a:ln>
        </p:spPr>
      </p:sp>
      <p:sp>
        <p:nvSpPr>
          <p:cNvPr id="52" name="Shape 50"/>
          <p:cNvSpPr/>
          <p:nvPr/>
        </p:nvSpPr>
        <p:spPr>
          <a:xfrm>
            <a:off x="4170578" y="4625289"/>
            <a:ext cx="252298" cy="-6761"/>
          </a:xfrm>
          <a:prstGeom prst="line">
            <a:avLst/>
          </a:prstGeom>
          <a:noFill/>
          <a:ln w="22225">
            <a:solidFill>
              <a:srgbClr val="10B981"/>
            </a:solidFill>
            <a:prstDash val="solid"/>
          </a:ln>
        </p:spPr>
      </p:sp>
      <p:sp>
        <p:nvSpPr>
          <p:cNvPr id="53" name="Shape 51"/>
          <p:cNvSpPr/>
          <p:nvPr/>
        </p:nvSpPr>
        <p:spPr>
          <a:xfrm>
            <a:off x="4422877" y="4618528"/>
            <a:ext cx="252298" cy="-4911"/>
          </a:xfrm>
          <a:prstGeom prst="line">
            <a:avLst/>
          </a:prstGeom>
          <a:noFill/>
          <a:ln w="22225">
            <a:solidFill>
              <a:srgbClr val="10B981"/>
            </a:solidFill>
            <a:prstDash val="solid"/>
          </a:ln>
        </p:spPr>
      </p:sp>
      <p:sp>
        <p:nvSpPr>
          <p:cNvPr id="54" name="Shape 52"/>
          <p:cNvSpPr/>
          <p:nvPr/>
        </p:nvSpPr>
        <p:spPr>
          <a:xfrm>
            <a:off x="4675175" y="4613617"/>
            <a:ext cx="252298" cy="-3419"/>
          </a:xfrm>
          <a:prstGeom prst="line">
            <a:avLst/>
          </a:prstGeom>
          <a:noFill/>
          <a:ln w="22225">
            <a:solidFill>
              <a:srgbClr val="10B981"/>
            </a:solidFill>
            <a:prstDash val="solid"/>
          </a:ln>
        </p:spPr>
      </p:sp>
      <p:sp>
        <p:nvSpPr>
          <p:cNvPr id="55" name="Shape 53"/>
          <p:cNvSpPr/>
          <p:nvPr/>
        </p:nvSpPr>
        <p:spPr>
          <a:xfrm>
            <a:off x="4927473" y="4610198"/>
            <a:ext cx="252298" cy="-2311"/>
          </a:xfrm>
          <a:prstGeom prst="line">
            <a:avLst/>
          </a:prstGeom>
          <a:noFill/>
          <a:ln w="22225">
            <a:solidFill>
              <a:srgbClr val="10B981"/>
            </a:solidFill>
            <a:prstDash val="solid"/>
          </a:ln>
        </p:spPr>
      </p:sp>
      <p:sp>
        <p:nvSpPr>
          <p:cNvPr id="56" name="Shape 54"/>
          <p:cNvSpPr/>
          <p:nvPr/>
        </p:nvSpPr>
        <p:spPr>
          <a:xfrm>
            <a:off x="5179771" y="4607887"/>
            <a:ext cx="252298" cy="-1531"/>
          </a:xfrm>
          <a:prstGeom prst="line">
            <a:avLst/>
          </a:prstGeom>
          <a:noFill/>
          <a:ln w="22225">
            <a:solidFill>
              <a:srgbClr val="10B981"/>
            </a:solidFill>
            <a:prstDash val="solid"/>
          </a:ln>
        </p:spPr>
      </p:sp>
      <p:sp>
        <p:nvSpPr>
          <p:cNvPr id="57" name="Shape 55"/>
          <p:cNvSpPr/>
          <p:nvPr/>
        </p:nvSpPr>
        <p:spPr>
          <a:xfrm>
            <a:off x="5432069" y="4606356"/>
            <a:ext cx="252298" cy="-1000"/>
          </a:xfrm>
          <a:prstGeom prst="line">
            <a:avLst/>
          </a:prstGeom>
          <a:noFill/>
          <a:ln w="22225">
            <a:solidFill>
              <a:srgbClr val="10B981"/>
            </a:solidFill>
            <a:prstDash val="solid"/>
          </a:ln>
        </p:spPr>
      </p:sp>
      <p:sp>
        <p:nvSpPr>
          <p:cNvPr id="58" name="Shape 56"/>
          <p:cNvSpPr/>
          <p:nvPr/>
        </p:nvSpPr>
        <p:spPr>
          <a:xfrm>
            <a:off x="5620360" y="4541347"/>
            <a:ext cx="128016" cy="128016"/>
          </a:xfrm>
          <a:prstGeom prst="ellipse">
            <a:avLst/>
          </a:prstGeom>
          <a:solidFill>
            <a:srgbClr val="10B981"/>
          </a:solidFill>
          <a:ln/>
        </p:spPr>
      </p:sp>
      <p:sp>
        <p:nvSpPr>
          <p:cNvPr id="59" name="Text 57"/>
          <p:cNvSpPr/>
          <p:nvPr/>
        </p:nvSpPr>
        <p:spPr>
          <a:xfrm>
            <a:off x="960120" y="4754880"/>
            <a:ext cx="365760" cy="201168"/>
          </a:xfrm>
          <a:prstGeom prst="rect">
            <a:avLst/>
          </a:prstGeom>
          <a:noFill/>
          <a:ln/>
        </p:spPr>
        <p:txBody>
          <a:bodyPr wrap="square" lIns="0" tIns="0" rIns="0" bIns="0" rtlCol="0" anchor="ctr"/>
          <a:lstStyle/>
          <a:p>
            <a:pPr algn="ctr" indent="0" marL="0">
              <a:buNone/>
            </a:pPr>
            <a:r>
              <a:rPr lang="en-US" sz="800" dirty="0">
                <a:solidFill>
                  <a:srgbClr val="94A3B8"/>
                </a:solidFill>
                <a:latin typeface="JetBrains Mono" pitchFamily="34" charset="0"/>
                <a:ea typeface="JetBrains Mono" pitchFamily="34" charset="-122"/>
                <a:cs typeface="JetBrains Mono" pitchFamily="34" charset="-120"/>
              </a:rPr>
              <a:t>M0</a:t>
            </a:r>
            <a:endParaRPr lang="en-US" sz="800" dirty="0"/>
          </a:p>
        </p:txBody>
      </p:sp>
      <p:sp>
        <p:nvSpPr>
          <p:cNvPr id="60" name="Text 58"/>
          <p:cNvSpPr/>
          <p:nvPr/>
        </p:nvSpPr>
        <p:spPr>
          <a:xfrm>
            <a:off x="1717015" y="4754880"/>
            <a:ext cx="365760" cy="201168"/>
          </a:xfrm>
          <a:prstGeom prst="rect">
            <a:avLst/>
          </a:prstGeom>
          <a:noFill/>
          <a:ln/>
        </p:spPr>
        <p:txBody>
          <a:bodyPr wrap="square" lIns="0" tIns="0" rIns="0" bIns="0" rtlCol="0" anchor="ctr"/>
          <a:lstStyle/>
          <a:p>
            <a:pPr algn="ctr" indent="0" marL="0">
              <a:buNone/>
            </a:pPr>
            <a:r>
              <a:rPr lang="en-US" sz="800" dirty="0">
                <a:solidFill>
                  <a:srgbClr val="94A3B8"/>
                </a:solidFill>
                <a:latin typeface="JetBrains Mono" pitchFamily="34" charset="0"/>
                <a:ea typeface="JetBrains Mono" pitchFamily="34" charset="-122"/>
                <a:cs typeface="JetBrains Mono" pitchFamily="34" charset="-120"/>
              </a:rPr>
              <a:t>M3</a:t>
            </a:r>
            <a:endParaRPr lang="en-US" sz="800" dirty="0"/>
          </a:p>
        </p:txBody>
      </p:sp>
      <p:sp>
        <p:nvSpPr>
          <p:cNvPr id="61" name="Text 59"/>
          <p:cNvSpPr/>
          <p:nvPr/>
        </p:nvSpPr>
        <p:spPr>
          <a:xfrm>
            <a:off x="2473909" y="4754880"/>
            <a:ext cx="365760" cy="201168"/>
          </a:xfrm>
          <a:prstGeom prst="rect">
            <a:avLst/>
          </a:prstGeom>
          <a:noFill/>
          <a:ln/>
        </p:spPr>
        <p:txBody>
          <a:bodyPr wrap="square" lIns="0" tIns="0" rIns="0" bIns="0" rtlCol="0" anchor="ctr"/>
          <a:lstStyle/>
          <a:p>
            <a:pPr algn="ctr" indent="0" marL="0">
              <a:buNone/>
            </a:pPr>
            <a:r>
              <a:rPr lang="en-US" sz="800" dirty="0">
                <a:solidFill>
                  <a:srgbClr val="94A3B8"/>
                </a:solidFill>
                <a:latin typeface="JetBrains Mono" pitchFamily="34" charset="0"/>
                <a:ea typeface="JetBrains Mono" pitchFamily="34" charset="-122"/>
                <a:cs typeface="JetBrains Mono" pitchFamily="34" charset="-120"/>
              </a:rPr>
              <a:t>M6</a:t>
            </a:r>
            <a:endParaRPr lang="en-US" sz="800" dirty="0"/>
          </a:p>
        </p:txBody>
      </p:sp>
      <p:sp>
        <p:nvSpPr>
          <p:cNvPr id="62" name="Text 60"/>
          <p:cNvSpPr/>
          <p:nvPr/>
        </p:nvSpPr>
        <p:spPr>
          <a:xfrm>
            <a:off x="3230804" y="4754880"/>
            <a:ext cx="365760" cy="201168"/>
          </a:xfrm>
          <a:prstGeom prst="rect">
            <a:avLst/>
          </a:prstGeom>
          <a:noFill/>
          <a:ln/>
        </p:spPr>
        <p:txBody>
          <a:bodyPr wrap="square" lIns="0" tIns="0" rIns="0" bIns="0" rtlCol="0" anchor="ctr"/>
          <a:lstStyle/>
          <a:p>
            <a:pPr algn="ctr" indent="0" marL="0">
              <a:buNone/>
            </a:pPr>
            <a:r>
              <a:rPr lang="en-US" sz="800" dirty="0">
                <a:solidFill>
                  <a:srgbClr val="94A3B8"/>
                </a:solidFill>
                <a:latin typeface="JetBrains Mono" pitchFamily="34" charset="0"/>
                <a:ea typeface="JetBrains Mono" pitchFamily="34" charset="-122"/>
                <a:cs typeface="JetBrains Mono" pitchFamily="34" charset="-120"/>
              </a:rPr>
              <a:t>M9</a:t>
            </a:r>
            <a:endParaRPr lang="en-US" sz="800" dirty="0"/>
          </a:p>
        </p:txBody>
      </p:sp>
      <p:sp>
        <p:nvSpPr>
          <p:cNvPr id="63" name="Text 61"/>
          <p:cNvSpPr/>
          <p:nvPr/>
        </p:nvSpPr>
        <p:spPr>
          <a:xfrm>
            <a:off x="3987698" y="4754880"/>
            <a:ext cx="365760" cy="201168"/>
          </a:xfrm>
          <a:prstGeom prst="rect">
            <a:avLst/>
          </a:prstGeom>
          <a:noFill/>
          <a:ln/>
        </p:spPr>
        <p:txBody>
          <a:bodyPr wrap="square" lIns="0" tIns="0" rIns="0" bIns="0" rtlCol="0" anchor="ctr"/>
          <a:lstStyle/>
          <a:p>
            <a:pPr algn="ctr" indent="0" marL="0">
              <a:buNone/>
            </a:pPr>
            <a:r>
              <a:rPr lang="en-US" sz="800" dirty="0">
                <a:solidFill>
                  <a:srgbClr val="94A3B8"/>
                </a:solidFill>
                <a:latin typeface="JetBrains Mono" pitchFamily="34" charset="0"/>
                <a:ea typeface="JetBrains Mono" pitchFamily="34" charset="-122"/>
                <a:cs typeface="JetBrains Mono" pitchFamily="34" charset="-120"/>
              </a:rPr>
              <a:t>M12</a:t>
            </a:r>
            <a:endParaRPr lang="en-US" sz="800" dirty="0"/>
          </a:p>
        </p:txBody>
      </p:sp>
      <p:sp>
        <p:nvSpPr>
          <p:cNvPr id="64" name="Text 62"/>
          <p:cNvSpPr/>
          <p:nvPr/>
        </p:nvSpPr>
        <p:spPr>
          <a:xfrm>
            <a:off x="4744593" y="4754880"/>
            <a:ext cx="365760" cy="201168"/>
          </a:xfrm>
          <a:prstGeom prst="rect">
            <a:avLst/>
          </a:prstGeom>
          <a:noFill/>
          <a:ln/>
        </p:spPr>
        <p:txBody>
          <a:bodyPr wrap="square" lIns="0" tIns="0" rIns="0" bIns="0" rtlCol="0" anchor="ctr"/>
          <a:lstStyle/>
          <a:p>
            <a:pPr algn="ctr" indent="0" marL="0">
              <a:buNone/>
            </a:pPr>
            <a:r>
              <a:rPr lang="en-US" sz="800" dirty="0">
                <a:solidFill>
                  <a:srgbClr val="94A3B8"/>
                </a:solidFill>
                <a:latin typeface="JetBrains Mono" pitchFamily="34" charset="0"/>
                <a:ea typeface="JetBrains Mono" pitchFamily="34" charset="-122"/>
                <a:cs typeface="JetBrains Mono" pitchFamily="34" charset="-120"/>
              </a:rPr>
              <a:t>M15</a:t>
            </a:r>
            <a:endParaRPr lang="en-US" sz="800" dirty="0"/>
          </a:p>
        </p:txBody>
      </p:sp>
      <p:sp>
        <p:nvSpPr>
          <p:cNvPr id="65" name="Text 63"/>
          <p:cNvSpPr/>
          <p:nvPr/>
        </p:nvSpPr>
        <p:spPr>
          <a:xfrm>
            <a:off x="5501488" y="4754880"/>
            <a:ext cx="365760" cy="201168"/>
          </a:xfrm>
          <a:prstGeom prst="rect">
            <a:avLst/>
          </a:prstGeom>
          <a:noFill/>
          <a:ln/>
        </p:spPr>
        <p:txBody>
          <a:bodyPr wrap="square" lIns="0" tIns="0" rIns="0" bIns="0" rtlCol="0" anchor="ctr"/>
          <a:lstStyle/>
          <a:p>
            <a:pPr algn="ctr" indent="0" marL="0">
              <a:buNone/>
            </a:pPr>
            <a:r>
              <a:rPr lang="en-US" sz="800" dirty="0">
                <a:solidFill>
                  <a:srgbClr val="94A3B8"/>
                </a:solidFill>
                <a:latin typeface="JetBrains Mono" pitchFamily="34" charset="0"/>
                <a:ea typeface="JetBrains Mono" pitchFamily="34" charset="-122"/>
                <a:cs typeface="JetBrains Mono" pitchFamily="34" charset="-120"/>
              </a:rPr>
              <a:t>M18</a:t>
            </a:r>
            <a:endParaRPr lang="en-US" sz="800" dirty="0"/>
          </a:p>
        </p:txBody>
      </p:sp>
      <p:sp>
        <p:nvSpPr>
          <p:cNvPr id="66" name="Text 64"/>
          <p:cNvSpPr/>
          <p:nvPr/>
        </p:nvSpPr>
        <p:spPr>
          <a:xfrm>
            <a:off x="1143000" y="2788920"/>
            <a:ext cx="4541368" cy="228600"/>
          </a:xfrm>
          <a:prstGeom prst="rect">
            <a:avLst/>
          </a:prstGeom>
          <a:noFill/>
          <a:ln/>
        </p:spPr>
        <p:txBody>
          <a:bodyPr wrap="square" lIns="0" tIns="0" rIns="0" bIns="0" rtlCol="0" anchor="ctr"/>
          <a:lstStyle/>
          <a:p>
            <a:pPr algn="r" indent="0" marL="0">
              <a:buNone/>
            </a:pPr>
            <a:r>
              <a:rPr lang="en-US" sz="950" b="1" dirty="0">
                <a:solidFill>
                  <a:srgbClr val="5040E5"/>
                </a:solidFill>
                <a:latin typeface="JetBrains Mono" pitchFamily="34" charset="0"/>
                <a:ea typeface="JetBrains Mono" pitchFamily="34" charset="-122"/>
                <a:cs typeface="JetBrains Mono" pitchFamily="34" charset="-120"/>
              </a:rPr>
              <a:t>● MRR</a:t>
            </a:r>
            <a:pPr algn="r" indent="0" marL="0">
              <a:buNone/>
            </a:pPr>
            <a:r>
              <a:rPr lang="en-US" sz="950" b="1" dirty="0">
                <a:solidFill>
                  <a:srgbClr val="10B981"/>
                </a:solidFill>
                <a:latin typeface="JetBrains Mono" pitchFamily="34" charset="0"/>
                <a:ea typeface="JetBrains Mono" pitchFamily="34" charset="-122"/>
                <a:cs typeface="JetBrains Mono" pitchFamily="34" charset="-120"/>
              </a:rPr>
              <a:t>    ● EBITDA</a:t>
            </a:r>
            <a:endParaRPr lang="en-US" sz="950" dirty="0"/>
          </a:p>
        </p:txBody>
      </p:sp>
      <p:sp>
        <p:nvSpPr>
          <p:cNvPr id="67" name="Shape 65"/>
          <p:cNvSpPr/>
          <p:nvPr/>
        </p:nvSpPr>
        <p:spPr>
          <a:xfrm>
            <a:off x="6278728" y="2560320"/>
            <a:ext cx="5410048" cy="2606040"/>
          </a:xfrm>
          <a:prstGeom prst="roundRect">
            <a:avLst>
              <a:gd name="adj" fmla="val 4211"/>
            </a:avLst>
          </a:prstGeom>
          <a:solidFill>
            <a:srgbClr val="0B0E1F"/>
          </a:solidFill>
          <a:ln w="9525">
            <a:solidFill>
              <a:srgbClr val="26305A"/>
            </a:solidFill>
            <a:prstDash val="solid"/>
          </a:ln>
        </p:spPr>
      </p:sp>
      <p:sp>
        <p:nvSpPr>
          <p:cNvPr id="68" name="Text 66"/>
          <p:cNvSpPr/>
          <p:nvPr/>
        </p:nvSpPr>
        <p:spPr>
          <a:xfrm>
            <a:off x="6553048" y="2743200"/>
            <a:ext cx="4861408" cy="274320"/>
          </a:xfrm>
          <a:prstGeom prst="rect">
            <a:avLst/>
          </a:prstGeom>
          <a:noFill/>
          <a:ln/>
        </p:spPr>
        <p:txBody>
          <a:bodyPr wrap="square" lIns="0" tIns="0" rIns="0" bIns="0" rtlCol="0" anchor="ctr"/>
          <a:lstStyle/>
          <a:p>
            <a:pPr algn="l" indent="0" marL="0">
              <a:buNone/>
            </a:pPr>
            <a:r>
              <a:rPr lang="en-US" sz="1050" spc="300" kern="0" dirty="0">
                <a:solidFill>
                  <a:srgbClr val="B4ACEF"/>
                </a:solidFill>
                <a:latin typeface="JetBrains Mono" pitchFamily="34" charset="0"/>
                <a:ea typeface="JetBrains Mono" pitchFamily="34" charset="-122"/>
                <a:cs typeface="JetBrains Mono" pitchFamily="34" charset="-120"/>
              </a:rPr>
              <a:t>SPRINT UPSIDE  ·  M0–M18</a:t>
            </a:r>
            <a:endParaRPr lang="en-US" sz="1050" dirty="0"/>
          </a:p>
        </p:txBody>
      </p:sp>
      <p:sp>
        <p:nvSpPr>
          <p:cNvPr id="69" name="Shape 67"/>
          <p:cNvSpPr/>
          <p:nvPr/>
        </p:nvSpPr>
        <p:spPr>
          <a:xfrm>
            <a:off x="6918808" y="4709160"/>
            <a:ext cx="4541368" cy="0"/>
          </a:xfrm>
          <a:prstGeom prst="line">
            <a:avLst/>
          </a:prstGeom>
          <a:noFill/>
          <a:ln w="5080">
            <a:solidFill>
              <a:srgbClr val="26305A"/>
            </a:solidFill>
            <a:prstDash val="solid"/>
          </a:ln>
        </p:spPr>
      </p:sp>
      <p:sp>
        <p:nvSpPr>
          <p:cNvPr id="70" name="Text 68"/>
          <p:cNvSpPr/>
          <p:nvPr/>
        </p:nvSpPr>
        <p:spPr>
          <a:xfrm>
            <a:off x="6415888" y="4590288"/>
            <a:ext cx="475488" cy="237744"/>
          </a:xfrm>
          <a:prstGeom prst="rect">
            <a:avLst/>
          </a:prstGeom>
          <a:noFill/>
          <a:ln/>
        </p:spPr>
        <p:txBody>
          <a:bodyPr wrap="square" lIns="0" tIns="0" rIns="0" bIns="0" rtlCol="0" anchor="ctr"/>
          <a:lstStyle/>
          <a:p>
            <a:pPr algn="r" indent="0" marL="0">
              <a:buNone/>
            </a:pPr>
            <a:r>
              <a:rPr lang="en-US" sz="800" dirty="0">
                <a:solidFill>
                  <a:srgbClr val="B4ACEF"/>
                </a:solidFill>
                <a:latin typeface="JetBrains Mono" pitchFamily="34" charset="0"/>
                <a:ea typeface="JetBrains Mono" pitchFamily="34" charset="-122"/>
                <a:cs typeface="JetBrains Mono" pitchFamily="34" charset="-120"/>
              </a:rPr>
              <a:t>£0K</a:t>
            </a:r>
            <a:endParaRPr lang="en-US" sz="800" dirty="0"/>
          </a:p>
        </p:txBody>
      </p:sp>
      <p:sp>
        <p:nvSpPr>
          <p:cNvPr id="71" name="Shape 69"/>
          <p:cNvSpPr/>
          <p:nvPr/>
        </p:nvSpPr>
        <p:spPr>
          <a:xfrm>
            <a:off x="6918808" y="4331970"/>
            <a:ext cx="4541368" cy="0"/>
          </a:xfrm>
          <a:prstGeom prst="line">
            <a:avLst/>
          </a:prstGeom>
          <a:noFill/>
          <a:ln w="5080">
            <a:solidFill>
              <a:srgbClr val="26305A"/>
            </a:solidFill>
            <a:prstDash val="solid"/>
          </a:ln>
        </p:spPr>
      </p:sp>
      <p:sp>
        <p:nvSpPr>
          <p:cNvPr id="72" name="Text 70"/>
          <p:cNvSpPr/>
          <p:nvPr/>
        </p:nvSpPr>
        <p:spPr>
          <a:xfrm>
            <a:off x="6415888" y="4213098"/>
            <a:ext cx="475488" cy="237744"/>
          </a:xfrm>
          <a:prstGeom prst="rect">
            <a:avLst/>
          </a:prstGeom>
          <a:noFill/>
          <a:ln/>
        </p:spPr>
        <p:txBody>
          <a:bodyPr wrap="square" lIns="0" tIns="0" rIns="0" bIns="0" rtlCol="0" anchor="ctr"/>
          <a:lstStyle/>
          <a:p>
            <a:pPr algn="r" indent="0" marL="0">
              <a:buNone/>
            </a:pPr>
            <a:r>
              <a:rPr lang="en-US" sz="800" dirty="0">
                <a:solidFill>
                  <a:srgbClr val="B4ACEF"/>
                </a:solidFill>
                <a:latin typeface="JetBrains Mono" pitchFamily="34" charset="0"/>
                <a:ea typeface="JetBrains Mono" pitchFamily="34" charset="-122"/>
                <a:cs typeface="JetBrains Mono" pitchFamily="34" charset="-120"/>
              </a:rPr>
              <a:t>£100K</a:t>
            </a:r>
            <a:endParaRPr lang="en-US" sz="800" dirty="0"/>
          </a:p>
        </p:txBody>
      </p:sp>
      <p:sp>
        <p:nvSpPr>
          <p:cNvPr id="73" name="Shape 71"/>
          <p:cNvSpPr/>
          <p:nvPr/>
        </p:nvSpPr>
        <p:spPr>
          <a:xfrm>
            <a:off x="6918808" y="3954780"/>
            <a:ext cx="4541368" cy="0"/>
          </a:xfrm>
          <a:prstGeom prst="line">
            <a:avLst/>
          </a:prstGeom>
          <a:noFill/>
          <a:ln w="5080">
            <a:solidFill>
              <a:srgbClr val="26305A"/>
            </a:solidFill>
            <a:prstDash val="solid"/>
          </a:ln>
        </p:spPr>
      </p:sp>
      <p:sp>
        <p:nvSpPr>
          <p:cNvPr id="74" name="Text 72"/>
          <p:cNvSpPr/>
          <p:nvPr/>
        </p:nvSpPr>
        <p:spPr>
          <a:xfrm>
            <a:off x="6415888" y="3835908"/>
            <a:ext cx="475488" cy="237744"/>
          </a:xfrm>
          <a:prstGeom prst="rect">
            <a:avLst/>
          </a:prstGeom>
          <a:noFill/>
          <a:ln/>
        </p:spPr>
        <p:txBody>
          <a:bodyPr wrap="square" lIns="0" tIns="0" rIns="0" bIns="0" rtlCol="0" anchor="ctr"/>
          <a:lstStyle/>
          <a:p>
            <a:pPr algn="r" indent="0" marL="0">
              <a:buNone/>
            </a:pPr>
            <a:r>
              <a:rPr lang="en-US" sz="800" dirty="0">
                <a:solidFill>
                  <a:srgbClr val="B4ACEF"/>
                </a:solidFill>
                <a:latin typeface="JetBrains Mono" pitchFamily="34" charset="0"/>
                <a:ea typeface="JetBrains Mono" pitchFamily="34" charset="-122"/>
                <a:cs typeface="JetBrains Mono" pitchFamily="34" charset="-120"/>
              </a:rPr>
              <a:t>£200K</a:t>
            </a:r>
            <a:endParaRPr lang="en-US" sz="800" dirty="0"/>
          </a:p>
        </p:txBody>
      </p:sp>
      <p:sp>
        <p:nvSpPr>
          <p:cNvPr id="75" name="Shape 73"/>
          <p:cNvSpPr/>
          <p:nvPr/>
        </p:nvSpPr>
        <p:spPr>
          <a:xfrm>
            <a:off x="6918808" y="3577590"/>
            <a:ext cx="4541368" cy="0"/>
          </a:xfrm>
          <a:prstGeom prst="line">
            <a:avLst/>
          </a:prstGeom>
          <a:noFill/>
          <a:ln w="5080">
            <a:solidFill>
              <a:srgbClr val="26305A"/>
            </a:solidFill>
            <a:prstDash val="solid"/>
          </a:ln>
        </p:spPr>
      </p:sp>
      <p:sp>
        <p:nvSpPr>
          <p:cNvPr id="76" name="Text 74"/>
          <p:cNvSpPr/>
          <p:nvPr/>
        </p:nvSpPr>
        <p:spPr>
          <a:xfrm>
            <a:off x="6415888" y="3458718"/>
            <a:ext cx="475488" cy="237744"/>
          </a:xfrm>
          <a:prstGeom prst="rect">
            <a:avLst/>
          </a:prstGeom>
          <a:noFill/>
          <a:ln/>
        </p:spPr>
        <p:txBody>
          <a:bodyPr wrap="square" lIns="0" tIns="0" rIns="0" bIns="0" rtlCol="0" anchor="ctr"/>
          <a:lstStyle/>
          <a:p>
            <a:pPr algn="r" indent="0" marL="0">
              <a:buNone/>
            </a:pPr>
            <a:r>
              <a:rPr lang="en-US" sz="800" dirty="0">
                <a:solidFill>
                  <a:srgbClr val="B4ACEF"/>
                </a:solidFill>
                <a:latin typeface="JetBrains Mono" pitchFamily="34" charset="0"/>
                <a:ea typeface="JetBrains Mono" pitchFamily="34" charset="-122"/>
                <a:cs typeface="JetBrains Mono" pitchFamily="34" charset="-120"/>
              </a:rPr>
              <a:t>£300K</a:t>
            </a:r>
            <a:endParaRPr lang="en-US" sz="800" dirty="0"/>
          </a:p>
        </p:txBody>
      </p:sp>
      <p:sp>
        <p:nvSpPr>
          <p:cNvPr id="77" name="Shape 75"/>
          <p:cNvSpPr/>
          <p:nvPr/>
        </p:nvSpPr>
        <p:spPr>
          <a:xfrm>
            <a:off x="6918808" y="3200400"/>
            <a:ext cx="4541368" cy="0"/>
          </a:xfrm>
          <a:prstGeom prst="line">
            <a:avLst/>
          </a:prstGeom>
          <a:noFill/>
          <a:ln w="5080">
            <a:solidFill>
              <a:srgbClr val="26305A"/>
            </a:solidFill>
            <a:prstDash val="solid"/>
          </a:ln>
        </p:spPr>
      </p:sp>
      <p:sp>
        <p:nvSpPr>
          <p:cNvPr id="78" name="Text 76"/>
          <p:cNvSpPr/>
          <p:nvPr/>
        </p:nvSpPr>
        <p:spPr>
          <a:xfrm>
            <a:off x="6415888" y="3081528"/>
            <a:ext cx="475488" cy="237744"/>
          </a:xfrm>
          <a:prstGeom prst="rect">
            <a:avLst/>
          </a:prstGeom>
          <a:noFill/>
          <a:ln/>
        </p:spPr>
        <p:txBody>
          <a:bodyPr wrap="square" lIns="0" tIns="0" rIns="0" bIns="0" rtlCol="0" anchor="ctr"/>
          <a:lstStyle/>
          <a:p>
            <a:pPr algn="r" indent="0" marL="0">
              <a:buNone/>
            </a:pPr>
            <a:r>
              <a:rPr lang="en-US" sz="800" dirty="0">
                <a:solidFill>
                  <a:srgbClr val="B4ACEF"/>
                </a:solidFill>
                <a:latin typeface="JetBrains Mono" pitchFamily="34" charset="0"/>
                <a:ea typeface="JetBrains Mono" pitchFamily="34" charset="-122"/>
                <a:cs typeface="JetBrains Mono" pitchFamily="34" charset="-120"/>
              </a:rPr>
              <a:t>£400K</a:t>
            </a:r>
            <a:endParaRPr lang="en-US" sz="800" dirty="0"/>
          </a:p>
        </p:txBody>
      </p:sp>
      <p:sp>
        <p:nvSpPr>
          <p:cNvPr id="79" name="Shape 77"/>
          <p:cNvSpPr/>
          <p:nvPr/>
        </p:nvSpPr>
        <p:spPr>
          <a:xfrm>
            <a:off x="6918808" y="4684616"/>
            <a:ext cx="252298" cy="-13578"/>
          </a:xfrm>
          <a:prstGeom prst="line">
            <a:avLst/>
          </a:prstGeom>
          <a:noFill/>
          <a:ln w="28575">
            <a:solidFill>
              <a:srgbClr val="B4ACEF"/>
            </a:solidFill>
            <a:prstDash val="solid"/>
          </a:ln>
        </p:spPr>
      </p:sp>
      <p:sp>
        <p:nvSpPr>
          <p:cNvPr id="80" name="Shape 78"/>
          <p:cNvSpPr/>
          <p:nvPr/>
        </p:nvSpPr>
        <p:spPr>
          <a:xfrm>
            <a:off x="7171106" y="4671038"/>
            <a:ext cx="252298" cy="-20775"/>
          </a:xfrm>
          <a:prstGeom prst="line">
            <a:avLst/>
          </a:prstGeom>
          <a:noFill/>
          <a:ln w="28575">
            <a:solidFill>
              <a:srgbClr val="B4ACEF"/>
            </a:solidFill>
            <a:prstDash val="solid"/>
          </a:ln>
        </p:spPr>
      </p:sp>
      <p:sp>
        <p:nvSpPr>
          <p:cNvPr id="81" name="Shape 79"/>
          <p:cNvSpPr/>
          <p:nvPr/>
        </p:nvSpPr>
        <p:spPr>
          <a:xfrm>
            <a:off x="7423404" y="4650263"/>
            <a:ext cx="252298" cy="-31364"/>
          </a:xfrm>
          <a:prstGeom prst="line">
            <a:avLst/>
          </a:prstGeom>
          <a:noFill/>
          <a:ln w="28575">
            <a:solidFill>
              <a:srgbClr val="B4ACEF"/>
            </a:solidFill>
            <a:prstDash val="solid"/>
          </a:ln>
        </p:spPr>
      </p:sp>
      <p:sp>
        <p:nvSpPr>
          <p:cNvPr id="82" name="Shape 80"/>
          <p:cNvSpPr/>
          <p:nvPr/>
        </p:nvSpPr>
        <p:spPr>
          <a:xfrm>
            <a:off x="7675702" y="4618899"/>
            <a:ext cx="252298" cy="-46405"/>
          </a:xfrm>
          <a:prstGeom prst="line">
            <a:avLst/>
          </a:prstGeom>
          <a:noFill/>
          <a:ln w="28575">
            <a:solidFill>
              <a:srgbClr val="B4ACEF"/>
            </a:solidFill>
            <a:prstDash val="solid"/>
          </a:ln>
        </p:spPr>
      </p:sp>
      <p:sp>
        <p:nvSpPr>
          <p:cNvPr id="83" name="Shape 81"/>
          <p:cNvSpPr/>
          <p:nvPr/>
        </p:nvSpPr>
        <p:spPr>
          <a:xfrm>
            <a:off x="7928000" y="4572494"/>
            <a:ext cx="252298" cy="-66652"/>
          </a:xfrm>
          <a:prstGeom prst="line">
            <a:avLst/>
          </a:prstGeom>
          <a:noFill/>
          <a:ln w="28575">
            <a:solidFill>
              <a:srgbClr val="B4ACEF"/>
            </a:solidFill>
            <a:prstDash val="solid"/>
          </a:ln>
        </p:spPr>
      </p:sp>
      <p:sp>
        <p:nvSpPr>
          <p:cNvPr id="84" name="Shape 82"/>
          <p:cNvSpPr/>
          <p:nvPr/>
        </p:nvSpPr>
        <p:spPr>
          <a:xfrm>
            <a:off x="8180299" y="4505842"/>
            <a:ext cx="252298" cy="-91760"/>
          </a:xfrm>
          <a:prstGeom prst="line">
            <a:avLst/>
          </a:prstGeom>
          <a:noFill/>
          <a:ln w="28575">
            <a:solidFill>
              <a:srgbClr val="B4ACEF"/>
            </a:solidFill>
            <a:prstDash val="solid"/>
          </a:ln>
        </p:spPr>
      </p:sp>
      <p:sp>
        <p:nvSpPr>
          <p:cNvPr id="85" name="Shape 83"/>
          <p:cNvSpPr/>
          <p:nvPr/>
        </p:nvSpPr>
        <p:spPr>
          <a:xfrm>
            <a:off x="8432597" y="4414081"/>
            <a:ext cx="252298" cy="-119224"/>
          </a:xfrm>
          <a:prstGeom prst="line">
            <a:avLst/>
          </a:prstGeom>
          <a:noFill/>
          <a:ln w="28575">
            <a:solidFill>
              <a:srgbClr val="B4ACEF"/>
            </a:solidFill>
            <a:prstDash val="solid"/>
          </a:ln>
        </p:spPr>
      </p:sp>
      <p:sp>
        <p:nvSpPr>
          <p:cNvPr id="86" name="Shape 84"/>
          <p:cNvSpPr/>
          <p:nvPr/>
        </p:nvSpPr>
        <p:spPr>
          <a:xfrm>
            <a:off x="8684895" y="4294858"/>
            <a:ext cx="252298" cy="-143777"/>
          </a:xfrm>
          <a:prstGeom prst="line">
            <a:avLst/>
          </a:prstGeom>
          <a:noFill/>
          <a:ln w="28575">
            <a:solidFill>
              <a:srgbClr val="B4ACEF"/>
            </a:solidFill>
            <a:prstDash val="solid"/>
          </a:ln>
        </p:spPr>
      </p:sp>
      <p:sp>
        <p:nvSpPr>
          <p:cNvPr id="87" name="Shape 85"/>
          <p:cNvSpPr/>
          <p:nvPr/>
        </p:nvSpPr>
        <p:spPr>
          <a:xfrm>
            <a:off x="8937193" y="4151081"/>
            <a:ext cx="252298" cy="-158582"/>
          </a:xfrm>
          <a:prstGeom prst="line">
            <a:avLst/>
          </a:prstGeom>
          <a:noFill/>
          <a:ln w="28575">
            <a:solidFill>
              <a:srgbClr val="B4ACEF"/>
            </a:solidFill>
            <a:prstDash val="solid"/>
          </a:ln>
        </p:spPr>
      </p:sp>
      <p:sp>
        <p:nvSpPr>
          <p:cNvPr id="88" name="Shape 86"/>
          <p:cNvSpPr/>
          <p:nvPr/>
        </p:nvSpPr>
        <p:spPr>
          <a:xfrm>
            <a:off x="9189491" y="3992499"/>
            <a:ext cx="252298" cy="-158582"/>
          </a:xfrm>
          <a:prstGeom prst="line">
            <a:avLst/>
          </a:prstGeom>
          <a:noFill/>
          <a:ln w="28575">
            <a:solidFill>
              <a:srgbClr val="B4ACEF"/>
            </a:solidFill>
            <a:prstDash val="solid"/>
          </a:ln>
        </p:spPr>
      </p:sp>
      <p:sp>
        <p:nvSpPr>
          <p:cNvPr id="89" name="Shape 87"/>
          <p:cNvSpPr/>
          <p:nvPr/>
        </p:nvSpPr>
        <p:spPr>
          <a:xfrm>
            <a:off x="9441790" y="3833917"/>
            <a:ext cx="252298" cy="-143777"/>
          </a:xfrm>
          <a:prstGeom prst="line">
            <a:avLst/>
          </a:prstGeom>
          <a:noFill/>
          <a:ln w="28575">
            <a:solidFill>
              <a:srgbClr val="B4ACEF"/>
            </a:solidFill>
            <a:prstDash val="solid"/>
          </a:ln>
        </p:spPr>
      </p:sp>
      <p:sp>
        <p:nvSpPr>
          <p:cNvPr id="90" name="Shape 88"/>
          <p:cNvSpPr/>
          <p:nvPr/>
        </p:nvSpPr>
        <p:spPr>
          <a:xfrm>
            <a:off x="9694088" y="3690140"/>
            <a:ext cx="252298" cy="-119224"/>
          </a:xfrm>
          <a:prstGeom prst="line">
            <a:avLst/>
          </a:prstGeom>
          <a:noFill/>
          <a:ln w="28575">
            <a:solidFill>
              <a:srgbClr val="B4ACEF"/>
            </a:solidFill>
            <a:prstDash val="solid"/>
          </a:ln>
        </p:spPr>
      </p:sp>
      <p:sp>
        <p:nvSpPr>
          <p:cNvPr id="91" name="Shape 89"/>
          <p:cNvSpPr/>
          <p:nvPr/>
        </p:nvSpPr>
        <p:spPr>
          <a:xfrm>
            <a:off x="9946386" y="3570917"/>
            <a:ext cx="252298" cy="-91760"/>
          </a:xfrm>
          <a:prstGeom prst="line">
            <a:avLst/>
          </a:prstGeom>
          <a:noFill/>
          <a:ln w="28575">
            <a:solidFill>
              <a:srgbClr val="B4ACEF"/>
            </a:solidFill>
            <a:prstDash val="solid"/>
          </a:ln>
        </p:spPr>
      </p:sp>
      <p:sp>
        <p:nvSpPr>
          <p:cNvPr id="92" name="Shape 90"/>
          <p:cNvSpPr/>
          <p:nvPr/>
        </p:nvSpPr>
        <p:spPr>
          <a:xfrm>
            <a:off x="10198684" y="3479156"/>
            <a:ext cx="252298" cy="-66652"/>
          </a:xfrm>
          <a:prstGeom prst="line">
            <a:avLst/>
          </a:prstGeom>
          <a:noFill/>
          <a:ln w="28575">
            <a:solidFill>
              <a:srgbClr val="B4ACEF"/>
            </a:solidFill>
            <a:prstDash val="solid"/>
          </a:ln>
        </p:spPr>
      </p:sp>
      <p:sp>
        <p:nvSpPr>
          <p:cNvPr id="93" name="Shape 91"/>
          <p:cNvSpPr/>
          <p:nvPr/>
        </p:nvSpPr>
        <p:spPr>
          <a:xfrm>
            <a:off x="10450982" y="3412504"/>
            <a:ext cx="252298" cy="-46405"/>
          </a:xfrm>
          <a:prstGeom prst="line">
            <a:avLst/>
          </a:prstGeom>
          <a:noFill/>
          <a:ln w="28575">
            <a:solidFill>
              <a:srgbClr val="B4ACEF"/>
            </a:solidFill>
            <a:prstDash val="solid"/>
          </a:ln>
        </p:spPr>
      </p:sp>
      <p:sp>
        <p:nvSpPr>
          <p:cNvPr id="94" name="Shape 92"/>
          <p:cNvSpPr/>
          <p:nvPr/>
        </p:nvSpPr>
        <p:spPr>
          <a:xfrm>
            <a:off x="10703281" y="3366099"/>
            <a:ext cx="252298" cy="-31364"/>
          </a:xfrm>
          <a:prstGeom prst="line">
            <a:avLst/>
          </a:prstGeom>
          <a:noFill/>
          <a:ln w="28575">
            <a:solidFill>
              <a:srgbClr val="B4ACEF"/>
            </a:solidFill>
            <a:prstDash val="solid"/>
          </a:ln>
        </p:spPr>
      </p:sp>
      <p:sp>
        <p:nvSpPr>
          <p:cNvPr id="95" name="Shape 93"/>
          <p:cNvSpPr/>
          <p:nvPr/>
        </p:nvSpPr>
        <p:spPr>
          <a:xfrm>
            <a:off x="10955579" y="3334735"/>
            <a:ext cx="252298" cy="-20775"/>
          </a:xfrm>
          <a:prstGeom prst="line">
            <a:avLst/>
          </a:prstGeom>
          <a:noFill/>
          <a:ln w="28575">
            <a:solidFill>
              <a:srgbClr val="B4ACEF"/>
            </a:solidFill>
            <a:prstDash val="solid"/>
          </a:ln>
        </p:spPr>
      </p:sp>
      <p:sp>
        <p:nvSpPr>
          <p:cNvPr id="96" name="Shape 94"/>
          <p:cNvSpPr/>
          <p:nvPr/>
        </p:nvSpPr>
        <p:spPr>
          <a:xfrm>
            <a:off x="11207877" y="3313960"/>
            <a:ext cx="252298" cy="-13578"/>
          </a:xfrm>
          <a:prstGeom prst="line">
            <a:avLst/>
          </a:prstGeom>
          <a:noFill/>
          <a:ln w="28575">
            <a:solidFill>
              <a:srgbClr val="B4ACEF"/>
            </a:solidFill>
            <a:prstDash val="solid"/>
          </a:ln>
        </p:spPr>
      </p:sp>
      <p:sp>
        <p:nvSpPr>
          <p:cNvPr id="97" name="Shape 95"/>
          <p:cNvSpPr/>
          <p:nvPr/>
        </p:nvSpPr>
        <p:spPr>
          <a:xfrm>
            <a:off x="11396167" y="3236374"/>
            <a:ext cx="128016" cy="128016"/>
          </a:xfrm>
          <a:prstGeom prst="ellipse">
            <a:avLst/>
          </a:prstGeom>
          <a:solidFill>
            <a:srgbClr val="B4ACEF"/>
          </a:solidFill>
          <a:ln/>
        </p:spPr>
      </p:sp>
      <p:sp>
        <p:nvSpPr>
          <p:cNvPr id="98" name="Shape 96"/>
          <p:cNvSpPr/>
          <p:nvPr/>
        </p:nvSpPr>
        <p:spPr>
          <a:xfrm>
            <a:off x="6918808" y="4699794"/>
            <a:ext cx="252298" cy="-5181"/>
          </a:xfrm>
          <a:prstGeom prst="line">
            <a:avLst/>
          </a:prstGeom>
          <a:noFill/>
          <a:ln w="22225">
            <a:solidFill>
              <a:srgbClr val="C7CCE8"/>
            </a:solidFill>
            <a:prstDash val="solid"/>
          </a:ln>
        </p:spPr>
      </p:sp>
      <p:sp>
        <p:nvSpPr>
          <p:cNvPr id="99" name="Shape 97"/>
          <p:cNvSpPr/>
          <p:nvPr/>
        </p:nvSpPr>
        <p:spPr>
          <a:xfrm>
            <a:off x="7171106" y="4694613"/>
            <a:ext cx="252298" cy="-7927"/>
          </a:xfrm>
          <a:prstGeom prst="line">
            <a:avLst/>
          </a:prstGeom>
          <a:noFill/>
          <a:ln w="22225">
            <a:solidFill>
              <a:srgbClr val="C7CCE8"/>
            </a:solidFill>
            <a:prstDash val="solid"/>
          </a:ln>
        </p:spPr>
      </p:sp>
      <p:sp>
        <p:nvSpPr>
          <p:cNvPr id="100" name="Shape 98"/>
          <p:cNvSpPr/>
          <p:nvPr/>
        </p:nvSpPr>
        <p:spPr>
          <a:xfrm>
            <a:off x="7423404" y="4686686"/>
            <a:ext cx="252298" cy="-11968"/>
          </a:xfrm>
          <a:prstGeom prst="line">
            <a:avLst/>
          </a:prstGeom>
          <a:noFill/>
          <a:ln w="22225">
            <a:solidFill>
              <a:srgbClr val="C7CCE8"/>
            </a:solidFill>
            <a:prstDash val="solid"/>
          </a:ln>
        </p:spPr>
      </p:sp>
      <p:sp>
        <p:nvSpPr>
          <p:cNvPr id="101" name="Shape 99"/>
          <p:cNvSpPr/>
          <p:nvPr/>
        </p:nvSpPr>
        <p:spPr>
          <a:xfrm>
            <a:off x="7675702" y="4674718"/>
            <a:ext cx="252298" cy="-17707"/>
          </a:xfrm>
          <a:prstGeom prst="line">
            <a:avLst/>
          </a:prstGeom>
          <a:noFill/>
          <a:ln w="22225">
            <a:solidFill>
              <a:srgbClr val="C7CCE8"/>
            </a:solidFill>
            <a:prstDash val="solid"/>
          </a:ln>
        </p:spPr>
      </p:sp>
      <p:sp>
        <p:nvSpPr>
          <p:cNvPr id="102" name="Shape 100"/>
          <p:cNvSpPr/>
          <p:nvPr/>
        </p:nvSpPr>
        <p:spPr>
          <a:xfrm>
            <a:off x="7928000" y="4657011"/>
            <a:ext cx="252298" cy="-25433"/>
          </a:xfrm>
          <a:prstGeom prst="line">
            <a:avLst/>
          </a:prstGeom>
          <a:noFill/>
          <a:ln w="22225">
            <a:solidFill>
              <a:srgbClr val="C7CCE8"/>
            </a:solidFill>
            <a:prstDash val="solid"/>
          </a:ln>
        </p:spPr>
      </p:sp>
      <p:sp>
        <p:nvSpPr>
          <p:cNvPr id="103" name="Shape 101"/>
          <p:cNvSpPr/>
          <p:nvPr/>
        </p:nvSpPr>
        <p:spPr>
          <a:xfrm>
            <a:off x="8180299" y="4631578"/>
            <a:ext cx="252298" cy="-35014"/>
          </a:xfrm>
          <a:prstGeom prst="line">
            <a:avLst/>
          </a:prstGeom>
          <a:noFill/>
          <a:ln w="22225">
            <a:solidFill>
              <a:srgbClr val="C7CCE8"/>
            </a:solidFill>
            <a:prstDash val="solid"/>
          </a:ln>
        </p:spPr>
      </p:sp>
      <p:sp>
        <p:nvSpPr>
          <p:cNvPr id="104" name="Shape 102"/>
          <p:cNvSpPr/>
          <p:nvPr/>
        </p:nvSpPr>
        <p:spPr>
          <a:xfrm>
            <a:off x="8432597" y="4596564"/>
            <a:ext cx="252298" cy="-45493"/>
          </a:xfrm>
          <a:prstGeom prst="line">
            <a:avLst/>
          </a:prstGeom>
          <a:noFill/>
          <a:ln w="22225">
            <a:solidFill>
              <a:srgbClr val="C7CCE8"/>
            </a:solidFill>
            <a:prstDash val="solid"/>
          </a:ln>
        </p:spPr>
      </p:sp>
      <p:sp>
        <p:nvSpPr>
          <p:cNvPr id="105" name="Shape 103"/>
          <p:cNvSpPr/>
          <p:nvPr/>
        </p:nvSpPr>
        <p:spPr>
          <a:xfrm>
            <a:off x="8684895" y="4551071"/>
            <a:ext cx="252298" cy="-54862"/>
          </a:xfrm>
          <a:prstGeom prst="line">
            <a:avLst/>
          </a:prstGeom>
          <a:noFill/>
          <a:ln w="22225">
            <a:solidFill>
              <a:srgbClr val="C7CCE8"/>
            </a:solidFill>
            <a:prstDash val="solid"/>
          </a:ln>
        </p:spPr>
      </p:sp>
      <p:sp>
        <p:nvSpPr>
          <p:cNvPr id="106" name="Shape 104"/>
          <p:cNvSpPr/>
          <p:nvPr/>
        </p:nvSpPr>
        <p:spPr>
          <a:xfrm>
            <a:off x="8937193" y="4496209"/>
            <a:ext cx="252298" cy="-60511"/>
          </a:xfrm>
          <a:prstGeom prst="line">
            <a:avLst/>
          </a:prstGeom>
          <a:noFill/>
          <a:ln w="22225">
            <a:solidFill>
              <a:srgbClr val="C7CCE8"/>
            </a:solidFill>
            <a:prstDash val="solid"/>
          </a:ln>
        </p:spPr>
      </p:sp>
      <p:sp>
        <p:nvSpPr>
          <p:cNvPr id="107" name="Shape 105"/>
          <p:cNvSpPr/>
          <p:nvPr/>
        </p:nvSpPr>
        <p:spPr>
          <a:xfrm>
            <a:off x="9189491" y="4435697"/>
            <a:ext cx="252298" cy="-60511"/>
          </a:xfrm>
          <a:prstGeom prst="line">
            <a:avLst/>
          </a:prstGeom>
          <a:noFill/>
          <a:ln w="22225">
            <a:solidFill>
              <a:srgbClr val="C7CCE8"/>
            </a:solidFill>
            <a:prstDash val="solid"/>
          </a:ln>
        </p:spPr>
      </p:sp>
      <p:sp>
        <p:nvSpPr>
          <p:cNvPr id="108" name="Shape 106"/>
          <p:cNvSpPr/>
          <p:nvPr/>
        </p:nvSpPr>
        <p:spPr>
          <a:xfrm>
            <a:off x="9441790" y="4375186"/>
            <a:ext cx="252298" cy="-54862"/>
          </a:xfrm>
          <a:prstGeom prst="line">
            <a:avLst/>
          </a:prstGeom>
          <a:noFill/>
          <a:ln w="22225">
            <a:solidFill>
              <a:srgbClr val="C7CCE8"/>
            </a:solidFill>
            <a:prstDash val="solid"/>
          </a:ln>
        </p:spPr>
      </p:sp>
      <p:sp>
        <p:nvSpPr>
          <p:cNvPr id="109" name="Shape 107"/>
          <p:cNvSpPr/>
          <p:nvPr/>
        </p:nvSpPr>
        <p:spPr>
          <a:xfrm>
            <a:off x="9694088" y="4320324"/>
            <a:ext cx="252298" cy="-45493"/>
          </a:xfrm>
          <a:prstGeom prst="line">
            <a:avLst/>
          </a:prstGeom>
          <a:noFill/>
          <a:ln w="22225">
            <a:solidFill>
              <a:srgbClr val="C7CCE8"/>
            </a:solidFill>
            <a:prstDash val="solid"/>
          </a:ln>
        </p:spPr>
      </p:sp>
      <p:sp>
        <p:nvSpPr>
          <p:cNvPr id="110" name="Shape 108"/>
          <p:cNvSpPr/>
          <p:nvPr/>
        </p:nvSpPr>
        <p:spPr>
          <a:xfrm>
            <a:off x="9946386" y="4274830"/>
            <a:ext cx="252298" cy="-35014"/>
          </a:xfrm>
          <a:prstGeom prst="line">
            <a:avLst/>
          </a:prstGeom>
          <a:noFill/>
          <a:ln w="22225">
            <a:solidFill>
              <a:srgbClr val="C7CCE8"/>
            </a:solidFill>
            <a:prstDash val="solid"/>
          </a:ln>
        </p:spPr>
      </p:sp>
      <p:sp>
        <p:nvSpPr>
          <p:cNvPr id="111" name="Shape 109"/>
          <p:cNvSpPr/>
          <p:nvPr/>
        </p:nvSpPr>
        <p:spPr>
          <a:xfrm>
            <a:off x="10198684" y="4239816"/>
            <a:ext cx="252298" cy="-25433"/>
          </a:xfrm>
          <a:prstGeom prst="line">
            <a:avLst/>
          </a:prstGeom>
          <a:noFill/>
          <a:ln w="22225">
            <a:solidFill>
              <a:srgbClr val="C7CCE8"/>
            </a:solidFill>
            <a:prstDash val="solid"/>
          </a:ln>
        </p:spPr>
      </p:sp>
      <p:sp>
        <p:nvSpPr>
          <p:cNvPr id="112" name="Shape 110"/>
          <p:cNvSpPr/>
          <p:nvPr/>
        </p:nvSpPr>
        <p:spPr>
          <a:xfrm>
            <a:off x="10450982" y="4214384"/>
            <a:ext cx="252298" cy="-17707"/>
          </a:xfrm>
          <a:prstGeom prst="line">
            <a:avLst/>
          </a:prstGeom>
          <a:noFill/>
          <a:ln w="22225">
            <a:solidFill>
              <a:srgbClr val="C7CCE8"/>
            </a:solidFill>
            <a:prstDash val="solid"/>
          </a:ln>
        </p:spPr>
      </p:sp>
      <p:sp>
        <p:nvSpPr>
          <p:cNvPr id="113" name="Shape 111"/>
          <p:cNvSpPr/>
          <p:nvPr/>
        </p:nvSpPr>
        <p:spPr>
          <a:xfrm>
            <a:off x="10703281" y="4196676"/>
            <a:ext cx="252298" cy="-11968"/>
          </a:xfrm>
          <a:prstGeom prst="line">
            <a:avLst/>
          </a:prstGeom>
          <a:noFill/>
          <a:ln w="22225">
            <a:solidFill>
              <a:srgbClr val="C7CCE8"/>
            </a:solidFill>
            <a:prstDash val="solid"/>
          </a:ln>
        </p:spPr>
      </p:sp>
      <p:sp>
        <p:nvSpPr>
          <p:cNvPr id="114" name="Shape 112"/>
          <p:cNvSpPr/>
          <p:nvPr/>
        </p:nvSpPr>
        <p:spPr>
          <a:xfrm>
            <a:off x="10955579" y="4184708"/>
            <a:ext cx="252298" cy="-7927"/>
          </a:xfrm>
          <a:prstGeom prst="line">
            <a:avLst/>
          </a:prstGeom>
          <a:noFill/>
          <a:ln w="22225">
            <a:solidFill>
              <a:srgbClr val="C7CCE8"/>
            </a:solidFill>
            <a:prstDash val="solid"/>
          </a:ln>
        </p:spPr>
      </p:sp>
      <p:sp>
        <p:nvSpPr>
          <p:cNvPr id="115" name="Shape 113"/>
          <p:cNvSpPr/>
          <p:nvPr/>
        </p:nvSpPr>
        <p:spPr>
          <a:xfrm>
            <a:off x="11207877" y="4176781"/>
            <a:ext cx="252298" cy="-5181"/>
          </a:xfrm>
          <a:prstGeom prst="line">
            <a:avLst/>
          </a:prstGeom>
          <a:noFill/>
          <a:ln w="22225">
            <a:solidFill>
              <a:srgbClr val="C7CCE8"/>
            </a:solidFill>
            <a:prstDash val="solid"/>
          </a:ln>
        </p:spPr>
      </p:sp>
      <p:sp>
        <p:nvSpPr>
          <p:cNvPr id="116" name="Shape 114"/>
          <p:cNvSpPr/>
          <p:nvPr/>
        </p:nvSpPr>
        <p:spPr>
          <a:xfrm>
            <a:off x="11396167" y="4107592"/>
            <a:ext cx="128016" cy="128016"/>
          </a:xfrm>
          <a:prstGeom prst="ellipse">
            <a:avLst/>
          </a:prstGeom>
          <a:solidFill>
            <a:srgbClr val="C7CCE8"/>
          </a:solidFill>
          <a:ln/>
        </p:spPr>
      </p:sp>
      <p:sp>
        <p:nvSpPr>
          <p:cNvPr id="117" name="Text 115"/>
          <p:cNvSpPr/>
          <p:nvPr/>
        </p:nvSpPr>
        <p:spPr>
          <a:xfrm>
            <a:off x="6735928" y="4754880"/>
            <a:ext cx="365760" cy="201168"/>
          </a:xfrm>
          <a:prstGeom prst="rect">
            <a:avLst/>
          </a:prstGeom>
          <a:noFill/>
          <a:ln/>
        </p:spPr>
        <p:txBody>
          <a:bodyPr wrap="square" lIns="0" tIns="0" rIns="0" bIns="0" rtlCol="0" anchor="ctr"/>
          <a:lstStyle/>
          <a:p>
            <a:pPr algn="ctr" indent="0" marL="0">
              <a:buNone/>
            </a:pPr>
            <a:r>
              <a:rPr lang="en-US" sz="800" dirty="0">
                <a:solidFill>
                  <a:srgbClr val="B4ACEF"/>
                </a:solidFill>
                <a:latin typeface="JetBrains Mono" pitchFamily="34" charset="0"/>
                <a:ea typeface="JetBrains Mono" pitchFamily="34" charset="-122"/>
                <a:cs typeface="JetBrains Mono" pitchFamily="34" charset="-120"/>
              </a:rPr>
              <a:t>M0</a:t>
            </a:r>
            <a:endParaRPr lang="en-US" sz="800" dirty="0"/>
          </a:p>
        </p:txBody>
      </p:sp>
      <p:sp>
        <p:nvSpPr>
          <p:cNvPr id="118" name="Text 116"/>
          <p:cNvSpPr/>
          <p:nvPr/>
        </p:nvSpPr>
        <p:spPr>
          <a:xfrm>
            <a:off x="7492822" y="4754880"/>
            <a:ext cx="365760" cy="201168"/>
          </a:xfrm>
          <a:prstGeom prst="rect">
            <a:avLst/>
          </a:prstGeom>
          <a:noFill/>
          <a:ln/>
        </p:spPr>
        <p:txBody>
          <a:bodyPr wrap="square" lIns="0" tIns="0" rIns="0" bIns="0" rtlCol="0" anchor="ctr"/>
          <a:lstStyle/>
          <a:p>
            <a:pPr algn="ctr" indent="0" marL="0">
              <a:buNone/>
            </a:pPr>
            <a:r>
              <a:rPr lang="en-US" sz="800" dirty="0">
                <a:solidFill>
                  <a:srgbClr val="B4ACEF"/>
                </a:solidFill>
                <a:latin typeface="JetBrains Mono" pitchFamily="34" charset="0"/>
                <a:ea typeface="JetBrains Mono" pitchFamily="34" charset="-122"/>
                <a:cs typeface="JetBrains Mono" pitchFamily="34" charset="-120"/>
              </a:rPr>
              <a:t>M3</a:t>
            </a:r>
            <a:endParaRPr lang="en-US" sz="800" dirty="0"/>
          </a:p>
        </p:txBody>
      </p:sp>
      <p:sp>
        <p:nvSpPr>
          <p:cNvPr id="119" name="Text 117"/>
          <p:cNvSpPr/>
          <p:nvPr/>
        </p:nvSpPr>
        <p:spPr>
          <a:xfrm>
            <a:off x="8249717" y="4754880"/>
            <a:ext cx="365760" cy="201168"/>
          </a:xfrm>
          <a:prstGeom prst="rect">
            <a:avLst/>
          </a:prstGeom>
          <a:noFill/>
          <a:ln/>
        </p:spPr>
        <p:txBody>
          <a:bodyPr wrap="square" lIns="0" tIns="0" rIns="0" bIns="0" rtlCol="0" anchor="ctr"/>
          <a:lstStyle/>
          <a:p>
            <a:pPr algn="ctr" indent="0" marL="0">
              <a:buNone/>
            </a:pPr>
            <a:r>
              <a:rPr lang="en-US" sz="800" dirty="0">
                <a:solidFill>
                  <a:srgbClr val="B4ACEF"/>
                </a:solidFill>
                <a:latin typeface="JetBrains Mono" pitchFamily="34" charset="0"/>
                <a:ea typeface="JetBrains Mono" pitchFamily="34" charset="-122"/>
                <a:cs typeface="JetBrains Mono" pitchFamily="34" charset="-120"/>
              </a:rPr>
              <a:t>M6</a:t>
            </a:r>
            <a:endParaRPr lang="en-US" sz="800" dirty="0"/>
          </a:p>
        </p:txBody>
      </p:sp>
      <p:sp>
        <p:nvSpPr>
          <p:cNvPr id="120" name="Text 118"/>
          <p:cNvSpPr/>
          <p:nvPr/>
        </p:nvSpPr>
        <p:spPr>
          <a:xfrm>
            <a:off x="9006611" y="4754880"/>
            <a:ext cx="365760" cy="201168"/>
          </a:xfrm>
          <a:prstGeom prst="rect">
            <a:avLst/>
          </a:prstGeom>
          <a:noFill/>
          <a:ln/>
        </p:spPr>
        <p:txBody>
          <a:bodyPr wrap="square" lIns="0" tIns="0" rIns="0" bIns="0" rtlCol="0" anchor="ctr"/>
          <a:lstStyle/>
          <a:p>
            <a:pPr algn="ctr" indent="0" marL="0">
              <a:buNone/>
            </a:pPr>
            <a:r>
              <a:rPr lang="en-US" sz="800" dirty="0">
                <a:solidFill>
                  <a:srgbClr val="B4ACEF"/>
                </a:solidFill>
                <a:latin typeface="JetBrains Mono" pitchFamily="34" charset="0"/>
                <a:ea typeface="JetBrains Mono" pitchFamily="34" charset="-122"/>
                <a:cs typeface="JetBrains Mono" pitchFamily="34" charset="-120"/>
              </a:rPr>
              <a:t>M9</a:t>
            </a:r>
            <a:endParaRPr lang="en-US" sz="800" dirty="0"/>
          </a:p>
        </p:txBody>
      </p:sp>
      <p:sp>
        <p:nvSpPr>
          <p:cNvPr id="121" name="Text 119"/>
          <p:cNvSpPr/>
          <p:nvPr/>
        </p:nvSpPr>
        <p:spPr>
          <a:xfrm>
            <a:off x="9763506" y="4754880"/>
            <a:ext cx="365760" cy="201168"/>
          </a:xfrm>
          <a:prstGeom prst="rect">
            <a:avLst/>
          </a:prstGeom>
          <a:noFill/>
          <a:ln/>
        </p:spPr>
        <p:txBody>
          <a:bodyPr wrap="square" lIns="0" tIns="0" rIns="0" bIns="0" rtlCol="0" anchor="ctr"/>
          <a:lstStyle/>
          <a:p>
            <a:pPr algn="ctr" indent="0" marL="0">
              <a:buNone/>
            </a:pPr>
            <a:r>
              <a:rPr lang="en-US" sz="800" dirty="0">
                <a:solidFill>
                  <a:srgbClr val="B4ACEF"/>
                </a:solidFill>
                <a:latin typeface="JetBrains Mono" pitchFamily="34" charset="0"/>
                <a:ea typeface="JetBrains Mono" pitchFamily="34" charset="-122"/>
                <a:cs typeface="JetBrains Mono" pitchFamily="34" charset="-120"/>
              </a:rPr>
              <a:t>M12</a:t>
            </a:r>
            <a:endParaRPr lang="en-US" sz="800" dirty="0"/>
          </a:p>
        </p:txBody>
      </p:sp>
      <p:sp>
        <p:nvSpPr>
          <p:cNvPr id="122" name="Text 120"/>
          <p:cNvSpPr/>
          <p:nvPr/>
        </p:nvSpPr>
        <p:spPr>
          <a:xfrm>
            <a:off x="10520401" y="4754880"/>
            <a:ext cx="365760" cy="201168"/>
          </a:xfrm>
          <a:prstGeom prst="rect">
            <a:avLst/>
          </a:prstGeom>
          <a:noFill/>
          <a:ln/>
        </p:spPr>
        <p:txBody>
          <a:bodyPr wrap="square" lIns="0" tIns="0" rIns="0" bIns="0" rtlCol="0" anchor="ctr"/>
          <a:lstStyle/>
          <a:p>
            <a:pPr algn="ctr" indent="0" marL="0">
              <a:buNone/>
            </a:pPr>
            <a:r>
              <a:rPr lang="en-US" sz="800" dirty="0">
                <a:solidFill>
                  <a:srgbClr val="B4ACEF"/>
                </a:solidFill>
                <a:latin typeface="JetBrains Mono" pitchFamily="34" charset="0"/>
                <a:ea typeface="JetBrains Mono" pitchFamily="34" charset="-122"/>
                <a:cs typeface="JetBrains Mono" pitchFamily="34" charset="-120"/>
              </a:rPr>
              <a:t>M15</a:t>
            </a:r>
            <a:endParaRPr lang="en-US" sz="800" dirty="0"/>
          </a:p>
        </p:txBody>
      </p:sp>
      <p:sp>
        <p:nvSpPr>
          <p:cNvPr id="123" name="Text 121"/>
          <p:cNvSpPr/>
          <p:nvPr/>
        </p:nvSpPr>
        <p:spPr>
          <a:xfrm>
            <a:off x="11277295" y="4754880"/>
            <a:ext cx="365760" cy="201168"/>
          </a:xfrm>
          <a:prstGeom prst="rect">
            <a:avLst/>
          </a:prstGeom>
          <a:noFill/>
          <a:ln/>
        </p:spPr>
        <p:txBody>
          <a:bodyPr wrap="square" lIns="0" tIns="0" rIns="0" bIns="0" rtlCol="0" anchor="ctr"/>
          <a:lstStyle/>
          <a:p>
            <a:pPr algn="ctr" indent="0" marL="0">
              <a:buNone/>
            </a:pPr>
            <a:r>
              <a:rPr lang="en-US" sz="800" dirty="0">
                <a:solidFill>
                  <a:srgbClr val="B4ACEF"/>
                </a:solidFill>
                <a:latin typeface="JetBrains Mono" pitchFamily="34" charset="0"/>
                <a:ea typeface="JetBrains Mono" pitchFamily="34" charset="-122"/>
                <a:cs typeface="JetBrains Mono" pitchFamily="34" charset="-120"/>
              </a:rPr>
              <a:t>M18</a:t>
            </a:r>
            <a:endParaRPr lang="en-US" sz="800" dirty="0"/>
          </a:p>
        </p:txBody>
      </p:sp>
      <p:sp>
        <p:nvSpPr>
          <p:cNvPr id="124" name="Text 122"/>
          <p:cNvSpPr/>
          <p:nvPr/>
        </p:nvSpPr>
        <p:spPr>
          <a:xfrm>
            <a:off x="6918808" y="2788920"/>
            <a:ext cx="4541368" cy="228600"/>
          </a:xfrm>
          <a:prstGeom prst="rect">
            <a:avLst/>
          </a:prstGeom>
          <a:noFill/>
          <a:ln/>
        </p:spPr>
        <p:txBody>
          <a:bodyPr wrap="square" lIns="0" tIns="0" rIns="0" bIns="0" rtlCol="0" anchor="ctr"/>
          <a:lstStyle/>
          <a:p>
            <a:pPr algn="r" indent="0" marL="0">
              <a:buNone/>
            </a:pPr>
            <a:r>
              <a:rPr lang="en-US" sz="950" b="1" dirty="0">
                <a:solidFill>
                  <a:srgbClr val="B4ACEF"/>
                </a:solidFill>
                <a:latin typeface="JetBrains Mono" pitchFamily="34" charset="0"/>
                <a:ea typeface="JetBrains Mono" pitchFamily="34" charset="-122"/>
                <a:cs typeface="JetBrains Mono" pitchFamily="34" charset="-120"/>
              </a:rPr>
              <a:t>● MRR</a:t>
            </a:r>
            <a:pPr algn="r" indent="0" marL="0">
              <a:buNone/>
            </a:pPr>
            <a:r>
              <a:rPr lang="en-US" sz="950" b="1" dirty="0">
                <a:solidFill>
                  <a:srgbClr val="C7CCE8"/>
                </a:solidFill>
                <a:latin typeface="JetBrains Mono" pitchFamily="34" charset="0"/>
                <a:ea typeface="JetBrains Mono" pitchFamily="34" charset="-122"/>
                <a:cs typeface="JetBrains Mono" pitchFamily="34" charset="-120"/>
              </a:rPr>
              <a:t>    ● EBITDA</a:t>
            </a:r>
            <a:endParaRPr lang="en-US" sz="950" dirty="0"/>
          </a:p>
        </p:txBody>
      </p:sp>
      <p:sp>
        <p:nvSpPr>
          <p:cNvPr id="125" name="Shape 123"/>
          <p:cNvSpPr/>
          <p:nvPr/>
        </p:nvSpPr>
        <p:spPr>
          <a:xfrm>
            <a:off x="502920" y="5303520"/>
            <a:ext cx="5410048" cy="960120"/>
          </a:xfrm>
          <a:prstGeom prst="roundRect">
            <a:avLst>
              <a:gd name="adj" fmla="val 11429"/>
            </a:avLst>
          </a:prstGeom>
          <a:solidFill>
            <a:srgbClr val="EFECF7"/>
          </a:solidFill>
          <a:ln w="9525">
            <a:solidFill>
              <a:srgbClr val="E2E0F0"/>
            </a:solidFill>
            <a:prstDash val="solid"/>
          </a:ln>
        </p:spPr>
      </p:sp>
      <p:sp>
        <p:nvSpPr>
          <p:cNvPr id="126" name="Text 124"/>
          <p:cNvSpPr/>
          <p:nvPr/>
        </p:nvSpPr>
        <p:spPr>
          <a:xfrm>
            <a:off x="777240" y="5394960"/>
            <a:ext cx="4861408" cy="256032"/>
          </a:xfrm>
          <a:prstGeom prst="rect">
            <a:avLst/>
          </a:prstGeom>
          <a:noFill/>
          <a:ln/>
        </p:spPr>
        <p:txBody>
          <a:bodyPr wrap="square" lIns="0" tIns="0" rIns="0" bIns="0" rtlCol="0" anchor="ctr"/>
          <a:lstStyle/>
          <a:p>
            <a:pPr algn="l" indent="0" marL="0">
              <a:buNone/>
            </a:pPr>
            <a:r>
              <a:rPr lang="en-US" sz="1000" spc="300" kern="0" dirty="0">
                <a:solidFill>
                  <a:srgbClr val="94A3B8"/>
                </a:solidFill>
                <a:latin typeface="JetBrains Mono" pitchFamily="34" charset="0"/>
                <a:ea typeface="JetBrains Mono" pitchFamily="34" charset="-122"/>
                <a:cs typeface="JetBrains Mono" pitchFamily="34" charset="-120"/>
              </a:rPr>
              <a:t>SPRINT BASE  ·  M18</a:t>
            </a:r>
            <a:endParaRPr lang="en-US" sz="1000" dirty="0"/>
          </a:p>
        </p:txBody>
      </p:sp>
      <p:sp>
        <p:nvSpPr>
          <p:cNvPr id="127" name="Text 125"/>
          <p:cNvSpPr/>
          <p:nvPr/>
        </p:nvSpPr>
        <p:spPr>
          <a:xfrm>
            <a:off x="777240" y="5623560"/>
            <a:ext cx="4861408" cy="548640"/>
          </a:xfrm>
          <a:prstGeom prst="rect">
            <a:avLst/>
          </a:prstGeom>
          <a:noFill/>
          <a:ln/>
        </p:spPr>
        <p:txBody>
          <a:bodyPr wrap="square" lIns="0" tIns="0" rIns="0" bIns="0" rtlCol="0" anchor="ctr"/>
          <a:lstStyle/>
          <a:p>
            <a:pPr algn="l" indent="0" marL="0">
              <a:buNone/>
            </a:pPr>
            <a:r>
              <a:rPr lang="en-US" sz="2600" b="1" dirty="0">
                <a:solidFill>
                  <a:srgbClr val="0F172A"/>
                </a:solidFill>
                <a:latin typeface="Inter" pitchFamily="34" charset="0"/>
                <a:ea typeface="Inter" pitchFamily="34" charset="-122"/>
                <a:cs typeface="Inter" pitchFamily="34" charset="-120"/>
              </a:rPr>
              <a:t>~£135K</a:t>
            </a:r>
            <a:pPr algn="l" indent="0" marL="0">
              <a:buNone/>
            </a:pPr>
            <a:r>
              <a:rPr lang="en-US" sz="1200" dirty="0">
                <a:solidFill>
                  <a:srgbClr val="94A3B8"/>
                </a:solidFill>
                <a:latin typeface="Inter" pitchFamily="34" charset="0"/>
                <a:ea typeface="Inter" pitchFamily="34" charset="-122"/>
                <a:cs typeface="Inter" pitchFamily="34" charset="-120"/>
              </a:rPr>
              <a:t> MRR   </a:t>
            </a:r>
            <a:pPr algn="l" indent="0" marL="0">
              <a:buNone/>
            </a:pPr>
            <a:r>
              <a:rPr lang="en-US" sz="2200" b="1" dirty="0">
                <a:solidFill>
                  <a:srgbClr val="065F46"/>
                </a:solidFill>
                <a:latin typeface="Inter" pitchFamily="34" charset="0"/>
                <a:ea typeface="Inter" pitchFamily="34" charset="-122"/>
                <a:cs typeface="Inter" pitchFamily="34" charset="-120"/>
              </a:rPr>
              <a:t>~£28K</a:t>
            </a:r>
            <a:pPr algn="l" indent="0" marL="0">
              <a:buNone/>
            </a:pPr>
            <a:r>
              <a:rPr lang="en-US" sz="1200" dirty="0">
                <a:solidFill>
                  <a:srgbClr val="94A3B8"/>
                </a:solidFill>
                <a:latin typeface="Inter" pitchFamily="34" charset="0"/>
                <a:ea typeface="Inter" pitchFamily="34" charset="-122"/>
                <a:cs typeface="Inter" pitchFamily="34" charset="-120"/>
              </a:rPr>
              <a:t> EBITDA   </a:t>
            </a:r>
            <a:pPr algn="l" indent="0" marL="0">
              <a:buNone/>
            </a:pPr>
            <a:r>
              <a:rPr lang="en-US" sz="1300" dirty="0">
                <a:solidFill>
                  <a:srgbClr val="475569"/>
                </a:solidFill>
                <a:latin typeface="Inter" pitchFamily="34" charset="0"/>
                <a:ea typeface="Inter" pitchFamily="34" charset="-122"/>
                <a:cs typeface="Inter" pitchFamily="34" charset="-120"/>
              </a:rPr>
              <a:t>~£1.6M ARR</a:t>
            </a:r>
            <a:endParaRPr lang="en-US" sz="2600" dirty="0"/>
          </a:p>
        </p:txBody>
      </p:sp>
      <p:sp>
        <p:nvSpPr>
          <p:cNvPr id="128" name="Shape 126"/>
          <p:cNvSpPr/>
          <p:nvPr/>
        </p:nvSpPr>
        <p:spPr>
          <a:xfrm>
            <a:off x="6278728" y="5303520"/>
            <a:ext cx="5410048" cy="960120"/>
          </a:xfrm>
          <a:prstGeom prst="roundRect">
            <a:avLst>
              <a:gd name="adj" fmla="val 11429"/>
            </a:avLst>
          </a:prstGeom>
          <a:solidFill>
            <a:srgbClr val="5040E5"/>
          </a:solidFill>
          <a:ln w="9525">
            <a:solidFill>
              <a:srgbClr val="3A2BC0"/>
            </a:solidFill>
            <a:prstDash val="solid"/>
          </a:ln>
        </p:spPr>
      </p:sp>
      <p:sp>
        <p:nvSpPr>
          <p:cNvPr id="129" name="Text 127"/>
          <p:cNvSpPr/>
          <p:nvPr/>
        </p:nvSpPr>
        <p:spPr>
          <a:xfrm>
            <a:off x="6553048" y="5394960"/>
            <a:ext cx="4861408" cy="256032"/>
          </a:xfrm>
          <a:prstGeom prst="rect">
            <a:avLst/>
          </a:prstGeom>
          <a:noFill/>
          <a:ln/>
        </p:spPr>
        <p:txBody>
          <a:bodyPr wrap="square" lIns="0" tIns="0" rIns="0" bIns="0" rtlCol="0" anchor="ctr"/>
          <a:lstStyle/>
          <a:p>
            <a:pPr algn="l" indent="0" marL="0">
              <a:buNone/>
            </a:pPr>
            <a:r>
              <a:rPr lang="en-US" sz="1000" spc="300" kern="0" dirty="0">
                <a:solidFill>
                  <a:srgbClr val="B4ACEF"/>
                </a:solidFill>
                <a:latin typeface="JetBrains Mono" pitchFamily="34" charset="0"/>
                <a:ea typeface="JetBrains Mono" pitchFamily="34" charset="-122"/>
                <a:cs typeface="JetBrains Mono" pitchFamily="34" charset="-120"/>
              </a:rPr>
              <a:t>SPRINT UPSIDE  ·  M18</a:t>
            </a:r>
            <a:endParaRPr lang="en-US" sz="1000" dirty="0"/>
          </a:p>
        </p:txBody>
      </p:sp>
      <p:sp>
        <p:nvSpPr>
          <p:cNvPr id="130" name="Text 128"/>
          <p:cNvSpPr/>
          <p:nvPr/>
        </p:nvSpPr>
        <p:spPr>
          <a:xfrm>
            <a:off x="6553048" y="5623560"/>
            <a:ext cx="4861408"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Inter" pitchFamily="34" charset="0"/>
                <a:ea typeface="Inter" pitchFamily="34" charset="-122"/>
                <a:cs typeface="Inter" pitchFamily="34" charset="-120"/>
              </a:rPr>
              <a:t>~£380K</a:t>
            </a:r>
            <a:pPr algn="l" indent="0" marL="0">
              <a:buNone/>
            </a:pPr>
            <a:r>
              <a:rPr lang="en-US" sz="1200" dirty="0">
                <a:solidFill>
                  <a:srgbClr val="B4ACEF"/>
                </a:solidFill>
                <a:latin typeface="Inter" pitchFamily="34" charset="0"/>
                <a:ea typeface="Inter" pitchFamily="34" charset="-122"/>
                <a:cs typeface="Inter" pitchFamily="34" charset="-120"/>
              </a:rPr>
              <a:t> MRR   </a:t>
            </a:r>
            <a:pPr algn="l" indent="0" marL="0">
              <a:buNone/>
            </a:pPr>
            <a:r>
              <a:rPr lang="en-US" sz="2200" b="1" dirty="0">
                <a:solidFill>
                  <a:srgbClr val="10B981"/>
                </a:solidFill>
                <a:latin typeface="Inter" pitchFamily="34" charset="0"/>
                <a:ea typeface="Inter" pitchFamily="34" charset="-122"/>
                <a:cs typeface="Inter" pitchFamily="34" charset="-120"/>
              </a:rPr>
              <a:t>~£145K</a:t>
            </a:r>
            <a:pPr algn="l" indent="0" marL="0">
              <a:buNone/>
            </a:pPr>
            <a:r>
              <a:rPr lang="en-US" sz="1200" dirty="0">
                <a:solidFill>
                  <a:srgbClr val="B4ACEF"/>
                </a:solidFill>
                <a:latin typeface="Inter" pitchFamily="34" charset="0"/>
                <a:ea typeface="Inter" pitchFamily="34" charset="-122"/>
                <a:cs typeface="Inter" pitchFamily="34" charset="-120"/>
              </a:rPr>
              <a:t> EBITDA   </a:t>
            </a:r>
            <a:pPr algn="l" indent="0" marL="0">
              <a:buNone/>
            </a:pPr>
            <a:r>
              <a:rPr lang="en-US" sz="1300" dirty="0">
                <a:solidFill>
                  <a:srgbClr val="C7CCE8"/>
                </a:solidFill>
                <a:latin typeface="Inter" pitchFamily="34" charset="0"/>
                <a:ea typeface="Inter" pitchFamily="34" charset="-122"/>
                <a:cs typeface="Inter" pitchFamily="34" charset="-120"/>
              </a:rPr>
              <a:t>~£4.5M ARR</a:t>
            </a:r>
            <a:endParaRPr lang="en-US" sz="2600" dirty="0"/>
          </a:p>
        </p:txBody>
      </p:sp>
      <p:sp>
        <p:nvSpPr>
          <p:cNvPr id="131" name="Shape 129"/>
          <p:cNvSpPr/>
          <p:nvPr/>
        </p:nvSpPr>
        <p:spPr>
          <a:xfrm>
            <a:off x="502920" y="6263640"/>
            <a:ext cx="11185855" cy="0"/>
          </a:xfrm>
          <a:prstGeom prst="line">
            <a:avLst/>
          </a:prstGeom>
          <a:noFill/>
          <a:ln w="6350">
            <a:solidFill>
              <a:srgbClr val="E2E0F0"/>
            </a:solidFill>
            <a:prstDash val="solid"/>
          </a:ln>
        </p:spPr>
      </p:sp>
      <p:sp>
        <p:nvSpPr>
          <p:cNvPr id="132" name="Text 130"/>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133" name="Text 131"/>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16  /  28</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17  ·  MONTH-6 REVIEW  ·  THREE EXIT OPTIONS</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Shape 5"/>
          <p:cNvSpPr/>
          <p:nvPr/>
        </p:nvSpPr>
        <p:spPr>
          <a:xfrm>
            <a:off x="502920" y="868680"/>
            <a:ext cx="11185855" cy="457200"/>
          </a:xfrm>
          <a:prstGeom prst="roundRect">
            <a:avLst>
              <a:gd name="adj" fmla="val 50000"/>
            </a:avLst>
          </a:prstGeom>
          <a:solidFill>
            <a:srgbClr val="5040E5"/>
          </a:solidFill>
          <a:ln/>
        </p:spPr>
      </p:sp>
      <p:sp>
        <p:nvSpPr>
          <p:cNvPr id="8" name="Text 6"/>
          <p:cNvSpPr/>
          <p:nvPr/>
        </p:nvSpPr>
        <p:spPr>
          <a:xfrm>
            <a:off x="502920" y="868680"/>
            <a:ext cx="11185855" cy="457200"/>
          </a:xfrm>
          <a:prstGeom prst="rect">
            <a:avLst/>
          </a:prstGeom>
          <a:noFill/>
          <a:ln/>
        </p:spPr>
        <p:txBody>
          <a:bodyPr wrap="square" lIns="0" tIns="0" rIns="0" bIns="0" rtlCol="0" anchor="ctr"/>
          <a:lstStyle/>
          <a:p>
            <a:pPr algn="ctr" indent="0" marL="0">
              <a:buNone/>
            </a:pPr>
            <a:r>
              <a:rPr lang="en-US" sz="1300" b="1" spc="400" kern="0" dirty="0">
                <a:solidFill>
                  <a:srgbClr val="FFFFFF"/>
                </a:solidFill>
                <a:latin typeface="JetBrains Mono" pitchFamily="34" charset="0"/>
                <a:ea typeface="JetBrains Mono" pitchFamily="34" charset="-122"/>
                <a:cs typeface="JetBrains Mono" pitchFamily="34" charset="-120"/>
              </a:rPr>
              <a:t>M6  ·  DECIDE  ·  THREE EXIT OPTIONS FOR THE DAY-ONE INVESTOR</a:t>
            </a:r>
            <a:endParaRPr lang="en-US" sz="1300" dirty="0"/>
          </a:p>
        </p:txBody>
      </p:sp>
      <p:sp>
        <p:nvSpPr>
          <p:cNvPr id="9" name="Text 7"/>
          <p:cNvSpPr/>
          <p:nvPr/>
        </p:nvSpPr>
        <p:spPr>
          <a:xfrm>
            <a:off x="502920" y="150876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At month 6. </a:t>
            </a:r>
            <a:pPr algn="l" indent="0" marL="0">
              <a:buNone/>
            </a:pPr>
            <a:r>
              <a:rPr lang="en-US" sz="3600" b="1" dirty="0">
                <a:solidFill>
                  <a:srgbClr val="5040E5"/>
                </a:solidFill>
                <a:latin typeface="Inter" pitchFamily="34" charset="0"/>
                <a:ea typeface="Inter" pitchFamily="34" charset="-122"/>
                <a:cs typeface="Inter" pitchFamily="34" charset="-120"/>
              </a:rPr>
              <a:t>Three exit options.</a:t>
            </a:r>
            <a:endParaRPr lang="en-US" sz="3600" dirty="0"/>
          </a:p>
        </p:txBody>
      </p:sp>
      <p:sp>
        <p:nvSpPr>
          <p:cNvPr id="10" name="Text 8"/>
          <p:cNvSpPr/>
          <p:nvPr/>
        </p:nvSpPr>
        <p:spPr>
          <a:xfrm>
            <a:off x="502920" y="23317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Each is a real path. Investors see acquisition, further-funding growth, or a profitable lean business returning healthy ROI — all underwritten by the same first cohort.</a:t>
            </a:r>
            <a:endParaRPr lang="en-US" sz="1550" dirty="0"/>
          </a:p>
        </p:txBody>
      </p:sp>
      <p:sp>
        <p:nvSpPr>
          <p:cNvPr id="11" name="Shape 9"/>
          <p:cNvSpPr/>
          <p:nvPr/>
        </p:nvSpPr>
        <p:spPr>
          <a:xfrm>
            <a:off x="502920" y="3108960"/>
            <a:ext cx="3606698" cy="3017520"/>
          </a:xfrm>
          <a:prstGeom prst="roundRect">
            <a:avLst>
              <a:gd name="adj" fmla="val 3636"/>
            </a:avLst>
          </a:prstGeom>
          <a:solidFill>
            <a:srgbClr val="0B0E1F"/>
          </a:solidFill>
          <a:ln w="9525">
            <a:solidFill>
              <a:srgbClr val="26305A"/>
            </a:solidFill>
            <a:prstDash val="solid"/>
          </a:ln>
        </p:spPr>
      </p:sp>
      <p:sp>
        <p:nvSpPr>
          <p:cNvPr id="12" name="Text 10"/>
          <p:cNvSpPr/>
          <p:nvPr/>
        </p:nvSpPr>
        <p:spPr>
          <a:xfrm>
            <a:off x="777240" y="3310128"/>
            <a:ext cx="3058058"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ACQUISITION  ·  M12–18</a:t>
            </a:r>
            <a:endParaRPr lang="en-US" sz="1050" dirty="0"/>
          </a:p>
        </p:txBody>
      </p:sp>
      <p:sp>
        <p:nvSpPr>
          <p:cNvPr id="13" name="Text 11"/>
          <p:cNvSpPr/>
          <p:nvPr/>
        </p:nvSpPr>
        <p:spPr>
          <a:xfrm>
            <a:off x="777240" y="3657600"/>
            <a:ext cx="3058058" cy="411480"/>
          </a:xfrm>
          <a:prstGeom prst="rect">
            <a:avLst/>
          </a:prstGeom>
          <a:noFill/>
          <a:ln/>
        </p:spPr>
        <p:txBody>
          <a:bodyPr wrap="square" lIns="0" tIns="0" rIns="0" bIns="0" rtlCol="0" anchor="t"/>
          <a:lstStyle/>
          <a:p>
            <a:pPr algn="l" indent="0" marL="0">
              <a:buNone/>
            </a:pPr>
            <a:r>
              <a:rPr lang="en-US" sz="1900" b="1" dirty="0">
                <a:solidFill>
                  <a:srgbClr val="FFFFFF"/>
                </a:solidFill>
                <a:latin typeface="Inter" pitchFamily="34" charset="0"/>
                <a:ea typeface="Inter" pitchFamily="34" charset="-122"/>
                <a:cs typeface="Inter" pitchFamily="34" charset="-120"/>
              </a:rPr>
              <a:t>Strategic acquisition.</a:t>
            </a:r>
            <a:endParaRPr lang="en-US" sz="1900" dirty="0"/>
          </a:p>
        </p:txBody>
      </p:sp>
      <p:sp>
        <p:nvSpPr>
          <p:cNvPr id="14" name="Text 12"/>
          <p:cNvSpPr/>
          <p:nvPr/>
        </p:nvSpPr>
        <p:spPr>
          <a:xfrm>
            <a:off x="777240" y="4114800"/>
            <a:ext cx="3058058" cy="822960"/>
          </a:xfrm>
          <a:prstGeom prst="rect">
            <a:avLst/>
          </a:prstGeom>
          <a:noFill/>
          <a:ln/>
        </p:spPr>
        <p:txBody>
          <a:bodyPr wrap="square" lIns="0" tIns="0" rIns="0" bIns="0" rtlCol="0" anchor="t"/>
          <a:lstStyle/>
          <a:p>
            <a:pPr algn="l" indent="0" marL="0">
              <a:buNone/>
            </a:pPr>
            <a:r>
              <a:rPr lang="en-US" sz="2200" dirty="0">
                <a:solidFill>
                  <a:srgbClr val="B4ACEF"/>
                </a:solidFill>
                <a:latin typeface="Inter" pitchFamily="34" charset="0"/>
                <a:ea typeface="Inter" pitchFamily="34" charset="-122"/>
                <a:cs typeface="Inter" pitchFamily="34" charset="-120"/>
              </a:rPr>
              <a:t>$</a:t>
            </a:r>
            <a:pPr algn="l" indent="0" marL="0">
              <a:buNone/>
            </a:pPr>
            <a:r>
              <a:rPr lang="en-US" sz="5000" b="1" dirty="0">
                <a:solidFill>
                  <a:srgbClr val="B4ACEF"/>
                </a:solidFill>
                <a:latin typeface="Inter" pitchFamily="34" charset="0"/>
                <a:ea typeface="Inter" pitchFamily="34" charset="-122"/>
                <a:cs typeface="Inter" pitchFamily="34" charset="-120"/>
              </a:rPr>
              <a:t>20–100</a:t>
            </a:r>
            <a:pPr algn="l" indent="0" marL="0">
              <a:buNone/>
            </a:pPr>
            <a:r>
              <a:rPr lang="en-US" sz="1600" dirty="0">
                <a:solidFill>
                  <a:srgbClr val="B4ACEF"/>
                </a:solidFill>
                <a:latin typeface="Inter" pitchFamily="34" charset="0"/>
                <a:ea typeface="Inter" pitchFamily="34" charset="-122"/>
                <a:cs typeface="Inter" pitchFamily="34" charset="-120"/>
              </a:rPr>
              <a:t>M</a:t>
            </a:r>
            <a:endParaRPr lang="en-US" sz="2200" dirty="0"/>
          </a:p>
        </p:txBody>
      </p:sp>
      <p:sp>
        <p:nvSpPr>
          <p:cNvPr id="15" name="Text 13"/>
          <p:cNvSpPr/>
          <p:nvPr/>
        </p:nvSpPr>
        <p:spPr>
          <a:xfrm>
            <a:off x="777240" y="4892040"/>
            <a:ext cx="3058058" cy="228600"/>
          </a:xfrm>
          <a:prstGeom prst="rect">
            <a:avLst/>
          </a:prstGeom>
          <a:noFill/>
          <a:ln/>
        </p:spPr>
        <p:txBody>
          <a:bodyPr wrap="square" lIns="0" tIns="0" rIns="0" bIns="0" rtlCol="0" anchor="ctr"/>
          <a:lstStyle/>
          <a:p>
            <a:pPr algn="l" indent="0" marL="0">
              <a:buNone/>
            </a:pPr>
            <a:r>
              <a:rPr lang="en-US" sz="950" spc="300" kern="0" dirty="0">
                <a:solidFill>
                  <a:srgbClr val="B4ACEF"/>
                </a:solidFill>
                <a:latin typeface="JetBrains Mono" pitchFamily="34" charset="0"/>
                <a:ea typeface="JetBrains Mono" pitchFamily="34" charset="-122"/>
                <a:cs typeface="JetBrains Mono" pitchFamily="34" charset="-120"/>
              </a:rPr>
              <a:t>VALUATION BAND</a:t>
            </a:r>
            <a:endParaRPr lang="en-US" sz="950" dirty="0"/>
          </a:p>
        </p:txBody>
      </p:sp>
      <p:sp>
        <p:nvSpPr>
          <p:cNvPr id="16" name="Text 14"/>
          <p:cNvSpPr/>
          <p:nvPr/>
        </p:nvSpPr>
        <p:spPr>
          <a:xfrm>
            <a:off x="777240" y="5120640"/>
            <a:ext cx="3058058" cy="777240"/>
          </a:xfrm>
          <a:prstGeom prst="rect">
            <a:avLst/>
          </a:prstGeom>
          <a:noFill/>
          <a:ln/>
        </p:spPr>
        <p:txBody>
          <a:bodyPr wrap="square" lIns="0" tIns="0" rIns="0" bIns="0" rtlCol="0" anchor="t"/>
          <a:lstStyle/>
          <a:p>
            <a:pPr algn="l" indent="0" marL="0">
              <a:buNone/>
            </a:pPr>
            <a:r>
              <a:rPr lang="en-US" sz="1050" dirty="0">
                <a:solidFill>
                  <a:srgbClr val="C7CCE8"/>
                </a:solidFill>
                <a:latin typeface="Inter" pitchFamily="34" charset="0"/>
                <a:ea typeface="Inter" pitchFamily="34" charset="-122"/>
                <a:cs typeface="Inter" pitchFamily="34" charset="-120"/>
              </a:rPr>
              <a:t>5–15K active users, clean positioning, alignment with a major AI tool vendor at M12–18.</a:t>
            </a:r>
            <a:endParaRPr lang="en-US" sz="1050" dirty="0"/>
          </a:p>
        </p:txBody>
      </p:sp>
      <p:sp>
        <p:nvSpPr>
          <p:cNvPr id="17" name="Shape 15"/>
          <p:cNvSpPr/>
          <p:nvPr/>
        </p:nvSpPr>
        <p:spPr>
          <a:xfrm>
            <a:off x="777240" y="5623560"/>
            <a:ext cx="1483309" cy="292608"/>
          </a:xfrm>
          <a:prstGeom prst="roundRect">
            <a:avLst>
              <a:gd name="adj" fmla="val 50000"/>
            </a:avLst>
          </a:prstGeom>
          <a:solidFill>
            <a:srgbClr val="1F2547"/>
          </a:solidFill>
          <a:ln/>
        </p:spPr>
      </p:sp>
      <p:sp>
        <p:nvSpPr>
          <p:cNvPr id="18" name="Text 16"/>
          <p:cNvSpPr/>
          <p:nvPr/>
        </p:nvSpPr>
        <p:spPr>
          <a:xfrm>
            <a:off x="777240" y="5623560"/>
            <a:ext cx="1483309" cy="292608"/>
          </a:xfrm>
          <a:prstGeom prst="rect">
            <a:avLst/>
          </a:prstGeom>
          <a:noFill/>
          <a:ln/>
        </p:spPr>
        <p:txBody>
          <a:bodyPr wrap="square" lIns="0" tIns="0" rIns="0" bIns="0" rtlCol="0" anchor="ctr"/>
          <a:lstStyle/>
          <a:p>
            <a:pPr algn="ctr" indent="0" marL="0">
              <a:buNone/>
            </a:pPr>
            <a:r>
              <a:rPr lang="en-US" sz="900" spc="150" kern="0" dirty="0">
                <a:solidFill>
                  <a:srgbClr val="B4ACEF"/>
                </a:solidFill>
                <a:latin typeface="JetBrains Mono" pitchFamily="34" charset="0"/>
                <a:ea typeface="JetBrains Mono" pitchFamily="34" charset="-122"/>
                <a:cs typeface="JetBrains Mono" pitchFamily="34" charset="-120"/>
              </a:rPr>
              <a:t>ANTHROPIC</a:t>
            </a:r>
            <a:endParaRPr lang="en-US" sz="900" dirty="0"/>
          </a:p>
        </p:txBody>
      </p:sp>
      <p:sp>
        <p:nvSpPr>
          <p:cNvPr id="19" name="Shape 17"/>
          <p:cNvSpPr/>
          <p:nvPr/>
        </p:nvSpPr>
        <p:spPr>
          <a:xfrm>
            <a:off x="2351989" y="5623560"/>
            <a:ext cx="1483309" cy="292608"/>
          </a:xfrm>
          <a:prstGeom prst="roundRect">
            <a:avLst>
              <a:gd name="adj" fmla="val 50000"/>
            </a:avLst>
          </a:prstGeom>
          <a:solidFill>
            <a:srgbClr val="1F2547"/>
          </a:solidFill>
          <a:ln/>
        </p:spPr>
      </p:sp>
      <p:sp>
        <p:nvSpPr>
          <p:cNvPr id="20" name="Text 18"/>
          <p:cNvSpPr/>
          <p:nvPr/>
        </p:nvSpPr>
        <p:spPr>
          <a:xfrm>
            <a:off x="2351989" y="5623560"/>
            <a:ext cx="1483309" cy="292608"/>
          </a:xfrm>
          <a:prstGeom prst="rect">
            <a:avLst/>
          </a:prstGeom>
          <a:noFill/>
          <a:ln/>
        </p:spPr>
        <p:txBody>
          <a:bodyPr wrap="square" lIns="0" tIns="0" rIns="0" bIns="0" rtlCol="0" anchor="ctr"/>
          <a:lstStyle/>
          <a:p>
            <a:pPr algn="ctr" indent="0" marL="0">
              <a:buNone/>
            </a:pPr>
            <a:r>
              <a:rPr lang="en-US" sz="900" spc="150" kern="0" dirty="0">
                <a:solidFill>
                  <a:srgbClr val="B4ACEF"/>
                </a:solidFill>
                <a:latin typeface="JetBrains Mono" pitchFamily="34" charset="0"/>
                <a:ea typeface="JetBrains Mono" pitchFamily="34" charset="-122"/>
                <a:cs typeface="JetBrains Mono" pitchFamily="34" charset="-120"/>
              </a:rPr>
              <a:t>VERCEL</a:t>
            </a:r>
            <a:endParaRPr lang="en-US" sz="900" dirty="0"/>
          </a:p>
        </p:txBody>
      </p:sp>
      <p:sp>
        <p:nvSpPr>
          <p:cNvPr id="21" name="Shape 19"/>
          <p:cNvSpPr/>
          <p:nvPr/>
        </p:nvSpPr>
        <p:spPr>
          <a:xfrm>
            <a:off x="4292498" y="3108960"/>
            <a:ext cx="3606698" cy="3017520"/>
          </a:xfrm>
          <a:prstGeom prst="roundRect">
            <a:avLst>
              <a:gd name="adj" fmla="val 3636"/>
            </a:avLst>
          </a:prstGeom>
          <a:solidFill>
            <a:srgbClr val="FFFFFF"/>
          </a:solidFill>
          <a:ln w="19050">
            <a:solidFill>
              <a:srgbClr val="5040E5"/>
            </a:solidFill>
            <a:prstDash val="solid"/>
          </a:ln>
        </p:spPr>
      </p:sp>
      <p:sp>
        <p:nvSpPr>
          <p:cNvPr id="22" name="Text 20"/>
          <p:cNvSpPr/>
          <p:nvPr/>
        </p:nvSpPr>
        <p:spPr>
          <a:xfrm>
            <a:off x="4566818" y="3310128"/>
            <a:ext cx="305805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GROWTH  ·  HYPERGROWTH RAISE</a:t>
            </a:r>
            <a:endParaRPr lang="en-US" sz="1050" dirty="0"/>
          </a:p>
        </p:txBody>
      </p:sp>
      <p:sp>
        <p:nvSpPr>
          <p:cNvPr id="23" name="Text 21"/>
          <p:cNvSpPr/>
          <p:nvPr/>
        </p:nvSpPr>
        <p:spPr>
          <a:xfrm>
            <a:off x="4566818" y="3657600"/>
            <a:ext cx="3058058" cy="411480"/>
          </a:xfrm>
          <a:prstGeom prst="rect">
            <a:avLst/>
          </a:prstGeom>
          <a:noFill/>
          <a:ln/>
        </p:spPr>
        <p:txBody>
          <a:bodyPr wrap="square" lIns="0" tIns="0" rIns="0" bIns="0" rtlCol="0" anchor="t"/>
          <a:lstStyle/>
          <a:p>
            <a:pPr algn="l" indent="0" marL="0">
              <a:buNone/>
            </a:pPr>
            <a:r>
              <a:rPr lang="en-US" sz="1900" b="1" dirty="0">
                <a:solidFill>
                  <a:srgbClr val="0F172A"/>
                </a:solidFill>
                <a:latin typeface="Inter" pitchFamily="34" charset="0"/>
                <a:ea typeface="Inter" pitchFamily="34" charset="-122"/>
                <a:cs typeface="Inter" pitchFamily="34" charset="-120"/>
              </a:rPr>
              <a:t>Pre-seed → seed raise.</a:t>
            </a:r>
            <a:endParaRPr lang="en-US" sz="1900" dirty="0"/>
          </a:p>
        </p:txBody>
      </p:sp>
      <p:sp>
        <p:nvSpPr>
          <p:cNvPr id="24" name="Text 22"/>
          <p:cNvSpPr/>
          <p:nvPr/>
        </p:nvSpPr>
        <p:spPr>
          <a:xfrm>
            <a:off x="4566818" y="4114800"/>
            <a:ext cx="3058058" cy="822960"/>
          </a:xfrm>
          <a:prstGeom prst="rect">
            <a:avLst/>
          </a:prstGeom>
          <a:noFill/>
          <a:ln/>
        </p:spPr>
        <p:txBody>
          <a:bodyPr wrap="square" lIns="0" tIns="0" rIns="0" bIns="0" rtlCol="0" anchor="t"/>
          <a:lstStyle/>
          <a:p>
            <a:pPr algn="l" indent="0" marL="0">
              <a:buNone/>
            </a:pPr>
            <a:r>
              <a:rPr lang="en-US" sz="2200" dirty="0">
                <a:solidFill>
                  <a:srgbClr val="5040E5"/>
                </a:solidFill>
                <a:latin typeface="Inter" pitchFamily="34" charset="0"/>
                <a:ea typeface="Inter" pitchFamily="34" charset="-122"/>
                <a:cs typeface="Inter" pitchFamily="34" charset="-120"/>
              </a:rPr>
              <a:t>£</a:t>
            </a:r>
            <a:pPr algn="l" indent="0" marL="0">
              <a:buNone/>
            </a:pPr>
            <a:r>
              <a:rPr lang="en-US" sz="5000" b="1" dirty="0">
                <a:solidFill>
                  <a:srgbClr val="5040E5"/>
                </a:solidFill>
                <a:latin typeface="Inter" pitchFamily="34" charset="0"/>
                <a:ea typeface="Inter" pitchFamily="34" charset="-122"/>
                <a:cs typeface="Inter" pitchFamily="34" charset="-120"/>
              </a:rPr>
              <a:t>20–50</a:t>
            </a:r>
            <a:pPr algn="l" indent="0" marL="0">
              <a:buNone/>
            </a:pPr>
            <a:r>
              <a:rPr lang="en-US" sz="1600" dirty="0">
                <a:solidFill>
                  <a:srgbClr val="5040E5"/>
                </a:solidFill>
                <a:latin typeface="Inter" pitchFamily="34" charset="0"/>
                <a:ea typeface="Inter" pitchFamily="34" charset="-122"/>
                <a:cs typeface="Inter" pitchFamily="34" charset="-120"/>
              </a:rPr>
              <a:t>M</a:t>
            </a:r>
            <a:endParaRPr lang="en-US" sz="2200" dirty="0"/>
          </a:p>
        </p:txBody>
      </p:sp>
      <p:sp>
        <p:nvSpPr>
          <p:cNvPr id="25" name="Text 23"/>
          <p:cNvSpPr/>
          <p:nvPr/>
        </p:nvSpPr>
        <p:spPr>
          <a:xfrm>
            <a:off x="4566818" y="4892040"/>
            <a:ext cx="3058058" cy="22860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VALUATION (PROJECTED)</a:t>
            </a:r>
            <a:endParaRPr lang="en-US" sz="950" dirty="0"/>
          </a:p>
        </p:txBody>
      </p:sp>
      <p:sp>
        <p:nvSpPr>
          <p:cNvPr id="26" name="Text 24"/>
          <p:cNvSpPr/>
          <p:nvPr/>
        </p:nvSpPr>
        <p:spPr>
          <a:xfrm>
            <a:off x="4566818" y="5120640"/>
            <a:ext cx="3058058" cy="777240"/>
          </a:xfrm>
          <a:prstGeom prst="rect">
            <a:avLst/>
          </a:prstGeom>
          <a:noFill/>
          <a:ln/>
        </p:spPr>
        <p:txBody>
          <a:bodyPr wrap="square" lIns="0" tIns="0" rIns="0" bIns="0" rtlCol="0" anchor="t"/>
          <a:lstStyle/>
          <a:p>
            <a:pPr algn="l" indent="0" marL="0">
              <a:buNone/>
            </a:pPr>
            <a:r>
              <a:rPr lang="en-US" sz="1050" dirty="0">
                <a:solidFill>
                  <a:srgbClr val="475569"/>
                </a:solidFill>
                <a:latin typeface="Inter" pitchFamily="34" charset="0"/>
                <a:ea typeface="Inter" pitchFamily="34" charset="-122"/>
                <a:cs typeface="Inter" pitchFamily="34" charset="-120"/>
              </a:rPr>
              <a:t>£100–300K MRR with 30%+ MoM growth at M12–15. Raise funds 5–8 hires, full paid engine, product expansion. Y2 ARR target £8–15M.</a:t>
            </a:r>
            <a:endParaRPr lang="en-US" sz="1050" dirty="0"/>
          </a:p>
        </p:txBody>
      </p:sp>
      <p:sp>
        <p:nvSpPr>
          <p:cNvPr id="27" name="Shape 25"/>
          <p:cNvSpPr/>
          <p:nvPr/>
        </p:nvSpPr>
        <p:spPr>
          <a:xfrm>
            <a:off x="4566818" y="5623560"/>
            <a:ext cx="1483309" cy="292608"/>
          </a:xfrm>
          <a:prstGeom prst="roundRect">
            <a:avLst>
              <a:gd name="adj" fmla="val 50000"/>
            </a:avLst>
          </a:prstGeom>
          <a:solidFill>
            <a:srgbClr val="EFECF7"/>
          </a:solidFill>
          <a:ln/>
        </p:spPr>
      </p:sp>
      <p:sp>
        <p:nvSpPr>
          <p:cNvPr id="28" name="Text 26"/>
          <p:cNvSpPr/>
          <p:nvPr/>
        </p:nvSpPr>
        <p:spPr>
          <a:xfrm>
            <a:off x="4566818" y="5623560"/>
            <a:ext cx="1483309" cy="292608"/>
          </a:xfrm>
          <a:prstGeom prst="rect">
            <a:avLst/>
          </a:prstGeom>
          <a:noFill/>
          <a:ln/>
        </p:spPr>
        <p:txBody>
          <a:bodyPr wrap="square" lIns="0" tIns="0" rIns="0" bIns="0" rtlCol="0" anchor="ctr"/>
          <a:lstStyle/>
          <a:p>
            <a:pPr algn="ctr" indent="0" marL="0">
              <a:buNone/>
            </a:pPr>
            <a:r>
              <a:rPr lang="en-US" sz="900" spc="150" kern="0" dirty="0">
                <a:solidFill>
                  <a:srgbClr val="94A3B8"/>
                </a:solidFill>
                <a:latin typeface="JetBrains Mono" pitchFamily="34" charset="0"/>
                <a:ea typeface="JetBrains Mono" pitchFamily="34" charset="-122"/>
                <a:cs typeface="JetBrains Mono" pitchFamily="34" charset="-120"/>
              </a:rPr>
              <a:t>EARLYBIRD AI</a:t>
            </a:r>
            <a:endParaRPr lang="en-US" sz="900" dirty="0"/>
          </a:p>
        </p:txBody>
      </p:sp>
      <p:sp>
        <p:nvSpPr>
          <p:cNvPr id="29" name="Shape 27"/>
          <p:cNvSpPr/>
          <p:nvPr/>
        </p:nvSpPr>
        <p:spPr>
          <a:xfrm>
            <a:off x="6141568" y="5623560"/>
            <a:ext cx="1483309" cy="292608"/>
          </a:xfrm>
          <a:prstGeom prst="roundRect">
            <a:avLst>
              <a:gd name="adj" fmla="val 50000"/>
            </a:avLst>
          </a:prstGeom>
          <a:solidFill>
            <a:srgbClr val="EFECF7"/>
          </a:solidFill>
          <a:ln/>
        </p:spPr>
      </p:sp>
      <p:sp>
        <p:nvSpPr>
          <p:cNvPr id="30" name="Text 28"/>
          <p:cNvSpPr/>
          <p:nvPr/>
        </p:nvSpPr>
        <p:spPr>
          <a:xfrm>
            <a:off x="6141568" y="5623560"/>
            <a:ext cx="1483309" cy="292608"/>
          </a:xfrm>
          <a:prstGeom prst="rect">
            <a:avLst/>
          </a:prstGeom>
          <a:noFill/>
          <a:ln/>
        </p:spPr>
        <p:txBody>
          <a:bodyPr wrap="square" lIns="0" tIns="0" rIns="0" bIns="0" rtlCol="0" anchor="ctr"/>
          <a:lstStyle/>
          <a:p>
            <a:pPr algn="ctr" indent="0" marL="0">
              <a:buNone/>
            </a:pPr>
            <a:r>
              <a:rPr lang="en-US" sz="900" spc="150" kern="0" dirty="0">
                <a:solidFill>
                  <a:srgbClr val="94A3B8"/>
                </a:solidFill>
                <a:latin typeface="JetBrains Mono" pitchFamily="34" charset="0"/>
                <a:ea typeface="JetBrains Mono" pitchFamily="34" charset="-122"/>
                <a:cs typeface="JetBrains Mono" pitchFamily="34" charset="-120"/>
              </a:rPr>
              <a:t>SEEDCAMP</a:t>
            </a:r>
            <a:endParaRPr lang="en-US" sz="900" dirty="0"/>
          </a:p>
        </p:txBody>
      </p:sp>
      <p:sp>
        <p:nvSpPr>
          <p:cNvPr id="31" name="Shape 29"/>
          <p:cNvSpPr/>
          <p:nvPr/>
        </p:nvSpPr>
        <p:spPr>
          <a:xfrm>
            <a:off x="8082077" y="3108960"/>
            <a:ext cx="3606698" cy="3017520"/>
          </a:xfrm>
          <a:prstGeom prst="roundRect">
            <a:avLst>
              <a:gd name="adj" fmla="val 3636"/>
            </a:avLst>
          </a:prstGeom>
          <a:solidFill>
            <a:srgbClr val="FFFFFF"/>
          </a:solidFill>
          <a:ln w="9525">
            <a:solidFill>
              <a:srgbClr val="E2E0F0"/>
            </a:solidFill>
            <a:prstDash val="solid"/>
          </a:ln>
        </p:spPr>
      </p:sp>
      <p:sp>
        <p:nvSpPr>
          <p:cNvPr id="32" name="Text 30"/>
          <p:cNvSpPr/>
          <p:nvPr/>
        </p:nvSpPr>
        <p:spPr>
          <a:xfrm>
            <a:off x="8356397" y="3310128"/>
            <a:ext cx="305805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LEAN  ·  PROFITABLE BUSINESS</a:t>
            </a:r>
            <a:endParaRPr lang="en-US" sz="1050" dirty="0"/>
          </a:p>
        </p:txBody>
      </p:sp>
      <p:sp>
        <p:nvSpPr>
          <p:cNvPr id="33" name="Text 31"/>
          <p:cNvSpPr/>
          <p:nvPr/>
        </p:nvSpPr>
        <p:spPr>
          <a:xfrm>
            <a:off x="8356397" y="3657600"/>
            <a:ext cx="3058058" cy="411480"/>
          </a:xfrm>
          <a:prstGeom prst="rect">
            <a:avLst/>
          </a:prstGeom>
          <a:noFill/>
          <a:ln/>
        </p:spPr>
        <p:txBody>
          <a:bodyPr wrap="square" lIns="0" tIns="0" rIns="0" bIns="0" rtlCol="0" anchor="t"/>
          <a:lstStyle/>
          <a:p>
            <a:pPr algn="l" indent="0" marL="0">
              <a:buNone/>
            </a:pPr>
            <a:r>
              <a:rPr lang="en-US" sz="1900" b="1" dirty="0">
                <a:solidFill>
                  <a:srgbClr val="0F172A"/>
                </a:solidFill>
                <a:latin typeface="Inter" pitchFamily="34" charset="0"/>
                <a:ea typeface="Inter" pitchFamily="34" charset="-122"/>
                <a:cs typeface="Inter" pitchFamily="34" charset="-120"/>
              </a:rPr>
              <a:t>Healthy ROI · no raise.</a:t>
            </a:r>
            <a:endParaRPr lang="en-US" sz="1900" dirty="0"/>
          </a:p>
        </p:txBody>
      </p:sp>
      <p:sp>
        <p:nvSpPr>
          <p:cNvPr id="34" name="Text 32"/>
          <p:cNvSpPr/>
          <p:nvPr/>
        </p:nvSpPr>
        <p:spPr>
          <a:xfrm>
            <a:off x="8356397" y="4114800"/>
            <a:ext cx="3058058" cy="822960"/>
          </a:xfrm>
          <a:prstGeom prst="rect">
            <a:avLst/>
          </a:prstGeom>
          <a:noFill/>
          <a:ln/>
        </p:spPr>
        <p:txBody>
          <a:bodyPr wrap="square" lIns="0" tIns="0" rIns="0" bIns="0" rtlCol="0" anchor="t"/>
          <a:lstStyle/>
          <a:p>
            <a:pPr algn="l" indent="0" marL="0">
              <a:buNone/>
            </a:pPr>
            <a:r>
              <a:rPr lang="en-US" sz="2200" dirty="0">
                <a:solidFill>
                  <a:srgbClr val="0F172A"/>
                </a:solidFill>
                <a:latin typeface="Inter" pitchFamily="34" charset="0"/>
                <a:ea typeface="Inter" pitchFamily="34" charset="-122"/>
                <a:cs typeface="Inter" pitchFamily="34" charset="-120"/>
              </a:rPr>
              <a:t>£</a:t>
            </a:r>
            <a:pPr algn="l" indent="0" marL="0">
              <a:buNone/>
            </a:pPr>
            <a:r>
              <a:rPr lang="en-US" sz="5000" b="1" dirty="0">
                <a:solidFill>
                  <a:srgbClr val="0F172A"/>
                </a:solidFill>
                <a:latin typeface="Inter" pitchFamily="34" charset="0"/>
                <a:ea typeface="Inter" pitchFamily="34" charset="-122"/>
                <a:cs typeface="Inter" pitchFamily="34" charset="-120"/>
              </a:rPr>
              <a:t>25–65</a:t>
            </a:r>
            <a:pPr algn="l" indent="0" marL="0">
              <a:buNone/>
            </a:pPr>
            <a:r>
              <a:rPr lang="en-US" sz="1600" dirty="0">
                <a:solidFill>
                  <a:srgbClr val="0F172A"/>
                </a:solidFill>
                <a:latin typeface="Inter" pitchFamily="34" charset="0"/>
                <a:ea typeface="Inter" pitchFamily="34" charset="-122"/>
                <a:cs typeface="Inter" pitchFamily="34" charset="-120"/>
              </a:rPr>
              <a:t>K/mo</a:t>
            </a:r>
            <a:endParaRPr lang="en-US" sz="2200" dirty="0"/>
          </a:p>
        </p:txBody>
      </p:sp>
      <p:sp>
        <p:nvSpPr>
          <p:cNvPr id="35" name="Text 33"/>
          <p:cNvSpPr/>
          <p:nvPr/>
        </p:nvSpPr>
        <p:spPr>
          <a:xfrm>
            <a:off x="8356397" y="4892040"/>
            <a:ext cx="3058058" cy="22860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FOUNDER DRAW + ROI</a:t>
            </a:r>
            <a:endParaRPr lang="en-US" sz="950" dirty="0"/>
          </a:p>
        </p:txBody>
      </p:sp>
      <p:sp>
        <p:nvSpPr>
          <p:cNvPr id="36" name="Text 34"/>
          <p:cNvSpPr/>
          <p:nvPr/>
        </p:nvSpPr>
        <p:spPr>
          <a:xfrm>
            <a:off x="8356397" y="5120640"/>
            <a:ext cx="3058058" cy="777240"/>
          </a:xfrm>
          <a:prstGeom prst="rect">
            <a:avLst/>
          </a:prstGeom>
          <a:noFill/>
          <a:ln/>
        </p:spPr>
        <p:txBody>
          <a:bodyPr wrap="square" lIns="0" tIns="0" rIns="0" bIns="0" rtlCol="0" anchor="t"/>
          <a:lstStyle/>
          <a:p>
            <a:pPr algn="l" indent="0" marL="0">
              <a:buNone/>
            </a:pPr>
            <a:r>
              <a:rPr lang="en-US" sz="1050" dirty="0">
                <a:solidFill>
                  <a:srgbClr val="475569"/>
                </a:solidFill>
                <a:latin typeface="Inter" pitchFamily="34" charset="0"/>
                <a:ea typeface="Inter" pitchFamily="34" charset="-122"/>
                <a:cs typeface="Inter" pitchFamily="34" charset="-120"/>
              </a:rPr>
              <a:t>Sprint base outcome. Profitable from ~M6. Investor returns capital via founder share-buyback / dividend on a ~24–36 month horizon.</a:t>
            </a:r>
            <a:endParaRPr lang="en-US" sz="1050" dirty="0"/>
          </a:p>
        </p:txBody>
      </p:sp>
      <p:sp>
        <p:nvSpPr>
          <p:cNvPr id="37" name="Shape 35"/>
          <p:cNvSpPr/>
          <p:nvPr/>
        </p:nvSpPr>
        <p:spPr>
          <a:xfrm>
            <a:off x="8356397" y="5623560"/>
            <a:ext cx="1483309" cy="292608"/>
          </a:xfrm>
          <a:prstGeom prst="roundRect">
            <a:avLst>
              <a:gd name="adj" fmla="val 50000"/>
            </a:avLst>
          </a:prstGeom>
          <a:solidFill>
            <a:srgbClr val="EFECF7"/>
          </a:solidFill>
          <a:ln/>
        </p:spPr>
      </p:sp>
      <p:sp>
        <p:nvSpPr>
          <p:cNvPr id="38" name="Text 36"/>
          <p:cNvSpPr/>
          <p:nvPr/>
        </p:nvSpPr>
        <p:spPr>
          <a:xfrm>
            <a:off x="8356397" y="5623560"/>
            <a:ext cx="1483309" cy="292608"/>
          </a:xfrm>
          <a:prstGeom prst="rect">
            <a:avLst/>
          </a:prstGeom>
          <a:noFill/>
          <a:ln/>
        </p:spPr>
        <p:txBody>
          <a:bodyPr wrap="square" lIns="0" tIns="0" rIns="0" bIns="0" rtlCol="0" anchor="ctr"/>
          <a:lstStyle/>
          <a:p>
            <a:pPr algn="ctr" indent="0" marL="0">
              <a:buNone/>
            </a:pPr>
            <a:r>
              <a:rPr lang="en-US" sz="900" spc="150" kern="0" dirty="0">
                <a:solidFill>
                  <a:srgbClr val="94A3B8"/>
                </a:solidFill>
                <a:latin typeface="JetBrains Mono" pitchFamily="34" charset="0"/>
                <a:ea typeface="JetBrains Mono" pitchFamily="34" charset="-122"/>
                <a:cs typeface="JetBrains Mono" pitchFamily="34" charset="-120"/>
              </a:rPr>
              <a:t>CONVERTKIT-STYLE</a:t>
            </a:r>
            <a:endParaRPr lang="en-US" sz="900" dirty="0"/>
          </a:p>
        </p:txBody>
      </p:sp>
      <p:sp>
        <p:nvSpPr>
          <p:cNvPr id="39" name="Shape 37"/>
          <p:cNvSpPr/>
          <p:nvPr/>
        </p:nvSpPr>
        <p:spPr>
          <a:xfrm>
            <a:off x="9931146" y="5623560"/>
            <a:ext cx="1483309" cy="292608"/>
          </a:xfrm>
          <a:prstGeom prst="roundRect">
            <a:avLst>
              <a:gd name="adj" fmla="val 50000"/>
            </a:avLst>
          </a:prstGeom>
          <a:solidFill>
            <a:srgbClr val="EFECF7"/>
          </a:solidFill>
          <a:ln/>
        </p:spPr>
      </p:sp>
      <p:sp>
        <p:nvSpPr>
          <p:cNvPr id="40" name="Text 38"/>
          <p:cNvSpPr/>
          <p:nvPr/>
        </p:nvSpPr>
        <p:spPr>
          <a:xfrm>
            <a:off x="9931146" y="5623560"/>
            <a:ext cx="1483309" cy="292608"/>
          </a:xfrm>
          <a:prstGeom prst="rect">
            <a:avLst/>
          </a:prstGeom>
          <a:noFill/>
          <a:ln/>
        </p:spPr>
        <p:txBody>
          <a:bodyPr wrap="square" lIns="0" tIns="0" rIns="0" bIns="0" rtlCol="0" anchor="ctr"/>
          <a:lstStyle/>
          <a:p>
            <a:pPr algn="ctr" indent="0" marL="0">
              <a:buNone/>
            </a:pPr>
            <a:r>
              <a:rPr lang="en-US" sz="900" spc="150" kern="0" dirty="0">
                <a:solidFill>
                  <a:srgbClr val="94A3B8"/>
                </a:solidFill>
                <a:latin typeface="JetBrains Mono" pitchFamily="34" charset="0"/>
                <a:ea typeface="JetBrains Mono" pitchFamily="34" charset="-122"/>
                <a:cs typeface="JetBrains Mono" pitchFamily="34" charset="-120"/>
              </a:rPr>
              <a:t>INDIE SAAS</a:t>
            </a:r>
            <a:endParaRPr lang="en-US" sz="900" dirty="0"/>
          </a:p>
        </p:txBody>
      </p:sp>
      <p:sp>
        <p:nvSpPr>
          <p:cNvPr id="41" name="Shape 39"/>
          <p:cNvSpPr/>
          <p:nvPr/>
        </p:nvSpPr>
        <p:spPr>
          <a:xfrm>
            <a:off x="502920" y="6263640"/>
            <a:ext cx="11185855" cy="0"/>
          </a:xfrm>
          <a:prstGeom prst="line">
            <a:avLst/>
          </a:prstGeom>
          <a:noFill/>
          <a:ln w="6350">
            <a:solidFill>
              <a:srgbClr val="E2E0F0"/>
            </a:solidFill>
            <a:prstDash val="solid"/>
          </a:ln>
        </p:spPr>
      </p:sp>
      <p:sp>
        <p:nvSpPr>
          <p:cNvPr id="42" name="Text 40"/>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43" name="Text 41"/>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17  /  28</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18  ·  TOP RISKS</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Top 3 risks. </a:t>
            </a:r>
            <a:pPr algn="l" indent="0" marL="0">
              <a:buNone/>
            </a:pPr>
            <a:r>
              <a:rPr lang="en-US" sz="3600" b="1" dirty="0">
                <a:solidFill>
                  <a:srgbClr val="5040E5"/>
                </a:solidFill>
                <a:latin typeface="Inter" pitchFamily="34" charset="0"/>
                <a:ea typeface="Inter" pitchFamily="34" charset="-122"/>
                <a:cs typeface="Inter" pitchFamily="34" charset="-120"/>
              </a:rPr>
              <a:t>Stated honestly. Mitigations ready.</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We're not pretending these don't exist. Full risks register in appendix.</a:t>
            </a:r>
            <a:endParaRPr lang="en-US" sz="1550" dirty="0"/>
          </a:p>
        </p:txBody>
      </p:sp>
      <p:sp>
        <p:nvSpPr>
          <p:cNvPr id="9" name="Shape 7"/>
          <p:cNvSpPr/>
          <p:nvPr/>
        </p:nvSpPr>
        <p:spPr>
          <a:xfrm>
            <a:off x="502920" y="2743200"/>
            <a:ext cx="11185855" cy="1097280"/>
          </a:xfrm>
          <a:prstGeom prst="roundRect">
            <a:avLst>
              <a:gd name="adj" fmla="val 10000"/>
            </a:avLst>
          </a:prstGeom>
          <a:solidFill>
            <a:srgbClr val="FFFFFF"/>
          </a:solidFill>
          <a:ln w="9525">
            <a:solidFill>
              <a:srgbClr val="E2E0F0"/>
            </a:solidFill>
            <a:prstDash val="solid"/>
          </a:ln>
        </p:spPr>
      </p:sp>
      <p:sp>
        <p:nvSpPr>
          <p:cNvPr id="10" name="Shape 8"/>
          <p:cNvSpPr/>
          <p:nvPr/>
        </p:nvSpPr>
        <p:spPr>
          <a:xfrm>
            <a:off x="777240" y="2907792"/>
            <a:ext cx="1463040" cy="384048"/>
          </a:xfrm>
          <a:prstGeom prst="roundRect">
            <a:avLst>
              <a:gd name="adj" fmla="val 50000"/>
            </a:avLst>
          </a:prstGeom>
          <a:solidFill>
            <a:srgbClr val="EF4444"/>
          </a:solidFill>
          <a:ln/>
        </p:spPr>
      </p:sp>
      <p:sp>
        <p:nvSpPr>
          <p:cNvPr id="11" name="Text 9"/>
          <p:cNvSpPr/>
          <p:nvPr/>
        </p:nvSpPr>
        <p:spPr>
          <a:xfrm>
            <a:off x="777240" y="2907792"/>
            <a:ext cx="1463040" cy="38404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JetBrains Mono" pitchFamily="34" charset="0"/>
                <a:ea typeface="JetBrains Mono" pitchFamily="34" charset="-122"/>
                <a:cs typeface="JetBrains Mono" pitchFamily="34" charset="-120"/>
              </a:rPr>
              <a:t>HIGH  ·  01</a:t>
            </a:r>
            <a:endParaRPr lang="en-US" sz="1100" dirty="0"/>
          </a:p>
        </p:txBody>
      </p:sp>
      <p:sp>
        <p:nvSpPr>
          <p:cNvPr id="12" name="Text 10"/>
          <p:cNvSpPr/>
          <p:nvPr/>
        </p:nvSpPr>
        <p:spPr>
          <a:xfrm>
            <a:off x="2423160" y="2880360"/>
            <a:ext cx="5486400"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Big AI lab ships its own deployment layer.</a:t>
            </a:r>
            <a:endParaRPr lang="en-US" sz="1600" dirty="0"/>
          </a:p>
        </p:txBody>
      </p:sp>
      <p:sp>
        <p:nvSpPr>
          <p:cNvPr id="13" name="Text 11"/>
          <p:cNvSpPr/>
          <p:nvPr/>
        </p:nvSpPr>
        <p:spPr>
          <a:xfrm>
            <a:off x="2423160" y="3291840"/>
            <a:ext cx="5486400" cy="50292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Anthropic / Cursor / OpenAI shipping a "Claude Code Cloud" or similar in the next 6–12 months closes the wedge.</a:t>
            </a:r>
            <a:endParaRPr lang="en-US" sz="1100" dirty="0"/>
          </a:p>
        </p:txBody>
      </p:sp>
      <p:sp>
        <p:nvSpPr>
          <p:cNvPr id="14" name="Shape 12"/>
          <p:cNvSpPr/>
          <p:nvPr/>
        </p:nvSpPr>
        <p:spPr>
          <a:xfrm>
            <a:off x="8092440" y="2880360"/>
            <a:ext cx="3596335" cy="822960"/>
          </a:xfrm>
          <a:prstGeom prst="roundRect">
            <a:avLst>
              <a:gd name="adj" fmla="val 11111"/>
            </a:avLst>
          </a:prstGeom>
          <a:solidFill>
            <a:srgbClr val="F0EDFC"/>
          </a:solidFill>
          <a:ln/>
        </p:spPr>
      </p:sp>
      <p:sp>
        <p:nvSpPr>
          <p:cNvPr id="15" name="Text 13"/>
          <p:cNvSpPr/>
          <p:nvPr/>
        </p:nvSpPr>
        <p:spPr>
          <a:xfrm>
            <a:off x="8229600" y="2944368"/>
            <a:ext cx="3413455" cy="228600"/>
          </a:xfrm>
          <a:prstGeom prst="rect">
            <a:avLst/>
          </a:prstGeom>
          <a:noFill/>
          <a:ln/>
        </p:spPr>
        <p:txBody>
          <a:bodyPr wrap="square" lIns="0" tIns="0" rIns="0" bIns="0" rtlCol="0" anchor="ctr"/>
          <a:lstStyle/>
          <a:p>
            <a:pPr algn="l" indent="0" marL="0">
              <a:buNone/>
            </a:pPr>
            <a:r>
              <a:rPr lang="en-US" sz="950" b="1" spc="300" kern="0" dirty="0">
                <a:solidFill>
                  <a:srgbClr val="3A2BC0"/>
                </a:solidFill>
                <a:latin typeface="JetBrains Mono" pitchFamily="34" charset="0"/>
                <a:ea typeface="JetBrains Mono" pitchFamily="34" charset="-122"/>
                <a:cs typeface="JetBrains Mono" pitchFamily="34" charset="-120"/>
              </a:rPr>
              <a:t>MITIGATION</a:t>
            </a:r>
            <a:endParaRPr lang="en-US" sz="950" dirty="0"/>
          </a:p>
        </p:txBody>
      </p:sp>
      <p:sp>
        <p:nvSpPr>
          <p:cNvPr id="16" name="Text 14"/>
          <p:cNvSpPr/>
          <p:nvPr/>
        </p:nvSpPr>
        <p:spPr>
          <a:xfrm>
            <a:off x="8229600" y="3154680"/>
            <a:ext cx="3413455" cy="594360"/>
          </a:xfrm>
          <a:prstGeom prst="rect">
            <a:avLst/>
          </a:prstGeom>
          <a:noFill/>
          <a:ln/>
        </p:spPr>
        <p:txBody>
          <a:bodyPr wrap="square" lIns="0" tIns="0" rIns="0" bIns="0" rtlCol="0" anchor="t"/>
          <a:lstStyle/>
          <a:p>
            <a:pPr algn="l" indent="0" marL="0">
              <a:buNone/>
            </a:pPr>
            <a:r>
              <a:rPr lang="en-US" sz="1100" dirty="0">
                <a:solidFill>
                  <a:srgbClr val="0F172A"/>
                </a:solidFill>
                <a:latin typeface="Inter" pitchFamily="34" charset="0"/>
                <a:ea typeface="Inter" pitchFamily="34" charset="-122"/>
                <a:cs typeface="Inter" pitchFamily="34" charset="-120"/>
              </a:rPr>
              <a:t>Aggressive partnership outreach M0–4. Position as their deployment surface, not a competitor. Make Hatchik acquirable, not buildable.</a:t>
            </a:r>
            <a:endParaRPr lang="en-US" sz="1100" dirty="0"/>
          </a:p>
        </p:txBody>
      </p:sp>
      <p:sp>
        <p:nvSpPr>
          <p:cNvPr id="17" name="Shape 15"/>
          <p:cNvSpPr/>
          <p:nvPr/>
        </p:nvSpPr>
        <p:spPr>
          <a:xfrm>
            <a:off x="502920" y="3977640"/>
            <a:ext cx="11185855" cy="1097280"/>
          </a:xfrm>
          <a:prstGeom prst="roundRect">
            <a:avLst>
              <a:gd name="adj" fmla="val 10000"/>
            </a:avLst>
          </a:prstGeom>
          <a:solidFill>
            <a:srgbClr val="FFFFFF"/>
          </a:solidFill>
          <a:ln w="9525">
            <a:solidFill>
              <a:srgbClr val="E2E0F0"/>
            </a:solidFill>
            <a:prstDash val="solid"/>
          </a:ln>
        </p:spPr>
      </p:sp>
      <p:sp>
        <p:nvSpPr>
          <p:cNvPr id="18" name="Shape 16"/>
          <p:cNvSpPr/>
          <p:nvPr/>
        </p:nvSpPr>
        <p:spPr>
          <a:xfrm>
            <a:off x="777240" y="4142232"/>
            <a:ext cx="1463040" cy="384048"/>
          </a:xfrm>
          <a:prstGeom prst="roundRect">
            <a:avLst>
              <a:gd name="adj" fmla="val 50000"/>
            </a:avLst>
          </a:prstGeom>
          <a:solidFill>
            <a:srgbClr val="F59E0B"/>
          </a:solidFill>
          <a:ln/>
        </p:spPr>
      </p:sp>
      <p:sp>
        <p:nvSpPr>
          <p:cNvPr id="19" name="Text 17"/>
          <p:cNvSpPr/>
          <p:nvPr/>
        </p:nvSpPr>
        <p:spPr>
          <a:xfrm>
            <a:off x="777240" y="4142232"/>
            <a:ext cx="1463040" cy="38404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JetBrains Mono" pitchFamily="34" charset="0"/>
                <a:ea typeface="JetBrains Mono" pitchFamily="34" charset="-122"/>
                <a:cs typeface="JetBrains Mono" pitchFamily="34" charset="-120"/>
              </a:rPr>
              <a:t>MED  ·  02</a:t>
            </a:r>
            <a:endParaRPr lang="en-US" sz="1100" dirty="0"/>
          </a:p>
        </p:txBody>
      </p:sp>
      <p:sp>
        <p:nvSpPr>
          <p:cNvPr id="20" name="Text 18"/>
          <p:cNvSpPr/>
          <p:nvPr/>
        </p:nvSpPr>
        <p:spPr>
          <a:xfrm>
            <a:off x="2423160" y="4114800"/>
            <a:ext cx="5486400"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Peak coincidence on shared sandbox host.</a:t>
            </a:r>
            <a:endParaRPr lang="en-US" sz="1600" dirty="0"/>
          </a:p>
        </p:txBody>
      </p:sp>
      <p:sp>
        <p:nvSpPr>
          <p:cNvPr id="21" name="Text 19"/>
          <p:cNvSpPr/>
          <p:nvPr/>
        </p:nvSpPr>
        <p:spPr>
          <a:xfrm>
            <a:off x="2423160" y="4526280"/>
            <a:ext cx="5486400" cy="50292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If &gt;30% of sandboxes go warm simultaneously, CAX31 RAM/CPU contention bites users.</a:t>
            </a:r>
            <a:endParaRPr lang="en-US" sz="1100" dirty="0"/>
          </a:p>
        </p:txBody>
      </p:sp>
      <p:sp>
        <p:nvSpPr>
          <p:cNvPr id="22" name="Shape 20"/>
          <p:cNvSpPr/>
          <p:nvPr/>
        </p:nvSpPr>
        <p:spPr>
          <a:xfrm>
            <a:off x="8092440" y="4114800"/>
            <a:ext cx="3596335" cy="822960"/>
          </a:xfrm>
          <a:prstGeom prst="roundRect">
            <a:avLst>
              <a:gd name="adj" fmla="val 11111"/>
            </a:avLst>
          </a:prstGeom>
          <a:solidFill>
            <a:srgbClr val="F0EDFC"/>
          </a:solidFill>
          <a:ln/>
        </p:spPr>
      </p:sp>
      <p:sp>
        <p:nvSpPr>
          <p:cNvPr id="23" name="Text 21"/>
          <p:cNvSpPr/>
          <p:nvPr/>
        </p:nvSpPr>
        <p:spPr>
          <a:xfrm>
            <a:off x="8229600" y="4178808"/>
            <a:ext cx="3413455" cy="228600"/>
          </a:xfrm>
          <a:prstGeom prst="rect">
            <a:avLst/>
          </a:prstGeom>
          <a:noFill/>
          <a:ln/>
        </p:spPr>
        <p:txBody>
          <a:bodyPr wrap="square" lIns="0" tIns="0" rIns="0" bIns="0" rtlCol="0" anchor="ctr"/>
          <a:lstStyle/>
          <a:p>
            <a:pPr algn="l" indent="0" marL="0">
              <a:buNone/>
            </a:pPr>
            <a:r>
              <a:rPr lang="en-US" sz="950" b="1" spc="300" kern="0" dirty="0">
                <a:solidFill>
                  <a:srgbClr val="3A2BC0"/>
                </a:solidFill>
                <a:latin typeface="JetBrains Mono" pitchFamily="34" charset="0"/>
                <a:ea typeface="JetBrains Mono" pitchFamily="34" charset="-122"/>
                <a:cs typeface="JetBrains Mono" pitchFamily="34" charset="-120"/>
              </a:rPr>
              <a:t>MITIGATION</a:t>
            </a:r>
            <a:endParaRPr lang="en-US" sz="950" dirty="0"/>
          </a:p>
        </p:txBody>
      </p:sp>
      <p:sp>
        <p:nvSpPr>
          <p:cNvPr id="24" name="Text 22"/>
          <p:cNvSpPr/>
          <p:nvPr/>
        </p:nvSpPr>
        <p:spPr>
          <a:xfrm>
            <a:off x="8229600" y="4389120"/>
            <a:ext cx="3413455" cy="594360"/>
          </a:xfrm>
          <a:prstGeom prst="rect">
            <a:avLst/>
          </a:prstGeom>
          <a:noFill/>
          <a:ln/>
        </p:spPr>
        <p:txBody>
          <a:bodyPr wrap="square" lIns="0" tIns="0" rIns="0" bIns="0" rtlCol="0" anchor="t"/>
          <a:lstStyle/>
          <a:p>
            <a:pPr algn="l" indent="0" marL="0">
              <a:buNone/>
            </a:pPr>
            <a:r>
              <a:rPr lang="en-US" sz="1100" dirty="0">
                <a:solidFill>
                  <a:srgbClr val="0F172A"/>
                </a:solidFill>
                <a:latin typeface="Inter" pitchFamily="34" charset="0"/>
                <a:ea typeface="Inter" pitchFamily="34" charset="-122"/>
                <a:cs typeface="Inter" pitchFamily="34" charset="-120"/>
              </a:rPr>
              <a:t>Watermark alert at 35-warm-concurrent → auto-provision second CAX31. Cost-per-sandbox stays in band (+£11.30/mo).</a:t>
            </a:r>
            <a:endParaRPr lang="en-US" sz="1100" dirty="0"/>
          </a:p>
        </p:txBody>
      </p:sp>
      <p:sp>
        <p:nvSpPr>
          <p:cNvPr id="25" name="Shape 23"/>
          <p:cNvSpPr/>
          <p:nvPr/>
        </p:nvSpPr>
        <p:spPr>
          <a:xfrm>
            <a:off x="502920" y="5212080"/>
            <a:ext cx="11185855" cy="1097280"/>
          </a:xfrm>
          <a:prstGeom prst="roundRect">
            <a:avLst>
              <a:gd name="adj" fmla="val 10000"/>
            </a:avLst>
          </a:prstGeom>
          <a:solidFill>
            <a:srgbClr val="FFFFFF"/>
          </a:solidFill>
          <a:ln w="9525">
            <a:solidFill>
              <a:srgbClr val="E2E0F0"/>
            </a:solidFill>
            <a:prstDash val="solid"/>
          </a:ln>
        </p:spPr>
      </p:sp>
      <p:sp>
        <p:nvSpPr>
          <p:cNvPr id="26" name="Shape 24"/>
          <p:cNvSpPr/>
          <p:nvPr/>
        </p:nvSpPr>
        <p:spPr>
          <a:xfrm>
            <a:off x="777240" y="5376672"/>
            <a:ext cx="1463040" cy="384048"/>
          </a:xfrm>
          <a:prstGeom prst="roundRect">
            <a:avLst>
              <a:gd name="adj" fmla="val 50000"/>
            </a:avLst>
          </a:prstGeom>
          <a:solidFill>
            <a:srgbClr val="10B981"/>
          </a:solidFill>
          <a:ln/>
        </p:spPr>
      </p:sp>
      <p:sp>
        <p:nvSpPr>
          <p:cNvPr id="27" name="Text 25"/>
          <p:cNvSpPr/>
          <p:nvPr/>
        </p:nvSpPr>
        <p:spPr>
          <a:xfrm>
            <a:off x="777240" y="5376672"/>
            <a:ext cx="1463040" cy="38404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JetBrains Mono" pitchFamily="34" charset="0"/>
                <a:ea typeface="JetBrains Mono" pitchFamily="34" charset="-122"/>
                <a:cs typeface="JetBrains Mono" pitchFamily="34" charset="-120"/>
              </a:rPr>
              <a:t>LOW  ·  03</a:t>
            </a:r>
            <a:endParaRPr lang="en-US" sz="1100" dirty="0"/>
          </a:p>
        </p:txBody>
      </p:sp>
      <p:sp>
        <p:nvSpPr>
          <p:cNvPr id="28" name="Text 26"/>
          <p:cNvSpPr/>
          <p:nvPr/>
        </p:nvSpPr>
        <p:spPr>
          <a:xfrm>
            <a:off x="2423160" y="5349240"/>
            <a:ext cx="5486400"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Wake latency on idle-suspended sandboxes.</a:t>
            </a:r>
            <a:endParaRPr lang="en-US" sz="1600" dirty="0"/>
          </a:p>
        </p:txBody>
      </p:sp>
      <p:sp>
        <p:nvSpPr>
          <p:cNvPr id="29" name="Text 27"/>
          <p:cNvSpPr/>
          <p:nvPr/>
        </p:nvSpPr>
        <p:spPr>
          <a:xfrm>
            <a:off x="2423160" y="5760720"/>
            <a:ext cx="5486400" cy="50292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10–15s cold start after 2h+ idle could feel broken to first-time users.</a:t>
            </a:r>
            <a:endParaRPr lang="en-US" sz="1100" dirty="0"/>
          </a:p>
        </p:txBody>
      </p:sp>
      <p:sp>
        <p:nvSpPr>
          <p:cNvPr id="30" name="Shape 28"/>
          <p:cNvSpPr/>
          <p:nvPr/>
        </p:nvSpPr>
        <p:spPr>
          <a:xfrm>
            <a:off x="8092440" y="5349240"/>
            <a:ext cx="3596335" cy="822960"/>
          </a:xfrm>
          <a:prstGeom prst="roundRect">
            <a:avLst>
              <a:gd name="adj" fmla="val 11111"/>
            </a:avLst>
          </a:prstGeom>
          <a:solidFill>
            <a:srgbClr val="F0EDFC"/>
          </a:solidFill>
          <a:ln/>
        </p:spPr>
      </p:sp>
      <p:sp>
        <p:nvSpPr>
          <p:cNvPr id="31" name="Text 29"/>
          <p:cNvSpPr/>
          <p:nvPr/>
        </p:nvSpPr>
        <p:spPr>
          <a:xfrm>
            <a:off x="8229600" y="5413248"/>
            <a:ext cx="3413455" cy="228600"/>
          </a:xfrm>
          <a:prstGeom prst="rect">
            <a:avLst/>
          </a:prstGeom>
          <a:noFill/>
          <a:ln/>
        </p:spPr>
        <p:txBody>
          <a:bodyPr wrap="square" lIns="0" tIns="0" rIns="0" bIns="0" rtlCol="0" anchor="ctr"/>
          <a:lstStyle/>
          <a:p>
            <a:pPr algn="l" indent="0" marL="0">
              <a:buNone/>
            </a:pPr>
            <a:r>
              <a:rPr lang="en-US" sz="950" b="1" spc="300" kern="0" dirty="0">
                <a:solidFill>
                  <a:srgbClr val="3A2BC0"/>
                </a:solidFill>
                <a:latin typeface="JetBrains Mono" pitchFamily="34" charset="0"/>
                <a:ea typeface="JetBrains Mono" pitchFamily="34" charset="-122"/>
                <a:cs typeface="JetBrains Mono" pitchFamily="34" charset="-120"/>
              </a:rPr>
              <a:t>MITIGATION</a:t>
            </a:r>
            <a:endParaRPr lang="en-US" sz="950" dirty="0"/>
          </a:p>
        </p:txBody>
      </p:sp>
      <p:sp>
        <p:nvSpPr>
          <p:cNvPr id="32" name="Text 30"/>
          <p:cNvSpPr/>
          <p:nvPr/>
        </p:nvSpPr>
        <p:spPr>
          <a:xfrm>
            <a:off x="8229600" y="5623560"/>
            <a:ext cx="3413455" cy="594360"/>
          </a:xfrm>
          <a:prstGeom prst="rect">
            <a:avLst/>
          </a:prstGeom>
          <a:noFill/>
          <a:ln/>
        </p:spPr>
        <p:txBody>
          <a:bodyPr wrap="square" lIns="0" tIns="0" rIns="0" bIns="0" rtlCol="0" anchor="t"/>
          <a:lstStyle/>
          <a:p>
            <a:pPr algn="l" indent="0" marL="0">
              <a:buNone/>
            </a:pPr>
            <a:r>
              <a:rPr lang="en-US" sz="1100" dirty="0">
                <a:solidFill>
                  <a:srgbClr val="0F172A"/>
                </a:solidFill>
                <a:latin typeface="Inter" pitchFamily="34" charset="0"/>
                <a:ea typeface="Inter" pitchFamily="34" charset="-122"/>
                <a:cs typeface="Inter" pitchFamily="34" charset="-120"/>
              </a:rPr>
              <a:t>"Your sandbox is warming up…" splash in the AI tool's deploy-status callback. Acceptable for dev-env framing.</a:t>
            </a:r>
            <a:endParaRPr lang="en-US" sz="1100" dirty="0"/>
          </a:p>
        </p:txBody>
      </p:sp>
      <p:sp>
        <p:nvSpPr>
          <p:cNvPr id="33" name="Shape 31"/>
          <p:cNvSpPr/>
          <p:nvPr/>
        </p:nvSpPr>
        <p:spPr>
          <a:xfrm>
            <a:off x="502920" y="6263640"/>
            <a:ext cx="11185855" cy="0"/>
          </a:xfrm>
          <a:prstGeom prst="line">
            <a:avLst/>
          </a:prstGeom>
          <a:noFill/>
          <a:ln w="6350">
            <a:solidFill>
              <a:srgbClr val="E2E0F0"/>
            </a:solidFill>
            <a:prstDash val="solid"/>
          </a:ln>
        </p:spPr>
      </p:sp>
      <p:sp>
        <p:nvSpPr>
          <p:cNvPr id="34" name="Text 3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35" name="Text 33"/>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18  /  28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E1F"/>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FFFFFF"/>
          </a:solidFill>
          <a:ln/>
        </p:spPr>
      </p:sp>
      <p:sp>
        <p:nvSpPr>
          <p:cNvPr id="3" name="Shape 1"/>
          <p:cNvSpPr/>
          <p:nvPr/>
        </p:nvSpPr>
        <p:spPr>
          <a:xfrm>
            <a:off x="576072" y="453542"/>
            <a:ext cx="146304" cy="11704"/>
          </a:xfrm>
          <a:prstGeom prst="rect">
            <a:avLst/>
          </a:prstGeom>
          <a:solidFill>
            <a:srgbClr val="0B0E1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FFFFFF"/>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B4ACEF"/>
                </a:solidFill>
                <a:latin typeface="JetBrains Mono" pitchFamily="34" charset="0"/>
                <a:ea typeface="JetBrains Mono" pitchFamily="34" charset="-122"/>
                <a:cs typeface="JetBrains Mono" pitchFamily="34" charset="-120"/>
              </a:rPr>
              <a:t>19  ·  THE ASK</a:t>
            </a:r>
            <a:endParaRPr lang="en-US" sz="1050" dirty="0"/>
          </a:p>
        </p:txBody>
      </p:sp>
      <p:sp>
        <p:nvSpPr>
          <p:cNvPr id="6" name="Shape 4"/>
          <p:cNvSpPr/>
          <p:nvPr/>
        </p:nvSpPr>
        <p:spPr>
          <a:xfrm>
            <a:off x="502920" y="713232"/>
            <a:ext cx="11185855" cy="0"/>
          </a:xfrm>
          <a:prstGeom prst="line">
            <a:avLst/>
          </a:prstGeom>
          <a:noFill/>
          <a:ln w="6350">
            <a:solidFill>
              <a:srgbClr val="26305A"/>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FFFFFF"/>
                </a:solidFill>
                <a:latin typeface="Inter" pitchFamily="34" charset="0"/>
                <a:ea typeface="Inter" pitchFamily="34" charset="-122"/>
                <a:cs typeface="Inter" pitchFamily="34" charset="-120"/>
              </a:rPr>
              <a:t>Sprint capital. </a:t>
            </a:r>
            <a:pPr algn="l" indent="0" marL="0">
              <a:buNone/>
            </a:pPr>
            <a:r>
              <a:rPr lang="en-US" sz="3600" b="1" dirty="0">
                <a:solidFill>
                  <a:srgbClr val="B4ACEF"/>
                </a:solidFill>
                <a:latin typeface="Inter" pitchFamily="34" charset="0"/>
                <a:ea typeface="Inter" pitchFamily="34" charset="-122"/>
                <a:cs typeface="Inter" pitchFamily="34" charset="-120"/>
              </a:rPr>
              <a:t>Decide at month 6.</a:t>
            </a:r>
            <a:endParaRPr lang="en-US" sz="3600" dirty="0"/>
          </a:p>
        </p:txBody>
      </p:sp>
      <p:sp>
        <p:nvSpPr>
          <p:cNvPr id="8" name="Text 6"/>
          <p:cNvSpPr/>
          <p:nvPr/>
        </p:nvSpPr>
        <p:spPr>
          <a:xfrm>
            <a:off x="502920" y="2103120"/>
            <a:ext cx="5029200" cy="32004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RAISING</a:t>
            </a:r>
            <a:endParaRPr lang="en-US" sz="1050" dirty="0"/>
          </a:p>
        </p:txBody>
      </p:sp>
      <p:sp>
        <p:nvSpPr>
          <p:cNvPr id="9" name="Text 7"/>
          <p:cNvSpPr/>
          <p:nvPr/>
        </p:nvSpPr>
        <p:spPr>
          <a:xfrm>
            <a:off x="502920" y="2468880"/>
            <a:ext cx="5943600" cy="1280160"/>
          </a:xfrm>
          <a:prstGeom prst="rect">
            <a:avLst/>
          </a:prstGeom>
          <a:noFill/>
          <a:ln/>
        </p:spPr>
        <p:txBody>
          <a:bodyPr wrap="square" lIns="0" tIns="0" rIns="0" bIns="0" rtlCol="0" anchor="t"/>
          <a:lstStyle/>
          <a:p>
            <a:pPr algn="l" indent="0" marL="0">
              <a:buNone/>
            </a:pPr>
            <a:r>
              <a:rPr lang="en-US" sz="6400" b="1" dirty="0">
                <a:solidFill>
                  <a:srgbClr val="FFFFFF"/>
                </a:solidFill>
                <a:latin typeface="Inter" pitchFamily="34" charset="0"/>
                <a:ea typeface="Inter" pitchFamily="34" charset="-122"/>
                <a:cs typeface="Inter" pitchFamily="34" charset="-120"/>
              </a:rPr>
              <a:t>£500K</a:t>
            </a:r>
            <a:pPr algn="l" indent="0" marL="0">
              <a:buNone/>
            </a:pPr>
            <a:r>
              <a:rPr lang="en-US" sz="3600" dirty="0">
                <a:solidFill>
                  <a:srgbClr val="B4ACEF"/>
                </a:solidFill>
                <a:latin typeface="Inter" pitchFamily="34" charset="0"/>
                <a:ea typeface="Inter" pitchFamily="34" charset="-122"/>
                <a:cs typeface="Inter" pitchFamily="34" charset="-120"/>
              </a:rPr>
              <a:t>  –  </a:t>
            </a:r>
            <a:pPr algn="l" indent="0" marL="0">
              <a:buNone/>
            </a:pPr>
            <a:r>
              <a:rPr lang="en-US" sz="6400" b="1" dirty="0">
                <a:solidFill>
                  <a:srgbClr val="C7CCE8"/>
                </a:solidFill>
                <a:latin typeface="Inter" pitchFamily="34" charset="0"/>
                <a:ea typeface="Inter" pitchFamily="34" charset="-122"/>
                <a:cs typeface="Inter" pitchFamily="34" charset="-120"/>
              </a:rPr>
              <a:t>£1M</a:t>
            </a:r>
            <a:endParaRPr lang="en-US" sz="6400" dirty="0"/>
          </a:p>
        </p:txBody>
      </p:sp>
      <p:sp>
        <p:nvSpPr>
          <p:cNvPr id="10" name="Text 8"/>
          <p:cNvSpPr/>
          <p:nvPr/>
        </p:nvSpPr>
        <p:spPr>
          <a:xfrm>
            <a:off x="502920" y="3931920"/>
            <a:ext cx="5486400" cy="640080"/>
          </a:xfrm>
          <a:prstGeom prst="rect">
            <a:avLst/>
          </a:prstGeom>
          <a:noFill/>
          <a:ln/>
        </p:spPr>
        <p:txBody>
          <a:bodyPr wrap="square" lIns="0" tIns="0" rIns="0" bIns="0" rtlCol="0" anchor="t"/>
          <a:lstStyle/>
          <a:p>
            <a:pPr algn="l" indent="0" marL="0">
              <a:buNone/>
            </a:pPr>
            <a:r>
              <a:rPr lang="en-US" sz="1300" dirty="0">
                <a:solidFill>
                  <a:srgbClr val="C7CCE8"/>
                </a:solidFill>
                <a:latin typeface="Inter" pitchFamily="34" charset="0"/>
                <a:ea typeface="Inter" pitchFamily="34" charset="-122"/>
                <a:cs typeface="Inter" pitchFamily="34" charset="-120"/>
              </a:rPr>
              <a:t>Horizon: 12 months to decision point. Pre-seed · SAFE or convertible · founder fills final number.</a:t>
            </a:r>
            <a:endParaRPr lang="en-US" sz="1300" dirty="0"/>
          </a:p>
        </p:txBody>
      </p:sp>
      <p:sp>
        <p:nvSpPr>
          <p:cNvPr id="11" name="Text 9"/>
          <p:cNvSpPr/>
          <p:nvPr/>
        </p:nvSpPr>
        <p:spPr>
          <a:xfrm>
            <a:off x="502920" y="4754880"/>
            <a:ext cx="5029200"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ALLOCATION</a:t>
            </a:r>
            <a:endParaRPr lang="en-US" sz="1050" dirty="0"/>
          </a:p>
        </p:txBody>
      </p:sp>
      <p:sp>
        <p:nvSpPr>
          <p:cNvPr id="12" name="Shape 10"/>
          <p:cNvSpPr/>
          <p:nvPr/>
        </p:nvSpPr>
        <p:spPr>
          <a:xfrm>
            <a:off x="502920" y="5074920"/>
            <a:ext cx="3291840" cy="502920"/>
          </a:xfrm>
          <a:prstGeom prst="rect">
            <a:avLst/>
          </a:prstGeom>
          <a:solidFill>
            <a:srgbClr val="5040E5"/>
          </a:solidFill>
          <a:ln/>
        </p:spPr>
      </p:sp>
      <p:sp>
        <p:nvSpPr>
          <p:cNvPr id="13" name="Text 11"/>
          <p:cNvSpPr/>
          <p:nvPr/>
        </p:nvSpPr>
        <p:spPr>
          <a:xfrm>
            <a:off x="502920" y="5074920"/>
            <a:ext cx="32918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60%</a:t>
            </a:r>
            <a:endParaRPr lang="en-US" sz="1400" dirty="0"/>
          </a:p>
        </p:txBody>
      </p:sp>
      <p:sp>
        <p:nvSpPr>
          <p:cNvPr id="14" name="Shape 12"/>
          <p:cNvSpPr/>
          <p:nvPr/>
        </p:nvSpPr>
        <p:spPr>
          <a:xfrm>
            <a:off x="3794760" y="5074920"/>
            <a:ext cx="1371600" cy="502920"/>
          </a:xfrm>
          <a:prstGeom prst="rect">
            <a:avLst/>
          </a:prstGeom>
          <a:solidFill>
            <a:srgbClr val="B4ACEF"/>
          </a:solidFill>
          <a:ln/>
        </p:spPr>
      </p:sp>
      <p:sp>
        <p:nvSpPr>
          <p:cNvPr id="15" name="Text 13"/>
          <p:cNvSpPr/>
          <p:nvPr/>
        </p:nvSpPr>
        <p:spPr>
          <a:xfrm>
            <a:off x="3794760" y="5074920"/>
            <a:ext cx="13716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25%</a:t>
            </a:r>
            <a:endParaRPr lang="en-US" sz="1400" dirty="0"/>
          </a:p>
        </p:txBody>
      </p:sp>
      <p:sp>
        <p:nvSpPr>
          <p:cNvPr id="16" name="Shape 14"/>
          <p:cNvSpPr/>
          <p:nvPr/>
        </p:nvSpPr>
        <p:spPr>
          <a:xfrm>
            <a:off x="5166360" y="5074920"/>
            <a:ext cx="822960" cy="502920"/>
          </a:xfrm>
          <a:prstGeom prst="rect">
            <a:avLst/>
          </a:prstGeom>
          <a:solidFill>
            <a:srgbClr val="C7CCE8"/>
          </a:solidFill>
          <a:ln/>
        </p:spPr>
      </p:sp>
      <p:sp>
        <p:nvSpPr>
          <p:cNvPr id="17" name="Text 15"/>
          <p:cNvSpPr/>
          <p:nvPr/>
        </p:nvSpPr>
        <p:spPr>
          <a:xfrm>
            <a:off x="5166360" y="5074920"/>
            <a:ext cx="822960" cy="502920"/>
          </a:xfrm>
          <a:prstGeom prst="rect">
            <a:avLst/>
          </a:prstGeom>
          <a:noFill/>
          <a:ln/>
        </p:spPr>
        <p:txBody>
          <a:bodyPr wrap="square" lIns="0" tIns="0" rIns="0" bIns="0" rtlCol="0" anchor="ctr"/>
          <a:lstStyle/>
          <a:p>
            <a:pPr algn="ctr" indent="0" marL="0">
              <a:buNone/>
            </a:pPr>
            <a:r>
              <a:rPr lang="en-US" sz="1400" b="1" dirty="0">
                <a:solidFill>
                  <a:srgbClr val="0B0E1F"/>
                </a:solidFill>
                <a:latin typeface="Inter" pitchFamily="34" charset="0"/>
                <a:ea typeface="Inter" pitchFamily="34" charset="-122"/>
                <a:cs typeface="Inter" pitchFamily="34" charset="-120"/>
              </a:rPr>
              <a:t>15%</a:t>
            </a:r>
            <a:endParaRPr lang="en-US" sz="1400" dirty="0"/>
          </a:p>
        </p:txBody>
      </p:sp>
      <p:sp>
        <p:nvSpPr>
          <p:cNvPr id="18" name="Text 16"/>
          <p:cNvSpPr/>
          <p:nvPr/>
        </p:nvSpPr>
        <p:spPr>
          <a:xfrm>
            <a:off x="6583680" y="2103120"/>
            <a:ext cx="5029200" cy="32004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USE OF FUNDS</a:t>
            </a:r>
            <a:endParaRPr lang="en-US" sz="1050" dirty="0"/>
          </a:p>
        </p:txBody>
      </p:sp>
      <p:sp>
        <p:nvSpPr>
          <p:cNvPr id="19" name="Shape 17"/>
          <p:cNvSpPr/>
          <p:nvPr/>
        </p:nvSpPr>
        <p:spPr>
          <a:xfrm>
            <a:off x="6583680" y="2514600"/>
            <a:ext cx="5105095" cy="960120"/>
          </a:xfrm>
          <a:prstGeom prst="roundRect">
            <a:avLst>
              <a:gd name="adj" fmla="val 11429"/>
            </a:avLst>
          </a:prstGeom>
          <a:solidFill>
            <a:srgbClr val="151A33"/>
          </a:solidFill>
          <a:ln w="9525">
            <a:solidFill>
              <a:srgbClr val="26305A"/>
            </a:solidFill>
            <a:prstDash val="solid"/>
          </a:ln>
        </p:spPr>
      </p:sp>
      <p:sp>
        <p:nvSpPr>
          <p:cNvPr id="20" name="Text 18"/>
          <p:cNvSpPr/>
          <p:nvPr/>
        </p:nvSpPr>
        <p:spPr>
          <a:xfrm>
            <a:off x="6766560" y="2606040"/>
            <a:ext cx="4922215"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Paid acquisition</a:t>
            </a:r>
            <a:endParaRPr lang="en-US" sz="1400" dirty="0"/>
          </a:p>
        </p:txBody>
      </p:sp>
      <p:sp>
        <p:nvSpPr>
          <p:cNvPr id="21" name="Text 19"/>
          <p:cNvSpPr/>
          <p:nvPr/>
        </p:nvSpPr>
        <p:spPr>
          <a:xfrm>
            <a:off x="6766560" y="2606040"/>
            <a:ext cx="4922215" cy="292608"/>
          </a:xfrm>
          <a:prstGeom prst="rect">
            <a:avLst/>
          </a:prstGeom>
          <a:noFill/>
          <a:ln/>
        </p:spPr>
        <p:txBody>
          <a:bodyPr wrap="square" lIns="0" tIns="0" rIns="0" bIns="0" rtlCol="0" anchor="ctr"/>
          <a:lstStyle/>
          <a:p>
            <a:pPr algn="r" indent="0" marL="0">
              <a:buNone/>
            </a:pPr>
            <a:r>
              <a:rPr lang="en-US" sz="1050" spc="300" kern="0" dirty="0">
                <a:solidFill>
                  <a:srgbClr val="B4ACEF"/>
                </a:solidFill>
                <a:latin typeface="JetBrains Mono" pitchFamily="34" charset="0"/>
                <a:ea typeface="JetBrains Mono" pitchFamily="34" charset="-122"/>
                <a:cs typeface="JetBrains Mono" pitchFamily="34" charset="-120"/>
              </a:rPr>
              <a:t>60%  ·  ~£420K</a:t>
            </a:r>
            <a:endParaRPr lang="en-US" sz="1050" dirty="0"/>
          </a:p>
        </p:txBody>
      </p:sp>
      <p:sp>
        <p:nvSpPr>
          <p:cNvPr id="22" name="Shape 20"/>
          <p:cNvSpPr/>
          <p:nvPr/>
        </p:nvSpPr>
        <p:spPr>
          <a:xfrm>
            <a:off x="6766560" y="2953512"/>
            <a:ext cx="4830775" cy="73152"/>
          </a:xfrm>
          <a:prstGeom prst="rect">
            <a:avLst/>
          </a:prstGeom>
          <a:solidFill>
            <a:srgbClr val="26305A"/>
          </a:solidFill>
          <a:ln/>
        </p:spPr>
      </p:sp>
      <p:sp>
        <p:nvSpPr>
          <p:cNvPr id="23" name="Shape 21"/>
          <p:cNvSpPr/>
          <p:nvPr/>
        </p:nvSpPr>
        <p:spPr>
          <a:xfrm>
            <a:off x="6766560" y="2953512"/>
            <a:ext cx="4830775" cy="73152"/>
          </a:xfrm>
          <a:prstGeom prst="rect">
            <a:avLst/>
          </a:prstGeom>
          <a:solidFill>
            <a:srgbClr val="B4ACEF"/>
          </a:solidFill>
          <a:ln/>
        </p:spPr>
      </p:sp>
      <p:sp>
        <p:nvSpPr>
          <p:cNvPr id="24" name="Text 22"/>
          <p:cNvSpPr/>
          <p:nvPr/>
        </p:nvSpPr>
        <p:spPr>
          <a:xfrm>
            <a:off x="6766560" y="3081528"/>
            <a:ext cx="4922215" cy="365760"/>
          </a:xfrm>
          <a:prstGeom prst="rect">
            <a:avLst/>
          </a:prstGeom>
          <a:noFill/>
          <a:ln/>
        </p:spPr>
        <p:txBody>
          <a:bodyPr wrap="square" lIns="0" tIns="0" rIns="0" bIns="0" rtlCol="0" anchor="t"/>
          <a:lstStyle/>
          <a:p>
            <a:pPr algn="l" indent="0" marL="0">
              <a:buNone/>
            </a:pPr>
            <a:r>
              <a:rPr lang="en-US" sz="950" dirty="0">
                <a:solidFill>
                  <a:srgbClr val="C7CCE8"/>
                </a:solidFill>
                <a:latin typeface="Inter" pitchFamily="34" charset="0"/>
                <a:ea typeface="Inter" pitchFamily="34" charset="-122"/>
                <a:cs typeface="Inter" pitchFamily="34" charset="-120"/>
              </a:rPr>
              <a:t>Creator sponsorships + retargeting M2–9. At LTV £520, CAC ceiling £175 — paid becomes viable.</a:t>
            </a:r>
            <a:endParaRPr lang="en-US" sz="950" dirty="0"/>
          </a:p>
        </p:txBody>
      </p:sp>
      <p:sp>
        <p:nvSpPr>
          <p:cNvPr id="25" name="Shape 23"/>
          <p:cNvSpPr/>
          <p:nvPr/>
        </p:nvSpPr>
        <p:spPr>
          <a:xfrm>
            <a:off x="6583680" y="3611880"/>
            <a:ext cx="5105095" cy="960120"/>
          </a:xfrm>
          <a:prstGeom prst="roundRect">
            <a:avLst>
              <a:gd name="adj" fmla="val 11429"/>
            </a:avLst>
          </a:prstGeom>
          <a:solidFill>
            <a:srgbClr val="151A33"/>
          </a:solidFill>
          <a:ln w="9525">
            <a:solidFill>
              <a:srgbClr val="26305A"/>
            </a:solidFill>
            <a:prstDash val="solid"/>
          </a:ln>
        </p:spPr>
      </p:sp>
      <p:sp>
        <p:nvSpPr>
          <p:cNvPr id="26" name="Text 24"/>
          <p:cNvSpPr/>
          <p:nvPr/>
        </p:nvSpPr>
        <p:spPr>
          <a:xfrm>
            <a:off x="6766560" y="3703320"/>
            <a:ext cx="4922215"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First hires (12-mo burn)</a:t>
            </a:r>
            <a:endParaRPr lang="en-US" sz="1400" dirty="0"/>
          </a:p>
        </p:txBody>
      </p:sp>
      <p:sp>
        <p:nvSpPr>
          <p:cNvPr id="27" name="Text 25"/>
          <p:cNvSpPr/>
          <p:nvPr/>
        </p:nvSpPr>
        <p:spPr>
          <a:xfrm>
            <a:off x="6766560" y="3703320"/>
            <a:ext cx="4922215" cy="292608"/>
          </a:xfrm>
          <a:prstGeom prst="rect">
            <a:avLst/>
          </a:prstGeom>
          <a:noFill/>
          <a:ln/>
        </p:spPr>
        <p:txBody>
          <a:bodyPr wrap="square" lIns="0" tIns="0" rIns="0" bIns="0" rtlCol="0" anchor="ctr"/>
          <a:lstStyle/>
          <a:p>
            <a:pPr algn="r" indent="0" marL="0">
              <a:buNone/>
            </a:pPr>
            <a:r>
              <a:rPr lang="en-US" sz="1050" spc="300" kern="0" dirty="0">
                <a:solidFill>
                  <a:srgbClr val="B4ACEF"/>
                </a:solidFill>
                <a:latin typeface="JetBrains Mono" pitchFamily="34" charset="0"/>
                <a:ea typeface="JetBrains Mono" pitchFamily="34" charset="-122"/>
                <a:cs typeface="JetBrains Mono" pitchFamily="34" charset="-120"/>
              </a:rPr>
              <a:t>25%  ·  ~£175K</a:t>
            </a:r>
            <a:endParaRPr lang="en-US" sz="1050" dirty="0"/>
          </a:p>
        </p:txBody>
      </p:sp>
      <p:sp>
        <p:nvSpPr>
          <p:cNvPr id="28" name="Shape 26"/>
          <p:cNvSpPr/>
          <p:nvPr/>
        </p:nvSpPr>
        <p:spPr>
          <a:xfrm>
            <a:off x="6766560" y="4050792"/>
            <a:ext cx="4830775" cy="73152"/>
          </a:xfrm>
          <a:prstGeom prst="rect">
            <a:avLst/>
          </a:prstGeom>
          <a:solidFill>
            <a:srgbClr val="26305A"/>
          </a:solidFill>
          <a:ln/>
        </p:spPr>
      </p:sp>
      <p:sp>
        <p:nvSpPr>
          <p:cNvPr id="29" name="Shape 27"/>
          <p:cNvSpPr/>
          <p:nvPr/>
        </p:nvSpPr>
        <p:spPr>
          <a:xfrm>
            <a:off x="6766560" y="4050792"/>
            <a:ext cx="2028926" cy="73152"/>
          </a:xfrm>
          <a:prstGeom prst="rect">
            <a:avLst/>
          </a:prstGeom>
          <a:solidFill>
            <a:srgbClr val="B4ACEF"/>
          </a:solidFill>
          <a:ln/>
        </p:spPr>
      </p:sp>
      <p:sp>
        <p:nvSpPr>
          <p:cNvPr id="30" name="Text 28"/>
          <p:cNvSpPr/>
          <p:nvPr/>
        </p:nvSpPr>
        <p:spPr>
          <a:xfrm>
            <a:off x="6766560" y="4178808"/>
            <a:ext cx="4922215" cy="365760"/>
          </a:xfrm>
          <a:prstGeom prst="rect">
            <a:avLst/>
          </a:prstGeom>
          <a:noFill/>
          <a:ln/>
        </p:spPr>
        <p:txBody>
          <a:bodyPr wrap="square" lIns="0" tIns="0" rIns="0" bIns="0" rtlCol="0" anchor="t"/>
          <a:lstStyle/>
          <a:p>
            <a:pPr algn="l" indent="0" marL="0">
              <a:buNone/>
            </a:pPr>
            <a:r>
              <a:rPr lang="en-US" sz="950" dirty="0">
                <a:solidFill>
                  <a:srgbClr val="C7CCE8"/>
                </a:solidFill>
                <a:latin typeface="Inter" pitchFamily="34" charset="0"/>
                <a:ea typeface="Inter" pitchFamily="34" charset="-122"/>
                <a:cs typeface="Inter" pitchFamily="34" charset="-120"/>
              </a:rPr>
              <a:t>One engineer (substrate hardening, second region, signed mobile pipeline) + one marketer (content engine).</a:t>
            </a:r>
            <a:endParaRPr lang="en-US" sz="950" dirty="0"/>
          </a:p>
        </p:txBody>
      </p:sp>
      <p:sp>
        <p:nvSpPr>
          <p:cNvPr id="31" name="Shape 29"/>
          <p:cNvSpPr/>
          <p:nvPr/>
        </p:nvSpPr>
        <p:spPr>
          <a:xfrm>
            <a:off x="6583680" y="4709160"/>
            <a:ext cx="5105095" cy="960120"/>
          </a:xfrm>
          <a:prstGeom prst="roundRect">
            <a:avLst>
              <a:gd name="adj" fmla="val 11429"/>
            </a:avLst>
          </a:prstGeom>
          <a:solidFill>
            <a:srgbClr val="151A33"/>
          </a:solidFill>
          <a:ln w="9525">
            <a:solidFill>
              <a:srgbClr val="26305A"/>
            </a:solidFill>
            <a:prstDash val="solid"/>
          </a:ln>
        </p:spPr>
      </p:sp>
      <p:sp>
        <p:nvSpPr>
          <p:cNvPr id="32" name="Text 30"/>
          <p:cNvSpPr/>
          <p:nvPr/>
        </p:nvSpPr>
        <p:spPr>
          <a:xfrm>
            <a:off x="6766560" y="4800600"/>
            <a:ext cx="4922215"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Infrastructure + partnerships</a:t>
            </a:r>
            <a:endParaRPr lang="en-US" sz="1400" dirty="0"/>
          </a:p>
        </p:txBody>
      </p:sp>
      <p:sp>
        <p:nvSpPr>
          <p:cNvPr id="33" name="Text 31"/>
          <p:cNvSpPr/>
          <p:nvPr/>
        </p:nvSpPr>
        <p:spPr>
          <a:xfrm>
            <a:off x="6766560" y="4800600"/>
            <a:ext cx="4922215" cy="292608"/>
          </a:xfrm>
          <a:prstGeom prst="rect">
            <a:avLst/>
          </a:prstGeom>
          <a:noFill/>
          <a:ln/>
        </p:spPr>
        <p:txBody>
          <a:bodyPr wrap="square" lIns="0" tIns="0" rIns="0" bIns="0" rtlCol="0" anchor="ctr"/>
          <a:lstStyle/>
          <a:p>
            <a:pPr algn="r" indent="0" marL="0">
              <a:buNone/>
            </a:pPr>
            <a:r>
              <a:rPr lang="en-US" sz="1050" spc="300" kern="0" dirty="0">
                <a:solidFill>
                  <a:srgbClr val="B4ACEF"/>
                </a:solidFill>
                <a:latin typeface="JetBrains Mono" pitchFamily="34" charset="0"/>
                <a:ea typeface="JetBrains Mono" pitchFamily="34" charset="-122"/>
                <a:cs typeface="JetBrains Mono" pitchFamily="34" charset="-120"/>
              </a:rPr>
              <a:t>15%  ·  ~£105K</a:t>
            </a:r>
            <a:endParaRPr lang="en-US" sz="1050" dirty="0"/>
          </a:p>
        </p:txBody>
      </p:sp>
      <p:sp>
        <p:nvSpPr>
          <p:cNvPr id="34" name="Shape 32"/>
          <p:cNvSpPr/>
          <p:nvPr/>
        </p:nvSpPr>
        <p:spPr>
          <a:xfrm>
            <a:off x="6766560" y="5148072"/>
            <a:ext cx="4830775" cy="73152"/>
          </a:xfrm>
          <a:prstGeom prst="rect">
            <a:avLst/>
          </a:prstGeom>
          <a:solidFill>
            <a:srgbClr val="26305A"/>
          </a:solidFill>
          <a:ln/>
        </p:spPr>
      </p:sp>
      <p:sp>
        <p:nvSpPr>
          <p:cNvPr id="35" name="Shape 33"/>
          <p:cNvSpPr/>
          <p:nvPr/>
        </p:nvSpPr>
        <p:spPr>
          <a:xfrm>
            <a:off x="6766560" y="5148072"/>
            <a:ext cx="1207694" cy="73152"/>
          </a:xfrm>
          <a:prstGeom prst="rect">
            <a:avLst/>
          </a:prstGeom>
          <a:solidFill>
            <a:srgbClr val="B4ACEF"/>
          </a:solidFill>
          <a:ln/>
        </p:spPr>
      </p:sp>
      <p:sp>
        <p:nvSpPr>
          <p:cNvPr id="36" name="Text 34"/>
          <p:cNvSpPr/>
          <p:nvPr/>
        </p:nvSpPr>
        <p:spPr>
          <a:xfrm>
            <a:off x="6766560" y="5276088"/>
            <a:ext cx="4922215" cy="365760"/>
          </a:xfrm>
          <a:prstGeom prst="rect">
            <a:avLst/>
          </a:prstGeom>
          <a:noFill/>
          <a:ln/>
        </p:spPr>
        <p:txBody>
          <a:bodyPr wrap="square" lIns="0" tIns="0" rIns="0" bIns="0" rtlCol="0" anchor="t"/>
          <a:lstStyle/>
          <a:p>
            <a:pPr algn="l" indent="0" marL="0">
              <a:buNone/>
            </a:pPr>
            <a:r>
              <a:rPr lang="en-US" sz="950" dirty="0">
                <a:solidFill>
                  <a:srgbClr val="C7CCE8"/>
                </a:solidFill>
                <a:latin typeface="Inter" pitchFamily="34" charset="0"/>
                <a:ea typeface="Inter" pitchFamily="34" charset="-122"/>
                <a:cs typeface="Inter" pitchFamily="34" charset="-120"/>
              </a:rPr>
              <a:t>Multi-region rollout, abuse/scaling headroom, partnership-integration build for Anthropic / Cursor / Windsurf.</a:t>
            </a:r>
            <a:endParaRPr lang="en-US" sz="950" dirty="0"/>
          </a:p>
        </p:txBody>
      </p:sp>
      <p:sp>
        <p:nvSpPr>
          <p:cNvPr id="37" name="Shape 35"/>
          <p:cNvSpPr/>
          <p:nvPr/>
        </p:nvSpPr>
        <p:spPr>
          <a:xfrm>
            <a:off x="502920" y="5897880"/>
            <a:ext cx="11185855" cy="365760"/>
          </a:xfrm>
          <a:prstGeom prst="roundRect">
            <a:avLst>
              <a:gd name="adj" fmla="val 25000"/>
            </a:avLst>
          </a:prstGeom>
          <a:solidFill>
            <a:srgbClr val="151A33"/>
          </a:solidFill>
          <a:ln w="12700">
            <a:solidFill>
              <a:srgbClr val="5040E5"/>
            </a:solidFill>
            <a:prstDash val="solid"/>
          </a:ln>
        </p:spPr>
      </p:sp>
      <p:sp>
        <p:nvSpPr>
          <p:cNvPr id="38" name="Text 36"/>
          <p:cNvSpPr/>
          <p:nvPr/>
        </p:nvSpPr>
        <p:spPr>
          <a:xfrm>
            <a:off x="502920" y="5897880"/>
            <a:ext cx="11185855" cy="365760"/>
          </a:xfrm>
          <a:prstGeom prst="rect">
            <a:avLst/>
          </a:prstGeom>
          <a:noFill/>
          <a:ln/>
        </p:spPr>
        <p:txBody>
          <a:bodyPr wrap="square" lIns="0" tIns="0" rIns="0" bIns="0" rtlCol="0" anchor="ctr"/>
          <a:lstStyle/>
          <a:p>
            <a:pPr algn="ctr" indent="0" marL="0">
              <a:buNone/>
            </a:pPr>
            <a:r>
              <a:rPr lang="en-US" sz="1100" b="1" spc="300" kern="0" dirty="0">
                <a:solidFill>
                  <a:srgbClr val="5040E5"/>
                </a:solidFill>
                <a:latin typeface="JetBrains Mono" pitchFamily="34" charset="0"/>
                <a:ea typeface="JetBrains Mono" pitchFamily="34" charset="-122"/>
                <a:cs typeface="JetBrains Mono" pitchFamily="34" charset="-120"/>
              </a:rPr>
              <a:t>TARGET   </a:t>
            </a:r>
            <a:pPr algn="ctr" indent="0" marL="0">
              <a:buNone/>
            </a:pPr>
            <a:r>
              <a:rPr lang="en-US" sz="1150" dirty="0">
                <a:solidFill>
                  <a:srgbClr val="FFFFFF"/>
                </a:solidFill>
                <a:latin typeface="Inter" pitchFamily="34" charset="0"/>
                <a:ea typeface="Inter" pitchFamily="34" charset="-122"/>
                <a:cs typeface="Inter" pitchFamily="34" charset="-120"/>
              </a:rPr>
              <a:t>M12 · ~750 paying · ~£55K MRR · validated funnel · acquirer + raise conversations live.</a:t>
            </a:r>
            <a:endParaRPr lang="en-US" sz="1100" dirty="0"/>
          </a:p>
        </p:txBody>
      </p:sp>
      <p:sp>
        <p:nvSpPr>
          <p:cNvPr id="39" name="Shape 37"/>
          <p:cNvSpPr/>
          <p:nvPr/>
        </p:nvSpPr>
        <p:spPr>
          <a:xfrm>
            <a:off x="502920" y="6263640"/>
            <a:ext cx="11185855" cy="0"/>
          </a:xfrm>
          <a:prstGeom prst="line">
            <a:avLst/>
          </a:prstGeom>
          <a:noFill/>
          <a:ln w="6350">
            <a:solidFill>
              <a:srgbClr val="26305A"/>
            </a:solidFill>
            <a:prstDash val="solid"/>
          </a:ln>
        </p:spPr>
      </p:sp>
      <p:sp>
        <p:nvSpPr>
          <p:cNvPr id="40" name="Text 38"/>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B4ACEF"/>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41" name="Text 39"/>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B4ACEF"/>
                </a:solidFill>
                <a:latin typeface="JetBrains Mono" pitchFamily="34" charset="0"/>
                <a:ea typeface="JetBrains Mono" pitchFamily="34" charset="-122"/>
                <a:cs typeface="JetBrains Mono" pitchFamily="34" charset="-120"/>
              </a:rPr>
              <a:t>19  /  28</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20  ·  ETHOS + MOATS</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Customer trust as moat. </a:t>
            </a:r>
            <a:pPr algn="l" indent="0" marL="0">
              <a:buNone/>
            </a:pPr>
            <a:r>
              <a:rPr lang="en-US" sz="3600" b="1" dirty="0">
                <a:solidFill>
                  <a:srgbClr val="5040E5"/>
                </a:solidFill>
                <a:latin typeface="Inter" pitchFamily="34" charset="0"/>
                <a:ea typeface="Inter" pitchFamily="34" charset="-122"/>
                <a:cs typeface="Inter" pitchFamily="34" charset="-120"/>
              </a:rPr>
              <a:t>Predictable as armour.</a:t>
            </a:r>
            <a:endParaRPr lang="en-US" sz="3600" dirty="0"/>
          </a:p>
        </p:txBody>
      </p:sp>
      <p:sp>
        <p:nvSpPr>
          <p:cNvPr id="8" name="Text 6"/>
          <p:cNvSpPr/>
          <p:nvPr/>
        </p:nvSpPr>
        <p:spPr>
          <a:xfrm>
            <a:off x="502920" y="187452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Each moat is something the customer feels, not just a balance-sheet line. Hard to copy because they compound through the customer's own time and trust.</a:t>
            </a:r>
            <a:endParaRPr lang="en-US" sz="1550" dirty="0"/>
          </a:p>
        </p:txBody>
      </p:sp>
      <p:sp>
        <p:nvSpPr>
          <p:cNvPr id="9" name="Shape 7"/>
          <p:cNvSpPr/>
          <p:nvPr/>
        </p:nvSpPr>
        <p:spPr>
          <a:xfrm>
            <a:off x="502920" y="2697480"/>
            <a:ext cx="3606698" cy="1440180"/>
          </a:xfrm>
          <a:prstGeom prst="roundRect">
            <a:avLst>
              <a:gd name="adj" fmla="val 7619"/>
            </a:avLst>
          </a:prstGeom>
          <a:solidFill>
            <a:srgbClr val="FFFFFF"/>
          </a:solidFill>
          <a:ln w="9525">
            <a:solidFill>
              <a:srgbClr val="E2E0F0"/>
            </a:solidFill>
            <a:prstDash val="solid"/>
          </a:ln>
        </p:spPr>
      </p:sp>
      <p:sp>
        <p:nvSpPr>
          <p:cNvPr id="10" name="Text 8"/>
          <p:cNvSpPr/>
          <p:nvPr/>
        </p:nvSpPr>
        <p:spPr>
          <a:xfrm>
            <a:off x="777240" y="28803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01</a:t>
            </a:r>
            <a:endParaRPr lang="en-US" sz="1300" dirty="0"/>
          </a:p>
        </p:txBody>
      </p:sp>
      <p:sp>
        <p:nvSpPr>
          <p:cNvPr id="11" name="Text 9"/>
          <p:cNvSpPr/>
          <p:nvPr/>
        </p:nvSpPr>
        <p:spPr>
          <a:xfrm>
            <a:off x="777240" y="329184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Their product, their code.</a:t>
            </a:r>
            <a:endParaRPr lang="en-US" sz="1600" dirty="0"/>
          </a:p>
        </p:txBody>
      </p:sp>
      <p:sp>
        <p:nvSpPr>
          <p:cNvPr id="12" name="Text 10"/>
          <p:cNvSpPr/>
          <p:nvPr/>
        </p:nvSpPr>
        <p:spPr>
          <a:xfrm>
            <a:off x="777240" y="3840480"/>
            <a:ext cx="3058058" cy="20574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Per-tenant GitHub repo, day one. Customer leaves with everything. Trust comes from never feeling locked in.</a:t>
            </a:r>
            <a:endParaRPr lang="en-US" sz="1150" dirty="0"/>
          </a:p>
        </p:txBody>
      </p:sp>
      <p:sp>
        <p:nvSpPr>
          <p:cNvPr id="13" name="Shape 11"/>
          <p:cNvSpPr/>
          <p:nvPr/>
        </p:nvSpPr>
        <p:spPr>
          <a:xfrm>
            <a:off x="4292498" y="2697480"/>
            <a:ext cx="3606698" cy="1440180"/>
          </a:xfrm>
          <a:prstGeom prst="roundRect">
            <a:avLst>
              <a:gd name="adj" fmla="val 7619"/>
            </a:avLst>
          </a:prstGeom>
          <a:solidFill>
            <a:srgbClr val="FFFFFF"/>
          </a:solidFill>
          <a:ln w="9525">
            <a:solidFill>
              <a:srgbClr val="E2E0F0"/>
            </a:solidFill>
            <a:prstDash val="solid"/>
          </a:ln>
        </p:spPr>
      </p:sp>
      <p:sp>
        <p:nvSpPr>
          <p:cNvPr id="14" name="Text 12"/>
          <p:cNvSpPr/>
          <p:nvPr/>
        </p:nvSpPr>
        <p:spPr>
          <a:xfrm>
            <a:off x="4566818" y="28803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02</a:t>
            </a:r>
            <a:endParaRPr lang="en-US" sz="1300" dirty="0"/>
          </a:p>
        </p:txBody>
      </p:sp>
      <p:sp>
        <p:nvSpPr>
          <p:cNvPr id="15" name="Text 13"/>
          <p:cNvSpPr/>
          <p:nvPr/>
        </p:nvSpPr>
        <p:spPr>
          <a:xfrm>
            <a:off x="4566818" y="329184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Predictable costs.</a:t>
            </a:r>
            <a:endParaRPr lang="en-US" sz="1600" dirty="0"/>
          </a:p>
        </p:txBody>
      </p:sp>
      <p:sp>
        <p:nvSpPr>
          <p:cNvPr id="16" name="Text 14"/>
          <p:cNvSpPr/>
          <p:nvPr/>
        </p:nvSpPr>
        <p:spPr>
          <a:xfrm>
            <a:off x="4566818" y="3840480"/>
            <a:ext cx="3058058" cy="20574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Pass-through × 1.60 + PAYG top-ups. No surprise £400 month. Founders can plan a year on a working hypothesis.</a:t>
            </a:r>
            <a:endParaRPr lang="en-US" sz="1150" dirty="0"/>
          </a:p>
        </p:txBody>
      </p:sp>
      <p:sp>
        <p:nvSpPr>
          <p:cNvPr id="17" name="Shape 15"/>
          <p:cNvSpPr/>
          <p:nvPr/>
        </p:nvSpPr>
        <p:spPr>
          <a:xfrm>
            <a:off x="8082077" y="2697480"/>
            <a:ext cx="3606698" cy="1440180"/>
          </a:xfrm>
          <a:prstGeom prst="roundRect">
            <a:avLst>
              <a:gd name="adj" fmla="val 7619"/>
            </a:avLst>
          </a:prstGeom>
          <a:solidFill>
            <a:srgbClr val="FFFFFF"/>
          </a:solidFill>
          <a:ln w="9525">
            <a:solidFill>
              <a:srgbClr val="E2E0F0"/>
            </a:solidFill>
            <a:prstDash val="solid"/>
          </a:ln>
        </p:spPr>
      </p:sp>
      <p:sp>
        <p:nvSpPr>
          <p:cNvPr id="18" name="Text 16"/>
          <p:cNvSpPr/>
          <p:nvPr/>
        </p:nvSpPr>
        <p:spPr>
          <a:xfrm>
            <a:off x="8356397" y="28803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03</a:t>
            </a:r>
            <a:endParaRPr lang="en-US" sz="1300" dirty="0"/>
          </a:p>
        </p:txBody>
      </p:sp>
      <p:sp>
        <p:nvSpPr>
          <p:cNvPr id="19" name="Text 17"/>
          <p:cNvSpPr/>
          <p:nvPr/>
        </p:nvSpPr>
        <p:spPr>
          <a:xfrm>
            <a:off x="8356397" y="329184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Founder doesn't need a CTO.</a:t>
            </a:r>
            <a:endParaRPr lang="en-US" sz="1600" dirty="0"/>
          </a:p>
        </p:txBody>
      </p:sp>
      <p:sp>
        <p:nvSpPr>
          <p:cNvPr id="20" name="Text 18"/>
          <p:cNvSpPr/>
          <p:nvPr/>
        </p:nvSpPr>
        <p:spPr>
          <a:xfrm>
            <a:off x="8356397" y="3840480"/>
            <a:ext cx="3058058" cy="20574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Hatchik abstracts the parts a non-technical founder can't hire for at this stage. They never have to learn DKIM.</a:t>
            </a:r>
            <a:endParaRPr lang="en-US" sz="1150" dirty="0"/>
          </a:p>
        </p:txBody>
      </p:sp>
      <p:sp>
        <p:nvSpPr>
          <p:cNvPr id="21" name="Shape 19"/>
          <p:cNvSpPr/>
          <p:nvPr/>
        </p:nvSpPr>
        <p:spPr>
          <a:xfrm>
            <a:off x="502920" y="4411980"/>
            <a:ext cx="3606698" cy="1440180"/>
          </a:xfrm>
          <a:prstGeom prst="roundRect">
            <a:avLst>
              <a:gd name="adj" fmla="val 7619"/>
            </a:avLst>
          </a:prstGeom>
          <a:solidFill>
            <a:srgbClr val="FFFFFF"/>
          </a:solidFill>
          <a:ln w="9525">
            <a:solidFill>
              <a:srgbClr val="E2E0F0"/>
            </a:solidFill>
            <a:prstDash val="solid"/>
          </a:ln>
        </p:spPr>
      </p:sp>
      <p:sp>
        <p:nvSpPr>
          <p:cNvPr id="22" name="Text 20"/>
          <p:cNvSpPr/>
          <p:nvPr/>
        </p:nvSpPr>
        <p:spPr>
          <a:xfrm>
            <a:off x="777240" y="45948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04</a:t>
            </a:r>
            <a:endParaRPr lang="en-US" sz="1300" dirty="0"/>
          </a:p>
        </p:txBody>
      </p:sp>
      <p:sp>
        <p:nvSpPr>
          <p:cNvPr id="23" name="Text 21"/>
          <p:cNvSpPr/>
          <p:nvPr/>
        </p:nvSpPr>
        <p:spPr>
          <a:xfrm>
            <a:off x="777240" y="500634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BYO-AI is a community lexicon.</a:t>
            </a:r>
            <a:endParaRPr lang="en-US" sz="1600" dirty="0"/>
          </a:p>
        </p:txBody>
      </p:sp>
      <p:sp>
        <p:nvSpPr>
          <p:cNvPr id="24" name="Text 22"/>
          <p:cNvSpPr/>
          <p:nvPr/>
        </p:nvSpPr>
        <p:spPr>
          <a:xfrm>
            <a:off x="777240" y="5554980"/>
            <a:ext cx="3058058" cy="20574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"The production substrate for AI-built SaaS." Labs consider acquiring, not retraining every customer's mental model.</a:t>
            </a:r>
            <a:endParaRPr lang="en-US" sz="1150" dirty="0"/>
          </a:p>
        </p:txBody>
      </p:sp>
      <p:sp>
        <p:nvSpPr>
          <p:cNvPr id="25" name="Shape 23"/>
          <p:cNvSpPr/>
          <p:nvPr/>
        </p:nvSpPr>
        <p:spPr>
          <a:xfrm>
            <a:off x="4292498" y="4411980"/>
            <a:ext cx="3606698" cy="1440180"/>
          </a:xfrm>
          <a:prstGeom prst="roundRect">
            <a:avLst>
              <a:gd name="adj" fmla="val 7619"/>
            </a:avLst>
          </a:prstGeom>
          <a:solidFill>
            <a:srgbClr val="FFFFFF"/>
          </a:solidFill>
          <a:ln w="9525">
            <a:solidFill>
              <a:srgbClr val="E2E0F0"/>
            </a:solidFill>
            <a:prstDash val="solid"/>
          </a:ln>
        </p:spPr>
      </p:sp>
      <p:sp>
        <p:nvSpPr>
          <p:cNvPr id="26" name="Text 24"/>
          <p:cNvSpPr/>
          <p:nvPr/>
        </p:nvSpPr>
        <p:spPr>
          <a:xfrm>
            <a:off x="4566818" y="45948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05</a:t>
            </a:r>
            <a:endParaRPr lang="en-US" sz="1300" dirty="0"/>
          </a:p>
        </p:txBody>
      </p:sp>
      <p:sp>
        <p:nvSpPr>
          <p:cNvPr id="27" name="Text 25"/>
          <p:cNvSpPr/>
          <p:nvPr/>
        </p:nvSpPr>
        <p:spPr>
          <a:xfrm>
            <a:off x="4566818" y="500634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Wholesale relationships.</a:t>
            </a:r>
            <a:endParaRPr lang="en-US" sz="1600" dirty="0"/>
          </a:p>
        </p:txBody>
      </p:sp>
      <p:sp>
        <p:nvSpPr>
          <p:cNvPr id="28" name="Text 26"/>
          <p:cNvSpPr/>
          <p:nvPr/>
        </p:nvSpPr>
        <p:spPr>
          <a:xfrm>
            <a:off x="4566818" y="5554980"/>
            <a:ext cx="3058058" cy="20574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Anthropic, OpenAI, Hetzner, Infomaniak at enterprise rates by 5K customers. Margin uplift competitors can't see.</a:t>
            </a:r>
            <a:endParaRPr lang="en-US" sz="1150" dirty="0"/>
          </a:p>
        </p:txBody>
      </p:sp>
      <p:sp>
        <p:nvSpPr>
          <p:cNvPr id="29" name="Shape 27"/>
          <p:cNvSpPr/>
          <p:nvPr/>
        </p:nvSpPr>
        <p:spPr>
          <a:xfrm>
            <a:off x="8082077" y="4411980"/>
            <a:ext cx="3606698" cy="1440180"/>
          </a:xfrm>
          <a:prstGeom prst="roundRect">
            <a:avLst>
              <a:gd name="adj" fmla="val 7619"/>
            </a:avLst>
          </a:prstGeom>
          <a:solidFill>
            <a:srgbClr val="FFFFFF"/>
          </a:solidFill>
          <a:ln w="9525">
            <a:solidFill>
              <a:srgbClr val="E2E0F0"/>
            </a:solidFill>
            <a:prstDash val="solid"/>
          </a:ln>
        </p:spPr>
      </p:sp>
      <p:sp>
        <p:nvSpPr>
          <p:cNvPr id="30" name="Text 28"/>
          <p:cNvSpPr/>
          <p:nvPr/>
        </p:nvSpPr>
        <p:spPr>
          <a:xfrm>
            <a:off x="8356397" y="4594860"/>
            <a:ext cx="731520" cy="365760"/>
          </a:xfrm>
          <a:prstGeom prst="rect">
            <a:avLst/>
          </a:prstGeom>
          <a:noFill/>
          <a:ln/>
        </p:spPr>
        <p:txBody>
          <a:bodyPr wrap="square" lIns="0" tIns="0" rIns="0" bIns="0" rtlCol="0" anchor="ctr"/>
          <a:lstStyle/>
          <a:p>
            <a:pPr algn="l" indent="0" marL="0">
              <a:buNone/>
            </a:pPr>
            <a:r>
              <a:rPr lang="en-US" sz="1300" b="1" spc="300" kern="0" dirty="0">
                <a:solidFill>
                  <a:srgbClr val="5040E5"/>
                </a:solidFill>
                <a:latin typeface="JetBrains Mono" pitchFamily="34" charset="0"/>
                <a:ea typeface="JetBrains Mono" pitchFamily="34" charset="-122"/>
                <a:cs typeface="JetBrains Mono" pitchFamily="34" charset="-120"/>
              </a:rPr>
              <a:t>06</a:t>
            </a:r>
            <a:endParaRPr lang="en-US" sz="1300" dirty="0"/>
          </a:p>
        </p:txBody>
      </p:sp>
      <p:sp>
        <p:nvSpPr>
          <p:cNvPr id="31" name="Text 29"/>
          <p:cNvSpPr/>
          <p:nvPr/>
        </p:nvSpPr>
        <p:spPr>
          <a:xfrm>
            <a:off x="8356397" y="5006340"/>
            <a:ext cx="3058058" cy="45720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Founder-led for the first 500.</a:t>
            </a:r>
            <a:endParaRPr lang="en-US" sz="1600" dirty="0"/>
          </a:p>
        </p:txBody>
      </p:sp>
      <p:sp>
        <p:nvSpPr>
          <p:cNvPr id="32" name="Text 30"/>
          <p:cNvSpPr/>
          <p:nvPr/>
        </p:nvSpPr>
        <p:spPr>
          <a:xfrm>
            <a:off x="8356397" y="5554980"/>
            <a:ext cx="3058058" cy="205740"/>
          </a:xfrm>
          <a:prstGeom prst="rect">
            <a:avLst/>
          </a:prstGeom>
          <a:noFill/>
          <a:ln/>
        </p:spPr>
        <p:txBody>
          <a:bodyPr wrap="square" lIns="0" tIns="0" rIns="0" bIns="0" rtlCol="0" anchor="t"/>
          <a:lstStyle/>
          <a:p>
            <a:pPr algn="l" indent="0" marL="0">
              <a:buNone/>
            </a:pPr>
            <a:r>
              <a:rPr lang="en-US" sz="1150" dirty="0">
                <a:solidFill>
                  <a:srgbClr val="475569"/>
                </a:solidFill>
                <a:latin typeface="Inter" pitchFamily="34" charset="0"/>
                <a:ea typeface="Inter" pitchFamily="34" charset="-122"/>
                <a:cs typeface="Inter" pitchFamily="34" charset="-120"/>
              </a:rPr>
              <a:t>Customer knows the person who'll fix their bug. Can't be replicated by a corporate product team. Compounds reputation.</a:t>
            </a:r>
            <a:endParaRPr lang="en-US" sz="1150" dirty="0"/>
          </a:p>
        </p:txBody>
      </p:sp>
      <p:sp>
        <p:nvSpPr>
          <p:cNvPr id="33" name="Shape 31"/>
          <p:cNvSpPr/>
          <p:nvPr/>
        </p:nvSpPr>
        <p:spPr>
          <a:xfrm>
            <a:off x="502920" y="6263640"/>
            <a:ext cx="11185855" cy="0"/>
          </a:xfrm>
          <a:prstGeom prst="line">
            <a:avLst/>
          </a:prstGeom>
          <a:noFill/>
          <a:ln w="6350">
            <a:solidFill>
              <a:srgbClr val="E2E0F0"/>
            </a:solidFill>
            <a:prstDash val="solid"/>
          </a:ln>
        </p:spPr>
      </p:sp>
      <p:sp>
        <p:nvSpPr>
          <p:cNvPr id="34" name="Text 3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35" name="Text 33"/>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20  /  28</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E1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5040E5"/>
          </a:solidFill>
          <a:ln/>
        </p:spPr>
      </p:sp>
      <p:sp>
        <p:nvSpPr>
          <p:cNvPr id="3" name="Shape 1"/>
          <p:cNvSpPr/>
          <p:nvPr/>
        </p:nvSpPr>
        <p:spPr>
          <a:xfrm>
            <a:off x="502920" y="292608"/>
            <a:ext cx="292608" cy="292608"/>
          </a:xfrm>
          <a:prstGeom prst="ellipse">
            <a:avLst/>
          </a:prstGeom>
          <a:solidFill>
            <a:srgbClr val="FFFFFF"/>
          </a:solidFill>
          <a:ln/>
        </p:spPr>
      </p:sp>
      <p:sp>
        <p:nvSpPr>
          <p:cNvPr id="4" name="Shape 2"/>
          <p:cNvSpPr/>
          <p:nvPr/>
        </p:nvSpPr>
        <p:spPr>
          <a:xfrm>
            <a:off x="576072" y="453542"/>
            <a:ext cx="146304" cy="11704"/>
          </a:xfrm>
          <a:prstGeom prst="rect">
            <a:avLst/>
          </a:prstGeom>
          <a:solidFill>
            <a:srgbClr val="0B0E1F"/>
          </a:solidFill>
          <a:ln/>
        </p:spPr>
      </p:sp>
      <p:sp>
        <p:nvSpPr>
          <p:cNvPr id="5" name="Text 3"/>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FFFFFF"/>
                </a:solidFill>
                <a:latin typeface="Inter" pitchFamily="34" charset="0"/>
                <a:ea typeface="Inter" pitchFamily="34" charset="-122"/>
                <a:cs typeface="Inter" pitchFamily="34" charset="-120"/>
              </a:rPr>
              <a:t>hatchik</a:t>
            </a:r>
            <a:endParaRPr lang="en-US" sz="1600" dirty="0"/>
          </a:p>
        </p:txBody>
      </p:sp>
      <p:sp>
        <p:nvSpPr>
          <p:cNvPr id="6" name="Shape 4"/>
          <p:cNvSpPr/>
          <p:nvPr/>
        </p:nvSpPr>
        <p:spPr>
          <a:xfrm>
            <a:off x="502920" y="713232"/>
            <a:ext cx="11185855" cy="0"/>
          </a:xfrm>
          <a:prstGeom prst="line">
            <a:avLst/>
          </a:prstGeom>
          <a:noFill/>
          <a:ln w="6350">
            <a:solidFill>
              <a:srgbClr val="26305A"/>
            </a:solidFill>
            <a:prstDash val="solid"/>
          </a:ln>
        </p:spPr>
      </p:sp>
      <p:sp>
        <p:nvSpPr>
          <p:cNvPr id="7" name="Text 5"/>
          <p:cNvSpPr/>
          <p:nvPr/>
        </p:nvSpPr>
        <p:spPr>
          <a:xfrm>
            <a:off x="7162495" y="274320"/>
            <a:ext cx="4572000" cy="320040"/>
          </a:xfrm>
          <a:prstGeom prst="rect">
            <a:avLst/>
          </a:prstGeom>
          <a:noFill/>
          <a:ln/>
        </p:spPr>
        <p:txBody>
          <a:bodyPr wrap="square" rtlCol="0" anchor="ctr"/>
          <a:lstStyle/>
          <a:p>
            <a:pPr algn="r" indent="0" marL="0">
              <a:buNone/>
            </a:pPr>
            <a:r>
              <a:rPr lang="en-US" sz="1050" spc="400" kern="0" dirty="0">
                <a:solidFill>
                  <a:srgbClr val="B4ACEF"/>
                </a:solidFill>
                <a:latin typeface="JetBrains Mono" pitchFamily="34" charset="0"/>
                <a:ea typeface="JetBrains Mono" pitchFamily="34" charset="-122"/>
                <a:cs typeface="JetBrains Mono" pitchFamily="34" charset="-120"/>
              </a:rPr>
              <a:t>MAY 2026  ·  INVESTOR &amp; PARTNER DECK</a:t>
            </a:r>
            <a:endParaRPr lang="en-US" sz="1050" dirty="0"/>
          </a:p>
        </p:txBody>
      </p:sp>
      <p:sp>
        <p:nvSpPr>
          <p:cNvPr id="8" name="Text 6"/>
          <p:cNvSpPr/>
          <p:nvPr/>
        </p:nvSpPr>
        <p:spPr>
          <a:xfrm>
            <a:off x="502920" y="2286000"/>
            <a:ext cx="9144000" cy="1463040"/>
          </a:xfrm>
          <a:prstGeom prst="rect">
            <a:avLst/>
          </a:prstGeom>
          <a:noFill/>
          <a:ln/>
        </p:spPr>
        <p:txBody>
          <a:bodyPr wrap="square" rtlCol="0" anchor="t"/>
          <a:lstStyle/>
          <a:p>
            <a:pPr algn="l" indent="0" marL="0">
              <a:buNone/>
            </a:pPr>
            <a:r>
              <a:rPr lang="en-US" sz="9200" b="1" dirty="0">
                <a:solidFill>
                  <a:srgbClr val="FFFFFF"/>
                </a:solidFill>
                <a:latin typeface="Inter" pitchFamily="34" charset="0"/>
                <a:ea typeface="Inter" pitchFamily="34" charset="-122"/>
                <a:cs typeface="Inter" pitchFamily="34" charset="-120"/>
              </a:rPr>
              <a:t>Thank you.</a:t>
            </a:r>
            <a:endParaRPr lang="en-US" sz="9200" dirty="0"/>
          </a:p>
        </p:txBody>
      </p:sp>
      <p:sp>
        <p:nvSpPr>
          <p:cNvPr id="9" name="Text 7"/>
          <p:cNvSpPr/>
          <p:nvPr/>
        </p:nvSpPr>
        <p:spPr>
          <a:xfrm>
            <a:off x="502920" y="3840480"/>
            <a:ext cx="9144000" cy="548640"/>
          </a:xfrm>
          <a:prstGeom prst="rect">
            <a:avLst/>
          </a:prstGeom>
          <a:noFill/>
          <a:ln/>
        </p:spPr>
        <p:txBody>
          <a:bodyPr wrap="square" rtlCol="0" anchor="t"/>
          <a:lstStyle/>
          <a:p>
            <a:pPr algn="l" indent="0" marL="0">
              <a:buNone/>
            </a:pPr>
            <a:r>
              <a:rPr lang="en-US" sz="2400" dirty="0">
                <a:solidFill>
                  <a:srgbClr val="B4ACEF"/>
                </a:solidFill>
                <a:latin typeface="Inter" pitchFamily="34" charset="0"/>
                <a:ea typeface="Inter" pitchFamily="34" charset="-122"/>
                <a:cs typeface="Inter" pitchFamily="34" charset="-120"/>
              </a:rPr>
              <a:t>The production substrate your AI coder builds on.</a:t>
            </a:r>
            <a:endParaRPr lang="en-US" sz="2400" dirty="0"/>
          </a:p>
        </p:txBody>
      </p:sp>
      <p:sp>
        <p:nvSpPr>
          <p:cNvPr id="10" name="Text 8"/>
          <p:cNvSpPr/>
          <p:nvPr/>
        </p:nvSpPr>
        <p:spPr>
          <a:xfrm>
            <a:off x="502920" y="4389120"/>
            <a:ext cx="9144000" cy="502920"/>
          </a:xfrm>
          <a:prstGeom prst="rect">
            <a:avLst/>
          </a:prstGeom>
          <a:noFill/>
          <a:ln/>
        </p:spPr>
        <p:txBody>
          <a:bodyPr wrap="square" rtlCol="0" anchor="t"/>
          <a:lstStyle/>
          <a:p>
            <a:pPr algn="l" indent="0" marL="0">
              <a:buNone/>
            </a:pPr>
            <a:r>
              <a:rPr lang="en-US" sz="2000" dirty="0">
                <a:solidFill>
                  <a:srgbClr val="C7CCE8"/>
                </a:solidFill>
                <a:latin typeface="Inter" pitchFamily="34" charset="0"/>
                <a:ea typeface="Inter" pitchFamily="34" charset="-122"/>
                <a:cs typeface="Inter" pitchFamily="34" charset="-120"/>
              </a:rPr>
              <a:t>No platform. No lock-in. No demos.</a:t>
            </a:r>
            <a:endParaRPr lang="en-US" sz="2000" dirty="0"/>
          </a:p>
        </p:txBody>
      </p:sp>
      <p:sp>
        <p:nvSpPr>
          <p:cNvPr id="11" name="Text 9"/>
          <p:cNvSpPr/>
          <p:nvPr/>
        </p:nvSpPr>
        <p:spPr>
          <a:xfrm>
            <a:off x="502920" y="5532120"/>
            <a:ext cx="2560320"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GENERAL</a:t>
            </a:r>
            <a:endParaRPr lang="en-US" sz="1050" dirty="0"/>
          </a:p>
        </p:txBody>
      </p:sp>
      <p:sp>
        <p:nvSpPr>
          <p:cNvPr id="12" name="Text 10"/>
          <p:cNvSpPr/>
          <p:nvPr/>
        </p:nvSpPr>
        <p:spPr>
          <a:xfrm>
            <a:off x="502920" y="5779008"/>
            <a:ext cx="256032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hello@hatchik.com</a:t>
            </a:r>
            <a:endParaRPr lang="en-US" sz="1400" dirty="0"/>
          </a:p>
        </p:txBody>
      </p:sp>
      <p:sp>
        <p:nvSpPr>
          <p:cNvPr id="13" name="Text 11"/>
          <p:cNvSpPr/>
          <p:nvPr/>
        </p:nvSpPr>
        <p:spPr>
          <a:xfrm>
            <a:off x="3246120" y="5532120"/>
            <a:ext cx="2560320"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WEB</a:t>
            </a:r>
            <a:endParaRPr lang="en-US" sz="1050" dirty="0"/>
          </a:p>
        </p:txBody>
      </p:sp>
      <p:sp>
        <p:nvSpPr>
          <p:cNvPr id="14" name="Text 12"/>
          <p:cNvSpPr/>
          <p:nvPr/>
        </p:nvSpPr>
        <p:spPr>
          <a:xfrm>
            <a:off x="3246120" y="5779008"/>
            <a:ext cx="256032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hatchik.com</a:t>
            </a:r>
            <a:endParaRPr lang="en-US" sz="1400" dirty="0"/>
          </a:p>
        </p:txBody>
      </p:sp>
      <p:sp>
        <p:nvSpPr>
          <p:cNvPr id="15" name="Text 13"/>
          <p:cNvSpPr/>
          <p:nvPr/>
        </p:nvSpPr>
        <p:spPr>
          <a:xfrm>
            <a:off x="5989320" y="5532120"/>
            <a:ext cx="2560320"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FOUNDER</a:t>
            </a:r>
            <a:endParaRPr lang="en-US" sz="1050" dirty="0"/>
          </a:p>
        </p:txBody>
      </p:sp>
      <p:sp>
        <p:nvSpPr>
          <p:cNvPr id="16" name="Text 14"/>
          <p:cNvSpPr/>
          <p:nvPr/>
        </p:nvSpPr>
        <p:spPr>
          <a:xfrm>
            <a:off x="5989320" y="5779008"/>
            <a:ext cx="256032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Farhan Irshad</a:t>
            </a:r>
            <a:endParaRPr lang="en-US" sz="1400" dirty="0"/>
          </a:p>
        </p:txBody>
      </p:sp>
      <p:sp>
        <p:nvSpPr>
          <p:cNvPr id="17" name="Text 15"/>
          <p:cNvSpPr/>
          <p:nvPr/>
        </p:nvSpPr>
        <p:spPr>
          <a:xfrm>
            <a:off x="8732520" y="5532120"/>
            <a:ext cx="2560320" cy="274320"/>
          </a:xfrm>
          <a:prstGeom prst="rect">
            <a:avLst/>
          </a:prstGeom>
          <a:noFill/>
          <a:ln/>
        </p:spPr>
        <p:txBody>
          <a:bodyPr wrap="square" lIns="0" tIns="0" rIns="0" bIns="0" rtlCol="0" anchor="ctr"/>
          <a:lstStyle/>
          <a:p>
            <a:pPr algn="l" indent="0" marL="0">
              <a:buNone/>
            </a:pPr>
            <a:r>
              <a:rPr lang="en-US" sz="1050" spc="400" kern="0" dirty="0">
                <a:solidFill>
                  <a:srgbClr val="B4ACEF"/>
                </a:solidFill>
                <a:latin typeface="JetBrains Mono" pitchFamily="34" charset="0"/>
                <a:ea typeface="JetBrains Mono" pitchFamily="34" charset="-122"/>
                <a:cs typeface="JetBrains Mono" pitchFamily="34" charset="-120"/>
              </a:rPr>
              <a:t>LINKEDIN</a:t>
            </a:r>
            <a:endParaRPr lang="en-US" sz="1050" dirty="0"/>
          </a:p>
        </p:txBody>
      </p:sp>
      <p:sp>
        <p:nvSpPr>
          <p:cNvPr id="18" name="Text 16"/>
          <p:cNvSpPr/>
          <p:nvPr/>
        </p:nvSpPr>
        <p:spPr>
          <a:xfrm>
            <a:off x="8732520" y="5779008"/>
            <a:ext cx="256032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linkedin.com/in/farhanirshad</a:t>
            </a:r>
            <a:endParaRPr lang="en-US" sz="1400" dirty="0"/>
          </a:p>
        </p:txBody>
      </p:sp>
      <p:sp>
        <p:nvSpPr>
          <p:cNvPr id="19" name="Shape 17"/>
          <p:cNvSpPr/>
          <p:nvPr/>
        </p:nvSpPr>
        <p:spPr>
          <a:xfrm>
            <a:off x="502920" y="6263640"/>
            <a:ext cx="11185855" cy="0"/>
          </a:xfrm>
          <a:prstGeom prst="line">
            <a:avLst/>
          </a:prstGeom>
          <a:noFill/>
          <a:ln w="6350">
            <a:solidFill>
              <a:srgbClr val="26305A"/>
            </a:solidFill>
            <a:prstDash val="solid"/>
          </a:ln>
        </p:spPr>
      </p:sp>
      <p:sp>
        <p:nvSpPr>
          <p:cNvPr id="20" name="Text 18"/>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B4ACEF"/>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21" name="Text 19"/>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B4ACEF"/>
                </a:solidFill>
                <a:latin typeface="JetBrains Mono" pitchFamily="34" charset="0"/>
                <a:ea typeface="JetBrains Mono" pitchFamily="34" charset="-122"/>
                <a:cs typeface="JetBrains Mono" pitchFamily="34" charset="-120"/>
              </a:rPr>
              <a:t>21  /  28</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22  ·  APPENDIX</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1371600"/>
            <a:ext cx="11185855" cy="777240"/>
          </a:xfrm>
          <a:prstGeom prst="rect">
            <a:avLst/>
          </a:prstGeom>
          <a:noFill/>
          <a:ln/>
        </p:spPr>
        <p:txBody>
          <a:bodyPr wrap="square" lIns="0" tIns="0" rIns="0" bIns="0" rtlCol="0" anchor="t"/>
          <a:lstStyle/>
          <a:p>
            <a:pPr algn="l" indent="0" marL="0">
              <a:buNone/>
            </a:pPr>
            <a:r>
              <a:rPr lang="en-US" sz="3600" b="1" dirty="0">
                <a:solidFill>
                  <a:srgbClr val="0F172A"/>
                </a:solidFill>
                <a:latin typeface="Inter" pitchFamily="34" charset="0"/>
                <a:ea typeface="Inter" pitchFamily="34" charset="-122"/>
                <a:cs typeface="Inter" pitchFamily="34" charset="-120"/>
              </a:rPr>
              <a:t>Appendix. </a:t>
            </a:r>
            <a:pPr algn="l" indent="0" marL="0">
              <a:buNone/>
            </a:pPr>
            <a:r>
              <a:rPr lang="en-US" sz="3600" b="1" dirty="0">
                <a:solidFill>
                  <a:srgbClr val="5040E5"/>
                </a:solidFill>
                <a:latin typeface="Inter" pitchFamily="34" charset="0"/>
                <a:ea typeface="Inter" pitchFamily="34" charset="-122"/>
                <a:cs typeface="Inter" pitchFamily="34" charset="-120"/>
              </a:rPr>
              <a:t>Detail, behind the headline.</a:t>
            </a:r>
            <a:endParaRPr lang="en-US" sz="3600" dirty="0"/>
          </a:p>
        </p:txBody>
      </p:sp>
      <p:sp>
        <p:nvSpPr>
          <p:cNvPr id="8" name="Text 6"/>
          <p:cNvSpPr/>
          <p:nvPr/>
        </p:nvSpPr>
        <p:spPr>
          <a:xfrm>
            <a:off x="777240" y="2926080"/>
            <a:ext cx="731520" cy="365760"/>
          </a:xfrm>
          <a:prstGeom prst="rect">
            <a:avLst/>
          </a:prstGeom>
          <a:noFill/>
          <a:ln/>
        </p:spPr>
        <p:txBody>
          <a:bodyPr wrap="square" lIns="0" tIns="0" rIns="0" bIns="0" rtlCol="0" anchor="ctr"/>
          <a:lstStyle/>
          <a:p>
            <a:pPr algn="l" indent="0" marL="0">
              <a:buNone/>
            </a:pPr>
            <a:r>
              <a:rPr lang="en-US" sz="2000" b="1" dirty="0">
                <a:solidFill>
                  <a:srgbClr val="5040E5"/>
                </a:solidFill>
                <a:latin typeface="Inter" pitchFamily="34" charset="0"/>
                <a:ea typeface="Inter" pitchFamily="34" charset="-122"/>
                <a:cs typeface="Inter" pitchFamily="34" charset="-120"/>
              </a:rPr>
              <a:t>23</a:t>
            </a:r>
            <a:endParaRPr lang="en-US" sz="2000" dirty="0"/>
          </a:p>
        </p:txBody>
      </p:sp>
      <p:sp>
        <p:nvSpPr>
          <p:cNvPr id="9" name="Text 7"/>
          <p:cNvSpPr/>
          <p:nvPr/>
        </p:nvSpPr>
        <p:spPr>
          <a:xfrm>
            <a:off x="1691640" y="2926080"/>
            <a:ext cx="9997135" cy="365760"/>
          </a:xfrm>
          <a:prstGeom prst="rect">
            <a:avLst/>
          </a:prstGeom>
          <a:noFill/>
          <a:ln/>
        </p:spPr>
        <p:txBody>
          <a:bodyPr wrap="square" lIns="0" tIns="0" rIns="0" bIns="0" rtlCol="0" anchor="ctr"/>
          <a:lstStyle/>
          <a:p>
            <a:pPr algn="l" indent="0" marL="0">
              <a:buNone/>
            </a:pPr>
            <a:r>
              <a:rPr lang="en-US" sz="1500" dirty="0">
                <a:solidFill>
                  <a:srgbClr val="0F172A"/>
                </a:solidFill>
                <a:latin typeface="Inter" pitchFamily="34" charset="0"/>
                <a:ea typeface="Inter" pitchFamily="34" charset="-122"/>
                <a:cs typeface="Inter" pitchFamily="34" charset="-120"/>
              </a:rPr>
              <a:t>Competitor deep-dive — AI builders vs infra players</a:t>
            </a:r>
            <a:endParaRPr lang="en-US" sz="1500" dirty="0"/>
          </a:p>
        </p:txBody>
      </p:sp>
      <p:sp>
        <p:nvSpPr>
          <p:cNvPr id="10" name="Shape 8"/>
          <p:cNvSpPr/>
          <p:nvPr/>
        </p:nvSpPr>
        <p:spPr>
          <a:xfrm>
            <a:off x="777240" y="3337560"/>
            <a:ext cx="10637215" cy="0"/>
          </a:xfrm>
          <a:prstGeom prst="line">
            <a:avLst/>
          </a:prstGeom>
          <a:noFill/>
          <a:ln w="6350">
            <a:solidFill>
              <a:srgbClr val="E2E0F0"/>
            </a:solidFill>
            <a:prstDash val="solid"/>
          </a:ln>
        </p:spPr>
      </p:sp>
      <p:sp>
        <p:nvSpPr>
          <p:cNvPr id="11" name="Text 9"/>
          <p:cNvSpPr/>
          <p:nvPr/>
        </p:nvSpPr>
        <p:spPr>
          <a:xfrm>
            <a:off x="777240" y="3383280"/>
            <a:ext cx="731520" cy="365760"/>
          </a:xfrm>
          <a:prstGeom prst="rect">
            <a:avLst/>
          </a:prstGeom>
          <a:noFill/>
          <a:ln/>
        </p:spPr>
        <p:txBody>
          <a:bodyPr wrap="square" lIns="0" tIns="0" rIns="0" bIns="0" rtlCol="0" anchor="ctr"/>
          <a:lstStyle/>
          <a:p>
            <a:pPr algn="l" indent="0" marL="0">
              <a:buNone/>
            </a:pPr>
            <a:r>
              <a:rPr lang="en-US" sz="2000" b="1" dirty="0">
                <a:solidFill>
                  <a:srgbClr val="5040E5"/>
                </a:solidFill>
                <a:latin typeface="Inter" pitchFamily="34" charset="0"/>
                <a:ea typeface="Inter" pitchFamily="34" charset="-122"/>
                <a:cs typeface="Inter" pitchFamily="34" charset="-120"/>
              </a:rPr>
              <a:t>24</a:t>
            </a:r>
            <a:endParaRPr lang="en-US" sz="2000" dirty="0"/>
          </a:p>
        </p:txBody>
      </p:sp>
      <p:sp>
        <p:nvSpPr>
          <p:cNvPr id="12" name="Text 10"/>
          <p:cNvSpPr/>
          <p:nvPr/>
        </p:nvSpPr>
        <p:spPr>
          <a:xfrm>
            <a:off x="1691640" y="3383280"/>
            <a:ext cx="9997135" cy="365760"/>
          </a:xfrm>
          <a:prstGeom prst="rect">
            <a:avLst/>
          </a:prstGeom>
          <a:noFill/>
          <a:ln/>
        </p:spPr>
        <p:txBody>
          <a:bodyPr wrap="square" lIns="0" tIns="0" rIns="0" bIns="0" rtlCol="0" anchor="ctr"/>
          <a:lstStyle/>
          <a:p>
            <a:pPr algn="l" indent="0" marL="0">
              <a:buNone/>
            </a:pPr>
            <a:r>
              <a:rPr lang="en-US" sz="1500" dirty="0">
                <a:solidFill>
                  <a:srgbClr val="0F172A"/>
                </a:solidFill>
                <a:latin typeface="Inter" pitchFamily="34" charset="0"/>
                <a:ea typeface="Inter" pitchFamily="34" charset="-122"/>
                <a:cs typeface="Inter" pitchFamily="34" charset="-120"/>
              </a:rPr>
              <a:t>AI-lab disruption risk + mitigation strategy</a:t>
            </a:r>
            <a:endParaRPr lang="en-US" sz="1500" dirty="0"/>
          </a:p>
        </p:txBody>
      </p:sp>
      <p:sp>
        <p:nvSpPr>
          <p:cNvPr id="13" name="Shape 11"/>
          <p:cNvSpPr/>
          <p:nvPr/>
        </p:nvSpPr>
        <p:spPr>
          <a:xfrm>
            <a:off x="777240" y="3794760"/>
            <a:ext cx="10637215" cy="0"/>
          </a:xfrm>
          <a:prstGeom prst="line">
            <a:avLst/>
          </a:prstGeom>
          <a:noFill/>
          <a:ln w="6350">
            <a:solidFill>
              <a:srgbClr val="E2E0F0"/>
            </a:solidFill>
            <a:prstDash val="solid"/>
          </a:ln>
        </p:spPr>
      </p:sp>
      <p:sp>
        <p:nvSpPr>
          <p:cNvPr id="14" name="Text 12"/>
          <p:cNvSpPr/>
          <p:nvPr/>
        </p:nvSpPr>
        <p:spPr>
          <a:xfrm>
            <a:off x="777240" y="3840480"/>
            <a:ext cx="731520" cy="365760"/>
          </a:xfrm>
          <a:prstGeom prst="rect">
            <a:avLst/>
          </a:prstGeom>
          <a:noFill/>
          <a:ln/>
        </p:spPr>
        <p:txBody>
          <a:bodyPr wrap="square" lIns="0" tIns="0" rIns="0" bIns="0" rtlCol="0" anchor="ctr"/>
          <a:lstStyle/>
          <a:p>
            <a:pPr algn="l" indent="0" marL="0">
              <a:buNone/>
            </a:pPr>
            <a:r>
              <a:rPr lang="en-US" sz="2000" b="1" dirty="0">
                <a:solidFill>
                  <a:srgbClr val="5040E5"/>
                </a:solidFill>
                <a:latin typeface="Inter" pitchFamily="34" charset="0"/>
                <a:ea typeface="Inter" pitchFamily="34" charset="-122"/>
                <a:cs typeface="Inter" pitchFamily="34" charset="-120"/>
              </a:rPr>
              <a:t>25</a:t>
            </a:r>
            <a:endParaRPr lang="en-US" sz="2000" dirty="0"/>
          </a:p>
        </p:txBody>
      </p:sp>
      <p:sp>
        <p:nvSpPr>
          <p:cNvPr id="15" name="Text 13"/>
          <p:cNvSpPr/>
          <p:nvPr/>
        </p:nvSpPr>
        <p:spPr>
          <a:xfrm>
            <a:off x="1691640" y="3840480"/>
            <a:ext cx="9997135" cy="365760"/>
          </a:xfrm>
          <a:prstGeom prst="rect">
            <a:avLst/>
          </a:prstGeom>
          <a:noFill/>
          <a:ln/>
        </p:spPr>
        <p:txBody>
          <a:bodyPr wrap="square" lIns="0" tIns="0" rIns="0" bIns="0" rtlCol="0" anchor="ctr"/>
          <a:lstStyle/>
          <a:p>
            <a:pPr algn="l" indent="0" marL="0">
              <a:buNone/>
            </a:pPr>
            <a:r>
              <a:rPr lang="en-US" sz="1500" dirty="0">
                <a:solidFill>
                  <a:srgbClr val="0F172A"/>
                </a:solidFill>
                <a:latin typeface="Inter" pitchFamily="34" charset="0"/>
                <a:ea typeface="Inter" pitchFamily="34" charset="-122"/>
                <a:cs typeface="Inter" pitchFamily="34" charset="-120"/>
              </a:rPr>
              <a:t>Full risks register</a:t>
            </a:r>
            <a:endParaRPr lang="en-US" sz="1500" dirty="0"/>
          </a:p>
        </p:txBody>
      </p:sp>
      <p:sp>
        <p:nvSpPr>
          <p:cNvPr id="16" name="Shape 14"/>
          <p:cNvSpPr/>
          <p:nvPr/>
        </p:nvSpPr>
        <p:spPr>
          <a:xfrm>
            <a:off x="777240" y="4251960"/>
            <a:ext cx="10637215" cy="0"/>
          </a:xfrm>
          <a:prstGeom prst="line">
            <a:avLst/>
          </a:prstGeom>
          <a:noFill/>
          <a:ln w="6350">
            <a:solidFill>
              <a:srgbClr val="E2E0F0"/>
            </a:solidFill>
            <a:prstDash val="solid"/>
          </a:ln>
        </p:spPr>
      </p:sp>
      <p:sp>
        <p:nvSpPr>
          <p:cNvPr id="17" name="Text 15"/>
          <p:cNvSpPr/>
          <p:nvPr/>
        </p:nvSpPr>
        <p:spPr>
          <a:xfrm>
            <a:off x="777240" y="4297680"/>
            <a:ext cx="731520" cy="365760"/>
          </a:xfrm>
          <a:prstGeom prst="rect">
            <a:avLst/>
          </a:prstGeom>
          <a:noFill/>
          <a:ln/>
        </p:spPr>
        <p:txBody>
          <a:bodyPr wrap="square" lIns="0" tIns="0" rIns="0" bIns="0" rtlCol="0" anchor="ctr"/>
          <a:lstStyle/>
          <a:p>
            <a:pPr algn="l" indent="0" marL="0">
              <a:buNone/>
            </a:pPr>
            <a:r>
              <a:rPr lang="en-US" sz="2000" b="1" dirty="0">
                <a:solidFill>
                  <a:srgbClr val="5040E5"/>
                </a:solidFill>
                <a:latin typeface="Inter" pitchFamily="34" charset="0"/>
                <a:ea typeface="Inter" pitchFamily="34" charset="-122"/>
                <a:cs typeface="Inter" pitchFamily="34" charset="-120"/>
              </a:rPr>
              <a:t>26</a:t>
            </a:r>
            <a:endParaRPr lang="en-US" sz="2000" dirty="0"/>
          </a:p>
        </p:txBody>
      </p:sp>
      <p:sp>
        <p:nvSpPr>
          <p:cNvPr id="18" name="Text 16"/>
          <p:cNvSpPr/>
          <p:nvPr/>
        </p:nvSpPr>
        <p:spPr>
          <a:xfrm>
            <a:off x="1691640" y="4297680"/>
            <a:ext cx="9997135" cy="365760"/>
          </a:xfrm>
          <a:prstGeom prst="rect">
            <a:avLst/>
          </a:prstGeom>
          <a:noFill/>
          <a:ln/>
        </p:spPr>
        <p:txBody>
          <a:bodyPr wrap="square" lIns="0" tIns="0" rIns="0" bIns="0" rtlCol="0" anchor="ctr"/>
          <a:lstStyle/>
          <a:p>
            <a:pPr algn="l" indent="0" marL="0">
              <a:buNone/>
            </a:pPr>
            <a:r>
              <a:rPr lang="en-US" sz="1500" dirty="0">
                <a:solidFill>
                  <a:srgbClr val="0F172A"/>
                </a:solidFill>
                <a:latin typeface="Inter" pitchFamily="34" charset="0"/>
                <a:ea typeface="Inter" pitchFamily="34" charset="-122"/>
                <a:cs typeface="Inter" pitchFamily="34" charset="-120"/>
              </a:rPr>
              <a:t>MRR build-up — cohort × ARPU × churn</a:t>
            </a:r>
            <a:endParaRPr lang="en-US" sz="1500" dirty="0"/>
          </a:p>
        </p:txBody>
      </p:sp>
      <p:sp>
        <p:nvSpPr>
          <p:cNvPr id="19" name="Shape 17"/>
          <p:cNvSpPr/>
          <p:nvPr/>
        </p:nvSpPr>
        <p:spPr>
          <a:xfrm>
            <a:off x="777240" y="4709160"/>
            <a:ext cx="10637215" cy="0"/>
          </a:xfrm>
          <a:prstGeom prst="line">
            <a:avLst/>
          </a:prstGeom>
          <a:noFill/>
          <a:ln w="6350">
            <a:solidFill>
              <a:srgbClr val="E2E0F0"/>
            </a:solidFill>
            <a:prstDash val="solid"/>
          </a:ln>
        </p:spPr>
      </p:sp>
      <p:sp>
        <p:nvSpPr>
          <p:cNvPr id="20" name="Text 18"/>
          <p:cNvSpPr/>
          <p:nvPr/>
        </p:nvSpPr>
        <p:spPr>
          <a:xfrm>
            <a:off x="777240" y="4754880"/>
            <a:ext cx="731520" cy="365760"/>
          </a:xfrm>
          <a:prstGeom prst="rect">
            <a:avLst/>
          </a:prstGeom>
          <a:noFill/>
          <a:ln/>
        </p:spPr>
        <p:txBody>
          <a:bodyPr wrap="square" lIns="0" tIns="0" rIns="0" bIns="0" rtlCol="0" anchor="ctr"/>
          <a:lstStyle/>
          <a:p>
            <a:pPr algn="l" indent="0" marL="0">
              <a:buNone/>
            </a:pPr>
            <a:r>
              <a:rPr lang="en-US" sz="2000" b="1" dirty="0">
                <a:solidFill>
                  <a:srgbClr val="5040E5"/>
                </a:solidFill>
                <a:latin typeface="Inter" pitchFamily="34" charset="0"/>
                <a:ea typeface="Inter" pitchFamily="34" charset="-122"/>
                <a:cs typeface="Inter" pitchFamily="34" charset="-120"/>
              </a:rPr>
              <a:t>27</a:t>
            </a:r>
            <a:endParaRPr lang="en-US" sz="2000" dirty="0"/>
          </a:p>
        </p:txBody>
      </p:sp>
      <p:sp>
        <p:nvSpPr>
          <p:cNvPr id="21" name="Text 19"/>
          <p:cNvSpPr/>
          <p:nvPr/>
        </p:nvSpPr>
        <p:spPr>
          <a:xfrm>
            <a:off x="1691640" y="4754880"/>
            <a:ext cx="9997135" cy="365760"/>
          </a:xfrm>
          <a:prstGeom prst="rect">
            <a:avLst/>
          </a:prstGeom>
          <a:noFill/>
          <a:ln/>
        </p:spPr>
        <p:txBody>
          <a:bodyPr wrap="square" lIns="0" tIns="0" rIns="0" bIns="0" rtlCol="0" anchor="ctr"/>
          <a:lstStyle/>
          <a:p>
            <a:pPr algn="l" indent="0" marL="0">
              <a:buNone/>
            </a:pPr>
            <a:r>
              <a:rPr lang="en-US" sz="1500" dirty="0">
                <a:solidFill>
                  <a:srgbClr val="0F172A"/>
                </a:solidFill>
                <a:latin typeface="Inter" pitchFamily="34" charset="0"/>
                <a:ea typeface="Inter" pitchFamily="34" charset="-122"/>
                <a:cs typeface="Inter" pitchFamily="34" charset="-120"/>
              </a:rPr>
              <a:t>Use of funds — detailed allocation</a:t>
            </a:r>
            <a:endParaRPr lang="en-US" sz="1500" dirty="0"/>
          </a:p>
        </p:txBody>
      </p:sp>
      <p:sp>
        <p:nvSpPr>
          <p:cNvPr id="22" name="Shape 20"/>
          <p:cNvSpPr/>
          <p:nvPr/>
        </p:nvSpPr>
        <p:spPr>
          <a:xfrm>
            <a:off x="777240" y="5166360"/>
            <a:ext cx="10637215" cy="0"/>
          </a:xfrm>
          <a:prstGeom prst="line">
            <a:avLst/>
          </a:prstGeom>
          <a:noFill/>
          <a:ln w="6350">
            <a:solidFill>
              <a:srgbClr val="E2E0F0"/>
            </a:solidFill>
            <a:prstDash val="solid"/>
          </a:ln>
        </p:spPr>
      </p:sp>
      <p:sp>
        <p:nvSpPr>
          <p:cNvPr id="23" name="Text 21"/>
          <p:cNvSpPr/>
          <p:nvPr/>
        </p:nvSpPr>
        <p:spPr>
          <a:xfrm>
            <a:off x="777240" y="5212080"/>
            <a:ext cx="731520" cy="365760"/>
          </a:xfrm>
          <a:prstGeom prst="rect">
            <a:avLst/>
          </a:prstGeom>
          <a:noFill/>
          <a:ln/>
        </p:spPr>
        <p:txBody>
          <a:bodyPr wrap="square" lIns="0" tIns="0" rIns="0" bIns="0" rtlCol="0" anchor="ctr"/>
          <a:lstStyle/>
          <a:p>
            <a:pPr algn="l" indent="0" marL="0">
              <a:buNone/>
            </a:pPr>
            <a:r>
              <a:rPr lang="en-US" sz="2000" b="1" dirty="0">
                <a:solidFill>
                  <a:srgbClr val="5040E5"/>
                </a:solidFill>
                <a:latin typeface="Inter" pitchFamily="34" charset="0"/>
                <a:ea typeface="Inter" pitchFamily="34" charset="-122"/>
                <a:cs typeface="Inter" pitchFamily="34" charset="-120"/>
              </a:rPr>
              <a:t>28</a:t>
            </a:r>
            <a:endParaRPr lang="en-US" sz="2000" dirty="0"/>
          </a:p>
        </p:txBody>
      </p:sp>
      <p:sp>
        <p:nvSpPr>
          <p:cNvPr id="24" name="Text 22"/>
          <p:cNvSpPr/>
          <p:nvPr/>
        </p:nvSpPr>
        <p:spPr>
          <a:xfrm>
            <a:off x="1691640" y="5212080"/>
            <a:ext cx="9997135" cy="365760"/>
          </a:xfrm>
          <a:prstGeom prst="rect">
            <a:avLst/>
          </a:prstGeom>
          <a:noFill/>
          <a:ln/>
        </p:spPr>
        <p:txBody>
          <a:bodyPr wrap="square" lIns="0" tIns="0" rIns="0" bIns="0" rtlCol="0" anchor="ctr"/>
          <a:lstStyle/>
          <a:p>
            <a:pPr algn="l" indent="0" marL="0">
              <a:buNone/>
            </a:pPr>
            <a:r>
              <a:rPr lang="en-US" sz="1500" dirty="0">
                <a:solidFill>
                  <a:srgbClr val="0F172A"/>
                </a:solidFill>
                <a:latin typeface="Inter" pitchFamily="34" charset="0"/>
                <a:ea typeface="Inter" pitchFamily="34" charset="-122"/>
                <a:cs typeface="Inter" pitchFamily="34" charset="-120"/>
              </a:rPr>
              <a:t>Sandbox + Launch capacity management</a:t>
            </a:r>
            <a:endParaRPr lang="en-US" sz="1500" dirty="0"/>
          </a:p>
        </p:txBody>
      </p:sp>
      <p:sp>
        <p:nvSpPr>
          <p:cNvPr id="25" name="Shape 23"/>
          <p:cNvSpPr/>
          <p:nvPr/>
        </p:nvSpPr>
        <p:spPr>
          <a:xfrm>
            <a:off x="777240" y="5623560"/>
            <a:ext cx="10637215" cy="0"/>
          </a:xfrm>
          <a:prstGeom prst="line">
            <a:avLst/>
          </a:prstGeom>
          <a:noFill/>
          <a:ln w="6350">
            <a:solidFill>
              <a:srgbClr val="E2E0F0"/>
            </a:solidFill>
            <a:prstDash val="solid"/>
          </a:ln>
        </p:spPr>
      </p:sp>
      <p:sp>
        <p:nvSpPr>
          <p:cNvPr id="26" name="Shape 24"/>
          <p:cNvSpPr/>
          <p:nvPr/>
        </p:nvSpPr>
        <p:spPr>
          <a:xfrm>
            <a:off x="502920" y="6263640"/>
            <a:ext cx="11185855" cy="0"/>
          </a:xfrm>
          <a:prstGeom prst="line">
            <a:avLst/>
          </a:prstGeom>
          <a:noFill/>
          <a:ln w="6350">
            <a:solidFill>
              <a:srgbClr val="E2E0F0"/>
            </a:solidFill>
            <a:prstDash val="solid"/>
          </a:ln>
        </p:spPr>
      </p:sp>
      <p:sp>
        <p:nvSpPr>
          <p:cNvPr id="27" name="Text 25"/>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28" name="Text 26"/>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22  /  28</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23  ·  APPENDIX  ·  COMPETITOR DEEP-DIVE</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000" b="1" dirty="0">
                <a:solidFill>
                  <a:srgbClr val="0F172A"/>
                </a:solidFill>
                <a:latin typeface="Inter" pitchFamily="34" charset="0"/>
                <a:ea typeface="Inter" pitchFamily="34" charset="-122"/>
                <a:cs typeface="Inter" pitchFamily="34" charset="-120"/>
              </a:rPr>
              <a:t>Two-layer landscape. </a:t>
            </a:r>
            <a:pPr algn="l" indent="0" marL="0">
              <a:buNone/>
            </a:pPr>
            <a:r>
              <a:rPr lang="en-US" sz="3000" b="1" dirty="0">
                <a:solidFill>
                  <a:srgbClr val="5040E5"/>
                </a:solidFill>
                <a:latin typeface="Inter" pitchFamily="34" charset="0"/>
                <a:ea typeface="Inter" pitchFamily="34" charset="-122"/>
                <a:cs typeface="Inter" pitchFamily="34" charset="-120"/>
              </a:rPr>
              <a:t>Hatchik on the seam.</a:t>
            </a:r>
            <a:endParaRPr lang="en-US" sz="3000" dirty="0"/>
          </a:p>
        </p:txBody>
      </p:sp>
      <p:sp>
        <p:nvSpPr>
          <p:cNvPr id="8" name="Text 6"/>
          <p:cNvSpPr/>
          <p:nvPr/>
        </p:nvSpPr>
        <p:spPr>
          <a:xfrm>
            <a:off x="502920" y="182880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Coverage across BYO-AI, plumbing, owned code, exit cost, provisioning, mobile, MoR billing, and starting price.</a:t>
            </a:r>
            <a:endParaRPr lang="en-US" sz="1550" dirty="0"/>
          </a:p>
        </p:txBody>
      </p:sp>
      <p:sp>
        <p:nvSpPr>
          <p:cNvPr id="9" name="Shape 7"/>
          <p:cNvSpPr/>
          <p:nvPr/>
        </p:nvSpPr>
        <p:spPr>
          <a:xfrm>
            <a:off x="502920" y="2606040"/>
            <a:ext cx="5455768" cy="1508760"/>
          </a:xfrm>
          <a:prstGeom prst="roundRect">
            <a:avLst>
              <a:gd name="adj" fmla="val 7273"/>
            </a:avLst>
          </a:prstGeom>
          <a:solidFill>
            <a:srgbClr val="FFFFFF"/>
          </a:solidFill>
          <a:ln w="9525">
            <a:solidFill>
              <a:srgbClr val="E2E0F0"/>
            </a:solidFill>
            <a:prstDash val="solid"/>
          </a:ln>
        </p:spPr>
      </p:sp>
      <p:sp>
        <p:nvSpPr>
          <p:cNvPr id="10" name="Text 8"/>
          <p:cNvSpPr/>
          <p:nvPr/>
        </p:nvSpPr>
        <p:spPr>
          <a:xfrm>
            <a:off x="731520"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AI BUILDERS</a:t>
            </a:r>
            <a:endParaRPr lang="en-US" sz="1050" dirty="0"/>
          </a:p>
        </p:txBody>
      </p:sp>
      <p:sp>
        <p:nvSpPr>
          <p:cNvPr id="11" name="Text 9"/>
          <p:cNvSpPr/>
          <p:nvPr/>
        </p:nvSpPr>
        <p:spPr>
          <a:xfrm>
            <a:off x="731520"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Lovable · Bolt · v0 · Replit Agent · Bubble</a:t>
            </a:r>
            <a:endParaRPr lang="en-US" sz="1600" dirty="0"/>
          </a:p>
        </p:txBody>
      </p:sp>
      <p:sp>
        <p:nvSpPr>
          <p:cNvPr id="12" name="Text 10"/>
          <p:cNvSpPr/>
          <p:nvPr/>
        </p:nvSpPr>
        <p:spPr>
          <a:xfrm>
            <a:off x="731520" y="356616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Own the chat-to-prototype loop. Their AI, their chat, their runtime. Code lives in their walled garden. Hatchik wins on BYO AI + real GitHub + real stack.</a:t>
            </a:r>
            <a:endParaRPr lang="en-US" sz="1100" dirty="0"/>
          </a:p>
        </p:txBody>
      </p:sp>
      <p:sp>
        <p:nvSpPr>
          <p:cNvPr id="13" name="Shape 11"/>
          <p:cNvSpPr/>
          <p:nvPr/>
        </p:nvSpPr>
        <p:spPr>
          <a:xfrm>
            <a:off x="6233008" y="2606040"/>
            <a:ext cx="5455768" cy="1508760"/>
          </a:xfrm>
          <a:prstGeom prst="roundRect">
            <a:avLst>
              <a:gd name="adj" fmla="val 7273"/>
            </a:avLst>
          </a:prstGeom>
          <a:solidFill>
            <a:srgbClr val="FFFFFF"/>
          </a:solidFill>
          <a:ln w="9525">
            <a:solidFill>
              <a:srgbClr val="E2E0F0"/>
            </a:solidFill>
            <a:prstDash val="solid"/>
          </a:ln>
        </p:spPr>
      </p:sp>
      <p:sp>
        <p:nvSpPr>
          <p:cNvPr id="14" name="Text 12"/>
          <p:cNvSpPr/>
          <p:nvPr/>
        </p:nvSpPr>
        <p:spPr>
          <a:xfrm>
            <a:off x="6461608"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INFRA · DEPLOY</a:t>
            </a:r>
            <a:endParaRPr lang="en-US" sz="1050" dirty="0"/>
          </a:p>
        </p:txBody>
      </p:sp>
      <p:sp>
        <p:nvSpPr>
          <p:cNvPr id="15" name="Text 13"/>
          <p:cNvSpPr/>
          <p:nvPr/>
        </p:nvSpPr>
        <p:spPr>
          <a:xfrm>
            <a:off x="6461608"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Vercel · Render · Railway · Fly · Heroku</a:t>
            </a:r>
            <a:endParaRPr lang="en-US" sz="1600" dirty="0"/>
          </a:p>
        </p:txBody>
      </p:sp>
      <p:sp>
        <p:nvSpPr>
          <p:cNvPr id="16" name="Text 14"/>
          <p:cNvSpPr/>
          <p:nvPr/>
        </p:nvSpPr>
        <p:spPr>
          <a:xfrm>
            <a:off x="6461608" y="356616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Deploy your code — auth, mail, payments, mobile are yours. Built for engineers. Hatchik wins on substrate pre-wired + day-one SaaS.</a:t>
            </a:r>
            <a:endParaRPr lang="en-US" sz="1100" dirty="0"/>
          </a:p>
        </p:txBody>
      </p:sp>
      <p:sp>
        <p:nvSpPr>
          <p:cNvPr id="17" name="Shape 15"/>
          <p:cNvSpPr/>
          <p:nvPr/>
        </p:nvSpPr>
        <p:spPr>
          <a:xfrm>
            <a:off x="502920" y="4389120"/>
            <a:ext cx="5455768" cy="1508760"/>
          </a:xfrm>
          <a:prstGeom prst="roundRect">
            <a:avLst>
              <a:gd name="adj" fmla="val 7273"/>
            </a:avLst>
          </a:prstGeom>
          <a:solidFill>
            <a:srgbClr val="FFFFFF"/>
          </a:solidFill>
          <a:ln w="9525">
            <a:solidFill>
              <a:srgbClr val="E2E0F0"/>
            </a:solidFill>
            <a:prstDash val="solid"/>
          </a:ln>
        </p:spPr>
      </p:sp>
      <p:sp>
        <p:nvSpPr>
          <p:cNvPr id="18" name="Text 16"/>
          <p:cNvSpPr/>
          <p:nvPr/>
        </p:nvSpPr>
        <p:spPr>
          <a:xfrm>
            <a:off x="731520" y="45720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PRICING ENTRY</a:t>
            </a:r>
            <a:endParaRPr lang="en-US" sz="1050" dirty="0"/>
          </a:p>
        </p:txBody>
      </p:sp>
      <p:sp>
        <p:nvSpPr>
          <p:cNvPr id="19" name="Text 17"/>
          <p:cNvSpPr/>
          <p:nvPr/>
        </p:nvSpPr>
        <p:spPr>
          <a:xfrm>
            <a:off x="731520" y="48920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Hatchik £14/mo vs $20–$39+</a:t>
            </a:r>
            <a:endParaRPr lang="en-US" sz="1600" dirty="0"/>
          </a:p>
        </p:txBody>
      </p:sp>
      <p:sp>
        <p:nvSpPr>
          <p:cNvPr id="20" name="Text 18"/>
          <p:cNvSpPr/>
          <p:nvPr/>
        </p:nvSpPr>
        <p:spPr>
          <a:xfrm>
            <a:off x="731520" y="534924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Lower entry plus included AI credit makes Hatchik below-friction for sandbox conversion. Substrate value at entry-tier pricing.</a:t>
            </a:r>
            <a:endParaRPr lang="en-US" sz="1100" dirty="0"/>
          </a:p>
        </p:txBody>
      </p:sp>
      <p:sp>
        <p:nvSpPr>
          <p:cNvPr id="21" name="Shape 19"/>
          <p:cNvSpPr/>
          <p:nvPr/>
        </p:nvSpPr>
        <p:spPr>
          <a:xfrm>
            <a:off x="6233008" y="4389120"/>
            <a:ext cx="5455768" cy="1508760"/>
          </a:xfrm>
          <a:prstGeom prst="roundRect">
            <a:avLst>
              <a:gd name="adj" fmla="val 7273"/>
            </a:avLst>
          </a:prstGeom>
          <a:solidFill>
            <a:srgbClr val="FFFFFF"/>
          </a:solidFill>
          <a:ln w="9525">
            <a:solidFill>
              <a:srgbClr val="E2E0F0"/>
            </a:solidFill>
            <a:prstDash val="solid"/>
          </a:ln>
        </p:spPr>
      </p:sp>
      <p:sp>
        <p:nvSpPr>
          <p:cNvPr id="22" name="Text 20"/>
          <p:cNvSpPr/>
          <p:nvPr/>
        </p:nvSpPr>
        <p:spPr>
          <a:xfrm>
            <a:off x="6461608" y="45720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EXIT COST</a:t>
            </a:r>
            <a:endParaRPr lang="en-US" sz="1050" dirty="0"/>
          </a:p>
        </p:txBody>
      </p:sp>
      <p:sp>
        <p:nvSpPr>
          <p:cNvPr id="23" name="Text 21"/>
          <p:cNvSpPr/>
          <p:nvPr/>
        </p:nvSpPr>
        <p:spPr>
          <a:xfrm>
            <a:off x="6461608" y="48920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£0 from Hatchik · medium-to-high from AI builders</a:t>
            </a:r>
            <a:endParaRPr lang="en-US" sz="1600" dirty="0"/>
          </a:p>
        </p:txBody>
      </p:sp>
      <p:sp>
        <p:nvSpPr>
          <p:cNvPr id="24" name="Text 22"/>
          <p:cNvSpPr/>
          <p:nvPr/>
        </p:nvSpPr>
        <p:spPr>
          <a:xfrm>
            <a:off x="6461608" y="534924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Customer's repo lives on their GitHub from day one. Switching cost is zero, which is exactly why they stay.</a:t>
            </a:r>
            <a:endParaRPr lang="en-US" sz="1100" dirty="0"/>
          </a:p>
        </p:txBody>
      </p:sp>
      <p:sp>
        <p:nvSpPr>
          <p:cNvPr id="25" name="Shape 23"/>
          <p:cNvSpPr/>
          <p:nvPr/>
        </p:nvSpPr>
        <p:spPr>
          <a:xfrm>
            <a:off x="502920" y="6263640"/>
            <a:ext cx="11185855" cy="0"/>
          </a:xfrm>
          <a:prstGeom prst="line">
            <a:avLst/>
          </a:prstGeom>
          <a:noFill/>
          <a:ln w="6350">
            <a:solidFill>
              <a:srgbClr val="E2E0F0"/>
            </a:solidFill>
            <a:prstDash val="solid"/>
          </a:ln>
        </p:spPr>
      </p:sp>
      <p:sp>
        <p:nvSpPr>
          <p:cNvPr id="26" name="Text 24"/>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27" name="Text 25"/>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23  /  28</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24  ·  APPENDIX  ·  AI-LAB DISRUPTION</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000" b="1" dirty="0">
                <a:solidFill>
                  <a:srgbClr val="0F172A"/>
                </a:solidFill>
                <a:latin typeface="Inter" pitchFamily="34" charset="0"/>
                <a:ea typeface="Inter" pitchFamily="34" charset="-122"/>
                <a:cs typeface="Inter" pitchFamily="34" charset="-120"/>
              </a:rPr>
              <a:t>What if the labs </a:t>
            </a:r>
            <a:pPr algn="l" indent="0" marL="0">
              <a:buNone/>
            </a:pPr>
            <a:r>
              <a:rPr lang="en-US" sz="3000" b="1" dirty="0">
                <a:solidFill>
                  <a:srgbClr val="5040E5"/>
                </a:solidFill>
                <a:latin typeface="Inter" pitchFamily="34" charset="0"/>
                <a:ea typeface="Inter" pitchFamily="34" charset="-122"/>
                <a:cs typeface="Inter" pitchFamily="34" charset="-120"/>
              </a:rPr>
              <a:t>ship their own?</a:t>
            </a:r>
            <a:endParaRPr lang="en-US" sz="3000" dirty="0"/>
          </a:p>
        </p:txBody>
      </p:sp>
      <p:sp>
        <p:nvSpPr>
          <p:cNvPr id="8" name="Text 6"/>
          <p:cNvSpPr/>
          <p:nvPr/>
        </p:nvSpPr>
        <p:spPr>
          <a:xfrm>
            <a:off x="502920" y="182880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The single biggest risk. Mapped honestly: who could ship it, when, what we lose, how we defend.</a:t>
            </a:r>
            <a:endParaRPr lang="en-US" sz="1550" dirty="0"/>
          </a:p>
        </p:txBody>
      </p:sp>
      <p:sp>
        <p:nvSpPr>
          <p:cNvPr id="9" name="Shape 7"/>
          <p:cNvSpPr/>
          <p:nvPr/>
        </p:nvSpPr>
        <p:spPr>
          <a:xfrm>
            <a:off x="502920" y="2606040"/>
            <a:ext cx="5455768" cy="1508760"/>
          </a:xfrm>
          <a:prstGeom prst="roundRect">
            <a:avLst>
              <a:gd name="adj" fmla="val 7273"/>
            </a:avLst>
          </a:prstGeom>
          <a:solidFill>
            <a:srgbClr val="FFFFFF"/>
          </a:solidFill>
          <a:ln w="9525">
            <a:solidFill>
              <a:srgbClr val="E2E0F0"/>
            </a:solidFill>
            <a:prstDash val="solid"/>
          </a:ln>
        </p:spPr>
      </p:sp>
      <p:sp>
        <p:nvSpPr>
          <p:cNvPr id="10" name="Text 8"/>
          <p:cNvSpPr/>
          <p:nvPr/>
        </p:nvSpPr>
        <p:spPr>
          <a:xfrm>
            <a:off x="731520"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ANTHROPIC  ·  MED  ·  6–18 MO</a:t>
            </a:r>
            <a:endParaRPr lang="en-US" sz="1050" dirty="0"/>
          </a:p>
        </p:txBody>
      </p:sp>
      <p:sp>
        <p:nvSpPr>
          <p:cNvPr id="11" name="Text 9"/>
          <p:cNvSpPr/>
          <p:nvPr/>
        </p:nvSpPr>
        <p:spPr>
          <a:xfrm>
            <a:off x="731520"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Claude Code Cloud</a:t>
            </a:r>
            <a:endParaRPr lang="en-US" sz="1600" dirty="0"/>
          </a:p>
        </p:txBody>
      </p:sp>
      <p:sp>
        <p:nvSpPr>
          <p:cNvPr id="12" name="Text 10"/>
          <p:cNvSpPr/>
          <p:nvPr/>
        </p:nvSpPr>
        <p:spPr>
          <a:xfrm>
            <a:off x="731520" y="356616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Managed deployment for Claude Code projects. Already deploys via MCP; one container layer from owning the runtime.</a:t>
            </a:r>
            <a:endParaRPr lang="en-US" sz="1100" dirty="0"/>
          </a:p>
        </p:txBody>
      </p:sp>
      <p:sp>
        <p:nvSpPr>
          <p:cNvPr id="13" name="Shape 11"/>
          <p:cNvSpPr/>
          <p:nvPr/>
        </p:nvSpPr>
        <p:spPr>
          <a:xfrm>
            <a:off x="6233008" y="2606040"/>
            <a:ext cx="5455768" cy="1508760"/>
          </a:xfrm>
          <a:prstGeom prst="roundRect">
            <a:avLst>
              <a:gd name="adj" fmla="val 7273"/>
            </a:avLst>
          </a:prstGeom>
          <a:solidFill>
            <a:srgbClr val="FFFFFF"/>
          </a:solidFill>
          <a:ln w="9525">
            <a:solidFill>
              <a:srgbClr val="E2E0F0"/>
            </a:solidFill>
            <a:prstDash val="solid"/>
          </a:ln>
        </p:spPr>
      </p:sp>
      <p:sp>
        <p:nvSpPr>
          <p:cNvPr id="14" name="Text 12"/>
          <p:cNvSpPr/>
          <p:nvPr/>
        </p:nvSpPr>
        <p:spPr>
          <a:xfrm>
            <a:off x="6461608"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OPENAI / CODEX  ·  MED-LOW  ·  12–24 MO</a:t>
            </a:r>
            <a:endParaRPr lang="en-US" sz="1050" dirty="0"/>
          </a:p>
        </p:txBody>
      </p:sp>
      <p:sp>
        <p:nvSpPr>
          <p:cNvPr id="15" name="Text 13"/>
          <p:cNvSpPr/>
          <p:nvPr/>
        </p:nvSpPr>
        <p:spPr>
          <a:xfrm>
            <a:off x="6461608"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Hosted runtime via ChatGPT Pro / Team</a:t>
            </a:r>
            <a:endParaRPr lang="en-US" sz="1600" dirty="0"/>
          </a:p>
        </p:txBody>
      </p:sp>
      <p:sp>
        <p:nvSpPr>
          <p:cNvPr id="16" name="Text 14"/>
          <p:cNvSpPr/>
          <p:nvPr/>
        </p:nvSpPr>
        <p:spPr>
          <a:xfrm>
            <a:off x="6461608" y="356616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OpenAI's posture is model-API first. Less likely solo but plausible via partnership.</a:t>
            </a:r>
            <a:endParaRPr lang="en-US" sz="1100" dirty="0"/>
          </a:p>
        </p:txBody>
      </p:sp>
      <p:sp>
        <p:nvSpPr>
          <p:cNvPr id="17" name="Shape 15"/>
          <p:cNvSpPr/>
          <p:nvPr/>
        </p:nvSpPr>
        <p:spPr>
          <a:xfrm>
            <a:off x="502920" y="4389120"/>
            <a:ext cx="5455768" cy="1508760"/>
          </a:xfrm>
          <a:prstGeom prst="roundRect">
            <a:avLst>
              <a:gd name="adj" fmla="val 7273"/>
            </a:avLst>
          </a:prstGeom>
          <a:solidFill>
            <a:srgbClr val="FFFFFF"/>
          </a:solidFill>
          <a:ln w="9525">
            <a:solidFill>
              <a:srgbClr val="E2E0F0"/>
            </a:solidFill>
            <a:prstDash val="solid"/>
          </a:ln>
        </p:spPr>
      </p:sp>
      <p:sp>
        <p:nvSpPr>
          <p:cNvPr id="18" name="Text 16"/>
          <p:cNvSpPr/>
          <p:nvPr/>
        </p:nvSpPr>
        <p:spPr>
          <a:xfrm>
            <a:off x="731520" y="45720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CURSOR / WINDSURF  ·  HIGH  ·  6–12 MO</a:t>
            </a:r>
            <a:endParaRPr lang="en-US" sz="1050" dirty="0"/>
          </a:p>
        </p:txBody>
      </p:sp>
      <p:sp>
        <p:nvSpPr>
          <p:cNvPr id="19" name="Text 17"/>
          <p:cNvSpPr/>
          <p:nvPr/>
        </p:nvSpPr>
        <p:spPr>
          <a:xfrm>
            <a:off x="731520" y="48920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Cloud preview → full SaaS</a:t>
            </a:r>
            <a:endParaRPr lang="en-US" sz="1600" dirty="0"/>
          </a:p>
        </p:txBody>
      </p:sp>
      <p:sp>
        <p:nvSpPr>
          <p:cNvPr id="20" name="Text 18"/>
          <p:cNvSpPr/>
          <p:nvPr/>
        </p:nvSpPr>
        <p:spPr>
          <a:xfrm>
            <a:off x="731520" y="534924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Already lightweight cloud previews. Substrate-grade is the obvious next step.</a:t>
            </a:r>
            <a:endParaRPr lang="en-US" sz="1100" dirty="0"/>
          </a:p>
        </p:txBody>
      </p:sp>
      <p:sp>
        <p:nvSpPr>
          <p:cNvPr id="21" name="Shape 19"/>
          <p:cNvSpPr/>
          <p:nvPr/>
        </p:nvSpPr>
        <p:spPr>
          <a:xfrm>
            <a:off x="6233008" y="4389120"/>
            <a:ext cx="5455768" cy="1508760"/>
          </a:xfrm>
          <a:prstGeom prst="roundRect">
            <a:avLst>
              <a:gd name="adj" fmla="val 7273"/>
            </a:avLst>
          </a:prstGeom>
          <a:solidFill>
            <a:srgbClr val="FFFFFF"/>
          </a:solidFill>
          <a:ln w="9525">
            <a:solidFill>
              <a:srgbClr val="E2E0F0"/>
            </a:solidFill>
            <a:prstDash val="solid"/>
          </a:ln>
        </p:spPr>
      </p:sp>
      <p:sp>
        <p:nvSpPr>
          <p:cNvPr id="22" name="Text 20"/>
          <p:cNvSpPr/>
          <p:nvPr/>
        </p:nvSpPr>
        <p:spPr>
          <a:xfrm>
            <a:off x="6461608" y="45720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DEFENCE</a:t>
            </a:r>
            <a:endParaRPr lang="en-US" sz="1050" dirty="0"/>
          </a:p>
        </p:txBody>
      </p:sp>
      <p:sp>
        <p:nvSpPr>
          <p:cNvPr id="23" name="Text 21"/>
          <p:cNvSpPr/>
          <p:nvPr/>
        </p:nvSpPr>
        <p:spPr>
          <a:xfrm>
            <a:off x="6461608" y="48920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Sprint, acquirability, brand vocabulary, drop-in architecture</a:t>
            </a:r>
            <a:endParaRPr lang="en-US" sz="1600" dirty="0"/>
          </a:p>
        </p:txBody>
      </p:sp>
      <p:sp>
        <p:nvSpPr>
          <p:cNvPr id="24" name="Text 22"/>
          <p:cNvSpPr/>
          <p:nvPr/>
        </p:nvSpPr>
        <p:spPr>
          <a:xfrm>
            <a:off x="6461608" y="534924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Capture first 5–15K customers before any lab ships. BYO-AI brand becomes acquisition target, not extinction.</a:t>
            </a:r>
            <a:endParaRPr lang="en-US" sz="1100" dirty="0"/>
          </a:p>
        </p:txBody>
      </p:sp>
      <p:sp>
        <p:nvSpPr>
          <p:cNvPr id="25" name="Shape 23"/>
          <p:cNvSpPr/>
          <p:nvPr/>
        </p:nvSpPr>
        <p:spPr>
          <a:xfrm>
            <a:off x="502920" y="6263640"/>
            <a:ext cx="11185855" cy="0"/>
          </a:xfrm>
          <a:prstGeom prst="line">
            <a:avLst/>
          </a:prstGeom>
          <a:noFill/>
          <a:ln w="6350">
            <a:solidFill>
              <a:srgbClr val="E2E0F0"/>
            </a:solidFill>
            <a:prstDash val="solid"/>
          </a:ln>
        </p:spPr>
      </p:sp>
      <p:sp>
        <p:nvSpPr>
          <p:cNvPr id="26" name="Text 24"/>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27" name="Text 25"/>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24  /  28</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25  ·  APPENDIX  ·  RISKS REGISTER</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000" b="1" dirty="0">
                <a:solidFill>
                  <a:srgbClr val="0F172A"/>
                </a:solidFill>
                <a:latin typeface="Inter" pitchFamily="34" charset="0"/>
                <a:ea typeface="Inter" pitchFamily="34" charset="-122"/>
                <a:cs typeface="Inter" pitchFamily="34" charset="-120"/>
              </a:rPr>
              <a:t>Six risks. </a:t>
            </a:r>
            <a:pPr algn="l" indent="0" marL="0">
              <a:buNone/>
            </a:pPr>
            <a:r>
              <a:rPr lang="en-US" sz="3000" b="1" dirty="0">
                <a:solidFill>
                  <a:srgbClr val="5040E5"/>
                </a:solidFill>
                <a:latin typeface="Inter" pitchFamily="34" charset="0"/>
                <a:ea typeface="Inter" pitchFamily="34" charset="-122"/>
                <a:cs typeface="Inter" pitchFamily="34" charset="-120"/>
              </a:rPr>
              <a:t>Stated honestly. Mitigations ready.</a:t>
            </a:r>
            <a:endParaRPr lang="en-US" sz="3000" dirty="0"/>
          </a:p>
        </p:txBody>
      </p:sp>
      <p:sp>
        <p:nvSpPr>
          <p:cNvPr id="8" name="Shape 6"/>
          <p:cNvSpPr/>
          <p:nvPr/>
        </p:nvSpPr>
        <p:spPr>
          <a:xfrm>
            <a:off x="502920" y="2606040"/>
            <a:ext cx="5455768" cy="960120"/>
          </a:xfrm>
          <a:prstGeom prst="roundRect">
            <a:avLst>
              <a:gd name="adj" fmla="val 11429"/>
            </a:avLst>
          </a:prstGeom>
          <a:solidFill>
            <a:srgbClr val="FFFFFF"/>
          </a:solidFill>
          <a:ln w="9525">
            <a:solidFill>
              <a:srgbClr val="E2E0F0"/>
            </a:solidFill>
            <a:prstDash val="solid"/>
          </a:ln>
        </p:spPr>
      </p:sp>
      <p:sp>
        <p:nvSpPr>
          <p:cNvPr id="9" name="Text 7"/>
          <p:cNvSpPr/>
          <p:nvPr/>
        </p:nvSpPr>
        <p:spPr>
          <a:xfrm>
            <a:off x="731520"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HIGH · 01  ·  AI-LAB DISRUPTION</a:t>
            </a:r>
            <a:endParaRPr lang="en-US" sz="1050" dirty="0"/>
          </a:p>
        </p:txBody>
      </p:sp>
      <p:sp>
        <p:nvSpPr>
          <p:cNvPr id="10" name="Text 8"/>
          <p:cNvSpPr/>
          <p:nvPr/>
        </p:nvSpPr>
        <p:spPr>
          <a:xfrm>
            <a:off x="731520"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Big-lab deployment in 6–18 mo</a:t>
            </a:r>
            <a:endParaRPr lang="en-US" sz="1600" dirty="0"/>
          </a:p>
        </p:txBody>
      </p:sp>
      <p:sp>
        <p:nvSpPr>
          <p:cNvPr id="11" name="Text 9"/>
          <p:cNvSpPr/>
          <p:nvPr/>
        </p:nvSpPr>
        <p:spPr>
          <a:xfrm>
            <a:off x="731520" y="356616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Mit: early share, brand vocabulary, acquirable architecture. Outreach M0–4.</a:t>
            </a:r>
            <a:endParaRPr lang="en-US" sz="1100" dirty="0"/>
          </a:p>
        </p:txBody>
      </p:sp>
      <p:sp>
        <p:nvSpPr>
          <p:cNvPr id="12" name="Shape 10"/>
          <p:cNvSpPr/>
          <p:nvPr/>
        </p:nvSpPr>
        <p:spPr>
          <a:xfrm>
            <a:off x="6233008" y="2606040"/>
            <a:ext cx="5455768" cy="960120"/>
          </a:xfrm>
          <a:prstGeom prst="roundRect">
            <a:avLst>
              <a:gd name="adj" fmla="val 11429"/>
            </a:avLst>
          </a:prstGeom>
          <a:solidFill>
            <a:srgbClr val="FFFFFF"/>
          </a:solidFill>
          <a:ln w="9525">
            <a:solidFill>
              <a:srgbClr val="E2E0F0"/>
            </a:solidFill>
            <a:prstDash val="solid"/>
          </a:ln>
        </p:spPr>
      </p:sp>
      <p:sp>
        <p:nvSpPr>
          <p:cNvPr id="13" name="Text 11"/>
          <p:cNvSpPr/>
          <p:nvPr/>
        </p:nvSpPr>
        <p:spPr>
          <a:xfrm>
            <a:off x="6461608"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MED · 02  ·  PEAK COINCIDENCE</a:t>
            </a:r>
            <a:endParaRPr lang="en-US" sz="1050" dirty="0"/>
          </a:p>
        </p:txBody>
      </p:sp>
      <p:sp>
        <p:nvSpPr>
          <p:cNvPr id="14" name="Text 12"/>
          <p:cNvSpPr/>
          <p:nvPr/>
        </p:nvSpPr>
        <p:spPr>
          <a:xfrm>
            <a:off x="6461608"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&gt;30% sandboxes warm</a:t>
            </a:r>
            <a:endParaRPr lang="en-US" sz="1600" dirty="0"/>
          </a:p>
        </p:txBody>
      </p:sp>
      <p:sp>
        <p:nvSpPr>
          <p:cNvPr id="15" name="Text 13"/>
          <p:cNvSpPr/>
          <p:nvPr/>
        </p:nvSpPr>
        <p:spPr>
          <a:xfrm>
            <a:off x="6461608" y="356616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Mit: 35-warm watermark → auto-provision second CAX31 (+£11.30/mo).</a:t>
            </a:r>
            <a:endParaRPr lang="en-US" sz="1100" dirty="0"/>
          </a:p>
        </p:txBody>
      </p:sp>
      <p:sp>
        <p:nvSpPr>
          <p:cNvPr id="16" name="Shape 14"/>
          <p:cNvSpPr/>
          <p:nvPr/>
        </p:nvSpPr>
        <p:spPr>
          <a:xfrm>
            <a:off x="502920" y="3840480"/>
            <a:ext cx="5455768" cy="960120"/>
          </a:xfrm>
          <a:prstGeom prst="roundRect">
            <a:avLst>
              <a:gd name="adj" fmla="val 11429"/>
            </a:avLst>
          </a:prstGeom>
          <a:solidFill>
            <a:srgbClr val="FFFFFF"/>
          </a:solidFill>
          <a:ln w="9525">
            <a:solidFill>
              <a:srgbClr val="E2E0F0"/>
            </a:solidFill>
            <a:prstDash val="solid"/>
          </a:ln>
        </p:spPr>
      </p:sp>
      <p:sp>
        <p:nvSpPr>
          <p:cNvPr id="17" name="Text 15"/>
          <p:cNvSpPr/>
          <p:nvPr/>
        </p:nvSpPr>
        <p:spPr>
          <a:xfrm>
            <a:off x="731520" y="402336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LOW · 03  ·  COLD-START LATENCY</a:t>
            </a:r>
            <a:endParaRPr lang="en-US" sz="1050" dirty="0"/>
          </a:p>
        </p:txBody>
      </p:sp>
      <p:sp>
        <p:nvSpPr>
          <p:cNvPr id="18" name="Text 16"/>
          <p:cNvSpPr/>
          <p:nvPr/>
        </p:nvSpPr>
        <p:spPr>
          <a:xfrm>
            <a:off x="731520" y="434340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10–15s wake from idle</a:t>
            </a:r>
            <a:endParaRPr lang="en-US" sz="1600" dirty="0"/>
          </a:p>
        </p:txBody>
      </p:sp>
      <p:sp>
        <p:nvSpPr>
          <p:cNvPr id="19" name="Text 17"/>
          <p:cNvSpPr/>
          <p:nvPr/>
        </p:nvSpPr>
        <p:spPr>
          <a:xfrm>
            <a:off x="731520" y="480060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Mit: "sandbox warming up…" splash in deploy-status callback.</a:t>
            </a:r>
            <a:endParaRPr lang="en-US" sz="1100" dirty="0"/>
          </a:p>
        </p:txBody>
      </p:sp>
      <p:sp>
        <p:nvSpPr>
          <p:cNvPr id="20" name="Shape 18"/>
          <p:cNvSpPr/>
          <p:nvPr/>
        </p:nvSpPr>
        <p:spPr>
          <a:xfrm>
            <a:off x="6233008" y="3840480"/>
            <a:ext cx="5455768" cy="960120"/>
          </a:xfrm>
          <a:prstGeom prst="roundRect">
            <a:avLst>
              <a:gd name="adj" fmla="val 11429"/>
            </a:avLst>
          </a:prstGeom>
          <a:solidFill>
            <a:srgbClr val="FFFFFF"/>
          </a:solidFill>
          <a:ln w="9525">
            <a:solidFill>
              <a:srgbClr val="E2E0F0"/>
            </a:solidFill>
            <a:prstDash val="solid"/>
          </a:ln>
        </p:spPr>
      </p:sp>
      <p:sp>
        <p:nvSpPr>
          <p:cNvPr id="21" name="Text 19"/>
          <p:cNvSpPr/>
          <p:nvPr/>
        </p:nvSpPr>
        <p:spPr>
          <a:xfrm>
            <a:off x="6461608" y="402336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LOW · 04  ·  STUDIO COPY DRIFT</a:t>
            </a:r>
            <a:endParaRPr lang="en-US" sz="1050" dirty="0"/>
          </a:p>
        </p:txBody>
      </p:sp>
      <p:sp>
        <p:nvSpPr>
          <p:cNvPr id="22" name="Text 20"/>
          <p:cNvSpPr/>
          <p:nvPr/>
        </p:nvSpPr>
        <p:spPr>
          <a:xfrm>
            <a:off x="6461608" y="434340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Studio rails removed</a:t>
            </a:r>
            <a:endParaRPr lang="en-US" sz="1600" dirty="0"/>
          </a:p>
        </p:txBody>
      </p:sp>
      <p:sp>
        <p:nvSpPr>
          <p:cNvPr id="23" name="Text 21"/>
          <p:cNvSpPr/>
          <p:nvPr/>
        </p:nvSpPr>
        <p:spPr>
          <a:xfrm>
            <a:off x="6461608" y="480060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Mit: copy actioned across index, docs, install, account.</a:t>
            </a:r>
            <a:endParaRPr lang="en-US" sz="1100" dirty="0"/>
          </a:p>
        </p:txBody>
      </p:sp>
      <p:sp>
        <p:nvSpPr>
          <p:cNvPr id="24" name="Shape 22"/>
          <p:cNvSpPr/>
          <p:nvPr/>
        </p:nvSpPr>
        <p:spPr>
          <a:xfrm>
            <a:off x="502920" y="5074920"/>
            <a:ext cx="5455768" cy="960120"/>
          </a:xfrm>
          <a:prstGeom prst="roundRect">
            <a:avLst>
              <a:gd name="adj" fmla="val 11429"/>
            </a:avLst>
          </a:prstGeom>
          <a:solidFill>
            <a:srgbClr val="FFFFFF"/>
          </a:solidFill>
          <a:ln w="9525">
            <a:solidFill>
              <a:srgbClr val="E2E0F0"/>
            </a:solidFill>
            <a:prstDash val="solid"/>
          </a:ln>
        </p:spPr>
      </p:sp>
      <p:sp>
        <p:nvSpPr>
          <p:cNvPr id="25" name="Text 23"/>
          <p:cNvSpPr/>
          <p:nvPr/>
        </p:nvSpPr>
        <p:spPr>
          <a:xfrm>
            <a:off x="731520" y="52578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LOW · 05  ·  LEGACY SANDBOXES</a:t>
            </a:r>
            <a:endParaRPr lang="en-US" sz="1050" dirty="0"/>
          </a:p>
        </p:txBody>
      </p:sp>
      <p:sp>
        <p:nvSpPr>
          <p:cNvPr id="26" name="Text 24"/>
          <p:cNvSpPr/>
          <p:nvPr/>
        </p:nvSpPr>
        <p:spPr>
          <a:xfrm>
            <a:off x="731520" y="55778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~13 on CAX21 with Studio</a:t>
            </a:r>
            <a:endParaRPr lang="en-US" sz="1600" dirty="0"/>
          </a:p>
        </p:txBody>
      </p:sp>
      <p:sp>
        <p:nvSpPr>
          <p:cNvPr id="27" name="Text 25"/>
          <p:cNvSpPr/>
          <p:nvPr/>
        </p:nvSpPr>
        <p:spPr>
          <a:xfrm>
            <a:off x="731520" y="603504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Mit: don't migrate. Density gains apply to new provisions only.</a:t>
            </a:r>
            <a:endParaRPr lang="en-US" sz="1100" dirty="0"/>
          </a:p>
        </p:txBody>
      </p:sp>
      <p:sp>
        <p:nvSpPr>
          <p:cNvPr id="28" name="Shape 26"/>
          <p:cNvSpPr/>
          <p:nvPr/>
        </p:nvSpPr>
        <p:spPr>
          <a:xfrm>
            <a:off x="6233008" y="5074920"/>
            <a:ext cx="5455768" cy="960120"/>
          </a:xfrm>
          <a:prstGeom prst="roundRect">
            <a:avLst>
              <a:gd name="adj" fmla="val 11429"/>
            </a:avLst>
          </a:prstGeom>
          <a:solidFill>
            <a:srgbClr val="FFFFFF"/>
          </a:solidFill>
          <a:ln w="9525">
            <a:solidFill>
              <a:srgbClr val="E2E0F0"/>
            </a:solidFill>
            <a:prstDash val="solid"/>
          </a:ln>
        </p:spPr>
      </p:sp>
      <p:sp>
        <p:nvSpPr>
          <p:cNvPr id="29" name="Text 27"/>
          <p:cNvSpPr/>
          <p:nvPr/>
        </p:nvSpPr>
        <p:spPr>
          <a:xfrm>
            <a:off x="6461608" y="52578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LOW · 06  ·  SNAPSHOT REGRESSION</a:t>
            </a:r>
            <a:endParaRPr lang="en-US" sz="1050" dirty="0"/>
          </a:p>
        </p:txBody>
      </p:sp>
      <p:sp>
        <p:nvSpPr>
          <p:cNvPr id="30" name="Text 28"/>
          <p:cNvSpPr/>
          <p:nvPr/>
        </p:nvSpPr>
        <p:spPr>
          <a:xfrm>
            <a:off x="6461608" y="55778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No click-to-snapshot in Studio</a:t>
            </a:r>
            <a:endParaRPr lang="en-US" sz="1600" dirty="0"/>
          </a:p>
        </p:txBody>
      </p:sp>
      <p:sp>
        <p:nvSpPr>
          <p:cNvPr id="31" name="Text 29"/>
          <p:cNvSpPr/>
          <p:nvPr/>
        </p:nvSpPr>
        <p:spPr>
          <a:xfrm>
            <a:off x="6461608" y="603504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Mit: AI tool triggers pg_dump via /api/tenants/&lt;slug&gt;/snapshot.</a:t>
            </a:r>
            <a:endParaRPr lang="en-US" sz="1100" dirty="0"/>
          </a:p>
        </p:txBody>
      </p:sp>
      <p:sp>
        <p:nvSpPr>
          <p:cNvPr id="32" name="Shape 30"/>
          <p:cNvSpPr/>
          <p:nvPr/>
        </p:nvSpPr>
        <p:spPr>
          <a:xfrm>
            <a:off x="502920" y="6263640"/>
            <a:ext cx="11185855" cy="0"/>
          </a:xfrm>
          <a:prstGeom prst="line">
            <a:avLst/>
          </a:prstGeom>
          <a:noFill/>
          <a:ln w="6350">
            <a:solidFill>
              <a:srgbClr val="E2E0F0"/>
            </a:solidFill>
            <a:prstDash val="solid"/>
          </a:ln>
        </p:spPr>
      </p:sp>
      <p:sp>
        <p:nvSpPr>
          <p:cNvPr id="33" name="Text 31"/>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34" name="Text 32"/>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25  /  28</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26  ·  APPENDIX  ·  MRR BUILD-UP</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000" b="1" dirty="0">
                <a:solidFill>
                  <a:srgbClr val="0F172A"/>
                </a:solidFill>
                <a:latin typeface="Inter" pitchFamily="34" charset="0"/>
                <a:ea typeface="Inter" pitchFamily="34" charset="-122"/>
                <a:cs typeface="Inter" pitchFamily="34" charset="-120"/>
              </a:rPr>
              <a:t>Base £135K · upside £380K. </a:t>
            </a:r>
            <a:pPr algn="l" indent="0" marL="0">
              <a:buNone/>
            </a:pPr>
            <a:r>
              <a:rPr lang="en-US" sz="3000" b="1" dirty="0">
                <a:solidFill>
                  <a:srgbClr val="5040E5"/>
                </a:solidFill>
                <a:latin typeface="Inter" pitchFamily="34" charset="0"/>
                <a:ea typeface="Inter" pitchFamily="34" charset="-122"/>
                <a:cs typeface="Inter" pitchFamily="34" charset="-120"/>
              </a:rPr>
              <a:t>How we get there at M18.</a:t>
            </a:r>
            <a:endParaRPr lang="en-US" sz="3000" dirty="0"/>
          </a:p>
        </p:txBody>
      </p:sp>
      <p:sp>
        <p:nvSpPr>
          <p:cNvPr id="8" name="Text 6"/>
          <p:cNvSpPr/>
          <p:nvPr/>
        </p:nvSpPr>
        <p:spPr>
          <a:xfrm>
            <a:off x="502920" y="182880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Cohort × paid-conversion × ARPU × retention. Pessimistic / mid / sprint anchored on AI_COGS_SENSITIVITY.xlsx.</a:t>
            </a:r>
            <a:endParaRPr lang="en-US" sz="1550" dirty="0"/>
          </a:p>
        </p:txBody>
      </p:sp>
      <p:sp>
        <p:nvSpPr>
          <p:cNvPr id="9" name="Shape 7"/>
          <p:cNvSpPr/>
          <p:nvPr/>
        </p:nvSpPr>
        <p:spPr>
          <a:xfrm>
            <a:off x="502920" y="2606040"/>
            <a:ext cx="5455768" cy="960120"/>
          </a:xfrm>
          <a:prstGeom prst="roundRect">
            <a:avLst>
              <a:gd name="adj" fmla="val 11429"/>
            </a:avLst>
          </a:prstGeom>
          <a:solidFill>
            <a:srgbClr val="FFFFFF"/>
          </a:solidFill>
          <a:ln w="9525">
            <a:solidFill>
              <a:srgbClr val="E2E0F0"/>
            </a:solidFill>
            <a:prstDash val="solid"/>
          </a:ln>
        </p:spPr>
      </p:sp>
      <p:sp>
        <p:nvSpPr>
          <p:cNvPr id="10" name="Text 8"/>
          <p:cNvSpPr/>
          <p:nvPr/>
        </p:nvSpPr>
        <p:spPr>
          <a:xfrm>
            <a:off x="731520"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SANDBOX SIGNUPS</a:t>
            </a:r>
            <a:endParaRPr lang="en-US" sz="1050" dirty="0"/>
          </a:p>
        </p:txBody>
      </p:sp>
      <p:sp>
        <p:nvSpPr>
          <p:cNvPr id="11" name="Text 9"/>
          <p:cNvSpPr/>
          <p:nvPr/>
        </p:nvSpPr>
        <p:spPr>
          <a:xfrm>
            <a:off x="731520"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~30K base · ~80K upside</a:t>
            </a:r>
            <a:endParaRPr lang="en-US" sz="1600" dirty="0"/>
          </a:p>
        </p:txBody>
      </p:sp>
      <p:sp>
        <p:nvSpPr>
          <p:cNvPr id="12" name="Text 10"/>
          <p:cNvSpPr/>
          <p:nvPr/>
        </p:nvSpPr>
        <p:spPr>
          <a:xfrm>
            <a:off x="731520" y="356616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Cumulative sandbox signups by M18. Sprint upside adds paid-acquisition lift on top of organic.</a:t>
            </a:r>
            <a:endParaRPr lang="en-US" sz="1100" dirty="0"/>
          </a:p>
        </p:txBody>
      </p:sp>
      <p:sp>
        <p:nvSpPr>
          <p:cNvPr id="13" name="Shape 11"/>
          <p:cNvSpPr/>
          <p:nvPr/>
        </p:nvSpPr>
        <p:spPr>
          <a:xfrm>
            <a:off x="6233008" y="2606040"/>
            <a:ext cx="5455768" cy="960120"/>
          </a:xfrm>
          <a:prstGeom prst="roundRect">
            <a:avLst>
              <a:gd name="adj" fmla="val 11429"/>
            </a:avLst>
          </a:prstGeom>
          <a:solidFill>
            <a:srgbClr val="FFFFFF"/>
          </a:solidFill>
          <a:ln w="9525">
            <a:solidFill>
              <a:srgbClr val="E2E0F0"/>
            </a:solidFill>
            <a:prstDash val="solid"/>
          </a:ln>
        </p:spPr>
      </p:sp>
      <p:sp>
        <p:nvSpPr>
          <p:cNvPr id="14" name="Text 12"/>
          <p:cNvSpPr/>
          <p:nvPr/>
        </p:nvSpPr>
        <p:spPr>
          <a:xfrm>
            <a:off x="6461608"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SANDBOX → LAUNCH (5%)</a:t>
            </a:r>
            <a:endParaRPr lang="en-US" sz="1050" dirty="0"/>
          </a:p>
        </p:txBody>
      </p:sp>
      <p:sp>
        <p:nvSpPr>
          <p:cNvPr id="15" name="Text 13"/>
          <p:cNvSpPr/>
          <p:nvPr/>
        </p:nvSpPr>
        <p:spPr>
          <a:xfrm>
            <a:off x="6461608"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~1,500 base · ~4,000 upside</a:t>
            </a:r>
            <a:endParaRPr lang="en-US" sz="1600" dirty="0"/>
          </a:p>
        </p:txBody>
      </p:sp>
      <p:sp>
        <p:nvSpPr>
          <p:cNvPr id="16" name="Text 14"/>
          <p:cNvSpPr/>
          <p:nvPr/>
        </p:nvSpPr>
        <p:spPr>
          <a:xfrm>
            <a:off x="6461608" y="356616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Conversion holds 5%. Below 3% triggers reprice. Above 7% accelerates Growth funnel.</a:t>
            </a:r>
            <a:endParaRPr lang="en-US" sz="1100" dirty="0"/>
          </a:p>
        </p:txBody>
      </p:sp>
      <p:sp>
        <p:nvSpPr>
          <p:cNvPr id="17" name="Shape 15"/>
          <p:cNvSpPr/>
          <p:nvPr/>
        </p:nvSpPr>
        <p:spPr>
          <a:xfrm>
            <a:off x="502920" y="3840480"/>
            <a:ext cx="5455768" cy="960120"/>
          </a:xfrm>
          <a:prstGeom prst="roundRect">
            <a:avLst>
              <a:gd name="adj" fmla="val 11429"/>
            </a:avLst>
          </a:prstGeom>
          <a:solidFill>
            <a:srgbClr val="FFFFFF"/>
          </a:solidFill>
          <a:ln w="9525">
            <a:solidFill>
              <a:srgbClr val="E2E0F0"/>
            </a:solidFill>
            <a:prstDash val="solid"/>
          </a:ln>
        </p:spPr>
      </p:sp>
      <p:sp>
        <p:nvSpPr>
          <p:cNvPr id="18" name="Text 16"/>
          <p:cNvSpPr/>
          <p:nvPr/>
        </p:nvSpPr>
        <p:spPr>
          <a:xfrm>
            <a:off x="731520" y="402336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LAUNCH → GROWTH (12%)</a:t>
            </a:r>
            <a:endParaRPr lang="en-US" sz="1050" dirty="0"/>
          </a:p>
        </p:txBody>
      </p:sp>
      <p:sp>
        <p:nvSpPr>
          <p:cNvPr id="19" name="Text 17"/>
          <p:cNvSpPr/>
          <p:nvPr/>
        </p:nvSpPr>
        <p:spPr>
          <a:xfrm>
            <a:off x="731520" y="434340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~180 base · ~600 upside</a:t>
            </a:r>
            <a:endParaRPr lang="en-US" sz="1600" dirty="0"/>
          </a:p>
        </p:txBody>
      </p:sp>
      <p:sp>
        <p:nvSpPr>
          <p:cNvPr id="20" name="Text 18"/>
          <p:cNvSpPr/>
          <p:nvPr/>
        </p:nvSpPr>
        <p:spPr>
          <a:xfrm>
            <a:off x="731520" y="480060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Growth conversion lifts to 15% in upside on stronger product surface area.</a:t>
            </a:r>
            <a:endParaRPr lang="en-US" sz="1100" dirty="0"/>
          </a:p>
        </p:txBody>
      </p:sp>
      <p:sp>
        <p:nvSpPr>
          <p:cNvPr id="21" name="Shape 19"/>
          <p:cNvSpPr/>
          <p:nvPr/>
        </p:nvSpPr>
        <p:spPr>
          <a:xfrm>
            <a:off x="6233008" y="3840480"/>
            <a:ext cx="5455768" cy="960120"/>
          </a:xfrm>
          <a:prstGeom prst="roundRect">
            <a:avLst>
              <a:gd name="adj" fmla="val 11429"/>
            </a:avLst>
          </a:prstGeom>
          <a:solidFill>
            <a:srgbClr val="FFFFFF"/>
          </a:solidFill>
          <a:ln w="9525">
            <a:solidFill>
              <a:srgbClr val="E2E0F0"/>
            </a:solidFill>
            <a:prstDash val="solid"/>
          </a:ln>
        </p:spPr>
      </p:sp>
      <p:sp>
        <p:nvSpPr>
          <p:cNvPr id="22" name="Text 20"/>
          <p:cNvSpPr/>
          <p:nvPr/>
        </p:nvSpPr>
        <p:spPr>
          <a:xfrm>
            <a:off x="6461608" y="402336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ACTIVE AFTER ~3%/MO CHURN</a:t>
            </a:r>
            <a:endParaRPr lang="en-US" sz="1050" dirty="0"/>
          </a:p>
        </p:txBody>
      </p:sp>
      <p:sp>
        <p:nvSpPr>
          <p:cNvPr id="23" name="Text 21"/>
          <p:cNvSpPr/>
          <p:nvPr/>
        </p:nvSpPr>
        <p:spPr>
          <a:xfrm>
            <a:off x="6461608" y="434340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~620L · ~130G base · ~1,700L · ~430G upside</a:t>
            </a:r>
            <a:endParaRPr lang="en-US" sz="1600" dirty="0"/>
          </a:p>
        </p:txBody>
      </p:sp>
      <p:sp>
        <p:nvSpPr>
          <p:cNvPr id="24" name="Text 22"/>
          <p:cNvSpPr/>
          <p:nvPr/>
        </p:nvSpPr>
        <p:spPr>
          <a:xfrm>
            <a:off x="6461608" y="480060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Active subs after monthly churn. Drives MRR build-up.</a:t>
            </a:r>
            <a:endParaRPr lang="en-US" sz="1100" dirty="0"/>
          </a:p>
        </p:txBody>
      </p:sp>
      <p:sp>
        <p:nvSpPr>
          <p:cNvPr id="25" name="Shape 23"/>
          <p:cNvSpPr/>
          <p:nvPr/>
        </p:nvSpPr>
        <p:spPr>
          <a:xfrm>
            <a:off x="502920" y="5074920"/>
            <a:ext cx="5455768" cy="960120"/>
          </a:xfrm>
          <a:prstGeom prst="roundRect">
            <a:avLst>
              <a:gd name="adj" fmla="val 11429"/>
            </a:avLst>
          </a:prstGeom>
          <a:solidFill>
            <a:srgbClr val="FFFFFF"/>
          </a:solidFill>
          <a:ln w="9525">
            <a:solidFill>
              <a:srgbClr val="E2E0F0"/>
            </a:solidFill>
            <a:prstDash val="solid"/>
          </a:ln>
        </p:spPr>
      </p:sp>
      <p:sp>
        <p:nvSpPr>
          <p:cNvPr id="26" name="Text 24"/>
          <p:cNvSpPr/>
          <p:nvPr/>
        </p:nvSpPr>
        <p:spPr>
          <a:xfrm>
            <a:off x="731520" y="52578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SUB MRR</a:t>
            </a:r>
            <a:endParaRPr lang="en-US" sz="1050" dirty="0"/>
          </a:p>
        </p:txBody>
      </p:sp>
      <p:sp>
        <p:nvSpPr>
          <p:cNvPr id="27" name="Text 25"/>
          <p:cNvSpPr/>
          <p:nvPr/>
        </p:nvSpPr>
        <p:spPr>
          <a:xfrm>
            <a:off x="731520" y="55778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£14.9K base · £43.8K upside</a:t>
            </a:r>
            <a:endParaRPr lang="en-US" sz="1600" dirty="0"/>
          </a:p>
        </p:txBody>
      </p:sp>
      <p:sp>
        <p:nvSpPr>
          <p:cNvPr id="28" name="Text 26"/>
          <p:cNvSpPr/>
          <p:nvPr/>
        </p:nvSpPr>
        <p:spPr>
          <a:xfrm>
            <a:off x="731520" y="603504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Launch (£15.80) + Growth (£39) blended. Setup amortised + token overage + affiliate stack on top.</a:t>
            </a:r>
            <a:endParaRPr lang="en-US" sz="1100" dirty="0"/>
          </a:p>
        </p:txBody>
      </p:sp>
      <p:sp>
        <p:nvSpPr>
          <p:cNvPr id="29" name="Shape 27"/>
          <p:cNvSpPr/>
          <p:nvPr/>
        </p:nvSpPr>
        <p:spPr>
          <a:xfrm>
            <a:off x="6233008" y="5074920"/>
            <a:ext cx="5455768" cy="960120"/>
          </a:xfrm>
          <a:prstGeom prst="roundRect">
            <a:avLst>
              <a:gd name="adj" fmla="val 11429"/>
            </a:avLst>
          </a:prstGeom>
          <a:solidFill>
            <a:srgbClr val="FFFFFF"/>
          </a:solidFill>
          <a:ln w="9525">
            <a:solidFill>
              <a:srgbClr val="E2E0F0"/>
            </a:solidFill>
            <a:prstDash val="solid"/>
          </a:ln>
        </p:spPr>
      </p:sp>
      <p:sp>
        <p:nvSpPr>
          <p:cNvPr id="30" name="Text 28"/>
          <p:cNvSpPr/>
          <p:nvPr/>
        </p:nvSpPr>
        <p:spPr>
          <a:xfrm>
            <a:off x="6461608" y="52578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M18 LANDING</a:t>
            </a:r>
            <a:endParaRPr lang="en-US" sz="1050" dirty="0"/>
          </a:p>
        </p:txBody>
      </p:sp>
      <p:sp>
        <p:nvSpPr>
          <p:cNvPr id="31" name="Text 29"/>
          <p:cNvSpPr/>
          <p:nvPr/>
        </p:nvSpPr>
        <p:spPr>
          <a:xfrm>
            <a:off x="6461608" y="55778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£135K base · £380K upside MRR</a:t>
            </a:r>
            <a:endParaRPr lang="en-US" sz="1600" dirty="0"/>
          </a:p>
        </p:txBody>
      </p:sp>
      <p:sp>
        <p:nvSpPr>
          <p:cNvPr id="32" name="Text 30"/>
          <p:cNvSpPr/>
          <p:nvPr/>
        </p:nvSpPr>
        <p:spPr>
          <a:xfrm>
            <a:off x="6461608" y="6035040"/>
            <a:ext cx="4998568" cy="-9144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Pessimistic case (3% conv., 5% churn) lands ~£60K M18. Sprint base = 5% / 3%. Upside adds paid lift.</a:t>
            </a:r>
            <a:endParaRPr lang="en-US" sz="1100" dirty="0"/>
          </a:p>
        </p:txBody>
      </p:sp>
      <p:sp>
        <p:nvSpPr>
          <p:cNvPr id="33" name="Shape 31"/>
          <p:cNvSpPr/>
          <p:nvPr/>
        </p:nvSpPr>
        <p:spPr>
          <a:xfrm>
            <a:off x="502920" y="6263640"/>
            <a:ext cx="11185855" cy="0"/>
          </a:xfrm>
          <a:prstGeom prst="line">
            <a:avLst/>
          </a:prstGeom>
          <a:noFill/>
          <a:ln w="6350">
            <a:solidFill>
              <a:srgbClr val="E2E0F0"/>
            </a:solidFill>
            <a:prstDash val="solid"/>
          </a:ln>
        </p:spPr>
      </p:sp>
      <p:sp>
        <p:nvSpPr>
          <p:cNvPr id="34" name="Text 3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35" name="Text 33"/>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26  /  28</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27  ·  APPENDIX  ·  USE OF FUNDS</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000" b="1" dirty="0">
                <a:solidFill>
                  <a:srgbClr val="0F172A"/>
                </a:solidFill>
                <a:latin typeface="Inter" pitchFamily="34" charset="0"/>
                <a:ea typeface="Inter" pitchFamily="34" charset="-122"/>
                <a:cs typeface="Inter" pitchFamily="34" charset="-120"/>
              </a:rPr>
              <a:t>How the raise is spent. </a:t>
            </a:r>
            <a:pPr algn="l" indent="0" marL="0">
              <a:buNone/>
            </a:pPr>
            <a:r>
              <a:rPr lang="en-US" sz="3000" b="1" dirty="0">
                <a:solidFill>
                  <a:srgbClr val="5040E5"/>
                </a:solidFill>
                <a:latin typeface="Inter" pitchFamily="34" charset="0"/>
                <a:ea typeface="Inter" pitchFamily="34" charset="-122"/>
                <a:cs typeface="Inter" pitchFamily="34" charset="-120"/>
              </a:rPr>
              <a:t>By line item.</a:t>
            </a:r>
            <a:endParaRPr lang="en-US" sz="3000" dirty="0"/>
          </a:p>
        </p:txBody>
      </p:sp>
      <p:sp>
        <p:nvSpPr>
          <p:cNvPr id="8" name="Text 6"/>
          <p:cNvSpPr/>
          <p:nvPr/>
        </p:nvSpPr>
        <p:spPr>
          <a:xfrm>
            <a:off x="502920" y="182880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Modelled at the £700K midpoint of the £500K–£1M range. Scales linearly above and below.</a:t>
            </a:r>
            <a:endParaRPr lang="en-US" sz="1550" dirty="0"/>
          </a:p>
        </p:txBody>
      </p:sp>
      <p:sp>
        <p:nvSpPr>
          <p:cNvPr id="9" name="Shape 7"/>
          <p:cNvSpPr/>
          <p:nvPr/>
        </p:nvSpPr>
        <p:spPr>
          <a:xfrm>
            <a:off x="502920" y="2606040"/>
            <a:ext cx="5455768" cy="1508760"/>
          </a:xfrm>
          <a:prstGeom prst="roundRect">
            <a:avLst>
              <a:gd name="adj" fmla="val 7273"/>
            </a:avLst>
          </a:prstGeom>
          <a:solidFill>
            <a:srgbClr val="FFFFFF"/>
          </a:solidFill>
          <a:ln w="9525">
            <a:solidFill>
              <a:srgbClr val="E2E0F0"/>
            </a:solidFill>
            <a:prstDash val="solid"/>
          </a:ln>
        </p:spPr>
      </p:sp>
      <p:sp>
        <p:nvSpPr>
          <p:cNvPr id="10" name="Text 8"/>
          <p:cNvSpPr/>
          <p:nvPr/>
        </p:nvSpPr>
        <p:spPr>
          <a:xfrm>
            <a:off x="731520"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PAID ACQUISITION  ·  60% · £420K</a:t>
            </a:r>
            <a:endParaRPr lang="en-US" sz="1050" dirty="0"/>
          </a:p>
        </p:txBody>
      </p:sp>
      <p:sp>
        <p:nvSpPr>
          <p:cNvPr id="11" name="Text 9"/>
          <p:cNvSpPr/>
          <p:nvPr/>
        </p:nvSpPr>
        <p:spPr>
          <a:xfrm>
            <a:off x="731520"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Creator + retargeting + newsletters + events</a:t>
            </a:r>
            <a:endParaRPr lang="en-US" sz="1600" dirty="0"/>
          </a:p>
        </p:txBody>
      </p:sp>
      <p:sp>
        <p:nvSpPr>
          <p:cNvPr id="12" name="Text 10"/>
          <p:cNvSpPr/>
          <p:nvPr/>
        </p:nvSpPr>
        <p:spPr>
          <a:xfrm>
            <a:off x="731520" y="356616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Creator £180K · Retargeting £140K · Newsletters £50K · Events £30K · Affiliate £20K.</a:t>
            </a:r>
            <a:endParaRPr lang="en-US" sz="1100" dirty="0"/>
          </a:p>
        </p:txBody>
      </p:sp>
      <p:sp>
        <p:nvSpPr>
          <p:cNvPr id="13" name="Shape 11"/>
          <p:cNvSpPr/>
          <p:nvPr/>
        </p:nvSpPr>
        <p:spPr>
          <a:xfrm>
            <a:off x="6233008" y="2606040"/>
            <a:ext cx="5455768" cy="1508760"/>
          </a:xfrm>
          <a:prstGeom prst="roundRect">
            <a:avLst>
              <a:gd name="adj" fmla="val 7273"/>
            </a:avLst>
          </a:prstGeom>
          <a:solidFill>
            <a:srgbClr val="FFFFFF"/>
          </a:solidFill>
          <a:ln w="9525">
            <a:solidFill>
              <a:srgbClr val="E2E0F0"/>
            </a:solidFill>
            <a:prstDash val="solid"/>
          </a:ln>
        </p:spPr>
      </p:sp>
      <p:sp>
        <p:nvSpPr>
          <p:cNvPr id="14" name="Text 12"/>
          <p:cNvSpPr/>
          <p:nvPr/>
        </p:nvSpPr>
        <p:spPr>
          <a:xfrm>
            <a:off x="6461608"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FIRST HIRES  ·  25% · £175K</a:t>
            </a:r>
            <a:endParaRPr lang="en-US" sz="1050" dirty="0"/>
          </a:p>
        </p:txBody>
      </p:sp>
      <p:sp>
        <p:nvSpPr>
          <p:cNvPr id="15" name="Text 13"/>
          <p:cNvSpPr/>
          <p:nvPr/>
        </p:nvSpPr>
        <p:spPr>
          <a:xfrm>
            <a:off x="6461608"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Engineer + Marketer + Contractor</a:t>
            </a:r>
            <a:endParaRPr lang="en-US" sz="1600" dirty="0"/>
          </a:p>
        </p:txBody>
      </p:sp>
      <p:sp>
        <p:nvSpPr>
          <p:cNvPr id="16" name="Text 14"/>
          <p:cNvSpPr/>
          <p:nvPr/>
        </p:nvSpPr>
        <p:spPr>
          <a:xfrm>
            <a:off x="6461608" y="356616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Engineer #1 £95K (substrate, regions, mobile) · Marketer #1 £65K · Contractor £15K (design, devops, legal).</a:t>
            </a:r>
            <a:endParaRPr lang="en-US" sz="1100" dirty="0"/>
          </a:p>
        </p:txBody>
      </p:sp>
      <p:sp>
        <p:nvSpPr>
          <p:cNvPr id="17" name="Shape 15"/>
          <p:cNvSpPr/>
          <p:nvPr/>
        </p:nvSpPr>
        <p:spPr>
          <a:xfrm>
            <a:off x="502920" y="4389120"/>
            <a:ext cx="5455768" cy="1508760"/>
          </a:xfrm>
          <a:prstGeom prst="roundRect">
            <a:avLst>
              <a:gd name="adj" fmla="val 7273"/>
            </a:avLst>
          </a:prstGeom>
          <a:solidFill>
            <a:srgbClr val="FFFFFF"/>
          </a:solidFill>
          <a:ln w="9525">
            <a:solidFill>
              <a:srgbClr val="E2E0F0"/>
            </a:solidFill>
            <a:prstDash val="solid"/>
          </a:ln>
        </p:spPr>
      </p:sp>
      <p:sp>
        <p:nvSpPr>
          <p:cNvPr id="18" name="Text 16"/>
          <p:cNvSpPr/>
          <p:nvPr/>
        </p:nvSpPr>
        <p:spPr>
          <a:xfrm>
            <a:off x="731520" y="45720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INFRA + PARTNERSHIPS  ·  15% · £105K</a:t>
            </a:r>
            <a:endParaRPr lang="en-US" sz="1050" dirty="0"/>
          </a:p>
        </p:txBody>
      </p:sp>
      <p:sp>
        <p:nvSpPr>
          <p:cNvPr id="19" name="Text 17"/>
          <p:cNvSpPr/>
          <p:nvPr/>
        </p:nvSpPr>
        <p:spPr>
          <a:xfrm>
            <a:off x="731520" y="48920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Second region + abuse + partner integration + compliance</a:t>
            </a:r>
            <a:endParaRPr lang="en-US" sz="1600" dirty="0"/>
          </a:p>
        </p:txBody>
      </p:sp>
      <p:sp>
        <p:nvSpPr>
          <p:cNvPr id="20" name="Text 18"/>
          <p:cNvSpPr/>
          <p:nvPr/>
        </p:nvSpPr>
        <p:spPr>
          <a:xfrm>
            <a:off x="731520" y="534924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Second region £25K · Abuse + scaling £20K · Partner integration £25K · Wholesale negotiation £15K · SOC2 prep £20K.</a:t>
            </a:r>
            <a:endParaRPr lang="en-US" sz="1100" dirty="0"/>
          </a:p>
        </p:txBody>
      </p:sp>
      <p:sp>
        <p:nvSpPr>
          <p:cNvPr id="21" name="Shape 19"/>
          <p:cNvSpPr/>
          <p:nvPr/>
        </p:nvSpPr>
        <p:spPr>
          <a:xfrm>
            <a:off x="6233008" y="4389120"/>
            <a:ext cx="5455768" cy="1508760"/>
          </a:xfrm>
          <a:prstGeom prst="roundRect">
            <a:avLst>
              <a:gd name="adj" fmla="val 7273"/>
            </a:avLst>
          </a:prstGeom>
          <a:solidFill>
            <a:srgbClr val="FFFFFF"/>
          </a:solidFill>
          <a:ln w="9525">
            <a:solidFill>
              <a:srgbClr val="E2E0F0"/>
            </a:solidFill>
            <a:prstDash val="solid"/>
          </a:ln>
        </p:spPr>
      </p:sp>
      <p:sp>
        <p:nvSpPr>
          <p:cNvPr id="22" name="Text 20"/>
          <p:cNvSpPr/>
          <p:nvPr/>
        </p:nvSpPr>
        <p:spPr>
          <a:xfrm>
            <a:off x="6461608" y="45720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DISCIPLINE</a:t>
            </a:r>
            <a:endParaRPr lang="en-US" sz="1050" dirty="0"/>
          </a:p>
        </p:txBody>
      </p:sp>
      <p:sp>
        <p:nvSpPr>
          <p:cNvPr id="23" name="Text 21"/>
          <p:cNvSpPr/>
          <p:nvPr/>
        </p:nvSpPr>
        <p:spPr>
          <a:xfrm>
            <a:off x="6461608" y="48920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Spend-gate at signup #100</a:t>
            </a:r>
            <a:endParaRPr lang="en-US" sz="1600" dirty="0"/>
          </a:p>
        </p:txBody>
      </p:sp>
      <p:sp>
        <p:nvSpPr>
          <p:cNvPr id="24" name="Text 22"/>
          <p:cNvSpPr/>
          <p:nvPr/>
        </p:nvSpPr>
        <p:spPr>
          <a:xfrm>
            <a:off x="6461608" y="534924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If conversion + churn miss validation by signup #100, paid spend pauses pending repricing. No spend lifts before the funnel signals.</a:t>
            </a:r>
            <a:endParaRPr lang="en-US" sz="1100" dirty="0"/>
          </a:p>
        </p:txBody>
      </p:sp>
      <p:sp>
        <p:nvSpPr>
          <p:cNvPr id="25" name="Shape 23"/>
          <p:cNvSpPr/>
          <p:nvPr/>
        </p:nvSpPr>
        <p:spPr>
          <a:xfrm>
            <a:off x="502920" y="6263640"/>
            <a:ext cx="11185855" cy="0"/>
          </a:xfrm>
          <a:prstGeom prst="line">
            <a:avLst/>
          </a:prstGeom>
          <a:noFill/>
          <a:ln w="6350">
            <a:solidFill>
              <a:srgbClr val="E2E0F0"/>
            </a:solidFill>
            <a:prstDash val="solid"/>
          </a:ln>
        </p:spPr>
      </p:sp>
      <p:sp>
        <p:nvSpPr>
          <p:cNvPr id="26" name="Text 24"/>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27" name="Text 25"/>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27  /  28</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1FA"/>
        </a:solidFill>
      </p:bgPr>
    </p:bg>
    <p:spTree>
      <p:nvGrpSpPr>
        <p:cNvPr id="1" name=""/>
        <p:cNvGrpSpPr/>
        <p:nvPr/>
      </p:nvGrpSpPr>
      <p:grpSpPr>
        <a:xfrm>
          <a:off x="0" y="0"/>
          <a:ext cx="0" cy="0"/>
          <a:chOff x="0" y="0"/>
          <a:chExt cx="0" cy="0"/>
        </a:xfrm>
      </p:grpSpPr>
      <p:sp>
        <p:nvSpPr>
          <p:cNvPr id="2" name="Shape 0"/>
          <p:cNvSpPr/>
          <p:nvPr/>
        </p:nvSpPr>
        <p:spPr>
          <a:xfrm>
            <a:off x="502920" y="292608"/>
            <a:ext cx="292608" cy="292608"/>
          </a:xfrm>
          <a:prstGeom prst="ellipse">
            <a:avLst/>
          </a:prstGeom>
          <a:solidFill>
            <a:srgbClr val="0B0E1F"/>
          </a:solidFill>
          <a:ln/>
        </p:spPr>
      </p:sp>
      <p:sp>
        <p:nvSpPr>
          <p:cNvPr id="3" name="Shape 1"/>
          <p:cNvSpPr/>
          <p:nvPr/>
        </p:nvSpPr>
        <p:spPr>
          <a:xfrm>
            <a:off x="576072" y="453542"/>
            <a:ext cx="146304" cy="11704"/>
          </a:xfrm>
          <a:prstGeom prst="rect">
            <a:avLst/>
          </a:prstGeom>
          <a:solidFill>
            <a:srgbClr val="FFFFFF"/>
          </a:solidFill>
          <a:ln/>
        </p:spPr>
      </p:sp>
      <p:sp>
        <p:nvSpPr>
          <p:cNvPr id="4" name="Text 2"/>
          <p:cNvSpPr/>
          <p:nvPr/>
        </p:nvSpPr>
        <p:spPr>
          <a:xfrm>
            <a:off x="868680" y="256032"/>
            <a:ext cx="137160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Inter" pitchFamily="34" charset="0"/>
                <a:ea typeface="Inter" pitchFamily="34" charset="-122"/>
                <a:cs typeface="Inter" pitchFamily="34" charset="-120"/>
              </a:rPr>
              <a:t>hatchik</a:t>
            </a:r>
            <a:endParaRPr lang="en-US" sz="1600" dirty="0"/>
          </a:p>
        </p:txBody>
      </p:sp>
      <p:sp>
        <p:nvSpPr>
          <p:cNvPr id="5" name="Text 3"/>
          <p:cNvSpPr/>
          <p:nvPr/>
        </p:nvSpPr>
        <p:spPr>
          <a:xfrm>
            <a:off x="7162495" y="274320"/>
            <a:ext cx="4572000" cy="320040"/>
          </a:xfrm>
          <a:prstGeom prst="rect">
            <a:avLst/>
          </a:prstGeom>
          <a:noFill/>
          <a:ln/>
        </p:spPr>
        <p:txBody>
          <a:bodyPr wrap="square" lIns="0" tIns="0" rIns="0" bIns="0" rtlCol="0" anchor="ctr"/>
          <a:lstStyle/>
          <a:p>
            <a:pPr algn="r" indent="0" marL="0">
              <a:buNone/>
            </a:pPr>
            <a:r>
              <a:rPr lang="en-US" sz="1050" spc="400" kern="0" dirty="0">
                <a:solidFill>
                  <a:srgbClr val="94A3B8"/>
                </a:solidFill>
                <a:latin typeface="JetBrains Mono" pitchFamily="34" charset="0"/>
                <a:ea typeface="JetBrains Mono" pitchFamily="34" charset="-122"/>
                <a:cs typeface="JetBrains Mono" pitchFamily="34" charset="-120"/>
              </a:rPr>
              <a:t>28  ·  APPENDIX  ·  CAPACITY MANAGEMENT</a:t>
            </a:r>
            <a:endParaRPr lang="en-US" sz="1050" dirty="0"/>
          </a:p>
        </p:txBody>
      </p:sp>
      <p:sp>
        <p:nvSpPr>
          <p:cNvPr id="6" name="Shape 4"/>
          <p:cNvSpPr/>
          <p:nvPr/>
        </p:nvSpPr>
        <p:spPr>
          <a:xfrm>
            <a:off x="502920" y="713232"/>
            <a:ext cx="11185855" cy="0"/>
          </a:xfrm>
          <a:prstGeom prst="line">
            <a:avLst/>
          </a:prstGeom>
          <a:noFill/>
          <a:ln w="6350">
            <a:solidFill>
              <a:srgbClr val="E2E0F0"/>
            </a:solidFill>
            <a:prstDash val="solid"/>
          </a:ln>
        </p:spPr>
      </p:sp>
      <p:sp>
        <p:nvSpPr>
          <p:cNvPr id="7" name="Text 5"/>
          <p:cNvSpPr/>
          <p:nvPr/>
        </p:nvSpPr>
        <p:spPr>
          <a:xfrm>
            <a:off x="502920" y="960120"/>
            <a:ext cx="11185855" cy="777240"/>
          </a:xfrm>
          <a:prstGeom prst="rect">
            <a:avLst/>
          </a:prstGeom>
          <a:noFill/>
          <a:ln/>
        </p:spPr>
        <p:txBody>
          <a:bodyPr wrap="square" lIns="0" tIns="0" rIns="0" bIns="0" rtlCol="0" anchor="t"/>
          <a:lstStyle/>
          <a:p>
            <a:pPr algn="l" indent="0" marL="0">
              <a:buNone/>
            </a:pPr>
            <a:r>
              <a:rPr lang="en-US" sz="3000" b="1" dirty="0">
                <a:solidFill>
                  <a:srgbClr val="0F172A"/>
                </a:solidFill>
                <a:latin typeface="Inter" pitchFamily="34" charset="0"/>
                <a:ea typeface="Inter" pitchFamily="34" charset="-122"/>
                <a:cs typeface="Inter" pitchFamily="34" charset="-120"/>
              </a:rPr>
              <a:t>Two tiers. </a:t>
            </a:r>
            <a:pPr algn="l" indent="0" marL="0">
              <a:buNone/>
            </a:pPr>
            <a:r>
              <a:rPr lang="en-US" sz="3000" b="1" dirty="0">
                <a:solidFill>
                  <a:srgbClr val="5040E5"/>
                </a:solidFill>
                <a:latin typeface="Inter" pitchFamily="34" charset="0"/>
                <a:ea typeface="Inter" pitchFamily="34" charset="-122"/>
                <a:cs typeface="Inter" pitchFamily="34" charset="-120"/>
              </a:rPr>
              <a:t>Two density strategies.</a:t>
            </a:r>
            <a:endParaRPr lang="en-US" sz="3000" dirty="0"/>
          </a:p>
        </p:txBody>
      </p:sp>
      <p:sp>
        <p:nvSpPr>
          <p:cNvPr id="8" name="Text 6"/>
          <p:cNvSpPr/>
          <p:nvPr/>
        </p:nvSpPr>
        <p:spPr>
          <a:xfrm>
            <a:off x="502920" y="1828800"/>
            <a:ext cx="11185855" cy="685800"/>
          </a:xfrm>
          <a:prstGeom prst="rect">
            <a:avLst/>
          </a:prstGeom>
          <a:noFill/>
          <a:ln/>
        </p:spPr>
        <p:txBody>
          <a:bodyPr wrap="square" lIns="0" tIns="0" rIns="0" bIns="0" rtlCol="0" anchor="t"/>
          <a:lstStyle/>
          <a:p>
            <a:pPr algn="l" indent="0" marL="0">
              <a:buNone/>
            </a:pPr>
            <a:r>
              <a:rPr lang="en-US" sz="1550" dirty="0">
                <a:solidFill>
                  <a:srgbClr val="475569"/>
                </a:solidFill>
                <a:latin typeface="Inter" pitchFamily="34" charset="0"/>
                <a:ea typeface="Inter" pitchFamily="34" charset="-122"/>
                <a:cs typeface="Inter" pitchFamily="34" charset="-120"/>
              </a:rPr>
              <a:t>Sandbox runs hot and cheap on a single CAX31 via overcommit + idle-suspend. Launch runs warm on CAX41 with bin-packing.</a:t>
            </a:r>
            <a:endParaRPr lang="en-US" sz="1550" dirty="0"/>
          </a:p>
        </p:txBody>
      </p:sp>
      <p:sp>
        <p:nvSpPr>
          <p:cNvPr id="9" name="Shape 7"/>
          <p:cNvSpPr/>
          <p:nvPr/>
        </p:nvSpPr>
        <p:spPr>
          <a:xfrm>
            <a:off x="502920" y="2606040"/>
            <a:ext cx="5455768" cy="1508760"/>
          </a:xfrm>
          <a:prstGeom prst="roundRect">
            <a:avLst>
              <a:gd name="adj" fmla="val 7273"/>
            </a:avLst>
          </a:prstGeom>
          <a:solidFill>
            <a:srgbClr val="FFFFFF"/>
          </a:solidFill>
          <a:ln w="9525">
            <a:solidFill>
              <a:srgbClr val="E2E0F0"/>
            </a:solidFill>
            <a:prstDash val="solid"/>
          </a:ln>
        </p:spPr>
      </p:sp>
      <p:sp>
        <p:nvSpPr>
          <p:cNvPr id="10" name="Text 8"/>
          <p:cNvSpPr/>
          <p:nvPr/>
        </p:nvSpPr>
        <p:spPr>
          <a:xfrm>
            <a:off x="731520"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SANDBOX  ·  CAX31  ·  £0.30/MO</a:t>
            </a:r>
            <a:endParaRPr lang="en-US" sz="1050" dirty="0"/>
          </a:p>
        </p:txBody>
      </p:sp>
      <p:sp>
        <p:nvSpPr>
          <p:cNvPr id="11" name="Text 9"/>
          <p:cNvSpPr/>
          <p:nvPr/>
        </p:nvSpPr>
        <p:spPr>
          <a:xfrm>
            <a:off x="731520"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~45 tenants / host</a:t>
            </a:r>
            <a:endParaRPr lang="en-US" sz="1600" dirty="0"/>
          </a:p>
        </p:txBody>
      </p:sp>
      <p:sp>
        <p:nvSpPr>
          <p:cNvPr id="12" name="Text 10"/>
          <p:cNvSpPr/>
          <p:nvPr/>
        </p:nvSpPr>
        <p:spPr>
          <a:xfrm>
            <a:off x="731520" y="356616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Drop Studio (saves ~400MB RAM + ~300MB disk). Memory overcommit + 16GB swap (1.5× density). 2h idle-suspend. 30-day archive + 7-day grace.</a:t>
            </a:r>
            <a:endParaRPr lang="en-US" sz="1100" dirty="0"/>
          </a:p>
        </p:txBody>
      </p:sp>
      <p:sp>
        <p:nvSpPr>
          <p:cNvPr id="13" name="Shape 11"/>
          <p:cNvSpPr/>
          <p:nvPr/>
        </p:nvSpPr>
        <p:spPr>
          <a:xfrm>
            <a:off x="6233008" y="2606040"/>
            <a:ext cx="5455768" cy="1508760"/>
          </a:xfrm>
          <a:prstGeom prst="roundRect">
            <a:avLst>
              <a:gd name="adj" fmla="val 7273"/>
            </a:avLst>
          </a:prstGeom>
          <a:solidFill>
            <a:srgbClr val="FFFFFF"/>
          </a:solidFill>
          <a:ln w="9525">
            <a:solidFill>
              <a:srgbClr val="E2E0F0"/>
            </a:solidFill>
            <a:prstDash val="solid"/>
          </a:ln>
        </p:spPr>
      </p:sp>
      <p:sp>
        <p:nvSpPr>
          <p:cNvPr id="14" name="Text 12"/>
          <p:cNvSpPr/>
          <p:nvPr/>
        </p:nvSpPr>
        <p:spPr>
          <a:xfrm>
            <a:off x="6461608" y="278892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LAUNCH  ·  CAX41  ·  BIN-PACKED</a:t>
            </a:r>
            <a:endParaRPr lang="en-US" sz="1050" dirty="0"/>
          </a:p>
        </p:txBody>
      </p:sp>
      <p:sp>
        <p:nvSpPr>
          <p:cNvPr id="15" name="Text 13"/>
          <p:cNvSpPr/>
          <p:nvPr/>
        </p:nvSpPr>
        <p:spPr>
          <a:xfrm>
            <a:off x="6461608" y="310896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~25 tenants / host</a:t>
            </a:r>
            <a:endParaRPr lang="en-US" sz="1600" dirty="0"/>
          </a:p>
        </p:txBody>
      </p:sp>
      <p:sp>
        <p:nvSpPr>
          <p:cNvPr id="16" name="Text 14"/>
          <p:cNvSpPr/>
          <p:nvPr/>
        </p:nvSpPr>
        <p:spPr>
          <a:xfrm>
            <a:off x="6461608" y="356616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Per-tenant Docker network. Bin-packing via promote.py. Per-tenant port slice → Caddy routing. Per-tenant Studio + 3 mailboxes.</a:t>
            </a:r>
            <a:endParaRPr lang="en-US" sz="1100" dirty="0"/>
          </a:p>
        </p:txBody>
      </p:sp>
      <p:sp>
        <p:nvSpPr>
          <p:cNvPr id="17" name="Shape 15"/>
          <p:cNvSpPr/>
          <p:nvPr/>
        </p:nvSpPr>
        <p:spPr>
          <a:xfrm>
            <a:off x="502920" y="4389120"/>
            <a:ext cx="5455768" cy="1508760"/>
          </a:xfrm>
          <a:prstGeom prst="roundRect">
            <a:avLst>
              <a:gd name="adj" fmla="val 7273"/>
            </a:avLst>
          </a:prstGeom>
          <a:solidFill>
            <a:srgbClr val="FFFFFF"/>
          </a:solidFill>
          <a:ln w="9525">
            <a:solidFill>
              <a:srgbClr val="E2E0F0"/>
            </a:solidFill>
            <a:prstDash val="solid"/>
          </a:ln>
        </p:spPr>
      </p:sp>
      <p:sp>
        <p:nvSpPr>
          <p:cNvPr id="18" name="Text 16"/>
          <p:cNvSpPr/>
          <p:nvPr/>
        </p:nvSpPr>
        <p:spPr>
          <a:xfrm>
            <a:off x="731520" y="45720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SANDBOX SCALE TRIGGER</a:t>
            </a:r>
            <a:endParaRPr lang="en-US" sz="1050" dirty="0"/>
          </a:p>
        </p:txBody>
      </p:sp>
      <p:sp>
        <p:nvSpPr>
          <p:cNvPr id="19" name="Text 17"/>
          <p:cNvSpPr/>
          <p:nvPr/>
        </p:nvSpPr>
        <p:spPr>
          <a:xfrm>
            <a:off x="731520" y="48920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35-warm-concurrent → second CAX31</a:t>
            </a:r>
            <a:endParaRPr lang="en-US" sz="1600" dirty="0"/>
          </a:p>
        </p:txBody>
      </p:sp>
      <p:sp>
        <p:nvSpPr>
          <p:cNvPr id="20" name="Text 18"/>
          <p:cNvSpPr/>
          <p:nvPr/>
        </p:nvSpPr>
        <p:spPr>
          <a:xfrm>
            <a:off x="731520" y="534924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Pressure watchdog reads /proc/pressure/memory. Alert at avg10 &gt; 20. Operator provisions 2nd CAX31 (+£11.30/mo).</a:t>
            </a:r>
            <a:endParaRPr lang="en-US" sz="1100" dirty="0"/>
          </a:p>
        </p:txBody>
      </p:sp>
      <p:sp>
        <p:nvSpPr>
          <p:cNvPr id="21" name="Shape 19"/>
          <p:cNvSpPr/>
          <p:nvPr/>
        </p:nvSpPr>
        <p:spPr>
          <a:xfrm>
            <a:off x="6233008" y="4389120"/>
            <a:ext cx="5455768" cy="1508760"/>
          </a:xfrm>
          <a:prstGeom prst="roundRect">
            <a:avLst>
              <a:gd name="adj" fmla="val 7273"/>
            </a:avLst>
          </a:prstGeom>
          <a:solidFill>
            <a:srgbClr val="FFFFFF"/>
          </a:solidFill>
          <a:ln w="9525">
            <a:solidFill>
              <a:srgbClr val="E2E0F0"/>
            </a:solidFill>
            <a:prstDash val="solid"/>
          </a:ln>
        </p:spPr>
      </p:sp>
      <p:sp>
        <p:nvSpPr>
          <p:cNvPr id="22" name="Text 20"/>
          <p:cNvSpPr/>
          <p:nvPr/>
        </p:nvSpPr>
        <p:spPr>
          <a:xfrm>
            <a:off x="6461608" y="4572000"/>
            <a:ext cx="4998568" cy="274320"/>
          </a:xfrm>
          <a:prstGeom prst="rect">
            <a:avLst/>
          </a:prstGeom>
          <a:noFill/>
          <a:ln/>
        </p:spPr>
        <p:txBody>
          <a:bodyPr wrap="square" lIns="0" tIns="0" rIns="0" bIns="0" rtlCol="0" anchor="ctr"/>
          <a:lstStyle/>
          <a:p>
            <a:pPr algn="l" indent="0" marL="0">
              <a:buNone/>
            </a:pPr>
            <a:r>
              <a:rPr lang="en-US" sz="1050" spc="400" kern="0" dirty="0">
                <a:solidFill>
                  <a:srgbClr val="94A3B8"/>
                </a:solidFill>
                <a:latin typeface="JetBrains Mono" pitchFamily="34" charset="0"/>
                <a:ea typeface="JetBrains Mono" pitchFamily="34" charset="-122"/>
                <a:cs typeface="JetBrains Mono" pitchFamily="34" charset="-120"/>
              </a:rPr>
              <a:t>LAUNCH SCALE + GROWTH MIGRATION</a:t>
            </a:r>
            <a:endParaRPr lang="en-US" sz="1050" dirty="0"/>
          </a:p>
        </p:txBody>
      </p:sp>
      <p:sp>
        <p:nvSpPr>
          <p:cNvPr id="23" name="Text 21"/>
          <p:cNvSpPr/>
          <p:nvPr/>
        </p:nvSpPr>
        <p:spPr>
          <a:xfrm>
            <a:off x="6461608" y="4892040"/>
            <a:ext cx="4998568" cy="411480"/>
          </a:xfrm>
          <a:prstGeom prst="rect">
            <a:avLst/>
          </a:prstGeom>
          <a:noFill/>
          <a:ln/>
        </p:spPr>
        <p:txBody>
          <a:bodyPr wrap="square" lIns="0" tIns="0" rIns="0" bIns="0" rtlCol="0" anchor="t"/>
          <a:lstStyle/>
          <a:p>
            <a:pPr algn="l" indent="0" marL="0">
              <a:buNone/>
            </a:pPr>
            <a:r>
              <a:rPr lang="en-US" sz="1600" b="1" dirty="0">
                <a:solidFill>
                  <a:srgbClr val="0F172A"/>
                </a:solidFill>
                <a:latin typeface="Inter" pitchFamily="34" charset="0"/>
                <a:ea typeface="Inter" pitchFamily="34" charset="-122"/>
                <a:cs typeface="Inter" pitchFamily="34" charset="-120"/>
              </a:rPr>
              <a:t>22 tenants → cordon · 15 end-user signups → Growth</a:t>
            </a:r>
            <a:endParaRPr lang="en-US" sz="1600" dirty="0"/>
          </a:p>
        </p:txBody>
      </p:sp>
      <p:sp>
        <p:nvSpPr>
          <p:cNvPr id="24" name="Text 22"/>
          <p:cNvSpPr/>
          <p:nvPr/>
        </p:nvSpPr>
        <p:spPr>
          <a:xfrm>
            <a:off x="6461608" y="5349240"/>
            <a:ext cx="4998568" cy="457200"/>
          </a:xfrm>
          <a:prstGeom prst="rect">
            <a:avLst/>
          </a:prstGeom>
          <a:noFill/>
          <a:ln/>
        </p:spPr>
        <p:txBody>
          <a:bodyPr wrap="square" lIns="0" tIns="0" rIns="0" bIns="0" rtlCol="0" anchor="t"/>
          <a:lstStyle/>
          <a:p>
            <a:pPr algn="l" indent="0" marL="0">
              <a:buNone/>
            </a:pPr>
            <a:r>
              <a:rPr lang="en-US" sz="1100" dirty="0">
                <a:solidFill>
                  <a:srgbClr val="475569"/>
                </a:solidFill>
                <a:latin typeface="Inter" pitchFamily="34" charset="0"/>
                <a:ea typeface="Inter" pitchFamily="34" charset="-122"/>
                <a:cs typeface="Inter" pitchFamily="34" charset="-120"/>
              </a:rPr>
              <a:t>22-tenants-per-host → cordon; route new promotes to next CAX41. 15th end-user signup migrates to fresh CAX31 dedicated VPS.</a:t>
            </a:r>
            <a:endParaRPr lang="en-US" sz="1100" dirty="0"/>
          </a:p>
        </p:txBody>
      </p:sp>
      <p:sp>
        <p:nvSpPr>
          <p:cNvPr id="25" name="Shape 23"/>
          <p:cNvSpPr/>
          <p:nvPr/>
        </p:nvSpPr>
        <p:spPr>
          <a:xfrm>
            <a:off x="502920" y="6263640"/>
            <a:ext cx="11185855" cy="0"/>
          </a:xfrm>
          <a:prstGeom prst="line">
            <a:avLst/>
          </a:prstGeom>
          <a:noFill/>
          <a:ln w="6350">
            <a:solidFill>
              <a:srgbClr val="E2E0F0"/>
            </a:solidFill>
            <a:prstDash val="solid"/>
          </a:ln>
        </p:spPr>
      </p:sp>
      <p:sp>
        <p:nvSpPr>
          <p:cNvPr id="26" name="Text 24"/>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50" spc="300" kern="0" dirty="0">
                <a:solidFill>
                  <a:srgbClr val="94A3B8"/>
                </a:solidFill>
                <a:latin typeface="JetBrains Mono" pitchFamily="34" charset="0"/>
                <a:ea typeface="JetBrains Mono" pitchFamily="34" charset="-122"/>
                <a:cs typeface="JetBrains Mono" pitchFamily="34" charset="-120"/>
              </a:rPr>
              <a:t>HATCHIK  ·  INVESTOR &amp; PARTNER DECK  ·  MAY 2026</a:t>
            </a:r>
            <a:endParaRPr lang="en-US" sz="950" dirty="0"/>
          </a:p>
        </p:txBody>
      </p:sp>
      <p:sp>
        <p:nvSpPr>
          <p:cNvPr id="27" name="Text 25"/>
          <p:cNvSpPr/>
          <p:nvPr/>
        </p:nvSpPr>
        <p:spPr>
          <a:xfrm>
            <a:off x="10362895" y="6355080"/>
            <a:ext cx="1325880" cy="274320"/>
          </a:xfrm>
          <a:prstGeom prst="rect">
            <a:avLst/>
          </a:prstGeom>
          <a:noFill/>
          <a:ln/>
        </p:spPr>
        <p:txBody>
          <a:bodyPr wrap="square" lIns="0" tIns="0" rIns="0" bIns="0" rtlCol="0" anchor="ctr"/>
          <a:lstStyle/>
          <a:p>
            <a:pPr algn="r" indent="0" marL="0">
              <a:buNone/>
            </a:pPr>
            <a:r>
              <a:rPr lang="en-US" sz="950" spc="300" kern="0" dirty="0">
                <a:solidFill>
                  <a:srgbClr val="94A3B8"/>
                </a:solidFill>
                <a:latin typeface="JetBrains Mono" pitchFamily="34" charset="0"/>
                <a:ea typeface="JetBrains Mono" pitchFamily="34" charset="-122"/>
                <a:cs typeface="JetBrains Mono" pitchFamily="34" charset="-120"/>
              </a:rPr>
              <a:t>28  /  28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Hatchik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Hatchik — Investor + Partner Deck (v3)</dc:title>
  <dc:subject>PptxGenJS Presentation</dc:subject>
  <dc:creator>Farhan Irshad</dc:creator>
  <cp:lastModifiedBy>Farhan Irshad</cp:lastModifiedBy>
  <cp:revision>1</cp:revision>
  <dcterms:created xsi:type="dcterms:W3CDTF">2026-05-15T08:08:09Z</dcterms:created>
  <dcterms:modified xsi:type="dcterms:W3CDTF">2026-05-15T08:08:09Z</dcterms:modified>
</cp:coreProperties>
</file>