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5B47F0">
              <a:alpha val="4000"/>
            </a:srgbClr>
          </a:solidFill>
          <a:ln/>
        </p:spPr>
        <p:txBody>
          <a:bodyPr/>
          <a:p/>
        </p:txBody>
      </p:sp>
      <p:sp>
        <p:nvSpPr>
          <p:cNvPr id="3" name="Shape 1"/>
          <p:cNvSpPr/>
          <p:nvPr/>
        </p:nvSpPr>
        <p:spPr>
          <a:xfrm>
            <a:off x="0" y="0"/>
            <a:ext cx="18288000" cy="76200"/>
          </a:xfrm>
          <a:prstGeom prst="rect">
            <a:avLst/>
          </a:prstGeom>
          <a:solidFill>
            <a:srgbClr val="5B47F0"/>
          </a:solidFill>
          <a:ln/>
        </p:spPr>
        <p:txBody>
          <a:bodyPr/>
          <a:p/>
        </p:txBody>
      </p:sp>
      <p:pic>
        <p:nvPicPr>
          <p:cNvPr id="4" name="Image 0" descr="preencoded.png">    </p:cNvPr>
          <p:cNvPicPr>
            <a:picLocks noChangeAspect="1"/>
          </p:cNvPicPr>
          <p:nvPr/>
        </p:nvPicPr>
        <p:blipFill>
          <a:blip r:embed="rId1"/>
          <a:stretch>
            <a:fillRect/>
          </a:stretch>
        </p:blipFill>
        <p:spPr>
          <a:xfrm>
            <a:off x="914400" y="609600"/>
            <a:ext cx="342900" cy="342900"/>
          </a:xfrm>
          <a:prstGeom prst="rect">
            <a:avLst/>
          </a:prstGeom>
        </p:spPr>
      </p:pic>
      <p:sp>
        <p:nvSpPr>
          <p:cNvPr id="5" name="Text 2"/>
          <p:cNvSpPr/>
          <p:nvPr/>
        </p:nvSpPr>
        <p:spPr>
          <a:xfrm>
            <a:off x="1352550" y="638175"/>
            <a:ext cx="745108"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spc="-37" kern="0" dirty="0">
                <a:solidFill>
                  <a:srgbClr val="0F1419"/>
                </a:solidFill>
                <a:latin typeface="Arial" pitchFamily="34" charset="0"/>
                <a:ea typeface="Arial" pitchFamily="34" charset="-122"/>
                <a:cs typeface="Arial" pitchFamily="34" charset="-120"/>
              </a:rPr>
              <a:t>hatchik</a:t>
            </a:r>
            <a:endParaRPr lang="en-US" sz="1500" dirty="0"/>
          </a:p>
        </p:txBody>
      </p:sp>
      <p:sp>
        <p:nvSpPr>
          <p:cNvPr id="6" name="Text 3"/>
          <p:cNvSpPr/>
          <p:nvPr/>
        </p:nvSpPr>
        <p:spPr>
          <a:xfrm>
            <a:off x="13642330" y="666750"/>
            <a:ext cx="3843208"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spc="144" kern="0" dirty="0">
                <a:solidFill>
                  <a:srgbClr val="6E7785"/>
                </a:solidFill>
                <a:latin typeface="Courier New" pitchFamily="34" charset="0"/>
                <a:ea typeface="Courier New" pitchFamily="34" charset="-122"/>
                <a:cs typeface="Courier New" pitchFamily="34" charset="-120"/>
              </a:rPr>
              <a:t>INVESTOR &amp; PARTNER DECK · MAY 2026</a:t>
            </a:r>
            <a:endParaRPr lang="en-US" sz="1200" dirty="0"/>
          </a:p>
        </p:txBody>
      </p:sp>
      <p:sp>
        <p:nvSpPr>
          <p:cNvPr id="7" name="Text 4"/>
          <p:cNvSpPr/>
          <p:nvPr/>
        </p:nvSpPr>
        <p:spPr>
          <a:xfrm>
            <a:off x="914400" y="2771924"/>
            <a:ext cx="8648023"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spc="144" kern="0" dirty="0">
                <a:solidFill>
                  <a:srgbClr val="5B47F0"/>
                </a:solidFill>
                <a:latin typeface="Courier New" pitchFamily="34" charset="0"/>
                <a:ea typeface="Courier New" pitchFamily="34" charset="-122"/>
                <a:cs typeface="Courier New" pitchFamily="34" charset="-120"/>
              </a:rPr>
              <a:t>THE PRODUCTION SUBSTRATE FOR AI-BUILT SAAS</a:t>
            </a:r>
            <a:endParaRPr lang="en-US" sz="1200" dirty="0"/>
          </a:p>
        </p:txBody>
      </p:sp>
      <p:sp>
        <p:nvSpPr>
          <p:cNvPr id="8" name="Text 5"/>
          <p:cNvSpPr/>
          <p:nvPr/>
        </p:nvSpPr>
        <p:spPr>
          <a:xfrm>
            <a:off x="914400" y="3267224"/>
            <a:ext cx="8648023" cy="3718471"/>
          </a:xfrm>
          <a:prstGeom prst="rect">
            <a:avLst/>
          </a:prstGeom>
          <a:noFill/>
          <a:ln/>
        </p:spPr>
        <p:txBody>
          <a:bodyPr wrap="square" lIns="25400" tIns="25400" rIns="25400" bIns="25400" rtlCol="0" anchor="t">
            <a:normAutofit/>
          </a:bodyPr>
          <a:lstStyle/>
          <a:p>
            <a:pPr algn="l" indent="0" marL="0">
              <a:lnSpc>
                <a:spcPct val="92000"/>
              </a:lnSpc>
              <a:buNone/>
            </a:pPr>
            <a:r>
              <a:rPr lang="en-US" sz="10500" b="1" spc="-472" kern="0" dirty="0">
                <a:solidFill>
                  <a:srgbClr val="0F1419"/>
                </a:solidFill>
                <a:latin typeface="Arial" pitchFamily="34" charset="0"/>
                <a:ea typeface="Arial" pitchFamily="34" charset="-122"/>
                <a:cs typeface="Arial" pitchFamily="34" charset="-120"/>
              </a:rPr>
              <a:t>Got an idea? </a:t>
            </a:r>
            <a:pPr algn="l" indent="0" marL="0">
              <a:lnSpc>
                <a:spcPct val="92000"/>
              </a:lnSpc>
              <a:buNone/>
            </a:pPr>
            <a:r>
              <a:rPr lang="en-US" sz="10500" b="1" spc="-472" kern="0" dirty="0">
                <a:solidFill>
                  <a:srgbClr val="5B47F0"/>
                </a:solidFill>
                <a:latin typeface="Arial" pitchFamily="34" charset="0"/>
                <a:ea typeface="Arial" pitchFamily="34" charset="-122"/>
                <a:cs typeface="Arial" pitchFamily="34" charset="-120"/>
              </a:rPr>
              <a:t>We'll get it launched.</a:t>
            </a:r>
            <a:endParaRPr lang="en-US" sz="10500" dirty="0"/>
          </a:p>
        </p:txBody>
      </p:sp>
      <p:sp>
        <p:nvSpPr>
          <p:cNvPr id="9" name="Text 6"/>
          <p:cNvSpPr/>
          <p:nvPr/>
        </p:nvSpPr>
        <p:spPr>
          <a:xfrm>
            <a:off x="914400" y="7290495"/>
            <a:ext cx="8648023" cy="830461"/>
          </a:xfrm>
          <a:prstGeom prst="rect">
            <a:avLst/>
          </a:prstGeom>
          <a:noFill/>
          <a:ln/>
        </p:spPr>
        <p:txBody>
          <a:bodyPr wrap="square" lIns="25400" tIns="25400" rIns="25400" bIns="25400" rtlCol="0" anchor="t">
            <a:normAutofit/>
          </a:bodyPr>
          <a:lstStyle/>
          <a:p>
            <a:pPr algn="l" indent="0" marL="0">
              <a:lnSpc>
                <a:spcPct val="130000"/>
              </a:lnSpc>
              <a:buNone/>
            </a:pPr>
            <a:r>
              <a:rPr lang="en-US" sz="2400" dirty="0">
                <a:solidFill>
                  <a:srgbClr val="2A3340"/>
                </a:solidFill>
                <a:latin typeface="Arial" pitchFamily="34" charset="0"/>
                <a:ea typeface="Arial" pitchFamily="34" charset="-122"/>
                <a:cs typeface="Arial" pitchFamily="34" charset="-120"/>
              </a:rPr>
              <a:t>Your domain · your data · no platform · no lock-in. Owning the seam between AI builders and infrastructure — £20–100M strategic-exit window in 12–18 months.</a:t>
            </a:r>
            <a:endParaRPr lang="en-US" sz="2400" dirty="0"/>
          </a:p>
        </p:txBody>
      </p:sp>
      <p:sp>
        <p:nvSpPr>
          <p:cNvPr id="10" name="Shape 7"/>
          <p:cNvSpPr/>
          <p:nvPr/>
        </p:nvSpPr>
        <p:spPr>
          <a:xfrm>
            <a:off x="10072539" y="3635722"/>
            <a:ext cx="7300987" cy="3430860"/>
          </a:xfrm>
          <a:prstGeom prst="roundRect">
            <a:avLst>
              <a:gd name="adj" fmla="val 3887"/>
            </a:avLst>
          </a:prstGeom>
          <a:solidFill>
            <a:srgbClr val="161D2A"/>
          </a:solidFill>
          <a:ln w="14288">
            <a:solidFill>
              <a:srgbClr val="232C3D"/>
            </a:solidFill>
            <a:prstDash val="solid"/>
          </a:ln>
          <a:effectLst>
            <a:outerShdw sx="100000" sy="100000" kx="0" ky="0" algn="bl" rotWithShape="0" blurRad="57150" dist="19050" dir="5400000">
              <a:srgbClr val="000000">
                <a:alpha val="35000"/>
              </a:srgbClr>
            </a:outerShdw>
          </a:effectLst>
        </p:spPr>
      </p:sp>
      <p:sp>
        <p:nvSpPr>
          <p:cNvPr id="11" name="Shape 8"/>
          <p:cNvSpPr/>
          <p:nvPr/>
        </p:nvSpPr>
        <p:spPr>
          <a:xfrm>
            <a:off x="10353526" y="4178126"/>
            <a:ext cx="6739012" cy="9525"/>
          </a:xfrm>
          <a:prstGeom prst="rect">
            <a:avLst/>
          </a:prstGeom>
          <a:solidFill>
            <a:srgbClr val="F7FAFC">
              <a:alpha val="12000"/>
            </a:srgbClr>
          </a:solidFill>
          <a:ln/>
        </p:spPr>
      </p:sp>
      <p:sp>
        <p:nvSpPr>
          <p:cNvPr id="12" name="Text 9"/>
          <p:cNvSpPr/>
          <p:nvPr/>
        </p:nvSpPr>
        <p:spPr>
          <a:xfrm>
            <a:off x="10353526" y="3878610"/>
            <a:ext cx="1324570" cy="242367"/>
          </a:xfrm>
          <a:prstGeom prst="rect">
            <a:avLst/>
          </a:prstGeom>
          <a:noFill/>
          <a:ln/>
        </p:spPr>
        <p:txBody>
          <a:bodyPr wrap="square" lIns="25400" tIns="25400" rIns="25400" bIns="25400" rtlCol="0" anchor="t">
            <a:normAutofit/>
          </a:bodyPr>
          <a:lstStyle/>
          <a:p>
            <a:pPr algn="l" indent="0" marL="0">
              <a:lnSpc>
                <a:spcPct val="165000"/>
              </a:lnSpc>
              <a:buNone/>
            </a:pPr>
            <a:r>
              <a:rPr lang="en-US" sz="975" spc="117" kern="0" dirty="0">
                <a:solidFill>
                  <a:srgbClr val="F7FAFC">
                    <a:alpha val="45000"/>
                  </a:srgbClr>
                </a:solidFill>
                <a:latin typeface="Courier New" pitchFamily="34" charset="0"/>
                <a:ea typeface="Courier New" pitchFamily="34" charset="-122"/>
                <a:cs typeface="Courier New" pitchFamily="34" charset="-120"/>
              </a:rPr>
              <a:t>YOUR AI · CHAT</a:t>
            </a:r>
            <a:endParaRPr lang="en-US" sz="975" dirty="0"/>
          </a:p>
        </p:txBody>
      </p:sp>
      <p:sp>
        <p:nvSpPr>
          <p:cNvPr id="13" name="Text 10"/>
          <p:cNvSpPr/>
          <p:nvPr/>
        </p:nvSpPr>
        <p:spPr>
          <a:xfrm>
            <a:off x="16646649" y="3878610"/>
            <a:ext cx="522089" cy="242367"/>
          </a:xfrm>
          <a:prstGeom prst="rect">
            <a:avLst/>
          </a:prstGeom>
          <a:noFill/>
          <a:ln/>
        </p:spPr>
        <p:txBody>
          <a:bodyPr wrap="square" lIns="25400" tIns="25400" rIns="25400" bIns="25400" rtlCol="0" anchor="t">
            <a:normAutofit/>
          </a:bodyPr>
          <a:lstStyle/>
          <a:p>
            <a:pPr algn="l" indent="0" marL="0">
              <a:lnSpc>
                <a:spcPct val="165000"/>
              </a:lnSpc>
              <a:buNone/>
            </a:pPr>
            <a:r>
              <a:rPr lang="en-US" sz="975" spc="117" kern="0" dirty="0">
                <a:solidFill>
                  <a:srgbClr val="F7FAFC">
                    <a:alpha val="45000"/>
                  </a:srgbClr>
                </a:solidFill>
                <a:latin typeface="Courier New" pitchFamily="34" charset="0"/>
                <a:ea typeface="Courier New" pitchFamily="34" charset="-122"/>
                <a:cs typeface="Courier New" pitchFamily="34" charset="-120"/>
              </a:rPr>
              <a:t>● ● ●</a:t>
            </a:r>
            <a:endParaRPr lang="en-US" sz="975" dirty="0"/>
          </a:p>
        </p:txBody>
      </p:sp>
      <p:sp>
        <p:nvSpPr>
          <p:cNvPr id="14" name="Text 11"/>
          <p:cNvSpPr/>
          <p:nvPr/>
        </p:nvSpPr>
        <p:spPr>
          <a:xfrm>
            <a:off x="10353526" y="4301951"/>
            <a:ext cx="6941182" cy="273844"/>
          </a:xfrm>
          <a:prstGeom prst="rect">
            <a:avLst/>
          </a:prstGeom>
          <a:noFill/>
          <a:ln/>
        </p:spPr>
        <p:txBody>
          <a:bodyPr wrap="square" lIns="25400" tIns="25400" rIns="25400" bIns="25400" rtlCol="0" anchor="t">
            <a:normAutofit/>
          </a:bodyPr>
          <a:lstStyle/>
          <a:p>
            <a:pPr algn="l" indent="0" marL="0">
              <a:lnSpc>
                <a:spcPct val="165000"/>
              </a:lnSpc>
              <a:buNone/>
            </a:pPr>
            <a:r>
              <a:rPr lang="en-US" sz="1125" dirty="0">
                <a:solidFill>
                  <a:srgbClr val="F7FAFC">
                    <a:alpha val="40000"/>
                  </a:srgbClr>
                </a:solidFill>
                <a:latin typeface="Courier New" pitchFamily="34" charset="0"/>
                <a:ea typeface="Courier New" pitchFamily="34" charset="-122"/>
                <a:cs typeface="Courier New" pitchFamily="34" charset="-120"/>
              </a:rPr>
              <a:t>you › </a:t>
            </a:r>
            <a:pPr algn="l" indent="0" marL="0">
              <a:lnSpc>
                <a:spcPct val="165000"/>
              </a:lnSpc>
              <a:buNone/>
            </a:pPr>
            <a:r>
              <a:rPr lang="en-US" sz="1125" dirty="0">
                <a:solidFill>
                  <a:srgbClr val="F7FAFC">
                    <a:alpha val="78000"/>
                  </a:srgbClr>
                </a:solidFill>
                <a:latin typeface="Courier New" pitchFamily="34" charset="0"/>
                <a:ea typeface="Courier New" pitchFamily="34" charset="-122"/>
                <a:cs typeface="Courier New" pitchFamily="34" charset="-120"/>
              </a:rPr>
              <a:t>build me a meal prep app called PrepSheet</a:t>
            </a:r>
            <a:endParaRPr lang="en-US" sz="1125" dirty="0"/>
          </a:p>
        </p:txBody>
      </p:sp>
      <p:sp>
        <p:nvSpPr>
          <p:cNvPr id="15" name="Text 12"/>
          <p:cNvSpPr/>
          <p:nvPr/>
        </p:nvSpPr>
        <p:spPr>
          <a:xfrm>
            <a:off x="10353526" y="4671045"/>
            <a:ext cx="6941182" cy="509587"/>
          </a:xfrm>
          <a:prstGeom prst="rect">
            <a:avLst/>
          </a:prstGeom>
          <a:noFill/>
          <a:ln/>
        </p:spPr>
        <p:txBody>
          <a:bodyPr wrap="square" lIns="25400" tIns="25400" rIns="25400" bIns="25400" rtlCol="0" anchor="t">
            <a:normAutofit/>
          </a:bodyPr>
          <a:lstStyle/>
          <a:p>
            <a:pPr algn="l" indent="0" marL="0">
              <a:lnSpc>
                <a:spcPct val="165000"/>
              </a:lnSpc>
              <a:buNone/>
            </a:pPr>
            <a:r>
              <a:rPr lang="en-US" sz="1125" dirty="0">
                <a:solidFill>
                  <a:srgbClr val="C8C0F8"/>
                </a:solidFill>
                <a:latin typeface="Courier New" pitchFamily="34" charset="0"/>
                <a:ea typeface="Courier New" pitchFamily="34" charset="-122"/>
                <a:cs typeface="Courier New" pitchFamily="34" charset="-120"/>
              </a:rPr>
              <a:t>claude › </a:t>
            </a:r>
            <a:pPr algn="l" indent="0" marL="0">
              <a:lnSpc>
                <a:spcPct val="165000"/>
              </a:lnSpc>
              <a:buNone/>
            </a:pPr>
            <a:r>
              <a:rPr lang="en-US" sz="1125" dirty="0">
                <a:solidFill>
                  <a:srgbClr val="F7FAFC">
                    <a:alpha val="78000"/>
                  </a:srgbClr>
                </a:solidFill>
                <a:latin typeface="Courier New" pitchFamily="34" charset="0"/>
                <a:ea typeface="Courier New" pitchFamily="34" charset="-122"/>
                <a:cs typeface="Courier New" pitchFamily="34" charset="-120"/>
              </a:rPr>
              <a:t>I'll set up a free Sandbox so we can start building straight away. OK?</a:t>
            </a:r>
            <a:endParaRPr lang="en-US" sz="1125" dirty="0"/>
          </a:p>
        </p:txBody>
      </p:sp>
      <p:sp>
        <p:nvSpPr>
          <p:cNvPr id="16" name="Text 13"/>
          <p:cNvSpPr/>
          <p:nvPr/>
        </p:nvSpPr>
        <p:spPr>
          <a:xfrm>
            <a:off x="10353526" y="5218733"/>
            <a:ext cx="6941182" cy="273844"/>
          </a:xfrm>
          <a:prstGeom prst="rect">
            <a:avLst/>
          </a:prstGeom>
          <a:noFill/>
          <a:ln/>
        </p:spPr>
        <p:txBody>
          <a:bodyPr wrap="square" lIns="25400" tIns="25400" rIns="25400" bIns="25400" rtlCol="0" anchor="t">
            <a:normAutofit/>
          </a:bodyPr>
          <a:lstStyle/>
          <a:p>
            <a:pPr algn="l" indent="0" marL="0">
              <a:lnSpc>
                <a:spcPct val="165000"/>
              </a:lnSpc>
              <a:buNone/>
            </a:pPr>
            <a:r>
              <a:rPr lang="en-US" sz="1125" dirty="0">
                <a:solidFill>
                  <a:srgbClr val="F7FAFC">
                    <a:alpha val="40000"/>
                  </a:srgbClr>
                </a:solidFill>
                <a:latin typeface="Courier New" pitchFamily="34" charset="0"/>
                <a:ea typeface="Courier New" pitchFamily="34" charset="-122"/>
                <a:cs typeface="Courier New" pitchFamily="34" charset="-120"/>
              </a:rPr>
              <a:t>you › </a:t>
            </a:r>
            <a:pPr algn="l" indent="0" marL="0">
              <a:lnSpc>
                <a:spcPct val="165000"/>
              </a:lnSpc>
              <a:buNone/>
            </a:pPr>
            <a:r>
              <a:rPr lang="en-US" sz="1125" dirty="0">
                <a:solidFill>
                  <a:srgbClr val="F7FAFC">
                    <a:alpha val="78000"/>
                  </a:srgbClr>
                </a:solidFill>
                <a:latin typeface="Courier New" pitchFamily="34" charset="0"/>
                <a:ea typeface="Courier New" pitchFamily="34" charset="-122"/>
                <a:cs typeface="Courier New" pitchFamily="34" charset="-120"/>
              </a:rPr>
              <a:t>yes please</a:t>
            </a:r>
            <a:endParaRPr lang="en-US" sz="1125" dirty="0"/>
          </a:p>
        </p:txBody>
      </p:sp>
      <p:sp>
        <p:nvSpPr>
          <p:cNvPr id="17" name="Text 14"/>
          <p:cNvSpPr/>
          <p:nvPr/>
        </p:nvSpPr>
        <p:spPr>
          <a:xfrm>
            <a:off x="10353526" y="5587826"/>
            <a:ext cx="6941182" cy="273844"/>
          </a:xfrm>
          <a:prstGeom prst="rect">
            <a:avLst/>
          </a:prstGeom>
          <a:noFill/>
          <a:ln/>
        </p:spPr>
        <p:txBody>
          <a:bodyPr wrap="square" lIns="25400" tIns="25400" rIns="25400" bIns="25400" rtlCol="0" anchor="t">
            <a:normAutofit/>
          </a:bodyPr>
          <a:lstStyle/>
          <a:p>
            <a:pPr algn="l" indent="0" marL="0">
              <a:lnSpc>
                <a:spcPct val="165000"/>
              </a:lnSpc>
              <a:buNone/>
            </a:pPr>
            <a:r>
              <a:rPr lang="en-US" sz="1125" dirty="0">
                <a:solidFill>
                  <a:srgbClr val="C8C0F8"/>
                </a:solidFill>
                <a:latin typeface="Courier New" pitchFamily="34" charset="0"/>
                <a:ea typeface="Courier New" pitchFamily="34" charset="-122"/>
                <a:cs typeface="Courier New" pitchFamily="34" charset="-120"/>
              </a:rPr>
              <a:t>claude ›</a:t>
            </a:r>
            <a:endParaRPr lang="en-US" sz="1125" dirty="0"/>
          </a:p>
        </p:txBody>
      </p:sp>
      <p:sp>
        <p:nvSpPr>
          <p:cNvPr id="18" name="Text 15"/>
          <p:cNvSpPr/>
          <p:nvPr/>
        </p:nvSpPr>
        <p:spPr>
          <a:xfrm>
            <a:off x="10620226" y="5823570"/>
            <a:ext cx="6666481" cy="273844"/>
          </a:xfrm>
          <a:prstGeom prst="rect">
            <a:avLst/>
          </a:prstGeom>
          <a:noFill/>
          <a:ln/>
        </p:spPr>
        <p:txBody>
          <a:bodyPr wrap="square" lIns="25400" tIns="25400" rIns="25400" bIns="25400" rtlCol="0" anchor="t">
            <a:normAutofit/>
          </a:bodyPr>
          <a:lstStyle/>
          <a:p>
            <a:pPr algn="l" indent="0" marL="0">
              <a:lnSpc>
                <a:spcPct val="165000"/>
              </a:lnSpc>
              <a:buNone/>
            </a:pPr>
            <a:r>
              <a:rPr lang="en-US" sz="1125" dirty="0">
                <a:solidFill>
                  <a:srgbClr val="34D399"/>
                </a:solidFill>
                <a:latin typeface="Courier New" pitchFamily="34" charset="0"/>
                <a:ea typeface="Courier New" pitchFamily="34" charset="-122"/>
                <a:cs typeface="Courier New" pitchFamily="34" charset="-120"/>
              </a:rPr>
              <a:t>✓ live at prepsheet.hatchik.com</a:t>
            </a:r>
            <a:endParaRPr lang="en-US" sz="1125" dirty="0"/>
          </a:p>
        </p:txBody>
      </p:sp>
      <p:sp>
        <p:nvSpPr>
          <p:cNvPr id="19" name="Text 16"/>
          <p:cNvSpPr/>
          <p:nvPr/>
        </p:nvSpPr>
        <p:spPr>
          <a:xfrm>
            <a:off x="10620226" y="6059314"/>
            <a:ext cx="6666481" cy="273844"/>
          </a:xfrm>
          <a:prstGeom prst="rect">
            <a:avLst/>
          </a:prstGeom>
          <a:noFill/>
          <a:ln/>
        </p:spPr>
        <p:txBody>
          <a:bodyPr wrap="square" lIns="25400" tIns="25400" rIns="25400" bIns="25400" rtlCol="0" anchor="t">
            <a:normAutofit/>
          </a:bodyPr>
          <a:lstStyle/>
          <a:p>
            <a:pPr algn="l" indent="0" marL="0">
              <a:lnSpc>
                <a:spcPct val="165000"/>
              </a:lnSpc>
              <a:buNone/>
            </a:pPr>
            <a:r>
              <a:rPr lang="en-US" sz="1125" dirty="0">
                <a:solidFill>
                  <a:srgbClr val="34D399"/>
                </a:solidFill>
                <a:latin typeface="Courier New" pitchFamily="34" charset="0"/>
                <a:ea typeface="Courier New" pitchFamily="34" charset="-122"/>
                <a:cs typeface="Courier New" pitchFamily="34" charset="-120"/>
              </a:rPr>
              <a:t>✓ repo cloned</a:t>
            </a:r>
            <a:endParaRPr lang="en-US" sz="1125" dirty="0"/>
          </a:p>
        </p:txBody>
      </p:sp>
      <p:sp>
        <p:nvSpPr>
          <p:cNvPr id="20" name="Text 17"/>
          <p:cNvSpPr/>
          <p:nvPr/>
        </p:nvSpPr>
        <p:spPr>
          <a:xfrm>
            <a:off x="10620226" y="6295058"/>
            <a:ext cx="6666481" cy="273844"/>
          </a:xfrm>
          <a:prstGeom prst="rect">
            <a:avLst/>
          </a:prstGeom>
          <a:noFill/>
          <a:ln/>
        </p:spPr>
        <p:txBody>
          <a:bodyPr wrap="square" lIns="25400" tIns="25400" rIns="25400" bIns="25400" rtlCol="0" anchor="t">
            <a:normAutofit/>
          </a:bodyPr>
          <a:lstStyle/>
          <a:p>
            <a:pPr algn="l" indent="0" marL="0">
              <a:lnSpc>
                <a:spcPct val="165000"/>
              </a:lnSpc>
              <a:buNone/>
            </a:pPr>
            <a:r>
              <a:rPr lang="en-US" sz="1125" dirty="0">
                <a:solidFill>
                  <a:srgbClr val="34D399"/>
                </a:solidFill>
                <a:latin typeface="Courier New" pitchFamily="34" charset="0"/>
                <a:ea typeface="Courier New" pitchFamily="34" charset="-122"/>
                <a:cs typeface="Courier New" pitchFamily="34" charset="-120"/>
              </a:rPr>
              <a:t>✓ 23 starter tasks ready</a:t>
            </a:r>
            <a:endParaRPr lang="en-US" sz="1125" dirty="0"/>
          </a:p>
        </p:txBody>
      </p:sp>
      <p:sp>
        <p:nvSpPr>
          <p:cNvPr id="21" name="Text 18"/>
          <p:cNvSpPr/>
          <p:nvPr/>
        </p:nvSpPr>
        <p:spPr>
          <a:xfrm>
            <a:off x="10620226" y="6587951"/>
            <a:ext cx="6666481" cy="273844"/>
          </a:xfrm>
          <a:prstGeom prst="rect">
            <a:avLst/>
          </a:prstGeom>
          <a:noFill/>
          <a:ln/>
        </p:spPr>
        <p:txBody>
          <a:bodyPr wrap="square" lIns="25400" tIns="25400" rIns="25400" bIns="25400" rtlCol="0" anchor="t">
            <a:normAutofit/>
          </a:bodyPr>
          <a:lstStyle/>
          <a:p>
            <a:pPr algn="l" indent="0" marL="0">
              <a:lnSpc>
                <a:spcPct val="165000"/>
              </a:lnSpc>
              <a:buNone/>
            </a:pPr>
            <a:r>
              <a:rPr lang="en-US" sz="1125" dirty="0">
                <a:solidFill>
                  <a:srgbClr val="F7FAFC">
                    <a:alpha val="78000"/>
                  </a:srgbClr>
                </a:solidFill>
                <a:latin typeface="Courier New" pitchFamily="34" charset="0"/>
                <a:ea typeface="Courier New" pitchFamily="34" charset="-122"/>
                <a:cs typeface="Courier New" pitchFamily="34" charset="-120"/>
              </a:rPr>
              <a:t>what shall we build first?</a:t>
            </a:r>
            <a:endParaRPr lang="en-US" sz="1125" dirty="0"/>
          </a:p>
        </p:txBody>
      </p:sp>
      <p:sp>
        <p:nvSpPr>
          <p:cNvPr id="22" name="Shape 19"/>
          <p:cNvSpPr/>
          <p:nvPr/>
        </p:nvSpPr>
        <p:spPr>
          <a:xfrm>
            <a:off x="914400" y="8987879"/>
            <a:ext cx="16459200" cy="9525"/>
          </a:xfrm>
          <a:prstGeom prst="rect">
            <a:avLst/>
          </a:prstGeom>
          <a:solidFill>
            <a:srgbClr val="DDE5EC"/>
          </a:solidFill>
          <a:ln/>
        </p:spPr>
      </p:sp>
      <p:sp>
        <p:nvSpPr>
          <p:cNvPr id="23" name="Text 20"/>
          <p:cNvSpPr/>
          <p:nvPr/>
        </p:nvSpPr>
        <p:spPr>
          <a:xfrm>
            <a:off x="914400" y="9302204"/>
            <a:ext cx="3544210" cy="413296"/>
          </a:xfrm>
          <a:prstGeom prst="rect">
            <a:avLst/>
          </a:prstGeom>
          <a:noFill/>
          <a:ln/>
        </p:spPr>
        <p:txBody>
          <a:bodyPr wrap="square" lIns="25400" tIns="25400" rIns="25400" bIns="25400" rtlCol="0" anchor="t">
            <a:normAutofit/>
          </a:bodyPr>
          <a:lstStyle/>
          <a:p>
            <a:pPr algn="l" indent="0" marL="0">
              <a:lnSpc>
                <a:spcPct val="160000"/>
              </a:lnSpc>
              <a:buNone/>
            </a:pPr>
            <a:r>
              <a:rPr lang="en-US" sz="900" spc="90" kern="0" dirty="0">
                <a:solidFill>
                  <a:srgbClr val="0F1419"/>
                </a:solidFill>
                <a:latin typeface="Courier New" pitchFamily="34" charset="0"/>
                <a:ea typeface="Courier New" pitchFamily="34" charset="-122"/>
                <a:cs typeface="Courier New" pitchFamily="34" charset="-120"/>
              </a:rPr>
              <a:t>FARHAN IRSHAD </a:t>
            </a:r>
            <a:pPr algn="l" indent="0" marL="0">
              <a:lnSpc>
                <a:spcPct val="160000"/>
              </a:lnSpc>
              <a:buNone/>
            </a:pPr>
            <a:r>
              <a:rPr lang="en-US" sz="900" spc="90" kern="0" dirty="0">
                <a:solidFill>
                  <a:srgbClr val="6E7785"/>
                </a:solidFill>
                <a:latin typeface="Courier New" pitchFamily="34" charset="0"/>
                <a:ea typeface="Courier New" pitchFamily="34" charset="-122"/>
                <a:cs typeface="Courier New" pitchFamily="34" charset="-120"/>
              </a:rPr>
              <a:t>· FOUNDER OPERATING ENTITY · OMANI-REGISTERED COMPANY</a:t>
            </a:r>
            <a:endParaRPr lang="en-US" sz="900" dirty="0"/>
          </a:p>
        </p:txBody>
      </p:sp>
      <p:sp>
        <p:nvSpPr>
          <p:cNvPr id="24" name="Text 21"/>
          <p:cNvSpPr/>
          <p:nvPr/>
        </p:nvSpPr>
        <p:spPr>
          <a:xfrm>
            <a:off x="15937037" y="9302204"/>
            <a:ext cx="1436563" cy="413296"/>
          </a:xfrm>
          <a:prstGeom prst="rect">
            <a:avLst/>
          </a:prstGeom>
          <a:noFill/>
          <a:ln/>
        </p:spPr>
        <p:txBody>
          <a:bodyPr wrap="square" lIns="25400" tIns="25400" rIns="25400" bIns="25400" rtlCol="0" anchor="t">
            <a:normAutofit/>
          </a:bodyPr>
          <a:lstStyle/>
          <a:p>
            <a:pPr algn="r" indent="0" marL="0">
              <a:lnSpc>
                <a:spcPct val="160000"/>
              </a:lnSpc>
              <a:buNone/>
            </a:pPr>
            <a:r>
              <a:rPr lang="en-US" sz="900" spc="90" kern="0" dirty="0">
                <a:solidFill>
                  <a:srgbClr val="0F1419"/>
                </a:solidFill>
                <a:latin typeface="Courier New" pitchFamily="34" charset="0"/>
                <a:ea typeface="Courier New" pitchFamily="34" charset="-122"/>
                <a:cs typeface="Courier New" pitchFamily="34" charset="-120"/>
              </a:rPr>
              <a:t>HATCHIK.COM </a:t>
            </a:r>
            <a:pPr algn="r" indent="0" marL="0">
              <a:lnSpc>
                <a:spcPct val="160000"/>
              </a:lnSpc>
              <a:buNone/>
            </a:pPr>
            <a:r>
              <a:rPr lang="en-US" sz="900" spc="90" kern="0" dirty="0">
                <a:solidFill>
                  <a:srgbClr val="6E7785"/>
                </a:solidFill>
                <a:latin typeface="Courier New" pitchFamily="34" charset="0"/>
                <a:ea typeface="Courier New" pitchFamily="34" charset="-122"/>
                <a:cs typeface="Courier New" pitchFamily="34" charset="-120"/>
              </a:rPr>
              <a:t>HELLO@HATCHIK.COM</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5B47F0">
              <a:alpha val="4000"/>
            </a:srgbClr>
          </a:solidFill>
          <a:ln/>
        </p:spPr>
        <p:txBody>
          <a:bodyPr/>
          <a:p/>
        </p:txBody>
      </p:sp>
      <p:sp>
        <p:nvSpPr>
          <p:cNvPr id="3" name="Shape 1"/>
          <p:cNvSpPr/>
          <p:nvPr/>
        </p:nvSpPr>
        <p:spPr>
          <a:xfrm>
            <a:off x="914400" y="1009650"/>
            <a:ext cx="16459200" cy="9525"/>
          </a:xfrm>
          <a:prstGeom prst="rect">
            <a:avLst/>
          </a:prstGeom>
          <a:solidFill>
            <a:srgbClr val="DDE5EC"/>
          </a:solidFill>
          <a:ln/>
        </p:spPr>
        <p:txBody>
          <a:bodyPr/>
          <a:p/>
        </p:txBody>
      </p:sp>
      <p:pic>
        <p:nvPicPr>
          <p:cNvPr id="4" name="Image 0" descr="preencoded.png">    </p:cNvPr>
          <p:cNvPicPr>
            <a:picLocks noChangeAspect="1"/>
          </p:cNvPicPr>
          <p:nvPr/>
        </p:nvPicPr>
        <p:blipFill>
          <a:blip r:embed="rId1"/>
          <a:stretch>
            <a:fillRect/>
          </a:stretch>
        </p:blipFill>
        <p:spPr>
          <a:xfrm>
            <a:off x="914400" y="571500"/>
            <a:ext cx="209550" cy="209550"/>
          </a:xfrm>
          <a:prstGeom prst="rect">
            <a:avLst/>
          </a:prstGeom>
        </p:spPr>
      </p:pic>
      <p:sp>
        <p:nvSpPr>
          <p:cNvPr id="5" name="Text 2"/>
          <p:cNvSpPr/>
          <p:nvPr/>
        </p:nvSpPr>
        <p:spPr>
          <a:xfrm>
            <a:off x="1219200" y="533400"/>
            <a:ext cx="745108"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spc="-37" kern="0" dirty="0">
                <a:solidFill>
                  <a:srgbClr val="0F1419"/>
                </a:solidFill>
                <a:latin typeface="Arial" pitchFamily="34" charset="0"/>
                <a:ea typeface="Arial" pitchFamily="34" charset="-122"/>
                <a:cs typeface="Arial" pitchFamily="34" charset="-120"/>
              </a:rPr>
              <a:t>hatchik</a:t>
            </a:r>
            <a:endParaRPr lang="en-US" sz="1500" dirty="0"/>
          </a:p>
        </p:txBody>
      </p:sp>
      <p:sp>
        <p:nvSpPr>
          <p:cNvPr id="6" name="Text 3"/>
          <p:cNvSpPr/>
          <p:nvPr/>
        </p:nvSpPr>
        <p:spPr>
          <a:xfrm>
            <a:off x="15765512" y="562421"/>
            <a:ext cx="1684288" cy="265733"/>
          </a:xfrm>
          <a:prstGeom prst="rect">
            <a:avLst/>
          </a:prstGeom>
          <a:noFill/>
          <a:ln/>
        </p:spPr>
        <p:txBody>
          <a:bodyPr wrap="square" lIns="25400" tIns="25400" rIns="25400" bIns="25400" rtlCol="0" anchor="t">
            <a:normAutofit/>
          </a:bodyPr>
          <a:lstStyle/>
          <a:p>
            <a:pPr algn="l" indent="0" marL="0">
              <a:lnSpc>
                <a:spcPct val="140000"/>
              </a:lnSpc>
              <a:buNone/>
            </a:pPr>
            <a:r>
              <a:rPr lang="en-US" sz="1200" spc="120" kern="0" dirty="0">
                <a:solidFill>
                  <a:srgbClr val="0F1419"/>
                </a:solidFill>
                <a:latin typeface="Courier New" pitchFamily="34" charset="0"/>
                <a:ea typeface="Courier New" pitchFamily="34" charset="-122"/>
                <a:cs typeface="Courier New" pitchFamily="34" charset="-120"/>
              </a:rPr>
              <a:t>02 </a:t>
            </a:r>
            <a:pPr algn="l" indent="0" marL="0">
              <a:lnSpc>
                <a:spcPct val="140000"/>
              </a:lnSpc>
              <a:buNone/>
            </a:pPr>
            <a:r>
              <a:rPr lang="en-US" sz="1200" spc="120" kern="0" dirty="0">
                <a:solidFill>
                  <a:srgbClr val="5B47F0"/>
                </a:solidFill>
                <a:latin typeface="Courier New" pitchFamily="34" charset="0"/>
                <a:ea typeface="Courier New" pitchFamily="34" charset="-122"/>
                <a:cs typeface="Courier New" pitchFamily="34" charset="-120"/>
              </a:rPr>
              <a:t>· </a:t>
            </a:r>
            <a:pPr algn="l" indent="0" marL="0">
              <a:lnSpc>
                <a:spcPct val="140000"/>
              </a:lnSpc>
              <a:buNone/>
            </a:pPr>
            <a:r>
              <a:rPr lang="en-US" sz="1200" spc="120" kern="0" dirty="0">
                <a:solidFill>
                  <a:srgbClr val="6E7785"/>
                </a:solidFill>
                <a:latin typeface="Courier New" pitchFamily="34" charset="0"/>
                <a:ea typeface="Courier New" pitchFamily="34" charset="-122"/>
                <a:cs typeface="Courier New" pitchFamily="34" charset="-120"/>
              </a:rPr>
              <a:t>THE PROBLEM</a:t>
            </a:r>
            <a:endParaRPr lang="en-US" sz="1200" dirty="0"/>
          </a:p>
        </p:txBody>
      </p:sp>
      <p:sp>
        <p:nvSpPr>
          <p:cNvPr id="7" name="Text 4"/>
          <p:cNvSpPr/>
          <p:nvPr/>
        </p:nvSpPr>
        <p:spPr>
          <a:xfrm>
            <a:off x="914400" y="1438275"/>
            <a:ext cx="15893415" cy="723900"/>
          </a:xfrm>
          <a:prstGeom prst="rect">
            <a:avLst/>
          </a:prstGeom>
          <a:noFill/>
          <a:ln/>
        </p:spPr>
        <p:txBody>
          <a:bodyPr wrap="square" lIns="25400" tIns="25400" rIns="25400" bIns="25400" rtlCol="0" anchor="t">
            <a:normAutofit/>
          </a:bodyPr>
          <a:lstStyle/>
          <a:p>
            <a:pPr algn="l" indent="0" marL="0">
              <a:lnSpc>
                <a:spcPct val="100000"/>
              </a:lnSpc>
              <a:buNone/>
            </a:pPr>
            <a:r>
              <a:rPr lang="en-US" sz="5400" b="1" spc="-216" kern="0" dirty="0">
                <a:solidFill>
                  <a:srgbClr val="0F1419"/>
                </a:solidFill>
                <a:latin typeface="Arial" pitchFamily="34" charset="0"/>
                <a:ea typeface="Arial" pitchFamily="34" charset="-122"/>
                <a:cs typeface="Arial" pitchFamily="34" charset="-120"/>
              </a:rPr>
              <a:t>AI builds the prototype. </a:t>
            </a:r>
            <a:pPr algn="l" indent="0" marL="0">
              <a:lnSpc>
                <a:spcPct val="100000"/>
              </a:lnSpc>
              <a:buNone/>
            </a:pPr>
            <a:r>
              <a:rPr lang="en-US" sz="5400" b="1" spc="-216" kern="0" dirty="0">
                <a:solidFill>
                  <a:srgbClr val="5B47F0"/>
                </a:solidFill>
                <a:latin typeface="Arial" pitchFamily="34" charset="0"/>
                <a:ea typeface="Arial" pitchFamily="34" charset="-122"/>
                <a:cs typeface="Arial" pitchFamily="34" charset="-120"/>
              </a:rPr>
              <a:t>Then they hit a wall.</a:t>
            </a:r>
            <a:endParaRPr lang="en-US" sz="5400" dirty="0"/>
          </a:p>
        </p:txBody>
      </p:sp>
      <p:sp>
        <p:nvSpPr>
          <p:cNvPr id="8" name="Text 5"/>
          <p:cNvSpPr/>
          <p:nvPr/>
        </p:nvSpPr>
        <p:spPr>
          <a:xfrm>
            <a:off x="914400" y="2390775"/>
            <a:ext cx="12950190" cy="1115244"/>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2A3340"/>
                </a:solidFill>
                <a:latin typeface="Arial" pitchFamily="34" charset="0"/>
                <a:ea typeface="Arial" pitchFamily="34" charset="-122"/>
                <a:cs typeface="Arial" pitchFamily="34" charset="-120"/>
              </a:rPr>
              <a:t>Non-technical founders ship working-looking prototypes with AI tools. Then they get stuck on the infrastructure step — auth, payments, mailboxes, mobile, a real database — and the project quietly dies between "looks working" and "real business".</a:t>
            </a:r>
            <a:endParaRPr lang="en-US" sz="1950" dirty="0"/>
          </a:p>
        </p:txBody>
      </p:sp>
      <p:sp>
        <p:nvSpPr>
          <p:cNvPr id="9" name="Shape 6"/>
          <p:cNvSpPr/>
          <p:nvPr/>
        </p:nvSpPr>
        <p:spPr>
          <a:xfrm>
            <a:off x="914400" y="4001319"/>
            <a:ext cx="5359375" cy="3946103"/>
          </a:xfrm>
          <a:prstGeom prst="roundRect">
            <a:avLst>
              <a:gd name="adj" fmla="val 3862"/>
            </a:avLst>
          </a:prstGeom>
          <a:solidFill>
            <a:srgbClr val="FFFFFF"/>
          </a:solidFill>
          <a:ln w="14288">
            <a:solidFill>
              <a:srgbClr val="DDE5EC"/>
            </a:solidFill>
            <a:prstDash val="solid"/>
          </a:ln>
          <a:effectLst>
            <a:outerShdw sx="100000" sy="100000" kx="0" ky="0" algn="bl" rotWithShape="0" blurRad="38100" dist="19050" dir="5400000">
              <a:srgbClr val="0F1419">
                <a:alpha val="4000"/>
              </a:srgbClr>
            </a:outerShdw>
          </a:effectLst>
        </p:spPr>
        <p:txBody>
          <a:bodyPr/>
          <a:p/>
        </p:txBody>
      </p:sp>
      <p:sp>
        <p:nvSpPr>
          <p:cNvPr id="10" name="Text 7"/>
          <p:cNvSpPr/>
          <p:nvPr/>
        </p:nvSpPr>
        <p:spPr>
          <a:xfrm>
            <a:off x="1195388" y="4282306"/>
            <a:ext cx="4941322"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113" kern="0" dirty="0">
                <a:solidFill>
                  <a:srgbClr val="6E7785"/>
                </a:solidFill>
                <a:latin typeface="Courier New" pitchFamily="34" charset="0"/>
                <a:ea typeface="Courier New" pitchFamily="34" charset="-122"/>
                <a:cs typeface="Courier New" pitchFamily="34" charset="-120"/>
              </a:rPr>
              <a:t>PERSONAL TRAINER</a:t>
            </a:r>
            <a:endParaRPr lang="en-US" sz="1125" dirty="0"/>
          </a:p>
        </p:txBody>
      </p:sp>
      <p:sp>
        <p:nvSpPr>
          <p:cNvPr id="11" name="Text 8"/>
          <p:cNvSpPr/>
          <p:nvPr/>
        </p:nvSpPr>
        <p:spPr>
          <a:xfrm>
            <a:off x="1195388" y="4629969"/>
            <a:ext cx="4941322" cy="344760"/>
          </a:xfrm>
          <a:prstGeom prst="rect">
            <a:avLst/>
          </a:prstGeom>
          <a:noFill/>
          <a:ln/>
        </p:spPr>
        <p:txBody>
          <a:bodyPr wrap="square" lIns="25400" tIns="25400" rIns="25400" bIns="25400" rtlCol="0" anchor="t">
            <a:normAutofit/>
          </a:bodyPr>
          <a:lstStyle/>
          <a:p>
            <a:pPr algn="l" indent="0" marL="0">
              <a:lnSpc>
                <a:spcPct val="115000"/>
              </a:lnSpc>
              <a:buNone/>
            </a:pPr>
            <a:r>
              <a:rPr lang="en-US" sz="2100" b="1" spc="-42" kern="0" dirty="0">
                <a:solidFill>
                  <a:srgbClr val="0F1419"/>
                </a:solidFill>
                <a:latin typeface="Arial" pitchFamily="34" charset="0"/>
                <a:ea typeface="Arial" pitchFamily="34" charset="-122"/>
                <a:cs typeface="Arial" pitchFamily="34" charset="-120"/>
              </a:rPr>
              <a:t>A meal-prep app for clients.</a:t>
            </a:r>
            <a:endParaRPr lang="en-US" sz="2100" dirty="0"/>
          </a:p>
        </p:txBody>
      </p:sp>
      <p:sp>
        <p:nvSpPr>
          <p:cNvPr id="12" name="Shape 9"/>
          <p:cNvSpPr/>
          <p:nvPr/>
        </p:nvSpPr>
        <p:spPr>
          <a:xfrm>
            <a:off x="1195388" y="5069979"/>
            <a:ext cx="4797400" cy="1804988"/>
          </a:xfrm>
          <a:prstGeom prst="roundRect">
            <a:avLst>
              <a:gd name="adj" fmla="val 5277"/>
            </a:avLst>
          </a:prstGeom>
          <a:solidFill>
            <a:srgbClr val="F7FAFC"/>
          </a:solidFill>
          <a:ln w="9525">
            <a:solidFill>
              <a:srgbClr val="DDE5EC"/>
            </a:solidFill>
            <a:prstDash val="solid"/>
          </a:ln>
        </p:spPr>
        <p:txBody>
          <a:bodyPr/>
          <a:p/>
        </p:txBody>
      </p:sp>
      <p:sp>
        <p:nvSpPr>
          <p:cNvPr id="13" name="Shape 10"/>
          <p:cNvSpPr/>
          <p:nvPr/>
        </p:nvSpPr>
        <p:spPr>
          <a:xfrm>
            <a:off x="1204913" y="5079504"/>
            <a:ext cx="4778350" cy="319088"/>
          </a:xfrm>
          <a:prstGeom prst="rect">
            <a:avLst/>
          </a:prstGeom>
          <a:solidFill>
            <a:srgbClr val="EEF2F7"/>
          </a:solidFill>
          <a:ln/>
        </p:spPr>
        <p:txBody>
          <a:bodyPr/>
          <a:p/>
        </p:txBody>
      </p:sp>
      <p:sp>
        <p:nvSpPr>
          <p:cNvPr id="14" name="Shape 11"/>
          <p:cNvSpPr/>
          <p:nvPr/>
        </p:nvSpPr>
        <p:spPr>
          <a:xfrm>
            <a:off x="1204913" y="5389066"/>
            <a:ext cx="4778350" cy="9525"/>
          </a:xfrm>
          <a:prstGeom prst="rect">
            <a:avLst/>
          </a:prstGeom>
          <a:solidFill>
            <a:srgbClr val="DDE5EC"/>
          </a:solidFill>
          <a:ln/>
        </p:spPr>
        <p:txBody>
          <a:bodyPr/>
          <a:p/>
        </p:txBody>
      </p:sp>
      <p:sp>
        <p:nvSpPr>
          <p:cNvPr id="15" name="Shape 12"/>
          <p:cNvSpPr/>
          <p:nvPr/>
        </p:nvSpPr>
        <p:spPr>
          <a:xfrm>
            <a:off x="1338263" y="5196185"/>
            <a:ext cx="76200" cy="76200"/>
          </a:xfrm>
          <a:prstGeom prst="ellipse">
            <a:avLst/>
          </a:prstGeom>
          <a:solidFill>
            <a:srgbClr val="C5D0DC"/>
          </a:solidFill>
          <a:ln/>
        </p:spPr>
        <p:txBody>
          <a:bodyPr/>
          <a:p/>
        </p:txBody>
      </p:sp>
      <p:sp>
        <p:nvSpPr>
          <p:cNvPr id="16" name="Shape 13"/>
          <p:cNvSpPr/>
          <p:nvPr/>
        </p:nvSpPr>
        <p:spPr>
          <a:xfrm>
            <a:off x="1452563" y="5196185"/>
            <a:ext cx="76200" cy="76200"/>
          </a:xfrm>
          <a:prstGeom prst="ellipse">
            <a:avLst/>
          </a:prstGeom>
          <a:solidFill>
            <a:srgbClr val="C5D0DC"/>
          </a:solidFill>
          <a:ln/>
        </p:spPr>
        <p:txBody>
          <a:bodyPr/>
          <a:p/>
        </p:txBody>
      </p:sp>
      <p:sp>
        <p:nvSpPr>
          <p:cNvPr id="17" name="Shape 14"/>
          <p:cNvSpPr/>
          <p:nvPr/>
        </p:nvSpPr>
        <p:spPr>
          <a:xfrm>
            <a:off x="1566863" y="5196185"/>
            <a:ext cx="76200" cy="76200"/>
          </a:xfrm>
          <a:prstGeom prst="ellipse">
            <a:avLst/>
          </a:prstGeom>
          <a:solidFill>
            <a:srgbClr val="C5D0DC"/>
          </a:solidFill>
          <a:ln/>
        </p:spPr>
        <p:txBody>
          <a:bodyPr/>
          <a:p/>
        </p:txBody>
      </p:sp>
      <p:sp>
        <p:nvSpPr>
          <p:cNvPr id="18" name="Text 15"/>
          <p:cNvSpPr/>
          <p:nvPr/>
        </p:nvSpPr>
        <p:spPr>
          <a:xfrm>
            <a:off x="1719263" y="5174754"/>
            <a:ext cx="1506662" cy="157163"/>
          </a:xfrm>
          <a:prstGeom prst="rect">
            <a:avLst/>
          </a:prstGeom>
          <a:noFill/>
          <a:ln/>
        </p:spPr>
        <p:txBody>
          <a:bodyPr wrap="square" lIns="0" tIns="0" rIns="0" bIns="0" rtlCol="0" anchor="t">
            <a:normAutofit/>
          </a:bodyPr>
          <a:lstStyle/>
          <a:p>
            <a:pPr algn="l" indent="0" marL="0">
              <a:lnSpc>
                <a:spcPct val="150000"/>
              </a:lnSpc>
              <a:buNone/>
            </a:pPr>
            <a:r>
              <a:rPr lang="en-US" sz="825" spc="41" kern="0" dirty="0">
                <a:solidFill>
                  <a:srgbClr val="6E7785"/>
                </a:solidFill>
                <a:latin typeface="Courier New" pitchFamily="34" charset="0"/>
                <a:ea typeface="Courier New" pitchFamily="34" charset="-122"/>
                <a:cs typeface="Courier New" pitchFamily="34" charset="-120"/>
              </a:rPr>
              <a:t>prepsheet · prototype</a:t>
            </a:r>
            <a:endParaRPr lang="en-US" sz="825" dirty="0"/>
          </a:p>
        </p:txBody>
      </p:sp>
      <p:sp>
        <p:nvSpPr>
          <p:cNvPr id="19" name="Shape 16"/>
          <p:cNvSpPr/>
          <p:nvPr/>
        </p:nvSpPr>
        <p:spPr>
          <a:xfrm>
            <a:off x="1204913" y="5398591"/>
            <a:ext cx="4778350" cy="1466850"/>
          </a:xfrm>
          <a:prstGeom prst="rect">
            <a:avLst/>
          </a:prstGeom>
          <a:solidFill>
            <a:srgbClr val="E1E8F0"/>
          </a:solidFill>
          <a:ln/>
        </p:spPr>
        <p:txBody>
          <a:bodyPr/>
          <a:p/>
        </p:txBody>
      </p:sp>
      <p:sp>
        <p:nvSpPr>
          <p:cNvPr id="20" name="Shape 17"/>
          <p:cNvSpPr/>
          <p:nvPr/>
        </p:nvSpPr>
        <p:spPr>
          <a:xfrm>
            <a:off x="1338263" y="5531941"/>
            <a:ext cx="360090" cy="252413"/>
          </a:xfrm>
          <a:prstGeom prst="roundRect">
            <a:avLst>
              <a:gd name="adj" fmla="val 15094"/>
            </a:avLst>
          </a:prstGeom>
          <a:solidFill>
            <a:srgbClr val="F7FAFC"/>
          </a:solidFill>
          <a:ln w="9525">
            <a:solidFill>
              <a:srgbClr val="DDE5EC"/>
            </a:solidFill>
            <a:prstDash val="solid"/>
          </a:ln>
        </p:spPr>
        <p:txBody>
          <a:bodyPr/>
          <a:p/>
        </p:txBody>
      </p:sp>
      <p:sp>
        <p:nvSpPr>
          <p:cNvPr id="21" name="Text 18"/>
          <p:cNvSpPr/>
          <p:nvPr/>
        </p:nvSpPr>
        <p:spPr>
          <a:xfrm>
            <a:off x="1423988" y="5579566"/>
            <a:ext cx="264840" cy="195263"/>
          </a:xfrm>
          <a:prstGeom prst="rect">
            <a:avLst/>
          </a:prstGeom>
          <a:noFill/>
          <a:ln/>
        </p:spPr>
        <p:txBody>
          <a:bodyPr wrap="square" lIns="25400" tIns="25400" rIns="25400" bIns="25400" rtlCol="0" anchor="t">
            <a:normAutofit/>
          </a:bodyPr>
          <a:lstStyle/>
          <a:p>
            <a:pPr algn="l" indent="0" marL="0">
              <a:lnSpc>
                <a:spcPct val="150000"/>
              </a:lnSpc>
              <a:buNone/>
            </a:pPr>
            <a:r>
              <a:rPr lang="en-US" sz="825" dirty="0">
                <a:solidFill>
                  <a:srgbClr val="0F1419"/>
                </a:solidFill>
                <a:latin typeface="Courier New" pitchFamily="34" charset="0"/>
                <a:ea typeface="Courier New" pitchFamily="34" charset="-122"/>
                <a:cs typeface="Courier New" pitchFamily="34" charset="-120"/>
              </a:rPr>
              <a:t>Mon</a:t>
            </a:r>
            <a:endParaRPr lang="en-US" sz="825" dirty="0"/>
          </a:p>
        </p:txBody>
      </p:sp>
      <p:sp>
        <p:nvSpPr>
          <p:cNvPr id="22" name="Shape 19"/>
          <p:cNvSpPr/>
          <p:nvPr/>
        </p:nvSpPr>
        <p:spPr>
          <a:xfrm>
            <a:off x="1793602" y="5531941"/>
            <a:ext cx="360090" cy="252413"/>
          </a:xfrm>
          <a:prstGeom prst="roundRect">
            <a:avLst>
              <a:gd name="adj" fmla="val 15094"/>
            </a:avLst>
          </a:prstGeom>
          <a:solidFill>
            <a:srgbClr val="F7FAFC"/>
          </a:solidFill>
          <a:ln w="9525">
            <a:solidFill>
              <a:srgbClr val="DDE5EC"/>
            </a:solidFill>
            <a:prstDash val="solid"/>
          </a:ln>
        </p:spPr>
        <p:txBody>
          <a:bodyPr/>
          <a:p/>
        </p:txBody>
      </p:sp>
      <p:sp>
        <p:nvSpPr>
          <p:cNvPr id="23" name="Text 20"/>
          <p:cNvSpPr/>
          <p:nvPr/>
        </p:nvSpPr>
        <p:spPr>
          <a:xfrm>
            <a:off x="1879327" y="5579566"/>
            <a:ext cx="264840" cy="195263"/>
          </a:xfrm>
          <a:prstGeom prst="rect">
            <a:avLst/>
          </a:prstGeom>
          <a:noFill/>
          <a:ln/>
        </p:spPr>
        <p:txBody>
          <a:bodyPr wrap="square" lIns="25400" tIns="25400" rIns="25400" bIns="25400" rtlCol="0" anchor="t">
            <a:normAutofit/>
          </a:bodyPr>
          <a:lstStyle/>
          <a:p>
            <a:pPr algn="l" indent="0" marL="0">
              <a:lnSpc>
                <a:spcPct val="150000"/>
              </a:lnSpc>
              <a:buNone/>
            </a:pPr>
            <a:r>
              <a:rPr lang="en-US" sz="825" dirty="0">
                <a:solidFill>
                  <a:srgbClr val="0F1419"/>
                </a:solidFill>
                <a:latin typeface="Courier New" pitchFamily="34" charset="0"/>
                <a:ea typeface="Courier New" pitchFamily="34" charset="-122"/>
                <a:cs typeface="Courier New" pitchFamily="34" charset="-120"/>
              </a:rPr>
              <a:t>Tue</a:t>
            </a:r>
            <a:endParaRPr lang="en-US" sz="825" dirty="0"/>
          </a:p>
        </p:txBody>
      </p:sp>
      <p:sp>
        <p:nvSpPr>
          <p:cNvPr id="24" name="Shape 21"/>
          <p:cNvSpPr/>
          <p:nvPr/>
        </p:nvSpPr>
        <p:spPr>
          <a:xfrm>
            <a:off x="2248942" y="5531941"/>
            <a:ext cx="360090" cy="252413"/>
          </a:xfrm>
          <a:prstGeom prst="roundRect">
            <a:avLst>
              <a:gd name="adj" fmla="val 15094"/>
            </a:avLst>
          </a:prstGeom>
          <a:solidFill>
            <a:srgbClr val="F7FAFC"/>
          </a:solidFill>
          <a:ln w="9525">
            <a:solidFill>
              <a:srgbClr val="DDE5EC"/>
            </a:solidFill>
            <a:prstDash val="solid"/>
          </a:ln>
        </p:spPr>
        <p:txBody>
          <a:bodyPr/>
          <a:p/>
        </p:txBody>
      </p:sp>
      <p:sp>
        <p:nvSpPr>
          <p:cNvPr id="25" name="Text 22"/>
          <p:cNvSpPr/>
          <p:nvPr/>
        </p:nvSpPr>
        <p:spPr>
          <a:xfrm>
            <a:off x="2334667" y="5579566"/>
            <a:ext cx="264840" cy="195263"/>
          </a:xfrm>
          <a:prstGeom prst="rect">
            <a:avLst/>
          </a:prstGeom>
          <a:noFill/>
          <a:ln/>
        </p:spPr>
        <p:txBody>
          <a:bodyPr wrap="square" lIns="25400" tIns="25400" rIns="25400" bIns="25400" rtlCol="0" anchor="t">
            <a:normAutofit/>
          </a:bodyPr>
          <a:lstStyle/>
          <a:p>
            <a:pPr algn="l" indent="0" marL="0">
              <a:lnSpc>
                <a:spcPct val="150000"/>
              </a:lnSpc>
              <a:buNone/>
            </a:pPr>
            <a:r>
              <a:rPr lang="en-US" sz="825" dirty="0">
                <a:solidFill>
                  <a:srgbClr val="0F1419"/>
                </a:solidFill>
                <a:latin typeface="Courier New" pitchFamily="34" charset="0"/>
                <a:ea typeface="Courier New" pitchFamily="34" charset="-122"/>
                <a:cs typeface="Courier New" pitchFamily="34" charset="-120"/>
              </a:rPr>
              <a:t>Wed</a:t>
            </a:r>
            <a:endParaRPr lang="en-US" sz="825" dirty="0"/>
          </a:p>
        </p:txBody>
      </p:sp>
      <p:sp>
        <p:nvSpPr>
          <p:cNvPr id="26" name="Shape 23"/>
          <p:cNvSpPr/>
          <p:nvPr/>
        </p:nvSpPr>
        <p:spPr>
          <a:xfrm>
            <a:off x="2704281" y="5531941"/>
            <a:ext cx="360090" cy="252413"/>
          </a:xfrm>
          <a:prstGeom prst="roundRect">
            <a:avLst>
              <a:gd name="adj" fmla="val 15094"/>
            </a:avLst>
          </a:prstGeom>
          <a:solidFill>
            <a:srgbClr val="F7FAFC"/>
          </a:solidFill>
          <a:ln w="9525">
            <a:solidFill>
              <a:srgbClr val="DDE5EC"/>
            </a:solidFill>
            <a:prstDash val="solid"/>
          </a:ln>
        </p:spPr>
        <p:txBody>
          <a:bodyPr/>
          <a:p/>
        </p:txBody>
      </p:sp>
      <p:sp>
        <p:nvSpPr>
          <p:cNvPr id="27" name="Text 24"/>
          <p:cNvSpPr/>
          <p:nvPr/>
        </p:nvSpPr>
        <p:spPr>
          <a:xfrm>
            <a:off x="2790006" y="5579566"/>
            <a:ext cx="264840" cy="195263"/>
          </a:xfrm>
          <a:prstGeom prst="rect">
            <a:avLst/>
          </a:prstGeom>
          <a:noFill/>
          <a:ln/>
        </p:spPr>
        <p:txBody>
          <a:bodyPr wrap="square" lIns="25400" tIns="25400" rIns="25400" bIns="25400" rtlCol="0" anchor="t">
            <a:normAutofit/>
          </a:bodyPr>
          <a:lstStyle/>
          <a:p>
            <a:pPr algn="l" indent="0" marL="0">
              <a:lnSpc>
                <a:spcPct val="150000"/>
              </a:lnSpc>
              <a:buNone/>
            </a:pPr>
            <a:r>
              <a:rPr lang="en-US" sz="825" dirty="0">
                <a:solidFill>
                  <a:srgbClr val="0F1419"/>
                </a:solidFill>
                <a:latin typeface="Courier New" pitchFamily="34" charset="0"/>
                <a:ea typeface="Courier New" pitchFamily="34" charset="-122"/>
                <a:cs typeface="Courier New" pitchFamily="34" charset="-120"/>
              </a:rPr>
              <a:t>Thu</a:t>
            </a:r>
            <a:endParaRPr lang="en-US" sz="825" dirty="0"/>
          </a:p>
        </p:txBody>
      </p:sp>
      <p:sp>
        <p:nvSpPr>
          <p:cNvPr id="28" name="Shape 25"/>
          <p:cNvSpPr/>
          <p:nvPr/>
        </p:nvSpPr>
        <p:spPr>
          <a:xfrm>
            <a:off x="1338263" y="5898654"/>
            <a:ext cx="4511650" cy="390525"/>
          </a:xfrm>
          <a:prstGeom prst="roundRect">
            <a:avLst>
              <a:gd name="adj" fmla="val 14634"/>
            </a:avLst>
          </a:prstGeom>
          <a:solidFill>
            <a:srgbClr val="F7FAFC"/>
          </a:solidFill>
          <a:ln w="9525">
            <a:solidFill>
              <a:srgbClr val="DDE5EC"/>
            </a:solidFill>
            <a:prstDash val="solid"/>
          </a:ln>
        </p:spPr>
        <p:txBody>
          <a:bodyPr/>
          <a:p/>
        </p:txBody>
      </p:sp>
      <p:sp>
        <p:nvSpPr>
          <p:cNvPr id="29" name="Text 26"/>
          <p:cNvSpPr/>
          <p:nvPr/>
        </p:nvSpPr>
        <p:spPr>
          <a:xfrm>
            <a:off x="1462088" y="6022479"/>
            <a:ext cx="4399350" cy="180975"/>
          </a:xfrm>
          <a:prstGeom prst="rect">
            <a:avLst/>
          </a:prstGeom>
          <a:noFill/>
          <a:ln/>
        </p:spPr>
        <p:txBody>
          <a:bodyPr wrap="square" lIns="25400" tIns="25400" rIns="25400" bIns="25400" rtlCol="0" anchor="t">
            <a:normAutofit/>
          </a:bodyPr>
          <a:lstStyle/>
          <a:p>
            <a:pPr algn="l" indent="0" marL="0">
              <a:lnSpc>
                <a:spcPct val="150000"/>
              </a:lnSpc>
              <a:buNone/>
            </a:pPr>
            <a:r>
              <a:rPr lang="en-US" sz="750" dirty="0">
                <a:solidFill>
                  <a:srgbClr val="6E7785"/>
                </a:solidFill>
                <a:latin typeface="Courier New" pitchFamily="34" charset="0"/>
                <a:ea typeface="Courier New" pitchFamily="34" charset="-122"/>
                <a:cs typeface="Courier New" pitchFamily="34" charset="-120"/>
              </a:rPr>
              <a:t>› 500g chicken · 60g rice · 80g spinach</a:t>
            </a:r>
            <a:endParaRPr lang="en-US" sz="750" dirty="0"/>
          </a:p>
        </p:txBody>
      </p:sp>
      <p:sp>
        <p:nvSpPr>
          <p:cNvPr id="30" name="Shape 27"/>
          <p:cNvSpPr/>
          <p:nvPr/>
        </p:nvSpPr>
        <p:spPr>
          <a:xfrm>
            <a:off x="1338263" y="6365379"/>
            <a:ext cx="4511650" cy="366713"/>
          </a:xfrm>
          <a:prstGeom prst="roundRect">
            <a:avLst>
              <a:gd name="adj" fmla="val 15584"/>
            </a:avLst>
          </a:prstGeom>
          <a:solidFill>
            <a:srgbClr val="E14B5E">
              <a:alpha val="8000"/>
            </a:srgbClr>
          </a:solidFill>
          <a:ln w="9525">
            <a:solidFill>
              <a:srgbClr val="E14B5E"/>
            </a:solidFill>
            <a:prstDash val="solid"/>
          </a:ln>
        </p:spPr>
        <p:txBody>
          <a:bodyPr/>
          <a:p/>
        </p:txBody>
      </p:sp>
      <p:sp>
        <p:nvSpPr>
          <p:cNvPr id="31" name="Text 28"/>
          <p:cNvSpPr/>
          <p:nvPr/>
        </p:nvSpPr>
        <p:spPr>
          <a:xfrm>
            <a:off x="1443038" y="6470154"/>
            <a:ext cx="4437450" cy="195263"/>
          </a:xfrm>
          <a:prstGeom prst="rect">
            <a:avLst/>
          </a:prstGeom>
          <a:noFill/>
          <a:ln/>
        </p:spPr>
        <p:txBody>
          <a:bodyPr wrap="square" lIns="25400" tIns="25400" rIns="25400" bIns="25400" rtlCol="0" anchor="t">
            <a:normAutofit/>
          </a:bodyPr>
          <a:lstStyle/>
          <a:p>
            <a:pPr algn="l" indent="0" marL="0">
              <a:lnSpc>
                <a:spcPct val="150000"/>
              </a:lnSpc>
              <a:buNone/>
            </a:pPr>
            <a:r>
              <a:rPr lang="en-US" sz="825" dirty="0">
                <a:solidFill>
                  <a:srgbClr val="E14B5E"/>
                </a:solidFill>
                <a:latin typeface="Courier New" pitchFamily="34" charset="0"/>
                <a:ea typeface="Courier New" pitchFamily="34" charset="-122"/>
                <a:cs typeface="Courier New" pitchFamily="34" charset="-120"/>
              </a:rPr>
              <a:t>⚠ stripe · no API key configured</a:t>
            </a:r>
            <a:endParaRPr lang="en-US" sz="825" dirty="0"/>
          </a:p>
        </p:txBody>
      </p:sp>
      <p:sp>
        <p:nvSpPr>
          <p:cNvPr id="32" name="Text 29"/>
          <p:cNvSpPr/>
          <p:nvPr/>
        </p:nvSpPr>
        <p:spPr>
          <a:xfrm>
            <a:off x="1195388" y="7046416"/>
            <a:ext cx="4941322" cy="658118"/>
          </a:xfrm>
          <a:prstGeom prst="rect">
            <a:avLst/>
          </a:prstGeom>
          <a:noFill/>
          <a:ln/>
        </p:spPr>
        <p:txBody>
          <a:bodyPr wrap="square" lIns="25400" tIns="25400" rIns="25400" bIns="25400" rtlCol="0" anchor="t">
            <a:normAutofit/>
          </a:bodyPr>
          <a:lstStyle/>
          <a:p>
            <a:pPr algn="l" indent="0" marL="0">
              <a:lnSpc>
                <a:spcPct val="155000"/>
              </a:lnSpc>
              <a:buNone/>
            </a:pPr>
            <a:r>
              <a:rPr lang="en-US" sz="1575" b="1" dirty="0">
                <a:solidFill>
                  <a:srgbClr val="0F1419"/>
                </a:solidFill>
                <a:latin typeface="Arial" pitchFamily="34" charset="0"/>
                <a:ea typeface="Arial" pitchFamily="34" charset="-122"/>
                <a:cs typeface="Arial" pitchFamily="34" charset="-120"/>
              </a:rPr>
              <a:t>Where they plateau: </a:t>
            </a:r>
            <a:pPr algn="l" indent="0" marL="0">
              <a:lnSpc>
                <a:spcPct val="155000"/>
              </a:lnSpc>
              <a:buNone/>
            </a:pPr>
            <a:r>
              <a:rPr lang="en-US" sz="1575" dirty="0">
                <a:solidFill>
                  <a:srgbClr val="2A3340"/>
                </a:solidFill>
                <a:latin typeface="Arial" pitchFamily="34" charset="0"/>
                <a:ea typeface="Arial" pitchFamily="34" charset="-122"/>
                <a:cs typeface="Arial" pitchFamily="34" charset="-120"/>
              </a:rPr>
              <a:t>generates meal plans. Cannot bill, cannot send weekly emails, no mobile build.</a:t>
            </a:r>
            <a:endParaRPr lang="en-US" sz="1575" dirty="0"/>
          </a:p>
        </p:txBody>
      </p:sp>
      <p:sp>
        <p:nvSpPr>
          <p:cNvPr id="33" name="Shape 30"/>
          <p:cNvSpPr/>
          <p:nvPr/>
        </p:nvSpPr>
        <p:spPr>
          <a:xfrm>
            <a:off x="6464275" y="4001319"/>
            <a:ext cx="5359375" cy="3946103"/>
          </a:xfrm>
          <a:prstGeom prst="roundRect">
            <a:avLst>
              <a:gd name="adj" fmla="val 3862"/>
            </a:avLst>
          </a:prstGeom>
          <a:solidFill>
            <a:srgbClr val="FFFFFF"/>
          </a:solidFill>
          <a:ln w="14288">
            <a:solidFill>
              <a:srgbClr val="DDE5EC"/>
            </a:solidFill>
            <a:prstDash val="solid"/>
          </a:ln>
          <a:effectLst>
            <a:outerShdw sx="100000" sy="100000" kx="0" ky="0" algn="bl" rotWithShape="0" blurRad="38100" dist="19050" dir="5400000">
              <a:srgbClr val="0F1419">
                <a:alpha val="4000"/>
              </a:srgbClr>
            </a:outerShdw>
          </a:effectLst>
        </p:spPr>
        <p:txBody>
          <a:bodyPr/>
          <a:p/>
        </p:txBody>
      </p:sp>
      <p:sp>
        <p:nvSpPr>
          <p:cNvPr id="34" name="Text 31"/>
          <p:cNvSpPr/>
          <p:nvPr/>
        </p:nvSpPr>
        <p:spPr>
          <a:xfrm>
            <a:off x="6745263" y="4282306"/>
            <a:ext cx="4941322"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113" kern="0" dirty="0">
                <a:solidFill>
                  <a:srgbClr val="6E7785"/>
                </a:solidFill>
                <a:latin typeface="Courier New" pitchFamily="34" charset="0"/>
                <a:ea typeface="Courier New" pitchFamily="34" charset="-122"/>
                <a:cs typeface="Courier New" pitchFamily="34" charset="-120"/>
              </a:rPr>
              <a:t>CONSULTANT</a:t>
            </a:r>
            <a:endParaRPr lang="en-US" sz="1125" dirty="0"/>
          </a:p>
        </p:txBody>
      </p:sp>
      <p:sp>
        <p:nvSpPr>
          <p:cNvPr id="35" name="Text 32"/>
          <p:cNvSpPr/>
          <p:nvPr/>
        </p:nvSpPr>
        <p:spPr>
          <a:xfrm>
            <a:off x="6745263" y="4629969"/>
            <a:ext cx="4941322" cy="344760"/>
          </a:xfrm>
          <a:prstGeom prst="rect">
            <a:avLst/>
          </a:prstGeom>
          <a:noFill/>
          <a:ln/>
        </p:spPr>
        <p:txBody>
          <a:bodyPr wrap="square" lIns="25400" tIns="25400" rIns="25400" bIns="25400" rtlCol="0" anchor="t">
            <a:normAutofit/>
          </a:bodyPr>
          <a:lstStyle/>
          <a:p>
            <a:pPr algn="l" indent="0" marL="0">
              <a:lnSpc>
                <a:spcPct val="115000"/>
              </a:lnSpc>
              <a:buNone/>
            </a:pPr>
            <a:r>
              <a:rPr lang="en-US" sz="2100" b="1" spc="-42" kern="0" dirty="0">
                <a:solidFill>
                  <a:srgbClr val="0F1419"/>
                </a:solidFill>
                <a:latin typeface="Arial" pitchFamily="34" charset="0"/>
                <a:ea typeface="Arial" pitchFamily="34" charset="-122"/>
                <a:cs typeface="Arial" pitchFamily="34" charset="-120"/>
              </a:rPr>
              <a:t>An interactive framework demo.</a:t>
            </a:r>
            <a:endParaRPr lang="en-US" sz="2100" dirty="0"/>
          </a:p>
        </p:txBody>
      </p:sp>
      <p:sp>
        <p:nvSpPr>
          <p:cNvPr id="36" name="Shape 33"/>
          <p:cNvSpPr/>
          <p:nvPr/>
        </p:nvSpPr>
        <p:spPr>
          <a:xfrm>
            <a:off x="6745263" y="5069979"/>
            <a:ext cx="4797400" cy="1776413"/>
          </a:xfrm>
          <a:prstGeom prst="roundRect">
            <a:avLst>
              <a:gd name="adj" fmla="val 5362"/>
            </a:avLst>
          </a:prstGeom>
          <a:solidFill>
            <a:srgbClr val="F7FAFC"/>
          </a:solidFill>
          <a:ln w="9525">
            <a:solidFill>
              <a:srgbClr val="DDE5EC"/>
            </a:solidFill>
            <a:prstDash val="solid"/>
          </a:ln>
        </p:spPr>
        <p:txBody>
          <a:bodyPr/>
          <a:p/>
        </p:txBody>
      </p:sp>
      <p:sp>
        <p:nvSpPr>
          <p:cNvPr id="37" name="Shape 34"/>
          <p:cNvSpPr/>
          <p:nvPr/>
        </p:nvSpPr>
        <p:spPr>
          <a:xfrm>
            <a:off x="6754788" y="5079504"/>
            <a:ext cx="4778350" cy="319088"/>
          </a:xfrm>
          <a:prstGeom prst="rect">
            <a:avLst/>
          </a:prstGeom>
          <a:solidFill>
            <a:srgbClr val="EEF2F7"/>
          </a:solidFill>
          <a:ln/>
        </p:spPr>
        <p:txBody>
          <a:bodyPr/>
          <a:p/>
        </p:txBody>
      </p:sp>
      <p:sp>
        <p:nvSpPr>
          <p:cNvPr id="38" name="Shape 35"/>
          <p:cNvSpPr/>
          <p:nvPr/>
        </p:nvSpPr>
        <p:spPr>
          <a:xfrm>
            <a:off x="6754788" y="5389066"/>
            <a:ext cx="4778350" cy="9525"/>
          </a:xfrm>
          <a:prstGeom prst="rect">
            <a:avLst/>
          </a:prstGeom>
          <a:solidFill>
            <a:srgbClr val="DDE5EC"/>
          </a:solidFill>
          <a:ln/>
        </p:spPr>
        <p:txBody>
          <a:bodyPr/>
          <a:p/>
        </p:txBody>
      </p:sp>
      <p:sp>
        <p:nvSpPr>
          <p:cNvPr id="39" name="Shape 36"/>
          <p:cNvSpPr/>
          <p:nvPr/>
        </p:nvSpPr>
        <p:spPr>
          <a:xfrm>
            <a:off x="6888138" y="5196185"/>
            <a:ext cx="76200" cy="76200"/>
          </a:xfrm>
          <a:prstGeom prst="ellipse">
            <a:avLst/>
          </a:prstGeom>
          <a:solidFill>
            <a:srgbClr val="C5D0DC"/>
          </a:solidFill>
          <a:ln/>
        </p:spPr>
        <p:txBody>
          <a:bodyPr/>
          <a:p/>
        </p:txBody>
      </p:sp>
      <p:sp>
        <p:nvSpPr>
          <p:cNvPr id="40" name="Shape 37"/>
          <p:cNvSpPr/>
          <p:nvPr/>
        </p:nvSpPr>
        <p:spPr>
          <a:xfrm>
            <a:off x="7002438" y="5196185"/>
            <a:ext cx="76200" cy="76200"/>
          </a:xfrm>
          <a:prstGeom prst="ellipse">
            <a:avLst/>
          </a:prstGeom>
          <a:solidFill>
            <a:srgbClr val="C5D0DC"/>
          </a:solidFill>
          <a:ln/>
        </p:spPr>
        <p:txBody>
          <a:bodyPr/>
          <a:p/>
        </p:txBody>
      </p:sp>
      <p:sp>
        <p:nvSpPr>
          <p:cNvPr id="41" name="Shape 38"/>
          <p:cNvSpPr/>
          <p:nvPr/>
        </p:nvSpPr>
        <p:spPr>
          <a:xfrm>
            <a:off x="7116738" y="5196185"/>
            <a:ext cx="76200" cy="76200"/>
          </a:xfrm>
          <a:prstGeom prst="ellipse">
            <a:avLst/>
          </a:prstGeom>
          <a:solidFill>
            <a:srgbClr val="C5D0DC"/>
          </a:solidFill>
          <a:ln/>
        </p:spPr>
        <p:txBody>
          <a:bodyPr/>
          <a:p/>
        </p:txBody>
      </p:sp>
      <p:sp>
        <p:nvSpPr>
          <p:cNvPr id="42" name="Text 39"/>
          <p:cNvSpPr/>
          <p:nvPr/>
        </p:nvSpPr>
        <p:spPr>
          <a:xfrm>
            <a:off x="7269138" y="5174754"/>
            <a:ext cx="1574750" cy="157163"/>
          </a:xfrm>
          <a:prstGeom prst="rect">
            <a:avLst/>
          </a:prstGeom>
          <a:noFill/>
          <a:ln/>
        </p:spPr>
        <p:txBody>
          <a:bodyPr wrap="square" lIns="0" tIns="0" rIns="0" bIns="0" rtlCol="0" anchor="t">
            <a:normAutofit/>
          </a:bodyPr>
          <a:lstStyle/>
          <a:p>
            <a:pPr algn="l" indent="0" marL="0">
              <a:lnSpc>
                <a:spcPct val="150000"/>
              </a:lnSpc>
              <a:buNone/>
            </a:pPr>
            <a:r>
              <a:rPr lang="en-US" sz="825" spc="41" kern="0" dirty="0">
                <a:solidFill>
                  <a:srgbClr val="6E7785"/>
                </a:solidFill>
                <a:latin typeface="Courier New" pitchFamily="34" charset="0"/>
                <a:ea typeface="Courier New" pitchFamily="34" charset="-122"/>
                <a:cs typeface="Courier New" pitchFamily="34" charset="-120"/>
              </a:rPr>
              <a:t>strategy-canvas · demo</a:t>
            </a:r>
            <a:endParaRPr lang="en-US" sz="825" dirty="0"/>
          </a:p>
        </p:txBody>
      </p:sp>
      <p:sp>
        <p:nvSpPr>
          <p:cNvPr id="43" name="Shape 40"/>
          <p:cNvSpPr/>
          <p:nvPr/>
        </p:nvSpPr>
        <p:spPr>
          <a:xfrm>
            <a:off x="6754788" y="5398591"/>
            <a:ext cx="4778350" cy="1438275"/>
          </a:xfrm>
          <a:prstGeom prst="rect">
            <a:avLst/>
          </a:prstGeom>
          <a:solidFill>
            <a:srgbClr val="E1E8F0"/>
          </a:solidFill>
          <a:ln/>
        </p:spPr>
        <p:txBody>
          <a:bodyPr/>
          <a:p/>
        </p:txBody>
      </p:sp>
      <p:sp>
        <p:nvSpPr>
          <p:cNvPr id="44" name="Shape 41"/>
          <p:cNvSpPr/>
          <p:nvPr/>
        </p:nvSpPr>
        <p:spPr>
          <a:xfrm>
            <a:off x="6888138" y="5531941"/>
            <a:ext cx="2227213" cy="352425"/>
          </a:xfrm>
          <a:prstGeom prst="roundRect">
            <a:avLst>
              <a:gd name="adj" fmla="val 10811"/>
            </a:avLst>
          </a:prstGeom>
          <a:solidFill>
            <a:srgbClr val="F7FAFC"/>
          </a:solidFill>
          <a:ln w="9525">
            <a:solidFill>
              <a:srgbClr val="DDE5EC"/>
            </a:solidFill>
            <a:prstDash val="solid"/>
          </a:ln>
        </p:spPr>
        <p:txBody>
          <a:bodyPr/>
          <a:p/>
        </p:txBody>
      </p:sp>
      <p:sp>
        <p:nvSpPr>
          <p:cNvPr id="45" name="Text 42"/>
          <p:cNvSpPr/>
          <p:nvPr/>
        </p:nvSpPr>
        <p:spPr>
          <a:xfrm>
            <a:off x="6992913" y="5636716"/>
            <a:ext cx="2093863" cy="180975"/>
          </a:xfrm>
          <a:prstGeom prst="rect">
            <a:avLst/>
          </a:prstGeom>
          <a:noFill/>
          <a:ln/>
        </p:spPr>
        <p:txBody>
          <a:bodyPr wrap="square" lIns="25400" tIns="25400" rIns="25400" bIns="25400" rtlCol="0" anchor="t">
            <a:normAutofit/>
          </a:bodyPr>
          <a:lstStyle/>
          <a:p>
            <a:pPr algn="l" indent="0" marL="0">
              <a:lnSpc>
                <a:spcPct val="150000"/>
              </a:lnSpc>
              <a:buNone/>
            </a:pPr>
            <a:r>
              <a:rPr lang="en-US" sz="750" dirty="0">
                <a:solidFill>
                  <a:srgbClr val="0F1419"/>
                </a:solidFill>
                <a:latin typeface="Courier New" pitchFamily="34" charset="0"/>
                <a:ea typeface="Courier New" pitchFamily="34" charset="-122"/>
                <a:cs typeface="Courier New" pitchFamily="34" charset="-120"/>
              </a:rPr>
              <a:t>Market — H1</a:t>
            </a:r>
            <a:endParaRPr lang="en-US" sz="750" dirty="0"/>
          </a:p>
        </p:txBody>
      </p:sp>
      <p:sp>
        <p:nvSpPr>
          <p:cNvPr id="46" name="Shape 43"/>
          <p:cNvSpPr/>
          <p:nvPr/>
        </p:nvSpPr>
        <p:spPr>
          <a:xfrm>
            <a:off x="9172501" y="5531941"/>
            <a:ext cx="2227287" cy="352425"/>
          </a:xfrm>
          <a:prstGeom prst="roundRect">
            <a:avLst>
              <a:gd name="adj" fmla="val 10811"/>
            </a:avLst>
          </a:prstGeom>
          <a:solidFill>
            <a:srgbClr val="F7FAFC"/>
          </a:solidFill>
          <a:ln w="9525">
            <a:solidFill>
              <a:srgbClr val="DDE5EC"/>
            </a:solidFill>
            <a:prstDash val="solid"/>
          </a:ln>
        </p:spPr>
        <p:txBody>
          <a:bodyPr/>
          <a:p/>
        </p:txBody>
      </p:sp>
      <p:sp>
        <p:nvSpPr>
          <p:cNvPr id="47" name="Text 44"/>
          <p:cNvSpPr/>
          <p:nvPr/>
        </p:nvSpPr>
        <p:spPr>
          <a:xfrm>
            <a:off x="9277276" y="5636716"/>
            <a:ext cx="2093937" cy="180975"/>
          </a:xfrm>
          <a:prstGeom prst="rect">
            <a:avLst/>
          </a:prstGeom>
          <a:noFill/>
          <a:ln/>
        </p:spPr>
        <p:txBody>
          <a:bodyPr wrap="square" lIns="25400" tIns="25400" rIns="25400" bIns="25400" rtlCol="0" anchor="t">
            <a:normAutofit/>
          </a:bodyPr>
          <a:lstStyle/>
          <a:p>
            <a:pPr algn="l" indent="0" marL="0">
              <a:lnSpc>
                <a:spcPct val="150000"/>
              </a:lnSpc>
              <a:buNone/>
            </a:pPr>
            <a:r>
              <a:rPr lang="en-US" sz="750" dirty="0">
                <a:solidFill>
                  <a:srgbClr val="0F1419"/>
                </a:solidFill>
                <a:latin typeface="Courier New" pitchFamily="34" charset="0"/>
                <a:ea typeface="Courier New" pitchFamily="34" charset="-122"/>
                <a:cs typeface="Courier New" pitchFamily="34" charset="-120"/>
              </a:rPr>
              <a:t>Audience — H2</a:t>
            </a:r>
            <a:endParaRPr lang="en-US" sz="750" dirty="0"/>
          </a:p>
        </p:txBody>
      </p:sp>
      <p:sp>
        <p:nvSpPr>
          <p:cNvPr id="48" name="Shape 45"/>
          <p:cNvSpPr/>
          <p:nvPr/>
        </p:nvSpPr>
        <p:spPr>
          <a:xfrm>
            <a:off x="6888138" y="5941516"/>
            <a:ext cx="2227213" cy="352425"/>
          </a:xfrm>
          <a:prstGeom prst="roundRect">
            <a:avLst>
              <a:gd name="adj" fmla="val 10811"/>
            </a:avLst>
          </a:prstGeom>
          <a:solidFill>
            <a:srgbClr val="F7FAFC"/>
          </a:solidFill>
          <a:ln w="9525">
            <a:solidFill>
              <a:srgbClr val="DDE5EC"/>
            </a:solidFill>
            <a:prstDash val="solid"/>
          </a:ln>
        </p:spPr>
        <p:txBody>
          <a:bodyPr/>
          <a:p/>
        </p:txBody>
      </p:sp>
      <p:sp>
        <p:nvSpPr>
          <p:cNvPr id="49" name="Text 46"/>
          <p:cNvSpPr/>
          <p:nvPr/>
        </p:nvSpPr>
        <p:spPr>
          <a:xfrm>
            <a:off x="6992913" y="6046291"/>
            <a:ext cx="2093863" cy="180975"/>
          </a:xfrm>
          <a:prstGeom prst="rect">
            <a:avLst/>
          </a:prstGeom>
          <a:noFill/>
          <a:ln/>
        </p:spPr>
        <p:txBody>
          <a:bodyPr wrap="square" lIns="25400" tIns="25400" rIns="25400" bIns="25400" rtlCol="0" anchor="t">
            <a:normAutofit/>
          </a:bodyPr>
          <a:lstStyle/>
          <a:p>
            <a:pPr algn="l" indent="0" marL="0">
              <a:lnSpc>
                <a:spcPct val="150000"/>
              </a:lnSpc>
              <a:buNone/>
            </a:pPr>
            <a:r>
              <a:rPr lang="en-US" sz="750" dirty="0">
                <a:solidFill>
                  <a:srgbClr val="0F1419"/>
                </a:solidFill>
                <a:latin typeface="Courier New" pitchFamily="34" charset="0"/>
                <a:ea typeface="Courier New" pitchFamily="34" charset="-122"/>
                <a:cs typeface="Courier New" pitchFamily="34" charset="-120"/>
              </a:rPr>
              <a:t>Wedge — H3</a:t>
            </a:r>
            <a:endParaRPr lang="en-US" sz="750" dirty="0"/>
          </a:p>
        </p:txBody>
      </p:sp>
      <p:sp>
        <p:nvSpPr>
          <p:cNvPr id="50" name="Shape 47"/>
          <p:cNvSpPr/>
          <p:nvPr/>
        </p:nvSpPr>
        <p:spPr>
          <a:xfrm>
            <a:off x="9172501" y="5941516"/>
            <a:ext cx="2227287" cy="352425"/>
          </a:xfrm>
          <a:prstGeom prst="roundRect">
            <a:avLst>
              <a:gd name="adj" fmla="val 10811"/>
            </a:avLst>
          </a:prstGeom>
          <a:solidFill>
            <a:srgbClr val="F7FAFC"/>
          </a:solidFill>
          <a:ln w="9525">
            <a:solidFill>
              <a:srgbClr val="DDE5EC"/>
            </a:solidFill>
            <a:prstDash val="solid"/>
          </a:ln>
        </p:spPr>
        <p:txBody>
          <a:bodyPr/>
          <a:p/>
        </p:txBody>
      </p:sp>
      <p:sp>
        <p:nvSpPr>
          <p:cNvPr id="51" name="Text 48"/>
          <p:cNvSpPr/>
          <p:nvPr/>
        </p:nvSpPr>
        <p:spPr>
          <a:xfrm>
            <a:off x="9277276" y="6046291"/>
            <a:ext cx="2093937" cy="180975"/>
          </a:xfrm>
          <a:prstGeom prst="rect">
            <a:avLst/>
          </a:prstGeom>
          <a:noFill/>
          <a:ln/>
        </p:spPr>
        <p:txBody>
          <a:bodyPr wrap="square" lIns="25400" tIns="25400" rIns="25400" bIns="25400" rtlCol="0" anchor="t">
            <a:normAutofit/>
          </a:bodyPr>
          <a:lstStyle/>
          <a:p>
            <a:pPr algn="l" indent="0" marL="0">
              <a:lnSpc>
                <a:spcPct val="150000"/>
              </a:lnSpc>
              <a:buNone/>
            </a:pPr>
            <a:r>
              <a:rPr lang="en-US" sz="750" dirty="0">
                <a:solidFill>
                  <a:srgbClr val="0F1419"/>
                </a:solidFill>
                <a:latin typeface="Courier New" pitchFamily="34" charset="0"/>
                <a:ea typeface="Courier New" pitchFamily="34" charset="-122"/>
                <a:cs typeface="Courier New" pitchFamily="34" charset="-120"/>
              </a:rPr>
              <a:t>Moat — H4</a:t>
            </a:r>
            <a:endParaRPr lang="en-US" sz="750" dirty="0"/>
          </a:p>
        </p:txBody>
      </p:sp>
      <p:sp>
        <p:nvSpPr>
          <p:cNvPr id="52" name="Shape 49"/>
          <p:cNvSpPr/>
          <p:nvPr/>
        </p:nvSpPr>
        <p:spPr>
          <a:xfrm>
            <a:off x="6888138" y="6389191"/>
            <a:ext cx="4511650" cy="314325"/>
          </a:xfrm>
          <a:prstGeom prst="roundRect">
            <a:avLst>
              <a:gd name="adj" fmla="val 12121"/>
            </a:avLst>
          </a:prstGeom>
          <a:solidFill>
            <a:srgbClr val="E14B5E">
              <a:alpha val="8000"/>
            </a:srgbClr>
          </a:solidFill>
          <a:ln w="9525">
            <a:solidFill>
              <a:srgbClr val="E14B5E"/>
            </a:solidFill>
            <a:prstDash val="solid"/>
          </a:ln>
        </p:spPr>
        <p:txBody>
          <a:bodyPr/>
          <a:p/>
        </p:txBody>
      </p:sp>
      <p:sp>
        <p:nvSpPr>
          <p:cNvPr id="53" name="Text 50"/>
          <p:cNvSpPr/>
          <p:nvPr/>
        </p:nvSpPr>
        <p:spPr>
          <a:xfrm>
            <a:off x="6992913" y="6474916"/>
            <a:ext cx="4437450" cy="180975"/>
          </a:xfrm>
          <a:prstGeom prst="rect">
            <a:avLst/>
          </a:prstGeom>
          <a:noFill/>
          <a:ln/>
        </p:spPr>
        <p:txBody>
          <a:bodyPr wrap="square" lIns="25400" tIns="25400" rIns="25400" bIns="25400" rtlCol="0" anchor="t">
            <a:normAutofit/>
          </a:bodyPr>
          <a:lstStyle/>
          <a:p>
            <a:pPr algn="l" indent="0" marL="0">
              <a:lnSpc>
                <a:spcPct val="150000"/>
              </a:lnSpc>
              <a:buNone/>
            </a:pPr>
            <a:r>
              <a:rPr lang="en-US" sz="750" dirty="0">
                <a:solidFill>
                  <a:srgbClr val="E14B5E"/>
                </a:solidFill>
                <a:latin typeface="Courier New" pitchFamily="34" charset="0"/>
                <a:ea typeface="Courier New" pitchFamily="34" charset="-122"/>
                <a:cs typeface="Courier New" pitchFamily="34" charset="-120"/>
              </a:rPr>
              <a:t>⚠ no auth · no billing</a:t>
            </a:r>
            <a:endParaRPr lang="en-US" sz="750" dirty="0"/>
          </a:p>
        </p:txBody>
      </p:sp>
      <p:sp>
        <p:nvSpPr>
          <p:cNvPr id="54" name="Text 51"/>
          <p:cNvSpPr/>
          <p:nvPr/>
        </p:nvSpPr>
        <p:spPr>
          <a:xfrm>
            <a:off x="6745263" y="7017841"/>
            <a:ext cx="4941322" cy="658118"/>
          </a:xfrm>
          <a:prstGeom prst="rect">
            <a:avLst/>
          </a:prstGeom>
          <a:noFill/>
          <a:ln/>
        </p:spPr>
        <p:txBody>
          <a:bodyPr wrap="square" lIns="25400" tIns="25400" rIns="25400" bIns="25400" rtlCol="0" anchor="t">
            <a:normAutofit/>
          </a:bodyPr>
          <a:lstStyle/>
          <a:p>
            <a:pPr algn="l" indent="0" marL="0">
              <a:lnSpc>
                <a:spcPct val="155000"/>
              </a:lnSpc>
              <a:buNone/>
            </a:pPr>
            <a:r>
              <a:rPr lang="en-US" sz="1575" b="1" dirty="0">
                <a:solidFill>
                  <a:srgbClr val="0F1419"/>
                </a:solidFill>
                <a:latin typeface="Arial" pitchFamily="34" charset="0"/>
                <a:ea typeface="Arial" pitchFamily="34" charset="-122"/>
                <a:cs typeface="Arial" pitchFamily="34" charset="-120"/>
              </a:rPr>
              <a:t>Where they plateau: </a:t>
            </a:r>
            <a:pPr algn="l" indent="0" marL="0">
              <a:lnSpc>
                <a:spcPct val="155000"/>
              </a:lnSpc>
              <a:buNone/>
            </a:pPr>
            <a:r>
              <a:rPr lang="en-US" sz="1575" dirty="0">
                <a:solidFill>
                  <a:srgbClr val="2A3340"/>
                </a:solidFill>
                <a:latin typeface="Arial" pitchFamily="34" charset="0"/>
                <a:ea typeface="Arial" pitchFamily="34" charset="-122"/>
                <a:cs typeface="Arial" pitchFamily="34" charset="-120"/>
              </a:rPr>
              <a:t>slick interaction. No login, no usage limits, no way to charge the £5K it's worth.</a:t>
            </a:r>
            <a:endParaRPr lang="en-US" sz="1575" dirty="0"/>
          </a:p>
        </p:txBody>
      </p:sp>
      <p:sp>
        <p:nvSpPr>
          <p:cNvPr id="55" name="Shape 52"/>
          <p:cNvSpPr/>
          <p:nvPr/>
        </p:nvSpPr>
        <p:spPr>
          <a:xfrm>
            <a:off x="12014150" y="4001319"/>
            <a:ext cx="5359450" cy="3946103"/>
          </a:xfrm>
          <a:prstGeom prst="roundRect">
            <a:avLst>
              <a:gd name="adj" fmla="val 3862"/>
            </a:avLst>
          </a:prstGeom>
          <a:solidFill>
            <a:srgbClr val="FFFFFF"/>
          </a:solidFill>
          <a:ln w="14288">
            <a:solidFill>
              <a:srgbClr val="DDE5EC"/>
            </a:solidFill>
            <a:prstDash val="solid"/>
          </a:ln>
          <a:effectLst>
            <a:outerShdw sx="100000" sy="100000" kx="0" ky="0" algn="bl" rotWithShape="0" blurRad="38100" dist="19050" dir="5400000">
              <a:srgbClr val="0F1419">
                <a:alpha val="4000"/>
              </a:srgbClr>
            </a:outerShdw>
          </a:effectLst>
        </p:spPr>
        <p:txBody>
          <a:bodyPr/>
          <a:p/>
        </p:txBody>
      </p:sp>
      <p:sp>
        <p:nvSpPr>
          <p:cNvPr id="56" name="Text 53"/>
          <p:cNvSpPr/>
          <p:nvPr/>
        </p:nvSpPr>
        <p:spPr>
          <a:xfrm>
            <a:off x="12295138" y="4282306"/>
            <a:ext cx="4941399"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113" kern="0" dirty="0">
                <a:solidFill>
                  <a:srgbClr val="6E7785"/>
                </a:solidFill>
                <a:latin typeface="Courier New" pitchFamily="34" charset="0"/>
                <a:ea typeface="Courier New" pitchFamily="34" charset="-122"/>
                <a:cs typeface="Courier New" pitchFamily="34" charset="-120"/>
              </a:rPr>
              <a:t>DESIGNER</a:t>
            </a:r>
            <a:endParaRPr lang="en-US" sz="1125" dirty="0"/>
          </a:p>
        </p:txBody>
      </p:sp>
      <p:sp>
        <p:nvSpPr>
          <p:cNvPr id="57" name="Text 54"/>
          <p:cNvSpPr/>
          <p:nvPr/>
        </p:nvSpPr>
        <p:spPr>
          <a:xfrm>
            <a:off x="12295138" y="4629969"/>
            <a:ext cx="4941399" cy="344760"/>
          </a:xfrm>
          <a:prstGeom prst="rect">
            <a:avLst/>
          </a:prstGeom>
          <a:noFill/>
          <a:ln/>
        </p:spPr>
        <p:txBody>
          <a:bodyPr wrap="square" lIns="25400" tIns="25400" rIns="25400" bIns="25400" rtlCol="0" anchor="t">
            <a:normAutofit/>
          </a:bodyPr>
          <a:lstStyle/>
          <a:p>
            <a:pPr algn="l" indent="0" marL="0">
              <a:lnSpc>
                <a:spcPct val="115000"/>
              </a:lnSpc>
              <a:buNone/>
            </a:pPr>
            <a:r>
              <a:rPr lang="en-US" sz="2100" b="1" spc="-42" kern="0" dirty="0">
                <a:solidFill>
                  <a:srgbClr val="0F1419"/>
                </a:solidFill>
                <a:latin typeface="Arial" pitchFamily="34" charset="0"/>
                <a:ea typeface="Arial" pitchFamily="34" charset="-122"/>
                <a:cs typeface="Arial" pitchFamily="34" charset="-120"/>
              </a:rPr>
              <a:t>The tool they always wanted.</a:t>
            </a:r>
            <a:endParaRPr lang="en-US" sz="2100" dirty="0"/>
          </a:p>
        </p:txBody>
      </p:sp>
      <p:sp>
        <p:nvSpPr>
          <p:cNvPr id="58" name="Shape 55"/>
          <p:cNvSpPr/>
          <p:nvPr/>
        </p:nvSpPr>
        <p:spPr>
          <a:xfrm>
            <a:off x="12295138" y="5069979"/>
            <a:ext cx="4797475" cy="1671638"/>
          </a:xfrm>
          <a:prstGeom prst="roundRect">
            <a:avLst>
              <a:gd name="adj" fmla="val 5698"/>
            </a:avLst>
          </a:prstGeom>
          <a:solidFill>
            <a:srgbClr val="F7FAFC"/>
          </a:solidFill>
          <a:ln w="9525">
            <a:solidFill>
              <a:srgbClr val="DDE5EC"/>
            </a:solidFill>
            <a:prstDash val="solid"/>
          </a:ln>
        </p:spPr>
        <p:txBody>
          <a:bodyPr/>
          <a:p/>
        </p:txBody>
      </p:sp>
      <p:sp>
        <p:nvSpPr>
          <p:cNvPr id="59" name="Shape 56"/>
          <p:cNvSpPr/>
          <p:nvPr/>
        </p:nvSpPr>
        <p:spPr>
          <a:xfrm>
            <a:off x="12304663" y="5079504"/>
            <a:ext cx="4778425" cy="319088"/>
          </a:xfrm>
          <a:prstGeom prst="rect">
            <a:avLst/>
          </a:prstGeom>
          <a:solidFill>
            <a:srgbClr val="EEF2F7"/>
          </a:solidFill>
          <a:ln/>
        </p:spPr>
        <p:txBody>
          <a:bodyPr/>
          <a:p/>
        </p:txBody>
      </p:sp>
      <p:sp>
        <p:nvSpPr>
          <p:cNvPr id="60" name="Shape 57"/>
          <p:cNvSpPr/>
          <p:nvPr/>
        </p:nvSpPr>
        <p:spPr>
          <a:xfrm>
            <a:off x="12304663" y="5389066"/>
            <a:ext cx="4778425" cy="9525"/>
          </a:xfrm>
          <a:prstGeom prst="rect">
            <a:avLst/>
          </a:prstGeom>
          <a:solidFill>
            <a:srgbClr val="DDE5EC"/>
          </a:solidFill>
          <a:ln/>
        </p:spPr>
        <p:txBody>
          <a:bodyPr/>
          <a:p/>
        </p:txBody>
      </p:sp>
      <p:sp>
        <p:nvSpPr>
          <p:cNvPr id="61" name="Shape 58"/>
          <p:cNvSpPr/>
          <p:nvPr/>
        </p:nvSpPr>
        <p:spPr>
          <a:xfrm>
            <a:off x="12438013" y="5196185"/>
            <a:ext cx="76200" cy="76200"/>
          </a:xfrm>
          <a:prstGeom prst="ellipse">
            <a:avLst/>
          </a:prstGeom>
          <a:solidFill>
            <a:srgbClr val="C5D0DC"/>
          </a:solidFill>
          <a:ln/>
        </p:spPr>
        <p:txBody>
          <a:bodyPr/>
          <a:p/>
        </p:txBody>
      </p:sp>
      <p:sp>
        <p:nvSpPr>
          <p:cNvPr id="62" name="Shape 59"/>
          <p:cNvSpPr/>
          <p:nvPr/>
        </p:nvSpPr>
        <p:spPr>
          <a:xfrm>
            <a:off x="12552313" y="5196185"/>
            <a:ext cx="76200" cy="76200"/>
          </a:xfrm>
          <a:prstGeom prst="ellipse">
            <a:avLst/>
          </a:prstGeom>
          <a:solidFill>
            <a:srgbClr val="C5D0DC"/>
          </a:solidFill>
          <a:ln/>
        </p:spPr>
        <p:txBody>
          <a:bodyPr/>
          <a:p/>
        </p:txBody>
      </p:sp>
      <p:sp>
        <p:nvSpPr>
          <p:cNvPr id="63" name="Shape 60"/>
          <p:cNvSpPr/>
          <p:nvPr/>
        </p:nvSpPr>
        <p:spPr>
          <a:xfrm>
            <a:off x="12666613" y="5196185"/>
            <a:ext cx="76200" cy="76200"/>
          </a:xfrm>
          <a:prstGeom prst="ellipse">
            <a:avLst/>
          </a:prstGeom>
          <a:solidFill>
            <a:srgbClr val="C5D0DC"/>
          </a:solidFill>
          <a:ln/>
        </p:spPr>
        <p:txBody>
          <a:bodyPr/>
          <a:p/>
        </p:txBody>
      </p:sp>
      <p:sp>
        <p:nvSpPr>
          <p:cNvPr id="64" name="Text 61"/>
          <p:cNvSpPr/>
          <p:nvPr/>
        </p:nvSpPr>
        <p:spPr>
          <a:xfrm>
            <a:off x="12819013" y="5174754"/>
            <a:ext cx="1642839" cy="157163"/>
          </a:xfrm>
          <a:prstGeom prst="rect">
            <a:avLst/>
          </a:prstGeom>
          <a:noFill/>
          <a:ln/>
        </p:spPr>
        <p:txBody>
          <a:bodyPr wrap="square" lIns="0" tIns="0" rIns="0" bIns="0" rtlCol="0" anchor="t">
            <a:normAutofit/>
          </a:bodyPr>
          <a:lstStyle/>
          <a:p>
            <a:pPr algn="l" indent="0" marL="0">
              <a:lnSpc>
                <a:spcPct val="150000"/>
              </a:lnSpc>
              <a:buNone/>
            </a:pPr>
            <a:r>
              <a:rPr lang="en-US" sz="825" spc="41" kern="0" dirty="0">
                <a:solidFill>
                  <a:srgbClr val="6E7785"/>
                </a:solidFill>
                <a:latin typeface="Courier New" pitchFamily="34" charset="0"/>
                <a:ea typeface="Courier New" pitchFamily="34" charset="-122"/>
                <a:cs typeface="Courier New" pitchFamily="34" charset="-120"/>
              </a:rPr>
              <a:t>palette · designer-demo</a:t>
            </a:r>
            <a:endParaRPr lang="en-US" sz="825" dirty="0"/>
          </a:p>
        </p:txBody>
      </p:sp>
      <p:sp>
        <p:nvSpPr>
          <p:cNvPr id="65" name="Shape 62"/>
          <p:cNvSpPr/>
          <p:nvPr/>
        </p:nvSpPr>
        <p:spPr>
          <a:xfrm>
            <a:off x="12304663" y="5398591"/>
            <a:ext cx="4778425" cy="1333500"/>
          </a:xfrm>
          <a:prstGeom prst="rect">
            <a:avLst/>
          </a:prstGeom>
          <a:solidFill>
            <a:srgbClr val="E1E8F0"/>
          </a:solidFill>
          <a:ln/>
        </p:spPr>
        <p:txBody>
          <a:bodyPr/>
          <a:p/>
        </p:txBody>
      </p:sp>
      <p:sp>
        <p:nvSpPr>
          <p:cNvPr id="66" name="Shape 63"/>
          <p:cNvSpPr/>
          <p:nvPr/>
        </p:nvSpPr>
        <p:spPr>
          <a:xfrm>
            <a:off x="12438013" y="5531941"/>
            <a:ext cx="228600" cy="228600"/>
          </a:xfrm>
          <a:prstGeom prst="roundRect">
            <a:avLst>
              <a:gd name="adj" fmla="val 16667"/>
            </a:avLst>
          </a:prstGeom>
          <a:solidFill>
            <a:srgbClr val="5B47F0"/>
          </a:solidFill>
          <a:ln/>
        </p:spPr>
        <p:txBody>
          <a:bodyPr/>
          <a:p/>
        </p:txBody>
      </p:sp>
      <p:sp>
        <p:nvSpPr>
          <p:cNvPr id="67" name="Shape 64"/>
          <p:cNvSpPr/>
          <p:nvPr/>
        </p:nvSpPr>
        <p:spPr>
          <a:xfrm>
            <a:off x="12723763" y="5531941"/>
            <a:ext cx="228600" cy="228600"/>
          </a:xfrm>
          <a:prstGeom prst="roundRect">
            <a:avLst>
              <a:gd name="adj" fmla="val 16667"/>
            </a:avLst>
          </a:prstGeom>
          <a:solidFill>
            <a:srgbClr val="F59E0B"/>
          </a:solidFill>
          <a:ln/>
        </p:spPr>
        <p:txBody>
          <a:bodyPr/>
          <a:p/>
        </p:txBody>
      </p:sp>
      <p:sp>
        <p:nvSpPr>
          <p:cNvPr id="68" name="Shape 65"/>
          <p:cNvSpPr/>
          <p:nvPr/>
        </p:nvSpPr>
        <p:spPr>
          <a:xfrm>
            <a:off x="13009513" y="5531941"/>
            <a:ext cx="228600" cy="228600"/>
          </a:xfrm>
          <a:prstGeom prst="roundRect">
            <a:avLst>
              <a:gd name="adj" fmla="val 16667"/>
            </a:avLst>
          </a:prstGeom>
          <a:solidFill>
            <a:srgbClr val="2DB47A"/>
          </a:solidFill>
          <a:ln/>
        </p:spPr>
        <p:txBody>
          <a:bodyPr/>
          <a:p/>
        </p:txBody>
      </p:sp>
      <p:sp>
        <p:nvSpPr>
          <p:cNvPr id="69" name="Shape 66"/>
          <p:cNvSpPr/>
          <p:nvPr/>
        </p:nvSpPr>
        <p:spPr>
          <a:xfrm>
            <a:off x="13295263" y="5531941"/>
            <a:ext cx="228600" cy="228600"/>
          </a:xfrm>
          <a:prstGeom prst="roundRect">
            <a:avLst>
              <a:gd name="adj" fmla="val 16667"/>
            </a:avLst>
          </a:prstGeom>
          <a:solidFill>
            <a:srgbClr val="E14B5E"/>
          </a:solidFill>
          <a:ln/>
        </p:spPr>
        <p:txBody>
          <a:bodyPr/>
          <a:p/>
        </p:txBody>
      </p:sp>
      <p:sp>
        <p:nvSpPr>
          <p:cNvPr id="70" name="Shape 67"/>
          <p:cNvSpPr/>
          <p:nvPr/>
        </p:nvSpPr>
        <p:spPr>
          <a:xfrm>
            <a:off x="13581013" y="5531941"/>
            <a:ext cx="228600" cy="228600"/>
          </a:xfrm>
          <a:prstGeom prst="roundRect">
            <a:avLst>
              <a:gd name="adj" fmla="val 16667"/>
            </a:avLst>
          </a:prstGeom>
          <a:solidFill>
            <a:srgbClr val="0F1419"/>
          </a:solidFill>
          <a:ln/>
        </p:spPr>
        <p:txBody>
          <a:bodyPr/>
          <a:p/>
        </p:txBody>
      </p:sp>
      <p:sp>
        <p:nvSpPr>
          <p:cNvPr id="71" name="Shape 68"/>
          <p:cNvSpPr/>
          <p:nvPr/>
        </p:nvSpPr>
        <p:spPr>
          <a:xfrm>
            <a:off x="12438013" y="5855791"/>
            <a:ext cx="4511725" cy="352425"/>
          </a:xfrm>
          <a:prstGeom prst="roundRect">
            <a:avLst>
              <a:gd name="adj" fmla="val 10811"/>
            </a:avLst>
          </a:prstGeom>
          <a:solidFill>
            <a:srgbClr val="F7FAFC"/>
          </a:solidFill>
          <a:ln w="9525">
            <a:solidFill>
              <a:srgbClr val="DDE5EC"/>
            </a:solidFill>
            <a:prstDash val="solid"/>
          </a:ln>
        </p:spPr>
        <p:txBody>
          <a:bodyPr/>
          <a:p/>
        </p:txBody>
      </p:sp>
      <p:sp>
        <p:nvSpPr>
          <p:cNvPr id="72" name="Text 69"/>
          <p:cNvSpPr/>
          <p:nvPr/>
        </p:nvSpPr>
        <p:spPr>
          <a:xfrm>
            <a:off x="12542788" y="5960566"/>
            <a:ext cx="4437526" cy="180975"/>
          </a:xfrm>
          <a:prstGeom prst="rect">
            <a:avLst/>
          </a:prstGeom>
          <a:noFill/>
          <a:ln/>
        </p:spPr>
        <p:txBody>
          <a:bodyPr wrap="square" lIns="25400" tIns="25400" rIns="25400" bIns="25400" rtlCol="0" anchor="t">
            <a:normAutofit/>
          </a:bodyPr>
          <a:lstStyle/>
          <a:p>
            <a:pPr algn="l" indent="0" marL="0">
              <a:lnSpc>
                <a:spcPct val="150000"/>
              </a:lnSpc>
              <a:buNone/>
            </a:pPr>
            <a:r>
              <a:rPr lang="en-US" sz="750" dirty="0">
                <a:solidFill>
                  <a:srgbClr val="0F1419"/>
                </a:solidFill>
                <a:latin typeface="Courier New" pitchFamily="34" charset="0"/>
                <a:ea typeface="Courier New" pitchFamily="34" charset="-122"/>
                <a:cs typeface="Courier New" pitchFamily="34" charset="-120"/>
              </a:rPr>
              <a:t>PrimaryButton — 14px / 8px radius</a:t>
            </a:r>
            <a:endParaRPr lang="en-US" sz="750" dirty="0"/>
          </a:p>
        </p:txBody>
      </p:sp>
      <p:sp>
        <p:nvSpPr>
          <p:cNvPr id="73" name="Shape 70"/>
          <p:cNvSpPr/>
          <p:nvPr/>
        </p:nvSpPr>
        <p:spPr>
          <a:xfrm>
            <a:off x="12438013" y="6284416"/>
            <a:ext cx="4511725" cy="314325"/>
          </a:xfrm>
          <a:prstGeom prst="roundRect">
            <a:avLst>
              <a:gd name="adj" fmla="val 12121"/>
            </a:avLst>
          </a:prstGeom>
          <a:solidFill>
            <a:srgbClr val="E14B5E">
              <a:alpha val="8000"/>
            </a:srgbClr>
          </a:solidFill>
          <a:ln w="9525">
            <a:solidFill>
              <a:srgbClr val="E14B5E"/>
            </a:solidFill>
            <a:prstDash val="solid"/>
          </a:ln>
        </p:spPr>
        <p:txBody>
          <a:bodyPr/>
          <a:p/>
        </p:txBody>
      </p:sp>
      <p:sp>
        <p:nvSpPr>
          <p:cNvPr id="74" name="Text 71"/>
          <p:cNvSpPr/>
          <p:nvPr/>
        </p:nvSpPr>
        <p:spPr>
          <a:xfrm>
            <a:off x="12542788" y="6370141"/>
            <a:ext cx="4437526" cy="180975"/>
          </a:xfrm>
          <a:prstGeom prst="rect">
            <a:avLst/>
          </a:prstGeom>
          <a:noFill/>
          <a:ln/>
        </p:spPr>
        <p:txBody>
          <a:bodyPr wrap="square" lIns="25400" tIns="25400" rIns="25400" bIns="25400" rtlCol="0" anchor="t">
            <a:normAutofit/>
          </a:bodyPr>
          <a:lstStyle/>
          <a:p>
            <a:pPr algn="l" indent="0" marL="0">
              <a:lnSpc>
                <a:spcPct val="150000"/>
              </a:lnSpc>
              <a:buNone/>
            </a:pPr>
            <a:r>
              <a:rPr lang="en-US" sz="750" dirty="0">
                <a:solidFill>
                  <a:srgbClr val="E14B5E"/>
                </a:solidFill>
                <a:latin typeface="Courier New" pitchFamily="34" charset="0"/>
                <a:ea typeface="Courier New" pitchFamily="34" charset="-122"/>
                <a:cs typeface="Courier New" pitchFamily="34" charset="-120"/>
              </a:rPr>
              <a:t>⚠ no signed iOS build</a:t>
            </a:r>
            <a:endParaRPr lang="en-US" sz="750" dirty="0"/>
          </a:p>
        </p:txBody>
      </p:sp>
      <p:sp>
        <p:nvSpPr>
          <p:cNvPr id="75" name="Text 72"/>
          <p:cNvSpPr/>
          <p:nvPr/>
        </p:nvSpPr>
        <p:spPr>
          <a:xfrm>
            <a:off x="12295138" y="6913066"/>
            <a:ext cx="4941399" cy="658118"/>
          </a:xfrm>
          <a:prstGeom prst="rect">
            <a:avLst/>
          </a:prstGeom>
          <a:noFill/>
          <a:ln/>
        </p:spPr>
        <p:txBody>
          <a:bodyPr wrap="square" lIns="25400" tIns="25400" rIns="25400" bIns="25400" rtlCol="0" anchor="t">
            <a:normAutofit/>
          </a:bodyPr>
          <a:lstStyle/>
          <a:p>
            <a:pPr algn="l" indent="0" marL="0">
              <a:lnSpc>
                <a:spcPct val="155000"/>
              </a:lnSpc>
              <a:buNone/>
            </a:pPr>
            <a:r>
              <a:rPr lang="en-US" sz="1575" b="1" dirty="0">
                <a:solidFill>
                  <a:srgbClr val="0F1419"/>
                </a:solidFill>
                <a:latin typeface="Arial" pitchFamily="34" charset="0"/>
                <a:ea typeface="Arial" pitchFamily="34" charset="-122"/>
                <a:cs typeface="Arial" pitchFamily="34" charset="-120"/>
              </a:rPr>
              <a:t>Where they plateau: </a:t>
            </a:r>
            <a:pPr algn="l" indent="0" marL="0">
              <a:lnSpc>
                <a:spcPct val="155000"/>
              </a:lnSpc>
              <a:buNone/>
            </a:pPr>
            <a:r>
              <a:rPr lang="en-US" sz="1575" dirty="0">
                <a:solidFill>
                  <a:srgbClr val="2A3340"/>
                </a:solidFill>
                <a:latin typeface="Arial" pitchFamily="34" charset="0"/>
                <a:ea typeface="Arial" pitchFamily="34" charset="-122"/>
                <a:cs typeface="Arial" pitchFamily="34" charset="-120"/>
              </a:rPr>
              <a:t>lovely UI. No real database, no auth, no signed mobile build to demo on a phone.</a:t>
            </a:r>
            <a:endParaRPr lang="en-US" sz="1575" dirty="0"/>
          </a:p>
        </p:txBody>
      </p:sp>
      <p:sp>
        <p:nvSpPr>
          <p:cNvPr id="76" name="Text 73"/>
          <p:cNvSpPr/>
          <p:nvPr/>
        </p:nvSpPr>
        <p:spPr>
          <a:xfrm>
            <a:off x="914400" y="8328422"/>
            <a:ext cx="16952976" cy="397148"/>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0F1419"/>
                </a:solidFill>
                <a:latin typeface="Arial" pitchFamily="34" charset="0"/>
                <a:ea typeface="Arial" pitchFamily="34" charset="-122"/>
                <a:cs typeface="Arial" pitchFamily="34" charset="-120"/>
              </a:rPr>
              <a:t>Every persona above ships a working-looking thing. </a:t>
            </a:r>
            <a:pPr algn="l" indent="0" marL="0">
              <a:lnSpc>
                <a:spcPct val="145000"/>
              </a:lnSpc>
              <a:buNone/>
            </a:pPr>
            <a:r>
              <a:rPr lang="en-US" sz="1950" dirty="0">
                <a:solidFill>
                  <a:srgbClr val="5B47F0"/>
                </a:solidFill>
                <a:latin typeface="Arial" pitchFamily="34" charset="0"/>
                <a:ea typeface="Arial" pitchFamily="34" charset="-122"/>
                <a:cs typeface="Arial" pitchFamily="34" charset="-120"/>
              </a:rPr>
              <a:t>None of them ships a business. ~310K of them, £56M+ TAM today.</a:t>
            </a:r>
            <a:endParaRPr lang="en-US" sz="1950" dirty="0"/>
          </a:p>
        </p:txBody>
      </p:sp>
      <p:sp>
        <p:nvSpPr>
          <p:cNvPr id="77" name="Shape 74"/>
          <p:cNvSpPr/>
          <p:nvPr/>
        </p:nvSpPr>
        <p:spPr>
          <a:xfrm>
            <a:off x="914400" y="9286875"/>
            <a:ext cx="16459200" cy="9525"/>
          </a:xfrm>
          <a:prstGeom prst="rect">
            <a:avLst/>
          </a:prstGeom>
          <a:solidFill>
            <a:srgbClr val="DDE5EC"/>
          </a:solidFill>
          <a:ln/>
        </p:spPr>
      </p:sp>
      <p:sp>
        <p:nvSpPr>
          <p:cNvPr id="78" name="Text 75"/>
          <p:cNvSpPr/>
          <p:nvPr/>
        </p:nvSpPr>
        <p:spPr>
          <a:xfrm>
            <a:off x="914400" y="9532144"/>
            <a:ext cx="4533256"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113" kern="0" dirty="0">
                <a:solidFill>
                  <a:srgbClr val="6E7785"/>
                </a:solidFill>
                <a:latin typeface="Courier New" pitchFamily="34" charset="0"/>
                <a:ea typeface="Courier New" pitchFamily="34" charset="-122"/>
                <a:cs typeface="Courier New" pitchFamily="34" charset="-120"/>
              </a:rPr>
              <a:t>HATCHIK · INVESTOR &amp; PARTNER DECK · MAY 2026</a:t>
            </a:r>
            <a:endParaRPr lang="en-US" sz="1125" dirty="0"/>
          </a:p>
        </p:txBody>
      </p:sp>
      <p:sp>
        <p:nvSpPr>
          <p:cNvPr id="79" name="Text 76"/>
          <p:cNvSpPr/>
          <p:nvPr/>
        </p:nvSpPr>
        <p:spPr>
          <a:xfrm>
            <a:off x="16690851" y="9525000"/>
            <a:ext cx="758949"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spc="48" kern="0" dirty="0">
                <a:solidFill>
                  <a:srgbClr val="0F1419"/>
                </a:solidFill>
                <a:latin typeface="Courier New" pitchFamily="34" charset="0"/>
                <a:ea typeface="Courier New" pitchFamily="34" charset="-122"/>
                <a:cs typeface="Courier New" pitchFamily="34" charset="-120"/>
              </a:rPr>
              <a:t>02 / 31</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5B47F0">
              <a:alpha val="4000"/>
            </a:srgbClr>
          </a:solidFill>
          <a:ln/>
        </p:spPr>
      </p:sp>
      <p:sp>
        <p:nvSpPr>
          <p:cNvPr id="3" name="Shape 1"/>
          <p:cNvSpPr/>
          <p:nvPr/>
        </p:nvSpPr>
        <p:spPr>
          <a:xfrm>
            <a:off x="914400" y="1009650"/>
            <a:ext cx="16459200" cy="9525"/>
          </a:xfrm>
          <a:prstGeom prst="rect">
            <a:avLst/>
          </a:prstGeom>
          <a:solidFill>
            <a:srgbClr val="DDE5EC"/>
          </a:solidFill>
          <a:ln/>
        </p:spPr>
      </p:sp>
      <p:pic>
        <p:nvPicPr>
          <p:cNvPr id="4" name="Image 0" descr="preencoded.png">    </p:cNvPr>
          <p:cNvPicPr>
            <a:picLocks noChangeAspect="1"/>
          </p:cNvPicPr>
          <p:nvPr/>
        </p:nvPicPr>
        <p:blipFill>
          <a:blip r:embed="rId1"/>
          <a:stretch>
            <a:fillRect/>
          </a:stretch>
        </p:blipFill>
        <p:spPr>
          <a:xfrm>
            <a:off x="914400" y="571500"/>
            <a:ext cx="209550" cy="209550"/>
          </a:xfrm>
          <a:prstGeom prst="rect">
            <a:avLst/>
          </a:prstGeom>
        </p:spPr>
      </p:pic>
      <p:sp>
        <p:nvSpPr>
          <p:cNvPr id="5" name="Text 2"/>
          <p:cNvSpPr/>
          <p:nvPr/>
        </p:nvSpPr>
        <p:spPr>
          <a:xfrm>
            <a:off x="1219200" y="533400"/>
            <a:ext cx="745108"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spc="-37" kern="0" dirty="0">
                <a:solidFill>
                  <a:srgbClr val="0F1419"/>
                </a:solidFill>
                <a:latin typeface="Arial" pitchFamily="34" charset="0"/>
                <a:ea typeface="Arial" pitchFamily="34" charset="-122"/>
                <a:cs typeface="Arial" pitchFamily="34" charset="-120"/>
              </a:rPr>
              <a:t>hatchik</a:t>
            </a:r>
            <a:endParaRPr lang="en-US" sz="1500" dirty="0"/>
          </a:p>
        </p:txBody>
      </p:sp>
      <p:sp>
        <p:nvSpPr>
          <p:cNvPr id="6" name="Text 3"/>
          <p:cNvSpPr/>
          <p:nvPr/>
        </p:nvSpPr>
        <p:spPr>
          <a:xfrm>
            <a:off x="15658802" y="562421"/>
            <a:ext cx="1790998" cy="265733"/>
          </a:xfrm>
          <a:prstGeom prst="rect">
            <a:avLst/>
          </a:prstGeom>
          <a:noFill/>
          <a:ln/>
        </p:spPr>
        <p:txBody>
          <a:bodyPr wrap="square" lIns="25400" tIns="25400" rIns="25400" bIns="25400" rtlCol="0" anchor="t">
            <a:normAutofit/>
          </a:bodyPr>
          <a:lstStyle/>
          <a:p>
            <a:pPr algn="l" indent="0" marL="0">
              <a:lnSpc>
                <a:spcPct val="140000"/>
              </a:lnSpc>
              <a:buNone/>
            </a:pPr>
            <a:r>
              <a:rPr lang="en-US" sz="1200" spc="120" kern="0" dirty="0">
                <a:solidFill>
                  <a:srgbClr val="0F1419"/>
                </a:solidFill>
                <a:latin typeface="Courier New" pitchFamily="34" charset="0"/>
                <a:ea typeface="Courier New" pitchFamily="34" charset="-122"/>
                <a:cs typeface="Courier New" pitchFamily="34" charset="-120"/>
              </a:rPr>
              <a:t>03 </a:t>
            </a:r>
            <a:pPr algn="l" indent="0" marL="0">
              <a:lnSpc>
                <a:spcPct val="140000"/>
              </a:lnSpc>
              <a:buNone/>
            </a:pPr>
            <a:r>
              <a:rPr lang="en-US" sz="1200" spc="120" kern="0" dirty="0">
                <a:solidFill>
                  <a:srgbClr val="5B47F0"/>
                </a:solidFill>
                <a:latin typeface="Courier New" pitchFamily="34" charset="0"/>
                <a:ea typeface="Courier New" pitchFamily="34" charset="-122"/>
                <a:cs typeface="Courier New" pitchFamily="34" charset="-120"/>
              </a:rPr>
              <a:t>· </a:t>
            </a:r>
            <a:pPr algn="l" indent="0" marL="0">
              <a:lnSpc>
                <a:spcPct val="140000"/>
              </a:lnSpc>
              <a:buNone/>
            </a:pPr>
            <a:r>
              <a:rPr lang="en-US" sz="1200" spc="120" kern="0" dirty="0">
                <a:solidFill>
                  <a:srgbClr val="6E7785"/>
                </a:solidFill>
                <a:latin typeface="Courier New" pitchFamily="34" charset="0"/>
                <a:ea typeface="Courier New" pitchFamily="34" charset="-122"/>
                <a:cs typeface="Courier New" pitchFamily="34" charset="-120"/>
              </a:rPr>
              <a:t>THE SOLUTION</a:t>
            </a:r>
            <a:endParaRPr lang="en-US" sz="1200" dirty="0"/>
          </a:p>
        </p:txBody>
      </p:sp>
      <p:sp>
        <p:nvSpPr>
          <p:cNvPr id="7" name="Text 4"/>
          <p:cNvSpPr/>
          <p:nvPr/>
        </p:nvSpPr>
        <p:spPr>
          <a:xfrm>
            <a:off x="914400" y="1438275"/>
            <a:ext cx="15893415" cy="723900"/>
          </a:xfrm>
          <a:prstGeom prst="rect">
            <a:avLst/>
          </a:prstGeom>
          <a:noFill/>
          <a:ln/>
        </p:spPr>
        <p:txBody>
          <a:bodyPr wrap="square" lIns="25400" tIns="25400" rIns="25400" bIns="25400" rtlCol="0" anchor="t">
            <a:normAutofit/>
          </a:bodyPr>
          <a:lstStyle/>
          <a:p>
            <a:pPr algn="l" indent="0" marL="0">
              <a:lnSpc>
                <a:spcPct val="100000"/>
              </a:lnSpc>
              <a:buNone/>
            </a:pPr>
            <a:r>
              <a:rPr lang="en-US" sz="5400" b="1" spc="-216" kern="0" dirty="0">
                <a:solidFill>
                  <a:srgbClr val="0F1419"/>
                </a:solidFill>
                <a:latin typeface="Arial" pitchFamily="34" charset="0"/>
                <a:ea typeface="Arial" pitchFamily="34" charset="-122"/>
                <a:cs typeface="Arial" pitchFamily="34" charset="-120"/>
              </a:rPr>
              <a:t>We give the AI tool </a:t>
            </a:r>
            <a:pPr algn="l" indent="0" marL="0">
              <a:lnSpc>
                <a:spcPct val="100000"/>
              </a:lnSpc>
              <a:buNone/>
            </a:pPr>
            <a:r>
              <a:rPr lang="en-US" sz="5400" b="1" spc="-216" kern="0" dirty="0">
                <a:solidFill>
                  <a:srgbClr val="5B47F0"/>
                </a:solidFill>
                <a:latin typeface="Arial" pitchFamily="34" charset="0"/>
                <a:ea typeface="Arial" pitchFamily="34" charset="-122"/>
                <a:cs typeface="Arial" pitchFamily="34" charset="-120"/>
              </a:rPr>
              <a:t>a real SaaS to build on.</a:t>
            </a:r>
            <a:endParaRPr lang="en-US" sz="5400" dirty="0"/>
          </a:p>
        </p:txBody>
      </p:sp>
      <p:sp>
        <p:nvSpPr>
          <p:cNvPr id="8" name="Text 5"/>
          <p:cNvSpPr/>
          <p:nvPr/>
        </p:nvSpPr>
        <p:spPr>
          <a:xfrm>
            <a:off x="914400" y="2390775"/>
            <a:ext cx="12950190" cy="1117178"/>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2A3340"/>
                </a:solidFill>
                <a:latin typeface="Arial" pitchFamily="34" charset="0"/>
                <a:ea typeface="Arial" pitchFamily="34" charset="-122"/>
                <a:cs typeface="Arial" pitchFamily="34" charset="-120"/>
              </a:rPr>
              <a:t>Customer signs up. In ~60 seconds they have a sandbox at </a:t>
            </a:r>
            <a:pPr algn="l" indent="0" marL="0">
              <a:lnSpc>
                <a:spcPct val="145000"/>
              </a:lnSpc>
              <a:buNone/>
            </a:pPr>
            <a:r>
              <a:rPr lang="en-US" sz="1650" dirty="0">
                <a:solidFill>
                  <a:srgbClr val="4231CC"/>
                </a:solidFill>
                <a:highlight>
                  <a:srgbClr val="EEEBFD"/>
                </a:highlight>
                <a:latin typeface="Courier New" pitchFamily="34" charset="0"/>
                <a:ea typeface="Courier New" pitchFamily="34" charset="-122"/>
                <a:cs typeface="Courier New" pitchFamily="34" charset="-120"/>
              </a:rPr>
              <a:t>slug.hatchik.com </a:t>
            </a:r>
            <a:pPr algn="l" indent="0" marL="0">
              <a:lnSpc>
                <a:spcPct val="145000"/>
              </a:lnSpc>
              <a:buNone/>
            </a:pPr>
            <a:r>
              <a:rPr lang="en-US" sz="1950" dirty="0">
                <a:solidFill>
                  <a:srgbClr val="2A3340"/>
                </a:solidFill>
                <a:latin typeface="Arial" pitchFamily="34" charset="0"/>
                <a:ea typeface="Arial" pitchFamily="34" charset="-122"/>
                <a:cs typeface="Arial" pitchFamily="34" charset="-120"/>
              </a:rPr>
              <a:t>with auth, Postgres, payments, mail, mobile and a private GitHub repo all wired. Their AI tool reads the handoff file, pushes to the repo, we redeploy in ~30 seconds.</a:t>
            </a:r>
            <a:endParaRPr lang="en-US" sz="1950" dirty="0"/>
          </a:p>
        </p:txBody>
      </p:sp>
      <p:sp>
        <p:nvSpPr>
          <p:cNvPr id="9" name="Shape 6"/>
          <p:cNvSpPr/>
          <p:nvPr/>
        </p:nvSpPr>
        <p:spPr>
          <a:xfrm>
            <a:off x="914400" y="3927053"/>
            <a:ext cx="16459200" cy="2971800"/>
          </a:xfrm>
          <a:prstGeom prst="roundRect">
            <a:avLst>
              <a:gd name="adj" fmla="val 5128"/>
            </a:avLst>
          </a:prstGeom>
          <a:solidFill>
            <a:srgbClr val="FFFFFF"/>
          </a:solidFill>
          <a:ln w="14288">
            <a:solidFill>
              <a:srgbClr val="DDE5EC"/>
            </a:solidFill>
            <a:prstDash val="solid"/>
          </a:ln>
          <a:effectLst>
            <a:outerShdw sx="100000" sy="100000" kx="0" ky="0" algn="bl" rotWithShape="0" blurRad="133350" dist="38100" dir="5400000">
              <a:srgbClr val="0F1419">
                <a:alpha val="6000"/>
              </a:srgbClr>
            </a:outerShdw>
          </a:effectLst>
        </p:spPr>
      </p:sp>
      <p:sp>
        <p:nvSpPr>
          <p:cNvPr id="10" name="Text 7"/>
          <p:cNvSpPr/>
          <p:nvPr/>
        </p:nvSpPr>
        <p:spPr>
          <a:xfrm>
            <a:off x="1214438" y="4317578"/>
            <a:ext cx="1409700" cy="223838"/>
          </a:xfrm>
          <a:prstGeom prst="rect">
            <a:avLst/>
          </a:prstGeom>
          <a:noFill/>
          <a:ln/>
        </p:spPr>
        <p:txBody>
          <a:bodyPr wrap="square" lIns="25400" tIns="25400" rIns="25400" bIns="25400" rtlCol="0" anchor="t">
            <a:normAutofit/>
          </a:bodyPr>
          <a:lstStyle/>
          <a:p>
            <a:pPr algn="l" indent="0" marL="0">
              <a:lnSpc>
                <a:spcPct val="150000"/>
              </a:lnSpc>
              <a:buNone/>
            </a:pPr>
            <a:r>
              <a:rPr lang="en-US" sz="975" spc="98" kern="0" dirty="0">
                <a:solidFill>
                  <a:srgbClr val="6E7785"/>
                </a:solidFill>
                <a:latin typeface="Courier New" pitchFamily="34" charset="0"/>
                <a:ea typeface="Courier New" pitchFamily="34" charset="-122"/>
                <a:cs typeface="Courier New" pitchFamily="34" charset="-120"/>
              </a:rPr>
              <a:t>TENANT EDGE</a:t>
            </a:r>
            <a:endParaRPr lang="en-US" sz="975" dirty="0"/>
          </a:p>
        </p:txBody>
      </p:sp>
      <p:sp>
        <p:nvSpPr>
          <p:cNvPr id="11" name="Shape 8"/>
          <p:cNvSpPr/>
          <p:nvPr/>
        </p:nvSpPr>
        <p:spPr>
          <a:xfrm>
            <a:off x="2700338" y="4227091"/>
            <a:ext cx="1569765" cy="366713"/>
          </a:xfrm>
          <a:prstGeom prst="roundRect">
            <a:avLst>
              <a:gd name="adj" fmla="val 20779"/>
            </a:avLst>
          </a:prstGeom>
          <a:solidFill>
            <a:srgbClr val="EEEBFD"/>
          </a:solidFill>
          <a:ln w="14288">
            <a:solidFill>
              <a:srgbClr val="C8C0F8"/>
            </a:solidFill>
            <a:prstDash val="solid"/>
          </a:ln>
        </p:spPr>
      </p:sp>
      <p:sp>
        <p:nvSpPr>
          <p:cNvPr id="12" name="Text 9"/>
          <p:cNvSpPr/>
          <p:nvPr/>
        </p:nvSpPr>
        <p:spPr>
          <a:xfrm>
            <a:off x="2828925" y="4317578"/>
            <a:ext cx="1388790" cy="223838"/>
          </a:xfrm>
          <a:prstGeom prst="rect">
            <a:avLst/>
          </a:prstGeom>
          <a:noFill/>
          <a:ln/>
        </p:spPr>
        <p:txBody>
          <a:bodyPr wrap="square" lIns="25400" tIns="25400" rIns="25400" bIns="25400" rtlCol="0" anchor="ctr">
            <a:normAutofit/>
          </a:bodyPr>
          <a:lstStyle/>
          <a:p>
            <a:pPr algn="l" indent="0" marL="0">
              <a:lnSpc>
                <a:spcPct val="150000"/>
              </a:lnSpc>
              <a:buNone/>
            </a:pPr>
            <a:r>
              <a:rPr lang="en-US" sz="975" dirty="0">
                <a:solidFill>
                  <a:srgbClr val="4231CC"/>
                </a:solidFill>
                <a:latin typeface="Courier New" pitchFamily="34" charset="0"/>
                <a:ea typeface="Courier New" pitchFamily="34" charset="-122"/>
                <a:cs typeface="Courier New" pitchFamily="34" charset="-120"/>
              </a:rPr>
              <a:t>slug.hatchik.com</a:t>
            </a:r>
            <a:endParaRPr lang="en-US" sz="975" dirty="0"/>
          </a:p>
        </p:txBody>
      </p:sp>
      <p:sp>
        <p:nvSpPr>
          <p:cNvPr id="13" name="Shape 10"/>
          <p:cNvSpPr/>
          <p:nvPr/>
        </p:nvSpPr>
        <p:spPr>
          <a:xfrm>
            <a:off x="4346302" y="4227091"/>
            <a:ext cx="1198290" cy="366713"/>
          </a:xfrm>
          <a:prstGeom prst="roundRect">
            <a:avLst>
              <a:gd name="adj" fmla="val 20779"/>
            </a:avLst>
          </a:prstGeom>
          <a:solidFill>
            <a:srgbClr val="EEF2F7"/>
          </a:solidFill>
          <a:ln w="14288">
            <a:solidFill>
              <a:srgbClr val="DDE5EC"/>
            </a:solidFill>
            <a:prstDash val="solid"/>
          </a:ln>
        </p:spPr>
      </p:sp>
      <p:sp>
        <p:nvSpPr>
          <p:cNvPr id="14" name="Text 11"/>
          <p:cNvSpPr/>
          <p:nvPr/>
        </p:nvSpPr>
        <p:spPr>
          <a:xfrm>
            <a:off x="4474890" y="4317578"/>
            <a:ext cx="1017315" cy="223838"/>
          </a:xfrm>
          <a:prstGeom prst="rect">
            <a:avLst/>
          </a:prstGeom>
          <a:noFill/>
          <a:ln/>
        </p:spPr>
        <p:txBody>
          <a:bodyPr wrap="square" lIns="25400" tIns="25400" rIns="25400" bIns="25400" rtlCol="0" anchor="ctr">
            <a:normAutofit/>
          </a:bodyPr>
          <a:lstStyle/>
          <a:p>
            <a:pPr algn="l" indent="0" marL="0">
              <a:lnSpc>
                <a:spcPct val="150000"/>
              </a:lnSpc>
              <a:buNone/>
            </a:pPr>
            <a:r>
              <a:rPr lang="en-US" sz="975" dirty="0">
                <a:solidFill>
                  <a:srgbClr val="0F1419"/>
                </a:solidFill>
                <a:latin typeface="Courier New" pitchFamily="34" charset="0"/>
                <a:ea typeface="Courier New" pitchFamily="34" charset="-122"/>
                <a:cs typeface="Courier New" pitchFamily="34" charset="-120"/>
              </a:rPr>
              <a:t>Caddy · TLS</a:t>
            </a:r>
            <a:endParaRPr lang="en-US" sz="975" dirty="0"/>
          </a:p>
        </p:txBody>
      </p:sp>
      <p:sp>
        <p:nvSpPr>
          <p:cNvPr id="15" name="Shape 12"/>
          <p:cNvSpPr/>
          <p:nvPr/>
        </p:nvSpPr>
        <p:spPr>
          <a:xfrm>
            <a:off x="5620792" y="4227091"/>
            <a:ext cx="1123950" cy="366713"/>
          </a:xfrm>
          <a:prstGeom prst="roundRect">
            <a:avLst>
              <a:gd name="adj" fmla="val 20779"/>
            </a:avLst>
          </a:prstGeom>
          <a:solidFill>
            <a:srgbClr val="EEF2F7"/>
          </a:solidFill>
          <a:ln w="14288">
            <a:solidFill>
              <a:srgbClr val="DDE5EC"/>
            </a:solidFill>
            <a:prstDash val="solid"/>
          </a:ln>
        </p:spPr>
      </p:sp>
      <p:sp>
        <p:nvSpPr>
          <p:cNvPr id="16" name="Text 13"/>
          <p:cNvSpPr/>
          <p:nvPr/>
        </p:nvSpPr>
        <p:spPr>
          <a:xfrm>
            <a:off x="5749379" y="4317578"/>
            <a:ext cx="942975" cy="223838"/>
          </a:xfrm>
          <a:prstGeom prst="rect">
            <a:avLst/>
          </a:prstGeom>
          <a:noFill/>
          <a:ln/>
        </p:spPr>
        <p:txBody>
          <a:bodyPr wrap="square" lIns="25400" tIns="25400" rIns="25400" bIns="25400" rtlCol="0" anchor="ctr">
            <a:normAutofit/>
          </a:bodyPr>
          <a:lstStyle/>
          <a:p>
            <a:pPr algn="l" indent="0" marL="0">
              <a:lnSpc>
                <a:spcPct val="150000"/>
              </a:lnSpc>
              <a:buNone/>
            </a:pPr>
            <a:r>
              <a:rPr lang="en-US" sz="975" dirty="0">
                <a:solidFill>
                  <a:srgbClr val="0F1419"/>
                </a:solidFill>
                <a:latin typeface="Courier New" pitchFamily="34" charset="0"/>
                <a:ea typeface="Courier New" pitchFamily="34" charset="-122"/>
                <a:cs typeface="Courier New" pitchFamily="34" charset="-120"/>
              </a:rPr>
              <a:t>Cloudflare</a:t>
            </a:r>
            <a:endParaRPr lang="en-US" sz="975" dirty="0"/>
          </a:p>
        </p:txBody>
      </p:sp>
      <p:sp>
        <p:nvSpPr>
          <p:cNvPr id="17" name="Shape 14"/>
          <p:cNvSpPr/>
          <p:nvPr/>
        </p:nvSpPr>
        <p:spPr>
          <a:xfrm>
            <a:off x="6820942" y="4227091"/>
            <a:ext cx="1049685" cy="366713"/>
          </a:xfrm>
          <a:prstGeom prst="roundRect">
            <a:avLst>
              <a:gd name="adj" fmla="val 20779"/>
            </a:avLst>
          </a:prstGeom>
          <a:solidFill>
            <a:srgbClr val="EEF2F7"/>
          </a:solidFill>
          <a:ln w="14288">
            <a:solidFill>
              <a:srgbClr val="DDE5EC"/>
            </a:solidFill>
            <a:prstDash val="solid"/>
          </a:ln>
        </p:spPr>
      </p:sp>
      <p:sp>
        <p:nvSpPr>
          <p:cNvPr id="18" name="Text 15"/>
          <p:cNvSpPr/>
          <p:nvPr/>
        </p:nvSpPr>
        <p:spPr>
          <a:xfrm>
            <a:off x="6949529" y="4317578"/>
            <a:ext cx="868710" cy="223838"/>
          </a:xfrm>
          <a:prstGeom prst="rect">
            <a:avLst/>
          </a:prstGeom>
          <a:noFill/>
          <a:ln/>
        </p:spPr>
        <p:txBody>
          <a:bodyPr wrap="square" lIns="25400" tIns="25400" rIns="25400" bIns="25400" rtlCol="0" anchor="ctr">
            <a:normAutofit/>
          </a:bodyPr>
          <a:lstStyle/>
          <a:p>
            <a:pPr algn="l" indent="0" marL="0">
              <a:lnSpc>
                <a:spcPct val="150000"/>
              </a:lnSpc>
              <a:buNone/>
            </a:pPr>
            <a:r>
              <a:rPr lang="en-US" sz="975" dirty="0">
                <a:solidFill>
                  <a:srgbClr val="0F1419"/>
                </a:solidFill>
                <a:latin typeface="Courier New" pitchFamily="34" charset="0"/>
                <a:ea typeface="Courier New" pitchFamily="34" charset="-122"/>
                <a:cs typeface="Courier New" pitchFamily="34" charset="-120"/>
              </a:rPr>
              <a:t>Turnstile</a:t>
            </a:r>
            <a:endParaRPr lang="en-US" sz="975" dirty="0"/>
          </a:p>
        </p:txBody>
      </p:sp>
      <p:sp>
        <p:nvSpPr>
          <p:cNvPr id="19" name="Text 16"/>
          <p:cNvSpPr/>
          <p:nvPr/>
        </p:nvSpPr>
        <p:spPr>
          <a:xfrm>
            <a:off x="1214438" y="4817641"/>
            <a:ext cx="1409700" cy="223838"/>
          </a:xfrm>
          <a:prstGeom prst="rect">
            <a:avLst/>
          </a:prstGeom>
          <a:noFill/>
          <a:ln/>
        </p:spPr>
        <p:txBody>
          <a:bodyPr wrap="square" lIns="25400" tIns="25400" rIns="25400" bIns="25400" rtlCol="0" anchor="t">
            <a:normAutofit/>
          </a:bodyPr>
          <a:lstStyle/>
          <a:p>
            <a:pPr algn="l" indent="0" marL="0">
              <a:lnSpc>
                <a:spcPct val="150000"/>
              </a:lnSpc>
              <a:buNone/>
            </a:pPr>
            <a:r>
              <a:rPr lang="en-US" sz="975" spc="98" kern="0" dirty="0">
                <a:solidFill>
                  <a:srgbClr val="6E7785"/>
                </a:solidFill>
                <a:latin typeface="Courier New" pitchFamily="34" charset="0"/>
                <a:ea typeface="Courier New" pitchFamily="34" charset="-122"/>
                <a:cs typeface="Courier New" pitchFamily="34" charset="-120"/>
              </a:rPr>
              <a:t>APP LAYER</a:t>
            </a:r>
            <a:endParaRPr lang="en-US" sz="975" dirty="0"/>
          </a:p>
        </p:txBody>
      </p:sp>
      <p:sp>
        <p:nvSpPr>
          <p:cNvPr id="20" name="Shape 17"/>
          <p:cNvSpPr/>
          <p:nvPr/>
        </p:nvSpPr>
        <p:spPr>
          <a:xfrm>
            <a:off x="2700338" y="4727153"/>
            <a:ext cx="1346895" cy="366713"/>
          </a:xfrm>
          <a:prstGeom prst="roundRect">
            <a:avLst>
              <a:gd name="adj" fmla="val 20779"/>
            </a:avLst>
          </a:prstGeom>
          <a:solidFill>
            <a:srgbClr val="EEF2F7"/>
          </a:solidFill>
          <a:ln w="14288">
            <a:solidFill>
              <a:srgbClr val="DDE5EC"/>
            </a:solidFill>
            <a:prstDash val="solid"/>
          </a:ln>
        </p:spPr>
      </p:sp>
      <p:sp>
        <p:nvSpPr>
          <p:cNvPr id="21" name="Text 18"/>
          <p:cNvSpPr/>
          <p:nvPr/>
        </p:nvSpPr>
        <p:spPr>
          <a:xfrm>
            <a:off x="2828925" y="4817641"/>
            <a:ext cx="1165920" cy="223838"/>
          </a:xfrm>
          <a:prstGeom prst="rect">
            <a:avLst/>
          </a:prstGeom>
          <a:noFill/>
          <a:ln/>
        </p:spPr>
        <p:txBody>
          <a:bodyPr wrap="square" lIns="25400" tIns="25400" rIns="25400" bIns="25400" rtlCol="0" anchor="ctr">
            <a:normAutofit/>
          </a:bodyPr>
          <a:lstStyle/>
          <a:p>
            <a:pPr algn="l" indent="0" marL="0">
              <a:lnSpc>
                <a:spcPct val="150000"/>
              </a:lnSpc>
              <a:buNone/>
            </a:pPr>
            <a:r>
              <a:rPr lang="en-US" sz="975" dirty="0">
                <a:solidFill>
                  <a:srgbClr val="0F1419"/>
                </a:solidFill>
                <a:latin typeface="Courier New" pitchFamily="34" charset="0"/>
                <a:ea typeface="Courier New" pitchFamily="34" charset="-122"/>
                <a:cs typeface="Courier New" pitchFamily="34" charset="-120"/>
              </a:rPr>
              <a:t>Next.js · web</a:t>
            </a:r>
            <a:endParaRPr lang="en-US" sz="975" dirty="0"/>
          </a:p>
        </p:txBody>
      </p:sp>
      <p:sp>
        <p:nvSpPr>
          <p:cNvPr id="22" name="Shape 19"/>
          <p:cNvSpPr/>
          <p:nvPr/>
        </p:nvSpPr>
        <p:spPr>
          <a:xfrm>
            <a:off x="4123432" y="4727153"/>
            <a:ext cx="2238375" cy="366713"/>
          </a:xfrm>
          <a:prstGeom prst="roundRect">
            <a:avLst>
              <a:gd name="adj" fmla="val 20779"/>
            </a:avLst>
          </a:prstGeom>
          <a:solidFill>
            <a:srgbClr val="EEF2F7"/>
          </a:solidFill>
          <a:ln w="14288">
            <a:solidFill>
              <a:srgbClr val="DDE5EC"/>
            </a:solidFill>
            <a:prstDash val="solid"/>
          </a:ln>
        </p:spPr>
      </p:sp>
      <p:sp>
        <p:nvSpPr>
          <p:cNvPr id="23" name="Text 20"/>
          <p:cNvSpPr/>
          <p:nvPr/>
        </p:nvSpPr>
        <p:spPr>
          <a:xfrm>
            <a:off x="4252020" y="4817641"/>
            <a:ext cx="2057400" cy="223838"/>
          </a:xfrm>
          <a:prstGeom prst="rect">
            <a:avLst/>
          </a:prstGeom>
          <a:noFill/>
          <a:ln/>
        </p:spPr>
        <p:txBody>
          <a:bodyPr wrap="square" lIns="25400" tIns="25400" rIns="25400" bIns="25400" rtlCol="0" anchor="ctr">
            <a:normAutofit/>
          </a:bodyPr>
          <a:lstStyle/>
          <a:p>
            <a:pPr algn="l" indent="0" marL="0">
              <a:lnSpc>
                <a:spcPct val="150000"/>
              </a:lnSpc>
              <a:buNone/>
            </a:pPr>
            <a:r>
              <a:rPr lang="en-US" sz="975" dirty="0">
                <a:solidFill>
                  <a:srgbClr val="0F1419"/>
                </a:solidFill>
                <a:latin typeface="Courier New" pitchFamily="34" charset="0"/>
                <a:ea typeface="Courier New" pitchFamily="34" charset="-122"/>
                <a:cs typeface="Courier New" pitchFamily="34" charset="-120"/>
              </a:rPr>
              <a:t>Capacitor · iOS + Android</a:t>
            </a:r>
            <a:endParaRPr lang="en-US" sz="975" dirty="0"/>
          </a:p>
        </p:txBody>
      </p:sp>
      <p:sp>
        <p:nvSpPr>
          <p:cNvPr id="24" name="Shape 21"/>
          <p:cNvSpPr/>
          <p:nvPr/>
        </p:nvSpPr>
        <p:spPr>
          <a:xfrm>
            <a:off x="6438007" y="4727153"/>
            <a:ext cx="1941240" cy="366713"/>
          </a:xfrm>
          <a:prstGeom prst="roundRect">
            <a:avLst>
              <a:gd name="adj" fmla="val 20779"/>
            </a:avLst>
          </a:prstGeom>
          <a:solidFill>
            <a:srgbClr val="EEEBFD"/>
          </a:solidFill>
          <a:ln w="14288">
            <a:solidFill>
              <a:srgbClr val="C8C0F8"/>
            </a:solidFill>
            <a:prstDash val="solid"/>
          </a:ln>
        </p:spPr>
      </p:sp>
      <p:sp>
        <p:nvSpPr>
          <p:cNvPr id="25" name="Text 22"/>
          <p:cNvSpPr/>
          <p:nvPr/>
        </p:nvSpPr>
        <p:spPr>
          <a:xfrm>
            <a:off x="6566595" y="4817641"/>
            <a:ext cx="1760265" cy="223838"/>
          </a:xfrm>
          <a:prstGeom prst="rect">
            <a:avLst/>
          </a:prstGeom>
          <a:noFill/>
          <a:ln/>
        </p:spPr>
        <p:txBody>
          <a:bodyPr wrap="square" lIns="25400" tIns="25400" rIns="25400" bIns="25400" rtlCol="0" anchor="ctr">
            <a:normAutofit/>
          </a:bodyPr>
          <a:lstStyle/>
          <a:p>
            <a:pPr algn="l" indent="0" marL="0">
              <a:lnSpc>
                <a:spcPct val="150000"/>
              </a:lnSpc>
              <a:buNone/>
            </a:pPr>
            <a:r>
              <a:rPr lang="en-US" sz="975" dirty="0">
                <a:solidFill>
                  <a:srgbClr val="4231CC"/>
                </a:solidFill>
                <a:latin typeface="Courier New" pitchFamily="34" charset="0"/>
                <a:ea typeface="Courier New" pitchFamily="34" charset="-122"/>
                <a:cs typeface="Courier New" pitchFamily="34" charset="-120"/>
              </a:rPr>
              <a:t>AI_CONTEXT.md handoff</a:t>
            </a:r>
            <a:endParaRPr lang="en-US" sz="975" dirty="0"/>
          </a:p>
        </p:txBody>
      </p:sp>
      <p:sp>
        <p:nvSpPr>
          <p:cNvPr id="26" name="Text 23"/>
          <p:cNvSpPr/>
          <p:nvPr/>
        </p:nvSpPr>
        <p:spPr>
          <a:xfrm>
            <a:off x="1214438" y="5317703"/>
            <a:ext cx="1409700" cy="223838"/>
          </a:xfrm>
          <a:prstGeom prst="rect">
            <a:avLst/>
          </a:prstGeom>
          <a:noFill/>
          <a:ln/>
        </p:spPr>
        <p:txBody>
          <a:bodyPr wrap="square" lIns="25400" tIns="25400" rIns="25400" bIns="25400" rtlCol="0" anchor="t">
            <a:normAutofit/>
          </a:bodyPr>
          <a:lstStyle/>
          <a:p>
            <a:pPr algn="l" indent="0" marL="0">
              <a:lnSpc>
                <a:spcPct val="150000"/>
              </a:lnSpc>
              <a:buNone/>
            </a:pPr>
            <a:r>
              <a:rPr lang="en-US" sz="975" spc="98" kern="0" dirty="0">
                <a:solidFill>
                  <a:srgbClr val="6E7785"/>
                </a:solidFill>
                <a:latin typeface="Courier New" pitchFamily="34" charset="0"/>
                <a:ea typeface="Courier New" pitchFamily="34" charset="-122"/>
                <a:cs typeface="Courier New" pitchFamily="34" charset="-120"/>
              </a:rPr>
              <a:t>DATA + IDENTITY</a:t>
            </a:r>
            <a:endParaRPr lang="en-US" sz="975" dirty="0"/>
          </a:p>
        </p:txBody>
      </p:sp>
      <p:sp>
        <p:nvSpPr>
          <p:cNvPr id="27" name="Shape 24"/>
          <p:cNvSpPr/>
          <p:nvPr/>
        </p:nvSpPr>
        <p:spPr>
          <a:xfrm>
            <a:off x="2700338" y="5227216"/>
            <a:ext cx="1792635" cy="366713"/>
          </a:xfrm>
          <a:prstGeom prst="roundRect">
            <a:avLst>
              <a:gd name="adj" fmla="val 20779"/>
            </a:avLst>
          </a:prstGeom>
          <a:solidFill>
            <a:srgbClr val="EEF2F7"/>
          </a:solidFill>
          <a:ln w="14288">
            <a:solidFill>
              <a:srgbClr val="DDE5EC"/>
            </a:solidFill>
            <a:prstDash val="solid"/>
          </a:ln>
        </p:spPr>
      </p:sp>
      <p:sp>
        <p:nvSpPr>
          <p:cNvPr id="28" name="Text 25"/>
          <p:cNvSpPr/>
          <p:nvPr/>
        </p:nvSpPr>
        <p:spPr>
          <a:xfrm>
            <a:off x="2828925" y="5317703"/>
            <a:ext cx="1611660" cy="223838"/>
          </a:xfrm>
          <a:prstGeom prst="rect">
            <a:avLst/>
          </a:prstGeom>
          <a:noFill/>
          <a:ln/>
        </p:spPr>
        <p:txBody>
          <a:bodyPr wrap="square" lIns="25400" tIns="25400" rIns="25400" bIns="25400" rtlCol="0" anchor="ctr">
            <a:normAutofit/>
          </a:bodyPr>
          <a:lstStyle/>
          <a:p>
            <a:pPr algn="l" indent="0" marL="0">
              <a:lnSpc>
                <a:spcPct val="150000"/>
              </a:lnSpc>
              <a:buNone/>
            </a:pPr>
            <a:r>
              <a:rPr lang="en-US" sz="975" dirty="0">
                <a:solidFill>
                  <a:srgbClr val="0F1419"/>
                </a:solidFill>
                <a:latin typeface="Courier New" pitchFamily="34" charset="0"/>
                <a:ea typeface="Courier New" pitchFamily="34" charset="-122"/>
                <a:cs typeface="Courier New" pitchFamily="34" charset="-120"/>
              </a:rPr>
              <a:t>Postgres · Supabase</a:t>
            </a:r>
            <a:endParaRPr lang="en-US" sz="975" dirty="0"/>
          </a:p>
        </p:txBody>
      </p:sp>
      <p:sp>
        <p:nvSpPr>
          <p:cNvPr id="29" name="Shape 26"/>
          <p:cNvSpPr/>
          <p:nvPr/>
        </p:nvSpPr>
        <p:spPr>
          <a:xfrm>
            <a:off x="4569172" y="5227216"/>
            <a:ext cx="1644030" cy="366713"/>
          </a:xfrm>
          <a:prstGeom prst="roundRect">
            <a:avLst>
              <a:gd name="adj" fmla="val 20779"/>
            </a:avLst>
          </a:prstGeom>
          <a:solidFill>
            <a:srgbClr val="EEF2F7"/>
          </a:solidFill>
          <a:ln w="14288">
            <a:solidFill>
              <a:srgbClr val="DDE5EC"/>
            </a:solidFill>
            <a:prstDash val="solid"/>
          </a:ln>
        </p:spPr>
      </p:sp>
      <p:sp>
        <p:nvSpPr>
          <p:cNvPr id="30" name="Text 27"/>
          <p:cNvSpPr/>
          <p:nvPr/>
        </p:nvSpPr>
        <p:spPr>
          <a:xfrm>
            <a:off x="4697760" y="5317703"/>
            <a:ext cx="1463055" cy="223838"/>
          </a:xfrm>
          <a:prstGeom prst="rect">
            <a:avLst/>
          </a:prstGeom>
          <a:noFill/>
          <a:ln/>
        </p:spPr>
        <p:txBody>
          <a:bodyPr wrap="square" lIns="25400" tIns="25400" rIns="25400" bIns="25400" rtlCol="0" anchor="ctr">
            <a:normAutofit/>
          </a:bodyPr>
          <a:lstStyle/>
          <a:p>
            <a:pPr algn="l" indent="0" marL="0">
              <a:lnSpc>
                <a:spcPct val="150000"/>
              </a:lnSpc>
              <a:buNone/>
            </a:pPr>
            <a:r>
              <a:rPr lang="en-US" sz="975" dirty="0">
                <a:solidFill>
                  <a:srgbClr val="0F1419"/>
                </a:solidFill>
                <a:latin typeface="Courier New" pitchFamily="34" charset="0"/>
                <a:ea typeface="Courier New" pitchFamily="34" charset="-122"/>
                <a:cs typeface="Courier New" pitchFamily="34" charset="-120"/>
              </a:rPr>
              <a:t>Auth · magic-link</a:t>
            </a:r>
            <a:endParaRPr lang="en-US" sz="975" dirty="0"/>
          </a:p>
        </p:txBody>
      </p:sp>
      <p:sp>
        <p:nvSpPr>
          <p:cNvPr id="31" name="Shape 28"/>
          <p:cNvSpPr/>
          <p:nvPr/>
        </p:nvSpPr>
        <p:spPr>
          <a:xfrm>
            <a:off x="6289402" y="5227216"/>
            <a:ext cx="901080" cy="366713"/>
          </a:xfrm>
          <a:prstGeom prst="roundRect">
            <a:avLst>
              <a:gd name="adj" fmla="val 20779"/>
            </a:avLst>
          </a:prstGeom>
          <a:solidFill>
            <a:srgbClr val="EEF2F7"/>
          </a:solidFill>
          <a:ln w="14288">
            <a:solidFill>
              <a:srgbClr val="DDE5EC"/>
            </a:solidFill>
            <a:prstDash val="solid"/>
          </a:ln>
        </p:spPr>
      </p:sp>
      <p:sp>
        <p:nvSpPr>
          <p:cNvPr id="32" name="Text 29"/>
          <p:cNvSpPr/>
          <p:nvPr/>
        </p:nvSpPr>
        <p:spPr>
          <a:xfrm>
            <a:off x="6417990" y="5317703"/>
            <a:ext cx="720105" cy="223838"/>
          </a:xfrm>
          <a:prstGeom prst="rect">
            <a:avLst/>
          </a:prstGeom>
          <a:noFill/>
          <a:ln/>
        </p:spPr>
        <p:txBody>
          <a:bodyPr wrap="square" lIns="25400" tIns="25400" rIns="25400" bIns="25400" rtlCol="0" anchor="ctr">
            <a:normAutofit/>
          </a:bodyPr>
          <a:lstStyle/>
          <a:p>
            <a:pPr algn="l" indent="0" marL="0">
              <a:lnSpc>
                <a:spcPct val="150000"/>
              </a:lnSpc>
              <a:buNone/>
            </a:pPr>
            <a:r>
              <a:rPr lang="en-US" sz="975" dirty="0">
                <a:solidFill>
                  <a:srgbClr val="0F1419"/>
                </a:solidFill>
                <a:latin typeface="Courier New" pitchFamily="34" charset="0"/>
                <a:ea typeface="Courier New" pitchFamily="34" charset="-122"/>
                <a:cs typeface="Courier New" pitchFamily="34" charset="-120"/>
              </a:rPr>
              <a:t>Storage</a:t>
            </a:r>
            <a:endParaRPr lang="en-US" sz="975" dirty="0"/>
          </a:p>
        </p:txBody>
      </p:sp>
      <p:sp>
        <p:nvSpPr>
          <p:cNvPr id="33" name="Shape 30"/>
          <p:cNvSpPr/>
          <p:nvPr/>
        </p:nvSpPr>
        <p:spPr>
          <a:xfrm>
            <a:off x="7266682" y="5227216"/>
            <a:ext cx="975420" cy="366713"/>
          </a:xfrm>
          <a:prstGeom prst="roundRect">
            <a:avLst>
              <a:gd name="adj" fmla="val 20779"/>
            </a:avLst>
          </a:prstGeom>
          <a:solidFill>
            <a:srgbClr val="EEF2F7"/>
          </a:solidFill>
          <a:ln w="14288">
            <a:solidFill>
              <a:srgbClr val="DDE5EC"/>
            </a:solidFill>
            <a:prstDash val="solid"/>
          </a:ln>
        </p:spPr>
      </p:sp>
      <p:sp>
        <p:nvSpPr>
          <p:cNvPr id="34" name="Text 31"/>
          <p:cNvSpPr/>
          <p:nvPr/>
        </p:nvSpPr>
        <p:spPr>
          <a:xfrm>
            <a:off x="7395270" y="5317703"/>
            <a:ext cx="794445" cy="223838"/>
          </a:xfrm>
          <a:prstGeom prst="rect">
            <a:avLst/>
          </a:prstGeom>
          <a:noFill/>
          <a:ln/>
        </p:spPr>
        <p:txBody>
          <a:bodyPr wrap="square" lIns="25400" tIns="25400" rIns="25400" bIns="25400" rtlCol="0" anchor="ctr">
            <a:normAutofit/>
          </a:bodyPr>
          <a:lstStyle/>
          <a:p>
            <a:pPr algn="l" indent="0" marL="0">
              <a:lnSpc>
                <a:spcPct val="150000"/>
              </a:lnSpc>
              <a:buNone/>
            </a:pPr>
            <a:r>
              <a:rPr lang="en-US" sz="975" dirty="0">
                <a:solidFill>
                  <a:srgbClr val="0F1419"/>
                </a:solidFill>
                <a:latin typeface="Courier New" pitchFamily="34" charset="0"/>
                <a:ea typeface="Courier New" pitchFamily="34" charset="-122"/>
                <a:cs typeface="Courier New" pitchFamily="34" charset="-120"/>
              </a:rPr>
              <a:t>Realtime</a:t>
            </a:r>
            <a:endParaRPr lang="en-US" sz="975" dirty="0"/>
          </a:p>
        </p:txBody>
      </p:sp>
      <p:sp>
        <p:nvSpPr>
          <p:cNvPr id="35" name="Text 32"/>
          <p:cNvSpPr/>
          <p:nvPr/>
        </p:nvSpPr>
        <p:spPr>
          <a:xfrm>
            <a:off x="1214438" y="5727278"/>
            <a:ext cx="1409700" cy="409575"/>
          </a:xfrm>
          <a:prstGeom prst="rect">
            <a:avLst/>
          </a:prstGeom>
          <a:noFill/>
          <a:ln/>
        </p:spPr>
        <p:txBody>
          <a:bodyPr wrap="square" lIns="25400" tIns="25400" rIns="25400" bIns="25400" rtlCol="0" anchor="t">
            <a:normAutofit/>
          </a:bodyPr>
          <a:lstStyle/>
          <a:p>
            <a:pPr algn="l" indent="0" marL="0">
              <a:lnSpc>
                <a:spcPct val="150000"/>
              </a:lnSpc>
              <a:buNone/>
            </a:pPr>
            <a:r>
              <a:rPr lang="en-US" sz="975" spc="98" kern="0" dirty="0">
                <a:solidFill>
                  <a:srgbClr val="6E7785"/>
                </a:solidFill>
                <a:latin typeface="Courier New" pitchFamily="34" charset="0"/>
                <a:ea typeface="Courier New" pitchFamily="34" charset="-122"/>
                <a:cs typeface="Courier New" pitchFamily="34" charset="-120"/>
              </a:rPr>
              <a:t>BUSINESS PLUMBING</a:t>
            </a:r>
            <a:endParaRPr lang="en-US" sz="975" dirty="0"/>
          </a:p>
        </p:txBody>
      </p:sp>
      <p:sp>
        <p:nvSpPr>
          <p:cNvPr id="36" name="Shape 33"/>
          <p:cNvSpPr/>
          <p:nvPr/>
        </p:nvSpPr>
        <p:spPr>
          <a:xfrm>
            <a:off x="2700338" y="5729660"/>
            <a:ext cx="1644030" cy="366713"/>
          </a:xfrm>
          <a:prstGeom prst="roundRect">
            <a:avLst>
              <a:gd name="adj" fmla="val 20779"/>
            </a:avLst>
          </a:prstGeom>
          <a:solidFill>
            <a:srgbClr val="EEF2F7"/>
          </a:solidFill>
          <a:ln w="14288">
            <a:solidFill>
              <a:srgbClr val="DDE5EC"/>
            </a:solidFill>
            <a:prstDash val="solid"/>
          </a:ln>
        </p:spPr>
      </p:sp>
      <p:sp>
        <p:nvSpPr>
          <p:cNvPr id="37" name="Text 34"/>
          <p:cNvSpPr/>
          <p:nvPr/>
        </p:nvSpPr>
        <p:spPr>
          <a:xfrm>
            <a:off x="2828925" y="5820147"/>
            <a:ext cx="1463055" cy="223838"/>
          </a:xfrm>
          <a:prstGeom prst="rect">
            <a:avLst/>
          </a:prstGeom>
          <a:noFill/>
          <a:ln/>
        </p:spPr>
        <p:txBody>
          <a:bodyPr wrap="square" lIns="25400" tIns="25400" rIns="25400" bIns="25400" rtlCol="0" anchor="ctr">
            <a:normAutofit/>
          </a:bodyPr>
          <a:lstStyle/>
          <a:p>
            <a:pPr algn="l" indent="0" marL="0">
              <a:lnSpc>
                <a:spcPct val="150000"/>
              </a:lnSpc>
              <a:buNone/>
            </a:pPr>
            <a:r>
              <a:rPr lang="en-US" sz="975" dirty="0">
                <a:solidFill>
                  <a:srgbClr val="0F1419"/>
                </a:solidFill>
                <a:latin typeface="Courier New" pitchFamily="34" charset="0"/>
                <a:ea typeface="Courier New" pitchFamily="34" charset="-122"/>
                <a:cs typeface="Courier New" pitchFamily="34" charset="-120"/>
              </a:rPr>
              <a:t>Stripe · checkout</a:t>
            </a:r>
            <a:endParaRPr lang="en-US" sz="975" dirty="0"/>
          </a:p>
        </p:txBody>
      </p:sp>
      <p:sp>
        <p:nvSpPr>
          <p:cNvPr id="38" name="Shape 35"/>
          <p:cNvSpPr/>
          <p:nvPr/>
        </p:nvSpPr>
        <p:spPr>
          <a:xfrm>
            <a:off x="4420567" y="5729660"/>
            <a:ext cx="1272555" cy="366713"/>
          </a:xfrm>
          <a:prstGeom prst="roundRect">
            <a:avLst>
              <a:gd name="adj" fmla="val 20779"/>
            </a:avLst>
          </a:prstGeom>
          <a:solidFill>
            <a:srgbClr val="EEF2F7"/>
          </a:solidFill>
          <a:ln w="14288">
            <a:solidFill>
              <a:srgbClr val="DDE5EC"/>
            </a:solidFill>
            <a:prstDash val="solid"/>
          </a:ln>
        </p:spPr>
      </p:sp>
      <p:sp>
        <p:nvSpPr>
          <p:cNvPr id="39" name="Text 36"/>
          <p:cNvSpPr/>
          <p:nvPr/>
        </p:nvSpPr>
        <p:spPr>
          <a:xfrm>
            <a:off x="4549155" y="5820147"/>
            <a:ext cx="1091580" cy="223838"/>
          </a:xfrm>
          <a:prstGeom prst="rect">
            <a:avLst/>
          </a:prstGeom>
          <a:noFill/>
          <a:ln/>
        </p:spPr>
        <p:txBody>
          <a:bodyPr wrap="square" lIns="25400" tIns="25400" rIns="25400" bIns="25400" rtlCol="0" anchor="ctr">
            <a:normAutofit/>
          </a:bodyPr>
          <a:lstStyle/>
          <a:p>
            <a:pPr algn="l" indent="0" marL="0">
              <a:lnSpc>
                <a:spcPct val="150000"/>
              </a:lnSpc>
              <a:buNone/>
            </a:pPr>
            <a:r>
              <a:rPr lang="en-US" sz="975" dirty="0">
                <a:solidFill>
                  <a:srgbClr val="0F1419"/>
                </a:solidFill>
                <a:latin typeface="Courier New" pitchFamily="34" charset="0"/>
                <a:ea typeface="Courier New" pitchFamily="34" charset="-122"/>
                <a:cs typeface="Courier New" pitchFamily="34" charset="-120"/>
              </a:rPr>
              <a:t>Paddle · MoR</a:t>
            </a:r>
            <a:endParaRPr lang="en-US" sz="975" dirty="0"/>
          </a:p>
        </p:txBody>
      </p:sp>
      <p:sp>
        <p:nvSpPr>
          <p:cNvPr id="40" name="Shape 37"/>
          <p:cNvSpPr/>
          <p:nvPr/>
        </p:nvSpPr>
        <p:spPr>
          <a:xfrm>
            <a:off x="5769322" y="5729660"/>
            <a:ext cx="1346895" cy="366713"/>
          </a:xfrm>
          <a:prstGeom prst="roundRect">
            <a:avLst>
              <a:gd name="adj" fmla="val 20779"/>
            </a:avLst>
          </a:prstGeom>
          <a:solidFill>
            <a:srgbClr val="EEF2F7"/>
          </a:solidFill>
          <a:ln w="14288">
            <a:solidFill>
              <a:srgbClr val="DDE5EC"/>
            </a:solidFill>
            <a:prstDash val="solid"/>
          </a:ln>
        </p:spPr>
      </p:sp>
      <p:sp>
        <p:nvSpPr>
          <p:cNvPr id="41" name="Text 38"/>
          <p:cNvSpPr/>
          <p:nvPr/>
        </p:nvSpPr>
        <p:spPr>
          <a:xfrm>
            <a:off x="5897910" y="5820147"/>
            <a:ext cx="1165920" cy="223838"/>
          </a:xfrm>
          <a:prstGeom prst="rect">
            <a:avLst/>
          </a:prstGeom>
          <a:noFill/>
          <a:ln/>
        </p:spPr>
        <p:txBody>
          <a:bodyPr wrap="square" lIns="25400" tIns="25400" rIns="25400" bIns="25400" rtlCol="0" anchor="ctr">
            <a:normAutofit/>
          </a:bodyPr>
          <a:lstStyle/>
          <a:p>
            <a:pPr algn="l" indent="0" marL="0">
              <a:lnSpc>
                <a:spcPct val="150000"/>
              </a:lnSpc>
              <a:buNone/>
            </a:pPr>
            <a:r>
              <a:rPr lang="en-US" sz="975" dirty="0">
                <a:solidFill>
                  <a:srgbClr val="0F1419"/>
                </a:solidFill>
                <a:latin typeface="Courier New" pitchFamily="34" charset="0"/>
                <a:ea typeface="Courier New" pitchFamily="34" charset="-122"/>
                <a:cs typeface="Courier New" pitchFamily="34" charset="-120"/>
              </a:rPr>
              <a:t>Resend · mail</a:t>
            </a:r>
            <a:endParaRPr lang="en-US" sz="975" dirty="0"/>
          </a:p>
        </p:txBody>
      </p:sp>
      <p:sp>
        <p:nvSpPr>
          <p:cNvPr id="42" name="Shape 39"/>
          <p:cNvSpPr/>
          <p:nvPr/>
        </p:nvSpPr>
        <p:spPr>
          <a:xfrm>
            <a:off x="7192417" y="5729660"/>
            <a:ext cx="1866900" cy="366713"/>
          </a:xfrm>
          <a:prstGeom prst="roundRect">
            <a:avLst>
              <a:gd name="adj" fmla="val 20779"/>
            </a:avLst>
          </a:prstGeom>
          <a:solidFill>
            <a:srgbClr val="EEF2F7"/>
          </a:solidFill>
          <a:ln w="14288">
            <a:solidFill>
              <a:srgbClr val="DDE5EC"/>
            </a:solidFill>
            <a:prstDash val="solid"/>
          </a:ln>
        </p:spPr>
      </p:sp>
      <p:sp>
        <p:nvSpPr>
          <p:cNvPr id="43" name="Text 40"/>
          <p:cNvSpPr/>
          <p:nvPr/>
        </p:nvSpPr>
        <p:spPr>
          <a:xfrm>
            <a:off x="7321004" y="5820147"/>
            <a:ext cx="1685925" cy="223838"/>
          </a:xfrm>
          <a:prstGeom prst="rect">
            <a:avLst/>
          </a:prstGeom>
          <a:noFill/>
          <a:ln/>
        </p:spPr>
        <p:txBody>
          <a:bodyPr wrap="square" lIns="25400" tIns="25400" rIns="25400" bIns="25400" rtlCol="0" anchor="ctr">
            <a:normAutofit/>
          </a:bodyPr>
          <a:lstStyle/>
          <a:p>
            <a:pPr algn="l" indent="0" marL="0">
              <a:lnSpc>
                <a:spcPct val="150000"/>
              </a:lnSpc>
              <a:buNone/>
            </a:pPr>
            <a:r>
              <a:rPr lang="en-US" sz="975" dirty="0">
                <a:solidFill>
                  <a:srgbClr val="0F1419"/>
                </a:solidFill>
                <a:latin typeface="Courier New" pitchFamily="34" charset="0"/>
                <a:ea typeface="Courier New" pitchFamily="34" charset="-122"/>
                <a:cs typeface="Courier New" pitchFamily="34" charset="-120"/>
              </a:rPr>
              <a:t>Infomaniak · 5 inbox</a:t>
            </a:r>
            <a:endParaRPr lang="en-US" sz="975" dirty="0"/>
          </a:p>
        </p:txBody>
      </p:sp>
      <p:sp>
        <p:nvSpPr>
          <p:cNvPr id="44" name="Text 41"/>
          <p:cNvSpPr/>
          <p:nvPr/>
        </p:nvSpPr>
        <p:spPr>
          <a:xfrm>
            <a:off x="1214438" y="6322591"/>
            <a:ext cx="1409700" cy="223838"/>
          </a:xfrm>
          <a:prstGeom prst="rect">
            <a:avLst/>
          </a:prstGeom>
          <a:noFill/>
          <a:ln/>
        </p:spPr>
        <p:txBody>
          <a:bodyPr wrap="square" lIns="25400" tIns="25400" rIns="25400" bIns="25400" rtlCol="0" anchor="t">
            <a:normAutofit/>
          </a:bodyPr>
          <a:lstStyle/>
          <a:p>
            <a:pPr algn="l" indent="0" marL="0">
              <a:lnSpc>
                <a:spcPct val="150000"/>
              </a:lnSpc>
              <a:buNone/>
            </a:pPr>
            <a:r>
              <a:rPr lang="en-US" sz="975" spc="98" kern="0" dirty="0">
                <a:solidFill>
                  <a:srgbClr val="6E7785"/>
                </a:solidFill>
                <a:latin typeface="Courier New" pitchFamily="34" charset="0"/>
                <a:ea typeface="Courier New" pitchFamily="34" charset="-122"/>
                <a:cs typeface="Courier New" pitchFamily="34" charset="-120"/>
              </a:rPr>
              <a:t>OPS + DELIVERY</a:t>
            </a:r>
            <a:endParaRPr lang="en-US" sz="975" dirty="0"/>
          </a:p>
        </p:txBody>
      </p:sp>
      <p:sp>
        <p:nvSpPr>
          <p:cNvPr id="45" name="Shape 42"/>
          <p:cNvSpPr/>
          <p:nvPr/>
        </p:nvSpPr>
        <p:spPr>
          <a:xfrm>
            <a:off x="2700338" y="6232103"/>
            <a:ext cx="1792635" cy="366713"/>
          </a:xfrm>
          <a:prstGeom prst="roundRect">
            <a:avLst>
              <a:gd name="adj" fmla="val 20779"/>
            </a:avLst>
          </a:prstGeom>
          <a:solidFill>
            <a:srgbClr val="161D2A"/>
          </a:solidFill>
          <a:ln w="14288">
            <a:solidFill>
              <a:srgbClr val="232C3D"/>
            </a:solidFill>
            <a:prstDash val="solid"/>
          </a:ln>
        </p:spPr>
      </p:sp>
      <p:sp>
        <p:nvSpPr>
          <p:cNvPr id="46" name="Text 43"/>
          <p:cNvSpPr/>
          <p:nvPr/>
        </p:nvSpPr>
        <p:spPr>
          <a:xfrm>
            <a:off x="2828925" y="6322591"/>
            <a:ext cx="1611660" cy="223838"/>
          </a:xfrm>
          <a:prstGeom prst="rect">
            <a:avLst/>
          </a:prstGeom>
          <a:noFill/>
          <a:ln/>
        </p:spPr>
        <p:txBody>
          <a:bodyPr wrap="square" lIns="25400" tIns="25400" rIns="25400" bIns="25400" rtlCol="0" anchor="ctr">
            <a:normAutofit/>
          </a:bodyPr>
          <a:lstStyle/>
          <a:p>
            <a:pPr algn="l" indent="0" marL="0">
              <a:lnSpc>
                <a:spcPct val="150000"/>
              </a:lnSpc>
              <a:buNone/>
            </a:pPr>
            <a:r>
              <a:rPr lang="en-US" sz="975" dirty="0">
                <a:solidFill>
                  <a:srgbClr val="F7FAFC"/>
                </a:solidFill>
                <a:latin typeface="Courier New" pitchFamily="34" charset="0"/>
                <a:ea typeface="Courier New" pitchFamily="34" charset="-122"/>
                <a:cs typeface="Courier New" pitchFamily="34" charset="-120"/>
              </a:rPr>
              <a:t>Private GitHub repo</a:t>
            </a:r>
            <a:endParaRPr lang="en-US" sz="975" dirty="0"/>
          </a:p>
        </p:txBody>
      </p:sp>
      <p:sp>
        <p:nvSpPr>
          <p:cNvPr id="47" name="Shape 44"/>
          <p:cNvSpPr/>
          <p:nvPr/>
        </p:nvSpPr>
        <p:spPr>
          <a:xfrm>
            <a:off x="4569172" y="6232103"/>
            <a:ext cx="2015505" cy="366713"/>
          </a:xfrm>
          <a:prstGeom prst="roundRect">
            <a:avLst>
              <a:gd name="adj" fmla="val 20779"/>
            </a:avLst>
          </a:prstGeom>
          <a:solidFill>
            <a:srgbClr val="161D2A"/>
          </a:solidFill>
          <a:ln w="14288">
            <a:solidFill>
              <a:srgbClr val="232C3D"/>
            </a:solidFill>
            <a:prstDash val="solid"/>
          </a:ln>
        </p:spPr>
      </p:sp>
      <p:sp>
        <p:nvSpPr>
          <p:cNvPr id="48" name="Text 45"/>
          <p:cNvSpPr/>
          <p:nvPr/>
        </p:nvSpPr>
        <p:spPr>
          <a:xfrm>
            <a:off x="4697760" y="6322591"/>
            <a:ext cx="1834530" cy="223838"/>
          </a:xfrm>
          <a:prstGeom prst="rect">
            <a:avLst/>
          </a:prstGeom>
          <a:noFill/>
          <a:ln/>
        </p:spPr>
        <p:txBody>
          <a:bodyPr wrap="square" lIns="25400" tIns="25400" rIns="25400" bIns="25400" rtlCol="0" anchor="ctr">
            <a:normAutofit/>
          </a:bodyPr>
          <a:lstStyle/>
          <a:p>
            <a:pPr algn="l" indent="0" marL="0">
              <a:lnSpc>
                <a:spcPct val="150000"/>
              </a:lnSpc>
              <a:buNone/>
            </a:pPr>
            <a:r>
              <a:rPr lang="en-US" sz="975" dirty="0">
                <a:solidFill>
                  <a:srgbClr val="F7FAFC"/>
                </a:solidFill>
                <a:latin typeface="Courier New" pitchFamily="34" charset="0"/>
                <a:ea typeface="Courier New" pitchFamily="34" charset="-122"/>
                <a:cs typeface="Courier New" pitchFamily="34" charset="-120"/>
              </a:rPr>
              <a:t>Push-to-deploy webhook</a:t>
            </a:r>
            <a:endParaRPr lang="en-US" sz="975" dirty="0"/>
          </a:p>
        </p:txBody>
      </p:sp>
      <p:sp>
        <p:nvSpPr>
          <p:cNvPr id="49" name="Shape 46"/>
          <p:cNvSpPr/>
          <p:nvPr/>
        </p:nvSpPr>
        <p:spPr>
          <a:xfrm>
            <a:off x="6660877" y="6232103"/>
            <a:ext cx="1198290" cy="366713"/>
          </a:xfrm>
          <a:prstGeom prst="roundRect">
            <a:avLst>
              <a:gd name="adj" fmla="val 20779"/>
            </a:avLst>
          </a:prstGeom>
          <a:solidFill>
            <a:srgbClr val="161D2A"/>
          </a:solidFill>
          <a:ln w="14288">
            <a:solidFill>
              <a:srgbClr val="232C3D"/>
            </a:solidFill>
            <a:prstDash val="solid"/>
          </a:ln>
        </p:spPr>
      </p:sp>
      <p:sp>
        <p:nvSpPr>
          <p:cNvPr id="50" name="Text 47"/>
          <p:cNvSpPr/>
          <p:nvPr/>
        </p:nvSpPr>
        <p:spPr>
          <a:xfrm>
            <a:off x="6789465" y="6322591"/>
            <a:ext cx="1017315" cy="223838"/>
          </a:xfrm>
          <a:prstGeom prst="rect">
            <a:avLst/>
          </a:prstGeom>
          <a:noFill/>
          <a:ln/>
        </p:spPr>
        <p:txBody>
          <a:bodyPr wrap="square" lIns="25400" tIns="25400" rIns="25400" bIns="25400" rtlCol="0" anchor="ctr">
            <a:normAutofit/>
          </a:bodyPr>
          <a:lstStyle/>
          <a:p>
            <a:pPr algn="l" indent="0" marL="0">
              <a:lnSpc>
                <a:spcPct val="150000"/>
              </a:lnSpc>
              <a:buNone/>
            </a:pPr>
            <a:r>
              <a:rPr lang="en-US" sz="975" dirty="0">
                <a:solidFill>
                  <a:srgbClr val="F7FAFC"/>
                </a:solidFill>
                <a:latin typeface="Courier New" pitchFamily="34" charset="0"/>
                <a:ea typeface="Courier New" pitchFamily="34" charset="-122"/>
                <a:cs typeface="Courier New" pitchFamily="34" charset="-120"/>
              </a:rPr>
              <a:t>Status page</a:t>
            </a:r>
            <a:endParaRPr lang="en-US" sz="975" dirty="0"/>
          </a:p>
        </p:txBody>
      </p:sp>
      <p:sp>
        <p:nvSpPr>
          <p:cNvPr id="51" name="Shape 48"/>
          <p:cNvSpPr/>
          <p:nvPr/>
        </p:nvSpPr>
        <p:spPr>
          <a:xfrm>
            <a:off x="7935367" y="6232103"/>
            <a:ext cx="1718295" cy="366713"/>
          </a:xfrm>
          <a:prstGeom prst="roundRect">
            <a:avLst>
              <a:gd name="adj" fmla="val 20779"/>
            </a:avLst>
          </a:prstGeom>
          <a:solidFill>
            <a:srgbClr val="161D2A"/>
          </a:solidFill>
          <a:ln w="14288">
            <a:solidFill>
              <a:srgbClr val="232C3D"/>
            </a:solidFill>
            <a:prstDash val="solid"/>
          </a:ln>
        </p:spPr>
      </p:sp>
      <p:sp>
        <p:nvSpPr>
          <p:cNvPr id="52" name="Text 49"/>
          <p:cNvSpPr/>
          <p:nvPr/>
        </p:nvSpPr>
        <p:spPr>
          <a:xfrm>
            <a:off x="8063954" y="6322591"/>
            <a:ext cx="1537320" cy="223838"/>
          </a:xfrm>
          <a:prstGeom prst="rect">
            <a:avLst/>
          </a:prstGeom>
          <a:noFill/>
          <a:ln/>
        </p:spPr>
        <p:txBody>
          <a:bodyPr wrap="square" lIns="25400" tIns="25400" rIns="25400" bIns="25400" rtlCol="0" anchor="ctr">
            <a:normAutofit/>
          </a:bodyPr>
          <a:lstStyle/>
          <a:p>
            <a:pPr algn="l" indent="0" marL="0">
              <a:lnSpc>
                <a:spcPct val="150000"/>
              </a:lnSpc>
              <a:buNone/>
            </a:pPr>
            <a:r>
              <a:rPr lang="en-US" sz="975" dirty="0">
                <a:solidFill>
                  <a:srgbClr val="F7FAFC"/>
                </a:solidFill>
                <a:latin typeface="Courier New" pitchFamily="34" charset="0"/>
                <a:ea typeface="Courier New" pitchFamily="34" charset="-122"/>
                <a:cs typeface="Courier New" pitchFamily="34" charset="-120"/>
              </a:rPr>
              <a:t>Snapshot + restore</a:t>
            </a:r>
            <a:endParaRPr lang="en-US" sz="975" dirty="0"/>
          </a:p>
        </p:txBody>
      </p:sp>
      <p:sp>
        <p:nvSpPr>
          <p:cNvPr id="53" name="Text 50"/>
          <p:cNvSpPr/>
          <p:nvPr/>
        </p:nvSpPr>
        <p:spPr>
          <a:xfrm>
            <a:off x="914400" y="7241753"/>
            <a:ext cx="16952976" cy="397148"/>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0F1419"/>
                </a:solidFill>
                <a:latin typeface="Arial" pitchFamily="34" charset="0"/>
                <a:ea typeface="Arial" pitchFamily="34" charset="-122"/>
                <a:cs typeface="Arial" pitchFamily="34" charset="-120"/>
              </a:rPr>
              <a:t>Customer goes from "looks working" to "real product" </a:t>
            </a:r>
            <a:pPr algn="l" indent="0" marL="0">
              <a:lnSpc>
                <a:spcPct val="145000"/>
              </a:lnSpc>
              <a:buNone/>
            </a:pPr>
            <a:r>
              <a:rPr lang="en-US" sz="1950" dirty="0">
                <a:solidFill>
                  <a:srgbClr val="5B47F0"/>
                </a:solidFill>
                <a:latin typeface="Arial" pitchFamily="34" charset="0"/>
                <a:ea typeface="Arial" pitchFamily="34" charset="-122"/>
                <a:cs typeface="Arial" pitchFamily="34" charset="-120"/>
              </a:rPr>
              <a:t>without learning infrastructure.</a:t>
            </a:r>
            <a:endParaRPr lang="en-US" sz="1950" dirty="0"/>
          </a:p>
        </p:txBody>
      </p:sp>
      <p:sp>
        <p:nvSpPr>
          <p:cNvPr id="54" name="Shape 51"/>
          <p:cNvSpPr/>
          <p:nvPr/>
        </p:nvSpPr>
        <p:spPr>
          <a:xfrm>
            <a:off x="914400" y="9286875"/>
            <a:ext cx="16459200" cy="9525"/>
          </a:xfrm>
          <a:prstGeom prst="rect">
            <a:avLst/>
          </a:prstGeom>
          <a:solidFill>
            <a:srgbClr val="DDE5EC"/>
          </a:solidFill>
          <a:ln/>
        </p:spPr>
      </p:sp>
      <p:sp>
        <p:nvSpPr>
          <p:cNvPr id="55" name="Text 52"/>
          <p:cNvSpPr/>
          <p:nvPr/>
        </p:nvSpPr>
        <p:spPr>
          <a:xfrm>
            <a:off x="914400" y="9532144"/>
            <a:ext cx="4533256"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113" kern="0" dirty="0">
                <a:solidFill>
                  <a:srgbClr val="6E7785"/>
                </a:solidFill>
                <a:latin typeface="Courier New" pitchFamily="34" charset="0"/>
                <a:ea typeface="Courier New" pitchFamily="34" charset="-122"/>
                <a:cs typeface="Courier New" pitchFamily="34" charset="-120"/>
              </a:rPr>
              <a:t>HATCHIK · INVESTOR &amp; PARTNER DECK · MAY 2026</a:t>
            </a:r>
            <a:endParaRPr lang="en-US" sz="1125" dirty="0"/>
          </a:p>
        </p:txBody>
      </p:sp>
      <p:sp>
        <p:nvSpPr>
          <p:cNvPr id="56" name="Text 53"/>
          <p:cNvSpPr/>
          <p:nvPr/>
        </p:nvSpPr>
        <p:spPr>
          <a:xfrm>
            <a:off x="16690851" y="9525000"/>
            <a:ext cx="758949"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spc="48" kern="0" dirty="0">
                <a:solidFill>
                  <a:srgbClr val="0F1419"/>
                </a:solidFill>
                <a:latin typeface="Courier New" pitchFamily="34" charset="0"/>
                <a:ea typeface="Courier New" pitchFamily="34" charset="-122"/>
                <a:cs typeface="Courier New" pitchFamily="34" charset="-120"/>
              </a:rPr>
              <a:t>03 / 31</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C1118"/>
        </a:solidFill>
      </p:bgPr>
    </p:bg>
    <p:spTree>
      <p:nvGrpSpPr>
        <p:cNvPr id="1" name=""/>
        <p:cNvGrpSpPr/>
        <p:nvPr/>
      </p:nvGrpSpPr>
      <p:grpSpPr>
        <a:xfrm>
          <a:off x="0" y="0"/>
          <a:ext cx="0" cy="0"/>
          <a:chOff x="0" y="0"/>
          <a:chExt cx="0" cy="0"/>
        </a:xfrm>
      </p:grpSpPr>
      <p:sp>
        <p:nvSpPr>
          <p:cNvPr id="2" name="Shape 0"/>
          <p:cNvSpPr/>
          <p:nvPr/>
        </p:nvSpPr>
        <p:spPr>
          <a:xfrm>
            <a:off x="914400" y="1009650"/>
            <a:ext cx="16459200" cy="9525"/>
          </a:xfrm>
          <a:prstGeom prst="rect">
            <a:avLst/>
          </a:prstGeom>
          <a:solidFill>
            <a:srgbClr val="F7FAFC">
              <a:alpha val="12000"/>
            </a:srgbClr>
          </a:solidFill>
          <a:ln/>
        </p:spPr>
      </p:sp>
      <p:pic>
        <p:nvPicPr>
          <p:cNvPr id="3" name="Image 0" descr="preencoded.png">    </p:cNvPr>
          <p:cNvPicPr>
            <a:picLocks noChangeAspect="1"/>
          </p:cNvPicPr>
          <p:nvPr/>
        </p:nvPicPr>
        <p:blipFill>
          <a:blip r:embed="rId1"/>
          <a:stretch>
            <a:fillRect/>
          </a:stretch>
        </p:blipFill>
        <p:spPr>
          <a:xfrm>
            <a:off x="914400" y="571500"/>
            <a:ext cx="209550" cy="209550"/>
          </a:xfrm>
          <a:prstGeom prst="rect">
            <a:avLst/>
          </a:prstGeom>
        </p:spPr>
      </p:pic>
      <p:sp>
        <p:nvSpPr>
          <p:cNvPr id="4" name="Text 1"/>
          <p:cNvSpPr/>
          <p:nvPr/>
        </p:nvSpPr>
        <p:spPr>
          <a:xfrm>
            <a:off x="1219200" y="533400"/>
            <a:ext cx="745108"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spc="-37" kern="0" dirty="0">
                <a:solidFill>
                  <a:srgbClr val="F7FAFC"/>
                </a:solidFill>
                <a:latin typeface="Arial" pitchFamily="34" charset="0"/>
                <a:ea typeface="Arial" pitchFamily="34" charset="-122"/>
                <a:cs typeface="Arial" pitchFamily="34" charset="-120"/>
              </a:rPr>
              <a:t>hatchik</a:t>
            </a:r>
            <a:endParaRPr lang="en-US" sz="1500" dirty="0"/>
          </a:p>
        </p:txBody>
      </p:sp>
      <p:sp>
        <p:nvSpPr>
          <p:cNvPr id="5" name="Text 2"/>
          <p:cNvSpPr/>
          <p:nvPr/>
        </p:nvSpPr>
        <p:spPr>
          <a:xfrm>
            <a:off x="16192277" y="562421"/>
            <a:ext cx="1257523" cy="265733"/>
          </a:xfrm>
          <a:prstGeom prst="rect">
            <a:avLst/>
          </a:prstGeom>
          <a:noFill/>
          <a:ln/>
        </p:spPr>
        <p:txBody>
          <a:bodyPr wrap="square" lIns="25400" tIns="25400" rIns="25400" bIns="25400" rtlCol="0" anchor="t">
            <a:normAutofit/>
          </a:bodyPr>
          <a:lstStyle/>
          <a:p>
            <a:pPr algn="l" indent="0" marL="0">
              <a:lnSpc>
                <a:spcPct val="140000"/>
              </a:lnSpc>
              <a:buNone/>
            </a:pPr>
            <a:r>
              <a:rPr lang="en-US" sz="1200" spc="120" kern="0" dirty="0">
                <a:solidFill>
                  <a:srgbClr val="F7FAFC"/>
                </a:solidFill>
                <a:latin typeface="Courier New" pitchFamily="34" charset="0"/>
                <a:ea typeface="Courier New" pitchFamily="34" charset="-122"/>
                <a:cs typeface="Courier New" pitchFamily="34" charset="-120"/>
              </a:rPr>
              <a:t>04 </a:t>
            </a:r>
            <a:pPr algn="l" indent="0" marL="0">
              <a:lnSpc>
                <a:spcPct val="140000"/>
              </a:lnSpc>
              <a:buNone/>
            </a:pPr>
            <a:r>
              <a:rPr lang="en-US" sz="1200" spc="120" kern="0" dirty="0">
                <a:solidFill>
                  <a:srgbClr val="5B47F0"/>
                </a:solidFill>
                <a:latin typeface="Courier New" pitchFamily="34" charset="0"/>
                <a:ea typeface="Courier New" pitchFamily="34" charset="-122"/>
                <a:cs typeface="Courier New" pitchFamily="34" charset="-120"/>
              </a:rPr>
              <a:t>· </a:t>
            </a:r>
            <a:pPr algn="l" indent="0" marL="0">
              <a:lnSpc>
                <a:spcPct val="140000"/>
              </a:lnSpc>
              <a:buNone/>
            </a:pPr>
            <a:r>
              <a:rPr lang="en-US" sz="1200" spc="120" kern="0" dirty="0">
                <a:solidFill>
                  <a:srgbClr val="F7FAFC">
                    <a:alpha val="55000"/>
                  </a:srgbClr>
                </a:solidFill>
                <a:latin typeface="Courier New" pitchFamily="34" charset="0"/>
                <a:ea typeface="Courier New" pitchFamily="34" charset="-122"/>
                <a:cs typeface="Courier New" pitchFamily="34" charset="-120"/>
              </a:rPr>
              <a:t>WHY NOW</a:t>
            </a:r>
            <a:endParaRPr lang="en-US" sz="1200" dirty="0"/>
          </a:p>
        </p:txBody>
      </p:sp>
      <p:sp>
        <p:nvSpPr>
          <p:cNvPr id="6" name="Text 3"/>
          <p:cNvSpPr/>
          <p:nvPr/>
        </p:nvSpPr>
        <p:spPr>
          <a:xfrm>
            <a:off x="914400" y="1438275"/>
            <a:ext cx="15893415" cy="723900"/>
          </a:xfrm>
          <a:prstGeom prst="rect">
            <a:avLst/>
          </a:prstGeom>
          <a:noFill/>
          <a:ln/>
        </p:spPr>
        <p:txBody>
          <a:bodyPr wrap="square" lIns="25400" tIns="25400" rIns="25400" bIns="25400" rtlCol="0" anchor="t">
            <a:normAutofit/>
          </a:bodyPr>
          <a:lstStyle/>
          <a:p>
            <a:pPr algn="l" indent="0" marL="0">
              <a:lnSpc>
                <a:spcPct val="100000"/>
              </a:lnSpc>
              <a:buNone/>
            </a:pPr>
            <a:r>
              <a:rPr lang="en-US" sz="5400" b="1" spc="-216" kern="0" dirty="0">
                <a:solidFill>
                  <a:srgbClr val="F7FAFC"/>
                </a:solidFill>
                <a:latin typeface="Arial" pitchFamily="34" charset="0"/>
                <a:ea typeface="Arial" pitchFamily="34" charset="-122"/>
                <a:cs typeface="Arial" pitchFamily="34" charset="-120"/>
              </a:rPr>
              <a:t>Not a 3-year SaaS. </a:t>
            </a:r>
            <a:pPr algn="l" indent="0" marL="0">
              <a:lnSpc>
                <a:spcPct val="100000"/>
              </a:lnSpc>
              <a:buNone/>
            </a:pPr>
            <a:r>
              <a:rPr lang="en-US" sz="5400" b="1" spc="-216" kern="0" dirty="0">
                <a:solidFill>
                  <a:srgbClr val="C8C0F8"/>
                </a:solidFill>
                <a:latin typeface="Arial" pitchFamily="34" charset="0"/>
                <a:ea typeface="Arial" pitchFamily="34" charset="-122"/>
                <a:cs typeface="Arial" pitchFamily="34" charset="-120"/>
              </a:rPr>
              <a:t>A 12–18 month sprint.</a:t>
            </a:r>
            <a:endParaRPr lang="en-US" sz="5400" dirty="0"/>
          </a:p>
        </p:txBody>
      </p:sp>
      <p:sp>
        <p:nvSpPr>
          <p:cNvPr id="7" name="Text 4"/>
          <p:cNvSpPr/>
          <p:nvPr/>
        </p:nvSpPr>
        <p:spPr>
          <a:xfrm>
            <a:off x="914400" y="2390775"/>
            <a:ext cx="12950190" cy="1115244"/>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F7FAFC">
                    <a:alpha val="78000"/>
                  </a:srgbClr>
                </a:solidFill>
                <a:latin typeface="Arial" pitchFamily="34" charset="0"/>
                <a:ea typeface="Arial" pitchFamily="34" charset="-122"/>
                <a:cs typeface="Arial" pitchFamily="34" charset="-120"/>
              </a:rPr>
              <a:t>AI coding tools are hyper-growing right now — not gradually, not eventually. Someone is going to own the production substrate every Cursor, Lovable and Bolt user graduates to. Founders who waited on Cursor's 2023 curve are not catching it in 2026.</a:t>
            </a:r>
            <a:endParaRPr lang="en-US" sz="1950" dirty="0"/>
          </a:p>
        </p:txBody>
      </p:sp>
      <p:sp>
        <p:nvSpPr>
          <p:cNvPr id="8" name="Shape 5"/>
          <p:cNvSpPr/>
          <p:nvPr/>
        </p:nvSpPr>
        <p:spPr>
          <a:xfrm>
            <a:off x="914400" y="4229919"/>
            <a:ext cx="5359375" cy="3228826"/>
          </a:xfrm>
          <a:prstGeom prst="roundRect">
            <a:avLst>
              <a:gd name="adj" fmla="val 5310"/>
            </a:avLst>
          </a:prstGeom>
          <a:solidFill>
            <a:srgbClr val="232C3D"/>
          </a:solidFill>
          <a:ln w="14288">
            <a:solidFill>
              <a:srgbClr val="232C3D"/>
            </a:solidFill>
            <a:prstDash val="solid"/>
          </a:ln>
          <a:effectLst>
            <a:outerShdw sx="100000" sy="100000" kx="0" ky="0" algn="bl" rotWithShape="0" blurRad="133350" dist="38100" dir="5400000">
              <a:srgbClr val="000000">
                <a:alpha val="25000"/>
              </a:srgbClr>
            </a:outerShdw>
          </a:effectLst>
        </p:spPr>
      </p:sp>
      <p:sp>
        <p:nvSpPr>
          <p:cNvPr id="9" name="Text 6"/>
          <p:cNvSpPr/>
          <p:nvPr/>
        </p:nvSpPr>
        <p:spPr>
          <a:xfrm>
            <a:off x="1271588" y="4587106"/>
            <a:ext cx="528935" cy="195263"/>
          </a:xfrm>
          <a:prstGeom prst="rect">
            <a:avLst/>
          </a:prstGeom>
          <a:noFill/>
          <a:ln/>
        </p:spPr>
        <p:txBody>
          <a:bodyPr wrap="square" lIns="25400" tIns="25400" rIns="25400" bIns="25400" rtlCol="0" anchor="t">
            <a:normAutofit/>
          </a:bodyPr>
          <a:lstStyle/>
          <a:p>
            <a:pPr algn="l" indent="0" marL="0">
              <a:lnSpc>
                <a:spcPct val="150000"/>
              </a:lnSpc>
              <a:buNone/>
            </a:pPr>
            <a:r>
              <a:rPr lang="en-US" sz="825" spc="99" kern="0" dirty="0">
                <a:solidFill>
                  <a:srgbClr val="C8C0F8"/>
                </a:solidFill>
                <a:latin typeface="Courier New" pitchFamily="34" charset="0"/>
                <a:ea typeface="Courier New" pitchFamily="34" charset="-122"/>
                <a:cs typeface="Courier New" pitchFamily="34" charset="-120"/>
              </a:rPr>
              <a:t>CURSOR</a:t>
            </a:r>
            <a:endParaRPr lang="en-US" sz="825" dirty="0"/>
          </a:p>
        </p:txBody>
      </p:sp>
      <p:sp>
        <p:nvSpPr>
          <p:cNvPr id="10" name="Text 7"/>
          <p:cNvSpPr/>
          <p:nvPr/>
        </p:nvSpPr>
        <p:spPr>
          <a:xfrm>
            <a:off x="4843463" y="4587106"/>
            <a:ext cx="1149325" cy="274290"/>
          </a:xfrm>
          <a:prstGeom prst="rect">
            <a:avLst/>
          </a:prstGeom>
          <a:noFill/>
          <a:ln/>
        </p:spPr>
        <p:txBody>
          <a:bodyPr wrap="square" lIns="25400" tIns="25400" rIns="25400" bIns="25400" rtlCol="0" anchor="t">
            <a:normAutofit/>
          </a:bodyPr>
          <a:lstStyle/>
          <a:p>
            <a:pPr algn="l" indent="0" marL="0">
              <a:lnSpc>
                <a:spcPct val="155000"/>
              </a:lnSpc>
              <a:buNone/>
            </a:pPr>
            <a:r>
              <a:rPr lang="en-US" sz="1200" spc="48" kern="0" dirty="0">
                <a:solidFill>
                  <a:srgbClr val="F7FAFC">
                    <a:alpha val="50000"/>
                  </a:srgbClr>
                </a:solidFill>
                <a:latin typeface="Courier New" pitchFamily="34" charset="0"/>
                <a:ea typeface="Courier New" pitchFamily="34" charset="-122"/>
                <a:cs typeface="Courier New" pitchFamily="34" charset="-120"/>
              </a:rPr>
              <a:t>2023 → 2025</a:t>
            </a:r>
            <a:endParaRPr lang="en-US" sz="1200" dirty="0"/>
          </a:p>
        </p:txBody>
      </p:sp>
      <p:sp>
        <p:nvSpPr>
          <p:cNvPr id="11" name="Text 8"/>
          <p:cNvSpPr/>
          <p:nvPr/>
        </p:nvSpPr>
        <p:spPr>
          <a:xfrm>
            <a:off x="1271588" y="4828059"/>
            <a:ext cx="1596405" cy="1128713"/>
          </a:xfrm>
          <a:prstGeom prst="rect">
            <a:avLst/>
          </a:prstGeom>
          <a:noFill/>
          <a:ln/>
        </p:spPr>
        <p:txBody>
          <a:bodyPr wrap="square" lIns="0" tIns="0" rIns="0" bIns="0" rtlCol="0" anchor="t">
            <a:normAutofit/>
          </a:bodyPr>
          <a:lstStyle/>
          <a:p>
            <a:pPr algn="l" indent="0" marL="0">
              <a:lnSpc>
                <a:spcPct val="95000"/>
              </a:lnSpc>
              <a:buNone/>
            </a:pPr>
            <a:r>
              <a:rPr lang="en-US" sz="6600" b="1" spc="-264" kern="0" dirty="0">
                <a:solidFill>
                  <a:srgbClr val="C8C0F8"/>
                </a:solidFill>
                <a:latin typeface="Arial" pitchFamily="34" charset="0"/>
                <a:ea typeface="Arial" pitchFamily="34" charset="-122"/>
                <a:cs typeface="Arial" pitchFamily="34" charset="-120"/>
              </a:rPr>
              <a:t>1M+</a:t>
            </a:r>
            <a:endParaRPr lang="en-US" sz="6600" dirty="0"/>
          </a:p>
        </p:txBody>
      </p:sp>
      <p:sp>
        <p:nvSpPr>
          <p:cNvPr id="12" name="Text 9"/>
          <p:cNvSpPr/>
          <p:nvPr/>
        </p:nvSpPr>
        <p:spPr>
          <a:xfrm>
            <a:off x="1271588" y="5848127"/>
            <a:ext cx="4784350" cy="200918"/>
          </a:xfrm>
          <a:prstGeom prst="rect">
            <a:avLst/>
          </a:prstGeom>
          <a:noFill/>
          <a:ln/>
        </p:spPr>
        <p:txBody>
          <a:bodyPr wrap="square" lIns="25400" tIns="25400" rIns="25400" bIns="25400" rtlCol="0" anchor="t">
            <a:normAutofit/>
          </a:bodyPr>
          <a:lstStyle/>
          <a:p>
            <a:pPr algn="l" indent="0" marL="0">
              <a:lnSpc>
                <a:spcPct val="95000"/>
              </a:lnSpc>
              <a:buNone/>
            </a:pPr>
            <a:r>
              <a:rPr lang="en-US" sz="1350" dirty="0">
                <a:solidFill>
                  <a:srgbClr val="F7FAFC">
                    <a:alpha val="55000"/>
                  </a:srgbClr>
                </a:solidFill>
                <a:latin typeface="Arial" pitchFamily="34" charset="0"/>
                <a:ea typeface="Arial" pitchFamily="34" charset="-122"/>
                <a:cs typeface="Arial" pitchFamily="34" charset="-120"/>
              </a:rPr>
              <a:t>paid users in ~24 months</a:t>
            </a:r>
            <a:endParaRPr lang="en-US" sz="1350" dirty="0"/>
          </a:p>
        </p:txBody>
      </p:sp>
      <p:sp>
        <p:nvSpPr>
          <p:cNvPr id="13" name="Shape 10"/>
          <p:cNvSpPr/>
          <p:nvPr/>
        </p:nvSpPr>
        <p:spPr>
          <a:xfrm>
            <a:off x="1271588" y="6689154"/>
            <a:ext cx="76200" cy="45690"/>
          </a:xfrm>
          <a:prstGeom prst="roundRect">
            <a:avLst>
              <a:gd name="adj" fmla="val 41694"/>
            </a:avLst>
          </a:prstGeom>
          <a:solidFill>
            <a:srgbClr val="C8C0F8">
              <a:alpha val="45000"/>
            </a:srgbClr>
          </a:solidFill>
          <a:ln/>
        </p:spPr>
      </p:sp>
      <p:sp>
        <p:nvSpPr>
          <p:cNvPr id="14" name="Shape 11"/>
          <p:cNvSpPr/>
          <p:nvPr/>
        </p:nvSpPr>
        <p:spPr>
          <a:xfrm>
            <a:off x="1385888" y="6677695"/>
            <a:ext cx="76200" cy="57150"/>
          </a:xfrm>
          <a:prstGeom prst="roundRect">
            <a:avLst>
              <a:gd name="adj" fmla="val 33333"/>
            </a:avLst>
          </a:prstGeom>
          <a:solidFill>
            <a:srgbClr val="C8C0F8">
              <a:alpha val="50000"/>
            </a:srgbClr>
          </a:solidFill>
          <a:ln/>
        </p:spPr>
      </p:sp>
      <p:sp>
        <p:nvSpPr>
          <p:cNvPr id="15" name="Shape 12"/>
          <p:cNvSpPr/>
          <p:nvPr/>
        </p:nvSpPr>
        <p:spPr>
          <a:xfrm>
            <a:off x="1500188" y="6654850"/>
            <a:ext cx="76200" cy="79995"/>
          </a:xfrm>
          <a:prstGeom prst="roundRect">
            <a:avLst>
              <a:gd name="adj" fmla="val 25000"/>
            </a:avLst>
          </a:prstGeom>
          <a:solidFill>
            <a:srgbClr val="C8C0F8">
              <a:alpha val="55000"/>
            </a:srgbClr>
          </a:solidFill>
          <a:ln/>
        </p:spPr>
      </p:sp>
      <p:sp>
        <p:nvSpPr>
          <p:cNvPr id="16" name="Shape 13"/>
          <p:cNvSpPr/>
          <p:nvPr/>
        </p:nvSpPr>
        <p:spPr>
          <a:xfrm>
            <a:off x="1614488" y="6632004"/>
            <a:ext cx="76200" cy="102840"/>
          </a:xfrm>
          <a:prstGeom prst="roundRect">
            <a:avLst>
              <a:gd name="adj" fmla="val 25000"/>
            </a:avLst>
          </a:prstGeom>
          <a:solidFill>
            <a:srgbClr val="C8C0F8">
              <a:alpha val="60000"/>
            </a:srgbClr>
          </a:solidFill>
          <a:ln/>
        </p:spPr>
      </p:sp>
      <p:sp>
        <p:nvSpPr>
          <p:cNvPr id="17" name="Shape 14"/>
          <p:cNvSpPr/>
          <p:nvPr/>
        </p:nvSpPr>
        <p:spPr>
          <a:xfrm>
            <a:off x="1728788" y="6609159"/>
            <a:ext cx="76200" cy="125685"/>
          </a:xfrm>
          <a:prstGeom prst="roundRect">
            <a:avLst>
              <a:gd name="adj" fmla="val 25000"/>
            </a:avLst>
          </a:prstGeom>
          <a:solidFill>
            <a:srgbClr val="C8C0F8">
              <a:alpha val="65000"/>
            </a:srgbClr>
          </a:solidFill>
          <a:ln/>
        </p:spPr>
      </p:sp>
      <p:sp>
        <p:nvSpPr>
          <p:cNvPr id="18" name="Shape 15"/>
          <p:cNvSpPr/>
          <p:nvPr/>
        </p:nvSpPr>
        <p:spPr>
          <a:xfrm>
            <a:off x="1843088" y="6574854"/>
            <a:ext cx="76200" cy="159990"/>
          </a:xfrm>
          <a:prstGeom prst="roundRect">
            <a:avLst>
              <a:gd name="adj" fmla="val 25000"/>
            </a:avLst>
          </a:prstGeom>
          <a:solidFill>
            <a:srgbClr val="C8C0F8">
              <a:alpha val="70000"/>
            </a:srgbClr>
          </a:solidFill>
          <a:ln/>
        </p:spPr>
      </p:sp>
      <p:sp>
        <p:nvSpPr>
          <p:cNvPr id="19" name="Shape 16"/>
          <p:cNvSpPr/>
          <p:nvPr/>
        </p:nvSpPr>
        <p:spPr>
          <a:xfrm>
            <a:off x="1957388" y="6517704"/>
            <a:ext cx="76200" cy="217140"/>
          </a:xfrm>
          <a:prstGeom prst="roundRect">
            <a:avLst>
              <a:gd name="adj" fmla="val 25000"/>
            </a:avLst>
          </a:prstGeom>
          <a:solidFill>
            <a:srgbClr val="C8C0F8">
              <a:alpha val="78000"/>
            </a:srgbClr>
          </a:solidFill>
          <a:ln/>
        </p:spPr>
      </p:sp>
      <p:sp>
        <p:nvSpPr>
          <p:cNvPr id="20" name="Shape 17"/>
          <p:cNvSpPr/>
          <p:nvPr/>
        </p:nvSpPr>
        <p:spPr>
          <a:xfrm>
            <a:off x="2071688" y="6449095"/>
            <a:ext cx="76200" cy="285750"/>
          </a:xfrm>
          <a:prstGeom prst="roundRect">
            <a:avLst>
              <a:gd name="adj" fmla="val 25000"/>
            </a:avLst>
          </a:prstGeom>
          <a:solidFill>
            <a:srgbClr val="C8C0F8">
              <a:alpha val="85000"/>
            </a:srgbClr>
          </a:solidFill>
          <a:ln/>
        </p:spPr>
      </p:sp>
      <p:sp>
        <p:nvSpPr>
          <p:cNvPr id="21" name="Shape 18"/>
          <p:cNvSpPr/>
          <p:nvPr/>
        </p:nvSpPr>
        <p:spPr>
          <a:xfrm>
            <a:off x="2185988" y="6363370"/>
            <a:ext cx="76200" cy="371475"/>
          </a:xfrm>
          <a:prstGeom prst="roundRect">
            <a:avLst>
              <a:gd name="adj" fmla="val 25000"/>
            </a:avLst>
          </a:prstGeom>
          <a:solidFill>
            <a:srgbClr val="C8C0F8">
              <a:alpha val="90000"/>
            </a:srgbClr>
          </a:solidFill>
          <a:ln/>
        </p:spPr>
      </p:sp>
      <p:sp>
        <p:nvSpPr>
          <p:cNvPr id="22" name="Shape 19"/>
          <p:cNvSpPr/>
          <p:nvPr/>
        </p:nvSpPr>
        <p:spPr>
          <a:xfrm>
            <a:off x="2300288" y="6289104"/>
            <a:ext cx="76200" cy="445740"/>
          </a:xfrm>
          <a:prstGeom prst="roundRect">
            <a:avLst>
              <a:gd name="adj" fmla="val 25000"/>
            </a:avLst>
          </a:prstGeom>
          <a:solidFill>
            <a:srgbClr val="C8C0F8">
              <a:alpha val="80000"/>
            </a:srgbClr>
          </a:solidFill>
          <a:ln/>
        </p:spPr>
      </p:sp>
      <p:sp>
        <p:nvSpPr>
          <p:cNvPr id="23" name="Shape 20"/>
          <p:cNvSpPr/>
          <p:nvPr/>
        </p:nvSpPr>
        <p:spPr>
          <a:xfrm>
            <a:off x="2414588" y="6209109"/>
            <a:ext cx="76200" cy="525735"/>
          </a:xfrm>
          <a:prstGeom prst="roundRect">
            <a:avLst>
              <a:gd name="adj" fmla="val 25000"/>
            </a:avLst>
          </a:prstGeom>
          <a:solidFill>
            <a:srgbClr val="C8C0F8">
              <a:alpha val="80000"/>
            </a:srgbClr>
          </a:solidFill>
          <a:ln/>
        </p:spPr>
      </p:sp>
      <p:sp>
        <p:nvSpPr>
          <p:cNvPr id="24" name="Shape 21"/>
          <p:cNvSpPr/>
          <p:nvPr/>
        </p:nvSpPr>
        <p:spPr>
          <a:xfrm>
            <a:off x="2528888" y="6163345"/>
            <a:ext cx="76200" cy="571500"/>
          </a:xfrm>
          <a:prstGeom prst="roundRect">
            <a:avLst>
              <a:gd name="adj" fmla="val 25000"/>
            </a:avLst>
          </a:prstGeom>
          <a:solidFill>
            <a:srgbClr val="5B47F0">
              <a:alpha val="80000"/>
            </a:srgbClr>
          </a:solidFill>
          <a:ln/>
        </p:spPr>
      </p:sp>
      <p:sp>
        <p:nvSpPr>
          <p:cNvPr id="25" name="Text 22"/>
          <p:cNvSpPr/>
          <p:nvPr/>
        </p:nvSpPr>
        <p:spPr>
          <a:xfrm>
            <a:off x="1271588" y="6887245"/>
            <a:ext cx="4784350"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dirty="0">
                <a:solidFill>
                  <a:srgbClr val="F7FAFC">
                    <a:alpha val="78000"/>
                  </a:srgbClr>
                </a:solidFill>
                <a:latin typeface="Arial" pitchFamily="34" charset="0"/>
                <a:ea typeface="Arial" pitchFamily="34" charset="-122"/>
                <a:cs typeface="Arial" pitchFamily="34" charset="-120"/>
              </a:rPr>
              <a:t>~40–50%/month compounding through the hype peak.</a:t>
            </a:r>
            <a:endParaRPr lang="en-US" sz="1125" dirty="0"/>
          </a:p>
        </p:txBody>
      </p:sp>
      <p:sp>
        <p:nvSpPr>
          <p:cNvPr id="26" name="Shape 23"/>
          <p:cNvSpPr/>
          <p:nvPr/>
        </p:nvSpPr>
        <p:spPr>
          <a:xfrm>
            <a:off x="6464275" y="4229919"/>
            <a:ext cx="5359375" cy="3228826"/>
          </a:xfrm>
          <a:prstGeom prst="roundRect">
            <a:avLst>
              <a:gd name="adj" fmla="val 5310"/>
            </a:avLst>
          </a:prstGeom>
          <a:solidFill>
            <a:srgbClr val="232C3D"/>
          </a:solidFill>
          <a:ln w="14288">
            <a:solidFill>
              <a:srgbClr val="232C3D"/>
            </a:solidFill>
            <a:prstDash val="solid"/>
          </a:ln>
          <a:effectLst>
            <a:outerShdw sx="100000" sy="100000" kx="0" ky="0" algn="bl" rotWithShape="0" blurRad="133350" dist="38100" dir="5400000">
              <a:srgbClr val="000000">
                <a:alpha val="25000"/>
              </a:srgbClr>
            </a:outerShdw>
          </a:effectLst>
        </p:spPr>
      </p:sp>
      <p:sp>
        <p:nvSpPr>
          <p:cNvPr id="27" name="Text 24"/>
          <p:cNvSpPr/>
          <p:nvPr/>
        </p:nvSpPr>
        <p:spPr>
          <a:xfrm>
            <a:off x="6821463" y="4587106"/>
            <a:ext cx="906140" cy="195263"/>
          </a:xfrm>
          <a:prstGeom prst="rect">
            <a:avLst/>
          </a:prstGeom>
          <a:noFill/>
          <a:ln/>
        </p:spPr>
        <p:txBody>
          <a:bodyPr wrap="square" lIns="25400" tIns="25400" rIns="25400" bIns="25400" rtlCol="0" anchor="t">
            <a:normAutofit/>
          </a:bodyPr>
          <a:lstStyle/>
          <a:p>
            <a:pPr algn="l" indent="0" marL="0">
              <a:lnSpc>
                <a:spcPct val="150000"/>
              </a:lnSpc>
              <a:buNone/>
            </a:pPr>
            <a:r>
              <a:rPr lang="en-US" sz="825" spc="99" kern="0" dirty="0">
                <a:solidFill>
                  <a:srgbClr val="C8C0F8"/>
                </a:solidFill>
                <a:latin typeface="Courier New" pitchFamily="34" charset="0"/>
                <a:ea typeface="Courier New" pitchFamily="34" charset="-122"/>
                <a:cs typeface="Courier New" pitchFamily="34" charset="-120"/>
              </a:rPr>
              <a:t>LOVABLE.DEV</a:t>
            </a:r>
            <a:endParaRPr lang="en-US" sz="825" dirty="0"/>
          </a:p>
        </p:txBody>
      </p:sp>
      <p:sp>
        <p:nvSpPr>
          <p:cNvPr id="28" name="Text 25"/>
          <p:cNvSpPr/>
          <p:nvPr/>
        </p:nvSpPr>
        <p:spPr>
          <a:xfrm>
            <a:off x="10393338" y="4587106"/>
            <a:ext cx="1149325" cy="274290"/>
          </a:xfrm>
          <a:prstGeom prst="rect">
            <a:avLst/>
          </a:prstGeom>
          <a:noFill/>
          <a:ln/>
        </p:spPr>
        <p:txBody>
          <a:bodyPr wrap="square" lIns="25400" tIns="25400" rIns="25400" bIns="25400" rtlCol="0" anchor="t">
            <a:normAutofit/>
          </a:bodyPr>
          <a:lstStyle/>
          <a:p>
            <a:pPr algn="l" indent="0" marL="0">
              <a:lnSpc>
                <a:spcPct val="155000"/>
              </a:lnSpc>
              <a:buNone/>
            </a:pPr>
            <a:r>
              <a:rPr lang="en-US" sz="1200" spc="48" kern="0" dirty="0">
                <a:solidFill>
                  <a:srgbClr val="F7FAFC">
                    <a:alpha val="50000"/>
                  </a:srgbClr>
                </a:solidFill>
                <a:latin typeface="Courier New" pitchFamily="34" charset="0"/>
                <a:ea typeface="Courier New" pitchFamily="34" charset="-122"/>
                <a:cs typeface="Courier New" pitchFamily="34" charset="-120"/>
              </a:rPr>
              <a:t>2024 → 2025</a:t>
            </a:r>
            <a:endParaRPr lang="en-US" sz="1200" dirty="0"/>
          </a:p>
        </p:txBody>
      </p:sp>
      <p:sp>
        <p:nvSpPr>
          <p:cNvPr id="29" name="Text 26"/>
          <p:cNvSpPr/>
          <p:nvPr/>
        </p:nvSpPr>
        <p:spPr>
          <a:xfrm>
            <a:off x="6821463" y="4828059"/>
            <a:ext cx="2310557" cy="1128713"/>
          </a:xfrm>
          <a:prstGeom prst="rect">
            <a:avLst/>
          </a:prstGeom>
          <a:noFill/>
          <a:ln/>
        </p:spPr>
        <p:txBody>
          <a:bodyPr wrap="square" lIns="0" tIns="0" rIns="0" bIns="0" rtlCol="0" anchor="t">
            <a:normAutofit/>
          </a:bodyPr>
          <a:lstStyle/>
          <a:p>
            <a:pPr algn="l" indent="0" marL="0">
              <a:lnSpc>
                <a:spcPct val="95000"/>
              </a:lnSpc>
              <a:buNone/>
            </a:pPr>
            <a:r>
              <a:rPr lang="en-US" sz="6600" b="1" spc="-264" kern="0" dirty="0">
                <a:solidFill>
                  <a:srgbClr val="C8C0F8"/>
                </a:solidFill>
                <a:latin typeface="Arial" pitchFamily="34" charset="0"/>
                <a:ea typeface="Arial" pitchFamily="34" charset="-122"/>
                <a:cs typeface="Arial" pitchFamily="34" charset="-120"/>
              </a:rPr>
              <a:t>$5M+</a:t>
            </a:r>
            <a:endParaRPr lang="en-US" sz="6600" dirty="0"/>
          </a:p>
        </p:txBody>
      </p:sp>
      <p:sp>
        <p:nvSpPr>
          <p:cNvPr id="30" name="Text 27"/>
          <p:cNvSpPr/>
          <p:nvPr/>
        </p:nvSpPr>
        <p:spPr>
          <a:xfrm>
            <a:off x="6821463" y="5848127"/>
            <a:ext cx="4784350" cy="200918"/>
          </a:xfrm>
          <a:prstGeom prst="rect">
            <a:avLst/>
          </a:prstGeom>
          <a:noFill/>
          <a:ln/>
        </p:spPr>
        <p:txBody>
          <a:bodyPr wrap="square" lIns="25400" tIns="25400" rIns="25400" bIns="25400" rtlCol="0" anchor="t">
            <a:normAutofit/>
          </a:bodyPr>
          <a:lstStyle/>
          <a:p>
            <a:pPr algn="l" indent="0" marL="0">
              <a:lnSpc>
                <a:spcPct val="95000"/>
              </a:lnSpc>
              <a:buNone/>
            </a:pPr>
            <a:r>
              <a:rPr lang="en-US" sz="1350" dirty="0">
                <a:solidFill>
                  <a:srgbClr val="F7FAFC">
                    <a:alpha val="55000"/>
                  </a:srgbClr>
                </a:solidFill>
                <a:latin typeface="Arial" pitchFamily="34" charset="0"/>
                <a:ea typeface="Arial" pitchFamily="34" charset="-122"/>
                <a:cs typeface="Arial" pitchFamily="34" charset="-120"/>
              </a:rPr>
              <a:t>MRR in ~12 months</a:t>
            </a:r>
            <a:endParaRPr lang="en-US" sz="1350" dirty="0"/>
          </a:p>
        </p:txBody>
      </p:sp>
      <p:sp>
        <p:nvSpPr>
          <p:cNvPr id="31" name="Shape 28"/>
          <p:cNvSpPr/>
          <p:nvPr/>
        </p:nvSpPr>
        <p:spPr>
          <a:xfrm>
            <a:off x="6821463" y="6706270"/>
            <a:ext cx="76200" cy="28575"/>
          </a:xfrm>
          <a:prstGeom prst="roundRect">
            <a:avLst>
              <a:gd name="adj" fmla="val 50000"/>
            </a:avLst>
          </a:prstGeom>
          <a:solidFill>
            <a:srgbClr val="C8C0F8">
              <a:alpha val="45000"/>
            </a:srgbClr>
          </a:solidFill>
          <a:ln/>
        </p:spPr>
      </p:sp>
      <p:sp>
        <p:nvSpPr>
          <p:cNvPr id="32" name="Shape 29"/>
          <p:cNvSpPr/>
          <p:nvPr/>
        </p:nvSpPr>
        <p:spPr>
          <a:xfrm>
            <a:off x="6935763" y="6666309"/>
            <a:ext cx="76200" cy="68535"/>
          </a:xfrm>
          <a:prstGeom prst="roundRect">
            <a:avLst>
              <a:gd name="adj" fmla="val 27796"/>
            </a:avLst>
          </a:prstGeom>
          <a:solidFill>
            <a:srgbClr val="C8C0F8">
              <a:alpha val="50000"/>
            </a:srgbClr>
          </a:solidFill>
          <a:ln/>
        </p:spPr>
      </p:sp>
      <p:sp>
        <p:nvSpPr>
          <p:cNvPr id="33" name="Shape 30"/>
          <p:cNvSpPr/>
          <p:nvPr/>
        </p:nvSpPr>
        <p:spPr>
          <a:xfrm>
            <a:off x="7050063" y="6632004"/>
            <a:ext cx="76200" cy="102840"/>
          </a:xfrm>
          <a:prstGeom prst="roundRect">
            <a:avLst>
              <a:gd name="adj" fmla="val 25000"/>
            </a:avLst>
          </a:prstGeom>
          <a:solidFill>
            <a:srgbClr val="C8C0F8">
              <a:alpha val="55000"/>
            </a:srgbClr>
          </a:solidFill>
          <a:ln/>
        </p:spPr>
      </p:sp>
      <p:sp>
        <p:nvSpPr>
          <p:cNvPr id="34" name="Shape 31"/>
          <p:cNvSpPr/>
          <p:nvPr/>
        </p:nvSpPr>
        <p:spPr>
          <a:xfrm>
            <a:off x="7164363" y="6574854"/>
            <a:ext cx="76200" cy="159990"/>
          </a:xfrm>
          <a:prstGeom prst="roundRect">
            <a:avLst>
              <a:gd name="adj" fmla="val 25000"/>
            </a:avLst>
          </a:prstGeom>
          <a:solidFill>
            <a:srgbClr val="C8C0F8">
              <a:alpha val="60000"/>
            </a:srgbClr>
          </a:solidFill>
          <a:ln/>
        </p:spPr>
      </p:sp>
      <p:sp>
        <p:nvSpPr>
          <p:cNvPr id="35" name="Shape 32"/>
          <p:cNvSpPr/>
          <p:nvPr/>
        </p:nvSpPr>
        <p:spPr>
          <a:xfrm>
            <a:off x="7278663" y="6517704"/>
            <a:ext cx="76200" cy="217140"/>
          </a:xfrm>
          <a:prstGeom prst="roundRect">
            <a:avLst>
              <a:gd name="adj" fmla="val 25000"/>
            </a:avLst>
          </a:prstGeom>
          <a:solidFill>
            <a:srgbClr val="C8C0F8">
              <a:alpha val="70000"/>
            </a:srgbClr>
          </a:solidFill>
          <a:ln/>
        </p:spPr>
      </p:sp>
      <p:sp>
        <p:nvSpPr>
          <p:cNvPr id="36" name="Shape 33"/>
          <p:cNvSpPr/>
          <p:nvPr/>
        </p:nvSpPr>
        <p:spPr>
          <a:xfrm>
            <a:off x="7392963" y="6437709"/>
            <a:ext cx="76200" cy="297135"/>
          </a:xfrm>
          <a:prstGeom prst="roundRect">
            <a:avLst>
              <a:gd name="adj" fmla="val 25000"/>
            </a:avLst>
          </a:prstGeom>
          <a:solidFill>
            <a:srgbClr val="C8C0F8">
              <a:alpha val="78000"/>
            </a:srgbClr>
          </a:solidFill>
          <a:ln/>
        </p:spPr>
      </p:sp>
      <p:sp>
        <p:nvSpPr>
          <p:cNvPr id="37" name="Shape 34"/>
          <p:cNvSpPr/>
          <p:nvPr/>
        </p:nvSpPr>
        <p:spPr>
          <a:xfrm>
            <a:off x="7507263" y="6346254"/>
            <a:ext cx="76200" cy="388590"/>
          </a:xfrm>
          <a:prstGeom prst="roundRect">
            <a:avLst>
              <a:gd name="adj" fmla="val 25000"/>
            </a:avLst>
          </a:prstGeom>
          <a:solidFill>
            <a:srgbClr val="C8C0F8">
              <a:alpha val="85000"/>
            </a:srgbClr>
          </a:solidFill>
          <a:ln/>
        </p:spPr>
      </p:sp>
      <p:sp>
        <p:nvSpPr>
          <p:cNvPr id="38" name="Shape 35"/>
          <p:cNvSpPr/>
          <p:nvPr/>
        </p:nvSpPr>
        <p:spPr>
          <a:xfrm>
            <a:off x="7621563" y="6277645"/>
            <a:ext cx="76200" cy="457200"/>
          </a:xfrm>
          <a:prstGeom prst="roundRect">
            <a:avLst>
              <a:gd name="adj" fmla="val 25000"/>
            </a:avLst>
          </a:prstGeom>
          <a:solidFill>
            <a:srgbClr val="C8C0F8">
              <a:alpha val="90000"/>
            </a:srgbClr>
          </a:solidFill>
          <a:ln/>
        </p:spPr>
      </p:sp>
      <p:sp>
        <p:nvSpPr>
          <p:cNvPr id="39" name="Shape 36"/>
          <p:cNvSpPr/>
          <p:nvPr/>
        </p:nvSpPr>
        <p:spPr>
          <a:xfrm>
            <a:off x="7735863" y="6220495"/>
            <a:ext cx="76200" cy="514350"/>
          </a:xfrm>
          <a:prstGeom prst="roundRect">
            <a:avLst>
              <a:gd name="adj" fmla="val 25000"/>
            </a:avLst>
          </a:prstGeom>
          <a:solidFill>
            <a:srgbClr val="C8C0F8">
              <a:alpha val="80000"/>
            </a:srgbClr>
          </a:solidFill>
          <a:ln/>
        </p:spPr>
      </p:sp>
      <p:sp>
        <p:nvSpPr>
          <p:cNvPr id="40" name="Shape 37"/>
          <p:cNvSpPr/>
          <p:nvPr/>
        </p:nvSpPr>
        <p:spPr>
          <a:xfrm>
            <a:off x="7850163" y="6191920"/>
            <a:ext cx="76200" cy="542925"/>
          </a:xfrm>
          <a:prstGeom prst="roundRect">
            <a:avLst>
              <a:gd name="adj" fmla="val 25000"/>
            </a:avLst>
          </a:prstGeom>
          <a:solidFill>
            <a:srgbClr val="5B47F0">
              <a:alpha val="80000"/>
            </a:srgbClr>
          </a:solidFill>
          <a:ln/>
        </p:spPr>
      </p:sp>
      <p:sp>
        <p:nvSpPr>
          <p:cNvPr id="41" name="Shape 38"/>
          <p:cNvSpPr/>
          <p:nvPr/>
        </p:nvSpPr>
        <p:spPr>
          <a:xfrm>
            <a:off x="7964463" y="6174804"/>
            <a:ext cx="76200" cy="560040"/>
          </a:xfrm>
          <a:prstGeom prst="roundRect">
            <a:avLst>
              <a:gd name="adj" fmla="val 25000"/>
            </a:avLst>
          </a:prstGeom>
          <a:solidFill>
            <a:srgbClr val="5B47F0">
              <a:alpha val="80000"/>
            </a:srgbClr>
          </a:solidFill>
          <a:ln/>
        </p:spPr>
      </p:sp>
      <p:sp>
        <p:nvSpPr>
          <p:cNvPr id="42" name="Shape 39"/>
          <p:cNvSpPr/>
          <p:nvPr/>
        </p:nvSpPr>
        <p:spPr>
          <a:xfrm>
            <a:off x="8078763" y="6163345"/>
            <a:ext cx="76200" cy="571500"/>
          </a:xfrm>
          <a:prstGeom prst="roundRect">
            <a:avLst>
              <a:gd name="adj" fmla="val 25000"/>
            </a:avLst>
          </a:prstGeom>
          <a:solidFill>
            <a:srgbClr val="5B47F0">
              <a:alpha val="80000"/>
            </a:srgbClr>
          </a:solidFill>
          <a:ln/>
        </p:spPr>
      </p:sp>
      <p:sp>
        <p:nvSpPr>
          <p:cNvPr id="43" name="Text 40"/>
          <p:cNvSpPr/>
          <p:nvPr/>
        </p:nvSpPr>
        <p:spPr>
          <a:xfrm>
            <a:off x="6821463" y="6887245"/>
            <a:ext cx="4784350"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dirty="0">
                <a:solidFill>
                  <a:srgbClr val="F7FAFC">
                    <a:alpha val="78000"/>
                  </a:srgbClr>
                </a:solidFill>
                <a:latin typeface="Arial" pitchFamily="34" charset="0"/>
                <a:ea typeface="Arial" pitchFamily="34" charset="-122"/>
                <a:cs typeface="Arial" pitchFamily="34" charset="-120"/>
              </a:rPr>
              <a:t>~50K paying users from a standing start.</a:t>
            </a:r>
            <a:endParaRPr lang="en-US" sz="1125" dirty="0"/>
          </a:p>
        </p:txBody>
      </p:sp>
      <p:sp>
        <p:nvSpPr>
          <p:cNvPr id="44" name="Shape 41"/>
          <p:cNvSpPr/>
          <p:nvPr/>
        </p:nvSpPr>
        <p:spPr>
          <a:xfrm>
            <a:off x="12014150" y="4229919"/>
            <a:ext cx="5359450" cy="3228826"/>
          </a:xfrm>
          <a:prstGeom prst="roundRect">
            <a:avLst>
              <a:gd name="adj" fmla="val 5310"/>
            </a:avLst>
          </a:prstGeom>
          <a:solidFill>
            <a:srgbClr val="232C3D"/>
          </a:solidFill>
          <a:ln w="14288">
            <a:solidFill>
              <a:srgbClr val="232C3D"/>
            </a:solidFill>
            <a:prstDash val="solid"/>
          </a:ln>
          <a:effectLst>
            <a:outerShdw sx="100000" sy="100000" kx="0" ky="0" algn="bl" rotWithShape="0" blurRad="133350" dist="38100" dir="5400000">
              <a:srgbClr val="000000">
                <a:alpha val="25000"/>
              </a:srgbClr>
            </a:outerShdw>
          </a:effectLst>
        </p:spPr>
      </p:sp>
      <p:sp>
        <p:nvSpPr>
          <p:cNvPr id="45" name="Text 42"/>
          <p:cNvSpPr/>
          <p:nvPr/>
        </p:nvSpPr>
        <p:spPr>
          <a:xfrm>
            <a:off x="12371338" y="4587106"/>
            <a:ext cx="679847" cy="195263"/>
          </a:xfrm>
          <a:prstGeom prst="rect">
            <a:avLst/>
          </a:prstGeom>
          <a:noFill/>
          <a:ln/>
        </p:spPr>
        <p:txBody>
          <a:bodyPr wrap="square" lIns="25400" tIns="25400" rIns="25400" bIns="25400" rtlCol="0" anchor="t">
            <a:normAutofit/>
          </a:bodyPr>
          <a:lstStyle/>
          <a:p>
            <a:pPr algn="l" indent="0" marL="0">
              <a:lnSpc>
                <a:spcPct val="150000"/>
              </a:lnSpc>
              <a:buNone/>
            </a:pPr>
            <a:r>
              <a:rPr lang="en-US" sz="825" spc="99" kern="0" dirty="0">
                <a:solidFill>
                  <a:srgbClr val="C8C0F8"/>
                </a:solidFill>
                <a:latin typeface="Courier New" pitchFamily="34" charset="0"/>
                <a:ea typeface="Courier New" pitchFamily="34" charset="-122"/>
                <a:cs typeface="Courier New" pitchFamily="34" charset="-120"/>
              </a:rPr>
              <a:t>BOLT.NEW</a:t>
            </a:r>
            <a:endParaRPr lang="en-US" sz="825" dirty="0"/>
          </a:p>
        </p:txBody>
      </p:sp>
      <p:sp>
        <p:nvSpPr>
          <p:cNvPr id="46" name="Text 43"/>
          <p:cNvSpPr/>
          <p:nvPr/>
        </p:nvSpPr>
        <p:spPr>
          <a:xfrm>
            <a:off x="16626185" y="4587106"/>
            <a:ext cx="466427" cy="274290"/>
          </a:xfrm>
          <a:prstGeom prst="rect">
            <a:avLst/>
          </a:prstGeom>
          <a:noFill/>
          <a:ln/>
        </p:spPr>
        <p:txBody>
          <a:bodyPr wrap="square" lIns="25400" tIns="25400" rIns="25400" bIns="25400" rtlCol="0" anchor="t">
            <a:normAutofit/>
          </a:bodyPr>
          <a:lstStyle/>
          <a:p>
            <a:pPr algn="l" indent="0" marL="0">
              <a:lnSpc>
                <a:spcPct val="155000"/>
              </a:lnSpc>
              <a:buNone/>
            </a:pPr>
            <a:r>
              <a:rPr lang="en-US" sz="1200" spc="48" kern="0" dirty="0">
                <a:solidFill>
                  <a:srgbClr val="F7FAFC">
                    <a:alpha val="50000"/>
                  </a:srgbClr>
                </a:solidFill>
                <a:latin typeface="Courier New" pitchFamily="34" charset="0"/>
                <a:ea typeface="Courier New" pitchFamily="34" charset="-122"/>
                <a:cs typeface="Courier New" pitchFamily="34" charset="-120"/>
              </a:rPr>
              <a:t>2024</a:t>
            </a:r>
            <a:endParaRPr lang="en-US" sz="1200" dirty="0"/>
          </a:p>
        </p:txBody>
      </p:sp>
      <p:sp>
        <p:nvSpPr>
          <p:cNvPr id="47" name="Text 44"/>
          <p:cNvSpPr/>
          <p:nvPr/>
        </p:nvSpPr>
        <p:spPr>
          <a:xfrm>
            <a:off x="12371338" y="4828059"/>
            <a:ext cx="1152153" cy="1128713"/>
          </a:xfrm>
          <a:prstGeom prst="rect">
            <a:avLst/>
          </a:prstGeom>
          <a:noFill/>
          <a:ln/>
        </p:spPr>
        <p:txBody>
          <a:bodyPr wrap="square" lIns="0" tIns="0" rIns="0" bIns="0" rtlCol="0" anchor="t">
            <a:normAutofit/>
          </a:bodyPr>
          <a:lstStyle/>
          <a:p>
            <a:pPr algn="l" indent="0" marL="0">
              <a:lnSpc>
                <a:spcPct val="95000"/>
              </a:lnSpc>
              <a:buNone/>
            </a:pPr>
            <a:r>
              <a:rPr lang="en-US" sz="6600" b="1" spc="-264" kern="0" dirty="0">
                <a:solidFill>
                  <a:srgbClr val="C8C0F8"/>
                </a:solidFill>
                <a:latin typeface="Arial" pitchFamily="34" charset="0"/>
                <a:ea typeface="Arial" pitchFamily="34" charset="-122"/>
                <a:cs typeface="Arial" pitchFamily="34" charset="-120"/>
              </a:rPr>
              <a:t>1M</a:t>
            </a:r>
            <a:endParaRPr lang="en-US" sz="6600" dirty="0"/>
          </a:p>
        </p:txBody>
      </p:sp>
      <p:sp>
        <p:nvSpPr>
          <p:cNvPr id="48" name="Text 45"/>
          <p:cNvSpPr/>
          <p:nvPr/>
        </p:nvSpPr>
        <p:spPr>
          <a:xfrm>
            <a:off x="12371338" y="5848127"/>
            <a:ext cx="4784427" cy="200918"/>
          </a:xfrm>
          <a:prstGeom prst="rect">
            <a:avLst/>
          </a:prstGeom>
          <a:noFill/>
          <a:ln/>
        </p:spPr>
        <p:txBody>
          <a:bodyPr wrap="square" lIns="25400" tIns="25400" rIns="25400" bIns="25400" rtlCol="0" anchor="t">
            <a:normAutofit/>
          </a:bodyPr>
          <a:lstStyle/>
          <a:p>
            <a:pPr algn="l" indent="0" marL="0">
              <a:lnSpc>
                <a:spcPct val="95000"/>
              </a:lnSpc>
              <a:buNone/>
            </a:pPr>
            <a:r>
              <a:rPr lang="en-US" sz="1350" dirty="0">
                <a:solidFill>
                  <a:srgbClr val="F7FAFC">
                    <a:alpha val="55000"/>
                  </a:srgbClr>
                </a:solidFill>
                <a:latin typeface="Arial" pitchFamily="34" charset="0"/>
                <a:ea typeface="Arial" pitchFamily="34" charset="-122"/>
                <a:cs typeface="Arial" pitchFamily="34" charset="-120"/>
              </a:rPr>
              <a:t>users in &lt;12 months</a:t>
            </a:r>
            <a:endParaRPr lang="en-US" sz="1350" dirty="0"/>
          </a:p>
        </p:txBody>
      </p:sp>
      <p:sp>
        <p:nvSpPr>
          <p:cNvPr id="49" name="Shape 46"/>
          <p:cNvSpPr/>
          <p:nvPr/>
        </p:nvSpPr>
        <p:spPr>
          <a:xfrm>
            <a:off x="12371338" y="6689154"/>
            <a:ext cx="76200" cy="45690"/>
          </a:xfrm>
          <a:prstGeom prst="roundRect">
            <a:avLst>
              <a:gd name="adj" fmla="val 41694"/>
            </a:avLst>
          </a:prstGeom>
          <a:solidFill>
            <a:srgbClr val="C8C0F8">
              <a:alpha val="45000"/>
            </a:srgbClr>
          </a:solidFill>
          <a:ln/>
        </p:spPr>
      </p:sp>
      <p:sp>
        <p:nvSpPr>
          <p:cNvPr id="50" name="Shape 47"/>
          <p:cNvSpPr/>
          <p:nvPr/>
        </p:nvSpPr>
        <p:spPr>
          <a:xfrm>
            <a:off x="12485638" y="6643464"/>
            <a:ext cx="76200" cy="91380"/>
          </a:xfrm>
          <a:prstGeom prst="roundRect">
            <a:avLst>
              <a:gd name="adj" fmla="val 25000"/>
            </a:avLst>
          </a:prstGeom>
          <a:solidFill>
            <a:srgbClr val="C8C0F8">
              <a:alpha val="50000"/>
            </a:srgbClr>
          </a:solidFill>
          <a:ln/>
        </p:spPr>
      </p:sp>
      <p:sp>
        <p:nvSpPr>
          <p:cNvPr id="51" name="Shape 48"/>
          <p:cNvSpPr/>
          <p:nvPr/>
        </p:nvSpPr>
        <p:spPr>
          <a:xfrm>
            <a:off x="12599938" y="6586314"/>
            <a:ext cx="76200" cy="148530"/>
          </a:xfrm>
          <a:prstGeom prst="roundRect">
            <a:avLst>
              <a:gd name="adj" fmla="val 25000"/>
            </a:avLst>
          </a:prstGeom>
          <a:solidFill>
            <a:srgbClr val="C8C0F8">
              <a:alpha val="60000"/>
            </a:srgbClr>
          </a:solidFill>
          <a:ln/>
        </p:spPr>
      </p:sp>
      <p:sp>
        <p:nvSpPr>
          <p:cNvPr id="52" name="Shape 49"/>
          <p:cNvSpPr/>
          <p:nvPr/>
        </p:nvSpPr>
        <p:spPr>
          <a:xfrm>
            <a:off x="12714238" y="6529164"/>
            <a:ext cx="76200" cy="205680"/>
          </a:xfrm>
          <a:prstGeom prst="roundRect">
            <a:avLst>
              <a:gd name="adj" fmla="val 25000"/>
            </a:avLst>
          </a:prstGeom>
          <a:solidFill>
            <a:srgbClr val="C8C0F8">
              <a:alpha val="70000"/>
            </a:srgbClr>
          </a:solidFill>
          <a:ln/>
        </p:spPr>
      </p:sp>
      <p:sp>
        <p:nvSpPr>
          <p:cNvPr id="53" name="Shape 50"/>
          <p:cNvSpPr/>
          <p:nvPr/>
        </p:nvSpPr>
        <p:spPr>
          <a:xfrm>
            <a:off x="12828538" y="6460554"/>
            <a:ext cx="76200" cy="274290"/>
          </a:xfrm>
          <a:prstGeom prst="roundRect">
            <a:avLst>
              <a:gd name="adj" fmla="val 25000"/>
            </a:avLst>
          </a:prstGeom>
          <a:solidFill>
            <a:srgbClr val="C8C0F8">
              <a:alpha val="78000"/>
            </a:srgbClr>
          </a:solidFill>
          <a:ln/>
        </p:spPr>
      </p:sp>
      <p:sp>
        <p:nvSpPr>
          <p:cNvPr id="54" name="Shape 51"/>
          <p:cNvSpPr/>
          <p:nvPr/>
        </p:nvSpPr>
        <p:spPr>
          <a:xfrm>
            <a:off x="12942838" y="6363370"/>
            <a:ext cx="76200" cy="371475"/>
          </a:xfrm>
          <a:prstGeom prst="roundRect">
            <a:avLst>
              <a:gd name="adj" fmla="val 25000"/>
            </a:avLst>
          </a:prstGeom>
          <a:solidFill>
            <a:srgbClr val="C8C0F8">
              <a:alpha val="85000"/>
            </a:srgbClr>
          </a:solidFill>
          <a:ln/>
        </p:spPr>
      </p:sp>
      <p:sp>
        <p:nvSpPr>
          <p:cNvPr id="55" name="Shape 52"/>
          <p:cNvSpPr/>
          <p:nvPr/>
        </p:nvSpPr>
        <p:spPr>
          <a:xfrm>
            <a:off x="13057138" y="6277645"/>
            <a:ext cx="76200" cy="457200"/>
          </a:xfrm>
          <a:prstGeom prst="roundRect">
            <a:avLst>
              <a:gd name="adj" fmla="val 25000"/>
            </a:avLst>
          </a:prstGeom>
          <a:solidFill>
            <a:srgbClr val="C8C0F8">
              <a:alpha val="80000"/>
            </a:srgbClr>
          </a:solidFill>
          <a:ln/>
        </p:spPr>
      </p:sp>
      <p:sp>
        <p:nvSpPr>
          <p:cNvPr id="56" name="Shape 53"/>
          <p:cNvSpPr/>
          <p:nvPr/>
        </p:nvSpPr>
        <p:spPr>
          <a:xfrm>
            <a:off x="13171438" y="6231954"/>
            <a:ext cx="76200" cy="502890"/>
          </a:xfrm>
          <a:prstGeom prst="roundRect">
            <a:avLst>
              <a:gd name="adj" fmla="val 25000"/>
            </a:avLst>
          </a:prstGeom>
          <a:solidFill>
            <a:srgbClr val="5B47F0">
              <a:alpha val="80000"/>
            </a:srgbClr>
          </a:solidFill>
          <a:ln/>
        </p:spPr>
      </p:sp>
      <p:sp>
        <p:nvSpPr>
          <p:cNvPr id="57" name="Shape 54"/>
          <p:cNvSpPr/>
          <p:nvPr/>
        </p:nvSpPr>
        <p:spPr>
          <a:xfrm>
            <a:off x="13285738" y="6197650"/>
            <a:ext cx="76200" cy="537195"/>
          </a:xfrm>
          <a:prstGeom prst="roundRect">
            <a:avLst>
              <a:gd name="adj" fmla="val 25000"/>
            </a:avLst>
          </a:prstGeom>
          <a:solidFill>
            <a:srgbClr val="5B47F0">
              <a:alpha val="80000"/>
            </a:srgbClr>
          </a:solidFill>
          <a:ln/>
        </p:spPr>
      </p:sp>
      <p:sp>
        <p:nvSpPr>
          <p:cNvPr id="58" name="Shape 55"/>
          <p:cNvSpPr/>
          <p:nvPr/>
        </p:nvSpPr>
        <p:spPr>
          <a:xfrm>
            <a:off x="13400038" y="6174804"/>
            <a:ext cx="76200" cy="560040"/>
          </a:xfrm>
          <a:prstGeom prst="roundRect">
            <a:avLst>
              <a:gd name="adj" fmla="val 25000"/>
            </a:avLst>
          </a:prstGeom>
          <a:solidFill>
            <a:srgbClr val="5B47F0">
              <a:alpha val="80000"/>
            </a:srgbClr>
          </a:solidFill>
          <a:ln/>
        </p:spPr>
      </p:sp>
      <p:sp>
        <p:nvSpPr>
          <p:cNvPr id="59" name="Shape 56"/>
          <p:cNvSpPr/>
          <p:nvPr/>
        </p:nvSpPr>
        <p:spPr>
          <a:xfrm>
            <a:off x="13514338" y="6163345"/>
            <a:ext cx="76200" cy="571500"/>
          </a:xfrm>
          <a:prstGeom prst="roundRect">
            <a:avLst>
              <a:gd name="adj" fmla="val 25000"/>
            </a:avLst>
          </a:prstGeom>
          <a:solidFill>
            <a:srgbClr val="5B47F0">
              <a:alpha val="80000"/>
            </a:srgbClr>
          </a:solidFill>
          <a:ln/>
        </p:spPr>
      </p:sp>
      <p:sp>
        <p:nvSpPr>
          <p:cNvPr id="60" name="Shape 57"/>
          <p:cNvSpPr/>
          <p:nvPr/>
        </p:nvSpPr>
        <p:spPr>
          <a:xfrm>
            <a:off x="13628638" y="6186264"/>
            <a:ext cx="76200" cy="548580"/>
          </a:xfrm>
          <a:prstGeom prst="roundRect">
            <a:avLst>
              <a:gd name="adj" fmla="val 25000"/>
            </a:avLst>
          </a:prstGeom>
          <a:solidFill>
            <a:srgbClr val="5B47F0">
              <a:alpha val="80000"/>
            </a:srgbClr>
          </a:solidFill>
          <a:ln/>
        </p:spPr>
      </p:sp>
      <p:sp>
        <p:nvSpPr>
          <p:cNvPr id="61" name="Text 58"/>
          <p:cNvSpPr/>
          <p:nvPr/>
        </p:nvSpPr>
        <p:spPr>
          <a:xfrm>
            <a:off x="12371338" y="6887245"/>
            <a:ext cx="4784427"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dirty="0">
                <a:solidFill>
                  <a:srgbClr val="F7FAFC">
                    <a:alpha val="78000"/>
                  </a:srgbClr>
                </a:solidFill>
                <a:latin typeface="Arial" pitchFamily="34" charset="0"/>
                <a:ea typeface="Arial" pitchFamily="34" charset="-122"/>
                <a:cs typeface="Arial" pitchFamily="34" charset="-120"/>
              </a:rPr>
              <a:t>Peak weeks hit four-figure signups per day.</a:t>
            </a:r>
            <a:endParaRPr lang="en-US" sz="1125" dirty="0"/>
          </a:p>
        </p:txBody>
      </p:sp>
      <p:sp>
        <p:nvSpPr>
          <p:cNvPr id="62" name="Text 59"/>
          <p:cNvSpPr/>
          <p:nvPr/>
        </p:nvSpPr>
        <p:spPr>
          <a:xfrm>
            <a:off x="914400" y="7915945"/>
            <a:ext cx="16952976" cy="397148"/>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F7FAFC"/>
                </a:solidFill>
                <a:latin typeface="Arial" pitchFamily="34" charset="0"/>
                <a:ea typeface="Arial" pitchFamily="34" charset="-122"/>
                <a:cs typeface="Arial" pitchFamily="34" charset="-120"/>
              </a:rPr>
              <a:t>This window is now. </a:t>
            </a:r>
            <a:pPr algn="l" indent="0" marL="0">
              <a:lnSpc>
                <a:spcPct val="145000"/>
              </a:lnSpc>
              <a:buNone/>
            </a:pPr>
            <a:r>
              <a:rPr lang="en-US" sz="1950" dirty="0">
                <a:solidFill>
                  <a:srgbClr val="C8C0F8"/>
                </a:solidFill>
                <a:latin typeface="Arial" pitchFamily="34" charset="0"/>
                <a:ea typeface="Arial" pitchFamily="34" charset="-122"/>
                <a:cs typeface="Arial" pitchFamily="34" charset="-120"/>
              </a:rPr>
              <a:t>The infrastructure layer is unowned.</a:t>
            </a:r>
            <a:endParaRPr lang="en-US" sz="1950" dirty="0"/>
          </a:p>
        </p:txBody>
      </p:sp>
      <p:sp>
        <p:nvSpPr>
          <p:cNvPr id="63" name="Text 60"/>
          <p:cNvSpPr/>
          <p:nvPr/>
        </p:nvSpPr>
        <p:spPr>
          <a:xfrm>
            <a:off x="914400" y="8751243"/>
            <a:ext cx="16952976" cy="274290"/>
          </a:xfrm>
          <a:prstGeom prst="rect">
            <a:avLst/>
          </a:prstGeom>
          <a:noFill/>
          <a:ln/>
        </p:spPr>
        <p:txBody>
          <a:bodyPr wrap="square" lIns="25400" tIns="25400" rIns="25400" bIns="25400" rtlCol="0" anchor="t">
            <a:normAutofit/>
          </a:bodyPr>
          <a:lstStyle/>
          <a:p>
            <a:pPr algn="l" indent="0" marL="0">
              <a:lnSpc>
                <a:spcPct val="155000"/>
              </a:lnSpc>
              <a:buNone/>
            </a:pPr>
            <a:r>
              <a:rPr lang="en-US" sz="1200" spc="48" kern="0" dirty="0">
                <a:solidFill>
                  <a:srgbClr val="F7FAFC">
                    <a:alpha val="45000"/>
                  </a:srgbClr>
                </a:solidFill>
                <a:latin typeface="Courier New" pitchFamily="34" charset="0"/>
                <a:ea typeface="Courier New" pitchFamily="34" charset="-122"/>
                <a:cs typeface="Courier New" pitchFamily="34" charset="-120"/>
              </a:rPr>
              <a:t>Sources: Cursor public statements 2024–2025 · Lovable.dev / Anton Osika mid-2025 · Bolt.new / StackBlitz 2024.</a:t>
            </a:r>
            <a:endParaRPr lang="en-US" sz="1200" dirty="0"/>
          </a:p>
        </p:txBody>
      </p:sp>
      <p:sp>
        <p:nvSpPr>
          <p:cNvPr id="64" name="Shape 61"/>
          <p:cNvSpPr/>
          <p:nvPr/>
        </p:nvSpPr>
        <p:spPr>
          <a:xfrm>
            <a:off x="914400" y="9286875"/>
            <a:ext cx="16459200" cy="9525"/>
          </a:xfrm>
          <a:prstGeom prst="rect">
            <a:avLst/>
          </a:prstGeom>
          <a:solidFill>
            <a:srgbClr val="F7FAFC">
              <a:alpha val="12000"/>
            </a:srgbClr>
          </a:solidFill>
          <a:ln/>
        </p:spPr>
      </p:sp>
      <p:sp>
        <p:nvSpPr>
          <p:cNvPr id="65" name="Text 62"/>
          <p:cNvSpPr/>
          <p:nvPr/>
        </p:nvSpPr>
        <p:spPr>
          <a:xfrm>
            <a:off x="914400" y="9532144"/>
            <a:ext cx="4533256"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113" kern="0" dirty="0">
                <a:solidFill>
                  <a:srgbClr val="F7FAFC">
                    <a:alpha val="50000"/>
                  </a:srgbClr>
                </a:solidFill>
                <a:latin typeface="Courier New" pitchFamily="34" charset="0"/>
                <a:ea typeface="Courier New" pitchFamily="34" charset="-122"/>
                <a:cs typeface="Courier New" pitchFamily="34" charset="-120"/>
              </a:rPr>
              <a:t>HATCHIK · INVESTOR &amp; PARTNER DECK · MAY 2026</a:t>
            </a:r>
            <a:endParaRPr lang="en-US" sz="1125" dirty="0"/>
          </a:p>
        </p:txBody>
      </p:sp>
      <p:sp>
        <p:nvSpPr>
          <p:cNvPr id="66" name="Text 63"/>
          <p:cNvSpPr/>
          <p:nvPr/>
        </p:nvSpPr>
        <p:spPr>
          <a:xfrm>
            <a:off x="16690851" y="9525000"/>
            <a:ext cx="758949"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spc="48" kern="0" dirty="0">
                <a:solidFill>
                  <a:srgbClr val="F7FAFC"/>
                </a:solidFill>
                <a:latin typeface="Courier New" pitchFamily="34" charset="0"/>
                <a:ea typeface="Courier New" pitchFamily="34" charset="-122"/>
                <a:cs typeface="Courier New" pitchFamily="34" charset="-120"/>
              </a:rPr>
              <a:t>04 / 31</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5B47F0">
              <a:alpha val="4000"/>
            </a:srgbClr>
          </a:solidFill>
          <a:ln/>
        </p:spPr>
      </p:sp>
      <p:sp>
        <p:nvSpPr>
          <p:cNvPr id="3" name="Shape 1"/>
          <p:cNvSpPr/>
          <p:nvPr/>
        </p:nvSpPr>
        <p:spPr>
          <a:xfrm>
            <a:off x="914400" y="1009650"/>
            <a:ext cx="16459200" cy="9525"/>
          </a:xfrm>
          <a:prstGeom prst="rect">
            <a:avLst/>
          </a:prstGeom>
          <a:solidFill>
            <a:srgbClr val="DDE5EC"/>
          </a:solidFill>
          <a:ln/>
        </p:spPr>
      </p:sp>
      <p:pic>
        <p:nvPicPr>
          <p:cNvPr id="4" name="Image 0" descr="preencoded.png">    </p:cNvPr>
          <p:cNvPicPr>
            <a:picLocks noChangeAspect="1"/>
          </p:cNvPicPr>
          <p:nvPr/>
        </p:nvPicPr>
        <p:blipFill>
          <a:blip r:embed="rId1"/>
          <a:stretch>
            <a:fillRect/>
          </a:stretch>
        </p:blipFill>
        <p:spPr>
          <a:xfrm>
            <a:off x="914400" y="571500"/>
            <a:ext cx="209550" cy="209550"/>
          </a:xfrm>
          <a:prstGeom prst="rect">
            <a:avLst/>
          </a:prstGeom>
        </p:spPr>
      </p:pic>
      <p:sp>
        <p:nvSpPr>
          <p:cNvPr id="5" name="Text 2"/>
          <p:cNvSpPr/>
          <p:nvPr/>
        </p:nvSpPr>
        <p:spPr>
          <a:xfrm>
            <a:off x="1219200" y="533400"/>
            <a:ext cx="745108"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spc="-37" kern="0" dirty="0">
                <a:solidFill>
                  <a:srgbClr val="0F1419"/>
                </a:solidFill>
                <a:latin typeface="Arial" pitchFamily="34" charset="0"/>
                <a:ea typeface="Arial" pitchFamily="34" charset="-122"/>
                <a:cs typeface="Arial" pitchFamily="34" charset="-120"/>
              </a:rPr>
              <a:t>hatchik</a:t>
            </a:r>
            <a:endParaRPr lang="en-US" sz="1500" dirty="0"/>
          </a:p>
        </p:txBody>
      </p:sp>
      <p:sp>
        <p:nvSpPr>
          <p:cNvPr id="6" name="Text 3"/>
          <p:cNvSpPr/>
          <p:nvPr/>
        </p:nvSpPr>
        <p:spPr>
          <a:xfrm>
            <a:off x="15658802" y="562421"/>
            <a:ext cx="1790998" cy="265733"/>
          </a:xfrm>
          <a:prstGeom prst="rect">
            <a:avLst/>
          </a:prstGeom>
          <a:noFill/>
          <a:ln/>
        </p:spPr>
        <p:txBody>
          <a:bodyPr wrap="square" lIns="25400" tIns="25400" rIns="25400" bIns="25400" rtlCol="0" anchor="t">
            <a:normAutofit/>
          </a:bodyPr>
          <a:lstStyle/>
          <a:p>
            <a:pPr algn="l" indent="0" marL="0">
              <a:lnSpc>
                <a:spcPct val="140000"/>
              </a:lnSpc>
              <a:buNone/>
            </a:pPr>
            <a:r>
              <a:rPr lang="en-US" sz="1200" spc="120" kern="0" dirty="0">
                <a:solidFill>
                  <a:srgbClr val="0F1419"/>
                </a:solidFill>
                <a:latin typeface="Courier New" pitchFamily="34" charset="0"/>
                <a:ea typeface="Courier New" pitchFamily="34" charset="-122"/>
                <a:cs typeface="Courier New" pitchFamily="34" charset="-120"/>
              </a:rPr>
              <a:t>05 </a:t>
            </a:r>
            <a:pPr algn="l" indent="0" marL="0">
              <a:lnSpc>
                <a:spcPct val="140000"/>
              </a:lnSpc>
              <a:buNone/>
            </a:pPr>
            <a:r>
              <a:rPr lang="en-US" sz="1200" spc="120" kern="0" dirty="0">
                <a:solidFill>
                  <a:srgbClr val="5B47F0"/>
                </a:solidFill>
                <a:latin typeface="Courier New" pitchFamily="34" charset="0"/>
                <a:ea typeface="Courier New" pitchFamily="34" charset="-122"/>
                <a:cs typeface="Courier New" pitchFamily="34" charset="-120"/>
              </a:rPr>
              <a:t>· </a:t>
            </a:r>
            <a:pPr algn="l" indent="0" marL="0">
              <a:lnSpc>
                <a:spcPct val="140000"/>
              </a:lnSpc>
              <a:buNone/>
            </a:pPr>
            <a:r>
              <a:rPr lang="en-US" sz="1200" spc="120" kern="0" dirty="0">
                <a:solidFill>
                  <a:srgbClr val="6E7785"/>
                </a:solidFill>
                <a:latin typeface="Courier New" pitchFamily="34" charset="0"/>
                <a:ea typeface="Courier New" pitchFamily="34" charset="-122"/>
                <a:cs typeface="Courier New" pitchFamily="34" charset="-120"/>
              </a:rPr>
              <a:t>PRODUCT FLOW</a:t>
            </a:r>
            <a:endParaRPr lang="en-US" sz="1200" dirty="0"/>
          </a:p>
        </p:txBody>
      </p:sp>
      <p:sp>
        <p:nvSpPr>
          <p:cNvPr id="7" name="Text 4"/>
          <p:cNvSpPr/>
          <p:nvPr/>
        </p:nvSpPr>
        <p:spPr>
          <a:xfrm>
            <a:off x="914400" y="1438275"/>
            <a:ext cx="15893415" cy="723900"/>
          </a:xfrm>
          <a:prstGeom prst="rect">
            <a:avLst/>
          </a:prstGeom>
          <a:noFill/>
          <a:ln/>
        </p:spPr>
        <p:txBody>
          <a:bodyPr wrap="square" lIns="25400" tIns="25400" rIns="25400" bIns="25400" rtlCol="0" anchor="t">
            <a:normAutofit/>
          </a:bodyPr>
          <a:lstStyle/>
          <a:p>
            <a:pPr algn="l" indent="0" marL="0">
              <a:lnSpc>
                <a:spcPct val="100000"/>
              </a:lnSpc>
              <a:buNone/>
            </a:pPr>
            <a:r>
              <a:rPr lang="en-US" sz="5400" b="1" spc="-216" kern="0" dirty="0">
                <a:solidFill>
                  <a:srgbClr val="0F1419"/>
                </a:solidFill>
                <a:latin typeface="Arial" pitchFamily="34" charset="0"/>
                <a:ea typeface="Arial" pitchFamily="34" charset="-122"/>
                <a:cs typeface="Arial" pitchFamily="34" charset="-120"/>
              </a:rPr>
              <a:t>Four steps. </a:t>
            </a:r>
            <a:pPr algn="l" indent="0" marL="0">
              <a:lnSpc>
                <a:spcPct val="100000"/>
              </a:lnSpc>
              <a:buNone/>
            </a:pPr>
            <a:r>
              <a:rPr lang="en-US" sz="5400" b="1" spc="-216" kern="0" dirty="0">
                <a:solidFill>
                  <a:srgbClr val="5B47F0"/>
                </a:solidFill>
                <a:latin typeface="Arial" pitchFamily="34" charset="0"/>
                <a:ea typeface="Arial" pitchFamily="34" charset="-122"/>
                <a:cs typeface="Arial" pitchFamily="34" charset="-120"/>
              </a:rPr>
              <a:t>Real product live in a single sitting.</a:t>
            </a:r>
            <a:endParaRPr lang="en-US" sz="5400" dirty="0"/>
          </a:p>
        </p:txBody>
      </p:sp>
      <p:sp>
        <p:nvSpPr>
          <p:cNvPr id="8" name="Shape 5"/>
          <p:cNvSpPr/>
          <p:nvPr/>
        </p:nvSpPr>
        <p:spPr>
          <a:xfrm>
            <a:off x="914400" y="2657475"/>
            <a:ext cx="3986213" cy="3433986"/>
          </a:xfrm>
          <a:prstGeom prst="roundRect">
            <a:avLst>
              <a:gd name="adj" fmla="val 4438"/>
            </a:avLst>
          </a:prstGeom>
          <a:solidFill>
            <a:srgbClr val="FFFFFF"/>
          </a:solidFill>
          <a:ln w="14288">
            <a:solidFill>
              <a:srgbClr val="DDE5EC"/>
            </a:solidFill>
            <a:prstDash val="solid"/>
          </a:ln>
          <a:effectLst>
            <a:outerShdw sx="100000" sy="100000" kx="0" ky="0" algn="bl" rotWithShape="0" blurRad="38100" dist="19050" dir="5400000">
              <a:srgbClr val="0F1419">
                <a:alpha val="4000"/>
              </a:srgbClr>
            </a:outerShdw>
          </a:effectLst>
        </p:spPr>
      </p:sp>
      <p:sp>
        <p:nvSpPr>
          <p:cNvPr id="9" name="Text 6"/>
          <p:cNvSpPr/>
          <p:nvPr/>
        </p:nvSpPr>
        <p:spPr>
          <a:xfrm>
            <a:off x="1195388" y="2938463"/>
            <a:ext cx="3526965" cy="238125"/>
          </a:xfrm>
          <a:prstGeom prst="rect">
            <a:avLst/>
          </a:prstGeom>
          <a:noFill/>
          <a:ln/>
        </p:spPr>
        <p:txBody>
          <a:bodyPr wrap="square" lIns="25400" tIns="25400" rIns="25400" bIns="25400" rtlCol="0" anchor="t">
            <a:normAutofit/>
          </a:bodyPr>
          <a:lstStyle/>
          <a:p>
            <a:pPr algn="l" indent="0" marL="0">
              <a:lnSpc>
                <a:spcPct val="150000"/>
              </a:lnSpc>
              <a:buNone/>
            </a:pPr>
            <a:r>
              <a:rPr lang="en-US" sz="1050" spc="126" kern="0" dirty="0">
                <a:solidFill>
                  <a:srgbClr val="5B47F0"/>
                </a:solidFill>
                <a:latin typeface="Courier New" pitchFamily="34" charset="0"/>
                <a:ea typeface="Courier New" pitchFamily="34" charset="-122"/>
                <a:cs typeface="Courier New" pitchFamily="34" charset="-120"/>
              </a:rPr>
              <a:t>01 · WIZARD AT /START</a:t>
            </a:r>
            <a:endParaRPr lang="en-US" sz="1050" dirty="0"/>
          </a:p>
        </p:txBody>
      </p:sp>
      <p:sp>
        <p:nvSpPr>
          <p:cNvPr id="10" name="Text 7"/>
          <p:cNvSpPr/>
          <p:nvPr/>
        </p:nvSpPr>
        <p:spPr>
          <a:xfrm>
            <a:off x="1195388" y="3271838"/>
            <a:ext cx="3526965" cy="279053"/>
          </a:xfrm>
          <a:prstGeom prst="rect">
            <a:avLst/>
          </a:prstGeom>
          <a:noFill/>
          <a:ln/>
        </p:spPr>
        <p:txBody>
          <a:bodyPr wrap="square" lIns="25400" tIns="25400" rIns="25400" bIns="25400" rtlCol="0" anchor="t">
            <a:normAutofit/>
          </a:bodyPr>
          <a:lstStyle/>
          <a:p>
            <a:pPr algn="l" indent="0" marL="0">
              <a:lnSpc>
                <a:spcPct val="115000"/>
              </a:lnSpc>
              <a:buNone/>
            </a:pPr>
            <a:r>
              <a:rPr lang="en-US" sz="1650" b="1" spc="-33" kern="0" dirty="0">
                <a:solidFill>
                  <a:srgbClr val="0F1419"/>
                </a:solidFill>
                <a:latin typeface="Arial" pitchFamily="34" charset="0"/>
                <a:ea typeface="Arial" pitchFamily="34" charset="-122"/>
                <a:cs typeface="Arial" pitchFamily="34" charset="-120"/>
              </a:rPr>
              <a:t>60 seconds.</a:t>
            </a:r>
            <a:endParaRPr lang="en-US" sz="1650" dirty="0"/>
          </a:p>
        </p:txBody>
      </p:sp>
      <p:sp>
        <p:nvSpPr>
          <p:cNvPr id="11" name="Shape 8"/>
          <p:cNvSpPr/>
          <p:nvPr/>
        </p:nvSpPr>
        <p:spPr>
          <a:xfrm>
            <a:off x="1195388" y="3646140"/>
            <a:ext cx="3424238" cy="1787203"/>
          </a:xfrm>
          <a:prstGeom prst="roundRect">
            <a:avLst>
              <a:gd name="adj" fmla="val 7461"/>
            </a:avLst>
          </a:prstGeom>
          <a:solidFill>
            <a:srgbClr val="161D2A"/>
          </a:solidFill>
          <a:ln w="14288">
            <a:solidFill>
              <a:srgbClr val="232C3D"/>
            </a:solidFill>
            <a:prstDash val="solid"/>
          </a:ln>
          <a:effectLst>
            <a:outerShdw sx="100000" sy="100000" kx="0" ky="0" algn="bl" rotWithShape="0" blurRad="57150" dist="19050" dir="5400000">
              <a:srgbClr val="000000">
                <a:alpha val="35000"/>
              </a:srgbClr>
            </a:outerShdw>
          </a:effectLst>
        </p:spPr>
      </p:sp>
      <p:sp>
        <p:nvSpPr>
          <p:cNvPr id="12" name="Shape 9"/>
          <p:cNvSpPr/>
          <p:nvPr/>
        </p:nvSpPr>
        <p:spPr>
          <a:xfrm>
            <a:off x="1457325" y="4169494"/>
            <a:ext cx="2900363" cy="9525"/>
          </a:xfrm>
          <a:prstGeom prst="rect">
            <a:avLst/>
          </a:prstGeom>
          <a:solidFill>
            <a:srgbClr val="F7FAFC">
              <a:alpha val="12000"/>
            </a:srgbClr>
          </a:solidFill>
          <a:ln/>
        </p:spPr>
      </p:sp>
      <p:sp>
        <p:nvSpPr>
          <p:cNvPr id="13" name="Text 10"/>
          <p:cNvSpPr/>
          <p:nvPr/>
        </p:nvSpPr>
        <p:spPr>
          <a:xfrm>
            <a:off x="1457325" y="3869978"/>
            <a:ext cx="1592089" cy="242367"/>
          </a:xfrm>
          <a:prstGeom prst="rect">
            <a:avLst/>
          </a:prstGeom>
          <a:noFill/>
          <a:ln/>
        </p:spPr>
        <p:txBody>
          <a:bodyPr wrap="square" lIns="25400" tIns="25400" rIns="25400" bIns="25400" rtlCol="0" anchor="t">
            <a:normAutofit/>
          </a:bodyPr>
          <a:lstStyle/>
          <a:p>
            <a:pPr algn="l" indent="0" marL="0">
              <a:lnSpc>
                <a:spcPct val="165000"/>
              </a:lnSpc>
              <a:buNone/>
            </a:pPr>
            <a:r>
              <a:rPr lang="en-US" sz="975" spc="117" kern="0" dirty="0">
                <a:solidFill>
                  <a:srgbClr val="F7FAFC">
                    <a:alpha val="45000"/>
                  </a:srgbClr>
                </a:solidFill>
                <a:latin typeface="Courier New" pitchFamily="34" charset="0"/>
                <a:ea typeface="Courier New" pitchFamily="34" charset="-122"/>
                <a:cs typeface="Courier New" pitchFamily="34" charset="-120"/>
              </a:rPr>
              <a:t>HATCHIK.COM/START</a:t>
            </a:r>
            <a:endParaRPr lang="en-US" sz="975" dirty="0"/>
          </a:p>
        </p:txBody>
      </p:sp>
      <p:sp>
        <p:nvSpPr>
          <p:cNvPr id="14" name="Text 11"/>
          <p:cNvSpPr/>
          <p:nvPr/>
        </p:nvSpPr>
        <p:spPr>
          <a:xfrm>
            <a:off x="3644354" y="3869978"/>
            <a:ext cx="789533" cy="242367"/>
          </a:xfrm>
          <a:prstGeom prst="rect">
            <a:avLst/>
          </a:prstGeom>
          <a:noFill/>
          <a:ln/>
        </p:spPr>
        <p:txBody>
          <a:bodyPr wrap="square" lIns="25400" tIns="25400" rIns="25400" bIns="25400" rtlCol="0" anchor="t">
            <a:normAutofit/>
          </a:bodyPr>
          <a:lstStyle/>
          <a:p>
            <a:pPr algn="l" indent="0" marL="0">
              <a:lnSpc>
                <a:spcPct val="165000"/>
              </a:lnSpc>
              <a:buNone/>
            </a:pPr>
            <a:r>
              <a:rPr lang="en-US" sz="975" spc="117" kern="0" dirty="0">
                <a:solidFill>
                  <a:srgbClr val="F7FAFC">
                    <a:alpha val="45000"/>
                  </a:srgbClr>
                </a:solidFill>
                <a:latin typeface="Courier New" pitchFamily="34" charset="0"/>
                <a:ea typeface="Courier New" pitchFamily="34" charset="-122"/>
                <a:cs typeface="Courier New" pitchFamily="34" charset="-120"/>
              </a:rPr>
              <a:t>STEP 1/4</a:t>
            </a:r>
            <a:endParaRPr lang="en-US" sz="975" dirty="0"/>
          </a:p>
        </p:txBody>
      </p:sp>
      <p:sp>
        <p:nvSpPr>
          <p:cNvPr id="15" name="Text 12"/>
          <p:cNvSpPr/>
          <p:nvPr/>
        </p:nvSpPr>
        <p:spPr>
          <a:xfrm>
            <a:off x="1457325" y="4293319"/>
            <a:ext cx="2987373" cy="226665"/>
          </a:xfrm>
          <a:prstGeom prst="rect">
            <a:avLst/>
          </a:prstGeom>
          <a:noFill/>
          <a:ln/>
        </p:spPr>
        <p:txBody>
          <a:bodyPr wrap="square" lIns="25400" tIns="25400" rIns="25400" bIns="25400" rtlCol="0" anchor="t">
            <a:normAutofit/>
          </a:bodyPr>
          <a:lstStyle/>
          <a:p>
            <a:pPr algn="l" indent="0" marL="0">
              <a:lnSpc>
                <a:spcPct val="165000"/>
              </a:lnSpc>
              <a:buNone/>
            </a:pPr>
            <a:r>
              <a:rPr lang="en-US" sz="900" dirty="0">
                <a:solidFill>
                  <a:srgbClr val="F7FAFC">
                    <a:alpha val="40000"/>
                  </a:srgbClr>
                </a:solidFill>
                <a:latin typeface="Courier New" pitchFamily="34" charset="0"/>
                <a:ea typeface="Courier New" pitchFamily="34" charset="-122"/>
                <a:cs typeface="Courier New" pitchFamily="34" charset="-120"/>
              </a:rPr>
              <a:t>idea › </a:t>
            </a:r>
            <a:pPr algn="l" indent="0" marL="0">
              <a:lnSpc>
                <a:spcPct val="165000"/>
              </a:lnSpc>
              <a:buNone/>
            </a:pPr>
            <a:r>
              <a:rPr lang="en-US" sz="900" dirty="0">
                <a:solidFill>
                  <a:srgbClr val="F7FAFC">
                    <a:alpha val="78000"/>
                  </a:srgbClr>
                </a:solidFill>
                <a:latin typeface="Courier New" pitchFamily="34" charset="0"/>
                <a:ea typeface="Courier New" pitchFamily="34" charset="-122"/>
                <a:cs typeface="Courier New" pitchFamily="34" charset="-120"/>
              </a:rPr>
              <a:t>PrepSheet — meals for PT clients</a:t>
            </a:r>
            <a:endParaRPr lang="en-US" sz="900" dirty="0"/>
          </a:p>
        </p:txBody>
      </p:sp>
      <p:sp>
        <p:nvSpPr>
          <p:cNvPr id="16" name="Text 13"/>
          <p:cNvSpPr/>
          <p:nvPr/>
        </p:nvSpPr>
        <p:spPr>
          <a:xfrm>
            <a:off x="1457325" y="4481885"/>
            <a:ext cx="2987373" cy="226665"/>
          </a:xfrm>
          <a:prstGeom prst="rect">
            <a:avLst/>
          </a:prstGeom>
          <a:noFill/>
          <a:ln/>
        </p:spPr>
        <p:txBody>
          <a:bodyPr wrap="square" lIns="25400" tIns="25400" rIns="25400" bIns="25400" rtlCol="0" anchor="t">
            <a:normAutofit/>
          </a:bodyPr>
          <a:lstStyle/>
          <a:p>
            <a:pPr algn="l" indent="0" marL="0">
              <a:lnSpc>
                <a:spcPct val="165000"/>
              </a:lnSpc>
              <a:buNone/>
            </a:pPr>
            <a:r>
              <a:rPr lang="en-US" sz="900" dirty="0">
                <a:solidFill>
                  <a:srgbClr val="F7FAFC">
                    <a:alpha val="40000"/>
                  </a:srgbClr>
                </a:solidFill>
                <a:latin typeface="Courier New" pitchFamily="34" charset="0"/>
                <a:ea typeface="Courier New" pitchFamily="34" charset="-122"/>
                <a:cs typeface="Courier New" pitchFamily="34" charset="-120"/>
              </a:rPr>
              <a:t>email › </a:t>
            </a:r>
            <a:pPr algn="l" indent="0" marL="0">
              <a:lnSpc>
                <a:spcPct val="165000"/>
              </a:lnSpc>
              <a:buNone/>
            </a:pPr>
            <a:r>
              <a:rPr lang="en-US" sz="900" dirty="0">
                <a:solidFill>
                  <a:srgbClr val="F7FAFC">
                    <a:alpha val="78000"/>
                  </a:srgbClr>
                </a:solidFill>
                <a:latin typeface="Courier New" pitchFamily="34" charset="0"/>
                <a:ea typeface="Courier New" pitchFamily="34" charset="-122"/>
                <a:cs typeface="Courier New" pitchFamily="34" charset="-120"/>
              </a:rPr>
              <a:t>alex@prep-pt.uk</a:t>
            </a:r>
            <a:endParaRPr lang="en-US" sz="900" dirty="0"/>
          </a:p>
        </p:txBody>
      </p:sp>
      <p:sp>
        <p:nvSpPr>
          <p:cNvPr id="17" name="Text 14"/>
          <p:cNvSpPr/>
          <p:nvPr/>
        </p:nvSpPr>
        <p:spPr>
          <a:xfrm>
            <a:off x="1457325" y="4670450"/>
            <a:ext cx="2987373" cy="226665"/>
          </a:xfrm>
          <a:prstGeom prst="rect">
            <a:avLst/>
          </a:prstGeom>
          <a:noFill/>
          <a:ln/>
        </p:spPr>
        <p:txBody>
          <a:bodyPr wrap="square" lIns="25400" tIns="25400" rIns="25400" bIns="25400" rtlCol="0" anchor="t">
            <a:normAutofit/>
          </a:bodyPr>
          <a:lstStyle/>
          <a:p>
            <a:pPr algn="l" indent="0" marL="0">
              <a:lnSpc>
                <a:spcPct val="165000"/>
              </a:lnSpc>
              <a:buNone/>
            </a:pPr>
            <a:r>
              <a:rPr lang="en-US" sz="900" dirty="0">
                <a:solidFill>
                  <a:srgbClr val="F7FAFC">
                    <a:alpha val="40000"/>
                  </a:srgbClr>
                </a:solidFill>
                <a:latin typeface="Courier New" pitchFamily="34" charset="0"/>
                <a:ea typeface="Courier New" pitchFamily="34" charset="-122"/>
                <a:cs typeface="Courier New" pitchFamily="34" charset="-120"/>
              </a:rPr>
              <a:t>plan › </a:t>
            </a:r>
            <a:pPr algn="l" indent="0" marL="0">
              <a:lnSpc>
                <a:spcPct val="165000"/>
              </a:lnSpc>
              <a:buNone/>
            </a:pPr>
            <a:r>
              <a:rPr lang="en-US" sz="900" dirty="0">
                <a:solidFill>
                  <a:srgbClr val="34D399"/>
                </a:solidFill>
                <a:latin typeface="Courier New" pitchFamily="34" charset="0"/>
                <a:ea typeface="Courier New" pitchFamily="34" charset="-122"/>
                <a:cs typeface="Courier New" pitchFamily="34" charset="-120"/>
              </a:rPr>
              <a:t>Sandbox </a:t>
            </a:r>
            <a:pPr algn="l" indent="0" marL="0">
              <a:lnSpc>
                <a:spcPct val="165000"/>
              </a:lnSpc>
              <a:buNone/>
            </a:pPr>
            <a:r>
              <a:rPr lang="en-US" sz="900" dirty="0">
                <a:solidFill>
                  <a:srgbClr val="F7FAFC">
                    <a:alpha val="40000"/>
                  </a:srgbClr>
                </a:solidFill>
                <a:latin typeface="Courier New" pitchFamily="34" charset="0"/>
                <a:ea typeface="Courier New" pitchFamily="34" charset="-122"/>
                <a:cs typeface="Courier New" pitchFamily="34" charset="-120"/>
              </a:rPr>
              <a:t>(free)</a:t>
            </a:r>
            <a:endParaRPr lang="en-US" sz="900" dirty="0"/>
          </a:p>
        </p:txBody>
      </p:sp>
      <p:sp>
        <p:nvSpPr>
          <p:cNvPr id="18" name="Shape 15"/>
          <p:cNvSpPr/>
          <p:nvPr/>
        </p:nvSpPr>
        <p:spPr>
          <a:xfrm>
            <a:off x="1457325" y="4935215"/>
            <a:ext cx="2900363" cy="9525"/>
          </a:xfrm>
          <a:prstGeom prst="rect">
            <a:avLst/>
          </a:prstGeom>
          <a:solidFill>
            <a:srgbClr val="F7FAFC">
              <a:alpha val="12000"/>
            </a:srgbClr>
          </a:solidFill>
          <a:ln/>
        </p:spPr>
      </p:sp>
      <p:sp>
        <p:nvSpPr>
          <p:cNvPr id="19" name="Text 16"/>
          <p:cNvSpPr/>
          <p:nvPr/>
        </p:nvSpPr>
        <p:spPr>
          <a:xfrm>
            <a:off x="1457325" y="5020940"/>
            <a:ext cx="2987373" cy="226665"/>
          </a:xfrm>
          <a:prstGeom prst="rect">
            <a:avLst/>
          </a:prstGeom>
          <a:noFill/>
          <a:ln/>
        </p:spPr>
        <p:txBody>
          <a:bodyPr wrap="square" lIns="25400" tIns="25400" rIns="25400" bIns="25400" rtlCol="0" anchor="t">
            <a:normAutofit/>
          </a:bodyPr>
          <a:lstStyle/>
          <a:p>
            <a:pPr algn="l" indent="0" marL="0">
              <a:lnSpc>
                <a:spcPct val="165000"/>
              </a:lnSpc>
              <a:buNone/>
            </a:pPr>
            <a:r>
              <a:rPr lang="en-US" sz="900" dirty="0">
                <a:solidFill>
                  <a:srgbClr val="C8C0F8"/>
                </a:solidFill>
                <a:latin typeface="Courier New" pitchFamily="34" charset="0"/>
                <a:ea typeface="Courier New" pitchFamily="34" charset="-122"/>
                <a:cs typeface="Courier New" pitchFamily="34" charset="-120"/>
              </a:rPr>
              <a:t>[ Start building → ]</a:t>
            </a:r>
            <a:endParaRPr lang="en-US" sz="900" dirty="0"/>
          </a:p>
        </p:txBody>
      </p:sp>
      <p:sp>
        <p:nvSpPr>
          <p:cNvPr id="20" name="Shape 17"/>
          <p:cNvSpPr/>
          <p:nvPr/>
        </p:nvSpPr>
        <p:spPr>
          <a:xfrm>
            <a:off x="5072063" y="2657475"/>
            <a:ext cx="3986213" cy="3433986"/>
          </a:xfrm>
          <a:prstGeom prst="roundRect">
            <a:avLst>
              <a:gd name="adj" fmla="val 4438"/>
            </a:avLst>
          </a:prstGeom>
          <a:solidFill>
            <a:srgbClr val="FFFFFF"/>
          </a:solidFill>
          <a:ln w="14288">
            <a:solidFill>
              <a:srgbClr val="DDE5EC"/>
            </a:solidFill>
            <a:prstDash val="solid"/>
          </a:ln>
          <a:effectLst>
            <a:outerShdw sx="100000" sy="100000" kx="0" ky="0" algn="bl" rotWithShape="0" blurRad="38100" dist="19050" dir="5400000">
              <a:srgbClr val="0F1419">
                <a:alpha val="4000"/>
              </a:srgbClr>
            </a:outerShdw>
          </a:effectLst>
        </p:spPr>
      </p:sp>
      <p:sp>
        <p:nvSpPr>
          <p:cNvPr id="21" name="Text 18"/>
          <p:cNvSpPr/>
          <p:nvPr/>
        </p:nvSpPr>
        <p:spPr>
          <a:xfrm>
            <a:off x="5353050" y="2938463"/>
            <a:ext cx="3526965" cy="238125"/>
          </a:xfrm>
          <a:prstGeom prst="rect">
            <a:avLst/>
          </a:prstGeom>
          <a:noFill/>
          <a:ln/>
        </p:spPr>
        <p:txBody>
          <a:bodyPr wrap="square" lIns="25400" tIns="25400" rIns="25400" bIns="25400" rtlCol="0" anchor="t">
            <a:normAutofit/>
          </a:bodyPr>
          <a:lstStyle/>
          <a:p>
            <a:pPr algn="l" indent="0" marL="0">
              <a:lnSpc>
                <a:spcPct val="150000"/>
              </a:lnSpc>
              <a:buNone/>
            </a:pPr>
            <a:r>
              <a:rPr lang="en-US" sz="1050" spc="126" kern="0" dirty="0">
                <a:solidFill>
                  <a:srgbClr val="5B47F0"/>
                </a:solidFill>
                <a:latin typeface="Courier New" pitchFamily="34" charset="0"/>
                <a:ea typeface="Courier New" pitchFamily="34" charset="-122"/>
                <a:cs typeface="Courier New" pitchFamily="34" charset="-120"/>
              </a:rPr>
              <a:t>02 · SANDBOX LIVE</a:t>
            </a:r>
            <a:endParaRPr lang="en-US" sz="1050" dirty="0"/>
          </a:p>
        </p:txBody>
      </p:sp>
      <p:sp>
        <p:nvSpPr>
          <p:cNvPr id="22" name="Text 19"/>
          <p:cNvSpPr/>
          <p:nvPr/>
        </p:nvSpPr>
        <p:spPr>
          <a:xfrm>
            <a:off x="5353050" y="3271838"/>
            <a:ext cx="3526965" cy="279053"/>
          </a:xfrm>
          <a:prstGeom prst="rect">
            <a:avLst/>
          </a:prstGeom>
          <a:noFill/>
          <a:ln/>
        </p:spPr>
        <p:txBody>
          <a:bodyPr wrap="square" lIns="25400" tIns="25400" rIns="25400" bIns="25400" rtlCol="0" anchor="t">
            <a:normAutofit/>
          </a:bodyPr>
          <a:lstStyle/>
          <a:p>
            <a:pPr algn="l" indent="0" marL="0">
              <a:lnSpc>
                <a:spcPct val="115000"/>
              </a:lnSpc>
              <a:buNone/>
            </a:pPr>
            <a:r>
              <a:rPr lang="en-US" sz="1650" b="1" spc="-33" kern="0" dirty="0">
                <a:solidFill>
                  <a:srgbClr val="0F1419"/>
                </a:solidFill>
                <a:latin typeface="Arial" pitchFamily="34" charset="0"/>
                <a:ea typeface="Arial" pitchFamily="34" charset="-122"/>
                <a:cs typeface="Arial" pitchFamily="34" charset="-120"/>
              </a:rPr>
              <a:t>Auto-provisioned.</a:t>
            </a:r>
            <a:endParaRPr lang="en-US" sz="1650" dirty="0"/>
          </a:p>
        </p:txBody>
      </p:sp>
      <p:sp>
        <p:nvSpPr>
          <p:cNvPr id="23" name="Shape 20"/>
          <p:cNvSpPr/>
          <p:nvPr/>
        </p:nvSpPr>
        <p:spPr>
          <a:xfrm>
            <a:off x="5353050" y="3646140"/>
            <a:ext cx="3424238" cy="1975768"/>
          </a:xfrm>
          <a:prstGeom prst="roundRect">
            <a:avLst>
              <a:gd name="adj" fmla="val 6749"/>
            </a:avLst>
          </a:prstGeom>
          <a:solidFill>
            <a:srgbClr val="161D2A"/>
          </a:solidFill>
          <a:ln w="14288">
            <a:solidFill>
              <a:srgbClr val="232C3D"/>
            </a:solidFill>
            <a:prstDash val="solid"/>
          </a:ln>
          <a:effectLst>
            <a:outerShdw sx="100000" sy="100000" kx="0" ky="0" algn="bl" rotWithShape="0" blurRad="57150" dist="19050" dir="5400000">
              <a:srgbClr val="000000">
                <a:alpha val="35000"/>
              </a:srgbClr>
            </a:outerShdw>
          </a:effectLst>
        </p:spPr>
      </p:sp>
      <p:sp>
        <p:nvSpPr>
          <p:cNvPr id="24" name="Shape 21"/>
          <p:cNvSpPr/>
          <p:nvPr/>
        </p:nvSpPr>
        <p:spPr>
          <a:xfrm>
            <a:off x="5614988" y="4169494"/>
            <a:ext cx="2900363" cy="9525"/>
          </a:xfrm>
          <a:prstGeom prst="rect">
            <a:avLst/>
          </a:prstGeom>
          <a:solidFill>
            <a:srgbClr val="F7FAFC">
              <a:alpha val="12000"/>
            </a:srgbClr>
          </a:solidFill>
          <a:ln/>
        </p:spPr>
      </p:sp>
      <p:sp>
        <p:nvSpPr>
          <p:cNvPr id="25" name="Text 22"/>
          <p:cNvSpPr/>
          <p:nvPr/>
        </p:nvSpPr>
        <p:spPr>
          <a:xfrm>
            <a:off x="5614988" y="3869978"/>
            <a:ext cx="1948755" cy="242367"/>
          </a:xfrm>
          <a:prstGeom prst="rect">
            <a:avLst/>
          </a:prstGeom>
          <a:noFill/>
          <a:ln/>
        </p:spPr>
        <p:txBody>
          <a:bodyPr wrap="square" lIns="25400" tIns="25400" rIns="25400" bIns="25400" rtlCol="0" anchor="t">
            <a:normAutofit/>
          </a:bodyPr>
          <a:lstStyle/>
          <a:p>
            <a:pPr algn="l" indent="0" marL="0">
              <a:lnSpc>
                <a:spcPct val="165000"/>
              </a:lnSpc>
              <a:buNone/>
            </a:pPr>
            <a:r>
              <a:rPr lang="en-US" sz="975" spc="117" kern="0" dirty="0">
                <a:solidFill>
                  <a:srgbClr val="F7FAFC">
                    <a:alpha val="45000"/>
                  </a:srgbClr>
                </a:solidFill>
                <a:latin typeface="Courier New" pitchFamily="34" charset="0"/>
                <a:ea typeface="Courier New" pitchFamily="34" charset="-122"/>
                <a:cs typeface="Courier New" pitchFamily="34" charset="-120"/>
              </a:rPr>
              <a:t>PREPSHEET.HATCHIK.COM</a:t>
            </a:r>
            <a:endParaRPr lang="en-US" sz="975" dirty="0"/>
          </a:p>
        </p:txBody>
      </p:sp>
      <p:sp>
        <p:nvSpPr>
          <p:cNvPr id="26" name="Text 23"/>
          <p:cNvSpPr/>
          <p:nvPr/>
        </p:nvSpPr>
        <p:spPr>
          <a:xfrm>
            <a:off x="7980313" y="3869978"/>
            <a:ext cx="611237" cy="242367"/>
          </a:xfrm>
          <a:prstGeom prst="rect">
            <a:avLst/>
          </a:prstGeom>
          <a:noFill/>
          <a:ln/>
        </p:spPr>
        <p:txBody>
          <a:bodyPr wrap="square" lIns="25400" tIns="25400" rIns="25400" bIns="25400" rtlCol="0" anchor="t">
            <a:normAutofit/>
          </a:bodyPr>
          <a:lstStyle/>
          <a:p>
            <a:pPr algn="l" indent="0" marL="0">
              <a:lnSpc>
                <a:spcPct val="165000"/>
              </a:lnSpc>
              <a:buNone/>
            </a:pPr>
            <a:r>
              <a:rPr lang="en-US" sz="975" spc="117" kern="0" dirty="0">
                <a:solidFill>
                  <a:srgbClr val="34D399"/>
                </a:solidFill>
                <a:latin typeface="Courier New" pitchFamily="34" charset="0"/>
                <a:ea typeface="Courier New" pitchFamily="34" charset="-122"/>
                <a:cs typeface="Courier New" pitchFamily="34" charset="-120"/>
              </a:rPr>
              <a:t>● LIVE</a:t>
            </a:r>
            <a:endParaRPr lang="en-US" sz="975" dirty="0"/>
          </a:p>
        </p:txBody>
      </p:sp>
      <p:sp>
        <p:nvSpPr>
          <p:cNvPr id="27" name="Text 24"/>
          <p:cNvSpPr/>
          <p:nvPr/>
        </p:nvSpPr>
        <p:spPr>
          <a:xfrm>
            <a:off x="5614988" y="4293319"/>
            <a:ext cx="2987373" cy="226665"/>
          </a:xfrm>
          <a:prstGeom prst="rect">
            <a:avLst/>
          </a:prstGeom>
          <a:noFill/>
          <a:ln/>
        </p:spPr>
        <p:txBody>
          <a:bodyPr wrap="square" lIns="25400" tIns="25400" rIns="25400" bIns="25400" rtlCol="0" anchor="t">
            <a:normAutofit/>
          </a:bodyPr>
          <a:lstStyle/>
          <a:p>
            <a:pPr algn="l" indent="0" marL="0">
              <a:lnSpc>
                <a:spcPct val="165000"/>
              </a:lnSpc>
              <a:buNone/>
            </a:pPr>
            <a:r>
              <a:rPr lang="en-US" sz="900" dirty="0">
                <a:solidFill>
                  <a:srgbClr val="34D399"/>
                </a:solidFill>
                <a:latin typeface="Courier New" pitchFamily="34" charset="0"/>
                <a:ea typeface="Courier New" pitchFamily="34" charset="-122"/>
                <a:cs typeface="Courier New" pitchFamily="34" charset="-120"/>
              </a:rPr>
              <a:t>✓ </a:t>
            </a:r>
            <a:pPr algn="l" indent="0" marL="0">
              <a:lnSpc>
                <a:spcPct val="165000"/>
              </a:lnSpc>
              <a:buNone/>
            </a:pPr>
            <a:r>
              <a:rPr lang="en-US" sz="900" dirty="0">
                <a:solidFill>
                  <a:srgbClr val="F7FAFC">
                    <a:alpha val="78000"/>
                  </a:srgbClr>
                </a:solidFill>
                <a:latin typeface="Courier New" pitchFamily="34" charset="0"/>
                <a:ea typeface="Courier New" pitchFamily="34" charset="-122"/>
                <a:cs typeface="Courier New" pitchFamily="34" charset="-120"/>
              </a:rPr>
              <a:t>9 containers up</a:t>
            </a:r>
            <a:endParaRPr lang="en-US" sz="900" dirty="0"/>
          </a:p>
        </p:txBody>
      </p:sp>
      <p:sp>
        <p:nvSpPr>
          <p:cNvPr id="28" name="Text 25"/>
          <p:cNvSpPr/>
          <p:nvPr/>
        </p:nvSpPr>
        <p:spPr>
          <a:xfrm>
            <a:off x="5614988" y="4481885"/>
            <a:ext cx="2987373" cy="226665"/>
          </a:xfrm>
          <a:prstGeom prst="rect">
            <a:avLst/>
          </a:prstGeom>
          <a:noFill/>
          <a:ln/>
        </p:spPr>
        <p:txBody>
          <a:bodyPr wrap="square" lIns="25400" tIns="25400" rIns="25400" bIns="25400" rtlCol="0" anchor="t">
            <a:normAutofit/>
          </a:bodyPr>
          <a:lstStyle/>
          <a:p>
            <a:pPr algn="l" indent="0" marL="0">
              <a:lnSpc>
                <a:spcPct val="165000"/>
              </a:lnSpc>
              <a:buNone/>
            </a:pPr>
            <a:r>
              <a:rPr lang="en-US" sz="900" dirty="0">
                <a:solidFill>
                  <a:srgbClr val="34D399"/>
                </a:solidFill>
                <a:latin typeface="Courier New" pitchFamily="34" charset="0"/>
                <a:ea typeface="Courier New" pitchFamily="34" charset="-122"/>
                <a:cs typeface="Courier New" pitchFamily="34" charset="-120"/>
              </a:rPr>
              <a:t>✓ </a:t>
            </a:r>
            <a:pPr algn="l" indent="0" marL="0">
              <a:lnSpc>
                <a:spcPct val="165000"/>
              </a:lnSpc>
              <a:buNone/>
            </a:pPr>
            <a:r>
              <a:rPr lang="en-US" sz="900" dirty="0">
                <a:solidFill>
                  <a:srgbClr val="F7FAFC">
                    <a:alpha val="78000"/>
                  </a:srgbClr>
                </a:solidFill>
                <a:latin typeface="Courier New" pitchFamily="34" charset="0"/>
                <a:ea typeface="Courier New" pitchFamily="34" charset="-122"/>
                <a:cs typeface="Courier New" pitchFamily="34" charset="-120"/>
              </a:rPr>
              <a:t>Auth · Postgres · Storage</a:t>
            </a:r>
            <a:endParaRPr lang="en-US" sz="900" dirty="0"/>
          </a:p>
        </p:txBody>
      </p:sp>
      <p:sp>
        <p:nvSpPr>
          <p:cNvPr id="29" name="Text 26"/>
          <p:cNvSpPr/>
          <p:nvPr/>
        </p:nvSpPr>
        <p:spPr>
          <a:xfrm>
            <a:off x="5614988" y="4670450"/>
            <a:ext cx="2987373" cy="226665"/>
          </a:xfrm>
          <a:prstGeom prst="rect">
            <a:avLst/>
          </a:prstGeom>
          <a:noFill/>
          <a:ln/>
        </p:spPr>
        <p:txBody>
          <a:bodyPr wrap="square" lIns="25400" tIns="25400" rIns="25400" bIns="25400" rtlCol="0" anchor="t">
            <a:normAutofit/>
          </a:bodyPr>
          <a:lstStyle/>
          <a:p>
            <a:pPr algn="l" indent="0" marL="0">
              <a:lnSpc>
                <a:spcPct val="165000"/>
              </a:lnSpc>
              <a:buNone/>
            </a:pPr>
            <a:r>
              <a:rPr lang="en-US" sz="900" dirty="0">
                <a:solidFill>
                  <a:srgbClr val="34D399"/>
                </a:solidFill>
                <a:latin typeface="Courier New" pitchFamily="34" charset="0"/>
                <a:ea typeface="Courier New" pitchFamily="34" charset="-122"/>
                <a:cs typeface="Courier New" pitchFamily="34" charset="-120"/>
              </a:rPr>
              <a:t>✓ </a:t>
            </a:r>
            <a:pPr algn="l" indent="0" marL="0">
              <a:lnSpc>
                <a:spcPct val="165000"/>
              </a:lnSpc>
              <a:buNone/>
            </a:pPr>
            <a:r>
              <a:rPr lang="en-US" sz="900" dirty="0">
                <a:solidFill>
                  <a:srgbClr val="F7FAFC">
                    <a:alpha val="78000"/>
                  </a:srgbClr>
                </a:solidFill>
                <a:latin typeface="Courier New" pitchFamily="34" charset="0"/>
                <a:ea typeface="Courier New" pitchFamily="34" charset="-122"/>
                <a:cs typeface="Courier New" pitchFamily="34" charset="-120"/>
              </a:rPr>
              <a:t>Realtime · Stripe · Resend</a:t>
            </a:r>
            <a:endParaRPr lang="en-US" sz="900" dirty="0"/>
          </a:p>
        </p:txBody>
      </p:sp>
      <p:sp>
        <p:nvSpPr>
          <p:cNvPr id="30" name="Text 27"/>
          <p:cNvSpPr/>
          <p:nvPr/>
        </p:nvSpPr>
        <p:spPr>
          <a:xfrm>
            <a:off x="5614988" y="4859015"/>
            <a:ext cx="2987373" cy="226665"/>
          </a:xfrm>
          <a:prstGeom prst="rect">
            <a:avLst/>
          </a:prstGeom>
          <a:noFill/>
          <a:ln/>
        </p:spPr>
        <p:txBody>
          <a:bodyPr wrap="square" lIns="25400" tIns="25400" rIns="25400" bIns="25400" rtlCol="0" anchor="t">
            <a:normAutofit/>
          </a:bodyPr>
          <a:lstStyle/>
          <a:p>
            <a:pPr algn="l" indent="0" marL="0">
              <a:lnSpc>
                <a:spcPct val="165000"/>
              </a:lnSpc>
              <a:buNone/>
            </a:pPr>
            <a:r>
              <a:rPr lang="en-US" sz="900" dirty="0">
                <a:solidFill>
                  <a:srgbClr val="34D399"/>
                </a:solidFill>
                <a:latin typeface="Courier New" pitchFamily="34" charset="0"/>
                <a:ea typeface="Courier New" pitchFamily="34" charset="-122"/>
                <a:cs typeface="Courier New" pitchFamily="34" charset="-120"/>
              </a:rPr>
              <a:t>✓ </a:t>
            </a:r>
            <a:pPr algn="l" indent="0" marL="0">
              <a:lnSpc>
                <a:spcPct val="165000"/>
              </a:lnSpc>
              <a:buNone/>
            </a:pPr>
            <a:r>
              <a:rPr lang="en-US" sz="900" dirty="0">
                <a:solidFill>
                  <a:srgbClr val="F7FAFC">
                    <a:alpha val="78000"/>
                  </a:srgbClr>
                </a:solidFill>
                <a:latin typeface="Courier New" pitchFamily="34" charset="0"/>
                <a:ea typeface="Courier New" pitchFamily="34" charset="-122"/>
                <a:cs typeface="Courier New" pitchFamily="34" charset="-120"/>
              </a:rPr>
              <a:t>Caddy + TLS</a:t>
            </a:r>
            <a:endParaRPr lang="en-US" sz="900" dirty="0"/>
          </a:p>
        </p:txBody>
      </p:sp>
      <p:sp>
        <p:nvSpPr>
          <p:cNvPr id="31" name="Shape 28"/>
          <p:cNvSpPr/>
          <p:nvPr/>
        </p:nvSpPr>
        <p:spPr>
          <a:xfrm>
            <a:off x="5614988" y="5123780"/>
            <a:ext cx="2900363" cy="9525"/>
          </a:xfrm>
          <a:prstGeom prst="rect">
            <a:avLst/>
          </a:prstGeom>
          <a:solidFill>
            <a:srgbClr val="F7FAFC">
              <a:alpha val="12000"/>
            </a:srgbClr>
          </a:solidFill>
          <a:ln/>
        </p:spPr>
      </p:sp>
      <p:sp>
        <p:nvSpPr>
          <p:cNvPr id="32" name="Text 29"/>
          <p:cNvSpPr/>
          <p:nvPr/>
        </p:nvSpPr>
        <p:spPr>
          <a:xfrm>
            <a:off x="5614988" y="5209505"/>
            <a:ext cx="2987373" cy="226665"/>
          </a:xfrm>
          <a:prstGeom prst="rect">
            <a:avLst/>
          </a:prstGeom>
          <a:noFill/>
          <a:ln/>
        </p:spPr>
        <p:txBody>
          <a:bodyPr wrap="square" lIns="25400" tIns="25400" rIns="25400" bIns="25400" rtlCol="0" anchor="t">
            <a:normAutofit/>
          </a:bodyPr>
          <a:lstStyle/>
          <a:p>
            <a:pPr algn="l" indent="0" marL="0">
              <a:lnSpc>
                <a:spcPct val="165000"/>
              </a:lnSpc>
              <a:buNone/>
            </a:pPr>
            <a:r>
              <a:rPr lang="en-US" sz="900" dirty="0">
                <a:solidFill>
                  <a:srgbClr val="F59E0B"/>
                </a:solidFill>
                <a:latin typeface="Courier New" pitchFamily="34" charset="0"/>
                <a:ea typeface="Courier New" pitchFamily="34" charset="-122"/>
                <a:cs typeface="Courier New" pitchFamily="34" charset="-120"/>
              </a:rPr>
              <a:t>62s </a:t>
            </a:r>
            <a:pPr algn="l" indent="0" marL="0">
              <a:lnSpc>
                <a:spcPct val="165000"/>
              </a:lnSpc>
              <a:buNone/>
            </a:pPr>
            <a:r>
              <a:rPr lang="en-US" sz="900" dirty="0">
                <a:solidFill>
                  <a:srgbClr val="F7FAFC">
                    <a:alpha val="40000"/>
                  </a:srgbClr>
                </a:solidFill>
                <a:latin typeface="Courier New" pitchFamily="34" charset="0"/>
                <a:ea typeface="Courier New" pitchFamily="34" charset="-122"/>
                <a:cs typeface="Courier New" pitchFamily="34" charset="-120"/>
              </a:rPr>
              <a:t>total provision</a:t>
            </a:r>
            <a:endParaRPr lang="en-US" sz="900" dirty="0"/>
          </a:p>
        </p:txBody>
      </p:sp>
      <p:sp>
        <p:nvSpPr>
          <p:cNvPr id="33" name="Shape 30"/>
          <p:cNvSpPr/>
          <p:nvPr/>
        </p:nvSpPr>
        <p:spPr>
          <a:xfrm>
            <a:off x="9229725" y="2657475"/>
            <a:ext cx="3986213" cy="3433986"/>
          </a:xfrm>
          <a:prstGeom prst="roundRect">
            <a:avLst>
              <a:gd name="adj" fmla="val 4438"/>
            </a:avLst>
          </a:prstGeom>
          <a:solidFill>
            <a:srgbClr val="FFFFFF"/>
          </a:solidFill>
          <a:ln w="14288">
            <a:solidFill>
              <a:srgbClr val="DDE5EC"/>
            </a:solidFill>
            <a:prstDash val="solid"/>
          </a:ln>
          <a:effectLst>
            <a:outerShdw sx="100000" sy="100000" kx="0" ky="0" algn="bl" rotWithShape="0" blurRad="38100" dist="19050" dir="5400000">
              <a:srgbClr val="0F1419">
                <a:alpha val="4000"/>
              </a:srgbClr>
            </a:outerShdw>
          </a:effectLst>
        </p:spPr>
      </p:sp>
      <p:sp>
        <p:nvSpPr>
          <p:cNvPr id="34" name="Text 31"/>
          <p:cNvSpPr/>
          <p:nvPr/>
        </p:nvSpPr>
        <p:spPr>
          <a:xfrm>
            <a:off x="9510713" y="2938463"/>
            <a:ext cx="3526965" cy="238125"/>
          </a:xfrm>
          <a:prstGeom prst="rect">
            <a:avLst/>
          </a:prstGeom>
          <a:noFill/>
          <a:ln/>
        </p:spPr>
        <p:txBody>
          <a:bodyPr wrap="square" lIns="25400" tIns="25400" rIns="25400" bIns="25400" rtlCol="0" anchor="t">
            <a:normAutofit/>
          </a:bodyPr>
          <a:lstStyle/>
          <a:p>
            <a:pPr algn="l" indent="0" marL="0">
              <a:lnSpc>
                <a:spcPct val="150000"/>
              </a:lnSpc>
              <a:buNone/>
            </a:pPr>
            <a:r>
              <a:rPr lang="en-US" sz="1050" spc="126" kern="0" dirty="0">
                <a:solidFill>
                  <a:srgbClr val="5B47F0"/>
                </a:solidFill>
                <a:latin typeface="Courier New" pitchFamily="34" charset="0"/>
                <a:ea typeface="Courier New" pitchFamily="34" charset="-122"/>
                <a:cs typeface="Courier New" pitchFamily="34" charset="-120"/>
              </a:rPr>
              <a:t>03 · AI READS HANDOFF</a:t>
            </a:r>
            <a:endParaRPr lang="en-US" sz="1050" dirty="0"/>
          </a:p>
        </p:txBody>
      </p:sp>
      <p:sp>
        <p:nvSpPr>
          <p:cNvPr id="35" name="Text 32"/>
          <p:cNvSpPr/>
          <p:nvPr/>
        </p:nvSpPr>
        <p:spPr>
          <a:xfrm>
            <a:off x="9510713" y="3271838"/>
            <a:ext cx="3526965" cy="279053"/>
          </a:xfrm>
          <a:prstGeom prst="rect">
            <a:avLst/>
          </a:prstGeom>
          <a:noFill/>
          <a:ln/>
        </p:spPr>
        <p:txBody>
          <a:bodyPr wrap="square" lIns="25400" tIns="25400" rIns="25400" bIns="25400" rtlCol="0" anchor="t">
            <a:normAutofit/>
          </a:bodyPr>
          <a:lstStyle/>
          <a:p>
            <a:pPr algn="l" indent="0" marL="0">
              <a:lnSpc>
                <a:spcPct val="115000"/>
              </a:lnSpc>
              <a:buNone/>
            </a:pPr>
            <a:r>
              <a:rPr lang="en-US" sz="1650" b="1" spc="-33" kern="0" dirty="0">
                <a:solidFill>
                  <a:srgbClr val="0F1419"/>
                </a:solidFill>
                <a:latin typeface="Arial" pitchFamily="34" charset="0"/>
                <a:ea typeface="Arial" pitchFamily="34" charset="-122"/>
                <a:cs typeface="Arial" pitchFamily="34" charset="-120"/>
              </a:rPr>
              <a:t>AI_CONTEXT.md</a:t>
            </a:r>
            <a:endParaRPr lang="en-US" sz="1650" dirty="0"/>
          </a:p>
        </p:txBody>
      </p:sp>
      <p:sp>
        <p:nvSpPr>
          <p:cNvPr id="36" name="Shape 33"/>
          <p:cNvSpPr/>
          <p:nvPr/>
        </p:nvSpPr>
        <p:spPr>
          <a:xfrm>
            <a:off x="9510713" y="3646140"/>
            <a:ext cx="3424238" cy="2164333"/>
          </a:xfrm>
          <a:prstGeom prst="roundRect">
            <a:avLst>
              <a:gd name="adj" fmla="val 6161"/>
            </a:avLst>
          </a:prstGeom>
          <a:solidFill>
            <a:srgbClr val="161D2A"/>
          </a:solidFill>
          <a:ln w="14288">
            <a:solidFill>
              <a:srgbClr val="232C3D"/>
            </a:solidFill>
            <a:prstDash val="solid"/>
          </a:ln>
          <a:effectLst>
            <a:outerShdw sx="100000" sy="100000" kx="0" ky="0" algn="bl" rotWithShape="0" blurRad="57150" dist="19050" dir="5400000">
              <a:srgbClr val="000000">
                <a:alpha val="35000"/>
              </a:srgbClr>
            </a:outerShdw>
          </a:effectLst>
        </p:spPr>
      </p:sp>
      <p:sp>
        <p:nvSpPr>
          <p:cNvPr id="37" name="Shape 34"/>
          <p:cNvSpPr/>
          <p:nvPr/>
        </p:nvSpPr>
        <p:spPr>
          <a:xfrm>
            <a:off x="9772650" y="4169494"/>
            <a:ext cx="2900363" cy="9525"/>
          </a:xfrm>
          <a:prstGeom prst="rect">
            <a:avLst/>
          </a:prstGeom>
          <a:solidFill>
            <a:srgbClr val="F7FAFC">
              <a:alpha val="12000"/>
            </a:srgbClr>
          </a:solidFill>
          <a:ln/>
        </p:spPr>
      </p:sp>
      <p:sp>
        <p:nvSpPr>
          <p:cNvPr id="38" name="Text 35"/>
          <p:cNvSpPr/>
          <p:nvPr/>
        </p:nvSpPr>
        <p:spPr>
          <a:xfrm>
            <a:off x="9772650" y="3869978"/>
            <a:ext cx="1948755" cy="242367"/>
          </a:xfrm>
          <a:prstGeom prst="rect">
            <a:avLst/>
          </a:prstGeom>
          <a:noFill/>
          <a:ln/>
        </p:spPr>
        <p:txBody>
          <a:bodyPr wrap="square" lIns="25400" tIns="25400" rIns="25400" bIns="25400" rtlCol="0" anchor="t">
            <a:normAutofit/>
          </a:bodyPr>
          <a:lstStyle/>
          <a:p>
            <a:pPr algn="l" indent="0" marL="0">
              <a:lnSpc>
                <a:spcPct val="165000"/>
              </a:lnSpc>
              <a:buNone/>
            </a:pPr>
            <a:r>
              <a:rPr lang="en-US" sz="975" spc="117" kern="0" dirty="0">
                <a:solidFill>
                  <a:srgbClr val="F7FAFC">
                    <a:alpha val="45000"/>
                  </a:srgbClr>
                </a:solidFill>
                <a:latin typeface="Courier New" pitchFamily="34" charset="0"/>
                <a:ea typeface="Courier New" pitchFamily="34" charset="-122"/>
                <a:cs typeface="Courier New" pitchFamily="34" charset="-120"/>
              </a:rPr>
              <a:t>CLAUDE CODE · HATCHIK</a:t>
            </a:r>
            <a:endParaRPr lang="en-US" sz="975" dirty="0"/>
          </a:p>
        </p:txBody>
      </p:sp>
      <p:sp>
        <p:nvSpPr>
          <p:cNvPr id="39" name="Text 36"/>
          <p:cNvSpPr/>
          <p:nvPr/>
        </p:nvSpPr>
        <p:spPr>
          <a:xfrm>
            <a:off x="11959679" y="3869978"/>
            <a:ext cx="789533" cy="242367"/>
          </a:xfrm>
          <a:prstGeom prst="rect">
            <a:avLst/>
          </a:prstGeom>
          <a:noFill/>
          <a:ln/>
        </p:spPr>
        <p:txBody>
          <a:bodyPr wrap="square" lIns="25400" tIns="25400" rIns="25400" bIns="25400" rtlCol="0" anchor="t">
            <a:normAutofit/>
          </a:bodyPr>
          <a:lstStyle/>
          <a:p>
            <a:pPr algn="l" indent="0" marL="0">
              <a:lnSpc>
                <a:spcPct val="165000"/>
              </a:lnSpc>
              <a:buNone/>
            </a:pPr>
            <a:r>
              <a:rPr lang="en-US" sz="975" spc="117" kern="0" dirty="0">
                <a:solidFill>
                  <a:srgbClr val="F7FAFC">
                    <a:alpha val="45000"/>
                  </a:srgbClr>
                </a:solidFill>
                <a:latin typeface="Courier New" pitchFamily="34" charset="0"/>
                <a:ea typeface="Courier New" pitchFamily="34" charset="-122"/>
                <a:cs typeface="Courier New" pitchFamily="34" charset="-120"/>
              </a:rPr>
              <a:t>STEP 3/4</a:t>
            </a:r>
            <a:endParaRPr lang="en-US" sz="975" dirty="0"/>
          </a:p>
        </p:txBody>
      </p:sp>
      <p:sp>
        <p:nvSpPr>
          <p:cNvPr id="40" name="Text 37"/>
          <p:cNvSpPr/>
          <p:nvPr/>
        </p:nvSpPr>
        <p:spPr>
          <a:xfrm>
            <a:off x="9772650" y="4293319"/>
            <a:ext cx="2987373" cy="226665"/>
          </a:xfrm>
          <a:prstGeom prst="rect">
            <a:avLst/>
          </a:prstGeom>
          <a:noFill/>
          <a:ln/>
        </p:spPr>
        <p:txBody>
          <a:bodyPr wrap="square" lIns="25400" tIns="25400" rIns="25400" bIns="25400" rtlCol="0" anchor="t">
            <a:normAutofit/>
          </a:bodyPr>
          <a:lstStyle/>
          <a:p>
            <a:pPr algn="l" indent="0" marL="0">
              <a:lnSpc>
                <a:spcPct val="165000"/>
              </a:lnSpc>
              <a:buNone/>
            </a:pPr>
            <a:r>
              <a:rPr lang="en-US" sz="900" dirty="0">
                <a:solidFill>
                  <a:srgbClr val="C8C0F8"/>
                </a:solidFill>
                <a:latin typeface="Courier New" pitchFamily="34" charset="0"/>
                <a:ea typeface="Courier New" pitchFamily="34" charset="-122"/>
                <a:cs typeface="Courier New" pitchFamily="34" charset="-120"/>
              </a:rPr>
              <a:t>$ </a:t>
            </a:r>
            <a:pPr algn="l" indent="0" marL="0">
              <a:lnSpc>
                <a:spcPct val="165000"/>
              </a:lnSpc>
              <a:buNone/>
            </a:pPr>
            <a:r>
              <a:rPr lang="en-US" sz="900" dirty="0">
                <a:solidFill>
                  <a:srgbClr val="F7FAFC">
                    <a:alpha val="78000"/>
                  </a:srgbClr>
                </a:solidFill>
                <a:latin typeface="Courier New" pitchFamily="34" charset="0"/>
                <a:ea typeface="Courier New" pitchFamily="34" charset="-122"/>
                <a:cs typeface="Courier New" pitchFamily="34" charset="-120"/>
              </a:rPr>
              <a:t>claude code</a:t>
            </a:r>
            <a:endParaRPr lang="en-US" sz="900" dirty="0"/>
          </a:p>
        </p:txBody>
      </p:sp>
      <p:sp>
        <p:nvSpPr>
          <p:cNvPr id="41" name="Text 38"/>
          <p:cNvSpPr/>
          <p:nvPr/>
        </p:nvSpPr>
        <p:spPr>
          <a:xfrm>
            <a:off x="9772650" y="4481885"/>
            <a:ext cx="2987373" cy="226665"/>
          </a:xfrm>
          <a:prstGeom prst="rect">
            <a:avLst/>
          </a:prstGeom>
          <a:noFill/>
          <a:ln/>
        </p:spPr>
        <p:txBody>
          <a:bodyPr wrap="square" lIns="25400" tIns="25400" rIns="25400" bIns="25400" rtlCol="0" anchor="t">
            <a:normAutofit/>
          </a:bodyPr>
          <a:lstStyle/>
          <a:p>
            <a:pPr algn="l" indent="0" marL="0">
              <a:lnSpc>
                <a:spcPct val="165000"/>
              </a:lnSpc>
              <a:buNone/>
            </a:pPr>
            <a:r>
              <a:rPr lang="en-US" sz="900" dirty="0">
                <a:solidFill>
                  <a:srgbClr val="F7FAFC">
                    <a:alpha val="78000"/>
                  </a:srgbClr>
                </a:solidFill>
                <a:latin typeface="Courier New" pitchFamily="34" charset="0"/>
                <a:ea typeface="Courier New" pitchFamily="34" charset="-122"/>
                <a:cs typeface="Courier New" pitchFamily="34" charset="-120"/>
              </a:rPr>
              <a:t>› reading AI_CONTEXT.md…</a:t>
            </a:r>
            <a:endParaRPr lang="en-US" sz="900" dirty="0"/>
          </a:p>
        </p:txBody>
      </p:sp>
      <p:sp>
        <p:nvSpPr>
          <p:cNvPr id="42" name="Text 39"/>
          <p:cNvSpPr/>
          <p:nvPr/>
        </p:nvSpPr>
        <p:spPr>
          <a:xfrm>
            <a:off x="9772650" y="4670450"/>
            <a:ext cx="2987373" cy="226665"/>
          </a:xfrm>
          <a:prstGeom prst="rect">
            <a:avLst/>
          </a:prstGeom>
          <a:noFill/>
          <a:ln/>
        </p:spPr>
        <p:txBody>
          <a:bodyPr wrap="square" lIns="25400" tIns="25400" rIns="25400" bIns="25400" rtlCol="0" anchor="t">
            <a:normAutofit/>
          </a:bodyPr>
          <a:lstStyle/>
          <a:p>
            <a:pPr algn="l" indent="0" marL="0">
              <a:lnSpc>
                <a:spcPct val="165000"/>
              </a:lnSpc>
              <a:buNone/>
            </a:pPr>
            <a:r>
              <a:rPr lang="en-US" sz="900" dirty="0">
                <a:solidFill>
                  <a:srgbClr val="F7FAFC">
                    <a:alpha val="78000"/>
                  </a:srgbClr>
                </a:solidFill>
                <a:latin typeface="Courier New" pitchFamily="34" charset="0"/>
                <a:ea typeface="Courier New" pitchFamily="34" charset="-122"/>
                <a:cs typeface="Courier New" pitchFamily="34" charset="-120"/>
              </a:rPr>
              <a:t>› apps/web/src/product/</a:t>
            </a:r>
            <a:endParaRPr lang="en-US" sz="900" dirty="0"/>
          </a:p>
        </p:txBody>
      </p:sp>
      <p:sp>
        <p:nvSpPr>
          <p:cNvPr id="43" name="Text 40"/>
          <p:cNvSpPr/>
          <p:nvPr/>
        </p:nvSpPr>
        <p:spPr>
          <a:xfrm>
            <a:off x="9772650" y="4859015"/>
            <a:ext cx="2987373" cy="226665"/>
          </a:xfrm>
          <a:prstGeom prst="rect">
            <a:avLst/>
          </a:prstGeom>
          <a:noFill/>
          <a:ln/>
        </p:spPr>
        <p:txBody>
          <a:bodyPr wrap="square" lIns="25400" tIns="25400" rIns="25400" bIns="25400" rtlCol="0" anchor="t">
            <a:normAutofit/>
          </a:bodyPr>
          <a:lstStyle/>
          <a:p>
            <a:pPr algn="l" indent="0" marL="0">
              <a:lnSpc>
                <a:spcPct val="165000"/>
              </a:lnSpc>
              <a:buNone/>
            </a:pPr>
            <a:r>
              <a:rPr lang="en-US" sz="900" dirty="0">
                <a:solidFill>
                  <a:srgbClr val="F7FAFC">
                    <a:alpha val="78000"/>
                  </a:srgbClr>
                </a:solidFill>
                <a:latin typeface="Courier New" pitchFamily="34" charset="0"/>
                <a:ea typeface="Courier New" pitchFamily="34" charset="-122"/>
                <a:cs typeface="Courier New" pitchFamily="34" charset="-120"/>
              </a:rPr>
              <a:t>› git commit -am "feed-builder"</a:t>
            </a:r>
            <a:endParaRPr lang="en-US" sz="900" dirty="0"/>
          </a:p>
        </p:txBody>
      </p:sp>
      <p:sp>
        <p:nvSpPr>
          <p:cNvPr id="44" name="Text 41"/>
          <p:cNvSpPr/>
          <p:nvPr/>
        </p:nvSpPr>
        <p:spPr>
          <a:xfrm>
            <a:off x="9772650" y="5047580"/>
            <a:ext cx="2987373" cy="226665"/>
          </a:xfrm>
          <a:prstGeom prst="rect">
            <a:avLst/>
          </a:prstGeom>
          <a:noFill/>
          <a:ln/>
        </p:spPr>
        <p:txBody>
          <a:bodyPr wrap="square" lIns="25400" tIns="25400" rIns="25400" bIns="25400" rtlCol="0" anchor="t">
            <a:normAutofit/>
          </a:bodyPr>
          <a:lstStyle/>
          <a:p>
            <a:pPr algn="l" indent="0" marL="0">
              <a:lnSpc>
                <a:spcPct val="165000"/>
              </a:lnSpc>
              <a:buNone/>
            </a:pPr>
            <a:r>
              <a:rPr lang="en-US" sz="900" dirty="0">
                <a:solidFill>
                  <a:srgbClr val="F7FAFC">
                    <a:alpha val="78000"/>
                  </a:srgbClr>
                </a:solidFill>
                <a:latin typeface="Courier New" pitchFamily="34" charset="0"/>
                <a:ea typeface="Courier New" pitchFamily="34" charset="-122"/>
                <a:cs typeface="Courier New" pitchFamily="34" charset="-120"/>
              </a:rPr>
              <a:t>› git push origin main</a:t>
            </a:r>
            <a:endParaRPr lang="en-US" sz="900" dirty="0"/>
          </a:p>
        </p:txBody>
      </p:sp>
      <p:sp>
        <p:nvSpPr>
          <p:cNvPr id="45" name="Shape 42"/>
          <p:cNvSpPr/>
          <p:nvPr/>
        </p:nvSpPr>
        <p:spPr>
          <a:xfrm>
            <a:off x="9772650" y="5312346"/>
            <a:ext cx="2900363" cy="9525"/>
          </a:xfrm>
          <a:prstGeom prst="rect">
            <a:avLst/>
          </a:prstGeom>
          <a:solidFill>
            <a:srgbClr val="F7FAFC">
              <a:alpha val="12000"/>
            </a:srgbClr>
          </a:solidFill>
          <a:ln/>
        </p:spPr>
      </p:sp>
      <p:sp>
        <p:nvSpPr>
          <p:cNvPr id="46" name="Text 43"/>
          <p:cNvSpPr/>
          <p:nvPr/>
        </p:nvSpPr>
        <p:spPr>
          <a:xfrm>
            <a:off x="9772650" y="5398071"/>
            <a:ext cx="2987373" cy="226665"/>
          </a:xfrm>
          <a:prstGeom prst="rect">
            <a:avLst/>
          </a:prstGeom>
          <a:noFill/>
          <a:ln/>
        </p:spPr>
        <p:txBody>
          <a:bodyPr wrap="square" lIns="25400" tIns="25400" rIns="25400" bIns="25400" rtlCol="0" anchor="t">
            <a:normAutofit/>
          </a:bodyPr>
          <a:lstStyle/>
          <a:p>
            <a:pPr algn="l" indent="0" marL="0">
              <a:lnSpc>
                <a:spcPct val="165000"/>
              </a:lnSpc>
              <a:buNone/>
            </a:pPr>
            <a:r>
              <a:rPr lang="en-US" sz="900" dirty="0">
                <a:solidFill>
                  <a:srgbClr val="F59E0B"/>
                </a:solidFill>
                <a:latin typeface="Courier New" pitchFamily="34" charset="0"/>
                <a:ea typeface="Courier New" pitchFamily="34" charset="-122"/>
                <a:cs typeface="Courier New" pitchFamily="34" charset="-120"/>
              </a:rPr>
              <a:t>14s </a:t>
            </a:r>
            <a:pPr algn="l" indent="0" marL="0">
              <a:lnSpc>
                <a:spcPct val="165000"/>
              </a:lnSpc>
              <a:buNone/>
            </a:pPr>
            <a:r>
              <a:rPr lang="en-US" sz="900" dirty="0">
                <a:solidFill>
                  <a:srgbClr val="F7FAFC">
                    <a:alpha val="40000"/>
                  </a:srgbClr>
                </a:solidFill>
                <a:latin typeface="Courier New" pitchFamily="34" charset="0"/>
                <a:ea typeface="Courier New" pitchFamily="34" charset="-122"/>
                <a:cs typeface="Courier New" pitchFamily="34" charset="-120"/>
              </a:rPr>
              <a:t>ai context loaded</a:t>
            </a:r>
            <a:endParaRPr lang="en-US" sz="900" dirty="0"/>
          </a:p>
        </p:txBody>
      </p:sp>
      <p:sp>
        <p:nvSpPr>
          <p:cNvPr id="47" name="Shape 44"/>
          <p:cNvSpPr/>
          <p:nvPr/>
        </p:nvSpPr>
        <p:spPr>
          <a:xfrm>
            <a:off x="13387388" y="2657475"/>
            <a:ext cx="3986213" cy="3433986"/>
          </a:xfrm>
          <a:prstGeom prst="roundRect">
            <a:avLst>
              <a:gd name="adj" fmla="val 4438"/>
            </a:avLst>
          </a:prstGeom>
          <a:solidFill>
            <a:srgbClr val="161D2A"/>
          </a:solidFill>
          <a:ln w="14288">
            <a:solidFill>
              <a:srgbClr val="232C3D"/>
            </a:solidFill>
            <a:prstDash val="solid"/>
          </a:ln>
          <a:effectLst>
            <a:outerShdw sx="100000" sy="100000" kx="0" ky="0" algn="bl" rotWithShape="0" blurRad="57150" dist="19050" dir="5400000">
              <a:srgbClr val="000000">
                <a:alpha val="45000"/>
              </a:srgbClr>
            </a:outerShdw>
          </a:effectLst>
        </p:spPr>
      </p:sp>
      <p:sp>
        <p:nvSpPr>
          <p:cNvPr id="48" name="Text 45"/>
          <p:cNvSpPr/>
          <p:nvPr/>
        </p:nvSpPr>
        <p:spPr>
          <a:xfrm>
            <a:off x="13668375" y="2938463"/>
            <a:ext cx="3526965" cy="238125"/>
          </a:xfrm>
          <a:prstGeom prst="rect">
            <a:avLst/>
          </a:prstGeom>
          <a:noFill/>
          <a:ln/>
        </p:spPr>
        <p:txBody>
          <a:bodyPr wrap="square" lIns="25400" tIns="25400" rIns="25400" bIns="25400" rtlCol="0" anchor="t">
            <a:normAutofit/>
          </a:bodyPr>
          <a:lstStyle/>
          <a:p>
            <a:pPr algn="l" indent="0" marL="0">
              <a:lnSpc>
                <a:spcPct val="150000"/>
              </a:lnSpc>
              <a:buNone/>
            </a:pPr>
            <a:r>
              <a:rPr lang="en-US" sz="1050" spc="126" kern="0" dirty="0">
                <a:solidFill>
                  <a:srgbClr val="34D399"/>
                </a:solidFill>
                <a:latin typeface="Courier New" pitchFamily="34" charset="0"/>
                <a:ea typeface="Courier New" pitchFamily="34" charset="-122"/>
                <a:cs typeface="Courier New" pitchFamily="34" charset="-120"/>
              </a:rPr>
              <a:t>04 · PUSH TO DEPLOY</a:t>
            </a:r>
            <a:endParaRPr lang="en-US" sz="1050" dirty="0"/>
          </a:p>
        </p:txBody>
      </p:sp>
      <p:sp>
        <p:nvSpPr>
          <p:cNvPr id="49" name="Text 46"/>
          <p:cNvSpPr/>
          <p:nvPr/>
        </p:nvSpPr>
        <p:spPr>
          <a:xfrm>
            <a:off x="13668375" y="3271838"/>
            <a:ext cx="3526965" cy="279053"/>
          </a:xfrm>
          <a:prstGeom prst="rect">
            <a:avLst/>
          </a:prstGeom>
          <a:noFill/>
          <a:ln/>
        </p:spPr>
        <p:txBody>
          <a:bodyPr wrap="square" lIns="25400" tIns="25400" rIns="25400" bIns="25400" rtlCol="0" anchor="t">
            <a:normAutofit/>
          </a:bodyPr>
          <a:lstStyle/>
          <a:p>
            <a:pPr algn="l" indent="0" marL="0">
              <a:lnSpc>
                <a:spcPct val="115000"/>
              </a:lnSpc>
              <a:buNone/>
            </a:pPr>
            <a:r>
              <a:rPr lang="en-US" sz="1650" b="1" spc="-33" kern="0" dirty="0">
                <a:solidFill>
                  <a:srgbClr val="C8C0F8"/>
                </a:solidFill>
                <a:latin typeface="Arial" pitchFamily="34" charset="0"/>
                <a:ea typeface="Arial" pitchFamily="34" charset="-122"/>
                <a:cs typeface="Arial" pitchFamily="34" charset="-120"/>
              </a:rPr>
              <a:t>~30 seconds.</a:t>
            </a:r>
            <a:endParaRPr lang="en-US" sz="1650" dirty="0"/>
          </a:p>
        </p:txBody>
      </p:sp>
      <p:sp>
        <p:nvSpPr>
          <p:cNvPr id="50" name="Shape 47"/>
          <p:cNvSpPr/>
          <p:nvPr/>
        </p:nvSpPr>
        <p:spPr>
          <a:xfrm>
            <a:off x="13668375" y="3646140"/>
            <a:ext cx="3424238" cy="1975768"/>
          </a:xfrm>
          <a:prstGeom prst="roundRect">
            <a:avLst>
              <a:gd name="adj" fmla="val 6749"/>
            </a:avLst>
          </a:prstGeom>
          <a:ln w="14288">
            <a:solidFill>
              <a:srgbClr val="F7FAFC">
                <a:alpha val="18000"/>
              </a:srgbClr>
            </a:solidFill>
            <a:prstDash val="solid"/>
          </a:ln>
          <a:effectLst>
            <a:outerShdw sx="100000" sy="100000" kx="0" ky="0" algn="bl" rotWithShape="0" blurRad="57150" dist="19050" dir="5400000">
              <a:srgbClr val="000000">
                <a:alpha val="35000"/>
              </a:srgbClr>
            </a:outerShdw>
          </a:effectLst>
        </p:spPr>
      </p:sp>
      <p:sp>
        <p:nvSpPr>
          <p:cNvPr id="51" name="Shape 48"/>
          <p:cNvSpPr/>
          <p:nvPr/>
        </p:nvSpPr>
        <p:spPr>
          <a:xfrm>
            <a:off x="13930313" y="4169494"/>
            <a:ext cx="2900363" cy="9525"/>
          </a:xfrm>
          <a:prstGeom prst="rect">
            <a:avLst/>
          </a:prstGeom>
          <a:solidFill>
            <a:srgbClr val="F7FAFC">
              <a:alpha val="12000"/>
            </a:srgbClr>
          </a:solidFill>
          <a:ln/>
        </p:spPr>
      </p:sp>
      <p:sp>
        <p:nvSpPr>
          <p:cNvPr id="52" name="Text 49"/>
          <p:cNvSpPr/>
          <p:nvPr/>
        </p:nvSpPr>
        <p:spPr>
          <a:xfrm>
            <a:off x="13930313" y="3869978"/>
            <a:ext cx="1324570" cy="242367"/>
          </a:xfrm>
          <a:prstGeom prst="rect">
            <a:avLst/>
          </a:prstGeom>
          <a:noFill/>
          <a:ln/>
        </p:spPr>
        <p:txBody>
          <a:bodyPr wrap="square" lIns="25400" tIns="25400" rIns="25400" bIns="25400" rtlCol="0" anchor="t">
            <a:normAutofit/>
          </a:bodyPr>
          <a:lstStyle/>
          <a:p>
            <a:pPr algn="l" indent="0" marL="0">
              <a:lnSpc>
                <a:spcPct val="165000"/>
              </a:lnSpc>
              <a:buNone/>
            </a:pPr>
            <a:r>
              <a:rPr lang="en-US" sz="975" spc="117" kern="0" dirty="0">
                <a:solidFill>
                  <a:srgbClr val="F7FAFC">
                    <a:alpha val="45000"/>
                  </a:srgbClr>
                </a:solidFill>
                <a:latin typeface="Courier New" pitchFamily="34" charset="0"/>
                <a:ea typeface="Courier New" pitchFamily="34" charset="-122"/>
                <a:cs typeface="Courier New" pitchFamily="34" charset="-120"/>
              </a:rPr>
              <a:t>PUSH-TO-DEPLOY</a:t>
            </a:r>
            <a:endParaRPr lang="en-US" sz="975" dirty="0"/>
          </a:p>
        </p:txBody>
      </p:sp>
      <p:sp>
        <p:nvSpPr>
          <p:cNvPr id="53" name="Text 50"/>
          <p:cNvSpPr/>
          <p:nvPr/>
        </p:nvSpPr>
        <p:spPr>
          <a:xfrm>
            <a:off x="16117342" y="3869978"/>
            <a:ext cx="789533" cy="242367"/>
          </a:xfrm>
          <a:prstGeom prst="rect">
            <a:avLst/>
          </a:prstGeom>
          <a:noFill/>
          <a:ln/>
        </p:spPr>
        <p:txBody>
          <a:bodyPr wrap="square" lIns="25400" tIns="25400" rIns="25400" bIns="25400" rtlCol="0" anchor="t">
            <a:normAutofit/>
          </a:bodyPr>
          <a:lstStyle/>
          <a:p>
            <a:pPr algn="l" indent="0" marL="0">
              <a:lnSpc>
                <a:spcPct val="165000"/>
              </a:lnSpc>
              <a:buNone/>
            </a:pPr>
            <a:r>
              <a:rPr lang="en-US" sz="975" spc="117" kern="0" dirty="0">
                <a:solidFill>
                  <a:srgbClr val="F7FAFC">
                    <a:alpha val="45000"/>
                  </a:srgbClr>
                </a:solidFill>
                <a:latin typeface="Courier New" pitchFamily="34" charset="0"/>
                <a:ea typeface="Courier New" pitchFamily="34" charset="-122"/>
                <a:cs typeface="Courier New" pitchFamily="34" charset="-120"/>
              </a:rPr>
              <a:t>STEP 4/4</a:t>
            </a:r>
            <a:endParaRPr lang="en-US" sz="975" dirty="0"/>
          </a:p>
        </p:txBody>
      </p:sp>
      <p:sp>
        <p:nvSpPr>
          <p:cNvPr id="54" name="Text 51"/>
          <p:cNvSpPr/>
          <p:nvPr/>
        </p:nvSpPr>
        <p:spPr>
          <a:xfrm>
            <a:off x="13930313" y="4293319"/>
            <a:ext cx="2987373" cy="226665"/>
          </a:xfrm>
          <a:prstGeom prst="rect">
            <a:avLst/>
          </a:prstGeom>
          <a:noFill/>
          <a:ln/>
        </p:spPr>
        <p:txBody>
          <a:bodyPr wrap="square" lIns="25400" tIns="25400" rIns="25400" bIns="25400" rtlCol="0" anchor="t">
            <a:normAutofit/>
          </a:bodyPr>
          <a:lstStyle/>
          <a:p>
            <a:pPr algn="l" indent="0" marL="0">
              <a:lnSpc>
                <a:spcPct val="165000"/>
              </a:lnSpc>
              <a:buNone/>
            </a:pPr>
            <a:r>
              <a:rPr lang="en-US" sz="900" dirty="0">
                <a:solidFill>
                  <a:srgbClr val="F7FAFC">
                    <a:alpha val="78000"/>
                  </a:srgbClr>
                </a:solidFill>
                <a:latin typeface="Courier New" pitchFamily="34" charset="0"/>
                <a:ea typeface="Courier New" pitchFamily="34" charset="-122"/>
                <a:cs typeface="Courier New" pitchFamily="34" charset="-120"/>
              </a:rPr>
              <a:t>webhook received sha=a12c4e1</a:t>
            </a:r>
            <a:endParaRPr lang="en-US" sz="900" dirty="0"/>
          </a:p>
        </p:txBody>
      </p:sp>
      <p:sp>
        <p:nvSpPr>
          <p:cNvPr id="55" name="Text 52"/>
          <p:cNvSpPr/>
          <p:nvPr/>
        </p:nvSpPr>
        <p:spPr>
          <a:xfrm>
            <a:off x="13930313" y="4481885"/>
            <a:ext cx="2987373" cy="226665"/>
          </a:xfrm>
          <a:prstGeom prst="rect">
            <a:avLst/>
          </a:prstGeom>
          <a:noFill/>
          <a:ln/>
        </p:spPr>
        <p:txBody>
          <a:bodyPr wrap="square" lIns="25400" tIns="25400" rIns="25400" bIns="25400" rtlCol="0" anchor="t">
            <a:normAutofit/>
          </a:bodyPr>
          <a:lstStyle/>
          <a:p>
            <a:pPr algn="l" indent="0" marL="0">
              <a:lnSpc>
                <a:spcPct val="165000"/>
              </a:lnSpc>
              <a:buNone/>
            </a:pPr>
            <a:r>
              <a:rPr lang="en-US" sz="900" dirty="0">
                <a:solidFill>
                  <a:srgbClr val="F7FAFC">
                    <a:alpha val="78000"/>
                  </a:srgbClr>
                </a:solidFill>
                <a:latin typeface="Courier New" pitchFamily="34" charset="0"/>
                <a:ea typeface="Courier New" pitchFamily="34" charset="-122"/>
                <a:cs typeface="Courier New" pitchFamily="34" charset="-120"/>
              </a:rPr>
              <a:t>compose rebuilt 2/9 services</a:t>
            </a:r>
            <a:endParaRPr lang="en-US" sz="900" dirty="0"/>
          </a:p>
        </p:txBody>
      </p:sp>
      <p:sp>
        <p:nvSpPr>
          <p:cNvPr id="56" name="Text 53"/>
          <p:cNvSpPr/>
          <p:nvPr/>
        </p:nvSpPr>
        <p:spPr>
          <a:xfrm>
            <a:off x="13930313" y="4670450"/>
            <a:ext cx="2987373" cy="226665"/>
          </a:xfrm>
          <a:prstGeom prst="rect">
            <a:avLst/>
          </a:prstGeom>
          <a:noFill/>
          <a:ln/>
        </p:spPr>
        <p:txBody>
          <a:bodyPr wrap="square" lIns="25400" tIns="25400" rIns="25400" bIns="25400" rtlCol="0" anchor="t">
            <a:normAutofit/>
          </a:bodyPr>
          <a:lstStyle/>
          <a:p>
            <a:pPr algn="l" indent="0" marL="0">
              <a:lnSpc>
                <a:spcPct val="165000"/>
              </a:lnSpc>
              <a:buNone/>
            </a:pPr>
            <a:r>
              <a:rPr lang="en-US" sz="900" dirty="0">
                <a:solidFill>
                  <a:srgbClr val="34D399"/>
                </a:solidFill>
                <a:latin typeface="Courier New" pitchFamily="34" charset="0"/>
                <a:ea typeface="Courier New" pitchFamily="34" charset="-122"/>
                <a:cs typeface="Courier New" pitchFamily="34" charset="-120"/>
              </a:rPr>
              <a:t>deployed_at: 2026-05-13T10:14</a:t>
            </a:r>
            <a:endParaRPr lang="en-US" sz="900" dirty="0"/>
          </a:p>
        </p:txBody>
      </p:sp>
      <p:sp>
        <p:nvSpPr>
          <p:cNvPr id="57" name="Text 54"/>
          <p:cNvSpPr/>
          <p:nvPr/>
        </p:nvSpPr>
        <p:spPr>
          <a:xfrm>
            <a:off x="13930313" y="4859015"/>
            <a:ext cx="2987373" cy="226665"/>
          </a:xfrm>
          <a:prstGeom prst="rect">
            <a:avLst/>
          </a:prstGeom>
          <a:noFill/>
          <a:ln/>
        </p:spPr>
        <p:txBody>
          <a:bodyPr wrap="square" lIns="25400" tIns="25400" rIns="25400" bIns="25400" rtlCol="0" anchor="t">
            <a:normAutofit/>
          </a:bodyPr>
          <a:lstStyle/>
          <a:p>
            <a:pPr algn="l" indent="0" marL="0">
              <a:lnSpc>
                <a:spcPct val="165000"/>
              </a:lnSpc>
              <a:buNone/>
            </a:pPr>
            <a:r>
              <a:rPr lang="en-US" sz="900" dirty="0">
                <a:solidFill>
                  <a:srgbClr val="34D399"/>
                </a:solidFill>
                <a:latin typeface="Courier New" pitchFamily="34" charset="0"/>
                <a:ea typeface="Courier New" pitchFamily="34" charset="-122"/>
                <a:cs typeface="Courier New" pitchFamily="34" charset="-120"/>
              </a:rPr>
              <a:t>→ live</a:t>
            </a:r>
            <a:endParaRPr lang="en-US" sz="900" dirty="0"/>
          </a:p>
        </p:txBody>
      </p:sp>
      <p:sp>
        <p:nvSpPr>
          <p:cNvPr id="58" name="Shape 55"/>
          <p:cNvSpPr/>
          <p:nvPr/>
        </p:nvSpPr>
        <p:spPr>
          <a:xfrm>
            <a:off x="13930313" y="5123780"/>
            <a:ext cx="2900363" cy="9525"/>
          </a:xfrm>
          <a:prstGeom prst="rect">
            <a:avLst/>
          </a:prstGeom>
          <a:solidFill>
            <a:srgbClr val="F7FAFC">
              <a:alpha val="12000"/>
            </a:srgbClr>
          </a:solidFill>
          <a:ln/>
        </p:spPr>
      </p:sp>
      <p:sp>
        <p:nvSpPr>
          <p:cNvPr id="59" name="Text 56"/>
          <p:cNvSpPr/>
          <p:nvPr/>
        </p:nvSpPr>
        <p:spPr>
          <a:xfrm>
            <a:off x="13930313" y="5209505"/>
            <a:ext cx="2987373" cy="226665"/>
          </a:xfrm>
          <a:prstGeom prst="rect">
            <a:avLst/>
          </a:prstGeom>
          <a:noFill/>
          <a:ln/>
        </p:spPr>
        <p:txBody>
          <a:bodyPr wrap="square" lIns="25400" tIns="25400" rIns="25400" bIns="25400" rtlCol="0" anchor="t">
            <a:normAutofit/>
          </a:bodyPr>
          <a:lstStyle/>
          <a:p>
            <a:pPr algn="l" indent="0" marL="0">
              <a:lnSpc>
                <a:spcPct val="165000"/>
              </a:lnSpc>
              <a:buNone/>
            </a:pPr>
            <a:r>
              <a:rPr lang="en-US" sz="900" dirty="0">
                <a:solidFill>
                  <a:srgbClr val="F59E0B"/>
                </a:solidFill>
                <a:latin typeface="Courier New" pitchFamily="34" charset="0"/>
                <a:ea typeface="Courier New" pitchFamily="34" charset="-122"/>
                <a:cs typeface="Courier New" pitchFamily="34" charset="-120"/>
              </a:rPr>
              <a:t>28s </a:t>
            </a:r>
            <a:pPr algn="l" indent="0" marL="0">
              <a:lnSpc>
                <a:spcPct val="165000"/>
              </a:lnSpc>
              <a:buNone/>
            </a:pPr>
            <a:r>
              <a:rPr lang="en-US" sz="900" dirty="0">
                <a:solidFill>
                  <a:srgbClr val="F7FAFC">
                    <a:alpha val="40000"/>
                  </a:srgbClr>
                </a:solidFill>
                <a:latin typeface="Courier New" pitchFamily="34" charset="0"/>
                <a:ea typeface="Courier New" pitchFamily="34" charset="-122"/>
                <a:cs typeface="Courier New" pitchFamily="34" charset="-120"/>
              </a:rPr>
              <a:t>commit to live</a:t>
            </a:r>
            <a:endParaRPr lang="en-US" sz="900" dirty="0"/>
          </a:p>
        </p:txBody>
      </p:sp>
      <p:sp>
        <p:nvSpPr>
          <p:cNvPr id="60" name="Shape 57"/>
          <p:cNvSpPr/>
          <p:nvPr/>
        </p:nvSpPr>
        <p:spPr>
          <a:xfrm>
            <a:off x="914400" y="9286875"/>
            <a:ext cx="16459200" cy="9525"/>
          </a:xfrm>
          <a:prstGeom prst="rect">
            <a:avLst/>
          </a:prstGeom>
          <a:solidFill>
            <a:srgbClr val="DDE5EC"/>
          </a:solidFill>
          <a:ln/>
        </p:spPr>
      </p:sp>
      <p:sp>
        <p:nvSpPr>
          <p:cNvPr id="61" name="Text 58"/>
          <p:cNvSpPr/>
          <p:nvPr/>
        </p:nvSpPr>
        <p:spPr>
          <a:xfrm>
            <a:off x="914400" y="9532144"/>
            <a:ext cx="4533256"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113" kern="0" dirty="0">
                <a:solidFill>
                  <a:srgbClr val="6E7785"/>
                </a:solidFill>
                <a:latin typeface="Courier New" pitchFamily="34" charset="0"/>
                <a:ea typeface="Courier New" pitchFamily="34" charset="-122"/>
                <a:cs typeface="Courier New" pitchFamily="34" charset="-120"/>
              </a:rPr>
              <a:t>HATCHIK · INVESTOR &amp; PARTNER DECK · MAY 2026</a:t>
            </a:r>
            <a:endParaRPr lang="en-US" sz="1125" dirty="0"/>
          </a:p>
        </p:txBody>
      </p:sp>
      <p:sp>
        <p:nvSpPr>
          <p:cNvPr id="62" name="Text 59"/>
          <p:cNvSpPr/>
          <p:nvPr/>
        </p:nvSpPr>
        <p:spPr>
          <a:xfrm>
            <a:off x="16690851" y="9525000"/>
            <a:ext cx="758949"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spc="48" kern="0" dirty="0">
                <a:solidFill>
                  <a:srgbClr val="0F1419"/>
                </a:solidFill>
                <a:latin typeface="Courier New" pitchFamily="34" charset="0"/>
                <a:ea typeface="Courier New" pitchFamily="34" charset="-122"/>
                <a:cs typeface="Courier New" pitchFamily="34" charset="-120"/>
              </a:rPr>
              <a:t>05 / 31</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5B47F0">
              <a:alpha val="4000"/>
            </a:srgbClr>
          </a:solidFill>
          <a:ln/>
        </p:spPr>
      </p:sp>
      <p:sp>
        <p:nvSpPr>
          <p:cNvPr id="3" name="Shape 1"/>
          <p:cNvSpPr/>
          <p:nvPr/>
        </p:nvSpPr>
        <p:spPr>
          <a:xfrm>
            <a:off x="914400" y="1009650"/>
            <a:ext cx="16459200" cy="9525"/>
          </a:xfrm>
          <a:prstGeom prst="rect">
            <a:avLst/>
          </a:prstGeom>
          <a:solidFill>
            <a:srgbClr val="DDE5EC"/>
          </a:solidFill>
          <a:ln/>
        </p:spPr>
      </p:sp>
      <p:pic>
        <p:nvPicPr>
          <p:cNvPr id="4" name="Image 0" descr="preencoded.png">    </p:cNvPr>
          <p:cNvPicPr>
            <a:picLocks noChangeAspect="1"/>
          </p:cNvPicPr>
          <p:nvPr/>
        </p:nvPicPr>
        <p:blipFill>
          <a:blip r:embed="rId1"/>
          <a:stretch>
            <a:fillRect/>
          </a:stretch>
        </p:blipFill>
        <p:spPr>
          <a:xfrm>
            <a:off x="914400" y="571500"/>
            <a:ext cx="209550" cy="209550"/>
          </a:xfrm>
          <a:prstGeom prst="rect">
            <a:avLst/>
          </a:prstGeom>
        </p:spPr>
      </p:pic>
      <p:sp>
        <p:nvSpPr>
          <p:cNvPr id="5" name="Text 2"/>
          <p:cNvSpPr/>
          <p:nvPr/>
        </p:nvSpPr>
        <p:spPr>
          <a:xfrm>
            <a:off x="1219200" y="533400"/>
            <a:ext cx="745108"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spc="-37" kern="0" dirty="0">
                <a:solidFill>
                  <a:srgbClr val="0F1419"/>
                </a:solidFill>
                <a:latin typeface="Arial" pitchFamily="34" charset="0"/>
                <a:ea typeface="Arial" pitchFamily="34" charset="-122"/>
                <a:cs typeface="Arial" pitchFamily="34" charset="-120"/>
              </a:rPr>
              <a:t>hatchik</a:t>
            </a:r>
            <a:endParaRPr lang="en-US" sz="1500" dirty="0"/>
          </a:p>
        </p:txBody>
      </p:sp>
      <p:sp>
        <p:nvSpPr>
          <p:cNvPr id="6" name="Text 3"/>
          <p:cNvSpPr/>
          <p:nvPr/>
        </p:nvSpPr>
        <p:spPr>
          <a:xfrm>
            <a:off x="15658802" y="562421"/>
            <a:ext cx="1790998" cy="265733"/>
          </a:xfrm>
          <a:prstGeom prst="rect">
            <a:avLst/>
          </a:prstGeom>
          <a:noFill/>
          <a:ln/>
        </p:spPr>
        <p:txBody>
          <a:bodyPr wrap="square" lIns="25400" tIns="25400" rIns="25400" bIns="25400" rtlCol="0" anchor="t">
            <a:normAutofit/>
          </a:bodyPr>
          <a:lstStyle/>
          <a:p>
            <a:pPr algn="l" indent="0" marL="0">
              <a:lnSpc>
                <a:spcPct val="140000"/>
              </a:lnSpc>
              <a:buNone/>
            </a:pPr>
            <a:r>
              <a:rPr lang="en-US" sz="1200" spc="120" kern="0" dirty="0">
                <a:solidFill>
                  <a:srgbClr val="0F1419"/>
                </a:solidFill>
                <a:latin typeface="Courier New" pitchFamily="34" charset="0"/>
                <a:ea typeface="Courier New" pitchFamily="34" charset="-122"/>
                <a:cs typeface="Courier New" pitchFamily="34" charset="-120"/>
              </a:rPr>
              <a:t>06 </a:t>
            </a:r>
            <a:pPr algn="l" indent="0" marL="0">
              <a:lnSpc>
                <a:spcPct val="140000"/>
              </a:lnSpc>
              <a:buNone/>
            </a:pPr>
            <a:r>
              <a:rPr lang="en-US" sz="1200" spc="120" kern="0" dirty="0">
                <a:solidFill>
                  <a:srgbClr val="5B47F0"/>
                </a:solidFill>
                <a:latin typeface="Courier New" pitchFamily="34" charset="0"/>
                <a:ea typeface="Courier New" pitchFamily="34" charset="-122"/>
                <a:cs typeface="Courier New" pitchFamily="34" charset="-120"/>
              </a:rPr>
              <a:t>· </a:t>
            </a:r>
            <a:pPr algn="l" indent="0" marL="0">
              <a:lnSpc>
                <a:spcPct val="140000"/>
              </a:lnSpc>
              <a:buNone/>
            </a:pPr>
            <a:r>
              <a:rPr lang="en-US" sz="1200" spc="120" kern="0" dirty="0">
                <a:solidFill>
                  <a:srgbClr val="6E7785"/>
                </a:solidFill>
                <a:latin typeface="Courier New" pitchFamily="34" charset="0"/>
                <a:ea typeface="Courier New" pitchFamily="34" charset="-122"/>
                <a:cs typeface="Courier New" pitchFamily="34" charset="-120"/>
              </a:rPr>
              <a:t>WHAT'S WIRED</a:t>
            </a:r>
            <a:endParaRPr lang="en-US" sz="1200" dirty="0"/>
          </a:p>
        </p:txBody>
      </p:sp>
      <p:sp>
        <p:nvSpPr>
          <p:cNvPr id="7" name="Text 4"/>
          <p:cNvSpPr/>
          <p:nvPr/>
        </p:nvSpPr>
        <p:spPr>
          <a:xfrm>
            <a:off x="914400" y="1438275"/>
            <a:ext cx="15893415" cy="723900"/>
          </a:xfrm>
          <a:prstGeom prst="rect">
            <a:avLst/>
          </a:prstGeom>
          <a:noFill/>
          <a:ln/>
        </p:spPr>
        <p:txBody>
          <a:bodyPr wrap="square" lIns="25400" tIns="25400" rIns="25400" bIns="25400" rtlCol="0" anchor="t">
            <a:normAutofit/>
          </a:bodyPr>
          <a:lstStyle/>
          <a:p>
            <a:pPr algn="l" indent="0" marL="0">
              <a:lnSpc>
                <a:spcPct val="100000"/>
              </a:lnSpc>
              <a:buNone/>
            </a:pPr>
            <a:r>
              <a:rPr lang="en-US" sz="5400" b="1" spc="-216" kern="0" dirty="0">
                <a:solidFill>
                  <a:srgbClr val="0F1419"/>
                </a:solidFill>
                <a:latin typeface="Arial" pitchFamily="34" charset="0"/>
                <a:ea typeface="Arial" pitchFamily="34" charset="-122"/>
                <a:cs typeface="Arial" pitchFamily="34" charset="-120"/>
              </a:rPr>
              <a:t>Twelve production pieces. </a:t>
            </a:r>
            <a:pPr algn="l" indent="0" marL="0">
              <a:lnSpc>
                <a:spcPct val="100000"/>
              </a:lnSpc>
              <a:buNone/>
            </a:pPr>
            <a:r>
              <a:rPr lang="en-US" sz="5400" b="1" spc="-216" kern="0" dirty="0">
                <a:solidFill>
                  <a:srgbClr val="5B47F0"/>
                </a:solidFill>
                <a:latin typeface="Arial" pitchFamily="34" charset="0"/>
                <a:ea typeface="Arial" pitchFamily="34" charset="-122"/>
                <a:cs typeface="Arial" pitchFamily="34" charset="-120"/>
              </a:rPr>
              <a:t>Day one. No DIY.</a:t>
            </a:r>
            <a:endParaRPr lang="en-US" sz="5400" dirty="0"/>
          </a:p>
        </p:txBody>
      </p:sp>
      <p:sp>
        <p:nvSpPr>
          <p:cNvPr id="8" name="Text 5"/>
          <p:cNvSpPr/>
          <p:nvPr/>
        </p:nvSpPr>
        <p:spPr>
          <a:xfrm>
            <a:off x="914400" y="2390775"/>
            <a:ext cx="12950190" cy="397148"/>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2A3340"/>
                </a:solidFill>
                <a:latin typeface="Arial" pitchFamily="34" charset="0"/>
                <a:ea typeface="Arial" pitchFamily="34" charset="-122"/>
                <a:cs typeface="Arial" pitchFamily="34" charset="-120"/>
              </a:rPr>
              <a:t>Every tile is shipping today. Cross-referenced against the customer runbook on the substrate repo.</a:t>
            </a:r>
            <a:endParaRPr lang="en-US" sz="1950" dirty="0"/>
          </a:p>
        </p:txBody>
      </p:sp>
      <p:sp>
        <p:nvSpPr>
          <p:cNvPr id="9" name="Shape 6"/>
          <p:cNvSpPr/>
          <p:nvPr/>
        </p:nvSpPr>
        <p:spPr>
          <a:xfrm>
            <a:off x="914400" y="3283223"/>
            <a:ext cx="4000500" cy="1484933"/>
          </a:xfrm>
          <a:prstGeom prst="roundRect">
            <a:avLst>
              <a:gd name="adj" fmla="val 8980"/>
            </a:avLst>
          </a:prstGeom>
          <a:solidFill>
            <a:srgbClr val="FFFFFF"/>
          </a:solidFill>
          <a:ln w="14288">
            <a:solidFill>
              <a:srgbClr val="DDE5EC"/>
            </a:solidFill>
            <a:prstDash val="solid"/>
          </a:ln>
          <a:effectLst>
            <a:outerShdw sx="100000" sy="100000" kx="0" ky="0" algn="bl" rotWithShape="0" blurRad="28575" dist="9525" dir="5400000">
              <a:srgbClr val="0F1419">
                <a:alpha val="4000"/>
              </a:srgbClr>
            </a:outerShdw>
          </a:effectLst>
        </p:spPr>
      </p:sp>
      <p:sp>
        <p:nvSpPr>
          <p:cNvPr id="10" name="Shape 7"/>
          <p:cNvSpPr/>
          <p:nvPr/>
        </p:nvSpPr>
        <p:spPr>
          <a:xfrm>
            <a:off x="1138238" y="3507060"/>
            <a:ext cx="342900" cy="342900"/>
          </a:xfrm>
          <a:prstGeom prst="roundRect">
            <a:avLst>
              <a:gd name="adj" fmla="val 27778"/>
            </a:avLst>
          </a:prstGeom>
          <a:solidFill>
            <a:srgbClr val="EEEBFD"/>
          </a:solidFill>
          <a:ln w="9525">
            <a:solidFill>
              <a:srgbClr val="C8C0F8"/>
            </a:solidFill>
            <a:prstDash val="solid"/>
          </a:ln>
        </p:spPr>
      </p:sp>
      <p:sp>
        <p:nvSpPr>
          <p:cNvPr id="11" name="Text 8"/>
          <p:cNvSpPr/>
          <p:nvPr/>
        </p:nvSpPr>
        <p:spPr>
          <a:xfrm>
            <a:off x="1109663" y="3516585"/>
            <a:ext cx="400050" cy="361950"/>
          </a:xfrm>
          <a:prstGeom prst="rect">
            <a:avLst/>
          </a:prstGeom>
          <a:noFill/>
          <a:ln/>
        </p:spPr>
        <p:txBody>
          <a:bodyPr wrap="square" lIns="25400" tIns="25400" rIns="25400" bIns="25400" rtlCol="0" anchor="ctr">
            <a:normAutofit/>
          </a:bodyPr>
          <a:lstStyle/>
          <a:p>
            <a:pPr algn="ctr" indent="0" marL="0">
              <a:lnSpc>
                <a:spcPct val="150000"/>
              </a:lnSpc>
              <a:buNone/>
            </a:pPr>
            <a:r>
              <a:rPr lang="en-US" sz="1350" b="1" dirty="0">
                <a:solidFill>
                  <a:srgbClr val="5B47F0"/>
                </a:solidFill>
                <a:latin typeface="Arial" pitchFamily="34" charset="0"/>
                <a:ea typeface="Arial" pitchFamily="34" charset="-122"/>
                <a:cs typeface="Arial" pitchFamily="34" charset="-120"/>
              </a:rPr>
              <a:t>✓</a:t>
            </a:r>
            <a:endParaRPr lang="en-US" sz="1350" dirty="0"/>
          </a:p>
        </p:txBody>
      </p:sp>
      <p:sp>
        <p:nvSpPr>
          <p:cNvPr id="12" name="Text 9"/>
          <p:cNvSpPr/>
          <p:nvPr/>
        </p:nvSpPr>
        <p:spPr>
          <a:xfrm>
            <a:off x="4247183" y="3592785"/>
            <a:ext cx="520080" cy="209550"/>
          </a:xfrm>
          <a:prstGeom prst="rect">
            <a:avLst/>
          </a:prstGeom>
          <a:noFill/>
          <a:ln/>
        </p:spPr>
        <p:txBody>
          <a:bodyPr wrap="square" lIns="25400" tIns="25400" rIns="25400" bIns="25400" rtlCol="0" anchor="ctr">
            <a:normAutofit/>
          </a:bodyPr>
          <a:lstStyle/>
          <a:p>
            <a:pPr algn="l" indent="0" marL="0">
              <a:lnSpc>
                <a:spcPct val="150000"/>
              </a:lnSpc>
              <a:buNone/>
            </a:pPr>
            <a:r>
              <a:rPr lang="en-US" sz="900" spc="90" kern="0" dirty="0">
                <a:solidFill>
                  <a:srgbClr val="2DB47A"/>
                </a:solidFill>
                <a:latin typeface="Courier New" pitchFamily="34" charset="0"/>
                <a:ea typeface="Courier New" pitchFamily="34" charset="-122"/>
                <a:cs typeface="Courier New" pitchFamily="34" charset="-120"/>
              </a:rPr>
              <a:t>LIVE</a:t>
            </a:r>
            <a:endParaRPr lang="en-US" sz="900" dirty="0"/>
          </a:p>
        </p:txBody>
      </p:sp>
      <p:sp>
        <p:nvSpPr>
          <p:cNvPr id="13" name="Text 10"/>
          <p:cNvSpPr/>
          <p:nvPr/>
        </p:nvSpPr>
        <p:spPr>
          <a:xfrm>
            <a:off x="1138238" y="3964260"/>
            <a:ext cx="3659410" cy="289545"/>
          </a:xfrm>
          <a:prstGeom prst="rect">
            <a:avLst/>
          </a:prstGeom>
          <a:noFill/>
          <a:ln/>
        </p:spPr>
        <p:txBody>
          <a:bodyPr wrap="square" lIns="25400" tIns="25400" rIns="25400" bIns="25400" rtlCol="0" anchor="t">
            <a:normAutofit/>
          </a:bodyPr>
          <a:lstStyle/>
          <a:p>
            <a:pPr algn="l" indent="0" marL="0">
              <a:lnSpc>
                <a:spcPct val="120000"/>
              </a:lnSpc>
              <a:buNone/>
            </a:pPr>
            <a:r>
              <a:rPr lang="en-US" sz="1650" b="1" spc="-16" kern="0" dirty="0">
                <a:solidFill>
                  <a:srgbClr val="0F1419"/>
                </a:solidFill>
                <a:latin typeface="Arial" pitchFamily="34" charset="0"/>
                <a:ea typeface="Arial" pitchFamily="34" charset="-122"/>
                <a:cs typeface="Arial" pitchFamily="34" charset="-120"/>
              </a:rPr>
              <a:t>Auth</a:t>
            </a:r>
            <a:endParaRPr lang="en-US" sz="1650" dirty="0"/>
          </a:p>
        </p:txBody>
      </p:sp>
      <p:sp>
        <p:nvSpPr>
          <p:cNvPr id="14" name="Text 11"/>
          <p:cNvSpPr/>
          <p:nvPr/>
        </p:nvSpPr>
        <p:spPr>
          <a:xfrm>
            <a:off x="1138238" y="4330005"/>
            <a:ext cx="3659410"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45" kern="0" dirty="0">
                <a:solidFill>
                  <a:srgbClr val="6E7785"/>
                </a:solidFill>
                <a:latin typeface="Courier New" pitchFamily="34" charset="0"/>
                <a:ea typeface="Courier New" pitchFamily="34" charset="-122"/>
                <a:cs typeface="Courier New" pitchFamily="34" charset="-120"/>
              </a:rPr>
              <a:t>Supabase · magic-link + JWT</a:t>
            </a:r>
            <a:endParaRPr lang="en-US" sz="1125" dirty="0"/>
          </a:p>
        </p:txBody>
      </p:sp>
      <p:sp>
        <p:nvSpPr>
          <p:cNvPr id="15" name="Shape 12"/>
          <p:cNvSpPr/>
          <p:nvPr/>
        </p:nvSpPr>
        <p:spPr>
          <a:xfrm>
            <a:off x="5067300" y="3283223"/>
            <a:ext cx="4000500" cy="1484933"/>
          </a:xfrm>
          <a:prstGeom prst="roundRect">
            <a:avLst>
              <a:gd name="adj" fmla="val 8980"/>
            </a:avLst>
          </a:prstGeom>
          <a:solidFill>
            <a:srgbClr val="FFFFFF"/>
          </a:solidFill>
          <a:ln w="14288">
            <a:solidFill>
              <a:srgbClr val="DDE5EC"/>
            </a:solidFill>
            <a:prstDash val="solid"/>
          </a:ln>
          <a:effectLst>
            <a:outerShdw sx="100000" sy="100000" kx="0" ky="0" algn="bl" rotWithShape="0" blurRad="28575" dist="9525" dir="5400000">
              <a:srgbClr val="0F1419">
                <a:alpha val="4000"/>
              </a:srgbClr>
            </a:outerShdw>
          </a:effectLst>
        </p:spPr>
      </p:sp>
      <p:sp>
        <p:nvSpPr>
          <p:cNvPr id="16" name="Shape 13"/>
          <p:cNvSpPr/>
          <p:nvPr/>
        </p:nvSpPr>
        <p:spPr>
          <a:xfrm>
            <a:off x="5291138" y="3507060"/>
            <a:ext cx="342900" cy="342900"/>
          </a:xfrm>
          <a:prstGeom prst="roundRect">
            <a:avLst>
              <a:gd name="adj" fmla="val 27778"/>
            </a:avLst>
          </a:prstGeom>
          <a:solidFill>
            <a:srgbClr val="EEEBFD"/>
          </a:solidFill>
          <a:ln w="9525">
            <a:solidFill>
              <a:srgbClr val="C8C0F8"/>
            </a:solidFill>
            <a:prstDash val="solid"/>
          </a:ln>
        </p:spPr>
      </p:sp>
      <p:sp>
        <p:nvSpPr>
          <p:cNvPr id="17" name="Text 14"/>
          <p:cNvSpPr/>
          <p:nvPr/>
        </p:nvSpPr>
        <p:spPr>
          <a:xfrm>
            <a:off x="5262563" y="3516585"/>
            <a:ext cx="400050" cy="361950"/>
          </a:xfrm>
          <a:prstGeom prst="rect">
            <a:avLst/>
          </a:prstGeom>
          <a:noFill/>
          <a:ln/>
        </p:spPr>
        <p:txBody>
          <a:bodyPr wrap="square" lIns="25400" tIns="25400" rIns="25400" bIns="25400" rtlCol="0" anchor="ctr">
            <a:normAutofit/>
          </a:bodyPr>
          <a:lstStyle/>
          <a:p>
            <a:pPr algn="ctr" indent="0" marL="0">
              <a:lnSpc>
                <a:spcPct val="150000"/>
              </a:lnSpc>
              <a:buNone/>
            </a:pPr>
            <a:r>
              <a:rPr lang="en-US" sz="1350" b="1" dirty="0">
                <a:solidFill>
                  <a:srgbClr val="5B47F0"/>
                </a:solidFill>
                <a:latin typeface="Arial" pitchFamily="34" charset="0"/>
                <a:ea typeface="Arial" pitchFamily="34" charset="-122"/>
                <a:cs typeface="Arial" pitchFamily="34" charset="-120"/>
              </a:rPr>
              <a:t>✓</a:t>
            </a:r>
            <a:endParaRPr lang="en-US" sz="1350" dirty="0"/>
          </a:p>
        </p:txBody>
      </p:sp>
      <p:sp>
        <p:nvSpPr>
          <p:cNvPr id="18" name="Text 15"/>
          <p:cNvSpPr/>
          <p:nvPr/>
        </p:nvSpPr>
        <p:spPr>
          <a:xfrm>
            <a:off x="8400083" y="3592785"/>
            <a:ext cx="520080" cy="209550"/>
          </a:xfrm>
          <a:prstGeom prst="rect">
            <a:avLst/>
          </a:prstGeom>
          <a:noFill/>
          <a:ln/>
        </p:spPr>
        <p:txBody>
          <a:bodyPr wrap="square" lIns="25400" tIns="25400" rIns="25400" bIns="25400" rtlCol="0" anchor="ctr">
            <a:normAutofit/>
          </a:bodyPr>
          <a:lstStyle/>
          <a:p>
            <a:pPr algn="l" indent="0" marL="0">
              <a:lnSpc>
                <a:spcPct val="150000"/>
              </a:lnSpc>
              <a:buNone/>
            </a:pPr>
            <a:r>
              <a:rPr lang="en-US" sz="900" spc="90" kern="0" dirty="0">
                <a:solidFill>
                  <a:srgbClr val="2DB47A"/>
                </a:solidFill>
                <a:latin typeface="Courier New" pitchFamily="34" charset="0"/>
                <a:ea typeface="Courier New" pitchFamily="34" charset="-122"/>
                <a:cs typeface="Courier New" pitchFamily="34" charset="-120"/>
              </a:rPr>
              <a:t>LIVE</a:t>
            </a:r>
            <a:endParaRPr lang="en-US" sz="900" dirty="0"/>
          </a:p>
        </p:txBody>
      </p:sp>
      <p:sp>
        <p:nvSpPr>
          <p:cNvPr id="19" name="Text 16"/>
          <p:cNvSpPr/>
          <p:nvPr/>
        </p:nvSpPr>
        <p:spPr>
          <a:xfrm>
            <a:off x="5291138" y="3964260"/>
            <a:ext cx="3659410" cy="289545"/>
          </a:xfrm>
          <a:prstGeom prst="rect">
            <a:avLst/>
          </a:prstGeom>
          <a:noFill/>
          <a:ln/>
        </p:spPr>
        <p:txBody>
          <a:bodyPr wrap="square" lIns="25400" tIns="25400" rIns="25400" bIns="25400" rtlCol="0" anchor="t">
            <a:normAutofit/>
          </a:bodyPr>
          <a:lstStyle/>
          <a:p>
            <a:pPr algn="l" indent="0" marL="0">
              <a:lnSpc>
                <a:spcPct val="120000"/>
              </a:lnSpc>
              <a:buNone/>
            </a:pPr>
            <a:r>
              <a:rPr lang="en-US" sz="1650" b="1" spc="-16" kern="0" dirty="0">
                <a:solidFill>
                  <a:srgbClr val="0F1419"/>
                </a:solidFill>
                <a:latin typeface="Arial" pitchFamily="34" charset="0"/>
                <a:ea typeface="Arial" pitchFamily="34" charset="-122"/>
                <a:cs typeface="Arial" pitchFamily="34" charset="-120"/>
              </a:rPr>
              <a:t>Postgres</a:t>
            </a:r>
            <a:endParaRPr lang="en-US" sz="1650" dirty="0"/>
          </a:p>
        </p:txBody>
      </p:sp>
      <p:sp>
        <p:nvSpPr>
          <p:cNvPr id="20" name="Text 17"/>
          <p:cNvSpPr/>
          <p:nvPr/>
        </p:nvSpPr>
        <p:spPr>
          <a:xfrm>
            <a:off x="5291138" y="4330005"/>
            <a:ext cx="3659410"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45" kern="0" dirty="0">
                <a:solidFill>
                  <a:srgbClr val="6E7785"/>
                </a:solidFill>
                <a:latin typeface="Courier New" pitchFamily="34" charset="0"/>
                <a:ea typeface="Courier New" pitchFamily="34" charset="-122"/>
                <a:cs typeface="Courier New" pitchFamily="34" charset="-120"/>
              </a:rPr>
              <a:t>Supabase · RLS-scoped</a:t>
            </a:r>
            <a:endParaRPr lang="en-US" sz="1125" dirty="0"/>
          </a:p>
        </p:txBody>
      </p:sp>
      <p:sp>
        <p:nvSpPr>
          <p:cNvPr id="21" name="Shape 18"/>
          <p:cNvSpPr/>
          <p:nvPr/>
        </p:nvSpPr>
        <p:spPr>
          <a:xfrm>
            <a:off x="9220200" y="3283223"/>
            <a:ext cx="4000500" cy="1484933"/>
          </a:xfrm>
          <a:prstGeom prst="roundRect">
            <a:avLst>
              <a:gd name="adj" fmla="val 8980"/>
            </a:avLst>
          </a:prstGeom>
          <a:solidFill>
            <a:srgbClr val="FFFFFF"/>
          </a:solidFill>
          <a:ln w="14288">
            <a:solidFill>
              <a:srgbClr val="DDE5EC"/>
            </a:solidFill>
            <a:prstDash val="solid"/>
          </a:ln>
          <a:effectLst>
            <a:outerShdw sx="100000" sy="100000" kx="0" ky="0" algn="bl" rotWithShape="0" blurRad="28575" dist="9525" dir="5400000">
              <a:srgbClr val="0F1419">
                <a:alpha val="4000"/>
              </a:srgbClr>
            </a:outerShdw>
          </a:effectLst>
        </p:spPr>
      </p:sp>
      <p:sp>
        <p:nvSpPr>
          <p:cNvPr id="22" name="Shape 19"/>
          <p:cNvSpPr/>
          <p:nvPr/>
        </p:nvSpPr>
        <p:spPr>
          <a:xfrm>
            <a:off x="9444038" y="3507060"/>
            <a:ext cx="342900" cy="342900"/>
          </a:xfrm>
          <a:prstGeom prst="roundRect">
            <a:avLst>
              <a:gd name="adj" fmla="val 27778"/>
            </a:avLst>
          </a:prstGeom>
          <a:solidFill>
            <a:srgbClr val="EEEBFD"/>
          </a:solidFill>
          <a:ln w="9525">
            <a:solidFill>
              <a:srgbClr val="C8C0F8"/>
            </a:solidFill>
            <a:prstDash val="solid"/>
          </a:ln>
        </p:spPr>
      </p:sp>
      <p:sp>
        <p:nvSpPr>
          <p:cNvPr id="23" name="Text 20"/>
          <p:cNvSpPr/>
          <p:nvPr/>
        </p:nvSpPr>
        <p:spPr>
          <a:xfrm>
            <a:off x="9415463" y="3516585"/>
            <a:ext cx="400050" cy="361950"/>
          </a:xfrm>
          <a:prstGeom prst="rect">
            <a:avLst/>
          </a:prstGeom>
          <a:noFill/>
          <a:ln/>
        </p:spPr>
        <p:txBody>
          <a:bodyPr wrap="square" lIns="25400" tIns="25400" rIns="25400" bIns="25400" rtlCol="0" anchor="ctr">
            <a:normAutofit/>
          </a:bodyPr>
          <a:lstStyle/>
          <a:p>
            <a:pPr algn="ctr" indent="0" marL="0">
              <a:lnSpc>
                <a:spcPct val="150000"/>
              </a:lnSpc>
              <a:buNone/>
            </a:pPr>
            <a:r>
              <a:rPr lang="en-US" sz="1350" b="1" dirty="0">
                <a:solidFill>
                  <a:srgbClr val="5B47F0"/>
                </a:solidFill>
                <a:latin typeface="Arial" pitchFamily="34" charset="0"/>
                <a:ea typeface="Arial" pitchFamily="34" charset="-122"/>
                <a:cs typeface="Arial" pitchFamily="34" charset="-120"/>
              </a:rPr>
              <a:t>✓</a:t>
            </a:r>
            <a:endParaRPr lang="en-US" sz="1350" dirty="0"/>
          </a:p>
        </p:txBody>
      </p:sp>
      <p:sp>
        <p:nvSpPr>
          <p:cNvPr id="24" name="Text 21"/>
          <p:cNvSpPr/>
          <p:nvPr/>
        </p:nvSpPr>
        <p:spPr>
          <a:xfrm>
            <a:off x="12552983" y="3592785"/>
            <a:ext cx="520080" cy="209550"/>
          </a:xfrm>
          <a:prstGeom prst="rect">
            <a:avLst/>
          </a:prstGeom>
          <a:noFill/>
          <a:ln/>
        </p:spPr>
        <p:txBody>
          <a:bodyPr wrap="square" lIns="25400" tIns="25400" rIns="25400" bIns="25400" rtlCol="0" anchor="ctr">
            <a:normAutofit/>
          </a:bodyPr>
          <a:lstStyle/>
          <a:p>
            <a:pPr algn="l" indent="0" marL="0">
              <a:lnSpc>
                <a:spcPct val="150000"/>
              </a:lnSpc>
              <a:buNone/>
            </a:pPr>
            <a:r>
              <a:rPr lang="en-US" sz="900" spc="90" kern="0" dirty="0">
                <a:solidFill>
                  <a:srgbClr val="2DB47A"/>
                </a:solidFill>
                <a:latin typeface="Courier New" pitchFamily="34" charset="0"/>
                <a:ea typeface="Courier New" pitchFamily="34" charset="-122"/>
                <a:cs typeface="Courier New" pitchFamily="34" charset="-120"/>
              </a:rPr>
              <a:t>LIVE</a:t>
            </a:r>
            <a:endParaRPr lang="en-US" sz="900" dirty="0"/>
          </a:p>
        </p:txBody>
      </p:sp>
      <p:sp>
        <p:nvSpPr>
          <p:cNvPr id="25" name="Text 22"/>
          <p:cNvSpPr/>
          <p:nvPr/>
        </p:nvSpPr>
        <p:spPr>
          <a:xfrm>
            <a:off x="9444038" y="3964260"/>
            <a:ext cx="3659410" cy="289545"/>
          </a:xfrm>
          <a:prstGeom prst="rect">
            <a:avLst/>
          </a:prstGeom>
          <a:noFill/>
          <a:ln/>
        </p:spPr>
        <p:txBody>
          <a:bodyPr wrap="square" lIns="25400" tIns="25400" rIns="25400" bIns="25400" rtlCol="0" anchor="t">
            <a:normAutofit/>
          </a:bodyPr>
          <a:lstStyle/>
          <a:p>
            <a:pPr algn="l" indent="0" marL="0">
              <a:lnSpc>
                <a:spcPct val="120000"/>
              </a:lnSpc>
              <a:buNone/>
            </a:pPr>
            <a:r>
              <a:rPr lang="en-US" sz="1650" b="1" spc="-16" kern="0" dirty="0">
                <a:solidFill>
                  <a:srgbClr val="0F1419"/>
                </a:solidFill>
                <a:latin typeface="Arial" pitchFamily="34" charset="0"/>
                <a:ea typeface="Arial" pitchFamily="34" charset="-122"/>
                <a:cs typeface="Arial" pitchFamily="34" charset="-120"/>
              </a:rPr>
              <a:t>Storage</a:t>
            </a:r>
            <a:endParaRPr lang="en-US" sz="1650" dirty="0"/>
          </a:p>
        </p:txBody>
      </p:sp>
      <p:sp>
        <p:nvSpPr>
          <p:cNvPr id="26" name="Text 23"/>
          <p:cNvSpPr/>
          <p:nvPr/>
        </p:nvSpPr>
        <p:spPr>
          <a:xfrm>
            <a:off x="9444038" y="4330005"/>
            <a:ext cx="3659410"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45" kern="0" dirty="0">
                <a:solidFill>
                  <a:srgbClr val="6E7785"/>
                </a:solidFill>
                <a:latin typeface="Courier New" pitchFamily="34" charset="0"/>
                <a:ea typeface="Courier New" pitchFamily="34" charset="-122"/>
                <a:cs typeface="Courier New" pitchFamily="34" charset="-120"/>
              </a:rPr>
              <a:t>Supabase Storage</a:t>
            </a:r>
            <a:endParaRPr lang="en-US" sz="1125" dirty="0"/>
          </a:p>
        </p:txBody>
      </p:sp>
      <p:sp>
        <p:nvSpPr>
          <p:cNvPr id="27" name="Shape 24"/>
          <p:cNvSpPr/>
          <p:nvPr/>
        </p:nvSpPr>
        <p:spPr>
          <a:xfrm>
            <a:off x="13373100" y="3283223"/>
            <a:ext cx="4000500" cy="1484933"/>
          </a:xfrm>
          <a:prstGeom prst="roundRect">
            <a:avLst>
              <a:gd name="adj" fmla="val 8980"/>
            </a:avLst>
          </a:prstGeom>
          <a:solidFill>
            <a:srgbClr val="FFFFFF"/>
          </a:solidFill>
          <a:ln w="14288">
            <a:solidFill>
              <a:srgbClr val="DDE5EC"/>
            </a:solidFill>
            <a:prstDash val="solid"/>
          </a:ln>
          <a:effectLst>
            <a:outerShdw sx="100000" sy="100000" kx="0" ky="0" algn="bl" rotWithShape="0" blurRad="28575" dist="9525" dir="5400000">
              <a:srgbClr val="0F1419">
                <a:alpha val="4000"/>
              </a:srgbClr>
            </a:outerShdw>
          </a:effectLst>
        </p:spPr>
      </p:sp>
      <p:sp>
        <p:nvSpPr>
          <p:cNvPr id="28" name="Shape 25"/>
          <p:cNvSpPr/>
          <p:nvPr/>
        </p:nvSpPr>
        <p:spPr>
          <a:xfrm>
            <a:off x="13596938" y="3507060"/>
            <a:ext cx="342900" cy="342900"/>
          </a:xfrm>
          <a:prstGeom prst="roundRect">
            <a:avLst>
              <a:gd name="adj" fmla="val 27778"/>
            </a:avLst>
          </a:prstGeom>
          <a:solidFill>
            <a:srgbClr val="EEEBFD"/>
          </a:solidFill>
          <a:ln w="9525">
            <a:solidFill>
              <a:srgbClr val="C8C0F8"/>
            </a:solidFill>
            <a:prstDash val="solid"/>
          </a:ln>
        </p:spPr>
      </p:sp>
      <p:sp>
        <p:nvSpPr>
          <p:cNvPr id="29" name="Text 26"/>
          <p:cNvSpPr/>
          <p:nvPr/>
        </p:nvSpPr>
        <p:spPr>
          <a:xfrm>
            <a:off x="13568363" y="3516585"/>
            <a:ext cx="400050" cy="361950"/>
          </a:xfrm>
          <a:prstGeom prst="rect">
            <a:avLst/>
          </a:prstGeom>
          <a:noFill/>
          <a:ln/>
        </p:spPr>
        <p:txBody>
          <a:bodyPr wrap="square" lIns="25400" tIns="25400" rIns="25400" bIns="25400" rtlCol="0" anchor="ctr">
            <a:normAutofit/>
          </a:bodyPr>
          <a:lstStyle/>
          <a:p>
            <a:pPr algn="ctr" indent="0" marL="0">
              <a:lnSpc>
                <a:spcPct val="150000"/>
              </a:lnSpc>
              <a:buNone/>
            </a:pPr>
            <a:r>
              <a:rPr lang="en-US" sz="1350" b="1" dirty="0">
                <a:solidFill>
                  <a:srgbClr val="5B47F0"/>
                </a:solidFill>
                <a:latin typeface="Arial" pitchFamily="34" charset="0"/>
                <a:ea typeface="Arial" pitchFamily="34" charset="-122"/>
                <a:cs typeface="Arial" pitchFamily="34" charset="-120"/>
              </a:rPr>
              <a:t>✓</a:t>
            </a:r>
            <a:endParaRPr lang="en-US" sz="1350" dirty="0"/>
          </a:p>
        </p:txBody>
      </p:sp>
      <p:sp>
        <p:nvSpPr>
          <p:cNvPr id="30" name="Text 27"/>
          <p:cNvSpPr/>
          <p:nvPr/>
        </p:nvSpPr>
        <p:spPr>
          <a:xfrm>
            <a:off x="16705883" y="3592785"/>
            <a:ext cx="520080" cy="209550"/>
          </a:xfrm>
          <a:prstGeom prst="rect">
            <a:avLst/>
          </a:prstGeom>
          <a:noFill/>
          <a:ln/>
        </p:spPr>
        <p:txBody>
          <a:bodyPr wrap="square" lIns="25400" tIns="25400" rIns="25400" bIns="25400" rtlCol="0" anchor="ctr">
            <a:normAutofit/>
          </a:bodyPr>
          <a:lstStyle/>
          <a:p>
            <a:pPr algn="l" indent="0" marL="0">
              <a:lnSpc>
                <a:spcPct val="150000"/>
              </a:lnSpc>
              <a:buNone/>
            </a:pPr>
            <a:r>
              <a:rPr lang="en-US" sz="900" spc="90" kern="0" dirty="0">
                <a:solidFill>
                  <a:srgbClr val="2DB47A"/>
                </a:solidFill>
                <a:latin typeface="Courier New" pitchFamily="34" charset="0"/>
                <a:ea typeface="Courier New" pitchFamily="34" charset="-122"/>
                <a:cs typeface="Courier New" pitchFamily="34" charset="-120"/>
              </a:rPr>
              <a:t>LIVE</a:t>
            </a:r>
            <a:endParaRPr lang="en-US" sz="900" dirty="0"/>
          </a:p>
        </p:txBody>
      </p:sp>
      <p:sp>
        <p:nvSpPr>
          <p:cNvPr id="31" name="Text 28"/>
          <p:cNvSpPr/>
          <p:nvPr/>
        </p:nvSpPr>
        <p:spPr>
          <a:xfrm>
            <a:off x="13596938" y="3964260"/>
            <a:ext cx="3659410" cy="289545"/>
          </a:xfrm>
          <a:prstGeom prst="rect">
            <a:avLst/>
          </a:prstGeom>
          <a:noFill/>
          <a:ln/>
        </p:spPr>
        <p:txBody>
          <a:bodyPr wrap="square" lIns="25400" tIns="25400" rIns="25400" bIns="25400" rtlCol="0" anchor="t">
            <a:normAutofit/>
          </a:bodyPr>
          <a:lstStyle/>
          <a:p>
            <a:pPr algn="l" indent="0" marL="0">
              <a:lnSpc>
                <a:spcPct val="120000"/>
              </a:lnSpc>
              <a:buNone/>
            </a:pPr>
            <a:r>
              <a:rPr lang="en-US" sz="1650" b="1" spc="-16" kern="0" dirty="0">
                <a:solidFill>
                  <a:srgbClr val="0F1419"/>
                </a:solidFill>
                <a:latin typeface="Arial" pitchFamily="34" charset="0"/>
                <a:ea typeface="Arial" pitchFamily="34" charset="-122"/>
                <a:cs typeface="Arial" pitchFamily="34" charset="-120"/>
              </a:rPr>
              <a:t>Realtime</a:t>
            </a:r>
            <a:endParaRPr lang="en-US" sz="1650" dirty="0"/>
          </a:p>
        </p:txBody>
      </p:sp>
      <p:sp>
        <p:nvSpPr>
          <p:cNvPr id="32" name="Text 29"/>
          <p:cNvSpPr/>
          <p:nvPr/>
        </p:nvSpPr>
        <p:spPr>
          <a:xfrm>
            <a:off x="13596938" y="4330005"/>
            <a:ext cx="3659410"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45" kern="0" dirty="0">
                <a:solidFill>
                  <a:srgbClr val="6E7785"/>
                </a:solidFill>
                <a:latin typeface="Courier New" pitchFamily="34" charset="0"/>
                <a:ea typeface="Courier New" pitchFamily="34" charset="-122"/>
                <a:cs typeface="Courier New" pitchFamily="34" charset="-120"/>
              </a:rPr>
              <a:t>Postgres CDC channels</a:t>
            </a:r>
            <a:endParaRPr lang="en-US" sz="1125" dirty="0"/>
          </a:p>
        </p:txBody>
      </p:sp>
      <p:sp>
        <p:nvSpPr>
          <p:cNvPr id="33" name="Shape 30"/>
          <p:cNvSpPr/>
          <p:nvPr/>
        </p:nvSpPr>
        <p:spPr>
          <a:xfrm>
            <a:off x="914400" y="4920555"/>
            <a:ext cx="4000500" cy="1484933"/>
          </a:xfrm>
          <a:prstGeom prst="roundRect">
            <a:avLst>
              <a:gd name="adj" fmla="val 8980"/>
            </a:avLst>
          </a:prstGeom>
          <a:solidFill>
            <a:srgbClr val="FFFFFF"/>
          </a:solidFill>
          <a:ln w="14288">
            <a:solidFill>
              <a:srgbClr val="DDE5EC"/>
            </a:solidFill>
            <a:prstDash val="solid"/>
          </a:ln>
          <a:effectLst>
            <a:outerShdw sx="100000" sy="100000" kx="0" ky="0" algn="bl" rotWithShape="0" blurRad="28575" dist="9525" dir="5400000">
              <a:srgbClr val="0F1419">
                <a:alpha val="4000"/>
              </a:srgbClr>
            </a:outerShdw>
          </a:effectLst>
        </p:spPr>
      </p:sp>
      <p:sp>
        <p:nvSpPr>
          <p:cNvPr id="34" name="Shape 31"/>
          <p:cNvSpPr/>
          <p:nvPr/>
        </p:nvSpPr>
        <p:spPr>
          <a:xfrm>
            <a:off x="1138238" y="5144393"/>
            <a:ext cx="342900" cy="342900"/>
          </a:xfrm>
          <a:prstGeom prst="roundRect">
            <a:avLst>
              <a:gd name="adj" fmla="val 27778"/>
            </a:avLst>
          </a:prstGeom>
          <a:solidFill>
            <a:srgbClr val="EEEBFD"/>
          </a:solidFill>
          <a:ln w="9525">
            <a:solidFill>
              <a:srgbClr val="C8C0F8"/>
            </a:solidFill>
            <a:prstDash val="solid"/>
          </a:ln>
        </p:spPr>
      </p:sp>
      <p:sp>
        <p:nvSpPr>
          <p:cNvPr id="35" name="Text 32"/>
          <p:cNvSpPr/>
          <p:nvPr/>
        </p:nvSpPr>
        <p:spPr>
          <a:xfrm>
            <a:off x="1109663" y="5153918"/>
            <a:ext cx="400050" cy="361950"/>
          </a:xfrm>
          <a:prstGeom prst="rect">
            <a:avLst/>
          </a:prstGeom>
          <a:noFill/>
          <a:ln/>
        </p:spPr>
        <p:txBody>
          <a:bodyPr wrap="square" lIns="25400" tIns="25400" rIns="25400" bIns="25400" rtlCol="0" anchor="ctr">
            <a:normAutofit/>
          </a:bodyPr>
          <a:lstStyle/>
          <a:p>
            <a:pPr algn="ctr" indent="0" marL="0">
              <a:lnSpc>
                <a:spcPct val="150000"/>
              </a:lnSpc>
              <a:buNone/>
            </a:pPr>
            <a:r>
              <a:rPr lang="en-US" sz="1350" b="1" dirty="0">
                <a:solidFill>
                  <a:srgbClr val="5B47F0"/>
                </a:solidFill>
                <a:latin typeface="Arial" pitchFamily="34" charset="0"/>
                <a:ea typeface="Arial" pitchFamily="34" charset="-122"/>
                <a:cs typeface="Arial" pitchFamily="34" charset="-120"/>
              </a:rPr>
              <a:t>✓</a:t>
            </a:r>
            <a:endParaRPr lang="en-US" sz="1350" dirty="0"/>
          </a:p>
        </p:txBody>
      </p:sp>
      <p:sp>
        <p:nvSpPr>
          <p:cNvPr id="36" name="Text 33"/>
          <p:cNvSpPr/>
          <p:nvPr/>
        </p:nvSpPr>
        <p:spPr>
          <a:xfrm>
            <a:off x="4247183" y="5230118"/>
            <a:ext cx="520080" cy="209550"/>
          </a:xfrm>
          <a:prstGeom prst="rect">
            <a:avLst/>
          </a:prstGeom>
          <a:noFill/>
          <a:ln/>
        </p:spPr>
        <p:txBody>
          <a:bodyPr wrap="square" lIns="25400" tIns="25400" rIns="25400" bIns="25400" rtlCol="0" anchor="ctr">
            <a:normAutofit/>
          </a:bodyPr>
          <a:lstStyle/>
          <a:p>
            <a:pPr algn="l" indent="0" marL="0">
              <a:lnSpc>
                <a:spcPct val="150000"/>
              </a:lnSpc>
              <a:buNone/>
            </a:pPr>
            <a:r>
              <a:rPr lang="en-US" sz="900" spc="90" kern="0" dirty="0">
                <a:solidFill>
                  <a:srgbClr val="2DB47A"/>
                </a:solidFill>
                <a:latin typeface="Courier New" pitchFamily="34" charset="0"/>
                <a:ea typeface="Courier New" pitchFamily="34" charset="-122"/>
                <a:cs typeface="Courier New" pitchFamily="34" charset="-120"/>
              </a:rPr>
              <a:t>LIVE</a:t>
            </a:r>
            <a:endParaRPr lang="en-US" sz="900" dirty="0"/>
          </a:p>
        </p:txBody>
      </p:sp>
      <p:sp>
        <p:nvSpPr>
          <p:cNvPr id="37" name="Text 34"/>
          <p:cNvSpPr/>
          <p:nvPr/>
        </p:nvSpPr>
        <p:spPr>
          <a:xfrm>
            <a:off x="1138238" y="5601593"/>
            <a:ext cx="3659410" cy="289545"/>
          </a:xfrm>
          <a:prstGeom prst="rect">
            <a:avLst/>
          </a:prstGeom>
          <a:noFill/>
          <a:ln/>
        </p:spPr>
        <p:txBody>
          <a:bodyPr wrap="square" lIns="25400" tIns="25400" rIns="25400" bIns="25400" rtlCol="0" anchor="t">
            <a:normAutofit/>
          </a:bodyPr>
          <a:lstStyle/>
          <a:p>
            <a:pPr algn="l" indent="0" marL="0">
              <a:lnSpc>
                <a:spcPct val="120000"/>
              </a:lnSpc>
              <a:buNone/>
            </a:pPr>
            <a:r>
              <a:rPr lang="en-US" sz="1650" b="1" spc="-16" kern="0" dirty="0">
                <a:solidFill>
                  <a:srgbClr val="0F1419"/>
                </a:solidFill>
                <a:latin typeface="Arial" pitchFamily="34" charset="0"/>
                <a:ea typeface="Arial" pitchFamily="34" charset="-122"/>
                <a:cs typeface="Arial" pitchFamily="34" charset="-120"/>
              </a:rPr>
              <a:t>Stripe checkout</a:t>
            </a:r>
            <a:endParaRPr lang="en-US" sz="1650" dirty="0"/>
          </a:p>
        </p:txBody>
      </p:sp>
      <p:sp>
        <p:nvSpPr>
          <p:cNvPr id="38" name="Text 35"/>
          <p:cNvSpPr/>
          <p:nvPr/>
        </p:nvSpPr>
        <p:spPr>
          <a:xfrm>
            <a:off x="1138238" y="5967338"/>
            <a:ext cx="3659410"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45" kern="0" dirty="0">
                <a:solidFill>
                  <a:srgbClr val="6E7785"/>
                </a:solidFill>
                <a:latin typeface="Courier New" pitchFamily="34" charset="0"/>
                <a:ea typeface="Courier New" pitchFamily="34" charset="-122"/>
                <a:cs typeface="Courier New" pitchFamily="34" charset="-120"/>
              </a:rPr>
              <a:t>Test + live keys</a:t>
            </a:r>
            <a:endParaRPr lang="en-US" sz="1125" dirty="0"/>
          </a:p>
        </p:txBody>
      </p:sp>
      <p:sp>
        <p:nvSpPr>
          <p:cNvPr id="39" name="Shape 36"/>
          <p:cNvSpPr/>
          <p:nvPr/>
        </p:nvSpPr>
        <p:spPr>
          <a:xfrm>
            <a:off x="5067300" y="4920555"/>
            <a:ext cx="4000500" cy="1484933"/>
          </a:xfrm>
          <a:prstGeom prst="roundRect">
            <a:avLst>
              <a:gd name="adj" fmla="val 8980"/>
            </a:avLst>
          </a:prstGeom>
          <a:solidFill>
            <a:srgbClr val="FFFFFF"/>
          </a:solidFill>
          <a:ln w="14288">
            <a:solidFill>
              <a:srgbClr val="DDE5EC"/>
            </a:solidFill>
            <a:prstDash val="solid"/>
          </a:ln>
          <a:effectLst>
            <a:outerShdw sx="100000" sy="100000" kx="0" ky="0" algn="bl" rotWithShape="0" blurRad="28575" dist="9525" dir="5400000">
              <a:srgbClr val="0F1419">
                <a:alpha val="4000"/>
              </a:srgbClr>
            </a:outerShdw>
          </a:effectLst>
        </p:spPr>
      </p:sp>
      <p:sp>
        <p:nvSpPr>
          <p:cNvPr id="40" name="Shape 37"/>
          <p:cNvSpPr/>
          <p:nvPr/>
        </p:nvSpPr>
        <p:spPr>
          <a:xfrm>
            <a:off x="5291138" y="5144393"/>
            <a:ext cx="342900" cy="342900"/>
          </a:xfrm>
          <a:prstGeom prst="roundRect">
            <a:avLst>
              <a:gd name="adj" fmla="val 27778"/>
            </a:avLst>
          </a:prstGeom>
          <a:solidFill>
            <a:srgbClr val="EEEBFD"/>
          </a:solidFill>
          <a:ln w="9525">
            <a:solidFill>
              <a:srgbClr val="C8C0F8"/>
            </a:solidFill>
            <a:prstDash val="solid"/>
          </a:ln>
        </p:spPr>
      </p:sp>
      <p:sp>
        <p:nvSpPr>
          <p:cNvPr id="41" name="Text 38"/>
          <p:cNvSpPr/>
          <p:nvPr/>
        </p:nvSpPr>
        <p:spPr>
          <a:xfrm>
            <a:off x="5262563" y="5153918"/>
            <a:ext cx="400050" cy="361950"/>
          </a:xfrm>
          <a:prstGeom prst="rect">
            <a:avLst/>
          </a:prstGeom>
          <a:noFill/>
          <a:ln/>
        </p:spPr>
        <p:txBody>
          <a:bodyPr wrap="square" lIns="25400" tIns="25400" rIns="25400" bIns="25400" rtlCol="0" anchor="ctr">
            <a:normAutofit/>
          </a:bodyPr>
          <a:lstStyle/>
          <a:p>
            <a:pPr algn="ctr" indent="0" marL="0">
              <a:lnSpc>
                <a:spcPct val="150000"/>
              </a:lnSpc>
              <a:buNone/>
            </a:pPr>
            <a:r>
              <a:rPr lang="en-US" sz="1350" b="1" dirty="0">
                <a:solidFill>
                  <a:srgbClr val="5B47F0"/>
                </a:solidFill>
                <a:latin typeface="Arial" pitchFamily="34" charset="0"/>
                <a:ea typeface="Arial" pitchFamily="34" charset="-122"/>
                <a:cs typeface="Arial" pitchFamily="34" charset="-120"/>
              </a:rPr>
              <a:t>✓</a:t>
            </a:r>
            <a:endParaRPr lang="en-US" sz="1350" dirty="0"/>
          </a:p>
        </p:txBody>
      </p:sp>
      <p:sp>
        <p:nvSpPr>
          <p:cNvPr id="42" name="Text 39"/>
          <p:cNvSpPr/>
          <p:nvPr/>
        </p:nvSpPr>
        <p:spPr>
          <a:xfrm>
            <a:off x="8400083" y="5230118"/>
            <a:ext cx="520080" cy="209550"/>
          </a:xfrm>
          <a:prstGeom prst="rect">
            <a:avLst/>
          </a:prstGeom>
          <a:noFill/>
          <a:ln/>
        </p:spPr>
        <p:txBody>
          <a:bodyPr wrap="square" lIns="25400" tIns="25400" rIns="25400" bIns="25400" rtlCol="0" anchor="ctr">
            <a:normAutofit/>
          </a:bodyPr>
          <a:lstStyle/>
          <a:p>
            <a:pPr algn="l" indent="0" marL="0">
              <a:lnSpc>
                <a:spcPct val="150000"/>
              </a:lnSpc>
              <a:buNone/>
            </a:pPr>
            <a:r>
              <a:rPr lang="en-US" sz="900" spc="90" kern="0" dirty="0">
                <a:solidFill>
                  <a:srgbClr val="2DB47A"/>
                </a:solidFill>
                <a:latin typeface="Courier New" pitchFamily="34" charset="0"/>
                <a:ea typeface="Courier New" pitchFamily="34" charset="-122"/>
                <a:cs typeface="Courier New" pitchFamily="34" charset="-120"/>
              </a:rPr>
              <a:t>LIVE</a:t>
            </a:r>
            <a:endParaRPr lang="en-US" sz="900" dirty="0"/>
          </a:p>
        </p:txBody>
      </p:sp>
      <p:sp>
        <p:nvSpPr>
          <p:cNvPr id="43" name="Text 40"/>
          <p:cNvSpPr/>
          <p:nvPr/>
        </p:nvSpPr>
        <p:spPr>
          <a:xfrm>
            <a:off x="5291138" y="5601593"/>
            <a:ext cx="3659410" cy="289545"/>
          </a:xfrm>
          <a:prstGeom prst="rect">
            <a:avLst/>
          </a:prstGeom>
          <a:noFill/>
          <a:ln/>
        </p:spPr>
        <p:txBody>
          <a:bodyPr wrap="square" lIns="25400" tIns="25400" rIns="25400" bIns="25400" rtlCol="0" anchor="t">
            <a:normAutofit/>
          </a:bodyPr>
          <a:lstStyle/>
          <a:p>
            <a:pPr algn="l" indent="0" marL="0">
              <a:lnSpc>
                <a:spcPct val="120000"/>
              </a:lnSpc>
              <a:buNone/>
            </a:pPr>
            <a:r>
              <a:rPr lang="en-US" sz="1650" b="1" spc="-16" kern="0" dirty="0">
                <a:solidFill>
                  <a:srgbClr val="0F1419"/>
                </a:solidFill>
                <a:latin typeface="Arial" pitchFamily="34" charset="0"/>
                <a:ea typeface="Arial" pitchFamily="34" charset="-122"/>
                <a:cs typeface="Arial" pitchFamily="34" charset="-120"/>
              </a:rPr>
              <a:t>Paddle MoR</a:t>
            </a:r>
            <a:endParaRPr lang="en-US" sz="1650" dirty="0"/>
          </a:p>
        </p:txBody>
      </p:sp>
      <p:sp>
        <p:nvSpPr>
          <p:cNvPr id="44" name="Text 41"/>
          <p:cNvSpPr/>
          <p:nvPr/>
        </p:nvSpPr>
        <p:spPr>
          <a:xfrm>
            <a:off x="5291138" y="5967338"/>
            <a:ext cx="3659410"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45" kern="0" dirty="0">
                <a:solidFill>
                  <a:srgbClr val="6E7785"/>
                </a:solidFill>
                <a:latin typeface="Courier New" pitchFamily="34" charset="0"/>
                <a:ea typeface="Courier New" pitchFamily="34" charset="-122"/>
                <a:cs typeface="Courier New" pitchFamily="34" charset="-120"/>
              </a:rPr>
              <a:t>Global tax handled</a:t>
            </a:r>
            <a:endParaRPr lang="en-US" sz="1125" dirty="0"/>
          </a:p>
        </p:txBody>
      </p:sp>
      <p:sp>
        <p:nvSpPr>
          <p:cNvPr id="45" name="Shape 42"/>
          <p:cNvSpPr/>
          <p:nvPr/>
        </p:nvSpPr>
        <p:spPr>
          <a:xfrm>
            <a:off x="9220200" y="4920555"/>
            <a:ext cx="4000500" cy="1484933"/>
          </a:xfrm>
          <a:prstGeom prst="roundRect">
            <a:avLst>
              <a:gd name="adj" fmla="val 8980"/>
            </a:avLst>
          </a:prstGeom>
          <a:solidFill>
            <a:srgbClr val="FFFFFF"/>
          </a:solidFill>
          <a:ln w="14288">
            <a:solidFill>
              <a:srgbClr val="DDE5EC"/>
            </a:solidFill>
            <a:prstDash val="solid"/>
          </a:ln>
          <a:effectLst>
            <a:outerShdw sx="100000" sy="100000" kx="0" ky="0" algn="bl" rotWithShape="0" blurRad="28575" dist="9525" dir="5400000">
              <a:srgbClr val="0F1419">
                <a:alpha val="4000"/>
              </a:srgbClr>
            </a:outerShdw>
          </a:effectLst>
        </p:spPr>
      </p:sp>
      <p:sp>
        <p:nvSpPr>
          <p:cNvPr id="46" name="Shape 43"/>
          <p:cNvSpPr/>
          <p:nvPr/>
        </p:nvSpPr>
        <p:spPr>
          <a:xfrm>
            <a:off x="9444038" y="5144393"/>
            <a:ext cx="342900" cy="342900"/>
          </a:xfrm>
          <a:prstGeom prst="roundRect">
            <a:avLst>
              <a:gd name="adj" fmla="val 27778"/>
            </a:avLst>
          </a:prstGeom>
          <a:solidFill>
            <a:srgbClr val="EEEBFD"/>
          </a:solidFill>
          <a:ln w="9525">
            <a:solidFill>
              <a:srgbClr val="C8C0F8"/>
            </a:solidFill>
            <a:prstDash val="solid"/>
          </a:ln>
        </p:spPr>
      </p:sp>
      <p:sp>
        <p:nvSpPr>
          <p:cNvPr id="47" name="Text 44"/>
          <p:cNvSpPr/>
          <p:nvPr/>
        </p:nvSpPr>
        <p:spPr>
          <a:xfrm>
            <a:off x="9415463" y="5153918"/>
            <a:ext cx="400050" cy="361950"/>
          </a:xfrm>
          <a:prstGeom prst="rect">
            <a:avLst/>
          </a:prstGeom>
          <a:noFill/>
          <a:ln/>
        </p:spPr>
        <p:txBody>
          <a:bodyPr wrap="square" lIns="25400" tIns="25400" rIns="25400" bIns="25400" rtlCol="0" anchor="ctr">
            <a:normAutofit/>
          </a:bodyPr>
          <a:lstStyle/>
          <a:p>
            <a:pPr algn="ctr" indent="0" marL="0">
              <a:lnSpc>
                <a:spcPct val="150000"/>
              </a:lnSpc>
              <a:buNone/>
            </a:pPr>
            <a:r>
              <a:rPr lang="en-US" sz="1350" b="1" dirty="0">
                <a:solidFill>
                  <a:srgbClr val="5B47F0"/>
                </a:solidFill>
                <a:latin typeface="Arial" pitchFamily="34" charset="0"/>
                <a:ea typeface="Arial" pitchFamily="34" charset="-122"/>
                <a:cs typeface="Arial" pitchFamily="34" charset="-120"/>
              </a:rPr>
              <a:t>✓</a:t>
            </a:r>
            <a:endParaRPr lang="en-US" sz="1350" dirty="0"/>
          </a:p>
        </p:txBody>
      </p:sp>
      <p:sp>
        <p:nvSpPr>
          <p:cNvPr id="48" name="Text 45"/>
          <p:cNvSpPr/>
          <p:nvPr/>
        </p:nvSpPr>
        <p:spPr>
          <a:xfrm>
            <a:off x="12552983" y="5230118"/>
            <a:ext cx="520080" cy="209550"/>
          </a:xfrm>
          <a:prstGeom prst="rect">
            <a:avLst/>
          </a:prstGeom>
          <a:noFill/>
          <a:ln/>
        </p:spPr>
        <p:txBody>
          <a:bodyPr wrap="square" lIns="25400" tIns="25400" rIns="25400" bIns="25400" rtlCol="0" anchor="ctr">
            <a:normAutofit/>
          </a:bodyPr>
          <a:lstStyle/>
          <a:p>
            <a:pPr algn="l" indent="0" marL="0">
              <a:lnSpc>
                <a:spcPct val="150000"/>
              </a:lnSpc>
              <a:buNone/>
            </a:pPr>
            <a:r>
              <a:rPr lang="en-US" sz="900" spc="90" kern="0" dirty="0">
                <a:solidFill>
                  <a:srgbClr val="2DB47A"/>
                </a:solidFill>
                <a:latin typeface="Courier New" pitchFamily="34" charset="0"/>
                <a:ea typeface="Courier New" pitchFamily="34" charset="-122"/>
                <a:cs typeface="Courier New" pitchFamily="34" charset="-120"/>
              </a:rPr>
              <a:t>LIVE</a:t>
            </a:r>
            <a:endParaRPr lang="en-US" sz="900" dirty="0"/>
          </a:p>
        </p:txBody>
      </p:sp>
      <p:sp>
        <p:nvSpPr>
          <p:cNvPr id="49" name="Text 46"/>
          <p:cNvSpPr/>
          <p:nvPr/>
        </p:nvSpPr>
        <p:spPr>
          <a:xfrm>
            <a:off x="9444038" y="5601593"/>
            <a:ext cx="3659410" cy="289545"/>
          </a:xfrm>
          <a:prstGeom prst="rect">
            <a:avLst/>
          </a:prstGeom>
          <a:noFill/>
          <a:ln/>
        </p:spPr>
        <p:txBody>
          <a:bodyPr wrap="square" lIns="25400" tIns="25400" rIns="25400" bIns="25400" rtlCol="0" anchor="t">
            <a:normAutofit/>
          </a:bodyPr>
          <a:lstStyle/>
          <a:p>
            <a:pPr algn="l" indent="0" marL="0">
              <a:lnSpc>
                <a:spcPct val="120000"/>
              </a:lnSpc>
              <a:buNone/>
            </a:pPr>
            <a:r>
              <a:rPr lang="en-US" sz="1650" b="1" spc="-16" kern="0" dirty="0">
                <a:solidFill>
                  <a:srgbClr val="0F1419"/>
                </a:solidFill>
                <a:latin typeface="Arial" pitchFamily="34" charset="0"/>
                <a:ea typeface="Arial" pitchFamily="34" charset="-122"/>
                <a:cs typeface="Arial" pitchFamily="34" charset="-120"/>
              </a:rPr>
              <a:t>Resend mail</a:t>
            </a:r>
            <a:endParaRPr lang="en-US" sz="1650" dirty="0"/>
          </a:p>
        </p:txBody>
      </p:sp>
      <p:sp>
        <p:nvSpPr>
          <p:cNvPr id="50" name="Text 47"/>
          <p:cNvSpPr/>
          <p:nvPr/>
        </p:nvSpPr>
        <p:spPr>
          <a:xfrm>
            <a:off x="9444038" y="5967338"/>
            <a:ext cx="3659410"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45" kern="0" dirty="0">
                <a:solidFill>
                  <a:srgbClr val="6E7785"/>
                </a:solidFill>
                <a:latin typeface="Courier New" pitchFamily="34" charset="0"/>
                <a:ea typeface="Courier New" pitchFamily="34" charset="-122"/>
                <a:cs typeface="Courier New" pitchFamily="34" charset="-120"/>
              </a:rPr>
              <a:t>Transactional + DKIM</a:t>
            </a:r>
            <a:endParaRPr lang="en-US" sz="1125" dirty="0"/>
          </a:p>
        </p:txBody>
      </p:sp>
      <p:sp>
        <p:nvSpPr>
          <p:cNvPr id="51" name="Shape 48"/>
          <p:cNvSpPr/>
          <p:nvPr/>
        </p:nvSpPr>
        <p:spPr>
          <a:xfrm>
            <a:off x="13373100" y="4920555"/>
            <a:ext cx="4000500" cy="1484933"/>
          </a:xfrm>
          <a:prstGeom prst="roundRect">
            <a:avLst>
              <a:gd name="adj" fmla="val 8980"/>
            </a:avLst>
          </a:prstGeom>
          <a:solidFill>
            <a:srgbClr val="FFFFFF"/>
          </a:solidFill>
          <a:ln w="14288">
            <a:solidFill>
              <a:srgbClr val="DDE5EC"/>
            </a:solidFill>
            <a:prstDash val="solid"/>
          </a:ln>
          <a:effectLst>
            <a:outerShdw sx="100000" sy="100000" kx="0" ky="0" algn="bl" rotWithShape="0" blurRad="28575" dist="9525" dir="5400000">
              <a:srgbClr val="0F1419">
                <a:alpha val="4000"/>
              </a:srgbClr>
            </a:outerShdw>
          </a:effectLst>
        </p:spPr>
      </p:sp>
      <p:sp>
        <p:nvSpPr>
          <p:cNvPr id="52" name="Shape 49"/>
          <p:cNvSpPr/>
          <p:nvPr/>
        </p:nvSpPr>
        <p:spPr>
          <a:xfrm>
            <a:off x="13596938" y="5144393"/>
            <a:ext cx="342900" cy="342900"/>
          </a:xfrm>
          <a:prstGeom prst="roundRect">
            <a:avLst>
              <a:gd name="adj" fmla="val 27778"/>
            </a:avLst>
          </a:prstGeom>
          <a:solidFill>
            <a:srgbClr val="EEEBFD"/>
          </a:solidFill>
          <a:ln w="9525">
            <a:solidFill>
              <a:srgbClr val="C8C0F8"/>
            </a:solidFill>
            <a:prstDash val="solid"/>
          </a:ln>
        </p:spPr>
      </p:sp>
      <p:sp>
        <p:nvSpPr>
          <p:cNvPr id="53" name="Text 50"/>
          <p:cNvSpPr/>
          <p:nvPr/>
        </p:nvSpPr>
        <p:spPr>
          <a:xfrm>
            <a:off x="13568363" y="5153918"/>
            <a:ext cx="400050" cy="361950"/>
          </a:xfrm>
          <a:prstGeom prst="rect">
            <a:avLst/>
          </a:prstGeom>
          <a:noFill/>
          <a:ln/>
        </p:spPr>
        <p:txBody>
          <a:bodyPr wrap="square" lIns="25400" tIns="25400" rIns="25400" bIns="25400" rtlCol="0" anchor="ctr">
            <a:normAutofit/>
          </a:bodyPr>
          <a:lstStyle/>
          <a:p>
            <a:pPr algn="ctr" indent="0" marL="0">
              <a:lnSpc>
                <a:spcPct val="150000"/>
              </a:lnSpc>
              <a:buNone/>
            </a:pPr>
            <a:r>
              <a:rPr lang="en-US" sz="1350" b="1" dirty="0">
                <a:solidFill>
                  <a:srgbClr val="5B47F0"/>
                </a:solidFill>
                <a:latin typeface="Arial" pitchFamily="34" charset="0"/>
                <a:ea typeface="Arial" pitchFamily="34" charset="-122"/>
                <a:cs typeface="Arial" pitchFamily="34" charset="-120"/>
              </a:rPr>
              <a:t>✓</a:t>
            </a:r>
            <a:endParaRPr lang="en-US" sz="1350" dirty="0"/>
          </a:p>
        </p:txBody>
      </p:sp>
      <p:sp>
        <p:nvSpPr>
          <p:cNvPr id="54" name="Text 51"/>
          <p:cNvSpPr/>
          <p:nvPr/>
        </p:nvSpPr>
        <p:spPr>
          <a:xfrm>
            <a:off x="16705883" y="5230118"/>
            <a:ext cx="520080" cy="209550"/>
          </a:xfrm>
          <a:prstGeom prst="rect">
            <a:avLst/>
          </a:prstGeom>
          <a:noFill/>
          <a:ln/>
        </p:spPr>
        <p:txBody>
          <a:bodyPr wrap="square" lIns="25400" tIns="25400" rIns="25400" bIns="25400" rtlCol="0" anchor="ctr">
            <a:normAutofit/>
          </a:bodyPr>
          <a:lstStyle/>
          <a:p>
            <a:pPr algn="l" indent="0" marL="0">
              <a:lnSpc>
                <a:spcPct val="150000"/>
              </a:lnSpc>
              <a:buNone/>
            </a:pPr>
            <a:r>
              <a:rPr lang="en-US" sz="900" spc="90" kern="0" dirty="0">
                <a:solidFill>
                  <a:srgbClr val="2DB47A"/>
                </a:solidFill>
                <a:latin typeface="Courier New" pitchFamily="34" charset="0"/>
                <a:ea typeface="Courier New" pitchFamily="34" charset="-122"/>
                <a:cs typeface="Courier New" pitchFamily="34" charset="-120"/>
              </a:rPr>
              <a:t>LIVE</a:t>
            </a:r>
            <a:endParaRPr lang="en-US" sz="900" dirty="0"/>
          </a:p>
        </p:txBody>
      </p:sp>
      <p:sp>
        <p:nvSpPr>
          <p:cNvPr id="55" name="Text 52"/>
          <p:cNvSpPr/>
          <p:nvPr/>
        </p:nvSpPr>
        <p:spPr>
          <a:xfrm>
            <a:off x="13596938" y="5601593"/>
            <a:ext cx="3659410" cy="289545"/>
          </a:xfrm>
          <a:prstGeom prst="rect">
            <a:avLst/>
          </a:prstGeom>
          <a:noFill/>
          <a:ln/>
        </p:spPr>
        <p:txBody>
          <a:bodyPr wrap="square" lIns="25400" tIns="25400" rIns="25400" bIns="25400" rtlCol="0" anchor="t">
            <a:normAutofit/>
          </a:bodyPr>
          <a:lstStyle/>
          <a:p>
            <a:pPr algn="l" indent="0" marL="0">
              <a:lnSpc>
                <a:spcPct val="120000"/>
              </a:lnSpc>
              <a:buNone/>
            </a:pPr>
            <a:r>
              <a:rPr lang="en-US" sz="1650" b="1" spc="-16" kern="0" dirty="0">
                <a:solidFill>
                  <a:srgbClr val="0F1419"/>
                </a:solidFill>
                <a:latin typeface="Arial" pitchFamily="34" charset="0"/>
                <a:ea typeface="Arial" pitchFamily="34" charset="-122"/>
                <a:cs typeface="Arial" pitchFamily="34" charset="-120"/>
              </a:rPr>
              <a:t>Mailboxes</a:t>
            </a:r>
            <a:endParaRPr lang="en-US" sz="1650" dirty="0"/>
          </a:p>
        </p:txBody>
      </p:sp>
      <p:sp>
        <p:nvSpPr>
          <p:cNvPr id="56" name="Text 53"/>
          <p:cNvSpPr/>
          <p:nvPr/>
        </p:nvSpPr>
        <p:spPr>
          <a:xfrm>
            <a:off x="13596938" y="5967338"/>
            <a:ext cx="3659410"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45" kern="0" dirty="0">
                <a:solidFill>
                  <a:srgbClr val="6E7785"/>
                </a:solidFill>
                <a:latin typeface="Courier New" pitchFamily="34" charset="0"/>
                <a:ea typeface="Courier New" pitchFamily="34" charset="-122"/>
                <a:cs typeface="Courier New" pitchFamily="34" charset="-120"/>
              </a:rPr>
              <a:t>Infomaniak · 5 inbox</a:t>
            </a:r>
            <a:endParaRPr lang="en-US" sz="1125" dirty="0"/>
          </a:p>
        </p:txBody>
      </p:sp>
      <p:sp>
        <p:nvSpPr>
          <p:cNvPr id="57" name="Shape 54"/>
          <p:cNvSpPr/>
          <p:nvPr/>
        </p:nvSpPr>
        <p:spPr>
          <a:xfrm>
            <a:off x="914400" y="6557888"/>
            <a:ext cx="4000500" cy="1484933"/>
          </a:xfrm>
          <a:prstGeom prst="roundRect">
            <a:avLst>
              <a:gd name="adj" fmla="val 8980"/>
            </a:avLst>
          </a:prstGeom>
          <a:solidFill>
            <a:srgbClr val="FFFFFF"/>
          </a:solidFill>
          <a:ln w="14288">
            <a:solidFill>
              <a:srgbClr val="DDE5EC"/>
            </a:solidFill>
            <a:prstDash val="solid"/>
          </a:ln>
          <a:effectLst>
            <a:outerShdw sx="100000" sy="100000" kx="0" ky="0" algn="bl" rotWithShape="0" blurRad="28575" dist="9525" dir="5400000">
              <a:srgbClr val="0F1419">
                <a:alpha val="4000"/>
              </a:srgbClr>
            </a:outerShdw>
          </a:effectLst>
        </p:spPr>
      </p:sp>
      <p:sp>
        <p:nvSpPr>
          <p:cNvPr id="58" name="Shape 55"/>
          <p:cNvSpPr/>
          <p:nvPr/>
        </p:nvSpPr>
        <p:spPr>
          <a:xfrm>
            <a:off x="1138238" y="6781726"/>
            <a:ext cx="342900" cy="342900"/>
          </a:xfrm>
          <a:prstGeom prst="roundRect">
            <a:avLst>
              <a:gd name="adj" fmla="val 27778"/>
            </a:avLst>
          </a:prstGeom>
          <a:solidFill>
            <a:srgbClr val="EEEBFD"/>
          </a:solidFill>
          <a:ln w="9525">
            <a:solidFill>
              <a:srgbClr val="C8C0F8"/>
            </a:solidFill>
            <a:prstDash val="solid"/>
          </a:ln>
        </p:spPr>
      </p:sp>
      <p:sp>
        <p:nvSpPr>
          <p:cNvPr id="59" name="Text 56"/>
          <p:cNvSpPr/>
          <p:nvPr/>
        </p:nvSpPr>
        <p:spPr>
          <a:xfrm>
            <a:off x="1109663" y="6791251"/>
            <a:ext cx="400050" cy="361950"/>
          </a:xfrm>
          <a:prstGeom prst="rect">
            <a:avLst/>
          </a:prstGeom>
          <a:noFill/>
          <a:ln/>
        </p:spPr>
        <p:txBody>
          <a:bodyPr wrap="square" lIns="25400" tIns="25400" rIns="25400" bIns="25400" rtlCol="0" anchor="ctr">
            <a:normAutofit/>
          </a:bodyPr>
          <a:lstStyle/>
          <a:p>
            <a:pPr algn="ctr" indent="0" marL="0">
              <a:lnSpc>
                <a:spcPct val="150000"/>
              </a:lnSpc>
              <a:buNone/>
            </a:pPr>
            <a:r>
              <a:rPr lang="en-US" sz="1350" b="1" dirty="0">
                <a:solidFill>
                  <a:srgbClr val="5B47F0"/>
                </a:solidFill>
                <a:latin typeface="Arial" pitchFamily="34" charset="0"/>
                <a:ea typeface="Arial" pitchFamily="34" charset="-122"/>
                <a:cs typeface="Arial" pitchFamily="34" charset="-120"/>
              </a:rPr>
              <a:t>✓</a:t>
            </a:r>
            <a:endParaRPr lang="en-US" sz="1350" dirty="0"/>
          </a:p>
        </p:txBody>
      </p:sp>
      <p:sp>
        <p:nvSpPr>
          <p:cNvPr id="60" name="Text 57"/>
          <p:cNvSpPr/>
          <p:nvPr/>
        </p:nvSpPr>
        <p:spPr>
          <a:xfrm>
            <a:off x="4247183" y="6867451"/>
            <a:ext cx="520080" cy="209550"/>
          </a:xfrm>
          <a:prstGeom prst="rect">
            <a:avLst/>
          </a:prstGeom>
          <a:noFill/>
          <a:ln/>
        </p:spPr>
        <p:txBody>
          <a:bodyPr wrap="square" lIns="25400" tIns="25400" rIns="25400" bIns="25400" rtlCol="0" anchor="ctr">
            <a:normAutofit/>
          </a:bodyPr>
          <a:lstStyle/>
          <a:p>
            <a:pPr algn="l" indent="0" marL="0">
              <a:lnSpc>
                <a:spcPct val="150000"/>
              </a:lnSpc>
              <a:buNone/>
            </a:pPr>
            <a:r>
              <a:rPr lang="en-US" sz="900" spc="90" kern="0" dirty="0">
                <a:solidFill>
                  <a:srgbClr val="2DB47A"/>
                </a:solidFill>
                <a:latin typeface="Courier New" pitchFamily="34" charset="0"/>
                <a:ea typeface="Courier New" pitchFamily="34" charset="-122"/>
                <a:cs typeface="Courier New" pitchFamily="34" charset="-120"/>
              </a:rPr>
              <a:t>LIVE</a:t>
            </a:r>
            <a:endParaRPr lang="en-US" sz="900" dirty="0"/>
          </a:p>
        </p:txBody>
      </p:sp>
      <p:sp>
        <p:nvSpPr>
          <p:cNvPr id="61" name="Text 58"/>
          <p:cNvSpPr/>
          <p:nvPr/>
        </p:nvSpPr>
        <p:spPr>
          <a:xfrm>
            <a:off x="1138238" y="7238926"/>
            <a:ext cx="3659410" cy="289545"/>
          </a:xfrm>
          <a:prstGeom prst="rect">
            <a:avLst/>
          </a:prstGeom>
          <a:noFill/>
          <a:ln/>
        </p:spPr>
        <p:txBody>
          <a:bodyPr wrap="square" lIns="25400" tIns="25400" rIns="25400" bIns="25400" rtlCol="0" anchor="t">
            <a:normAutofit/>
          </a:bodyPr>
          <a:lstStyle/>
          <a:p>
            <a:pPr algn="l" indent="0" marL="0">
              <a:lnSpc>
                <a:spcPct val="120000"/>
              </a:lnSpc>
              <a:buNone/>
            </a:pPr>
            <a:r>
              <a:rPr lang="en-US" sz="1650" b="1" spc="-16" kern="0" dirty="0">
                <a:solidFill>
                  <a:srgbClr val="0F1419"/>
                </a:solidFill>
                <a:latin typeface="Arial" pitchFamily="34" charset="0"/>
                <a:ea typeface="Arial" pitchFamily="34" charset="-122"/>
                <a:cs typeface="Arial" pitchFamily="34" charset="-120"/>
              </a:rPr>
              <a:t>Capacitor</a:t>
            </a:r>
            <a:endParaRPr lang="en-US" sz="1650" dirty="0"/>
          </a:p>
        </p:txBody>
      </p:sp>
      <p:sp>
        <p:nvSpPr>
          <p:cNvPr id="62" name="Text 59"/>
          <p:cNvSpPr/>
          <p:nvPr/>
        </p:nvSpPr>
        <p:spPr>
          <a:xfrm>
            <a:off x="1138238" y="7604671"/>
            <a:ext cx="3659410"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45" kern="0" dirty="0">
                <a:solidFill>
                  <a:srgbClr val="6E7785"/>
                </a:solidFill>
                <a:latin typeface="Courier New" pitchFamily="34" charset="0"/>
                <a:ea typeface="Courier New" pitchFamily="34" charset="-122"/>
                <a:cs typeface="Courier New" pitchFamily="34" charset="-120"/>
              </a:rPr>
              <a:t>iOS IPA + Android APK</a:t>
            </a:r>
            <a:endParaRPr lang="en-US" sz="1125" dirty="0"/>
          </a:p>
        </p:txBody>
      </p:sp>
      <p:sp>
        <p:nvSpPr>
          <p:cNvPr id="63" name="Shape 60"/>
          <p:cNvSpPr/>
          <p:nvPr/>
        </p:nvSpPr>
        <p:spPr>
          <a:xfrm>
            <a:off x="5067300" y="6557888"/>
            <a:ext cx="4000500" cy="1484933"/>
          </a:xfrm>
          <a:prstGeom prst="roundRect">
            <a:avLst>
              <a:gd name="adj" fmla="val 8980"/>
            </a:avLst>
          </a:prstGeom>
          <a:solidFill>
            <a:srgbClr val="FFFFFF"/>
          </a:solidFill>
          <a:ln w="14288">
            <a:solidFill>
              <a:srgbClr val="DDE5EC"/>
            </a:solidFill>
            <a:prstDash val="solid"/>
          </a:ln>
          <a:effectLst>
            <a:outerShdw sx="100000" sy="100000" kx="0" ky="0" algn="bl" rotWithShape="0" blurRad="28575" dist="9525" dir="5400000">
              <a:srgbClr val="0F1419">
                <a:alpha val="4000"/>
              </a:srgbClr>
            </a:outerShdw>
          </a:effectLst>
        </p:spPr>
      </p:sp>
      <p:sp>
        <p:nvSpPr>
          <p:cNvPr id="64" name="Shape 61"/>
          <p:cNvSpPr/>
          <p:nvPr/>
        </p:nvSpPr>
        <p:spPr>
          <a:xfrm>
            <a:off x="5291138" y="6781726"/>
            <a:ext cx="342900" cy="342900"/>
          </a:xfrm>
          <a:prstGeom prst="roundRect">
            <a:avLst>
              <a:gd name="adj" fmla="val 27778"/>
            </a:avLst>
          </a:prstGeom>
          <a:solidFill>
            <a:srgbClr val="EEEBFD"/>
          </a:solidFill>
          <a:ln w="9525">
            <a:solidFill>
              <a:srgbClr val="C8C0F8"/>
            </a:solidFill>
            <a:prstDash val="solid"/>
          </a:ln>
        </p:spPr>
      </p:sp>
      <p:sp>
        <p:nvSpPr>
          <p:cNvPr id="65" name="Text 62"/>
          <p:cNvSpPr/>
          <p:nvPr/>
        </p:nvSpPr>
        <p:spPr>
          <a:xfrm>
            <a:off x="5262563" y="6791251"/>
            <a:ext cx="400050" cy="361950"/>
          </a:xfrm>
          <a:prstGeom prst="rect">
            <a:avLst/>
          </a:prstGeom>
          <a:noFill/>
          <a:ln/>
        </p:spPr>
        <p:txBody>
          <a:bodyPr wrap="square" lIns="25400" tIns="25400" rIns="25400" bIns="25400" rtlCol="0" anchor="ctr">
            <a:normAutofit/>
          </a:bodyPr>
          <a:lstStyle/>
          <a:p>
            <a:pPr algn="ctr" indent="0" marL="0">
              <a:lnSpc>
                <a:spcPct val="150000"/>
              </a:lnSpc>
              <a:buNone/>
            </a:pPr>
            <a:r>
              <a:rPr lang="en-US" sz="1350" b="1" dirty="0">
                <a:solidFill>
                  <a:srgbClr val="5B47F0"/>
                </a:solidFill>
                <a:latin typeface="Arial" pitchFamily="34" charset="0"/>
                <a:ea typeface="Arial" pitchFamily="34" charset="-122"/>
                <a:cs typeface="Arial" pitchFamily="34" charset="-120"/>
              </a:rPr>
              <a:t>✓</a:t>
            </a:r>
            <a:endParaRPr lang="en-US" sz="1350" dirty="0"/>
          </a:p>
        </p:txBody>
      </p:sp>
      <p:sp>
        <p:nvSpPr>
          <p:cNvPr id="66" name="Text 63"/>
          <p:cNvSpPr/>
          <p:nvPr/>
        </p:nvSpPr>
        <p:spPr>
          <a:xfrm>
            <a:off x="8400083" y="6867451"/>
            <a:ext cx="520080" cy="209550"/>
          </a:xfrm>
          <a:prstGeom prst="rect">
            <a:avLst/>
          </a:prstGeom>
          <a:noFill/>
          <a:ln/>
        </p:spPr>
        <p:txBody>
          <a:bodyPr wrap="square" lIns="25400" tIns="25400" rIns="25400" bIns="25400" rtlCol="0" anchor="ctr">
            <a:normAutofit/>
          </a:bodyPr>
          <a:lstStyle/>
          <a:p>
            <a:pPr algn="l" indent="0" marL="0">
              <a:lnSpc>
                <a:spcPct val="150000"/>
              </a:lnSpc>
              <a:buNone/>
            </a:pPr>
            <a:r>
              <a:rPr lang="en-US" sz="900" spc="90" kern="0" dirty="0">
                <a:solidFill>
                  <a:srgbClr val="2DB47A"/>
                </a:solidFill>
                <a:latin typeface="Courier New" pitchFamily="34" charset="0"/>
                <a:ea typeface="Courier New" pitchFamily="34" charset="-122"/>
                <a:cs typeface="Courier New" pitchFamily="34" charset="-120"/>
              </a:rPr>
              <a:t>LIVE</a:t>
            </a:r>
            <a:endParaRPr lang="en-US" sz="900" dirty="0"/>
          </a:p>
        </p:txBody>
      </p:sp>
      <p:sp>
        <p:nvSpPr>
          <p:cNvPr id="67" name="Text 64"/>
          <p:cNvSpPr/>
          <p:nvPr/>
        </p:nvSpPr>
        <p:spPr>
          <a:xfrm>
            <a:off x="5291138" y="7238926"/>
            <a:ext cx="3659410" cy="289545"/>
          </a:xfrm>
          <a:prstGeom prst="rect">
            <a:avLst/>
          </a:prstGeom>
          <a:noFill/>
          <a:ln/>
        </p:spPr>
        <p:txBody>
          <a:bodyPr wrap="square" lIns="25400" tIns="25400" rIns="25400" bIns="25400" rtlCol="0" anchor="t">
            <a:normAutofit/>
          </a:bodyPr>
          <a:lstStyle/>
          <a:p>
            <a:pPr algn="l" indent="0" marL="0">
              <a:lnSpc>
                <a:spcPct val="120000"/>
              </a:lnSpc>
              <a:buNone/>
            </a:pPr>
            <a:r>
              <a:rPr lang="en-US" sz="1650" b="1" spc="-16" kern="0" dirty="0">
                <a:solidFill>
                  <a:srgbClr val="0F1419"/>
                </a:solidFill>
                <a:latin typeface="Arial" pitchFamily="34" charset="0"/>
                <a:ea typeface="Arial" pitchFamily="34" charset="-122"/>
                <a:cs typeface="Arial" pitchFamily="34" charset="-120"/>
              </a:rPr>
              <a:t>GitHub repo</a:t>
            </a:r>
            <a:endParaRPr lang="en-US" sz="1650" dirty="0"/>
          </a:p>
        </p:txBody>
      </p:sp>
      <p:sp>
        <p:nvSpPr>
          <p:cNvPr id="68" name="Text 65"/>
          <p:cNvSpPr/>
          <p:nvPr/>
        </p:nvSpPr>
        <p:spPr>
          <a:xfrm>
            <a:off x="5291138" y="7604671"/>
            <a:ext cx="3659410"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45" kern="0" dirty="0">
                <a:solidFill>
                  <a:srgbClr val="6E7785"/>
                </a:solidFill>
                <a:latin typeface="Courier New" pitchFamily="34" charset="0"/>
                <a:ea typeface="Courier New" pitchFamily="34" charset="-122"/>
                <a:cs typeface="Courier New" pitchFamily="34" charset="-120"/>
              </a:rPr>
              <a:t>Per-tenant · private</a:t>
            </a:r>
            <a:endParaRPr lang="en-US" sz="1125" dirty="0"/>
          </a:p>
        </p:txBody>
      </p:sp>
      <p:sp>
        <p:nvSpPr>
          <p:cNvPr id="69" name="Shape 66"/>
          <p:cNvSpPr/>
          <p:nvPr/>
        </p:nvSpPr>
        <p:spPr>
          <a:xfrm>
            <a:off x="9220200" y="6557888"/>
            <a:ext cx="4000500" cy="1484933"/>
          </a:xfrm>
          <a:prstGeom prst="roundRect">
            <a:avLst>
              <a:gd name="adj" fmla="val 8980"/>
            </a:avLst>
          </a:prstGeom>
          <a:solidFill>
            <a:srgbClr val="FFFFFF"/>
          </a:solidFill>
          <a:ln w="14288">
            <a:solidFill>
              <a:srgbClr val="DDE5EC"/>
            </a:solidFill>
            <a:prstDash val="solid"/>
          </a:ln>
          <a:effectLst>
            <a:outerShdw sx="100000" sy="100000" kx="0" ky="0" algn="bl" rotWithShape="0" blurRad="28575" dist="9525" dir="5400000">
              <a:srgbClr val="0F1419">
                <a:alpha val="4000"/>
              </a:srgbClr>
            </a:outerShdw>
          </a:effectLst>
        </p:spPr>
      </p:sp>
      <p:sp>
        <p:nvSpPr>
          <p:cNvPr id="70" name="Shape 67"/>
          <p:cNvSpPr/>
          <p:nvPr/>
        </p:nvSpPr>
        <p:spPr>
          <a:xfrm>
            <a:off x="9444038" y="6781726"/>
            <a:ext cx="342900" cy="342900"/>
          </a:xfrm>
          <a:prstGeom prst="roundRect">
            <a:avLst>
              <a:gd name="adj" fmla="val 27778"/>
            </a:avLst>
          </a:prstGeom>
          <a:solidFill>
            <a:srgbClr val="EEEBFD"/>
          </a:solidFill>
          <a:ln w="9525">
            <a:solidFill>
              <a:srgbClr val="C8C0F8"/>
            </a:solidFill>
            <a:prstDash val="solid"/>
          </a:ln>
        </p:spPr>
      </p:sp>
      <p:sp>
        <p:nvSpPr>
          <p:cNvPr id="71" name="Text 68"/>
          <p:cNvSpPr/>
          <p:nvPr/>
        </p:nvSpPr>
        <p:spPr>
          <a:xfrm>
            <a:off x="9415463" y="6791251"/>
            <a:ext cx="400050" cy="361950"/>
          </a:xfrm>
          <a:prstGeom prst="rect">
            <a:avLst/>
          </a:prstGeom>
          <a:noFill/>
          <a:ln/>
        </p:spPr>
        <p:txBody>
          <a:bodyPr wrap="square" lIns="25400" tIns="25400" rIns="25400" bIns="25400" rtlCol="0" anchor="ctr">
            <a:normAutofit/>
          </a:bodyPr>
          <a:lstStyle/>
          <a:p>
            <a:pPr algn="ctr" indent="0" marL="0">
              <a:lnSpc>
                <a:spcPct val="150000"/>
              </a:lnSpc>
              <a:buNone/>
            </a:pPr>
            <a:r>
              <a:rPr lang="en-US" sz="1350" b="1" dirty="0">
                <a:solidFill>
                  <a:srgbClr val="5B47F0"/>
                </a:solidFill>
                <a:latin typeface="Arial" pitchFamily="34" charset="0"/>
                <a:ea typeface="Arial" pitchFamily="34" charset="-122"/>
                <a:cs typeface="Arial" pitchFamily="34" charset="-120"/>
              </a:rPr>
              <a:t>✓</a:t>
            </a:r>
            <a:endParaRPr lang="en-US" sz="1350" dirty="0"/>
          </a:p>
        </p:txBody>
      </p:sp>
      <p:sp>
        <p:nvSpPr>
          <p:cNvPr id="72" name="Text 69"/>
          <p:cNvSpPr/>
          <p:nvPr/>
        </p:nvSpPr>
        <p:spPr>
          <a:xfrm>
            <a:off x="12552983" y="6867451"/>
            <a:ext cx="520080" cy="209550"/>
          </a:xfrm>
          <a:prstGeom prst="rect">
            <a:avLst/>
          </a:prstGeom>
          <a:noFill/>
          <a:ln/>
        </p:spPr>
        <p:txBody>
          <a:bodyPr wrap="square" lIns="25400" tIns="25400" rIns="25400" bIns="25400" rtlCol="0" anchor="ctr">
            <a:normAutofit/>
          </a:bodyPr>
          <a:lstStyle/>
          <a:p>
            <a:pPr algn="l" indent="0" marL="0">
              <a:lnSpc>
                <a:spcPct val="150000"/>
              </a:lnSpc>
              <a:buNone/>
            </a:pPr>
            <a:r>
              <a:rPr lang="en-US" sz="900" spc="90" kern="0" dirty="0">
                <a:solidFill>
                  <a:srgbClr val="2DB47A"/>
                </a:solidFill>
                <a:latin typeface="Courier New" pitchFamily="34" charset="0"/>
                <a:ea typeface="Courier New" pitchFamily="34" charset="-122"/>
                <a:cs typeface="Courier New" pitchFamily="34" charset="-120"/>
              </a:rPr>
              <a:t>LIVE</a:t>
            </a:r>
            <a:endParaRPr lang="en-US" sz="900" dirty="0"/>
          </a:p>
        </p:txBody>
      </p:sp>
      <p:sp>
        <p:nvSpPr>
          <p:cNvPr id="73" name="Text 70"/>
          <p:cNvSpPr/>
          <p:nvPr/>
        </p:nvSpPr>
        <p:spPr>
          <a:xfrm>
            <a:off x="9444038" y="7238926"/>
            <a:ext cx="3659410" cy="289545"/>
          </a:xfrm>
          <a:prstGeom prst="rect">
            <a:avLst/>
          </a:prstGeom>
          <a:noFill/>
          <a:ln/>
        </p:spPr>
        <p:txBody>
          <a:bodyPr wrap="square" lIns="25400" tIns="25400" rIns="25400" bIns="25400" rtlCol="0" anchor="t">
            <a:normAutofit/>
          </a:bodyPr>
          <a:lstStyle/>
          <a:p>
            <a:pPr algn="l" indent="0" marL="0">
              <a:lnSpc>
                <a:spcPct val="120000"/>
              </a:lnSpc>
              <a:buNone/>
            </a:pPr>
            <a:r>
              <a:rPr lang="en-US" sz="1650" b="1" spc="-16" kern="0" dirty="0">
                <a:solidFill>
                  <a:srgbClr val="0F1419"/>
                </a:solidFill>
                <a:latin typeface="Arial" pitchFamily="34" charset="0"/>
                <a:ea typeface="Arial" pitchFamily="34" charset="-122"/>
                <a:cs typeface="Arial" pitchFamily="34" charset="-120"/>
              </a:rPr>
              <a:t>Push-to-deploy</a:t>
            </a:r>
            <a:endParaRPr lang="en-US" sz="1650" dirty="0"/>
          </a:p>
        </p:txBody>
      </p:sp>
      <p:sp>
        <p:nvSpPr>
          <p:cNvPr id="74" name="Text 71"/>
          <p:cNvSpPr/>
          <p:nvPr/>
        </p:nvSpPr>
        <p:spPr>
          <a:xfrm>
            <a:off x="9444038" y="7604671"/>
            <a:ext cx="3659410"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45" kern="0" dirty="0">
                <a:solidFill>
                  <a:srgbClr val="6E7785"/>
                </a:solidFill>
                <a:latin typeface="Courier New" pitchFamily="34" charset="0"/>
                <a:ea typeface="Courier New" pitchFamily="34" charset="-122"/>
                <a:cs typeface="Courier New" pitchFamily="34" charset="-120"/>
              </a:rPr>
              <a:t>Webhook + AI deploy token</a:t>
            </a:r>
            <a:endParaRPr lang="en-US" sz="1125" dirty="0"/>
          </a:p>
        </p:txBody>
      </p:sp>
      <p:sp>
        <p:nvSpPr>
          <p:cNvPr id="75" name="Shape 72"/>
          <p:cNvSpPr/>
          <p:nvPr/>
        </p:nvSpPr>
        <p:spPr>
          <a:xfrm>
            <a:off x="13373100" y="6557888"/>
            <a:ext cx="4000500" cy="1484933"/>
          </a:xfrm>
          <a:prstGeom prst="roundRect">
            <a:avLst>
              <a:gd name="adj" fmla="val 8980"/>
            </a:avLst>
          </a:prstGeom>
          <a:solidFill>
            <a:srgbClr val="FFFFFF"/>
          </a:solidFill>
          <a:ln w="14288">
            <a:solidFill>
              <a:srgbClr val="DDE5EC"/>
            </a:solidFill>
            <a:prstDash val="solid"/>
          </a:ln>
          <a:effectLst>
            <a:outerShdw sx="100000" sy="100000" kx="0" ky="0" algn="bl" rotWithShape="0" blurRad="28575" dist="9525" dir="5400000">
              <a:srgbClr val="0F1419">
                <a:alpha val="4000"/>
              </a:srgbClr>
            </a:outerShdw>
          </a:effectLst>
        </p:spPr>
      </p:sp>
      <p:sp>
        <p:nvSpPr>
          <p:cNvPr id="76" name="Shape 73"/>
          <p:cNvSpPr/>
          <p:nvPr/>
        </p:nvSpPr>
        <p:spPr>
          <a:xfrm>
            <a:off x="13596938" y="6781726"/>
            <a:ext cx="342900" cy="342900"/>
          </a:xfrm>
          <a:prstGeom prst="roundRect">
            <a:avLst>
              <a:gd name="adj" fmla="val 27778"/>
            </a:avLst>
          </a:prstGeom>
          <a:solidFill>
            <a:srgbClr val="EEEBFD"/>
          </a:solidFill>
          <a:ln w="9525">
            <a:solidFill>
              <a:srgbClr val="C8C0F8"/>
            </a:solidFill>
            <a:prstDash val="solid"/>
          </a:ln>
        </p:spPr>
      </p:sp>
      <p:sp>
        <p:nvSpPr>
          <p:cNvPr id="77" name="Text 74"/>
          <p:cNvSpPr/>
          <p:nvPr/>
        </p:nvSpPr>
        <p:spPr>
          <a:xfrm>
            <a:off x="13568363" y="6791251"/>
            <a:ext cx="400050" cy="361950"/>
          </a:xfrm>
          <a:prstGeom prst="rect">
            <a:avLst/>
          </a:prstGeom>
          <a:noFill/>
          <a:ln/>
        </p:spPr>
        <p:txBody>
          <a:bodyPr wrap="square" lIns="25400" tIns="25400" rIns="25400" bIns="25400" rtlCol="0" anchor="ctr">
            <a:normAutofit/>
          </a:bodyPr>
          <a:lstStyle/>
          <a:p>
            <a:pPr algn="ctr" indent="0" marL="0">
              <a:lnSpc>
                <a:spcPct val="150000"/>
              </a:lnSpc>
              <a:buNone/>
            </a:pPr>
            <a:r>
              <a:rPr lang="en-US" sz="1350" b="1" dirty="0">
                <a:solidFill>
                  <a:srgbClr val="5B47F0"/>
                </a:solidFill>
                <a:latin typeface="Arial" pitchFamily="34" charset="0"/>
                <a:ea typeface="Arial" pitchFamily="34" charset="-122"/>
                <a:cs typeface="Arial" pitchFamily="34" charset="-120"/>
              </a:rPr>
              <a:t>✓</a:t>
            </a:r>
            <a:endParaRPr lang="en-US" sz="1350" dirty="0"/>
          </a:p>
        </p:txBody>
      </p:sp>
      <p:sp>
        <p:nvSpPr>
          <p:cNvPr id="78" name="Text 75"/>
          <p:cNvSpPr/>
          <p:nvPr/>
        </p:nvSpPr>
        <p:spPr>
          <a:xfrm>
            <a:off x="16705883" y="6867451"/>
            <a:ext cx="520080" cy="209550"/>
          </a:xfrm>
          <a:prstGeom prst="rect">
            <a:avLst/>
          </a:prstGeom>
          <a:noFill/>
          <a:ln/>
        </p:spPr>
        <p:txBody>
          <a:bodyPr wrap="square" lIns="25400" tIns="25400" rIns="25400" bIns="25400" rtlCol="0" anchor="ctr">
            <a:normAutofit/>
          </a:bodyPr>
          <a:lstStyle/>
          <a:p>
            <a:pPr algn="l" indent="0" marL="0">
              <a:lnSpc>
                <a:spcPct val="150000"/>
              </a:lnSpc>
              <a:buNone/>
            </a:pPr>
            <a:r>
              <a:rPr lang="en-US" sz="900" spc="90" kern="0" dirty="0">
                <a:solidFill>
                  <a:srgbClr val="2DB47A"/>
                </a:solidFill>
                <a:latin typeface="Courier New" pitchFamily="34" charset="0"/>
                <a:ea typeface="Courier New" pitchFamily="34" charset="-122"/>
                <a:cs typeface="Courier New" pitchFamily="34" charset="-120"/>
              </a:rPr>
              <a:t>LIVE</a:t>
            </a:r>
            <a:endParaRPr lang="en-US" sz="900" dirty="0"/>
          </a:p>
        </p:txBody>
      </p:sp>
      <p:sp>
        <p:nvSpPr>
          <p:cNvPr id="79" name="Text 76"/>
          <p:cNvSpPr/>
          <p:nvPr/>
        </p:nvSpPr>
        <p:spPr>
          <a:xfrm>
            <a:off x="13596938" y="7238926"/>
            <a:ext cx="3659410" cy="289545"/>
          </a:xfrm>
          <a:prstGeom prst="rect">
            <a:avLst/>
          </a:prstGeom>
          <a:noFill/>
          <a:ln/>
        </p:spPr>
        <p:txBody>
          <a:bodyPr wrap="square" lIns="25400" tIns="25400" rIns="25400" bIns="25400" rtlCol="0" anchor="t">
            <a:normAutofit/>
          </a:bodyPr>
          <a:lstStyle/>
          <a:p>
            <a:pPr algn="l" indent="0" marL="0">
              <a:lnSpc>
                <a:spcPct val="120000"/>
              </a:lnSpc>
              <a:buNone/>
            </a:pPr>
            <a:r>
              <a:rPr lang="en-US" sz="1650" b="1" spc="-16" kern="0" dirty="0">
                <a:solidFill>
                  <a:srgbClr val="0F1419"/>
                </a:solidFill>
                <a:latin typeface="Arial" pitchFamily="34" charset="0"/>
                <a:ea typeface="Arial" pitchFamily="34" charset="-122"/>
                <a:cs typeface="Arial" pitchFamily="34" charset="-120"/>
              </a:rPr>
              <a:t>Status page</a:t>
            </a:r>
            <a:endParaRPr lang="en-US" sz="1650" dirty="0"/>
          </a:p>
        </p:txBody>
      </p:sp>
      <p:sp>
        <p:nvSpPr>
          <p:cNvPr id="80" name="Text 77"/>
          <p:cNvSpPr/>
          <p:nvPr/>
        </p:nvSpPr>
        <p:spPr>
          <a:xfrm>
            <a:off x="13596938" y="7604671"/>
            <a:ext cx="3659410"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45" kern="0" dirty="0">
                <a:solidFill>
                  <a:srgbClr val="6E7785"/>
                </a:solidFill>
                <a:latin typeface="Courier New" pitchFamily="34" charset="0"/>
                <a:ea typeface="Courier New" pitchFamily="34" charset="-122"/>
                <a:cs typeface="Courier New" pitchFamily="34" charset="-120"/>
              </a:rPr>
              <a:t>status.hatchik.com</a:t>
            </a:r>
            <a:endParaRPr lang="en-US" sz="1125" dirty="0"/>
          </a:p>
        </p:txBody>
      </p:sp>
      <p:sp>
        <p:nvSpPr>
          <p:cNvPr id="81" name="Shape 78"/>
          <p:cNvSpPr/>
          <p:nvPr/>
        </p:nvSpPr>
        <p:spPr>
          <a:xfrm>
            <a:off x="914400" y="8347621"/>
            <a:ext cx="16459200" cy="614363"/>
          </a:xfrm>
          <a:prstGeom prst="roundRect">
            <a:avLst>
              <a:gd name="adj" fmla="val 18605"/>
            </a:avLst>
          </a:prstGeom>
          <a:solidFill>
            <a:srgbClr val="EEEBFD"/>
          </a:solidFill>
          <a:ln w="14288">
            <a:solidFill>
              <a:srgbClr val="C8C0F8"/>
            </a:solidFill>
            <a:prstDash val="solid"/>
          </a:ln>
          <a:effectLst>
            <a:outerShdw sx="100000" sy="100000" kx="0" ky="0" algn="bl" rotWithShape="0" blurRad="28575" dist="9525" dir="5400000">
              <a:srgbClr val="5B47F0">
                <a:alpha val="6000"/>
              </a:srgbClr>
            </a:outerShdw>
          </a:effectLst>
        </p:spPr>
      </p:sp>
      <p:sp>
        <p:nvSpPr>
          <p:cNvPr id="82" name="Shape 79"/>
          <p:cNvSpPr/>
          <p:nvPr/>
        </p:nvSpPr>
        <p:spPr>
          <a:xfrm>
            <a:off x="1138238" y="8538121"/>
            <a:ext cx="680591" cy="233362"/>
          </a:xfrm>
          <a:prstGeom prst="roundRect">
            <a:avLst>
              <a:gd name="adj" fmla="val 16327"/>
            </a:avLst>
          </a:prstGeom>
          <a:solidFill>
            <a:srgbClr val="5B47F0"/>
          </a:solidFill>
          <a:ln/>
        </p:spPr>
      </p:sp>
      <p:sp>
        <p:nvSpPr>
          <p:cNvPr id="83" name="Text 80"/>
          <p:cNvSpPr/>
          <p:nvPr/>
        </p:nvSpPr>
        <p:spPr>
          <a:xfrm>
            <a:off x="1214438" y="8576221"/>
            <a:ext cx="604391" cy="195263"/>
          </a:xfrm>
          <a:prstGeom prst="rect">
            <a:avLst/>
          </a:prstGeom>
          <a:noFill/>
          <a:ln/>
        </p:spPr>
        <p:txBody>
          <a:bodyPr wrap="square" lIns="25400" tIns="25400" rIns="25400" bIns="25400" rtlCol="0" anchor="t">
            <a:normAutofit/>
          </a:bodyPr>
          <a:lstStyle/>
          <a:p>
            <a:pPr algn="l" indent="0" marL="0">
              <a:lnSpc>
                <a:spcPct val="150000"/>
              </a:lnSpc>
              <a:buNone/>
            </a:pPr>
            <a:r>
              <a:rPr lang="en-US" sz="825" spc="99" kern="0" dirty="0">
                <a:solidFill>
                  <a:srgbClr val="FFFFFF"/>
                </a:solidFill>
                <a:latin typeface="Courier New" pitchFamily="34" charset="0"/>
                <a:ea typeface="Courier New" pitchFamily="34" charset="-122"/>
                <a:cs typeface="Courier New" pitchFamily="34" charset="-120"/>
              </a:rPr>
              <a:t>SHIPPED</a:t>
            </a:r>
            <a:endParaRPr lang="en-US" sz="825" dirty="0"/>
          </a:p>
        </p:txBody>
      </p:sp>
      <p:sp>
        <p:nvSpPr>
          <p:cNvPr id="84" name="Text 81"/>
          <p:cNvSpPr/>
          <p:nvPr/>
        </p:nvSpPr>
        <p:spPr>
          <a:xfrm>
            <a:off x="1952179" y="8561933"/>
            <a:ext cx="4904072" cy="219075"/>
          </a:xfrm>
          <a:prstGeom prst="rect">
            <a:avLst/>
          </a:prstGeom>
          <a:noFill/>
          <a:ln/>
        </p:spPr>
        <p:txBody>
          <a:bodyPr wrap="square" lIns="0" tIns="0" rIns="0" bIns="0" rtlCol="0" anchor="t">
            <a:normAutofit/>
          </a:bodyPr>
          <a:lstStyle/>
          <a:p>
            <a:pPr algn="l" indent="0" marL="0">
              <a:lnSpc>
                <a:spcPct val="150000"/>
              </a:lnSpc>
              <a:buNone/>
            </a:pPr>
            <a:r>
              <a:rPr lang="en-US" sz="1275" dirty="0">
                <a:solidFill>
                  <a:srgbClr val="4231CC"/>
                </a:solidFill>
                <a:latin typeface="Arial" pitchFamily="34" charset="0"/>
                <a:ea typeface="Arial" pitchFamily="34" charset="-122"/>
                <a:cs typeface="Arial" pitchFamily="34" charset="-120"/>
              </a:rPr>
              <a:t>Every tile above is in production today — cross-referenced against</a:t>
            </a:r>
            <a:endParaRPr lang="en-US" sz="1275" dirty="0"/>
          </a:p>
        </p:txBody>
      </p:sp>
      <p:sp>
        <p:nvSpPr>
          <p:cNvPr id="85" name="Text 82"/>
          <p:cNvSpPr/>
          <p:nvPr/>
        </p:nvSpPr>
        <p:spPr>
          <a:xfrm>
            <a:off x="6846763" y="8533358"/>
            <a:ext cx="2505521" cy="280988"/>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4231CC"/>
                </a:solidFill>
                <a:latin typeface="Courier New" pitchFamily="34" charset="0"/>
                <a:ea typeface="Courier New" pitchFamily="34" charset="-122"/>
                <a:cs typeface="Courier New" pitchFamily="34" charset="-120"/>
              </a:rPr>
              <a:t>FIRST_CUSTOMER_RUNBOOK.md</a:t>
            </a:r>
            <a:endParaRPr lang="en-US" sz="1275" dirty="0"/>
          </a:p>
        </p:txBody>
      </p:sp>
      <p:sp>
        <p:nvSpPr>
          <p:cNvPr id="86" name="Text 83"/>
          <p:cNvSpPr/>
          <p:nvPr/>
        </p:nvSpPr>
        <p:spPr>
          <a:xfrm>
            <a:off x="9409435" y="8561933"/>
            <a:ext cx="121221" cy="219075"/>
          </a:xfrm>
          <a:prstGeom prst="rect">
            <a:avLst/>
          </a:prstGeom>
          <a:noFill/>
          <a:ln/>
        </p:spPr>
        <p:txBody>
          <a:bodyPr wrap="square" lIns="0" tIns="0" rIns="0" bIns="0" rtlCol="0" anchor="t">
            <a:normAutofit/>
          </a:bodyPr>
          <a:lstStyle/>
          <a:p>
            <a:pPr algn="l" indent="0" marL="0">
              <a:lnSpc>
                <a:spcPct val="150000"/>
              </a:lnSpc>
              <a:buNone/>
            </a:pPr>
            <a:r>
              <a:rPr lang="en-US" sz="1275" dirty="0">
                <a:solidFill>
                  <a:srgbClr val="4231CC"/>
                </a:solidFill>
                <a:latin typeface="Arial" pitchFamily="34" charset="0"/>
                <a:ea typeface="Arial" pitchFamily="34" charset="-122"/>
                <a:cs typeface="Arial" pitchFamily="34" charset="-120"/>
              </a:rPr>
              <a:t>.</a:t>
            </a:r>
            <a:endParaRPr lang="en-US" sz="1275" dirty="0"/>
          </a:p>
        </p:txBody>
      </p:sp>
      <p:sp>
        <p:nvSpPr>
          <p:cNvPr id="87" name="Shape 84"/>
          <p:cNvSpPr/>
          <p:nvPr/>
        </p:nvSpPr>
        <p:spPr>
          <a:xfrm>
            <a:off x="914400" y="9286875"/>
            <a:ext cx="16459200" cy="9525"/>
          </a:xfrm>
          <a:prstGeom prst="rect">
            <a:avLst/>
          </a:prstGeom>
          <a:solidFill>
            <a:srgbClr val="DDE5EC"/>
          </a:solidFill>
          <a:ln/>
        </p:spPr>
      </p:sp>
      <p:sp>
        <p:nvSpPr>
          <p:cNvPr id="88" name="Text 85"/>
          <p:cNvSpPr/>
          <p:nvPr/>
        </p:nvSpPr>
        <p:spPr>
          <a:xfrm>
            <a:off x="914400" y="9532144"/>
            <a:ext cx="4533256"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113" kern="0" dirty="0">
                <a:solidFill>
                  <a:srgbClr val="6E7785"/>
                </a:solidFill>
                <a:latin typeface="Courier New" pitchFamily="34" charset="0"/>
                <a:ea typeface="Courier New" pitchFamily="34" charset="-122"/>
                <a:cs typeface="Courier New" pitchFamily="34" charset="-120"/>
              </a:rPr>
              <a:t>HATCHIK · INVESTOR &amp; PARTNER DECK · MAY 2026</a:t>
            </a:r>
            <a:endParaRPr lang="en-US" sz="1125" dirty="0"/>
          </a:p>
        </p:txBody>
      </p:sp>
      <p:sp>
        <p:nvSpPr>
          <p:cNvPr id="89" name="Text 86"/>
          <p:cNvSpPr/>
          <p:nvPr/>
        </p:nvSpPr>
        <p:spPr>
          <a:xfrm>
            <a:off x="16690851" y="9525000"/>
            <a:ext cx="758949"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spc="48" kern="0" dirty="0">
                <a:solidFill>
                  <a:srgbClr val="0F1419"/>
                </a:solidFill>
                <a:latin typeface="Courier New" pitchFamily="34" charset="0"/>
                <a:ea typeface="Courier New" pitchFamily="34" charset="-122"/>
                <a:cs typeface="Courier New" pitchFamily="34" charset="-120"/>
              </a:rPr>
              <a:t>06 / 31</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5B47F0">
              <a:alpha val="4000"/>
            </a:srgbClr>
          </a:solidFill>
          <a:ln/>
        </p:spPr>
      </p:sp>
      <p:sp>
        <p:nvSpPr>
          <p:cNvPr id="3" name="Shape 1"/>
          <p:cNvSpPr/>
          <p:nvPr/>
        </p:nvSpPr>
        <p:spPr>
          <a:xfrm>
            <a:off x="914400" y="1009650"/>
            <a:ext cx="16459200" cy="9525"/>
          </a:xfrm>
          <a:prstGeom prst="rect">
            <a:avLst/>
          </a:prstGeom>
          <a:solidFill>
            <a:srgbClr val="DDE5EC"/>
          </a:solidFill>
          <a:ln/>
        </p:spPr>
      </p:sp>
      <p:pic>
        <p:nvPicPr>
          <p:cNvPr id="4" name="Image 0" descr="preencoded.png">    </p:cNvPr>
          <p:cNvPicPr>
            <a:picLocks noChangeAspect="1"/>
          </p:cNvPicPr>
          <p:nvPr/>
        </p:nvPicPr>
        <p:blipFill>
          <a:blip r:embed="rId1"/>
          <a:stretch>
            <a:fillRect/>
          </a:stretch>
        </p:blipFill>
        <p:spPr>
          <a:xfrm>
            <a:off x="914400" y="571500"/>
            <a:ext cx="209550" cy="209550"/>
          </a:xfrm>
          <a:prstGeom prst="rect">
            <a:avLst/>
          </a:prstGeom>
        </p:spPr>
      </p:pic>
      <p:sp>
        <p:nvSpPr>
          <p:cNvPr id="5" name="Text 2"/>
          <p:cNvSpPr/>
          <p:nvPr/>
        </p:nvSpPr>
        <p:spPr>
          <a:xfrm>
            <a:off x="1219200" y="533400"/>
            <a:ext cx="745108"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spc="-37" kern="0" dirty="0">
                <a:solidFill>
                  <a:srgbClr val="0F1419"/>
                </a:solidFill>
                <a:latin typeface="Arial" pitchFamily="34" charset="0"/>
                <a:ea typeface="Arial" pitchFamily="34" charset="-122"/>
                <a:cs typeface="Arial" pitchFamily="34" charset="-120"/>
              </a:rPr>
              <a:t>hatchik</a:t>
            </a:r>
            <a:endParaRPr lang="en-US" sz="1500" dirty="0"/>
          </a:p>
        </p:txBody>
      </p:sp>
      <p:sp>
        <p:nvSpPr>
          <p:cNvPr id="6" name="Text 3"/>
          <p:cNvSpPr/>
          <p:nvPr/>
        </p:nvSpPr>
        <p:spPr>
          <a:xfrm>
            <a:off x="15232038" y="562421"/>
            <a:ext cx="2217762" cy="265733"/>
          </a:xfrm>
          <a:prstGeom prst="rect">
            <a:avLst/>
          </a:prstGeom>
          <a:noFill/>
          <a:ln/>
        </p:spPr>
        <p:txBody>
          <a:bodyPr wrap="square" lIns="25400" tIns="25400" rIns="25400" bIns="25400" rtlCol="0" anchor="t">
            <a:normAutofit/>
          </a:bodyPr>
          <a:lstStyle/>
          <a:p>
            <a:pPr algn="l" indent="0" marL="0">
              <a:lnSpc>
                <a:spcPct val="140000"/>
              </a:lnSpc>
              <a:buNone/>
            </a:pPr>
            <a:r>
              <a:rPr lang="en-US" sz="1200" spc="120" kern="0" dirty="0">
                <a:solidFill>
                  <a:srgbClr val="0F1419"/>
                </a:solidFill>
                <a:latin typeface="Courier New" pitchFamily="34" charset="0"/>
                <a:ea typeface="Courier New" pitchFamily="34" charset="-122"/>
                <a:cs typeface="Courier New" pitchFamily="34" charset="-120"/>
              </a:rPr>
              <a:t>07 </a:t>
            </a:r>
            <a:pPr algn="l" indent="0" marL="0">
              <a:lnSpc>
                <a:spcPct val="140000"/>
              </a:lnSpc>
              <a:buNone/>
            </a:pPr>
            <a:r>
              <a:rPr lang="en-US" sz="1200" spc="120" kern="0" dirty="0">
                <a:solidFill>
                  <a:srgbClr val="5B47F0"/>
                </a:solidFill>
                <a:latin typeface="Courier New" pitchFamily="34" charset="0"/>
                <a:ea typeface="Courier New" pitchFamily="34" charset="-122"/>
                <a:cs typeface="Courier New" pitchFamily="34" charset="-120"/>
              </a:rPr>
              <a:t>· </a:t>
            </a:r>
            <a:pPr algn="l" indent="0" marL="0">
              <a:lnSpc>
                <a:spcPct val="140000"/>
              </a:lnSpc>
              <a:buNone/>
            </a:pPr>
            <a:r>
              <a:rPr lang="en-US" sz="1200" spc="120" kern="0" dirty="0">
                <a:solidFill>
                  <a:srgbClr val="6E7785"/>
                </a:solidFill>
                <a:latin typeface="Courier New" pitchFamily="34" charset="0"/>
                <a:ea typeface="Courier New" pitchFamily="34" charset="-122"/>
                <a:cs typeface="Courier New" pitchFamily="34" charset="-120"/>
              </a:rPr>
              <a:t>PRODUCT SHOWCASE</a:t>
            </a:r>
            <a:endParaRPr lang="en-US" sz="1200" dirty="0"/>
          </a:p>
        </p:txBody>
      </p:sp>
      <p:sp>
        <p:nvSpPr>
          <p:cNvPr id="7" name="Text 4"/>
          <p:cNvSpPr/>
          <p:nvPr/>
        </p:nvSpPr>
        <p:spPr>
          <a:xfrm>
            <a:off x="914400" y="1438275"/>
            <a:ext cx="15893415" cy="533400"/>
          </a:xfrm>
          <a:prstGeom prst="rect">
            <a:avLst/>
          </a:prstGeom>
          <a:noFill/>
          <a:ln/>
        </p:spPr>
        <p:txBody>
          <a:bodyPr wrap="square" lIns="25400" tIns="25400" rIns="25400" bIns="25400" rtlCol="0" anchor="t">
            <a:normAutofit/>
          </a:bodyPr>
          <a:lstStyle/>
          <a:p>
            <a:pPr algn="l" indent="0" marL="0">
              <a:lnSpc>
                <a:spcPct val="100000"/>
              </a:lnSpc>
              <a:buNone/>
            </a:pPr>
            <a:r>
              <a:rPr lang="en-US" sz="3900" b="1" spc="-156" kern="0" dirty="0">
                <a:solidFill>
                  <a:srgbClr val="0F1419"/>
                </a:solidFill>
                <a:latin typeface="Arial" pitchFamily="34" charset="0"/>
                <a:ea typeface="Arial" pitchFamily="34" charset="-122"/>
                <a:cs typeface="Arial" pitchFamily="34" charset="-120"/>
              </a:rPr>
              <a:t>Sign up to deployed. </a:t>
            </a:r>
            <a:pPr algn="l" indent="0" marL="0">
              <a:lnSpc>
                <a:spcPct val="100000"/>
              </a:lnSpc>
              <a:buNone/>
            </a:pPr>
            <a:r>
              <a:rPr lang="en-US" sz="3900" b="1" spc="-156" kern="0" dirty="0">
                <a:solidFill>
                  <a:srgbClr val="5B47F0"/>
                </a:solidFill>
                <a:latin typeface="Arial" pitchFamily="34" charset="0"/>
                <a:ea typeface="Arial" pitchFamily="34" charset="-122"/>
                <a:cs typeface="Arial" pitchFamily="34" charset="-120"/>
              </a:rPr>
              <a:t>Real screens.</a:t>
            </a:r>
            <a:endParaRPr lang="en-US" sz="3900" dirty="0"/>
          </a:p>
        </p:txBody>
      </p:sp>
      <p:sp>
        <p:nvSpPr>
          <p:cNvPr id="8" name="Text 5"/>
          <p:cNvSpPr/>
          <p:nvPr/>
        </p:nvSpPr>
        <p:spPr>
          <a:xfrm>
            <a:off x="914400" y="2200275"/>
            <a:ext cx="12950190"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dirty="0">
                <a:solidFill>
                  <a:srgbClr val="2A3340"/>
                </a:solidFill>
                <a:latin typeface="Arial" pitchFamily="34" charset="0"/>
                <a:ea typeface="Arial" pitchFamily="34" charset="-122"/>
                <a:cs typeface="Arial" pitchFamily="34" charset="-120"/>
              </a:rPr>
              <a:t>Four moments in the customer's first session. Every panel below is a live page on hatchik.com today.</a:t>
            </a:r>
            <a:endParaRPr lang="en-US" sz="1500" dirty="0"/>
          </a:p>
        </p:txBody>
      </p:sp>
      <p:sp>
        <p:nvSpPr>
          <p:cNvPr id="9" name="Shape 6"/>
          <p:cNvSpPr/>
          <p:nvPr/>
        </p:nvSpPr>
        <p:spPr>
          <a:xfrm>
            <a:off x="914400" y="2781300"/>
            <a:ext cx="4000500" cy="2547417"/>
          </a:xfrm>
          <a:prstGeom prst="roundRect">
            <a:avLst>
              <a:gd name="adj" fmla="val 5235"/>
            </a:avLst>
          </a:prstGeom>
          <a:solidFill>
            <a:srgbClr val="FFFFFF"/>
          </a:solidFill>
          <a:ln w="14288">
            <a:solidFill>
              <a:srgbClr val="DDE5EC"/>
            </a:solidFill>
            <a:prstDash val="solid"/>
          </a:ln>
          <a:effectLst>
            <a:outerShdw sx="100000" sy="100000" kx="0" ky="0" algn="bl" rotWithShape="0" blurRad="133350" dist="38100" dir="5400000">
              <a:srgbClr val="0F1419">
                <a:alpha val="6000"/>
              </a:srgbClr>
            </a:outerShdw>
          </a:effectLst>
        </p:spPr>
      </p:sp>
      <p:sp>
        <p:nvSpPr>
          <p:cNvPr id="10" name="Shape 7"/>
          <p:cNvSpPr/>
          <p:nvPr/>
        </p:nvSpPr>
        <p:spPr>
          <a:xfrm>
            <a:off x="928688" y="2795588"/>
            <a:ext cx="3971925" cy="361950"/>
          </a:xfrm>
          <a:prstGeom prst="rect">
            <a:avLst/>
          </a:prstGeom>
          <a:solidFill>
            <a:srgbClr val="E1E8F0"/>
          </a:solidFill>
          <a:ln/>
        </p:spPr>
      </p:sp>
      <p:sp>
        <p:nvSpPr>
          <p:cNvPr id="11" name="Shape 8"/>
          <p:cNvSpPr/>
          <p:nvPr/>
        </p:nvSpPr>
        <p:spPr>
          <a:xfrm>
            <a:off x="928688" y="3148013"/>
            <a:ext cx="3971925" cy="9525"/>
          </a:xfrm>
          <a:prstGeom prst="rect">
            <a:avLst/>
          </a:prstGeom>
          <a:solidFill>
            <a:srgbClr val="DDE5EC"/>
          </a:solidFill>
          <a:ln/>
        </p:spPr>
      </p:sp>
      <p:sp>
        <p:nvSpPr>
          <p:cNvPr id="12" name="Shape 9"/>
          <p:cNvSpPr/>
          <p:nvPr/>
        </p:nvSpPr>
        <p:spPr>
          <a:xfrm>
            <a:off x="1023938" y="2938463"/>
            <a:ext cx="66675" cy="66675"/>
          </a:xfrm>
          <a:prstGeom prst="ellipse">
            <a:avLst/>
          </a:prstGeom>
          <a:solidFill>
            <a:srgbClr val="C5D0DC"/>
          </a:solidFill>
          <a:ln/>
        </p:spPr>
      </p:sp>
      <p:sp>
        <p:nvSpPr>
          <p:cNvPr id="13" name="Shape 10"/>
          <p:cNvSpPr/>
          <p:nvPr/>
        </p:nvSpPr>
        <p:spPr>
          <a:xfrm>
            <a:off x="1166813" y="2938463"/>
            <a:ext cx="66675" cy="66675"/>
          </a:xfrm>
          <a:prstGeom prst="ellipse">
            <a:avLst/>
          </a:prstGeom>
          <a:solidFill>
            <a:srgbClr val="C5D0DC"/>
          </a:solidFill>
          <a:ln/>
        </p:spPr>
      </p:sp>
      <p:sp>
        <p:nvSpPr>
          <p:cNvPr id="14" name="Shape 11"/>
          <p:cNvSpPr/>
          <p:nvPr/>
        </p:nvSpPr>
        <p:spPr>
          <a:xfrm>
            <a:off x="1309688" y="2938463"/>
            <a:ext cx="66675" cy="66675"/>
          </a:xfrm>
          <a:prstGeom prst="ellipse">
            <a:avLst/>
          </a:prstGeom>
          <a:solidFill>
            <a:srgbClr val="C5D0DC"/>
          </a:solidFill>
          <a:ln/>
        </p:spPr>
      </p:sp>
      <p:sp>
        <p:nvSpPr>
          <p:cNvPr id="15" name="Shape 12"/>
          <p:cNvSpPr/>
          <p:nvPr/>
        </p:nvSpPr>
        <p:spPr>
          <a:xfrm>
            <a:off x="1566863" y="2852738"/>
            <a:ext cx="3238500" cy="238125"/>
          </a:xfrm>
          <a:prstGeom prst="roundRect">
            <a:avLst>
              <a:gd name="adj" fmla="val 24000"/>
            </a:avLst>
          </a:prstGeom>
          <a:solidFill>
            <a:srgbClr val="F7FAFC"/>
          </a:solidFill>
          <a:ln w="9525">
            <a:solidFill>
              <a:srgbClr val="DDE5EC"/>
            </a:solidFill>
            <a:prstDash val="solid"/>
          </a:ln>
        </p:spPr>
      </p:sp>
      <p:sp>
        <p:nvSpPr>
          <p:cNvPr id="16" name="Text 13"/>
          <p:cNvSpPr/>
          <p:nvPr/>
        </p:nvSpPr>
        <p:spPr>
          <a:xfrm>
            <a:off x="1604010" y="2900363"/>
            <a:ext cx="3164205" cy="180975"/>
          </a:xfrm>
          <a:prstGeom prst="rect">
            <a:avLst/>
          </a:prstGeom>
          <a:noFill/>
          <a:ln/>
        </p:spPr>
        <p:txBody>
          <a:bodyPr wrap="square" lIns="25400" tIns="25400" rIns="25400" bIns="25400" rtlCol="0" anchor="t">
            <a:normAutofit/>
          </a:bodyPr>
          <a:lstStyle/>
          <a:p>
            <a:pPr algn="ctr" indent="0" marL="0">
              <a:lnSpc>
                <a:spcPct val="150000"/>
              </a:lnSpc>
              <a:buNone/>
            </a:pPr>
            <a:r>
              <a:rPr lang="en-US" sz="750" dirty="0">
                <a:solidFill>
                  <a:srgbClr val="2A3340"/>
                </a:solidFill>
                <a:latin typeface="Courier New" pitchFamily="34" charset="0"/>
                <a:ea typeface="Courier New" pitchFamily="34" charset="-122"/>
                <a:cs typeface="Courier New" pitchFamily="34" charset="-120"/>
              </a:rPr>
              <a:t>hatchik.com/start</a:t>
            </a:r>
            <a:endParaRPr lang="en-US" sz="750" dirty="0"/>
          </a:p>
        </p:txBody>
      </p:sp>
      <p:sp>
        <p:nvSpPr>
          <p:cNvPr id="17" name="Shape 14"/>
          <p:cNvSpPr/>
          <p:nvPr/>
        </p:nvSpPr>
        <p:spPr>
          <a:xfrm>
            <a:off x="928688" y="3157538"/>
            <a:ext cx="3971925" cy="2156892"/>
          </a:xfrm>
          <a:prstGeom prst="rect">
            <a:avLst/>
          </a:prstGeom>
          <a:solidFill>
            <a:srgbClr val="F7FAFC"/>
          </a:solidFill>
          <a:ln/>
        </p:spPr>
      </p:sp>
      <p:sp>
        <p:nvSpPr>
          <p:cNvPr id="18" name="Text 15"/>
          <p:cNvSpPr/>
          <p:nvPr/>
        </p:nvSpPr>
        <p:spPr>
          <a:xfrm>
            <a:off x="1081088" y="3309938"/>
            <a:ext cx="3777139" cy="166688"/>
          </a:xfrm>
          <a:prstGeom prst="rect">
            <a:avLst/>
          </a:prstGeom>
          <a:noFill/>
          <a:ln/>
        </p:spPr>
        <p:txBody>
          <a:bodyPr wrap="square" lIns="25400" tIns="25400" rIns="25400" bIns="25400" rtlCol="0" anchor="t">
            <a:normAutofit/>
          </a:bodyPr>
          <a:lstStyle/>
          <a:p>
            <a:pPr algn="l" indent="0" marL="0">
              <a:lnSpc>
                <a:spcPct val="150000"/>
              </a:lnSpc>
              <a:buNone/>
            </a:pPr>
            <a:r>
              <a:rPr lang="en-US" sz="675" spc="81" kern="0" dirty="0">
                <a:solidFill>
                  <a:srgbClr val="6E7785"/>
                </a:solidFill>
                <a:latin typeface="Courier New" pitchFamily="34" charset="0"/>
                <a:ea typeface="Courier New" pitchFamily="34" charset="-122"/>
                <a:cs typeface="Courier New" pitchFamily="34" charset="-120"/>
              </a:rPr>
              <a:t>WIZARD · STEP 1 / 4</a:t>
            </a:r>
            <a:endParaRPr lang="en-US" sz="675" dirty="0"/>
          </a:p>
        </p:txBody>
      </p:sp>
      <p:sp>
        <p:nvSpPr>
          <p:cNvPr id="19" name="Text 16"/>
          <p:cNvSpPr/>
          <p:nvPr/>
        </p:nvSpPr>
        <p:spPr>
          <a:xfrm>
            <a:off x="1081088" y="3514725"/>
            <a:ext cx="3777139" cy="238125"/>
          </a:xfrm>
          <a:prstGeom prst="rect">
            <a:avLst/>
          </a:prstGeom>
          <a:noFill/>
          <a:ln/>
        </p:spPr>
        <p:txBody>
          <a:bodyPr wrap="square" lIns="25400" tIns="25400" rIns="25400" bIns="25400" rtlCol="0" anchor="t">
            <a:normAutofit/>
          </a:bodyPr>
          <a:lstStyle/>
          <a:p>
            <a:pPr algn="l" indent="0" marL="0">
              <a:lnSpc>
                <a:spcPct val="150000"/>
              </a:lnSpc>
              <a:buNone/>
            </a:pPr>
            <a:r>
              <a:rPr lang="en-US" sz="1050" b="1" spc="-5" kern="0" dirty="0">
                <a:solidFill>
                  <a:srgbClr val="0F1419"/>
                </a:solidFill>
                <a:latin typeface="Arial" pitchFamily="34" charset="0"/>
                <a:ea typeface="Arial" pitchFamily="34" charset="-122"/>
                <a:cs typeface="Arial" pitchFamily="34" charset="-120"/>
              </a:rPr>
              <a:t>What's your idea?</a:t>
            </a:r>
            <a:endParaRPr lang="en-US" sz="1050" dirty="0"/>
          </a:p>
        </p:txBody>
      </p:sp>
      <p:sp>
        <p:nvSpPr>
          <p:cNvPr id="20" name="Shape 17"/>
          <p:cNvSpPr/>
          <p:nvPr/>
        </p:nvSpPr>
        <p:spPr>
          <a:xfrm>
            <a:off x="1081088" y="3810000"/>
            <a:ext cx="3667125" cy="314325"/>
          </a:xfrm>
          <a:prstGeom prst="roundRect">
            <a:avLst>
              <a:gd name="adj" fmla="val 18182"/>
            </a:avLst>
          </a:prstGeom>
          <a:solidFill>
            <a:srgbClr val="EEF2F7"/>
          </a:solidFill>
          <a:ln w="9525">
            <a:solidFill>
              <a:srgbClr val="DDE5EC"/>
            </a:solidFill>
            <a:prstDash val="solid"/>
          </a:ln>
        </p:spPr>
      </p:sp>
      <p:sp>
        <p:nvSpPr>
          <p:cNvPr id="21" name="Text 18"/>
          <p:cNvSpPr/>
          <p:nvPr/>
        </p:nvSpPr>
        <p:spPr>
          <a:xfrm>
            <a:off x="1185863" y="3895725"/>
            <a:ext cx="3567589" cy="180975"/>
          </a:xfrm>
          <a:prstGeom prst="rect">
            <a:avLst/>
          </a:prstGeom>
          <a:noFill/>
          <a:ln/>
        </p:spPr>
        <p:txBody>
          <a:bodyPr wrap="square" lIns="25400" tIns="25400" rIns="25400" bIns="25400" rtlCol="0" anchor="t">
            <a:normAutofit/>
          </a:bodyPr>
          <a:lstStyle/>
          <a:p>
            <a:pPr algn="l" indent="0" marL="0">
              <a:lnSpc>
                <a:spcPct val="150000"/>
              </a:lnSpc>
              <a:buNone/>
            </a:pPr>
            <a:r>
              <a:rPr lang="en-US" sz="750" dirty="0">
                <a:solidFill>
                  <a:srgbClr val="0F1419"/>
                </a:solidFill>
                <a:latin typeface="Courier New" pitchFamily="34" charset="0"/>
                <a:ea typeface="Courier New" pitchFamily="34" charset="-122"/>
                <a:cs typeface="Courier New" pitchFamily="34" charset="-120"/>
              </a:rPr>
              <a:t>A meal-prep app for PT clients</a:t>
            </a:r>
            <a:endParaRPr lang="en-US" sz="750" dirty="0"/>
          </a:p>
        </p:txBody>
      </p:sp>
      <p:sp>
        <p:nvSpPr>
          <p:cNvPr id="22" name="Shape 19"/>
          <p:cNvSpPr/>
          <p:nvPr/>
        </p:nvSpPr>
        <p:spPr>
          <a:xfrm>
            <a:off x="1081088" y="4219575"/>
            <a:ext cx="1804988" cy="461963"/>
          </a:xfrm>
          <a:prstGeom prst="roundRect">
            <a:avLst>
              <a:gd name="adj" fmla="val 12371"/>
            </a:avLst>
          </a:prstGeom>
          <a:ln w="9525">
            <a:solidFill>
              <a:srgbClr val="DDE5EC"/>
            </a:solidFill>
            <a:prstDash val="solid"/>
          </a:ln>
        </p:spPr>
      </p:sp>
      <p:sp>
        <p:nvSpPr>
          <p:cNvPr id="23" name="Text 20"/>
          <p:cNvSpPr/>
          <p:nvPr/>
        </p:nvSpPr>
        <p:spPr>
          <a:xfrm>
            <a:off x="1166813" y="4305300"/>
            <a:ext cx="1709737" cy="166688"/>
          </a:xfrm>
          <a:prstGeom prst="rect">
            <a:avLst/>
          </a:prstGeom>
          <a:noFill/>
          <a:ln/>
        </p:spPr>
        <p:txBody>
          <a:bodyPr wrap="square" lIns="25400" tIns="25400" rIns="25400" bIns="25400" rtlCol="0" anchor="t">
            <a:normAutofit/>
          </a:bodyPr>
          <a:lstStyle/>
          <a:p>
            <a:pPr algn="l" indent="0" marL="0">
              <a:lnSpc>
                <a:spcPct val="150000"/>
              </a:lnSpc>
              <a:buNone/>
            </a:pPr>
            <a:r>
              <a:rPr lang="en-US" sz="675" spc="81" kern="0" dirty="0">
                <a:solidFill>
                  <a:srgbClr val="6E7785"/>
                </a:solidFill>
                <a:latin typeface="Courier New" pitchFamily="34" charset="0"/>
                <a:ea typeface="Courier New" pitchFamily="34" charset="-122"/>
                <a:cs typeface="Courier New" pitchFamily="34" charset="-120"/>
              </a:rPr>
              <a:t>PLAN</a:t>
            </a:r>
            <a:endParaRPr lang="en-US" sz="675" dirty="0"/>
          </a:p>
        </p:txBody>
      </p:sp>
      <p:sp>
        <p:nvSpPr>
          <p:cNvPr id="24" name="Text 21"/>
          <p:cNvSpPr/>
          <p:nvPr/>
        </p:nvSpPr>
        <p:spPr>
          <a:xfrm>
            <a:off x="1166813" y="4452938"/>
            <a:ext cx="1709737" cy="180975"/>
          </a:xfrm>
          <a:prstGeom prst="rect">
            <a:avLst/>
          </a:prstGeom>
          <a:noFill/>
          <a:ln/>
        </p:spPr>
        <p:txBody>
          <a:bodyPr wrap="square" lIns="25400" tIns="25400" rIns="25400" bIns="25400" rtlCol="0" anchor="t">
            <a:normAutofit/>
          </a:bodyPr>
          <a:lstStyle/>
          <a:p>
            <a:pPr algn="l" indent="0" marL="0">
              <a:lnSpc>
                <a:spcPct val="150000"/>
              </a:lnSpc>
              <a:buNone/>
            </a:pPr>
            <a:r>
              <a:rPr lang="en-US" sz="750" dirty="0">
                <a:solidFill>
                  <a:srgbClr val="0F1419"/>
                </a:solidFill>
                <a:latin typeface="Courier New" pitchFamily="34" charset="0"/>
                <a:ea typeface="Courier New" pitchFamily="34" charset="-122"/>
                <a:cs typeface="Courier New" pitchFamily="34" charset="-120"/>
              </a:rPr>
              <a:t>Sandbox</a:t>
            </a:r>
            <a:endParaRPr lang="en-US" sz="750" dirty="0"/>
          </a:p>
        </p:txBody>
      </p:sp>
      <p:sp>
        <p:nvSpPr>
          <p:cNvPr id="25" name="Shape 22"/>
          <p:cNvSpPr/>
          <p:nvPr/>
        </p:nvSpPr>
        <p:spPr>
          <a:xfrm>
            <a:off x="2943225" y="4219575"/>
            <a:ext cx="1804988" cy="461963"/>
          </a:xfrm>
          <a:prstGeom prst="roundRect">
            <a:avLst>
              <a:gd name="adj" fmla="val 12371"/>
            </a:avLst>
          </a:prstGeom>
          <a:solidFill>
            <a:srgbClr val="EEEBFD"/>
          </a:solidFill>
          <a:ln w="19050">
            <a:solidFill>
              <a:srgbClr val="5B47F0"/>
            </a:solidFill>
            <a:prstDash val="solid"/>
          </a:ln>
        </p:spPr>
      </p:sp>
      <p:sp>
        <p:nvSpPr>
          <p:cNvPr id="26" name="Text 23"/>
          <p:cNvSpPr/>
          <p:nvPr/>
        </p:nvSpPr>
        <p:spPr>
          <a:xfrm>
            <a:off x="3028950" y="4305300"/>
            <a:ext cx="1709737" cy="166688"/>
          </a:xfrm>
          <a:prstGeom prst="rect">
            <a:avLst/>
          </a:prstGeom>
          <a:noFill/>
          <a:ln/>
        </p:spPr>
        <p:txBody>
          <a:bodyPr wrap="square" lIns="25400" tIns="25400" rIns="25400" bIns="25400" rtlCol="0" anchor="t">
            <a:normAutofit/>
          </a:bodyPr>
          <a:lstStyle/>
          <a:p>
            <a:pPr algn="l" indent="0" marL="0">
              <a:lnSpc>
                <a:spcPct val="150000"/>
              </a:lnSpc>
              <a:buNone/>
            </a:pPr>
            <a:r>
              <a:rPr lang="en-US" sz="675" spc="81" kern="0" dirty="0">
                <a:solidFill>
                  <a:srgbClr val="5B47F0"/>
                </a:solidFill>
                <a:latin typeface="Courier New" pitchFamily="34" charset="0"/>
                <a:ea typeface="Courier New" pitchFamily="34" charset="-122"/>
                <a:cs typeface="Courier New" pitchFamily="34" charset="-120"/>
              </a:rPr>
              <a:t>PLAN</a:t>
            </a:r>
            <a:endParaRPr lang="en-US" sz="675" dirty="0"/>
          </a:p>
        </p:txBody>
      </p:sp>
      <p:sp>
        <p:nvSpPr>
          <p:cNvPr id="27" name="Text 24"/>
          <p:cNvSpPr/>
          <p:nvPr/>
        </p:nvSpPr>
        <p:spPr>
          <a:xfrm>
            <a:off x="3028950" y="4452938"/>
            <a:ext cx="1709737" cy="180975"/>
          </a:xfrm>
          <a:prstGeom prst="rect">
            <a:avLst/>
          </a:prstGeom>
          <a:noFill/>
          <a:ln/>
        </p:spPr>
        <p:txBody>
          <a:bodyPr wrap="square" lIns="25400" tIns="25400" rIns="25400" bIns="25400" rtlCol="0" anchor="t">
            <a:normAutofit/>
          </a:bodyPr>
          <a:lstStyle/>
          <a:p>
            <a:pPr algn="l" indent="0" marL="0">
              <a:lnSpc>
                <a:spcPct val="150000"/>
              </a:lnSpc>
              <a:buNone/>
            </a:pPr>
            <a:r>
              <a:rPr lang="en-US" sz="750" dirty="0">
                <a:solidFill>
                  <a:srgbClr val="4231CC"/>
                </a:solidFill>
                <a:latin typeface="Courier New" pitchFamily="34" charset="0"/>
                <a:ea typeface="Courier New" pitchFamily="34" charset="-122"/>
                <a:cs typeface="Courier New" pitchFamily="34" charset="-120"/>
              </a:rPr>
              <a:t>£89 Launch</a:t>
            </a:r>
            <a:endParaRPr lang="en-US" sz="750" dirty="0"/>
          </a:p>
        </p:txBody>
      </p:sp>
      <p:sp>
        <p:nvSpPr>
          <p:cNvPr id="28" name="Shape 25"/>
          <p:cNvSpPr/>
          <p:nvPr/>
        </p:nvSpPr>
        <p:spPr>
          <a:xfrm>
            <a:off x="1081088" y="4776788"/>
            <a:ext cx="3667125" cy="290513"/>
          </a:xfrm>
          <a:prstGeom prst="roundRect">
            <a:avLst>
              <a:gd name="adj" fmla="val 50000"/>
            </a:avLst>
          </a:prstGeom>
          <a:solidFill>
            <a:srgbClr val="0F1419"/>
          </a:solidFill>
          <a:ln/>
        </p:spPr>
      </p:sp>
      <p:sp>
        <p:nvSpPr>
          <p:cNvPr id="29" name="Text 26"/>
          <p:cNvSpPr/>
          <p:nvPr/>
        </p:nvSpPr>
        <p:spPr>
          <a:xfrm>
            <a:off x="1140381" y="4843463"/>
            <a:ext cx="3548539" cy="195262"/>
          </a:xfrm>
          <a:prstGeom prst="rect">
            <a:avLst/>
          </a:prstGeom>
          <a:noFill/>
          <a:ln/>
        </p:spPr>
        <p:txBody>
          <a:bodyPr wrap="square" lIns="25400" tIns="25400" rIns="25400" bIns="25400" rtlCol="0" anchor="t">
            <a:normAutofit/>
          </a:bodyPr>
          <a:lstStyle/>
          <a:p>
            <a:pPr algn="ctr" indent="0" marL="0">
              <a:lnSpc>
                <a:spcPct val="150000"/>
              </a:lnSpc>
              <a:buNone/>
            </a:pPr>
            <a:r>
              <a:rPr lang="en-US" sz="825" dirty="0">
                <a:solidFill>
                  <a:srgbClr val="F7FAFC"/>
                </a:solidFill>
                <a:latin typeface="Arial" pitchFamily="34" charset="0"/>
                <a:ea typeface="Arial" pitchFamily="34" charset="-122"/>
                <a:cs typeface="Arial" pitchFamily="34" charset="-120"/>
              </a:rPr>
              <a:t>Start building →</a:t>
            </a:r>
            <a:endParaRPr lang="en-US" sz="825" dirty="0"/>
          </a:p>
        </p:txBody>
      </p:sp>
      <p:sp>
        <p:nvSpPr>
          <p:cNvPr id="30" name="Shape 27"/>
          <p:cNvSpPr/>
          <p:nvPr/>
        </p:nvSpPr>
        <p:spPr>
          <a:xfrm>
            <a:off x="5067300" y="2781300"/>
            <a:ext cx="4000500" cy="2547417"/>
          </a:xfrm>
          <a:prstGeom prst="roundRect">
            <a:avLst>
              <a:gd name="adj" fmla="val 5235"/>
            </a:avLst>
          </a:prstGeom>
          <a:solidFill>
            <a:srgbClr val="FFFFFF"/>
          </a:solidFill>
          <a:ln w="14288">
            <a:solidFill>
              <a:srgbClr val="DDE5EC"/>
            </a:solidFill>
            <a:prstDash val="solid"/>
          </a:ln>
          <a:effectLst>
            <a:outerShdw sx="100000" sy="100000" kx="0" ky="0" algn="bl" rotWithShape="0" blurRad="133350" dist="38100" dir="5400000">
              <a:srgbClr val="0F1419">
                <a:alpha val="6000"/>
              </a:srgbClr>
            </a:outerShdw>
          </a:effectLst>
        </p:spPr>
      </p:sp>
      <p:sp>
        <p:nvSpPr>
          <p:cNvPr id="31" name="Shape 28"/>
          <p:cNvSpPr/>
          <p:nvPr/>
        </p:nvSpPr>
        <p:spPr>
          <a:xfrm>
            <a:off x="5081588" y="2795588"/>
            <a:ext cx="3971925" cy="361950"/>
          </a:xfrm>
          <a:prstGeom prst="rect">
            <a:avLst/>
          </a:prstGeom>
          <a:solidFill>
            <a:srgbClr val="E1E8F0"/>
          </a:solidFill>
          <a:ln/>
        </p:spPr>
      </p:sp>
      <p:sp>
        <p:nvSpPr>
          <p:cNvPr id="32" name="Shape 29"/>
          <p:cNvSpPr/>
          <p:nvPr/>
        </p:nvSpPr>
        <p:spPr>
          <a:xfrm>
            <a:off x="5081588" y="3148013"/>
            <a:ext cx="3971925" cy="9525"/>
          </a:xfrm>
          <a:prstGeom prst="rect">
            <a:avLst/>
          </a:prstGeom>
          <a:solidFill>
            <a:srgbClr val="DDE5EC"/>
          </a:solidFill>
          <a:ln/>
        </p:spPr>
      </p:sp>
      <p:sp>
        <p:nvSpPr>
          <p:cNvPr id="33" name="Shape 30"/>
          <p:cNvSpPr/>
          <p:nvPr/>
        </p:nvSpPr>
        <p:spPr>
          <a:xfrm>
            <a:off x="5176838" y="2938463"/>
            <a:ext cx="66675" cy="66675"/>
          </a:xfrm>
          <a:prstGeom prst="ellipse">
            <a:avLst/>
          </a:prstGeom>
          <a:solidFill>
            <a:srgbClr val="C5D0DC"/>
          </a:solidFill>
          <a:ln/>
        </p:spPr>
      </p:sp>
      <p:sp>
        <p:nvSpPr>
          <p:cNvPr id="34" name="Shape 31"/>
          <p:cNvSpPr/>
          <p:nvPr/>
        </p:nvSpPr>
        <p:spPr>
          <a:xfrm>
            <a:off x="5319713" y="2938463"/>
            <a:ext cx="66675" cy="66675"/>
          </a:xfrm>
          <a:prstGeom prst="ellipse">
            <a:avLst/>
          </a:prstGeom>
          <a:solidFill>
            <a:srgbClr val="C5D0DC"/>
          </a:solidFill>
          <a:ln/>
        </p:spPr>
      </p:sp>
      <p:sp>
        <p:nvSpPr>
          <p:cNvPr id="35" name="Shape 32"/>
          <p:cNvSpPr/>
          <p:nvPr/>
        </p:nvSpPr>
        <p:spPr>
          <a:xfrm>
            <a:off x="5462588" y="2938463"/>
            <a:ext cx="66675" cy="66675"/>
          </a:xfrm>
          <a:prstGeom prst="ellipse">
            <a:avLst/>
          </a:prstGeom>
          <a:solidFill>
            <a:srgbClr val="C5D0DC"/>
          </a:solidFill>
          <a:ln/>
        </p:spPr>
      </p:sp>
      <p:sp>
        <p:nvSpPr>
          <p:cNvPr id="36" name="Shape 33"/>
          <p:cNvSpPr/>
          <p:nvPr/>
        </p:nvSpPr>
        <p:spPr>
          <a:xfrm>
            <a:off x="5719763" y="2852738"/>
            <a:ext cx="3238500" cy="238125"/>
          </a:xfrm>
          <a:prstGeom prst="roundRect">
            <a:avLst>
              <a:gd name="adj" fmla="val 24000"/>
            </a:avLst>
          </a:prstGeom>
          <a:solidFill>
            <a:srgbClr val="F7FAFC"/>
          </a:solidFill>
          <a:ln w="9525">
            <a:solidFill>
              <a:srgbClr val="DDE5EC"/>
            </a:solidFill>
            <a:prstDash val="solid"/>
          </a:ln>
        </p:spPr>
      </p:sp>
      <p:sp>
        <p:nvSpPr>
          <p:cNvPr id="37" name="Text 34"/>
          <p:cNvSpPr/>
          <p:nvPr/>
        </p:nvSpPr>
        <p:spPr>
          <a:xfrm>
            <a:off x="5756910" y="2900363"/>
            <a:ext cx="3164205" cy="180975"/>
          </a:xfrm>
          <a:prstGeom prst="rect">
            <a:avLst/>
          </a:prstGeom>
          <a:noFill/>
          <a:ln/>
        </p:spPr>
        <p:txBody>
          <a:bodyPr wrap="square" lIns="25400" tIns="25400" rIns="25400" bIns="25400" rtlCol="0" anchor="t">
            <a:normAutofit/>
          </a:bodyPr>
          <a:lstStyle/>
          <a:p>
            <a:pPr algn="ctr" indent="0" marL="0">
              <a:lnSpc>
                <a:spcPct val="150000"/>
              </a:lnSpc>
              <a:buNone/>
            </a:pPr>
            <a:r>
              <a:rPr lang="en-US" sz="750" dirty="0">
                <a:solidFill>
                  <a:srgbClr val="2A3340"/>
                </a:solidFill>
                <a:latin typeface="Courier New" pitchFamily="34" charset="0"/>
                <a:ea typeface="Courier New" pitchFamily="34" charset="-122"/>
                <a:cs typeface="Courier New" pitchFamily="34" charset="-120"/>
              </a:rPr>
              <a:t>hatchik.com/install</a:t>
            </a:r>
            <a:endParaRPr lang="en-US" sz="750" dirty="0"/>
          </a:p>
        </p:txBody>
      </p:sp>
      <p:sp>
        <p:nvSpPr>
          <p:cNvPr id="38" name="Shape 35"/>
          <p:cNvSpPr/>
          <p:nvPr/>
        </p:nvSpPr>
        <p:spPr>
          <a:xfrm>
            <a:off x="5081588" y="3157538"/>
            <a:ext cx="3971925" cy="2156892"/>
          </a:xfrm>
          <a:prstGeom prst="rect">
            <a:avLst/>
          </a:prstGeom>
          <a:solidFill>
            <a:srgbClr val="F7FAFC"/>
          </a:solidFill>
          <a:ln/>
        </p:spPr>
      </p:sp>
      <p:sp>
        <p:nvSpPr>
          <p:cNvPr id="39" name="Text 36"/>
          <p:cNvSpPr/>
          <p:nvPr/>
        </p:nvSpPr>
        <p:spPr>
          <a:xfrm>
            <a:off x="5233988" y="3309938"/>
            <a:ext cx="3777139" cy="166688"/>
          </a:xfrm>
          <a:prstGeom prst="rect">
            <a:avLst/>
          </a:prstGeom>
          <a:noFill/>
          <a:ln/>
        </p:spPr>
        <p:txBody>
          <a:bodyPr wrap="square" lIns="25400" tIns="25400" rIns="25400" bIns="25400" rtlCol="0" anchor="t">
            <a:normAutofit/>
          </a:bodyPr>
          <a:lstStyle/>
          <a:p>
            <a:pPr algn="l" indent="0" marL="0">
              <a:lnSpc>
                <a:spcPct val="150000"/>
              </a:lnSpc>
              <a:buNone/>
            </a:pPr>
            <a:r>
              <a:rPr lang="en-US" sz="675" spc="81" kern="0" dirty="0">
                <a:solidFill>
                  <a:srgbClr val="6E7785"/>
                </a:solidFill>
                <a:latin typeface="Courier New" pitchFamily="34" charset="0"/>
                <a:ea typeface="Courier New" pitchFamily="34" charset="-122"/>
                <a:cs typeface="Courier New" pitchFamily="34" charset="-120"/>
              </a:rPr>
              <a:t>WIRE ANY AI TOOL</a:t>
            </a:r>
            <a:endParaRPr lang="en-US" sz="675" dirty="0"/>
          </a:p>
        </p:txBody>
      </p:sp>
      <p:sp>
        <p:nvSpPr>
          <p:cNvPr id="40" name="Shape 37"/>
          <p:cNvSpPr/>
          <p:nvPr/>
        </p:nvSpPr>
        <p:spPr>
          <a:xfrm>
            <a:off x="5233988" y="3514725"/>
            <a:ext cx="3667125" cy="1380604"/>
          </a:xfrm>
          <a:prstGeom prst="roundRect">
            <a:avLst>
              <a:gd name="adj" fmla="val 9659"/>
            </a:avLst>
          </a:prstGeom>
          <a:solidFill>
            <a:srgbClr val="161D2A"/>
          </a:solidFill>
          <a:ln w="14288">
            <a:solidFill>
              <a:srgbClr val="232C3D"/>
            </a:solidFill>
            <a:prstDash val="solid"/>
          </a:ln>
          <a:effectLst>
            <a:outerShdw sx="100000" sy="100000" kx="0" ky="0" algn="bl" rotWithShape="0" blurRad="57150" dist="19050" dir="5400000">
              <a:srgbClr val="000000">
                <a:alpha val="35000"/>
              </a:srgbClr>
            </a:outerShdw>
          </a:effectLst>
        </p:spPr>
      </p:sp>
      <p:sp>
        <p:nvSpPr>
          <p:cNvPr id="41" name="Shape 38"/>
          <p:cNvSpPr/>
          <p:nvPr/>
        </p:nvSpPr>
        <p:spPr>
          <a:xfrm>
            <a:off x="5381625" y="3814242"/>
            <a:ext cx="3371850" cy="9525"/>
          </a:xfrm>
          <a:prstGeom prst="rect">
            <a:avLst/>
          </a:prstGeom>
          <a:solidFill>
            <a:srgbClr val="F7FAFC">
              <a:alpha val="12000"/>
            </a:srgbClr>
          </a:solidFill>
          <a:ln/>
        </p:spPr>
      </p:sp>
      <p:sp>
        <p:nvSpPr>
          <p:cNvPr id="42" name="Text 39"/>
          <p:cNvSpPr/>
          <p:nvPr/>
        </p:nvSpPr>
        <p:spPr>
          <a:xfrm>
            <a:off x="5381625" y="3643313"/>
            <a:ext cx="570086" cy="170929"/>
          </a:xfrm>
          <a:prstGeom prst="rect">
            <a:avLst/>
          </a:prstGeom>
          <a:noFill/>
          <a:ln/>
        </p:spPr>
        <p:txBody>
          <a:bodyPr wrap="square" lIns="25400" tIns="25400" rIns="25400" bIns="25400" rtlCol="0" anchor="t">
            <a:normAutofit/>
          </a:bodyPr>
          <a:lstStyle/>
          <a:p>
            <a:pPr algn="l" indent="0" marL="0">
              <a:lnSpc>
                <a:spcPct val="155000"/>
              </a:lnSpc>
              <a:buNone/>
            </a:pPr>
            <a:r>
              <a:rPr lang="en-US" sz="675" spc="81" kern="0" dirty="0">
                <a:solidFill>
                  <a:srgbClr val="F7FAFC">
                    <a:alpha val="45000"/>
                  </a:srgbClr>
                </a:solidFill>
                <a:latin typeface="Courier New" pitchFamily="34" charset="0"/>
                <a:ea typeface="Courier New" pitchFamily="34" charset="-122"/>
                <a:cs typeface="Courier New" pitchFamily="34" charset="-120"/>
              </a:rPr>
              <a:t>MCP.JSON</a:t>
            </a:r>
            <a:endParaRPr lang="en-US" sz="675" dirty="0"/>
          </a:p>
        </p:txBody>
      </p:sp>
      <p:sp>
        <p:nvSpPr>
          <p:cNvPr id="43" name="Text 40"/>
          <p:cNvSpPr/>
          <p:nvPr/>
        </p:nvSpPr>
        <p:spPr>
          <a:xfrm>
            <a:off x="8321353" y="3643313"/>
            <a:ext cx="508322" cy="170929"/>
          </a:xfrm>
          <a:prstGeom prst="rect">
            <a:avLst/>
          </a:prstGeom>
          <a:noFill/>
          <a:ln/>
        </p:spPr>
        <p:txBody>
          <a:bodyPr wrap="square" lIns="25400" tIns="25400" rIns="25400" bIns="25400" rtlCol="0" anchor="t">
            <a:normAutofit/>
          </a:bodyPr>
          <a:lstStyle/>
          <a:p>
            <a:pPr algn="l" indent="0" marL="0">
              <a:lnSpc>
                <a:spcPct val="155000"/>
              </a:lnSpc>
              <a:buNone/>
            </a:pPr>
            <a:r>
              <a:rPr lang="en-US" sz="675" spc="81" kern="0" dirty="0">
                <a:solidFill>
                  <a:srgbClr val="F7FAFC">
                    <a:alpha val="45000"/>
                  </a:srgbClr>
                </a:solidFill>
                <a:latin typeface="Courier New" pitchFamily="34" charset="0"/>
                <a:ea typeface="Courier New" pitchFamily="34" charset="-122"/>
                <a:cs typeface="Courier New" pitchFamily="34" charset="-120"/>
              </a:rPr>
              <a:t>INSTALL</a:t>
            </a:r>
            <a:endParaRPr lang="en-US" sz="675" dirty="0"/>
          </a:p>
        </p:txBody>
      </p:sp>
      <p:sp>
        <p:nvSpPr>
          <p:cNvPr id="44" name="Text 41"/>
          <p:cNvSpPr/>
          <p:nvPr/>
        </p:nvSpPr>
        <p:spPr>
          <a:xfrm>
            <a:off x="5381625" y="3880917"/>
            <a:ext cx="3473006" cy="185738"/>
          </a:xfrm>
          <a:prstGeom prst="rect">
            <a:avLst/>
          </a:prstGeom>
          <a:noFill/>
          <a:ln/>
        </p:spPr>
        <p:txBody>
          <a:bodyPr wrap="square" lIns="25400" tIns="25400" rIns="25400" bIns="25400" rtlCol="0" anchor="t">
            <a:normAutofit/>
          </a:bodyPr>
          <a:lstStyle/>
          <a:p>
            <a:pPr algn="l" indent="0" marL="0">
              <a:lnSpc>
                <a:spcPct val="155000"/>
              </a:lnSpc>
              <a:buNone/>
            </a:pPr>
            <a:r>
              <a:rPr lang="en-US" sz="750" dirty="0">
                <a:solidFill>
                  <a:srgbClr val="F7FAFC">
                    <a:alpha val="40000"/>
                  </a:srgbClr>
                </a:solidFill>
                <a:latin typeface="Courier New" pitchFamily="34" charset="0"/>
                <a:ea typeface="Courier New" pitchFamily="34" charset="-122"/>
                <a:cs typeface="Courier New" pitchFamily="34" charset="-120"/>
              </a:rPr>
              <a:t>{</a:t>
            </a:r>
            <a:endParaRPr lang="en-US" sz="750" dirty="0"/>
          </a:p>
        </p:txBody>
      </p:sp>
      <p:sp>
        <p:nvSpPr>
          <p:cNvPr id="45" name="Text 42"/>
          <p:cNvSpPr/>
          <p:nvPr/>
        </p:nvSpPr>
        <p:spPr>
          <a:xfrm>
            <a:off x="5476875" y="4028554"/>
            <a:ext cx="3377756" cy="185738"/>
          </a:xfrm>
          <a:prstGeom prst="rect">
            <a:avLst/>
          </a:prstGeom>
          <a:noFill/>
          <a:ln/>
        </p:spPr>
        <p:txBody>
          <a:bodyPr wrap="square" lIns="25400" tIns="25400" rIns="25400" bIns="25400" rtlCol="0" anchor="t">
            <a:normAutofit/>
          </a:bodyPr>
          <a:lstStyle/>
          <a:p>
            <a:pPr algn="l" indent="0" marL="0">
              <a:lnSpc>
                <a:spcPct val="155000"/>
              </a:lnSpc>
              <a:buNone/>
            </a:pPr>
            <a:r>
              <a:rPr lang="en-US" sz="750" dirty="0">
                <a:solidFill>
                  <a:srgbClr val="F59E0B"/>
                </a:solidFill>
                <a:latin typeface="Courier New" pitchFamily="34" charset="0"/>
                <a:ea typeface="Courier New" pitchFamily="34" charset="-122"/>
                <a:cs typeface="Courier New" pitchFamily="34" charset="-120"/>
              </a:rPr>
              <a:t>"hatchik"</a:t>
            </a:r>
            <a:pPr algn="l" indent="0" marL="0">
              <a:lnSpc>
                <a:spcPct val="155000"/>
              </a:lnSpc>
              <a:buNone/>
            </a:pPr>
            <a:r>
              <a:rPr lang="en-US" sz="750" dirty="0">
                <a:solidFill>
                  <a:srgbClr val="F7FAFC"/>
                </a:solidFill>
                <a:latin typeface="Courier New" pitchFamily="34" charset="0"/>
                <a:ea typeface="Courier New" pitchFamily="34" charset="-122"/>
                <a:cs typeface="Courier New" pitchFamily="34" charset="-120"/>
              </a:rPr>
              <a:t>: {</a:t>
            </a:r>
            <a:endParaRPr lang="en-US" sz="750" dirty="0"/>
          </a:p>
        </p:txBody>
      </p:sp>
      <p:sp>
        <p:nvSpPr>
          <p:cNvPr id="46" name="Text 43"/>
          <p:cNvSpPr/>
          <p:nvPr/>
        </p:nvSpPr>
        <p:spPr>
          <a:xfrm>
            <a:off x="5572125" y="4176192"/>
            <a:ext cx="3282506" cy="185738"/>
          </a:xfrm>
          <a:prstGeom prst="rect">
            <a:avLst/>
          </a:prstGeom>
          <a:noFill/>
          <a:ln/>
        </p:spPr>
        <p:txBody>
          <a:bodyPr wrap="square" lIns="25400" tIns="25400" rIns="25400" bIns="25400" rtlCol="0" anchor="t">
            <a:normAutofit/>
          </a:bodyPr>
          <a:lstStyle/>
          <a:p>
            <a:pPr algn="l" indent="0" marL="0">
              <a:lnSpc>
                <a:spcPct val="155000"/>
              </a:lnSpc>
              <a:buNone/>
            </a:pPr>
            <a:r>
              <a:rPr lang="en-US" sz="750" dirty="0">
                <a:solidFill>
                  <a:srgbClr val="F59E0B"/>
                </a:solidFill>
                <a:latin typeface="Courier New" pitchFamily="34" charset="0"/>
                <a:ea typeface="Courier New" pitchFamily="34" charset="-122"/>
                <a:cs typeface="Courier New" pitchFamily="34" charset="-120"/>
              </a:rPr>
              <a:t>"url"</a:t>
            </a:r>
            <a:pPr algn="l" indent="0" marL="0">
              <a:lnSpc>
                <a:spcPct val="155000"/>
              </a:lnSpc>
              <a:buNone/>
            </a:pPr>
            <a:r>
              <a:rPr lang="en-US" sz="750" dirty="0">
                <a:solidFill>
                  <a:srgbClr val="F7FAFC"/>
                </a:solidFill>
                <a:latin typeface="Courier New" pitchFamily="34" charset="0"/>
                <a:ea typeface="Courier New" pitchFamily="34" charset="-122"/>
                <a:cs typeface="Courier New" pitchFamily="34" charset="-120"/>
              </a:rPr>
              <a:t>: </a:t>
            </a:r>
            <a:pPr algn="l" indent="0" marL="0">
              <a:lnSpc>
                <a:spcPct val="155000"/>
              </a:lnSpc>
              <a:buNone/>
            </a:pPr>
            <a:r>
              <a:rPr lang="en-US" sz="750" dirty="0">
                <a:solidFill>
                  <a:srgbClr val="F7FAFC">
                    <a:alpha val="78000"/>
                  </a:srgbClr>
                </a:solidFill>
                <a:latin typeface="Courier New" pitchFamily="34" charset="0"/>
                <a:ea typeface="Courier New" pitchFamily="34" charset="-122"/>
                <a:cs typeface="Courier New" pitchFamily="34" charset="-120"/>
              </a:rPr>
              <a:t>"mcp…"</a:t>
            </a:r>
            <a:pPr algn="l" indent="0" marL="0">
              <a:lnSpc>
                <a:spcPct val="155000"/>
              </a:lnSpc>
              <a:buNone/>
            </a:pPr>
            <a:r>
              <a:rPr lang="en-US" sz="750" dirty="0">
                <a:solidFill>
                  <a:srgbClr val="F7FAFC"/>
                </a:solidFill>
                <a:latin typeface="Courier New" pitchFamily="34" charset="0"/>
                <a:ea typeface="Courier New" pitchFamily="34" charset="-122"/>
                <a:cs typeface="Courier New" pitchFamily="34" charset="-120"/>
              </a:rPr>
              <a:t>,</a:t>
            </a:r>
            <a:endParaRPr lang="en-US" sz="750" dirty="0"/>
          </a:p>
        </p:txBody>
      </p:sp>
      <p:sp>
        <p:nvSpPr>
          <p:cNvPr id="47" name="Text 44"/>
          <p:cNvSpPr/>
          <p:nvPr/>
        </p:nvSpPr>
        <p:spPr>
          <a:xfrm>
            <a:off x="5572125" y="4323829"/>
            <a:ext cx="3282506" cy="185738"/>
          </a:xfrm>
          <a:prstGeom prst="rect">
            <a:avLst/>
          </a:prstGeom>
          <a:noFill/>
          <a:ln/>
        </p:spPr>
        <p:txBody>
          <a:bodyPr wrap="square" lIns="25400" tIns="25400" rIns="25400" bIns="25400" rtlCol="0" anchor="t">
            <a:normAutofit/>
          </a:bodyPr>
          <a:lstStyle/>
          <a:p>
            <a:pPr algn="l" indent="0" marL="0">
              <a:lnSpc>
                <a:spcPct val="155000"/>
              </a:lnSpc>
              <a:buNone/>
            </a:pPr>
            <a:r>
              <a:rPr lang="en-US" sz="750" dirty="0">
                <a:solidFill>
                  <a:srgbClr val="F59E0B"/>
                </a:solidFill>
                <a:latin typeface="Courier New" pitchFamily="34" charset="0"/>
                <a:ea typeface="Courier New" pitchFamily="34" charset="-122"/>
                <a:cs typeface="Courier New" pitchFamily="34" charset="-120"/>
              </a:rPr>
              <a:t>"token"</a:t>
            </a:r>
            <a:pPr algn="l" indent="0" marL="0">
              <a:lnSpc>
                <a:spcPct val="155000"/>
              </a:lnSpc>
              <a:buNone/>
            </a:pPr>
            <a:r>
              <a:rPr lang="en-US" sz="750" dirty="0">
                <a:solidFill>
                  <a:srgbClr val="F7FAFC"/>
                </a:solidFill>
                <a:latin typeface="Courier New" pitchFamily="34" charset="0"/>
                <a:ea typeface="Courier New" pitchFamily="34" charset="-122"/>
                <a:cs typeface="Courier New" pitchFamily="34" charset="-120"/>
              </a:rPr>
              <a:t>: </a:t>
            </a:r>
            <a:pPr algn="l" indent="0" marL="0">
              <a:lnSpc>
                <a:spcPct val="155000"/>
              </a:lnSpc>
              <a:buNone/>
            </a:pPr>
            <a:r>
              <a:rPr lang="en-US" sz="750" dirty="0">
                <a:solidFill>
                  <a:srgbClr val="F7FAFC">
                    <a:alpha val="78000"/>
                  </a:srgbClr>
                </a:solidFill>
                <a:latin typeface="Courier New" pitchFamily="34" charset="0"/>
                <a:ea typeface="Courier New" pitchFamily="34" charset="-122"/>
                <a:cs typeface="Courier New" pitchFamily="34" charset="-120"/>
              </a:rPr>
              <a:t>"hk_•••"</a:t>
            </a:r>
            <a:endParaRPr lang="en-US" sz="750" dirty="0"/>
          </a:p>
        </p:txBody>
      </p:sp>
      <p:sp>
        <p:nvSpPr>
          <p:cNvPr id="48" name="Text 45"/>
          <p:cNvSpPr/>
          <p:nvPr/>
        </p:nvSpPr>
        <p:spPr>
          <a:xfrm>
            <a:off x="5476875" y="4471467"/>
            <a:ext cx="3377756" cy="185738"/>
          </a:xfrm>
          <a:prstGeom prst="rect">
            <a:avLst/>
          </a:prstGeom>
          <a:noFill/>
          <a:ln/>
        </p:spPr>
        <p:txBody>
          <a:bodyPr wrap="square" lIns="25400" tIns="25400" rIns="25400" bIns="25400" rtlCol="0" anchor="t">
            <a:normAutofit/>
          </a:bodyPr>
          <a:lstStyle/>
          <a:p>
            <a:pPr algn="l" indent="0" marL="0">
              <a:lnSpc>
                <a:spcPct val="155000"/>
              </a:lnSpc>
              <a:buNone/>
            </a:pPr>
            <a:r>
              <a:rPr lang="en-US" sz="750" dirty="0">
                <a:solidFill>
                  <a:srgbClr val="F7FAFC"/>
                </a:solidFill>
                <a:latin typeface="Courier New" pitchFamily="34" charset="0"/>
                <a:ea typeface="Courier New" pitchFamily="34" charset="-122"/>
                <a:cs typeface="Courier New" pitchFamily="34" charset="-120"/>
              </a:rPr>
              <a:t>}</a:t>
            </a:r>
            <a:endParaRPr lang="en-US" sz="750" dirty="0"/>
          </a:p>
        </p:txBody>
      </p:sp>
      <p:sp>
        <p:nvSpPr>
          <p:cNvPr id="49" name="Text 46"/>
          <p:cNvSpPr/>
          <p:nvPr/>
        </p:nvSpPr>
        <p:spPr>
          <a:xfrm>
            <a:off x="5381625" y="4619104"/>
            <a:ext cx="3473006" cy="185738"/>
          </a:xfrm>
          <a:prstGeom prst="rect">
            <a:avLst/>
          </a:prstGeom>
          <a:noFill/>
          <a:ln/>
        </p:spPr>
        <p:txBody>
          <a:bodyPr wrap="square" lIns="25400" tIns="25400" rIns="25400" bIns="25400" rtlCol="0" anchor="t">
            <a:normAutofit/>
          </a:bodyPr>
          <a:lstStyle/>
          <a:p>
            <a:pPr algn="l" indent="0" marL="0">
              <a:lnSpc>
                <a:spcPct val="155000"/>
              </a:lnSpc>
              <a:buNone/>
            </a:pPr>
            <a:r>
              <a:rPr lang="en-US" sz="750" dirty="0">
                <a:solidFill>
                  <a:srgbClr val="F7FAFC">
                    <a:alpha val="40000"/>
                  </a:srgbClr>
                </a:solidFill>
                <a:latin typeface="Courier New" pitchFamily="34" charset="0"/>
                <a:ea typeface="Courier New" pitchFamily="34" charset="-122"/>
                <a:cs typeface="Courier New" pitchFamily="34" charset="-120"/>
              </a:rPr>
              <a:t>}</a:t>
            </a:r>
            <a:endParaRPr lang="en-US" sz="750" dirty="0"/>
          </a:p>
        </p:txBody>
      </p:sp>
      <p:sp>
        <p:nvSpPr>
          <p:cNvPr id="50" name="Shape 47"/>
          <p:cNvSpPr/>
          <p:nvPr/>
        </p:nvSpPr>
        <p:spPr>
          <a:xfrm>
            <a:off x="5233988" y="4990579"/>
            <a:ext cx="503039" cy="171450"/>
          </a:xfrm>
          <a:prstGeom prst="roundRect">
            <a:avLst>
              <a:gd name="adj" fmla="val 38889"/>
            </a:avLst>
          </a:prstGeom>
          <a:solidFill>
            <a:srgbClr val="EEEBFD"/>
          </a:solidFill>
          <a:ln w="14288">
            <a:solidFill>
              <a:srgbClr val="C8C0F8"/>
            </a:solidFill>
            <a:prstDash val="solid"/>
          </a:ln>
        </p:spPr>
      </p:sp>
      <p:sp>
        <p:nvSpPr>
          <p:cNvPr id="51" name="Text 48"/>
          <p:cNvSpPr/>
          <p:nvPr/>
        </p:nvSpPr>
        <p:spPr>
          <a:xfrm>
            <a:off x="5305425" y="5033442"/>
            <a:ext cx="436364" cy="123825"/>
          </a:xfrm>
          <a:prstGeom prst="rect">
            <a:avLst/>
          </a:prstGeom>
          <a:noFill/>
          <a:ln/>
        </p:spPr>
        <p:txBody>
          <a:bodyPr wrap="square" lIns="25400" tIns="25400" rIns="25400" bIns="25400" rtlCol="0" anchor="ctr">
            <a:normAutofit/>
          </a:bodyPr>
          <a:lstStyle/>
          <a:p>
            <a:pPr algn="l" indent="0" marL="0">
              <a:lnSpc>
                <a:spcPct val="100000"/>
              </a:lnSpc>
              <a:buNone/>
            </a:pPr>
            <a:r>
              <a:rPr lang="en-US" sz="675" spc="68" kern="0" dirty="0">
                <a:solidFill>
                  <a:srgbClr val="4231CC"/>
                </a:solidFill>
                <a:latin typeface="Courier New" pitchFamily="34" charset="0"/>
                <a:ea typeface="Courier New" pitchFamily="34" charset="-122"/>
                <a:cs typeface="Courier New" pitchFamily="34" charset="-120"/>
              </a:rPr>
              <a:t>CURSOR</a:t>
            </a:r>
            <a:endParaRPr lang="en-US" sz="675" dirty="0"/>
          </a:p>
        </p:txBody>
      </p:sp>
      <p:sp>
        <p:nvSpPr>
          <p:cNvPr id="52" name="Shape 49"/>
          <p:cNvSpPr/>
          <p:nvPr/>
        </p:nvSpPr>
        <p:spPr>
          <a:xfrm>
            <a:off x="5775127" y="4990579"/>
            <a:ext cx="503039" cy="171450"/>
          </a:xfrm>
          <a:prstGeom prst="roundRect">
            <a:avLst>
              <a:gd name="adj" fmla="val 38889"/>
            </a:avLst>
          </a:prstGeom>
          <a:solidFill>
            <a:srgbClr val="EEEBFD"/>
          </a:solidFill>
          <a:ln w="14288">
            <a:solidFill>
              <a:srgbClr val="C8C0F8"/>
            </a:solidFill>
            <a:prstDash val="solid"/>
          </a:ln>
        </p:spPr>
      </p:sp>
      <p:sp>
        <p:nvSpPr>
          <p:cNvPr id="53" name="Text 50"/>
          <p:cNvSpPr/>
          <p:nvPr/>
        </p:nvSpPr>
        <p:spPr>
          <a:xfrm>
            <a:off x="5846564" y="5033442"/>
            <a:ext cx="436364" cy="123825"/>
          </a:xfrm>
          <a:prstGeom prst="rect">
            <a:avLst/>
          </a:prstGeom>
          <a:noFill/>
          <a:ln/>
        </p:spPr>
        <p:txBody>
          <a:bodyPr wrap="square" lIns="25400" tIns="25400" rIns="25400" bIns="25400" rtlCol="0" anchor="ctr">
            <a:normAutofit/>
          </a:bodyPr>
          <a:lstStyle/>
          <a:p>
            <a:pPr algn="l" indent="0" marL="0">
              <a:lnSpc>
                <a:spcPct val="100000"/>
              </a:lnSpc>
              <a:buNone/>
            </a:pPr>
            <a:r>
              <a:rPr lang="en-US" sz="675" spc="68" kern="0" dirty="0">
                <a:solidFill>
                  <a:srgbClr val="4231CC"/>
                </a:solidFill>
                <a:latin typeface="Courier New" pitchFamily="34" charset="0"/>
                <a:ea typeface="Courier New" pitchFamily="34" charset="-122"/>
                <a:cs typeface="Courier New" pitchFamily="34" charset="-120"/>
              </a:rPr>
              <a:t>CLAUDE</a:t>
            </a:r>
            <a:endParaRPr lang="en-US" sz="675" dirty="0"/>
          </a:p>
        </p:txBody>
      </p:sp>
      <p:sp>
        <p:nvSpPr>
          <p:cNvPr id="54" name="Shape 51"/>
          <p:cNvSpPr/>
          <p:nvPr/>
        </p:nvSpPr>
        <p:spPr>
          <a:xfrm>
            <a:off x="6316266" y="4990579"/>
            <a:ext cx="623069" cy="171450"/>
          </a:xfrm>
          <a:prstGeom prst="roundRect">
            <a:avLst>
              <a:gd name="adj" fmla="val 38889"/>
            </a:avLst>
          </a:prstGeom>
          <a:solidFill>
            <a:srgbClr val="EEEBFD"/>
          </a:solidFill>
          <a:ln w="14288">
            <a:solidFill>
              <a:srgbClr val="C8C0F8"/>
            </a:solidFill>
            <a:prstDash val="solid"/>
          </a:ln>
        </p:spPr>
      </p:sp>
      <p:sp>
        <p:nvSpPr>
          <p:cNvPr id="55" name="Text 52"/>
          <p:cNvSpPr/>
          <p:nvPr/>
        </p:nvSpPr>
        <p:spPr>
          <a:xfrm>
            <a:off x="6387703" y="5033442"/>
            <a:ext cx="556394" cy="123825"/>
          </a:xfrm>
          <a:prstGeom prst="rect">
            <a:avLst/>
          </a:prstGeom>
          <a:noFill/>
          <a:ln/>
        </p:spPr>
        <p:txBody>
          <a:bodyPr wrap="square" lIns="25400" tIns="25400" rIns="25400" bIns="25400" rtlCol="0" anchor="ctr">
            <a:normAutofit/>
          </a:bodyPr>
          <a:lstStyle/>
          <a:p>
            <a:pPr algn="l" indent="0" marL="0">
              <a:lnSpc>
                <a:spcPct val="100000"/>
              </a:lnSpc>
              <a:buNone/>
            </a:pPr>
            <a:r>
              <a:rPr lang="en-US" sz="675" spc="68" kern="0" dirty="0">
                <a:solidFill>
                  <a:srgbClr val="4231CC"/>
                </a:solidFill>
                <a:latin typeface="Courier New" pitchFamily="34" charset="0"/>
                <a:ea typeface="Courier New" pitchFamily="34" charset="-122"/>
                <a:cs typeface="Courier New" pitchFamily="34" charset="-120"/>
              </a:rPr>
              <a:t>WINDSURF</a:t>
            </a:r>
            <a:endParaRPr lang="en-US" sz="675" dirty="0"/>
          </a:p>
        </p:txBody>
      </p:sp>
      <p:sp>
        <p:nvSpPr>
          <p:cNvPr id="56" name="Shape 53"/>
          <p:cNvSpPr/>
          <p:nvPr/>
        </p:nvSpPr>
        <p:spPr>
          <a:xfrm>
            <a:off x="6977435" y="4990579"/>
            <a:ext cx="442987" cy="171450"/>
          </a:xfrm>
          <a:prstGeom prst="roundRect">
            <a:avLst>
              <a:gd name="adj" fmla="val 38889"/>
            </a:avLst>
          </a:prstGeom>
          <a:solidFill>
            <a:srgbClr val="EEEBFD"/>
          </a:solidFill>
          <a:ln w="14288">
            <a:solidFill>
              <a:srgbClr val="C8C0F8"/>
            </a:solidFill>
            <a:prstDash val="solid"/>
          </a:ln>
        </p:spPr>
      </p:sp>
      <p:sp>
        <p:nvSpPr>
          <p:cNvPr id="57" name="Text 54"/>
          <p:cNvSpPr/>
          <p:nvPr/>
        </p:nvSpPr>
        <p:spPr>
          <a:xfrm>
            <a:off x="7048872" y="5033442"/>
            <a:ext cx="376312" cy="123825"/>
          </a:xfrm>
          <a:prstGeom prst="rect">
            <a:avLst/>
          </a:prstGeom>
          <a:noFill/>
          <a:ln/>
        </p:spPr>
        <p:txBody>
          <a:bodyPr wrap="square" lIns="25400" tIns="25400" rIns="25400" bIns="25400" rtlCol="0" anchor="ctr">
            <a:normAutofit/>
          </a:bodyPr>
          <a:lstStyle/>
          <a:p>
            <a:pPr algn="l" indent="0" marL="0">
              <a:lnSpc>
                <a:spcPct val="100000"/>
              </a:lnSpc>
              <a:buNone/>
            </a:pPr>
            <a:r>
              <a:rPr lang="en-US" sz="675" spc="68" kern="0" dirty="0">
                <a:solidFill>
                  <a:srgbClr val="4231CC"/>
                </a:solidFill>
                <a:latin typeface="Courier New" pitchFamily="34" charset="0"/>
                <a:ea typeface="Courier New" pitchFamily="34" charset="-122"/>
                <a:cs typeface="Courier New" pitchFamily="34" charset="-120"/>
              </a:rPr>
              <a:t>CLINE</a:t>
            </a:r>
            <a:endParaRPr lang="en-US" sz="675" dirty="0"/>
          </a:p>
        </p:txBody>
      </p:sp>
      <p:sp>
        <p:nvSpPr>
          <p:cNvPr id="58" name="Shape 55"/>
          <p:cNvSpPr/>
          <p:nvPr/>
        </p:nvSpPr>
        <p:spPr>
          <a:xfrm>
            <a:off x="9220200" y="2781300"/>
            <a:ext cx="4000500" cy="2547417"/>
          </a:xfrm>
          <a:prstGeom prst="roundRect">
            <a:avLst>
              <a:gd name="adj" fmla="val 5235"/>
            </a:avLst>
          </a:prstGeom>
          <a:solidFill>
            <a:srgbClr val="FFFFFF"/>
          </a:solidFill>
          <a:ln w="14288">
            <a:solidFill>
              <a:srgbClr val="DDE5EC"/>
            </a:solidFill>
            <a:prstDash val="solid"/>
          </a:ln>
          <a:effectLst>
            <a:outerShdw sx="100000" sy="100000" kx="0" ky="0" algn="bl" rotWithShape="0" blurRad="133350" dist="38100" dir="5400000">
              <a:srgbClr val="0F1419">
                <a:alpha val="6000"/>
              </a:srgbClr>
            </a:outerShdw>
          </a:effectLst>
        </p:spPr>
      </p:sp>
      <p:sp>
        <p:nvSpPr>
          <p:cNvPr id="59" name="Shape 56"/>
          <p:cNvSpPr/>
          <p:nvPr/>
        </p:nvSpPr>
        <p:spPr>
          <a:xfrm>
            <a:off x="9234488" y="2795588"/>
            <a:ext cx="3971925" cy="361950"/>
          </a:xfrm>
          <a:prstGeom prst="rect">
            <a:avLst/>
          </a:prstGeom>
          <a:solidFill>
            <a:srgbClr val="E1E8F0"/>
          </a:solidFill>
          <a:ln/>
        </p:spPr>
      </p:sp>
      <p:sp>
        <p:nvSpPr>
          <p:cNvPr id="60" name="Shape 57"/>
          <p:cNvSpPr/>
          <p:nvPr/>
        </p:nvSpPr>
        <p:spPr>
          <a:xfrm>
            <a:off x="9234488" y="3148013"/>
            <a:ext cx="3971925" cy="9525"/>
          </a:xfrm>
          <a:prstGeom prst="rect">
            <a:avLst/>
          </a:prstGeom>
          <a:solidFill>
            <a:srgbClr val="DDE5EC"/>
          </a:solidFill>
          <a:ln/>
        </p:spPr>
      </p:sp>
      <p:sp>
        <p:nvSpPr>
          <p:cNvPr id="61" name="Shape 58"/>
          <p:cNvSpPr/>
          <p:nvPr/>
        </p:nvSpPr>
        <p:spPr>
          <a:xfrm>
            <a:off x="9329738" y="2938463"/>
            <a:ext cx="66675" cy="66675"/>
          </a:xfrm>
          <a:prstGeom prst="ellipse">
            <a:avLst/>
          </a:prstGeom>
          <a:solidFill>
            <a:srgbClr val="C5D0DC"/>
          </a:solidFill>
          <a:ln/>
        </p:spPr>
      </p:sp>
      <p:sp>
        <p:nvSpPr>
          <p:cNvPr id="62" name="Shape 59"/>
          <p:cNvSpPr/>
          <p:nvPr/>
        </p:nvSpPr>
        <p:spPr>
          <a:xfrm>
            <a:off x="9472613" y="2938463"/>
            <a:ext cx="66675" cy="66675"/>
          </a:xfrm>
          <a:prstGeom prst="ellipse">
            <a:avLst/>
          </a:prstGeom>
          <a:solidFill>
            <a:srgbClr val="C5D0DC"/>
          </a:solidFill>
          <a:ln/>
        </p:spPr>
      </p:sp>
      <p:sp>
        <p:nvSpPr>
          <p:cNvPr id="63" name="Shape 60"/>
          <p:cNvSpPr/>
          <p:nvPr/>
        </p:nvSpPr>
        <p:spPr>
          <a:xfrm>
            <a:off x="9615488" y="2938463"/>
            <a:ext cx="66675" cy="66675"/>
          </a:xfrm>
          <a:prstGeom prst="ellipse">
            <a:avLst/>
          </a:prstGeom>
          <a:solidFill>
            <a:srgbClr val="C5D0DC"/>
          </a:solidFill>
          <a:ln/>
        </p:spPr>
      </p:sp>
      <p:sp>
        <p:nvSpPr>
          <p:cNvPr id="64" name="Shape 61"/>
          <p:cNvSpPr/>
          <p:nvPr/>
        </p:nvSpPr>
        <p:spPr>
          <a:xfrm>
            <a:off x="9872663" y="2852738"/>
            <a:ext cx="3238500" cy="238125"/>
          </a:xfrm>
          <a:prstGeom prst="roundRect">
            <a:avLst>
              <a:gd name="adj" fmla="val 24000"/>
            </a:avLst>
          </a:prstGeom>
          <a:solidFill>
            <a:srgbClr val="F7FAFC"/>
          </a:solidFill>
          <a:ln w="9525">
            <a:solidFill>
              <a:srgbClr val="DDE5EC"/>
            </a:solidFill>
            <a:prstDash val="solid"/>
          </a:ln>
        </p:spPr>
      </p:sp>
      <p:sp>
        <p:nvSpPr>
          <p:cNvPr id="65" name="Text 62"/>
          <p:cNvSpPr/>
          <p:nvPr/>
        </p:nvSpPr>
        <p:spPr>
          <a:xfrm>
            <a:off x="9909810" y="2900363"/>
            <a:ext cx="3164205" cy="180975"/>
          </a:xfrm>
          <a:prstGeom prst="rect">
            <a:avLst/>
          </a:prstGeom>
          <a:noFill/>
          <a:ln/>
        </p:spPr>
        <p:txBody>
          <a:bodyPr wrap="square" lIns="25400" tIns="25400" rIns="25400" bIns="25400" rtlCol="0" anchor="t">
            <a:normAutofit/>
          </a:bodyPr>
          <a:lstStyle/>
          <a:p>
            <a:pPr algn="ctr" indent="0" marL="0">
              <a:lnSpc>
                <a:spcPct val="150000"/>
              </a:lnSpc>
              <a:buNone/>
            </a:pPr>
            <a:r>
              <a:rPr lang="en-US" sz="750" dirty="0">
                <a:solidFill>
                  <a:srgbClr val="2A3340"/>
                </a:solidFill>
                <a:latin typeface="Courier New" pitchFamily="34" charset="0"/>
                <a:ea typeface="Courier New" pitchFamily="34" charset="-122"/>
                <a:cs typeface="Courier New" pitchFamily="34" charset="-120"/>
              </a:rPr>
              <a:t>hatchik.com/account</a:t>
            </a:r>
            <a:endParaRPr lang="en-US" sz="750" dirty="0"/>
          </a:p>
        </p:txBody>
      </p:sp>
      <p:sp>
        <p:nvSpPr>
          <p:cNvPr id="66" name="Shape 63"/>
          <p:cNvSpPr/>
          <p:nvPr/>
        </p:nvSpPr>
        <p:spPr>
          <a:xfrm>
            <a:off x="9234488" y="3157538"/>
            <a:ext cx="3971925" cy="2156892"/>
          </a:xfrm>
          <a:prstGeom prst="rect">
            <a:avLst/>
          </a:prstGeom>
          <a:solidFill>
            <a:srgbClr val="F7FAFC"/>
          </a:solidFill>
          <a:ln/>
        </p:spPr>
      </p:sp>
      <p:sp>
        <p:nvSpPr>
          <p:cNvPr id="67" name="Text 64"/>
          <p:cNvSpPr/>
          <p:nvPr/>
        </p:nvSpPr>
        <p:spPr>
          <a:xfrm>
            <a:off x="9386888" y="3309938"/>
            <a:ext cx="3777139" cy="166688"/>
          </a:xfrm>
          <a:prstGeom prst="rect">
            <a:avLst/>
          </a:prstGeom>
          <a:noFill/>
          <a:ln/>
        </p:spPr>
        <p:txBody>
          <a:bodyPr wrap="square" lIns="25400" tIns="25400" rIns="25400" bIns="25400" rtlCol="0" anchor="t">
            <a:normAutofit/>
          </a:bodyPr>
          <a:lstStyle/>
          <a:p>
            <a:pPr algn="l" indent="0" marL="0">
              <a:lnSpc>
                <a:spcPct val="150000"/>
              </a:lnSpc>
              <a:buNone/>
            </a:pPr>
            <a:r>
              <a:rPr lang="en-US" sz="675" spc="81" kern="0" dirty="0">
                <a:solidFill>
                  <a:srgbClr val="6E7785"/>
                </a:solidFill>
                <a:latin typeface="Courier New" pitchFamily="34" charset="0"/>
                <a:ea typeface="Courier New" pitchFamily="34" charset="-122"/>
                <a:cs typeface="Courier New" pitchFamily="34" charset="-120"/>
              </a:rPr>
              <a:t>YOUR SERVICES</a:t>
            </a:r>
            <a:endParaRPr lang="en-US" sz="675" dirty="0"/>
          </a:p>
        </p:txBody>
      </p:sp>
      <p:sp>
        <p:nvSpPr>
          <p:cNvPr id="68" name="Shape 65"/>
          <p:cNvSpPr/>
          <p:nvPr/>
        </p:nvSpPr>
        <p:spPr>
          <a:xfrm>
            <a:off x="9386888" y="3514725"/>
            <a:ext cx="1804988" cy="609600"/>
          </a:xfrm>
          <a:prstGeom prst="roundRect">
            <a:avLst>
              <a:gd name="adj" fmla="val 9375"/>
            </a:avLst>
          </a:prstGeom>
          <a:solidFill>
            <a:srgbClr val="EEF2F7"/>
          </a:solidFill>
          <a:ln w="9525">
            <a:solidFill>
              <a:srgbClr val="DDE5EC"/>
            </a:solidFill>
            <a:prstDash val="solid"/>
          </a:ln>
        </p:spPr>
      </p:sp>
      <p:sp>
        <p:nvSpPr>
          <p:cNvPr id="69" name="Text 66"/>
          <p:cNvSpPr/>
          <p:nvPr/>
        </p:nvSpPr>
        <p:spPr>
          <a:xfrm>
            <a:off x="9472613" y="3600450"/>
            <a:ext cx="1709737" cy="166688"/>
          </a:xfrm>
          <a:prstGeom prst="rect">
            <a:avLst/>
          </a:prstGeom>
          <a:noFill/>
          <a:ln/>
        </p:spPr>
        <p:txBody>
          <a:bodyPr wrap="square" lIns="25400" tIns="25400" rIns="25400" bIns="25400" rtlCol="0" anchor="t">
            <a:normAutofit/>
          </a:bodyPr>
          <a:lstStyle/>
          <a:p>
            <a:pPr algn="l" indent="0" marL="0">
              <a:lnSpc>
                <a:spcPct val="150000"/>
              </a:lnSpc>
              <a:buNone/>
            </a:pPr>
            <a:r>
              <a:rPr lang="en-US" sz="675" spc="81" kern="0" dirty="0">
                <a:solidFill>
                  <a:srgbClr val="6E7785"/>
                </a:solidFill>
                <a:latin typeface="Courier New" pitchFamily="34" charset="0"/>
                <a:ea typeface="Courier New" pitchFamily="34" charset="-122"/>
                <a:cs typeface="Courier New" pitchFamily="34" charset="-120"/>
              </a:rPr>
              <a:t>DOMAIN</a:t>
            </a:r>
            <a:endParaRPr lang="en-US" sz="675" dirty="0"/>
          </a:p>
        </p:txBody>
      </p:sp>
      <p:sp>
        <p:nvSpPr>
          <p:cNvPr id="70" name="Text 67"/>
          <p:cNvSpPr/>
          <p:nvPr/>
        </p:nvSpPr>
        <p:spPr>
          <a:xfrm>
            <a:off x="9472613" y="3748087"/>
            <a:ext cx="1709737" cy="180975"/>
          </a:xfrm>
          <a:prstGeom prst="rect">
            <a:avLst/>
          </a:prstGeom>
          <a:noFill/>
          <a:ln/>
        </p:spPr>
        <p:txBody>
          <a:bodyPr wrap="square" lIns="25400" tIns="25400" rIns="25400" bIns="25400" rtlCol="0" anchor="t">
            <a:normAutofit/>
          </a:bodyPr>
          <a:lstStyle/>
          <a:p>
            <a:pPr algn="l" indent="0" marL="0">
              <a:lnSpc>
                <a:spcPct val="150000"/>
              </a:lnSpc>
              <a:buNone/>
            </a:pPr>
            <a:r>
              <a:rPr lang="en-US" sz="750" dirty="0">
                <a:solidFill>
                  <a:srgbClr val="0F1419"/>
                </a:solidFill>
                <a:latin typeface="Courier New" pitchFamily="34" charset="0"/>
                <a:ea typeface="Courier New" pitchFamily="34" charset="-122"/>
                <a:cs typeface="Courier New" pitchFamily="34" charset="-120"/>
              </a:rPr>
              <a:t>prepsheet.app</a:t>
            </a:r>
            <a:endParaRPr lang="en-US" sz="750" dirty="0"/>
          </a:p>
        </p:txBody>
      </p:sp>
      <p:sp>
        <p:nvSpPr>
          <p:cNvPr id="71" name="Text 68"/>
          <p:cNvSpPr/>
          <p:nvPr/>
        </p:nvSpPr>
        <p:spPr>
          <a:xfrm>
            <a:off x="9472613" y="3910013"/>
            <a:ext cx="1709737" cy="166688"/>
          </a:xfrm>
          <a:prstGeom prst="rect">
            <a:avLst/>
          </a:prstGeom>
          <a:noFill/>
          <a:ln/>
        </p:spPr>
        <p:txBody>
          <a:bodyPr wrap="square" lIns="25400" tIns="25400" rIns="25400" bIns="25400" rtlCol="0" anchor="t">
            <a:normAutofit/>
          </a:bodyPr>
          <a:lstStyle/>
          <a:p>
            <a:pPr algn="l" indent="0" marL="0">
              <a:lnSpc>
                <a:spcPct val="150000"/>
              </a:lnSpc>
              <a:buNone/>
            </a:pPr>
            <a:r>
              <a:rPr lang="en-US" sz="675" spc="81" kern="0" dirty="0">
                <a:solidFill>
                  <a:srgbClr val="2DB47A"/>
                </a:solidFill>
                <a:latin typeface="Courier New" pitchFamily="34" charset="0"/>
                <a:ea typeface="Courier New" pitchFamily="34" charset="-122"/>
                <a:cs typeface="Courier New" pitchFamily="34" charset="-120"/>
              </a:rPr>
              <a:t>● LIVE</a:t>
            </a:r>
            <a:endParaRPr lang="en-US" sz="675" dirty="0"/>
          </a:p>
        </p:txBody>
      </p:sp>
      <p:sp>
        <p:nvSpPr>
          <p:cNvPr id="72" name="Shape 69"/>
          <p:cNvSpPr/>
          <p:nvPr/>
        </p:nvSpPr>
        <p:spPr>
          <a:xfrm>
            <a:off x="11249025" y="3514725"/>
            <a:ext cx="1804988" cy="609600"/>
          </a:xfrm>
          <a:prstGeom prst="roundRect">
            <a:avLst>
              <a:gd name="adj" fmla="val 9375"/>
            </a:avLst>
          </a:prstGeom>
          <a:solidFill>
            <a:srgbClr val="EEF2F7"/>
          </a:solidFill>
          <a:ln w="9525">
            <a:solidFill>
              <a:srgbClr val="DDE5EC"/>
            </a:solidFill>
            <a:prstDash val="solid"/>
          </a:ln>
        </p:spPr>
      </p:sp>
      <p:sp>
        <p:nvSpPr>
          <p:cNvPr id="73" name="Text 70"/>
          <p:cNvSpPr/>
          <p:nvPr/>
        </p:nvSpPr>
        <p:spPr>
          <a:xfrm>
            <a:off x="11334750" y="3600450"/>
            <a:ext cx="1709737" cy="166688"/>
          </a:xfrm>
          <a:prstGeom prst="rect">
            <a:avLst/>
          </a:prstGeom>
          <a:noFill/>
          <a:ln/>
        </p:spPr>
        <p:txBody>
          <a:bodyPr wrap="square" lIns="25400" tIns="25400" rIns="25400" bIns="25400" rtlCol="0" anchor="t">
            <a:normAutofit/>
          </a:bodyPr>
          <a:lstStyle/>
          <a:p>
            <a:pPr algn="l" indent="0" marL="0">
              <a:lnSpc>
                <a:spcPct val="150000"/>
              </a:lnSpc>
              <a:buNone/>
            </a:pPr>
            <a:r>
              <a:rPr lang="en-US" sz="675" spc="81" kern="0" dirty="0">
                <a:solidFill>
                  <a:srgbClr val="6E7785"/>
                </a:solidFill>
                <a:latin typeface="Courier New" pitchFamily="34" charset="0"/>
                <a:ea typeface="Courier New" pitchFamily="34" charset="-122"/>
                <a:cs typeface="Courier New" pitchFamily="34" charset="-120"/>
              </a:rPr>
              <a:t>REGION</a:t>
            </a:r>
            <a:endParaRPr lang="en-US" sz="675" dirty="0"/>
          </a:p>
        </p:txBody>
      </p:sp>
      <p:sp>
        <p:nvSpPr>
          <p:cNvPr id="74" name="Text 71"/>
          <p:cNvSpPr/>
          <p:nvPr/>
        </p:nvSpPr>
        <p:spPr>
          <a:xfrm>
            <a:off x="11334750" y="3748087"/>
            <a:ext cx="1709737" cy="180975"/>
          </a:xfrm>
          <a:prstGeom prst="rect">
            <a:avLst/>
          </a:prstGeom>
          <a:noFill/>
          <a:ln/>
        </p:spPr>
        <p:txBody>
          <a:bodyPr wrap="square" lIns="25400" tIns="25400" rIns="25400" bIns="25400" rtlCol="0" anchor="t">
            <a:normAutofit/>
          </a:bodyPr>
          <a:lstStyle/>
          <a:p>
            <a:pPr algn="l" indent="0" marL="0">
              <a:lnSpc>
                <a:spcPct val="150000"/>
              </a:lnSpc>
              <a:buNone/>
            </a:pPr>
            <a:r>
              <a:rPr lang="en-US" sz="750" dirty="0">
                <a:solidFill>
                  <a:srgbClr val="0F1419"/>
                </a:solidFill>
                <a:latin typeface="Courier New" pitchFamily="34" charset="0"/>
                <a:ea typeface="Courier New" pitchFamily="34" charset="-122"/>
                <a:cs typeface="Courier New" pitchFamily="34" charset="-120"/>
              </a:rPr>
              <a:t>🇩🇪 Frankfurt</a:t>
            </a:r>
            <a:endParaRPr lang="en-US" sz="750" dirty="0"/>
          </a:p>
        </p:txBody>
      </p:sp>
      <p:sp>
        <p:nvSpPr>
          <p:cNvPr id="75" name="Text 72"/>
          <p:cNvSpPr/>
          <p:nvPr/>
        </p:nvSpPr>
        <p:spPr>
          <a:xfrm>
            <a:off x="11334750" y="3910013"/>
            <a:ext cx="1709737" cy="166688"/>
          </a:xfrm>
          <a:prstGeom prst="rect">
            <a:avLst/>
          </a:prstGeom>
          <a:noFill/>
          <a:ln/>
        </p:spPr>
        <p:txBody>
          <a:bodyPr wrap="square" lIns="25400" tIns="25400" rIns="25400" bIns="25400" rtlCol="0" anchor="t">
            <a:normAutofit/>
          </a:bodyPr>
          <a:lstStyle/>
          <a:p>
            <a:pPr algn="l" indent="0" marL="0">
              <a:lnSpc>
                <a:spcPct val="150000"/>
              </a:lnSpc>
              <a:buNone/>
            </a:pPr>
            <a:r>
              <a:rPr lang="en-US" sz="675" spc="81" kern="0" dirty="0">
                <a:solidFill>
                  <a:srgbClr val="2DB47A"/>
                </a:solidFill>
                <a:latin typeface="Courier New" pitchFamily="34" charset="0"/>
                <a:ea typeface="Courier New" pitchFamily="34" charset="-122"/>
                <a:cs typeface="Courier New" pitchFamily="34" charset="-120"/>
              </a:rPr>
              <a:t>● HEALTHY</a:t>
            </a:r>
            <a:endParaRPr lang="en-US" sz="675" dirty="0"/>
          </a:p>
        </p:txBody>
      </p:sp>
      <p:sp>
        <p:nvSpPr>
          <p:cNvPr id="76" name="Shape 73"/>
          <p:cNvSpPr/>
          <p:nvPr/>
        </p:nvSpPr>
        <p:spPr>
          <a:xfrm>
            <a:off x="9386888" y="4181475"/>
            <a:ext cx="1804988" cy="609600"/>
          </a:xfrm>
          <a:prstGeom prst="roundRect">
            <a:avLst>
              <a:gd name="adj" fmla="val 9375"/>
            </a:avLst>
          </a:prstGeom>
          <a:solidFill>
            <a:srgbClr val="EEF2F7"/>
          </a:solidFill>
          <a:ln w="9525">
            <a:solidFill>
              <a:srgbClr val="DDE5EC"/>
            </a:solidFill>
            <a:prstDash val="solid"/>
          </a:ln>
        </p:spPr>
      </p:sp>
      <p:sp>
        <p:nvSpPr>
          <p:cNvPr id="77" name="Text 74"/>
          <p:cNvSpPr/>
          <p:nvPr/>
        </p:nvSpPr>
        <p:spPr>
          <a:xfrm>
            <a:off x="9472613" y="4267200"/>
            <a:ext cx="1709737" cy="166688"/>
          </a:xfrm>
          <a:prstGeom prst="rect">
            <a:avLst/>
          </a:prstGeom>
          <a:noFill/>
          <a:ln/>
        </p:spPr>
        <p:txBody>
          <a:bodyPr wrap="square" lIns="25400" tIns="25400" rIns="25400" bIns="25400" rtlCol="0" anchor="t">
            <a:normAutofit/>
          </a:bodyPr>
          <a:lstStyle/>
          <a:p>
            <a:pPr algn="l" indent="0" marL="0">
              <a:lnSpc>
                <a:spcPct val="150000"/>
              </a:lnSpc>
              <a:buNone/>
            </a:pPr>
            <a:r>
              <a:rPr lang="en-US" sz="675" spc="81" kern="0" dirty="0">
                <a:solidFill>
                  <a:srgbClr val="6E7785"/>
                </a:solidFill>
                <a:latin typeface="Courier New" pitchFamily="34" charset="0"/>
                <a:ea typeface="Courier New" pitchFamily="34" charset="-122"/>
                <a:cs typeface="Courier New" pitchFamily="34" charset="-120"/>
              </a:rPr>
              <a:t>MAILBOXES</a:t>
            </a:r>
            <a:endParaRPr lang="en-US" sz="675" dirty="0"/>
          </a:p>
        </p:txBody>
      </p:sp>
      <p:sp>
        <p:nvSpPr>
          <p:cNvPr id="78" name="Text 75"/>
          <p:cNvSpPr/>
          <p:nvPr/>
        </p:nvSpPr>
        <p:spPr>
          <a:xfrm>
            <a:off x="9472613" y="4414838"/>
            <a:ext cx="1709737" cy="180975"/>
          </a:xfrm>
          <a:prstGeom prst="rect">
            <a:avLst/>
          </a:prstGeom>
          <a:noFill/>
          <a:ln/>
        </p:spPr>
        <p:txBody>
          <a:bodyPr wrap="square" lIns="25400" tIns="25400" rIns="25400" bIns="25400" rtlCol="0" anchor="t">
            <a:normAutofit/>
          </a:bodyPr>
          <a:lstStyle/>
          <a:p>
            <a:pPr algn="l" indent="0" marL="0">
              <a:lnSpc>
                <a:spcPct val="150000"/>
              </a:lnSpc>
              <a:buNone/>
            </a:pPr>
            <a:r>
              <a:rPr lang="en-US" sz="750" dirty="0">
                <a:solidFill>
                  <a:srgbClr val="0F1419"/>
                </a:solidFill>
                <a:latin typeface="Courier New" pitchFamily="34" charset="0"/>
                <a:ea typeface="Courier New" pitchFamily="34" charset="-122"/>
                <a:cs typeface="Courier New" pitchFamily="34" charset="-120"/>
              </a:rPr>
              <a:t>5 of 5 wired</a:t>
            </a:r>
            <a:endParaRPr lang="en-US" sz="750" dirty="0"/>
          </a:p>
        </p:txBody>
      </p:sp>
      <p:sp>
        <p:nvSpPr>
          <p:cNvPr id="79" name="Text 76"/>
          <p:cNvSpPr/>
          <p:nvPr/>
        </p:nvSpPr>
        <p:spPr>
          <a:xfrm>
            <a:off x="9472613" y="4576763"/>
            <a:ext cx="1709737" cy="166688"/>
          </a:xfrm>
          <a:prstGeom prst="rect">
            <a:avLst/>
          </a:prstGeom>
          <a:noFill/>
          <a:ln/>
        </p:spPr>
        <p:txBody>
          <a:bodyPr wrap="square" lIns="25400" tIns="25400" rIns="25400" bIns="25400" rtlCol="0" anchor="t">
            <a:normAutofit/>
          </a:bodyPr>
          <a:lstStyle/>
          <a:p>
            <a:pPr algn="l" indent="0" marL="0">
              <a:lnSpc>
                <a:spcPct val="150000"/>
              </a:lnSpc>
              <a:buNone/>
            </a:pPr>
            <a:r>
              <a:rPr lang="en-US" sz="675" spc="81" kern="0" dirty="0">
                <a:solidFill>
                  <a:srgbClr val="2DB47A"/>
                </a:solidFill>
                <a:latin typeface="Courier New" pitchFamily="34" charset="0"/>
                <a:ea typeface="Courier New" pitchFamily="34" charset="-122"/>
                <a:cs typeface="Courier New" pitchFamily="34" charset="-120"/>
              </a:rPr>
              <a:t>● DMARC OK</a:t>
            </a:r>
            <a:endParaRPr lang="en-US" sz="675" dirty="0"/>
          </a:p>
        </p:txBody>
      </p:sp>
      <p:sp>
        <p:nvSpPr>
          <p:cNvPr id="80" name="Shape 77"/>
          <p:cNvSpPr/>
          <p:nvPr/>
        </p:nvSpPr>
        <p:spPr>
          <a:xfrm>
            <a:off x="11249025" y="4181475"/>
            <a:ext cx="1804988" cy="609600"/>
          </a:xfrm>
          <a:prstGeom prst="roundRect">
            <a:avLst>
              <a:gd name="adj" fmla="val 9375"/>
            </a:avLst>
          </a:prstGeom>
          <a:solidFill>
            <a:srgbClr val="EEF2F7"/>
          </a:solidFill>
          <a:ln w="9525">
            <a:solidFill>
              <a:srgbClr val="DDE5EC"/>
            </a:solidFill>
            <a:prstDash val="solid"/>
          </a:ln>
        </p:spPr>
      </p:sp>
      <p:sp>
        <p:nvSpPr>
          <p:cNvPr id="81" name="Text 78"/>
          <p:cNvSpPr/>
          <p:nvPr/>
        </p:nvSpPr>
        <p:spPr>
          <a:xfrm>
            <a:off x="11334750" y="4267200"/>
            <a:ext cx="1709737" cy="166688"/>
          </a:xfrm>
          <a:prstGeom prst="rect">
            <a:avLst/>
          </a:prstGeom>
          <a:noFill/>
          <a:ln/>
        </p:spPr>
        <p:txBody>
          <a:bodyPr wrap="square" lIns="25400" tIns="25400" rIns="25400" bIns="25400" rtlCol="0" anchor="t">
            <a:normAutofit/>
          </a:bodyPr>
          <a:lstStyle/>
          <a:p>
            <a:pPr algn="l" indent="0" marL="0">
              <a:lnSpc>
                <a:spcPct val="150000"/>
              </a:lnSpc>
              <a:buNone/>
            </a:pPr>
            <a:r>
              <a:rPr lang="en-US" sz="675" spc="81" kern="0" dirty="0">
                <a:solidFill>
                  <a:srgbClr val="6E7785"/>
                </a:solidFill>
                <a:latin typeface="Courier New" pitchFamily="34" charset="0"/>
                <a:ea typeface="Courier New" pitchFamily="34" charset="-122"/>
                <a:cs typeface="Courier New" pitchFamily="34" charset="-120"/>
              </a:rPr>
              <a:t>DEPLOY URL</a:t>
            </a:r>
            <a:endParaRPr lang="en-US" sz="675" dirty="0"/>
          </a:p>
        </p:txBody>
      </p:sp>
      <p:sp>
        <p:nvSpPr>
          <p:cNvPr id="82" name="Text 79"/>
          <p:cNvSpPr/>
          <p:nvPr/>
        </p:nvSpPr>
        <p:spPr>
          <a:xfrm>
            <a:off x="11334750" y="4414838"/>
            <a:ext cx="1709737" cy="180975"/>
          </a:xfrm>
          <a:prstGeom prst="rect">
            <a:avLst/>
          </a:prstGeom>
          <a:noFill/>
          <a:ln/>
        </p:spPr>
        <p:txBody>
          <a:bodyPr wrap="square" lIns="25400" tIns="25400" rIns="25400" bIns="25400" rtlCol="0" anchor="t">
            <a:normAutofit/>
          </a:bodyPr>
          <a:lstStyle/>
          <a:p>
            <a:pPr algn="l" indent="0" marL="0">
              <a:lnSpc>
                <a:spcPct val="150000"/>
              </a:lnSpc>
              <a:buNone/>
            </a:pPr>
            <a:r>
              <a:rPr lang="en-US" sz="750" dirty="0">
                <a:solidFill>
                  <a:srgbClr val="0F1419"/>
                </a:solidFill>
                <a:latin typeface="Courier New" pitchFamily="34" charset="0"/>
                <a:ea typeface="Courier New" pitchFamily="34" charset="-122"/>
                <a:cs typeface="Courier New" pitchFamily="34" charset="-120"/>
              </a:rPr>
              <a:t>hk-deploy://•••</a:t>
            </a:r>
            <a:endParaRPr lang="en-US" sz="750" dirty="0"/>
          </a:p>
        </p:txBody>
      </p:sp>
      <p:sp>
        <p:nvSpPr>
          <p:cNvPr id="83" name="Text 80"/>
          <p:cNvSpPr/>
          <p:nvPr/>
        </p:nvSpPr>
        <p:spPr>
          <a:xfrm>
            <a:off x="11334750" y="4576763"/>
            <a:ext cx="1709737" cy="166688"/>
          </a:xfrm>
          <a:prstGeom prst="rect">
            <a:avLst/>
          </a:prstGeom>
          <a:noFill/>
          <a:ln/>
        </p:spPr>
        <p:txBody>
          <a:bodyPr wrap="square" lIns="25400" tIns="25400" rIns="25400" bIns="25400" rtlCol="0" anchor="t">
            <a:normAutofit/>
          </a:bodyPr>
          <a:lstStyle/>
          <a:p>
            <a:pPr algn="l" indent="0" marL="0">
              <a:lnSpc>
                <a:spcPct val="150000"/>
              </a:lnSpc>
              <a:buNone/>
            </a:pPr>
            <a:r>
              <a:rPr lang="en-US" sz="675" spc="81" kern="0" dirty="0">
                <a:solidFill>
                  <a:srgbClr val="5B47F0"/>
                </a:solidFill>
                <a:latin typeface="Courier New" pitchFamily="34" charset="0"/>
                <a:ea typeface="Courier New" pitchFamily="34" charset="-122"/>
                <a:cs typeface="Courier New" pitchFamily="34" charset="-120"/>
              </a:rPr>
              <a:t>● AI READY</a:t>
            </a:r>
            <a:endParaRPr lang="en-US" sz="675" dirty="0"/>
          </a:p>
        </p:txBody>
      </p:sp>
      <p:sp>
        <p:nvSpPr>
          <p:cNvPr id="84" name="Shape 81"/>
          <p:cNvSpPr/>
          <p:nvPr/>
        </p:nvSpPr>
        <p:spPr>
          <a:xfrm>
            <a:off x="13373100" y="2781300"/>
            <a:ext cx="4000500" cy="2547417"/>
          </a:xfrm>
          <a:prstGeom prst="roundRect">
            <a:avLst>
              <a:gd name="adj" fmla="val 5235"/>
            </a:avLst>
          </a:prstGeom>
          <a:solidFill>
            <a:srgbClr val="FFFFFF"/>
          </a:solidFill>
          <a:ln w="14288">
            <a:solidFill>
              <a:srgbClr val="DDE5EC"/>
            </a:solidFill>
            <a:prstDash val="solid"/>
          </a:ln>
          <a:effectLst>
            <a:outerShdw sx="100000" sy="100000" kx="0" ky="0" algn="bl" rotWithShape="0" blurRad="133350" dist="38100" dir="5400000">
              <a:srgbClr val="0F1419">
                <a:alpha val="6000"/>
              </a:srgbClr>
            </a:outerShdw>
          </a:effectLst>
        </p:spPr>
      </p:sp>
      <p:sp>
        <p:nvSpPr>
          <p:cNvPr id="85" name="Shape 82"/>
          <p:cNvSpPr/>
          <p:nvPr/>
        </p:nvSpPr>
        <p:spPr>
          <a:xfrm>
            <a:off x="13387388" y="2795588"/>
            <a:ext cx="3971925" cy="361950"/>
          </a:xfrm>
          <a:prstGeom prst="rect">
            <a:avLst/>
          </a:prstGeom>
          <a:solidFill>
            <a:srgbClr val="E1E8F0"/>
          </a:solidFill>
          <a:ln/>
        </p:spPr>
      </p:sp>
      <p:sp>
        <p:nvSpPr>
          <p:cNvPr id="86" name="Shape 83"/>
          <p:cNvSpPr/>
          <p:nvPr/>
        </p:nvSpPr>
        <p:spPr>
          <a:xfrm>
            <a:off x="13387388" y="3148013"/>
            <a:ext cx="3971925" cy="9525"/>
          </a:xfrm>
          <a:prstGeom prst="rect">
            <a:avLst/>
          </a:prstGeom>
          <a:solidFill>
            <a:srgbClr val="DDE5EC"/>
          </a:solidFill>
          <a:ln/>
        </p:spPr>
      </p:sp>
      <p:sp>
        <p:nvSpPr>
          <p:cNvPr id="87" name="Shape 84"/>
          <p:cNvSpPr/>
          <p:nvPr/>
        </p:nvSpPr>
        <p:spPr>
          <a:xfrm>
            <a:off x="13482638" y="2938463"/>
            <a:ext cx="66675" cy="66675"/>
          </a:xfrm>
          <a:prstGeom prst="ellipse">
            <a:avLst/>
          </a:prstGeom>
          <a:solidFill>
            <a:srgbClr val="C5D0DC"/>
          </a:solidFill>
          <a:ln/>
        </p:spPr>
      </p:sp>
      <p:sp>
        <p:nvSpPr>
          <p:cNvPr id="88" name="Shape 85"/>
          <p:cNvSpPr/>
          <p:nvPr/>
        </p:nvSpPr>
        <p:spPr>
          <a:xfrm>
            <a:off x="13625513" y="2938463"/>
            <a:ext cx="66675" cy="66675"/>
          </a:xfrm>
          <a:prstGeom prst="ellipse">
            <a:avLst/>
          </a:prstGeom>
          <a:solidFill>
            <a:srgbClr val="C5D0DC"/>
          </a:solidFill>
          <a:ln/>
        </p:spPr>
      </p:sp>
      <p:sp>
        <p:nvSpPr>
          <p:cNvPr id="89" name="Shape 86"/>
          <p:cNvSpPr/>
          <p:nvPr/>
        </p:nvSpPr>
        <p:spPr>
          <a:xfrm>
            <a:off x="13768388" y="2938463"/>
            <a:ext cx="66675" cy="66675"/>
          </a:xfrm>
          <a:prstGeom prst="ellipse">
            <a:avLst/>
          </a:prstGeom>
          <a:solidFill>
            <a:srgbClr val="C5D0DC"/>
          </a:solidFill>
          <a:ln/>
        </p:spPr>
      </p:sp>
      <p:sp>
        <p:nvSpPr>
          <p:cNvPr id="90" name="Shape 87"/>
          <p:cNvSpPr/>
          <p:nvPr/>
        </p:nvSpPr>
        <p:spPr>
          <a:xfrm>
            <a:off x="14025563" y="2852738"/>
            <a:ext cx="3238500" cy="238125"/>
          </a:xfrm>
          <a:prstGeom prst="roundRect">
            <a:avLst>
              <a:gd name="adj" fmla="val 24000"/>
            </a:avLst>
          </a:prstGeom>
          <a:solidFill>
            <a:srgbClr val="F7FAFC"/>
          </a:solidFill>
          <a:ln w="9525">
            <a:solidFill>
              <a:srgbClr val="DDE5EC"/>
            </a:solidFill>
            <a:prstDash val="solid"/>
          </a:ln>
        </p:spPr>
      </p:sp>
      <p:sp>
        <p:nvSpPr>
          <p:cNvPr id="91" name="Text 88"/>
          <p:cNvSpPr/>
          <p:nvPr/>
        </p:nvSpPr>
        <p:spPr>
          <a:xfrm>
            <a:off x="14062710" y="2900363"/>
            <a:ext cx="3164205" cy="180975"/>
          </a:xfrm>
          <a:prstGeom prst="rect">
            <a:avLst/>
          </a:prstGeom>
          <a:noFill/>
          <a:ln/>
        </p:spPr>
        <p:txBody>
          <a:bodyPr wrap="square" lIns="25400" tIns="25400" rIns="25400" bIns="25400" rtlCol="0" anchor="t">
            <a:normAutofit/>
          </a:bodyPr>
          <a:lstStyle/>
          <a:p>
            <a:pPr algn="ctr" indent="0" marL="0">
              <a:lnSpc>
                <a:spcPct val="150000"/>
              </a:lnSpc>
              <a:buNone/>
            </a:pPr>
            <a:r>
              <a:rPr lang="en-US" sz="750" dirty="0">
                <a:solidFill>
                  <a:srgbClr val="2A3340"/>
                </a:solidFill>
                <a:latin typeface="Courier New" pitchFamily="34" charset="0"/>
                <a:ea typeface="Courier New" pitchFamily="34" charset="-122"/>
                <a:cs typeface="Courier New" pitchFamily="34" charset="-120"/>
              </a:rPr>
              <a:t>slug.hatchik.com/docs</a:t>
            </a:r>
            <a:endParaRPr lang="en-US" sz="750" dirty="0"/>
          </a:p>
        </p:txBody>
      </p:sp>
      <p:sp>
        <p:nvSpPr>
          <p:cNvPr id="92" name="Shape 89"/>
          <p:cNvSpPr/>
          <p:nvPr/>
        </p:nvSpPr>
        <p:spPr>
          <a:xfrm>
            <a:off x="13387388" y="3157538"/>
            <a:ext cx="3971925" cy="2156892"/>
          </a:xfrm>
          <a:prstGeom prst="rect">
            <a:avLst/>
          </a:prstGeom>
          <a:solidFill>
            <a:srgbClr val="F7FAFC"/>
          </a:solidFill>
          <a:ln/>
        </p:spPr>
      </p:sp>
      <p:sp>
        <p:nvSpPr>
          <p:cNvPr id="93" name="Text 90"/>
          <p:cNvSpPr/>
          <p:nvPr/>
        </p:nvSpPr>
        <p:spPr>
          <a:xfrm>
            <a:off x="13539788" y="3309938"/>
            <a:ext cx="3777139" cy="166688"/>
          </a:xfrm>
          <a:prstGeom prst="rect">
            <a:avLst/>
          </a:prstGeom>
          <a:noFill/>
          <a:ln/>
        </p:spPr>
        <p:txBody>
          <a:bodyPr wrap="square" lIns="25400" tIns="25400" rIns="25400" bIns="25400" rtlCol="0" anchor="t">
            <a:normAutofit/>
          </a:bodyPr>
          <a:lstStyle/>
          <a:p>
            <a:pPr algn="l" indent="0" marL="0">
              <a:lnSpc>
                <a:spcPct val="150000"/>
              </a:lnSpc>
              <a:buNone/>
            </a:pPr>
            <a:r>
              <a:rPr lang="en-US" sz="675" spc="81" kern="0" dirty="0">
                <a:solidFill>
                  <a:srgbClr val="6E7785"/>
                </a:solidFill>
                <a:latin typeface="Courier New" pitchFamily="34" charset="0"/>
                <a:ea typeface="Courier New" pitchFamily="34" charset="-122"/>
                <a:cs typeface="Courier New" pitchFamily="34" charset="-120"/>
              </a:rPr>
              <a:t>PER-TENANT · READ BY AI</a:t>
            </a:r>
            <a:endParaRPr lang="en-US" sz="675" dirty="0"/>
          </a:p>
        </p:txBody>
      </p:sp>
      <p:sp>
        <p:nvSpPr>
          <p:cNvPr id="94" name="Shape 91"/>
          <p:cNvSpPr/>
          <p:nvPr/>
        </p:nvSpPr>
        <p:spPr>
          <a:xfrm>
            <a:off x="13539788" y="3514725"/>
            <a:ext cx="3667125" cy="219075"/>
          </a:xfrm>
          <a:prstGeom prst="roundRect">
            <a:avLst>
              <a:gd name="adj" fmla="val 17391"/>
            </a:avLst>
          </a:prstGeom>
          <a:solidFill>
            <a:srgbClr val="EEEBFD"/>
          </a:solidFill>
          <a:ln/>
        </p:spPr>
      </p:sp>
      <p:sp>
        <p:nvSpPr>
          <p:cNvPr id="95" name="Text 92"/>
          <p:cNvSpPr/>
          <p:nvPr/>
        </p:nvSpPr>
        <p:spPr>
          <a:xfrm>
            <a:off x="13615988" y="3552825"/>
            <a:ext cx="3624739" cy="180975"/>
          </a:xfrm>
          <a:prstGeom prst="rect">
            <a:avLst/>
          </a:prstGeom>
          <a:noFill/>
          <a:ln/>
        </p:spPr>
        <p:txBody>
          <a:bodyPr wrap="square" lIns="25400" tIns="25400" rIns="25400" bIns="25400" rtlCol="0" anchor="t">
            <a:normAutofit/>
          </a:bodyPr>
          <a:lstStyle/>
          <a:p>
            <a:pPr algn="l" indent="0" marL="0">
              <a:lnSpc>
                <a:spcPct val="150000"/>
              </a:lnSpc>
              <a:buNone/>
            </a:pPr>
            <a:r>
              <a:rPr lang="en-US" sz="750" dirty="0">
                <a:solidFill>
                  <a:srgbClr val="4231CC"/>
                </a:solidFill>
                <a:latin typeface="Courier New" pitchFamily="34" charset="0"/>
                <a:ea typeface="Courier New" pitchFamily="34" charset="-122"/>
                <a:cs typeface="Courier New" pitchFamily="34" charset="-120"/>
              </a:rPr>
              <a:t>› stack</a:t>
            </a:r>
            <a:endParaRPr lang="en-US" sz="750" dirty="0"/>
          </a:p>
        </p:txBody>
      </p:sp>
      <p:sp>
        <p:nvSpPr>
          <p:cNvPr id="96" name="Text 93"/>
          <p:cNvSpPr/>
          <p:nvPr/>
        </p:nvSpPr>
        <p:spPr>
          <a:xfrm>
            <a:off x="13615988" y="3810000"/>
            <a:ext cx="3624739" cy="180975"/>
          </a:xfrm>
          <a:prstGeom prst="rect">
            <a:avLst/>
          </a:prstGeom>
          <a:noFill/>
          <a:ln/>
        </p:spPr>
        <p:txBody>
          <a:bodyPr wrap="square" lIns="25400" tIns="25400" rIns="25400" bIns="25400" rtlCol="0" anchor="t">
            <a:normAutofit/>
          </a:bodyPr>
          <a:lstStyle/>
          <a:p>
            <a:pPr algn="l" indent="0" marL="0">
              <a:lnSpc>
                <a:spcPct val="150000"/>
              </a:lnSpc>
              <a:buNone/>
            </a:pPr>
            <a:r>
              <a:rPr lang="en-US" sz="750" dirty="0">
                <a:solidFill>
                  <a:srgbClr val="6E7785"/>
                </a:solidFill>
                <a:latin typeface="Courier New" pitchFamily="34" charset="0"/>
                <a:ea typeface="Courier New" pitchFamily="34" charset="-122"/>
                <a:cs typeface="Courier New" pitchFamily="34" charset="-120"/>
              </a:rPr>
              <a:t>› schema</a:t>
            </a:r>
            <a:endParaRPr lang="en-US" sz="750" dirty="0"/>
          </a:p>
        </p:txBody>
      </p:sp>
      <p:sp>
        <p:nvSpPr>
          <p:cNvPr id="97" name="Text 94"/>
          <p:cNvSpPr/>
          <p:nvPr/>
        </p:nvSpPr>
        <p:spPr>
          <a:xfrm>
            <a:off x="13615988" y="4067175"/>
            <a:ext cx="3624739" cy="180975"/>
          </a:xfrm>
          <a:prstGeom prst="rect">
            <a:avLst/>
          </a:prstGeom>
          <a:noFill/>
          <a:ln/>
        </p:spPr>
        <p:txBody>
          <a:bodyPr wrap="square" lIns="25400" tIns="25400" rIns="25400" bIns="25400" rtlCol="0" anchor="t">
            <a:normAutofit/>
          </a:bodyPr>
          <a:lstStyle/>
          <a:p>
            <a:pPr algn="l" indent="0" marL="0">
              <a:lnSpc>
                <a:spcPct val="150000"/>
              </a:lnSpc>
              <a:buNone/>
            </a:pPr>
            <a:r>
              <a:rPr lang="en-US" sz="750" dirty="0">
                <a:solidFill>
                  <a:srgbClr val="6E7785"/>
                </a:solidFill>
                <a:latin typeface="Courier New" pitchFamily="34" charset="0"/>
                <a:ea typeface="Courier New" pitchFamily="34" charset="-122"/>
                <a:cs typeface="Courier New" pitchFamily="34" charset="-120"/>
              </a:rPr>
              <a:t>› auth · deploy · mobile</a:t>
            </a:r>
            <a:endParaRPr lang="en-US" sz="750" dirty="0"/>
          </a:p>
        </p:txBody>
      </p:sp>
      <p:sp>
        <p:nvSpPr>
          <p:cNvPr id="98" name="Text 95"/>
          <p:cNvSpPr/>
          <p:nvPr/>
        </p:nvSpPr>
        <p:spPr>
          <a:xfrm>
            <a:off x="13539788" y="4343400"/>
            <a:ext cx="3777139" cy="223838"/>
          </a:xfrm>
          <a:prstGeom prst="rect">
            <a:avLst/>
          </a:prstGeom>
          <a:noFill/>
          <a:ln/>
        </p:spPr>
        <p:txBody>
          <a:bodyPr wrap="square" lIns="25400" tIns="25400" rIns="25400" bIns="25400" rtlCol="0" anchor="t">
            <a:normAutofit/>
          </a:bodyPr>
          <a:lstStyle/>
          <a:p>
            <a:pPr algn="l" indent="0" marL="0">
              <a:lnSpc>
                <a:spcPct val="150000"/>
              </a:lnSpc>
              <a:buNone/>
            </a:pPr>
            <a:r>
              <a:rPr lang="en-US" sz="975" b="1" spc="-5" kern="0" dirty="0">
                <a:solidFill>
                  <a:srgbClr val="0F1419"/>
                </a:solidFill>
                <a:latin typeface="Arial" pitchFamily="34" charset="0"/>
                <a:ea typeface="Arial" pitchFamily="34" charset="-122"/>
                <a:cs typeface="Arial" pitchFamily="34" charset="-120"/>
              </a:rPr>
              <a:t>Your stack</a:t>
            </a:r>
            <a:endParaRPr lang="en-US" sz="975" dirty="0"/>
          </a:p>
        </p:txBody>
      </p:sp>
      <p:sp>
        <p:nvSpPr>
          <p:cNvPr id="99" name="Text 96"/>
          <p:cNvSpPr/>
          <p:nvPr/>
        </p:nvSpPr>
        <p:spPr>
          <a:xfrm>
            <a:off x="13539788" y="4567238"/>
            <a:ext cx="3777139" cy="352425"/>
          </a:xfrm>
          <a:prstGeom prst="rect">
            <a:avLst/>
          </a:prstGeom>
          <a:noFill/>
          <a:ln/>
        </p:spPr>
        <p:txBody>
          <a:bodyPr wrap="square" lIns="25400" tIns="25400" rIns="25400" bIns="25400" rtlCol="0" anchor="t">
            <a:normAutofit/>
          </a:bodyPr>
          <a:lstStyle/>
          <a:p>
            <a:pPr algn="l" indent="0" marL="0">
              <a:lnSpc>
                <a:spcPct val="150000"/>
              </a:lnSpc>
              <a:buNone/>
            </a:pPr>
            <a:r>
              <a:rPr lang="en-US" sz="825" dirty="0">
                <a:solidFill>
                  <a:srgbClr val="2A3340"/>
                </a:solidFill>
                <a:latin typeface="Arial" pitchFamily="34" charset="0"/>
                <a:ea typeface="Arial" pitchFamily="34" charset="-122"/>
                <a:cs typeface="Arial" pitchFamily="34" charset="-120"/>
              </a:rPr>
              <a:t>Next.js · Supabase · Stripe · Resend · Capacitor. Your AI tool reads this file before changes.</a:t>
            </a:r>
            <a:endParaRPr lang="en-US" sz="825" dirty="0"/>
          </a:p>
        </p:txBody>
      </p:sp>
      <p:sp>
        <p:nvSpPr>
          <p:cNvPr id="100" name="Text 97"/>
          <p:cNvSpPr/>
          <p:nvPr/>
        </p:nvSpPr>
        <p:spPr>
          <a:xfrm>
            <a:off x="914400" y="5557317"/>
            <a:ext cx="16952976" cy="274290"/>
          </a:xfrm>
          <a:prstGeom prst="rect">
            <a:avLst/>
          </a:prstGeom>
          <a:noFill/>
          <a:ln/>
        </p:spPr>
        <p:txBody>
          <a:bodyPr wrap="square" lIns="25400" tIns="25400" rIns="25400" bIns="25400" rtlCol="0" anchor="t">
            <a:normAutofit/>
          </a:bodyPr>
          <a:lstStyle/>
          <a:p>
            <a:pPr algn="l" indent="0" marL="0">
              <a:lnSpc>
                <a:spcPct val="155000"/>
              </a:lnSpc>
              <a:buNone/>
            </a:pPr>
            <a:r>
              <a:rPr lang="en-US" sz="1200" spc="48" kern="0" dirty="0">
                <a:solidFill>
                  <a:srgbClr val="6E7785"/>
                </a:solidFill>
                <a:latin typeface="Courier New" pitchFamily="34" charset="0"/>
                <a:ea typeface="Courier New" pitchFamily="34" charset="-122"/>
                <a:cs typeface="Courier New" pitchFamily="34" charset="-120"/>
              </a:rPr>
              <a:t>From signup to deployed in ~5 minutes. Every screen above is a real rendered page in production.</a:t>
            </a:r>
            <a:endParaRPr lang="en-US" sz="1200" dirty="0"/>
          </a:p>
        </p:txBody>
      </p:sp>
      <p:sp>
        <p:nvSpPr>
          <p:cNvPr id="101" name="Shape 98"/>
          <p:cNvSpPr/>
          <p:nvPr/>
        </p:nvSpPr>
        <p:spPr>
          <a:xfrm>
            <a:off x="914400" y="9286875"/>
            <a:ext cx="16459200" cy="9525"/>
          </a:xfrm>
          <a:prstGeom prst="rect">
            <a:avLst/>
          </a:prstGeom>
          <a:solidFill>
            <a:srgbClr val="DDE5EC"/>
          </a:solidFill>
          <a:ln/>
        </p:spPr>
      </p:sp>
      <p:sp>
        <p:nvSpPr>
          <p:cNvPr id="102" name="Text 99"/>
          <p:cNvSpPr/>
          <p:nvPr/>
        </p:nvSpPr>
        <p:spPr>
          <a:xfrm>
            <a:off x="914400" y="9532144"/>
            <a:ext cx="4533256"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113" kern="0" dirty="0">
                <a:solidFill>
                  <a:srgbClr val="6E7785"/>
                </a:solidFill>
                <a:latin typeface="Courier New" pitchFamily="34" charset="0"/>
                <a:ea typeface="Courier New" pitchFamily="34" charset="-122"/>
                <a:cs typeface="Courier New" pitchFamily="34" charset="-120"/>
              </a:rPr>
              <a:t>HATCHIK · INVESTOR &amp; PARTNER DECK · MAY 2026</a:t>
            </a:r>
            <a:endParaRPr lang="en-US" sz="1125" dirty="0"/>
          </a:p>
        </p:txBody>
      </p:sp>
      <p:sp>
        <p:nvSpPr>
          <p:cNvPr id="103" name="Text 100"/>
          <p:cNvSpPr/>
          <p:nvPr/>
        </p:nvSpPr>
        <p:spPr>
          <a:xfrm>
            <a:off x="16690851" y="9525000"/>
            <a:ext cx="758949"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spc="48" kern="0" dirty="0">
                <a:solidFill>
                  <a:srgbClr val="0F1419"/>
                </a:solidFill>
                <a:latin typeface="Courier New" pitchFamily="34" charset="0"/>
                <a:ea typeface="Courier New" pitchFamily="34" charset="-122"/>
                <a:cs typeface="Courier New" pitchFamily="34" charset="-120"/>
              </a:rPr>
              <a:t>07 / 31</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5B47F0">
              <a:alpha val="4000"/>
            </a:srgbClr>
          </a:solidFill>
          <a:ln/>
        </p:spPr>
      </p:sp>
      <p:sp>
        <p:nvSpPr>
          <p:cNvPr id="3" name="Shape 1"/>
          <p:cNvSpPr/>
          <p:nvPr/>
        </p:nvSpPr>
        <p:spPr>
          <a:xfrm>
            <a:off x="914400" y="1009650"/>
            <a:ext cx="16459200" cy="9525"/>
          </a:xfrm>
          <a:prstGeom prst="rect">
            <a:avLst/>
          </a:prstGeom>
          <a:solidFill>
            <a:srgbClr val="DDE5EC"/>
          </a:solidFill>
          <a:ln/>
        </p:spPr>
      </p:sp>
      <p:pic>
        <p:nvPicPr>
          <p:cNvPr id="4" name="Image 0" descr="preencoded.png">    </p:cNvPr>
          <p:cNvPicPr>
            <a:picLocks noChangeAspect="1"/>
          </p:cNvPicPr>
          <p:nvPr/>
        </p:nvPicPr>
        <p:blipFill>
          <a:blip r:embed="rId1"/>
          <a:stretch>
            <a:fillRect/>
          </a:stretch>
        </p:blipFill>
        <p:spPr>
          <a:xfrm>
            <a:off x="914400" y="571500"/>
            <a:ext cx="209550" cy="209550"/>
          </a:xfrm>
          <a:prstGeom prst="rect">
            <a:avLst/>
          </a:prstGeom>
        </p:spPr>
      </p:pic>
      <p:sp>
        <p:nvSpPr>
          <p:cNvPr id="5" name="Text 2"/>
          <p:cNvSpPr/>
          <p:nvPr/>
        </p:nvSpPr>
        <p:spPr>
          <a:xfrm>
            <a:off x="1219200" y="533400"/>
            <a:ext cx="745108"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spc="-37" kern="0" dirty="0">
                <a:solidFill>
                  <a:srgbClr val="0F1419"/>
                </a:solidFill>
                <a:latin typeface="Arial" pitchFamily="34" charset="0"/>
                <a:ea typeface="Arial" pitchFamily="34" charset="-122"/>
                <a:cs typeface="Arial" pitchFamily="34" charset="-120"/>
              </a:rPr>
              <a:t>hatchik</a:t>
            </a:r>
            <a:endParaRPr lang="en-US" sz="1500" dirty="0"/>
          </a:p>
        </p:txBody>
      </p:sp>
      <p:sp>
        <p:nvSpPr>
          <p:cNvPr id="6" name="Text 3"/>
          <p:cNvSpPr/>
          <p:nvPr/>
        </p:nvSpPr>
        <p:spPr>
          <a:xfrm>
            <a:off x="16298987" y="562421"/>
            <a:ext cx="1150813" cy="265733"/>
          </a:xfrm>
          <a:prstGeom prst="rect">
            <a:avLst/>
          </a:prstGeom>
          <a:noFill/>
          <a:ln/>
        </p:spPr>
        <p:txBody>
          <a:bodyPr wrap="square" lIns="25400" tIns="25400" rIns="25400" bIns="25400" rtlCol="0" anchor="t">
            <a:normAutofit/>
          </a:bodyPr>
          <a:lstStyle/>
          <a:p>
            <a:pPr algn="l" indent="0" marL="0">
              <a:lnSpc>
                <a:spcPct val="140000"/>
              </a:lnSpc>
              <a:buNone/>
            </a:pPr>
            <a:r>
              <a:rPr lang="en-US" sz="1200" spc="120" kern="0" dirty="0">
                <a:solidFill>
                  <a:srgbClr val="0F1419"/>
                </a:solidFill>
                <a:latin typeface="Courier New" pitchFamily="34" charset="0"/>
                <a:ea typeface="Courier New" pitchFamily="34" charset="-122"/>
                <a:cs typeface="Courier New" pitchFamily="34" charset="-120"/>
              </a:rPr>
              <a:t>08 </a:t>
            </a:r>
            <a:pPr algn="l" indent="0" marL="0">
              <a:lnSpc>
                <a:spcPct val="140000"/>
              </a:lnSpc>
              <a:buNone/>
            </a:pPr>
            <a:r>
              <a:rPr lang="en-US" sz="1200" spc="120" kern="0" dirty="0">
                <a:solidFill>
                  <a:srgbClr val="5B47F0"/>
                </a:solidFill>
                <a:latin typeface="Courier New" pitchFamily="34" charset="0"/>
                <a:ea typeface="Courier New" pitchFamily="34" charset="-122"/>
                <a:cs typeface="Courier New" pitchFamily="34" charset="-120"/>
              </a:rPr>
              <a:t>· </a:t>
            </a:r>
            <a:pPr algn="l" indent="0" marL="0">
              <a:lnSpc>
                <a:spcPct val="140000"/>
              </a:lnSpc>
              <a:buNone/>
            </a:pPr>
            <a:r>
              <a:rPr lang="en-US" sz="1200" spc="120" kern="0" dirty="0">
                <a:solidFill>
                  <a:srgbClr val="6E7785"/>
                </a:solidFill>
                <a:latin typeface="Courier New" pitchFamily="34" charset="0"/>
                <a:ea typeface="Courier New" pitchFamily="34" charset="-122"/>
                <a:cs typeface="Courier New" pitchFamily="34" charset="-120"/>
              </a:rPr>
              <a:t>MARKET</a:t>
            </a:r>
            <a:endParaRPr lang="en-US" sz="1200" dirty="0"/>
          </a:p>
        </p:txBody>
      </p:sp>
      <p:sp>
        <p:nvSpPr>
          <p:cNvPr id="7" name="Text 4"/>
          <p:cNvSpPr/>
          <p:nvPr/>
        </p:nvSpPr>
        <p:spPr>
          <a:xfrm>
            <a:off x="914400" y="1438275"/>
            <a:ext cx="15893415" cy="723900"/>
          </a:xfrm>
          <a:prstGeom prst="rect">
            <a:avLst/>
          </a:prstGeom>
          <a:noFill/>
          <a:ln/>
        </p:spPr>
        <p:txBody>
          <a:bodyPr wrap="square" lIns="25400" tIns="25400" rIns="25400" bIns="25400" rtlCol="0" anchor="t">
            <a:normAutofit/>
          </a:bodyPr>
          <a:lstStyle/>
          <a:p>
            <a:pPr algn="l" indent="0" marL="0">
              <a:lnSpc>
                <a:spcPct val="100000"/>
              </a:lnSpc>
              <a:buNone/>
            </a:pPr>
            <a:r>
              <a:rPr lang="en-US" sz="5400" b="1" spc="-216" kern="0" dirty="0">
                <a:solidFill>
                  <a:srgbClr val="0F1419"/>
                </a:solidFill>
                <a:latin typeface="Arial" pitchFamily="34" charset="0"/>
                <a:ea typeface="Arial" pitchFamily="34" charset="-122"/>
                <a:cs typeface="Arial" pitchFamily="34" charset="-120"/>
              </a:rPr>
              <a:t>TAM, SAM, SOM. </a:t>
            </a:r>
            <a:pPr algn="l" indent="0" marL="0">
              <a:lnSpc>
                <a:spcPct val="100000"/>
              </a:lnSpc>
              <a:buNone/>
            </a:pPr>
            <a:r>
              <a:rPr lang="en-US" sz="5400" b="1" spc="-216" kern="0" dirty="0">
                <a:solidFill>
                  <a:srgbClr val="5B47F0"/>
                </a:solidFill>
                <a:latin typeface="Arial" pitchFamily="34" charset="0"/>
                <a:ea typeface="Arial" pitchFamily="34" charset="-122"/>
                <a:cs typeface="Arial" pitchFamily="34" charset="-120"/>
              </a:rPr>
              <a:t>Sized from public numbers.</a:t>
            </a:r>
            <a:endParaRPr lang="en-US" sz="5400" dirty="0"/>
          </a:p>
        </p:txBody>
      </p:sp>
      <p:sp>
        <p:nvSpPr>
          <p:cNvPr id="8" name="Text 5"/>
          <p:cNvSpPr/>
          <p:nvPr/>
        </p:nvSpPr>
        <p:spPr>
          <a:xfrm>
            <a:off x="914400" y="2390775"/>
            <a:ext cx="12950190" cy="756196"/>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2A3340"/>
                </a:solidFill>
                <a:latin typeface="Arial" pitchFamily="34" charset="0"/>
                <a:ea typeface="Arial" pitchFamily="34" charset="-122"/>
                <a:cs typeface="Arial" pitchFamily="34" charset="-120"/>
              </a:rPr>
              <a:t>Anchored on AI-coder tool disclosures from Cursor, Lovable, and Bolt. Conservative blended ARPU. SOM scoped to the 12–18 month sprint window.</a:t>
            </a:r>
            <a:endParaRPr lang="en-US" sz="1950" dirty="0"/>
          </a:p>
        </p:txBody>
      </p:sp>
      <p:pic>
        <p:nvPicPr>
          <p:cNvPr id="9" name="Image 1" descr="preencoded.png">    </p:cNvPr>
          <p:cNvPicPr>
            <a:picLocks noChangeAspect="1"/>
          </p:cNvPicPr>
          <p:nvPr/>
        </p:nvPicPr>
        <p:blipFill>
          <a:blip r:embed="rId2"/>
          <a:stretch>
            <a:fillRect/>
          </a:stretch>
        </p:blipFill>
        <p:spPr>
          <a:xfrm>
            <a:off x="3905250" y="3451771"/>
            <a:ext cx="10477500" cy="2286000"/>
          </a:xfrm>
          <a:prstGeom prst="rect">
            <a:avLst/>
          </a:prstGeom>
        </p:spPr>
      </p:pic>
      <p:sp>
        <p:nvSpPr>
          <p:cNvPr id="10" name="Shape 6"/>
          <p:cNvSpPr/>
          <p:nvPr/>
        </p:nvSpPr>
        <p:spPr>
          <a:xfrm>
            <a:off x="914400" y="5966371"/>
            <a:ext cx="5359375" cy="2553965"/>
          </a:xfrm>
          <a:prstGeom prst="roundRect">
            <a:avLst>
              <a:gd name="adj" fmla="val 5221"/>
            </a:avLst>
          </a:prstGeom>
          <a:solidFill>
            <a:srgbClr val="FFFFFF"/>
          </a:solidFill>
          <a:ln w="14288">
            <a:solidFill>
              <a:srgbClr val="DDE5EC"/>
            </a:solidFill>
            <a:prstDash val="solid"/>
          </a:ln>
          <a:effectLst>
            <a:outerShdw sx="100000" sy="100000" kx="0" ky="0" algn="bl" rotWithShape="0" blurRad="28575" dist="9525" dir="5400000">
              <a:srgbClr val="0F1419">
                <a:alpha val="4000"/>
              </a:srgbClr>
            </a:outerShdw>
          </a:effectLst>
        </p:spPr>
      </p:sp>
      <p:sp>
        <p:nvSpPr>
          <p:cNvPr id="11" name="Shape 7"/>
          <p:cNvSpPr/>
          <p:nvPr/>
        </p:nvSpPr>
        <p:spPr>
          <a:xfrm>
            <a:off x="1176338" y="6190208"/>
            <a:ext cx="4835500" cy="47625"/>
          </a:xfrm>
          <a:prstGeom prst="roundRect">
            <a:avLst>
              <a:gd name="adj" fmla="val 50000"/>
            </a:avLst>
          </a:prstGeom>
          <a:solidFill>
            <a:srgbClr val="DDE5EC"/>
          </a:solidFill>
          <a:ln/>
        </p:spPr>
      </p:sp>
      <p:sp>
        <p:nvSpPr>
          <p:cNvPr id="12" name="Text 8"/>
          <p:cNvSpPr/>
          <p:nvPr/>
        </p:nvSpPr>
        <p:spPr>
          <a:xfrm>
            <a:off x="1176338" y="6409283"/>
            <a:ext cx="4980565"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113" kern="0" dirty="0">
                <a:solidFill>
                  <a:srgbClr val="6E7785"/>
                </a:solidFill>
                <a:latin typeface="Courier New" pitchFamily="34" charset="0"/>
                <a:ea typeface="Courier New" pitchFamily="34" charset="-122"/>
                <a:cs typeface="Courier New" pitchFamily="34" charset="-120"/>
              </a:rPr>
              <a:t>TAM · TOTAL ADDRESSABLE</a:t>
            </a:r>
            <a:endParaRPr lang="en-US" sz="1125" dirty="0"/>
          </a:p>
        </p:txBody>
      </p:sp>
      <p:sp>
        <p:nvSpPr>
          <p:cNvPr id="13" name="Text 9"/>
          <p:cNvSpPr/>
          <p:nvPr/>
        </p:nvSpPr>
        <p:spPr>
          <a:xfrm>
            <a:off x="1176338" y="6609308"/>
            <a:ext cx="1828279" cy="857250"/>
          </a:xfrm>
          <a:prstGeom prst="rect">
            <a:avLst/>
          </a:prstGeom>
          <a:noFill/>
          <a:ln/>
        </p:spPr>
        <p:txBody>
          <a:bodyPr wrap="square" lIns="0" tIns="0" rIns="0" bIns="0" rtlCol="0" anchor="t">
            <a:normAutofit/>
          </a:bodyPr>
          <a:lstStyle/>
          <a:p>
            <a:pPr algn="l" indent="0" marL="0">
              <a:lnSpc>
                <a:spcPct val="96000"/>
              </a:lnSpc>
              <a:buNone/>
            </a:pPr>
            <a:r>
              <a:rPr lang="en-US" sz="4950" b="1" spc="-198" kern="0" dirty="0">
                <a:solidFill>
                  <a:srgbClr val="0F1419"/>
                </a:solidFill>
                <a:latin typeface="Arial" pitchFamily="34" charset="0"/>
                <a:ea typeface="Arial" pitchFamily="34" charset="-122"/>
                <a:cs typeface="Arial" pitchFamily="34" charset="-120"/>
              </a:rPr>
              <a:t>~310K</a:t>
            </a:r>
            <a:endParaRPr lang="en-US" sz="4950" dirty="0"/>
          </a:p>
        </p:txBody>
      </p:sp>
      <p:sp>
        <p:nvSpPr>
          <p:cNvPr id="14" name="Text 10"/>
          <p:cNvSpPr/>
          <p:nvPr/>
        </p:nvSpPr>
        <p:spPr>
          <a:xfrm>
            <a:off x="1176338" y="7417594"/>
            <a:ext cx="4980565" cy="202629"/>
          </a:xfrm>
          <a:prstGeom prst="rect">
            <a:avLst/>
          </a:prstGeom>
          <a:noFill/>
          <a:ln/>
        </p:spPr>
        <p:txBody>
          <a:bodyPr wrap="square" lIns="25400" tIns="25400" rIns="25400" bIns="25400" rtlCol="0" anchor="t">
            <a:normAutofit/>
          </a:bodyPr>
          <a:lstStyle/>
          <a:p>
            <a:pPr algn="l" indent="0" marL="0">
              <a:lnSpc>
                <a:spcPct val="96000"/>
              </a:lnSpc>
              <a:buNone/>
            </a:pPr>
            <a:r>
              <a:rPr lang="en-US" sz="1350" dirty="0">
                <a:solidFill>
                  <a:srgbClr val="6E7785"/>
                </a:solidFill>
                <a:latin typeface="Arial" pitchFamily="34" charset="0"/>
                <a:ea typeface="Arial" pitchFamily="34" charset="-122"/>
                <a:cs typeface="Arial" pitchFamily="34" charset="-120"/>
              </a:rPr>
              <a:t>users · £56M/yr today</a:t>
            </a:r>
            <a:endParaRPr lang="en-US" sz="1350" dirty="0"/>
          </a:p>
        </p:txBody>
      </p:sp>
      <p:sp>
        <p:nvSpPr>
          <p:cNvPr id="15" name="Text 11"/>
          <p:cNvSpPr/>
          <p:nvPr/>
        </p:nvSpPr>
        <p:spPr>
          <a:xfrm>
            <a:off x="1176338" y="7801198"/>
            <a:ext cx="4980565" cy="223838"/>
          </a:xfrm>
          <a:prstGeom prst="rect">
            <a:avLst/>
          </a:prstGeom>
          <a:noFill/>
          <a:ln/>
        </p:spPr>
        <p:txBody>
          <a:bodyPr wrap="square" lIns="25400" tIns="25400" rIns="25400" bIns="25400" rtlCol="0" anchor="t">
            <a:normAutofit/>
          </a:bodyPr>
          <a:lstStyle/>
          <a:p>
            <a:pPr algn="l" indent="0" marL="0">
              <a:lnSpc>
                <a:spcPct val="150000"/>
              </a:lnSpc>
              <a:buNone/>
            </a:pPr>
            <a:r>
              <a:rPr lang="en-US" sz="975" spc="39" kern="0" dirty="0">
                <a:solidFill>
                  <a:srgbClr val="6E7785"/>
                </a:solidFill>
                <a:latin typeface="Courier New" pitchFamily="34" charset="0"/>
                <a:ea typeface="Courier New" pitchFamily="34" charset="-122"/>
                <a:cs typeface="Courier New" pitchFamily="34" charset="-120"/>
              </a:rPr>
              <a:t>AI-coder ICP · blended £180 ARPU. 2027 projection: £200M+/yr.</a:t>
            </a:r>
            <a:endParaRPr lang="en-US" sz="975" dirty="0"/>
          </a:p>
        </p:txBody>
      </p:sp>
      <p:sp>
        <p:nvSpPr>
          <p:cNvPr id="16" name="Shape 12"/>
          <p:cNvSpPr/>
          <p:nvPr/>
        </p:nvSpPr>
        <p:spPr>
          <a:xfrm>
            <a:off x="6464275" y="5966371"/>
            <a:ext cx="5359375" cy="2553965"/>
          </a:xfrm>
          <a:prstGeom prst="roundRect">
            <a:avLst>
              <a:gd name="adj" fmla="val 5221"/>
            </a:avLst>
          </a:prstGeom>
          <a:solidFill>
            <a:srgbClr val="FFFFFF"/>
          </a:solidFill>
          <a:ln w="14288">
            <a:solidFill>
              <a:srgbClr val="DDE5EC"/>
            </a:solidFill>
            <a:prstDash val="solid"/>
          </a:ln>
          <a:effectLst>
            <a:outerShdw sx="100000" sy="100000" kx="0" ky="0" algn="bl" rotWithShape="0" blurRad="28575" dist="9525" dir="5400000">
              <a:srgbClr val="0F1419">
                <a:alpha val="4000"/>
              </a:srgbClr>
            </a:outerShdw>
          </a:effectLst>
        </p:spPr>
      </p:sp>
      <p:sp>
        <p:nvSpPr>
          <p:cNvPr id="17" name="Shape 13"/>
          <p:cNvSpPr/>
          <p:nvPr/>
        </p:nvSpPr>
        <p:spPr>
          <a:xfrm>
            <a:off x="6726213" y="6190208"/>
            <a:ext cx="4835500" cy="47625"/>
          </a:xfrm>
          <a:prstGeom prst="roundRect">
            <a:avLst>
              <a:gd name="adj" fmla="val 50000"/>
            </a:avLst>
          </a:prstGeom>
          <a:solidFill>
            <a:srgbClr val="DDE5EC"/>
          </a:solidFill>
          <a:ln/>
        </p:spPr>
      </p:sp>
      <p:sp>
        <p:nvSpPr>
          <p:cNvPr id="18" name="Text 14"/>
          <p:cNvSpPr/>
          <p:nvPr/>
        </p:nvSpPr>
        <p:spPr>
          <a:xfrm>
            <a:off x="6726213" y="6409283"/>
            <a:ext cx="4980565"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113" kern="0" dirty="0">
                <a:solidFill>
                  <a:srgbClr val="5B47F0"/>
                </a:solidFill>
                <a:latin typeface="Courier New" pitchFamily="34" charset="0"/>
                <a:ea typeface="Courier New" pitchFamily="34" charset="-122"/>
                <a:cs typeface="Courier New" pitchFamily="34" charset="-120"/>
              </a:rPr>
              <a:t>SAM · SERVICEABLE</a:t>
            </a:r>
            <a:endParaRPr lang="en-US" sz="1125" dirty="0"/>
          </a:p>
        </p:txBody>
      </p:sp>
      <p:sp>
        <p:nvSpPr>
          <p:cNvPr id="19" name="Text 15"/>
          <p:cNvSpPr/>
          <p:nvPr/>
        </p:nvSpPr>
        <p:spPr>
          <a:xfrm>
            <a:off x="6726213" y="6609308"/>
            <a:ext cx="1832818" cy="857250"/>
          </a:xfrm>
          <a:prstGeom prst="rect">
            <a:avLst/>
          </a:prstGeom>
          <a:noFill/>
          <a:ln/>
        </p:spPr>
        <p:txBody>
          <a:bodyPr wrap="square" lIns="0" tIns="0" rIns="0" bIns="0" rtlCol="0" anchor="t">
            <a:normAutofit/>
          </a:bodyPr>
          <a:lstStyle/>
          <a:p>
            <a:pPr algn="l" indent="0" marL="0">
              <a:lnSpc>
                <a:spcPct val="96000"/>
              </a:lnSpc>
              <a:buNone/>
            </a:pPr>
            <a:r>
              <a:rPr lang="en-US" sz="4950" b="1" spc="-198" kern="0" dirty="0">
                <a:solidFill>
                  <a:srgbClr val="5B47F0"/>
                </a:solidFill>
                <a:latin typeface="Arial" pitchFamily="34" charset="0"/>
                <a:ea typeface="Arial" pitchFamily="34" charset="-122"/>
                <a:cs typeface="Arial" pitchFamily="34" charset="-120"/>
              </a:rPr>
              <a:t>~190K</a:t>
            </a:r>
            <a:endParaRPr lang="en-US" sz="4950" dirty="0"/>
          </a:p>
        </p:txBody>
      </p:sp>
      <p:sp>
        <p:nvSpPr>
          <p:cNvPr id="20" name="Text 16"/>
          <p:cNvSpPr/>
          <p:nvPr/>
        </p:nvSpPr>
        <p:spPr>
          <a:xfrm>
            <a:off x="6726213" y="7417594"/>
            <a:ext cx="4980565" cy="202629"/>
          </a:xfrm>
          <a:prstGeom prst="rect">
            <a:avLst/>
          </a:prstGeom>
          <a:noFill/>
          <a:ln/>
        </p:spPr>
        <p:txBody>
          <a:bodyPr wrap="square" lIns="25400" tIns="25400" rIns="25400" bIns="25400" rtlCol="0" anchor="t">
            <a:normAutofit/>
          </a:bodyPr>
          <a:lstStyle/>
          <a:p>
            <a:pPr algn="l" indent="0" marL="0">
              <a:lnSpc>
                <a:spcPct val="96000"/>
              </a:lnSpc>
              <a:buNone/>
            </a:pPr>
            <a:r>
              <a:rPr lang="en-US" sz="1350" dirty="0">
                <a:solidFill>
                  <a:srgbClr val="6E7785"/>
                </a:solidFill>
                <a:latin typeface="Arial" pitchFamily="34" charset="0"/>
                <a:ea typeface="Arial" pitchFamily="34" charset="-122"/>
                <a:cs typeface="Arial" pitchFamily="34" charset="-120"/>
              </a:rPr>
              <a:t>users · £34M → £120M/yr by 2027</a:t>
            </a:r>
            <a:endParaRPr lang="en-US" sz="1350" dirty="0"/>
          </a:p>
        </p:txBody>
      </p:sp>
      <p:sp>
        <p:nvSpPr>
          <p:cNvPr id="21" name="Text 17"/>
          <p:cNvSpPr/>
          <p:nvPr/>
        </p:nvSpPr>
        <p:spPr>
          <a:xfrm>
            <a:off x="6726213" y="7801198"/>
            <a:ext cx="4980565" cy="409575"/>
          </a:xfrm>
          <a:prstGeom prst="rect">
            <a:avLst/>
          </a:prstGeom>
          <a:noFill/>
          <a:ln/>
        </p:spPr>
        <p:txBody>
          <a:bodyPr wrap="square" lIns="25400" tIns="25400" rIns="25400" bIns="25400" rtlCol="0" anchor="t">
            <a:normAutofit/>
          </a:bodyPr>
          <a:lstStyle/>
          <a:p>
            <a:pPr algn="l" indent="0" marL="0">
              <a:lnSpc>
                <a:spcPct val="150000"/>
              </a:lnSpc>
              <a:buNone/>
            </a:pPr>
            <a:r>
              <a:rPr lang="en-US" sz="975" spc="39" kern="0" dirty="0">
                <a:solidFill>
                  <a:srgbClr val="6E7785"/>
                </a:solidFill>
                <a:latin typeface="Courier New" pitchFamily="34" charset="0"/>
                <a:ea typeface="Courier New" pitchFamily="34" charset="-122"/>
                <a:cs typeface="Courier New" pitchFamily="34" charset="-120"/>
              </a:rPr>
              <a:t>English-first · Paddle-eligible · &lt;200ms latency from Hetzner NBG1.</a:t>
            </a:r>
            <a:endParaRPr lang="en-US" sz="975" dirty="0"/>
          </a:p>
        </p:txBody>
      </p:sp>
      <p:sp>
        <p:nvSpPr>
          <p:cNvPr id="22" name="Shape 18"/>
          <p:cNvSpPr/>
          <p:nvPr/>
        </p:nvSpPr>
        <p:spPr>
          <a:xfrm>
            <a:off x="12014150" y="5966371"/>
            <a:ext cx="5359450" cy="2553965"/>
          </a:xfrm>
          <a:prstGeom prst="roundRect">
            <a:avLst>
              <a:gd name="adj" fmla="val 5221"/>
            </a:avLst>
          </a:prstGeom>
          <a:solidFill>
            <a:srgbClr val="0F1419"/>
          </a:solidFill>
          <a:ln w="14288">
            <a:solidFill>
              <a:srgbClr val="0F1419"/>
            </a:solidFill>
            <a:prstDash val="solid"/>
          </a:ln>
          <a:effectLst>
            <a:outerShdw sx="100000" sy="100000" kx="0" ky="0" algn="bl" rotWithShape="0" blurRad="133350" dist="38100" dir="5400000">
              <a:srgbClr val="000000">
                <a:alpha val="25000"/>
              </a:srgbClr>
            </a:outerShdw>
          </a:effectLst>
        </p:spPr>
      </p:sp>
      <p:sp>
        <p:nvSpPr>
          <p:cNvPr id="23" name="Shape 19"/>
          <p:cNvSpPr/>
          <p:nvPr/>
        </p:nvSpPr>
        <p:spPr>
          <a:xfrm>
            <a:off x="12276088" y="6190208"/>
            <a:ext cx="4835575" cy="47625"/>
          </a:xfrm>
          <a:prstGeom prst="roundRect">
            <a:avLst>
              <a:gd name="adj" fmla="val 50000"/>
            </a:avLst>
          </a:prstGeom>
          <a:solidFill>
            <a:srgbClr val="F7FAFC">
              <a:alpha val="20000"/>
            </a:srgbClr>
          </a:solidFill>
          <a:ln/>
        </p:spPr>
      </p:sp>
      <p:sp>
        <p:nvSpPr>
          <p:cNvPr id="24" name="Text 20"/>
          <p:cNvSpPr/>
          <p:nvPr/>
        </p:nvSpPr>
        <p:spPr>
          <a:xfrm>
            <a:off x="12276088" y="6409283"/>
            <a:ext cx="4980642"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113" kern="0" dirty="0">
                <a:solidFill>
                  <a:srgbClr val="6E7785"/>
                </a:solidFill>
                <a:latin typeface="Courier New" pitchFamily="34" charset="0"/>
                <a:ea typeface="Courier New" pitchFamily="34" charset="-122"/>
                <a:cs typeface="Courier New" pitchFamily="34" charset="-120"/>
              </a:rPr>
              <a:t>SOM · 12–18 MONTH SPRINT</a:t>
            </a:r>
            <a:endParaRPr lang="en-US" sz="1125" dirty="0"/>
          </a:p>
        </p:txBody>
      </p:sp>
      <p:sp>
        <p:nvSpPr>
          <p:cNvPr id="25" name="Text 21"/>
          <p:cNvSpPr/>
          <p:nvPr/>
        </p:nvSpPr>
        <p:spPr>
          <a:xfrm>
            <a:off x="12276088" y="6609308"/>
            <a:ext cx="1883346" cy="857250"/>
          </a:xfrm>
          <a:prstGeom prst="rect">
            <a:avLst/>
          </a:prstGeom>
          <a:noFill/>
          <a:ln/>
        </p:spPr>
        <p:txBody>
          <a:bodyPr wrap="square" lIns="0" tIns="0" rIns="0" bIns="0" rtlCol="0" anchor="t">
            <a:normAutofit/>
          </a:bodyPr>
          <a:lstStyle/>
          <a:p>
            <a:pPr algn="l" indent="0" marL="0">
              <a:lnSpc>
                <a:spcPct val="96000"/>
              </a:lnSpc>
              <a:buNone/>
            </a:pPr>
            <a:r>
              <a:rPr lang="en-US" sz="4950" b="1" spc="-198" kern="0" dirty="0">
                <a:solidFill>
                  <a:srgbClr val="F7FAFC"/>
                </a:solidFill>
                <a:latin typeface="Arial" pitchFamily="34" charset="0"/>
                <a:ea typeface="Arial" pitchFamily="34" charset="-122"/>
                <a:cs typeface="Arial" pitchFamily="34" charset="-120"/>
              </a:rPr>
              <a:t>5–15K</a:t>
            </a:r>
            <a:endParaRPr lang="en-US" sz="4950" dirty="0"/>
          </a:p>
        </p:txBody>
      </p:sp>
      <p:sp>
        <p:nvSpPr>
          <p:cNvPr id="26" name="Text 22"/>
          <p:cNvSpPr/>
          <p:nvPr/>
        </p:nvSpPr>
        <p:spPr>
          <a:xfrm>
            <a:off x="12276088" y="7417594"/>
            <a:ext cx="4980642" cy="202629"/>
          </a:xfrm>
          <a:prstGeom prst="rect">
            <a:avLst/>
          </a:prstGeom>
          <a:noFill/>
          <a:ln/>
        </p:spPr>
        <p:txBody>
          <a:bodyPr wrap="square" lIns="25400" tIns="25400" rIns="25400" bIns="25400" rtlCol="0" anchor="t">
            <a:normAutofit/>
          </a:bodyPr>
          <a:lstStyle/>
          <a:p>
            <a:pPr algn="l" indent="0" marL="0">
              <a:lnSpc>
                <a:spcPct val="96000"/>
              </a:lnSpc>
              <a:buNone/>
            </a:pPr>
            <a:r>
              <a:rPr lang="en-US" sz="1350" dirty="0">
                <a:solidFill>
                  <a:srgbClr val="F7FAFC">
                    <a:alpha val="55000"/>
                  </a:srgbClr>
                </a:solidFill>
                <a:latin typeface="Arial" pitchFamily="34" charset="0"/>
                <a:ea typeface="Arial" pitchFamily="34" charset="-122"/>
                <a:cs typeface="Arial" pitchFamily="34" charset="-120"/>
              </a:rPr>
              <a:t>paying customers by M18</a:t>
            </a:r>
            <a:endParaRPr lang="en-US" sz="1350" dirty="0"/>
          </a:p>
        </p:txBody>
      </p:sp>
      <p:sp>
        <p:nvSpPr>
          <p:cNvPr id="27" name="Text 23"/>
          <p:cNvSpPr/>
          <p:nvPr/>
        </p:nvSpPr>
        <p:spPr>
          <a:xfrm>
            <a:off x="12276088" y="7801198"/>
            <a:ext cx="4980642" cy="223838"/>
          </a:xfrm>
          <a:prstGeom prst="rect">
            <a:avLst/>
          </a:prstGeom>
          <a:noFill/>
          <a:ln/>
        </p:spPr>
        <p:txBody>
          <a:bodyPr wrap="square" lIns="25400" tIns="25400" rIns="25400" bIns="25400" rtlCol="0" anchor="t">
            <a:normAutofit/>
          </a:bodyPr>
          <a:lstStyle/>
          <a:p>
            <a:pPr algn="l" indent="0" marL="0">
              <a:lnSpc>
                <a:spcPct val="150000"/>
              </a:lnSpc>
              <a:buNone/>
            </a:pPr>
            <a:r>
              <a:rPr lang="en-US" sz="975" spc="39" kern="0" dirty="0">
                <a:solidFill>
                  <a:srgbClr val="F7FAFC">
                    <a:alpha val="55000"/>
                  </a:srgbClr>
                </a:solidFill>
                <a:latin typeface="Courier New" pitchFamily="34" charset="0"/>
                <a:ea typeface="Courier New" pitchFamily="34" charset="-122"/>
                <a:cs typeface="Courier New" pitchFamily="34" charset="-120"/>
              </a:rPr>
              <a:t>Sprint base: ~5K by M12 · Sprint upside: ~15K by M18.</a:t>
            </a:r>
            <a:endParaRPr lang="en-US" sz="975" dirty="0"/>
          </a:p>
        </p:txBody>
      </p:sp>
      <p:sp>
        <p:nvSpPr>
          <p:cNvPr id="28" name="Text 24"/>
          <p:cNvSpPr/>
          <p:nvPr/>
        </p:nvSpPr>
        <p:spPr>
          <a:xfrm>
            <a:off x="914400" y="8710836"/>
            <a:ext cx="16952976" cy="274290"/>
          </a:xfrm>
          <a:prstGeom prst="rect">
            <a:avLst/>
          </a:prstGeom>
          <a:noFill/>
          <a:ln/>
        </p:spPr>
        <p:txBody>
          <a:bodyPr wrap="square" lIns="25400" tIns="25400" rIns="25400" bIns="25400" rtlCol="0" anchor="t">
            <a:normAutofit/>
          </a:bodyPr>
          <a:lstStyle/>
          <a:p>
            <a:pPr algn="l" indent="0" marL="0">
              <a:lnSpc>
                <a:spcPct val="155000"/>
              </a:lnSpc>
              <a:buNone/>
            </a:pPr>
            <a:r>
              <a:rPr lang="en-US" sz="1200" spc="48" kern="0" dirty="0">
                <a:solidFill>
                  <a:srgbClr val="6E7785"/>
                </a:solidFill>
                <a:latin typeface="Courier New" pitchFamily="34" charset="0"/>
                <a:ea typeface="Courier New" pitchFamily="34" charset="-122"/>
                <a:cs typeface="Courier New" pitchFamily="34" charset="-120"/>
              </a:rPr>
              <a:t>TAM/SAM from marketing plan §2-3 · Sprint scenarios anchored on Cursor / Lovable / Bolt curves at comparable maturity.</a:t>
            </a:r>
            <a:endParaRPr lang="en-US" sz="1200" dirty="0"/>
          </a:p>
        </p:txBody>
      </p:sp>
      <p:sp>
        <p:nvSpPr>
          <p:cNvPr id="29" name="Shape 25"/>
          <p:cNvSpPr/>
          <p:nvPr/>
        </p:nvSpPr>
        <p:spPr>
          <a:xfrm>
            <a:off x="914400" y="9286875"/>
            <a:ext cx="16459200" cy="9525"/>
          </a:xfrm>
          <a:prstGeom prst="rect">
            <a:avLst/>
          </a:prstGeom>
          <a:solidFill>
            <a:srgbClr val="DDE5EC"/>
          </a:solidFill>
          <a:ln/>
        </p:spPr>
      </p:sp>
      <p:sp>
        <p:nvSpPr>
          <p:cNvPr id="30" name="Text 26"/>
          <p:cNvSpPr/>
          <p:nvPr/>
        </p:nvSpPr>
        <p:spPr>
          <a:xfrm>
            <a:off x="914400" y="9532144"/>
            <a:ext cx="4533256"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113" kern="0" dirty="0">
                <a:solidFill>
                  <a:srgbClr val="6E7785"/>
                </a:solidFill>
                <a:latin typeface="Courier New" pitchFamily="34" charset="0"/>
                <a:ea typeface="Courier New" pitchFamily="34" charset="-122"/>
                <a:cs typeface="Courier New" pitchFamily="34" charset="-120"/>
              </a:rPr>
              <a:t>HATCHIK · INVESTOR &amp; PARTNER DECK · MAY 2026</a:t>
            </a:r>
            <a:endParaRPr lang="en-US" sz="1125" dirty="0"/>
          </a:p>
        </p:txBody>
      </p:sp>
      <p:sp>
        <p:nvSpPr>
          <p:cNvPr id="31" name="Text 27"/>
          <p:cNvSpPr/>
          <p:nvPr/>
        </p:nvSpPr>
        <p:spPr>
          <a:xfrm>
            <a:off x="16690851" y="9525000"/>
            <a:ext cx="758949"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spc="48" kern="0" dirty="0">
                <a:solidFill>
                  <a:srgbClr val="0F1419"/>
                </a:solidFill>
                <a:latin typeface="Courier New" pitchFamily="34" charset="0"/>
                <a:ea typeface="Courier New" pitchFamily="34" charset="-122"/>
                <a:cs typeface="Courier New" pitchFamily="34" charset="-120"/>
              </a:rPr>
              <a:t>08 / 31</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5B47F0">
              <a:alpha val="4000"/>
            </a:srgbClr>
          </a:solidFill>
          <a:ln/>
        </p:spPr>
      </p:sp>
      <p:sp>
        <p:nvSpPr>
          <p:cNvPr id="3" name="Shape 1"/>
          <p:cNvSpPr/>
          <p:nvPr/>
        </p:nvSpPr>
        <p:spPr>
          <a:xfrm>
            <a:off x="914400" y="1009650"/>
            <a:ext cx="16459200" cy="9525"/>
          </a:xfrm>
          <a:prstGeom prst="rect">
            <a:avLst/>
          </a:prstGeom>
          <a:solidFill>
            <a:srgbClr val="DDE5EC"/>
          </a:solidFill>
          <a:ln/>
        </p:spPr>
      </p:sp>
      <p:pic>
        <p:nvPicPr>
          <p:cNvPr id="4" name="Image 0" descr="preencoded.png">    </p:cNvPr>
          <p:cNvPicPr>
            <a:picLocks noChangeAspect="1"/>
          </p:cNvPicPr>
          <p:nvPr/>
        </p:nvPicPr>
        <p:blipFill>
          <a:blip r:embed="rId1"/>
          <a:stretch>
            <a:fillRect/>
          </a:stretch>
        </p:blipFill>
        <p:spPr>
          <a:xfrm>
            <a:off x="914400" y="571500"/>
            <a:ext cx="209550" cy="209550"/>
          </a:xfrm>
          <a:prstGeom prst="rect">
            <a:avLst/>
          </a:prstGeom>
        </p:spPr>
      </p:pic>
      <p:sp>
        <p:nvSpPr>
          <p:cNvPr id="5" name="Text 2"/>
          <p:cNvSpPr/>
          <p:nvPr/>
        </p:nvSpPr>
        <p:spPr>
          <a:xfrm>
            <a:off x="1219200" y="533400"/>
            <a:ext cx="745108"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spc="-37" kern="0" dirty="0">
                <a:solidFill>
                  <a:srgbClr val="0F1419"/>
                </a:solidFill>
                <a:latin typeface="Arial" pitchFamily="34" charset="0"/>
                <a:ea typeface="Arial" pitchFamily="34" charset="-122"/>
                <a:cs typeface="Arial" pitchFamily="34" charset="-120"/>
              </a:rPr>
              <a:t>hatchik</a:t>
            </a:r>
            <a:endParaRPr lang="en-US" sz="1500" dirty="0"/>
          </a:p>
        </p:txBody>
      </p:sp>
      <p:sp>
        <p:nvSpPr>
          <p:cNvPr id="6" name="Text 3"/>
          <p:cNvSpPr/>
          <p:nvPr/>
        </p:nvSpPr>
        <p:spPr>
          <a:xfrm>
            <a:off x="15232038" y="562421"/>
            <a:ext cx="2217762" cy="265733"/>
          </a:xfrm>
          <a:prstGeom prst="rect">
            <a:avLst/>
          </a:prstGeom>
          <a:noFill/>
          <a:ln/>
        </p:spPr>
        <p:txBody>
          <a:bodyPr wrap="square" lIns="25400" tIns="25400" rIns="25400" bIns="25400" rtlCol="0" anchor="t">
            <a:normAutofit/>
          </a:bodyPr>
          <a:lstStyle/>
          <a:p>
            <a:pPr algn="l" indent="0" marL="0">
              <a:lnSpc>
                <a:spcPct val="140000"/>
              </a:lnSpc>
              <a:buNone/>
            </a:pPr>
            <a:r>
              <a:rPr lang="en-US" sz="1200" spc="120" kern="0" dirty="0">
                <a:solidFill>
                  <a:srgbClr val="0F1419"/>
                </a:solidFill>
                <a:latin typeface="Courier New" pitchFamily="34" charset="0"/>
                <a:ea typeface="Courier New" pitchFamily="34" charset="-122"/>
                <a:cs typeface="Courier New" pitchFamily="34" charset="-120"/>
              </a:rPr>
              <a:t>09 </a:t>
            </a:r>
            <a:pPr algn="l" indent="0" marL="0">
              <a:lnSpc>
                <a:spcPct val="140000"/>
              </a:lnSpc>
              <a:buNone/>
            </a:pPr>
            <a:r>
              <a:rPr lang="en-US" sz="1200" spc="120" kern="0" dirty="0">
                <a:solidFill>
                  <a:srgbClr val="5B47F0"/>
                </a:solidFill>
                <a:latin typeface="Courier New" pitchFamily="34" charset="0"/>
                <a:ea typeface="Courier New" pitchFamily="34" charset="-122"/>
                <a:cs typeface="Courier New" pitchFamily="34" charset="-120"/>
              </a:rPr>
              <a:t>· </a:t>
            </a:r>
            <a:pPr algn="l" indent="0" marL="0">
              <a:lnSpc>
                <a:spcPct val="140000"/>
              </a:lnSpc>
              <a:buNone/>
            </a:pPr>
            <a:r>
              <a:rPr lang="en-US" sz="1200" spc="120" kern="0" dirty="0">
                <a:solidFill>
                  <a:srgbClr val="6E7785"/>
                </a:solidFill>
                <a:latin typeface="Courier New" pitchFamily="34" charset="0"/>
                <a:ea typeface="Courier New" pitchFamily="34" charset="-122"/>
                <a:cs typeface="Courier New" pitchFamily="34" charset="-120"/>
              </a:rPr>
              <a:t>CUSTOMER PROFILE</a:t>
            </a:r>
            <a:endParaRPr lang="en-US" sz="1200" dirty="0"/>
          </a:p>
        </p:txBody>
      </p:sp>
      <p:sp>
        <p:nvSpPr>
          <p:cNvPr id="7" name="Text 4"/>
          <p:cNvSpPr/>
          <p:nvPr/>
        </p:nvSpPr>
        <p:spPr>
          <a:xfrm>
            <a:off x="914400" y="1438275"/>
            <a:ext cx="15893415" cy="723900"/>
          </a:xfrm>
          <a:prstGeom prst="rect">
            <a:avLst/>
          </a:prstGeom>
          <a:noFill/>
          <a:ln/>
        </p:spPr>
        <p:txBody>
          <a:bodyPr wrap="square" lIns="25400" tIns="25400" rIns="25400" bIns="25400" rtlCol="0" anchor="t">
            <a:normAutofit/>
          </a:bodyPr>
          <a:lstStyle/>
          <a:p>
            <a:pPr algn="l" indent="0" marL="0">
              <a:lnSpc>
                <a:spcPct val="100000"/>
              </a:lnSpc>
              <a:buNone/>
            </a:pPr>
            <a:r>
              <a:rPr lang="en-US" sz="5400" b="1" spc="-216" kern="0" dirty="0">
                <a:solidFill>
                  <a:srgbClr val="0F1419"/>
                </a:solidFill>
                <a:latin typeface="Arial" pitchFamily="34" charset="0"/>
                <a:ea typeface="Arial" pitchFamily="34" charset="-122"/>
                <a:cs typeface="Arial" pitchFamily="34" charset="-120"/>
              </a:rPr>
              <a:t>Three faces of the vibe-coder. </a:t>
            </a:r>
            <a:pPr algn="l" indent="0" marL="0">
              <a:lnSpc>
                <a:spcPct val="100000"/>
              </a:lnSpc>
              <a:buNone/>
            </a:pPr>
            <a:r>
              <a:rPr lang="en-US" sz="5400" b="1" spc="-216" kern="0" dirty="0">
                <a:solidFill>
                  <a:srgbClr val="5B47F0"/>
                </a:solidFill>
                <a:latin typeface="Arial" pitchFamily="34" charset="0"/>
                <a:ea typeface="Arial" pitchFamily="34" charset="-122"/>
                <a:cs typeface="Arial" pitchFamily="34" charset="-120"/>
              </a:rPr>
              <a:t>One reason to pay.</a:t>
            </a:r>
            <a:endParaRPr lang="en-US" sz="5400" dirty="0"/>
          </a:p>
        </p:txBody>
      </p:sp>
      <p:sp>
        <p:nvSpPr>
          <p:cNvPr id="8" name="Text 5"/>
          <p:cNvSpPr/>
          <p:nvPr/>
        </p:nvSpPr>
        <p:spPr>
          <a:xfrm>
            <a:off x="914400" y="2390775"/>
            <a:ext cx="12950190" cy="756196"/>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2A3340"/>
                </a:solidFill>
                <a:latin typeface="Arial" pitchFamily="34" charset="0"/>
                <a:ea typeface="Arial" pitchFamily="34" charset="-122"/>
                <a:cs typeface="Arial" pitchFamily="34" charset="-120"/>
              </a:rPr>
              <a:t>Knowledge workers with salaries, side projects, and an infrastructure problem. £60K–$180K income band, already £100+/mo on AI tools, time-poor vs money-rich.</a:t>
            </a:r>
            <a:endParaRPr lang="en-US" sz="1950" dirty="0"/>
          </a:p>
        </p:txBody>
      </p:sp>
      <p:sp>
        <p:nvSpPr>
          <p:cNvPr id="9" name="Shape 6"/>
          <p:cNvSpPr/>
          <p:nvPr/>
        </p:nvSpPr>
        <p:spPr>
          <a:xfrm>
            <a:off x="914400" y="3489871"/>
            <a:ext cx="3986213" cy="1888778"/>
          </a:xfrm>
          <a:prstGeom prst="roundRect">
            <a:avLst>
              <a:gd name="adj" fmla="val 8069"/>
            </a:avLst>
          </a:prstGeom>
          <a:solidFill>
            <a:srgbClr val="F7FAFC"/>
          </a:solidFill>
          <a:ln w="14288">
            <a:solidFill>
              <a:srgbClr val="DDE5EC"/>
            </a:solidFill>
            <a:prstDash val="solid"/>
          </a:ln>
        </p:spPr>
      </p:sp>
      <p:sp>
        <p:nvSpPr>
          <p:cNvPr id="10" name="Text 7"/>
          <p:cNvSpPr/>
          <p:nvPr/>
        </p:nvSpPr>
        <p:spPr>
          <a:xfrm>
            <a:off x="1138238" y="3675608"/>
            <a:ext cx="3644694"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113" kern="0" dirty="0">
                <a:solidFill>
                  <a:srgbClr val="6E7785"/>
                </a:solidFill>
                <a:latin typeface="Courier New" pitchFamily="34" charset="0"/>
                <a:ea typeface="Courier New" pitchFamily="34" charset="-122"/>
                <a:cs typeface="Courier New" pitchFamily="34" charset="-120"/>
              </a:rPr>
              <a:t>UK ADULTS</a:t>
            </a:r>
            <a:endParaRPr lang="en-US" sz="1125" dirty="0"/>
          </a:p>
        </p:txBody>
      </p:sp>
      <p:sp>
        <p:nvSpPr>
          <p:cNvPr id="11" name="Text 8"/>
          <p:cNvSpPr/>
          <p:nvPr/>
        </p:nvSpPr>
        <p:spPr>
          <a:xfrm>
            <a:off x="1138238" y="4080421"/>
            <a:ext cx="3644694" cy="419100"/>
          </a:xfrm>
          <a:prstGeom prst="rect">
            <a:avLst/>
          </a:prstGeom>
          <a:noFill/>
          <a:ln/>
        </p:spPr>
        <p:txBody>
          <a:bodyPr wrap="square" lIns="25400" tIns="25400" rIns="25400" bIns="25400" rtlCol="0" anchor="t">
            <a:normAutofit/>
          </a:bodyPr>
          <a:lstStyle/>
          <a:p>
            <a:pPr algn="l" indent="0" marL="0">
              <a:lnSpc>
                <a:spcPct val="100000"/>
              </a:lnSpc>
              <a:buNone/>
            </a:pPr>
            <a:r>
              <a:rPr lang="en-US" sz="3000" b="1" spc="-90" kern="0" dirty="0">
                <a:solidFill>
                  <a:srgbClr val="0F1419"/>
                </a:solidFill>
                <a:latin typeface="Arial" pitchFamily="34" charset="0"/>
                <a:ea typeface="Arial" pitchFamily="34" charset="-122"/>
                <a:cs typeface="Arial" pitchFamily="34" charset="-120"/>
              </a:rPr>
              <a:t>40%</a:t>
            </a:r>
            <a:endParaRPr lang="en-US" sz="3000" dirty="0"/>
          </a:p>
        </p:txBody>
      </p:sp>
      <p:sp>
        <p:nvSpPr>
          <p:cNvPr id="12" name="Text 9"/>
          <p:cNvSpPr/>
          <p:nvPr/>
        </p:nvSpPr>
        <p:spPr>
          <a:xfrm>
            <a:off x="1138238" y="4804321"/>
            <a:ext cx="3644694" cy="274290"/>
          </a:xfrm>
          <a:prstGeom prst="rect">
            <a:avLst/>
          </a:prstGeom>
          <a:noFill/>
          <a:ln/>
        </p:spPr>
        <p:txBody>
          <a:bodyPr wrap="square" lIns="25400" tIns="25400" rIns="25400" bIns="25400" rtlCol="0" anchor="t">
            <a:normAutofit/>
          </a:bodyPr>
          <a:lstStyle/>
          <a:p>
            <a:pPr algn="l" indent="0" marL="0">
              <a:lnSpc>
                <a:spcPct val="155000"/>
              </a:lnSpc>
              <a:buNone/>
            </a:pPr>
            <a:r>
              <a:rPr lang="en-US" sz="1200" spc="48" kern="0" dirty="0">
                <a:solidFill>
                  <a:srgbClr val="6E7785"/>
                </a:solidFill>
                <a:latin typeface="Courier New" pitchFamily="34" charset="0"/>
                <a:ea typeface="Courier New" pitchFamily="34" charset="-122"/>
                <a:cs typeface="Courier New" pitchFamily="34" charset="-120"/>
              </a:rPr>
              <a:t>side-hustle · Henley 2023</a:t>
            </a:r>
            <a:endParaRPr lang="en-US" sz="1200" dirty="0"/>
          </a:p>
        </p:txBody>
      </p:sp>
      <p:sp>
        <p:nvSpPr>
          <p:cNvPr id="13" name="Shape 10"/>
          <p:cNvSpPr/>
          <p:nvPr/>
        </p:nvSpPr>
        <p:spPr>
          <a:xfrm>
            <a:off x="5072063" y="3489871"/>
            <a:ext cx="3986213" cy="1888778"/>
          </a:xfrm>
          <a:prstGeom prst="roundRect">
            <a:avLst>
              <a:gd name="adj" fmla="val 8069"/>
            </a:avLst>
          </a:prstGeom>
          <a:solidFill>
            <a:srgbClr val="F7FAFC"/>
          </a:solidFill>
          <a:ln w="14288">
            <a:solidFill>
              <a:srgbClr val="DDE5EC"/>
            </a:solidFill>
            <a:prstDash val="solid"/>
          </a:ln>
        </p:spPr>
      </p:sp>
      <p:sp>
        <p:nvSpPr>
          <p:cNvPr id="14" name="Text 11"/>
          <p:cNvSpPr/>
          <p:nvPr/>
        </p:nvSpPr>
        <p:spPr>
          <a:xfrm>
            <a:off x="5295900" y="3675608"/>
            <a:ext cx="3644694"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113" kern="0" dirty="0">
                <a:solidFill>
                  <a:srgbClr val="6E7785"/>
                </a:solidFill>
                <a:latin typeface="Courier New" pitchFamily="34" charset="0"/>
                <a:ea typeface="Courier New" pitchFamily="34" charset="-122"/>
                <a:cs typeface="Courier New" pitchFamily="34" charset="-120"/>
              </a:rPr>
              <a:t>PAID AI-CODER SEATS</a:t>
            </a:r>
            <a:endParaRPr lang="en-US" sz="1125" dirty="0"/>
          </a:p>
        </p:txBody>
      </p:sp>
      <p:sp>
        <p:nvSpPr>
          <p:cNvPr id="15" name="Text 12"/>
          <p:cNvSpPr/>
          <p:nvPr/>
        </p:nvSpPr>
        <p:spPr>
          <a:xfrm>
            <a:off x="5295900" y="4080421"/>
            <a:ext cx="3644694" cy="419100"/>
          </a:xfrm>
          <a:prstGeom prst="rect">
            <a:avLst/>
          </a:prstGeom>
          <a:noFill/>
          <a:ln/>
        </p:spPr>
        <p:txBody>
          <a:bodyPr wrap="square" lIns="25400" tIns="25400" rIns="25400" bIns="25400" rtlCol="0" anchor="t">
            <a:normAutofit/>
          </a:bodyPr>
          <a:lstStyle/>
          <a:p>
            <a:pPr algn="l" indent="0" marL="0">
              <a:lnSpc>
                <a:spcPct val="100000"/>
              </a:lnSpc>
              <a:buNone/>
            </a:pPr>
            <a:r>
              <a:rPr lang="en-US" sz="3000" b="1" spc="-90" kern="0" dirty="0">
                <a:solidFill>
                  <a:srgbClr val="0F1419"/>
                </a:solidFill>
                <a:latin typeface="Arial" pitchFamily="34" charset="0"/>
                <a:ea typeface="Arial" pitchFamily="34" charset="-122"/>
                <a:cs typeface="Arial" pitchFamily="34" charset="-120"/>
              </a:rPr>
              <a:t>3M+</a:t>
            </a:r>
            <a:endParaRPr lang="en-US" sz="3000" dirty="0"/>
          </a:p>
        </p:txBody>
      </p:sp>
      <p:sp>
        <p:nvSpPr>
          <p:cNvPr id="16" name="Text 13"/>
          <p:cNvSpPr/>
          <p:nvPr/>
        </p:nvSpPr>
        <p:spPr>
          <a:xfrm>
            <a:off x="5295900" y="4804321"/>
            <a:ext cx="3644694" cy="274290"/>
          </a:xfrm>
          <a:prstGeom prst="rect">
            <a:avLst/>
          </a:prstGeom>
          <a:noFill/>
          <a:ln/>
        </p:spPr>
        <p:txBody>
          <a:bodyPr wrap="square" lIns="25400" tIns="25400" rIns="25400" bIns="25400" rtlCol="0" anchor="t">
            <a:normAutofit/>
          </a:bodyPr>
          <a:lstStyle/>
          <a:p>
            <a:pPr algn="l" indent="0" marL="0">
              <a:lnSpc>
                <a:spcPct val="155000"/>
              </a:lnSpc>
              <a:buNone/>
            </a:pPr>
            <a:r>
              <a:rPr lang="en-US" sz="1200" spc="48" kern="0" dirty="0">
                <a:solidFill>
                  <a:srgbClr val="6E7785"/>
                </a:solidFill>
                <a:latin typeface="Courier New" pitchFamily="34" charset="0"/>
                <a:ea typeface="Courier New" pitchFamily="34" charset="-122"/>
                <a:cs typeface="Courier New" pitchFamily="34" charset="-120"/>
              </a:rPr>
              <a:t>Cursor · Lovable · Bolt</a:t>
            </a:r>
            <a:endParaRPr lang="en-US" sz="1200" dirty="0"/>
          </a:p>
        </p:txBody>
      </p:sp>
      <p:sp>
        <p:nvSpPr>
          <p:cNvPr id="17" name="Shape 14"/>
          <p:cNvSpPr/>
          <p:nvPr/>
        </p:nvSpPr>
        <p:spPr>
          <a:xfrm>
            <a:off x="9229725" y="3489871"/>
            <a:ext cx="3986213" cy="1888778"/>
          </a:xfrm>
          <a:prstGeom prst="roundRect">
            <a:avLst>
              <a:gd name="adj" fmla="val 8069"/>
            </a:avLst>
          </a:prstGeom>
          <a:solidFill>
            <a:srgbClr val="F7FAFC"/>
          </a:solidFill>
          <a:ln w="14288">
            <a:solidFill>
              <a:srgbClr val="DDE5EC"/>
            </a:solidFill>
            <a:prstDash val="solid"/>
          </a:ln>
        </p:spPr>
      </p:sp>
      <p:sp>
        <p:nvSpPr>
          <p:cNvPr id="18" name="Text 15"/>
          <p:cNvSpPr/>
          <p:nvPr/>
        </p:nvSpPr>
        <p:spPr>
          <a:xfrm>
            <a:off x="9453563" y="3675608"/>
            <a:ext cx="3644694"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113" kern="0" dirty="0">
                <a:solidFill>
                  <a:srgbClr val="6E7785"/>
                </a:solidFill>
                <a:latin typeface="Courier New" pitchFamily="34" charset="0"/>
                <a:ea typeface="Courier New" pitchFamily="34" charset="-122"/>
                <a:cs typeface="Courier New" pitchFamily="34" charset="-120"/>
              </a:rPr>
              <a:t>ALREADY SPENDING</a:t>
            </a:r>
            <a:endParaRPr lang="en-US" sz="1125" dirty="0"/>
          </a:p>
        </p:txBody>
      </p:sp>
      <p:sp>
        <p:nvSpPr>
          <p:cNvPr id="19" name="Text 16"/>
          <p:cNvSpPr/>
          <p:nvPr/>
        </p:nvSpPr>
        <p:spPr>
          <a:xfrm>
            <a:off x="9453563" y="4080421"/>
            <a:ext cx="3644694" cy="419100"/>
          </a:xfrm>
          <a:prstGeom prst="rect">
            <a:avLst/>
          </a:prstGeom>
          <a:noFill/>
          <a:ln/>
        </p:spPr>
        <p:txBody>
          <a:bodyPr wrap="square" lIns="25400" tIns="25400" rIns="25400" bIns="25400" rtlCol="0" anchor="t">
            <a:normAutofit/>
          </a:bodyPr>
          <a:lstStyle/>
          <a:p>
            <a:pPr algn="l" indent="0" marL="0">
              <a:lnSpc>
                <a:spcPct val="100000"/>
              </a:lnSpc>
              <a:buNone/>
            </a:pPr>
            <a:r>
              <a:rPr lang="en-US" sz="3000" b="1" spc="-90" kern="0" dirty="0">
                <a:solidFill>
                  <a:srgbClr val="5B47F0"/>
                </a:solidFill>
                <a:latin typeface="Arial" pitchFamily="34" charset="0"/>
                <a:ea typeface="Arial" pitchFamily="34" charset="-122"/>
                <a:cs typeface="Arial" pitchFamily="34" charset="-120"/>
              </a:rPr>
              <a:t>£100+/mo</a:t>
            </a:r>
            <a:endParaRPr lang="en-US" sz="3000" dirty="0"/>
          </a:p>
        </p:txBody>
      </p:sp>
      <p:sp>
        <p:nvSpPr>
          <p:cNvPr id="20" name="Text 17"/>
          <p:cNvSpPr/>
          <p:nvPr/>
        </p:nvSpPr>
        <p:spPr>
          <a:xfrm>
            <a:off x="9453563" y="4804321"/>
            <a:ext cx="3644694" cy="274290"/>
          </a:xfrm>
          <a:prstGeom prst="rect">
            <a:avLst/>
          </a:prstGeom>
          <a:noFill/>
          <a:ln/>
        </p:spPr>
        <p:txBody>
          <a:bodyPr wrap="square" lIns="25400" tIns="25400" rIns="25400" bIns="25400" rtlCol="0" anchor="t">
            <a:normAutofit/>
          </a:bodyPr>
          <a:lstStyle/>
          <a:p>
            <a:pPr algn="l" indent="0" marL="0">
              <a:lnSpc>
                <a:spcPct val="155000"/>
              </a:lnSpc>
              <a:buNone/>
            </a:pPr>
            <a:r>
              <a:rPr lang="en-US" sz="1200" spc="48" kern="0" dirty="0">
                <a:solidFill>
                  <a:srgbClr val="6E7785"/>
                </a:solidFill>
                <a:latin typeface="Courier New" pitchFamily="34" charset="0"/>
                <a:ea typeface="Courier New" pitchFamily="34" charset="-122"/>
                <a:cs typeface="Courier New" pitchFamily="34" charset="-120"/>
              </a:rPr>
              <a:t>on AI subscriptions</a:t>
            </a:r>
            <a:endParaRPr lang="en-US" sz="1200" dirty="0"/>
          </a:p>
        </p:txBody>
      </p:sp>
      <p:sp>
        <p:nvSpPr>
          <p:cNvPr id="21" name="Shape 18"/>
          <p:cNvSpPr/>
          <p:nvPr/>
        </p:nvSpPr>
        <p:spPr>
          <a:xfrm>
            <a:off x="13387388" y="3489871"/>
            <a:ext cx="3986213" cy="1888778"/>
          </a:xfrm>
          <a:prstGeom prst="roundRect">
            <a:avLst>
              <a:gd name="adj" fmla="val 8069"/>
            </a:avLst>
          </a:prstGeom>
          <a:solidFill>
            <a:srgbClr val="F7FAFC"/>
          </a:solidFill>
          <a:ln w="14288">
            <a:solidFill>
              <a:srgbClr val="DDE5EC"/>
            </a:solidFill>
            <a:prstDash val="solid"/>
          </a:ln>
        </p:spPr>
      </p:sp>
      <p:sp>
        <p:nvSpPr>
          <p:cNvPr id="22" name="Text 19"/>
          <p:cNvSpPr/>
          <p:nvPr/>
        </p:nvSpPr>
        <p:spPr>
          <a:xfrm>
            <a:off x="13611225" y="3675608"/>
            <a:ext cx="3644694"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113" kern="0" dirty="0">
                <a:solidFill>
                  <a:srgbClr val="6E7785"/>
                </a:solidFill>
                <a:latin typeface="Courier New" pitchFamily="34" charset="0"/>
                <a:ea typeface="Courier New" pitchFamily="34" charset="-122"/>
                <a:cs typeface="Courier New" pitchFamily="34" charset="-120"/>
              </a:rPr>
              <a:t>DIY INFRA COST</a:t>
            </a:r>
            <a:endParaRPr lang="en-US" sz="1125" dirty="0"/>
          </a:p>
        </p:txBody>
      </p:sp>
      <p:sp>
        <p:nvSpPr>
          <p:cNvPr id="23" name="Text 20"/>
          <p:cNvSpPr/>
          <p:nvPr/>
        </p:nvSpPr>
        <p:spPr>
          <a:xfrm>
            <a:off x="13611225" y="4080421"/>
            <a:ext cx="3644694" cy="419100"/>
          </a:xfrm>
          <a:prstGeom prst="rect">
            <a:avLst/>
          </a:prstGeom>
          <a:noFill/>
          <a:ln/>
        </p:spPr>
        <p:txBody>
          <a:bodyPr wrap="square" lIns="25400" tIns="25400" rIns="25400" bIns="25400" rtlCol="0" anchor="t">
            <a:normAutofit/>
          </a:bodyPr>
          <a:lstStyle/>
          <a:p>
            <a:pPr algn="l" indent="0" marL="0">
              <a:lnSpc>
                <a:spcPct val="100000"/>
              </a:lnSpc>
              <a:buNone/>
            </a:pPr>
            <a:r>
              <a:rPr lang="en-US" sz="3000" b="1" spc="-90" kern="0" dirty="0">
                <a:solidFill>
                  <a:srgbClr val="0F1419"/>
                </a:solidFill>
                <a:latin typeface="Arial" pitchFamily="34" charset="0"/>
                <a:ea typeface="Arial" pitchFamily="34" charset="-122"/>
                <a:cs typeface="Arial" pitchFamily="34" charset="-120"/>
              </a:rPr>
              <a:t>50+ hrs</a:t>
            </a:r>
            <a:endParaRPr lang="en-US" sz="3000" dirty="0"/>
          </a:p>
        </p:txBody>
      </p:sp>
      <p:sp>
        <p:nvSpPr>
          <p:cNvPr id="24" name="Text 21"/>
          <p:cNvSpPr/>
          <p:nvPr/>
        </p:nvSpPr>
        <p:spPr>
          <a:xfrm>
            <a:off x="13611225" y="4804321"/>
            <a:ext cx="3644694" cy="274290"/>
          </a:xfrm>
          <a:prstGeom prst="rect">
            <a:avLst/>
          </a:prstGeom>
          <a:noFill/>
          <a:ln/>
        </p:spPr>
        <p:txBody>
          <a:bodyPr wrap="square" lIns="25400" tIns="25400" rIns="25400" bIns="25400" rtlCol="0" anchor="t">
            <a:normAutofit/>
          </a:bodyPr>
          <a:lstStyle/>
          <a:p>
            <a:pPr algn="l" indent="0" marL="0">
              <a:lnSpc>
                <a:spcPct val="155000"/>
              </a:lnSpc>
              <a:buNone/>
            </a:pPr>
            <a:r>
              <a:rPr lang="en-US" sz="1200" spc="48" kern="0" dirty="0">
                <a:solidFill>
                  <a:srgbClr val="6E7785"/>
                </a:solidFill>
                <a:latin typeface="Courier New" pitchFamily="34" charset="0"/>
                <a:ea typeface="Courier New" pitchFamily="34" charset="-122"/>
                <a:cs typeface="Courier New" pitchFamily="34" charset="-120"/>
              </a:rPr>
              <a:t>indie-hacker reports</a:t>
            </a:r>
            <a:endParaRPr lang="en-US" sz="1200" dirty="0"/>
          </a:p>
        </p:txBody>
      </p:sp>
      <p:sp>
        <p:nvSpPr>
          <p:cNvPr id="25" name="Shape 22"/>
          <p:cNvSpPr/>
          <p:nvPr/>
        </p:nvSpPr>
        <p:spPr>
          <a:xfrm>
            <a:off x="914400" y="5607248"/>
            <a:ext cx="5359375" cy="4421237"/>
          </a:xfrm>
          <a:prstGeom prst="roundRect">
            <a:avLst>
              <a:gd name="adj" fmla="val 3447"/>
            </a:avLst>
          </a:prstGeom>
          <a:solidFill>
            <a:srgbClr val="FFFFFF"/>
          </a:solidFill>
          <a:ln w="14288">
            <a:solidFill>
              <a:srgbClr val="DDE5EC"/>
            </a:solidFill>
            <a:prstDash val="solid"/>
          </a:ln>
          <a:effectLst>
            <a:outerShdw sx="100000" sy="100000" kx="0" ky="0" algn="bl" rotWithShape="0" blurRad="28575" dist="9525" dir="5400000">
              <a:srgbClr val="0F1419">
                <a:alpha val="4000"/>
              </a:srgbClr>
            </a:outerShdw>
          </a:effectLst>
        </p:spPr>
      </p:sp>
      <p:sp>
        <p:nvSpPr>
          <p:cNvPr id="26" name="Shape 23"/>
          <p:cNvSpPr/>
          <p:nvPr/>
        </p:nvSpPr>
        <p:spPr>
          <a:xfrm>
            <a:off x="1176338" y="5869186"/>
            <a:ext cx="533400" cy="533400"/>
          </a:xfrm>
          <a:prstGeom prst="ellipse">
            <a:avLst/>
          </a:prstGeom>
          <a:solidFill>
            <a:srgbClr val="EEEBFD"/>
          </a:solidFill>
          <a:ln/>
        </p:spPr>
      </p:sp>
      <p:sp>
        <p:nvSpPr>
          <p:cNvPr id="27" name="Text 24"/>
          <p:cNvSpPr/>
          <p:nvPr/>
        </p:nvSpPr>
        <p:spPr>
          <a:xfrm>
            <a:off x="1138237" y="5869186"/>
            <a:ext cx="609600" cy="571500"/>
          </a:xfrm>
          <a:prstGeom prst="rect">
            <a:avLst/>
          </a:prstGeom>
          <a:noFill/>
          <a:ln/>
        </p:spPr>
        <p:txBody>
          <a:bodyPr wrap="square" lIns="25400" tIns="25400" rIns="25400" bIns="25400" rtlCol="0" anchor="ctr">
            <a:normAutofit/>
          </a:bodyPr>
          <a:lstStyle/>
          <a:p>
            <a:pPr algn="ctr" indent="0" marL="0">
              <a:lnSpc>
                <a:spcPct val="150000"/>
              </a:lnSpc>
              <a:buNone/>
            </a:pPr>
            <a:r>
              <a:rPr lang="en-US" sz="1500" b="1" spc="-30" kern="0" dirty="0">
                <a:solidFill>
                  <a:srgbClr val="5B47F0"/>
                </a:solidFill>
                <a:latin typeface="Arial" pitchFamily="34" charset="0"/>
                <a:ea typeface="Arial" pitchFamily="34" charset="-122"/>
                <a:cs typeface="Arial" pitchFamily="34" charset="-120"/>
              </a:rPr>
              <a:t>M</a:t>
            </a:r>
            <a:endParaRPr lang="en-US" sz="1500" dirty="0"/>
          </a:p>
        </p:txBody>
      </p:sp>
      <p:sp>
        <p:nvSpPr>
          <p:cNvPr id="28" name="Text 25"/>
          <p:cNvSpPr/>
          <p:nvPr/>
        </p:nvSpPr>
        <p:spPr>
          <a:xfrm>
            <a:off x="1843088" y="5883027"/>
            <a:ext cx="1426071" cy="310455"/>
          </a:xfrm>
          <a:prstGeom prst="rect">
            <a:avLst/>
          </a:prstGeom>
          <a:noFill/>
          <a:ln/>
        </p:spPr>
        <p:txBody>
          <a:bodyPr wrap="square" lIns="25400" tIns="25400" rIns="25400" bIns="25400" rtlCol="0" anchor="t">
            <a:normAutofit/>
          </a:bodyPr>
          <a:lstStyle/>
          <a:p>
            <a:pPr algn="l" indent="0" marL="0">
              <a:lnSpc>
                <a:spcPct val="110000"/>
              </a:lnSpc>
              <a:buNone/>
            </a:pPr>
            <a:r>
              <a:rPr lang="en-US" sz="1950" b="1" spc="-39" kern="0" dirty="0">
                <a:solidFill>
                  <a:srgbClr val="0F1419"/>
                </a:solidFill>
                <a:latin typeface="Arial" pitchFamily="34" charset="0"/>
                <a:ea typeface="Arial" pitchFamily="34" charset="-122"/>
                <a:cs typeface="Arial" pitchFamily="34" charset="-120"/>
              </a:rPr>
              <a:t>Maya, 34</a:t>
            </a:r>
            <a:endParaRPr lang="en-US" sz="1950" dirty="0"/>
          </a:p>
        </p:txBody>
      </p:sp>
      <p:sp>
        <p:nvSpPr>
          <p:cNvPr id="29" name="Text 26"/>
          <p:cNvSpPr/>
          <p:nvPr/>
        </p:nvSpPr>
        <p:spPr>
          <a:xfrm>
            <a:off x="1843088" y="6203007"/>
            <a:ext cx="1426071" cy="223838"/>
          </a:xfrm>
          <a:prstGeom prst="rect">
            <a:avLst/>
          </a:prstGeom>
          <a:noFill/>
          <a:ln/>
        </p:spPr>
        <p:txBody>
          <a:bodyPr wrap="square" lIns="25400" tIns="25400" rIns="25400" bIns="25400" rtlCol="0" anchor="t">
            <a:normAutofit/>
          </a:bodyPr>
          <a:lstStyle/>
          <a:p>
            <a:pPr algn="l" indent="0" marL="0">
              <a:lnSpc>
                <a:spcPct val="150000"/>
              </a:lnSpc>
              <a:buNone/>
            </a:pPr>
            <a:r>
              <a:rPr lang="en-US" sz="975" spc="98" kern="0" dirty="0">
                <a:solidFill>
                  <a:srgbClr val="6E7785"/>
                </a:solidFill>
                <a:latin typeface="Courier New" pitchFamily="34" charset="0"/>
                <a:ea typeface="Courier New" pitchFamily="34" charset="-122"/>
                <a:cs typeface="Courier New" pitchFamily="34" charset="-120"/>
              </a:rPr>
              <a:t>🇬🇧 UK · DESIGNER</a:t>
            </a:r>
            <a:endParaRPr lang="en-US" sz="975" dirty="0"/>
          </a:p>
        </p:txBody>
      </p:sp>
      <p:sp>
        <p:nvSpPr>
          <p:cNvPr id="30" name="Shape 27"/>
          <p:cNvSpPr/>
          <p:nvPr/>
        </p:nvSpPr>
        <p:spPr>
          <a:xfrm>
            <a:off x="1176338" y="6535936"/>
            <a:ext cx="4835500" cy="9525"/>
          </a:xfrm>
          <a:prstGeom prst="rect">
            <a:avLst/>
          </a:prstGeom>
          <a:solidFill>
            <a:srgbClr val="DDE5EC"/>
          </a:solidFill>
          <a:ln/>
        </p:spPr>
      </p:sp>
      <p:sp>
        <p:nvSpPr>
          <p:cNvPr id="31" name="Text 28"/>
          <p:cNvSpPr/>
          <p:nvPr/>
        </p:nvSpPr>
        <p:spPr>
          <a:xfrm>
            <a:off x="1176338" y="6678811"/>
            <a:ext cx="4980565" cy="295275"/>
          </a:xfrm>
          <a:prstGeom prst="rect">
            <a:avLst/>
          </a:prstGeom>
          <a:noFill/>
          <a:ln/>
        </p:spPr>
        <p:txBody>
          <a:bodyPr wrap="square" lIns="25400" tIns="25400" rIns="25400" bIns="25400" rtlCol="0" anchor="t">
            <a:normAutofit/>
          </a:bodyPr>
          <a:lstStyle/>
          <a:p>
            <a:pPr algn="l" indent="0" marL="0">
              <a:lnSpc>
                <a:spcPct val="150000"/>
              </a:lnSpc>
              <a:buNone/>
            </a:pPr>
            <a:r>
              <a:rPr lang="en-US" sz="1350" dirty="0">
                <a:solidFill>
                  <a:srgbClr val="2A3340"/>
                </a:solidFill>
                <a:latin typeface="Arial" pitchFamily="34" charset="0"/>
                <a:ea typeface="Arial" pitchFamily="34" charset="-122"/>
                <a:cs typeface="Arial" pitchFamily="34" charset="-120"/>
              </a:rPr>
              <a:t>Senior brand designer · London · £85K + £15K freelance</a:t>
            </a:r>
            <a:endParaRPr lang="en-US" sz="1350" dirty="0"/>
          </a:p>
        </p:txBody>
      </p:sp>
      <p:sp>
        <p:nvSpPr>
          <p:cNvPr id="32" name="Shape 29"/>
          <p:cNvSpPr/>
          <p:nvPr/>
        </p:nvSpPr>
        <p:spPr>
          <a:xfrm>
            <a:off x="1176338" y="7202686"/>
            <a:ext cx="4835500" cy="9525"/>
          </a:xfrm>
          <a:prstGeom prst="rect">
            <a:avLst/>
          </a:prstGeom>
          <a:solidFill>
            <a:srgbClr val="DDE5EC"/>
          </a:solidFill>
          <a:ln/>
        </p:spPr>
      </p:sp>
      <p:sp>
        <p:nvSpPr>
          <p:cNvPr id="33" name="Text 30"/>
          <p:cNvSpPr/>
          <p:nvPr/>
        </p:nvSpPr>
        <p:spPr>
          <a:xfrm>
            <a:off x="1176338" y="7345561"/>
            <a:ext cx="933450" cy="267593"/>
          </a:xfrm>
          <a:prstGeom prst="rect">
            <a:avLst/>
          </a:prstGeom>
          <a:noFill/>
          <a:ln/>
        </p:spPr>
        <p:txBody>
          <a:bodyPr wrap="square" lIns="25400" tIns="25400" rIns="25400" bIns="25400" rtlCol="0" anchor="t">
            <a:normAutofit/>
          </a:bodyPr>
          <a:lstStyle/>
          <a:p>
            <a:pPr algn="l" indent="0" marL="0">
              <a:lnSpc>
                <a:spcPct val="145000"/>
              </a:lnSpc>
              <a:buNone/>
            </a:pPr>
            <a:r>
              <a:rPr lang="en-US" sz="1050" spc="126" kern="0" dirty="0">
                <a:solidFill>
                  <a:srgbClr val="6E7785"/>
                </a:solidFill>
                <a:latin typeface="Courier New" pitchFamily="34" charset="0"/>
                <a:ea typeface="Courier New" pitchFamily="34" charset="-122"/>
                <a:cs typeface="Courier New" pitchFamily="34" charset="-120"/>
              </a:rPr>
              <a:t>TOOLS</a:t>
            </a:r>
            <a:endParaRPr lang="en-US" sz="1050" dirty="0"/>
          </a:p>
        </p:txBody>
      </p:sp>
      <p:sp>
        <p:nvSpPr>
          <p:cNvPr id="34" name="Text 31"/>
          <p:cNvSpPr/>
          <p:nvPr/>
        </p:nvSpPr>
        <p:spPr>
          <a:xfrm>
            <a:off x="2185988" y="7326511"/>
            <a:ext cx="3940626" cy="286643"/>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2A3340"/>
                </a:solidFill>
                <a:latin typeface="Arial" pitchFamily="34" charset="0"/>
                <a:ea typeface="Arial" pitchFamily="34" charset="-122"/>
                <a:cs typeface="Arial" pitchFamily="34" charset="-120"/>
              </a:rPr>
              <a:t>Notion · Figma · Cursor · Claude · GitHub</a:t>
            </a:r>
            <a:endParaRPr lang="en-US" sz="1350" dirty="0"/>
          </a:p>
        </p:txBody>
      </p:sp>
      <p:sp>
        <p:nvSpPr>
          <p:cNvPr id="35" name="Shape 32"/>
          <p:cNvSpPr/>
          <p:nvPr/>
        </p:nvSpPr>
        <p:spPr>
          <a:xfrm>
            <a:off x="1176338" y="7822704"/>
            <a:ext cx="4835500" cy="9525"/>
          </a:xfrm>
          <a:prstGeom prst="rect">
            <a:avLst/>
          </a:prstGeom>
          <a:solidFill>
            <a:srgbClr val="DDE5EC"/>
          </a:solidFill>
          <a:ln/>
        </p:spPr>
      </p:sp>
      <p:sp>
        <p:nvSpPr>
          <p:cNvPr id="36" name="Text 33"/>
          <p:cNvSpPr/>
          <p:nvPr/>
        </p:nvSpPr>
        <p:spPr>
          <a:xfrm>
            <a:off x="1176338" y="7965579"/>
            <a:ext cx="933450" cy="267593"/>
          </a:xfrm>
          <a:prstGeom prst="rect">
            <a:avLst/>
          </a:prstGeom>
          <a:noFill/>
          <a:ln/>
        </p:spPr>
        <p:txBody>
          <a:bodyPr wrap="square" lIns="25400" tIns="25400" rIns="25400" bIns="25400" rtlCol="0" anchor="t">
            <a:normAutofit/>
          </a:bodyPr>
          <a:lstStyle/>
          <a:p>
            <a:pPr algn="l" indent="0" marL="0">
              <a:lnSpc>
                <a:spcPct val="145000"/>
              </a:lnSpc>
              <a:buNone/>
            </a:pPr>
            <a:r>
              <a:rPr lang="en-US" sz="1050" spc="126" kern="0" dirty="0">
                <a:solidFill>
                  <a:srgbClr val="6E7785"/>
                </a:solidFill>
                <a:latin typeface="Courier New" pitchFamily="34" charset="0"/>
                <a:ea typeface="Courier New" pitchFamily="34" charset="-122"/>
                <a:cs typeface="Courier New" pitchFamily="34" charset="-120"/>
              </a:rPr>
              <a:t>IDEA</a:t>
            </a:r>
            <a:endParaRPr lang="en-US" sz="1050" dirty="0"/>
          </a:p>
        </p:txBody>
      </p:sp>
      <p:sp>
        <p:nvSpPr>
          <p:cNvPr id="37" name="Text 34"/>
          <p:cNvSpPr/>
          <p:nvPr/>
        </p:nvSpPr>
        <p:spPr>
          <a:xfrm>
            <a:off x="2185988" y="7946529"/>
            <a:ext cx="3940626" cy="286643"/>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2A3340"/>
                </a:solidFill>
                <a:latin typeface="Arial" pitchFamily="34" charset="0"/>
                <a:ea typeface="Arial" pitchFamily="34" charset="-122"/>
                <a:cs typeface="Arial" pitchFamily="34" charset="-120"/>
              </a:rPr>
              <a:t>Meal-prep app for personal trainers</a:t>
            </a:r>
            <a:endParaRPr lang="en-US" sz="1350" dirty="0"/>
          </a:p>
        </p:txBody>
      </p:sp>
      <p:sp>
        <p:nvSpPr>
          <p:cNvPr id="38" name="Shape 35"/>
          <p:cNvSpPr/>
          <p:nvPr/>
        </p:nvSpPr>
        <p:spPr>
          <a:xfrm>
            <a:off x="1176338" y="8442722"/>
            <a:ext cx="4835500" cy="9525"/>
          </a:xfrm>
          <a:prstGeom prst="rect">
            <a:avLst/>
          </a:prstGeom>
          <a:solidFill>
            <a:srgbClr val="DDE5EC"/>
          </a:solidFill>
          <a:ln/>
        </p:spPr>
      </p:sp>
      <p:sp>
        <p:nvSpPr>
          <p:cNvPr id="39" name="Text 36"/>
          <p:cNvSpPr/>
          <p:nvPr/>
        </p:nvSpPr>
        <p:spPr>
          <a:xfrm>
            <a:off x="1176338" y="8585597"/>
            <a:ext cx="933450" cy="516136"/>
          </a:xfrm>
          <a:prstGeom prst="rect">
            <a:avLst/>
          </a:prstGeom>
          <a:noFill/>
          <a:ln/>
        </p:spPr>
        <p:txBody>
          <a:bodyPr wrap="square" lIns="25400" tIns="25400" rIns="25400" bIns="25400" rtlCol="0" anchor="t">
            <a:normAutofit/>
          </a:bodyPr>
          <a:lstStyle/>
          <a:p>
            <a:pPr algn="l" indent="0" marL="0">
              <a:lnSpc>
                <a:spcPct val="145000"/>
              </a:lnSpc>
              <a:buNone/>
            </a:pPr>
            <a:r>
              <a:rPr lang="en-US" sz="1050" spc="126" kern="0" dirty="0">
                <a:solidFill>
                  <a:srgbClr val="6E7785"/>
                </a:solidFill>
                <a:latin typeface="Courier New" pitchFamily="34" charset="0"/>
                <a:ea typeface="Courier New" pitchFamily="34" charset="-122"/>
                <a:cs typeface="Courier New" pitchFamily="34" charset="-120"/>
              </a:rPr>
              <a:t>PAIN</a:t>
            </a:r>
            <a:endParaRPr lang="en-US" sz="1050" dirty="0"/>
          </a:p>
        </p:txBody>
      </p:sp>
      <p:sp>
        <p:nvSpPr>
          <p:cNvPr id="40" name="Text 37"/>
          <p:cNvSpPr/>
          <p:nvPr/>
        </p:nvSpPr>
        <p:spPr>
          <a:xfrm>
            <a:off x="2185988" y="8566547"/>
            <a:ext cx="3940626" cy="535186"/>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2A3340"/>
                </a:solidFill>
                <a:latin typeface="Arial" pitchFamily="34" charset="0"/>
                <a:ea typeface="Arial" pitchFamily="34" charset="-122"/>
                <a:cs typeface="Arial" pitchFamily="34" charset="-120"/>
              </a:rPr>
              <a:t>Auth, Stripe, mail, mobile — none stitched together</a:t>
            </a:r>
            <a:endParaRPr lang="en-US" sz="1350" dirty="0"/>
          </a:p>
        </p:txBody>
      </p:sp>
      <p:sp>
        <p:nvSpPr>
          <p:cNvPr id="41" name="Shape 38"/>
          <p:cNvSpPr/>
          <p:nvPr/>
        </p:nvSpPr>
        <p:spPr>
          <a:xfrm>
            <a:off x="1176338" y="9311283"/>
            <a:ext cx="4835500" cy="9525"/>
          </a:xfrm>
          <a:prstGeom prst="rect">
            <a:avLst/>
          </a:prstGeom>
          <a:solidFill>
            <a:srgbClr val="DDE5EC"/>
          </a:solidFill>
          <a:ln/>
        </p:spPr>
      </p:sp>
      <p:sp>
        <p:nvSpPr>
          <p:cNvPr id="42" name="Text 39"/>
          <p:cNvSpPr/>
          <p:nvPr/>
        </p:nvSpPr>
        <p:spPr>
          <a:xfrm>
            <a:off x="1176338" y="9473208"/>
            <a:ext cx="4980565" cy="331440"/>
          </a:xfrm>
          <a:prstGeom prst="rect">
            <a:avLst/>
          </a:prstGeom>
          <a:noFill/>
          <a:ln/>
        </p:spPr>
        <p:txBody>
          <a:bodyPr wrap="square" lIns="25400" tIns="25400" rIns="25400" bIns="25400" rtlCol="0" anchor="t">
            <a:normAutofit/>
          </a:bodyPr>
          <a:lstStyle/>
          <a:p>
            <a:pPr algn="l" indent="0" marL="0">
              <a:lnSpc>
                <a:spcPct val="140000"/>
              </a:lnSpc>
              <a:buNone/>
            </a:pPr>
            <a:r>
              <a:rPr lang="en-US" sz="1650" spc="-16" kern="0" dirty="0">
                <a:solidFill>
                  <a:srgbClr val="0F1419"/>
                </a:solidFill>
                <a:latin typeface="Arial" pitchFamily="34" charset="0"/>
                <a:ea typeface="Arial" pitchFamily="34" charset="-122"/>
                <a:cs typeface="Arial" pitchFamily="34" charset="-120"/>
              </a:rPr>
              <a:t>"I want a real product, not a Lovable demo."</a:t>
            </a:r>
            <a:endParaRPr lang="en-US" sz="1650" dirty="0"/>
          </a:p>
        </p:txBody>
      </p:sp>
      <p:sp>
        <p:nvSpPr>
          <p:cNvPr id="43" name="Shape 40"/>
          <p:cNvSpPr/>
          <p:nvPr/>
        </p:nvSpPr>
        <p:spPr>
          <a:xfrm>
            <a:off x="6464275" y="5607248"/>
            <a:ext cx="5359375" cy="4421237"/>
          </a:xfrm>
          <a:prstGeom prst="roundRect">
            <a:avLst>
              <a:gd name="adj" fmla="val 3447"/>
            </a:avLst>
          </a:prstGeom>
          <a:solidFill>
            <a:srgbClr val="FFFFFF"/>
          </a:solidFill>
          <a:ln w="14288">
            <a:solidFill>
              <a:srgbClr val="DDE5EC"/>
            </a:solidFill>
            <a:prstDash val="solid"/>
          </a:ln>
          <a:effectLst>
            <a:outerShdw sx="100000" sy="100000" kx="0" ky="0" algn="bl" rotWithShape="0" blurRad="28575" dist="9525" dir="5400000">
              <a:srgbClr val="0F1419">
                <a:alpha val="4000"/>
              </a:srgbClr>
            </a:outerShdw>
          </a:effectLst>
        </p:spPr>
      </p:sp>
      <p:sp>
        <p:nvSpPr>
          <p:cNvPr id="44" name="Shape 41"/>
          <p:cNvSpPr/>
          <p:nvPr/>
        </p:nvSpPr>
        <p:spPr>
          <a:xfrm>
            <a:off x="6726213" y="5869186"/>
            <a:ext cx="533400" cy="533400"/>
          </a:xfrm>
          <a:prstGeom prst="ellipse">
            <a:avLst/>
          </a:prstGeom>
          <a:solidFill>
            <a:srgbClr val="EEEBFD"/>
          </a:solidFill>
          <a:ln/>
        </p:spPr>
      </p:sp>
      <p:sp>
        <p:nvSpPr>
          <p:cNvPr id="45" name="Text 42"/>
          <p:cNvSpPr/>
          <p:nvPr/>
        </p:nvSpPr>
        <p:spPr>
          <a:xfrm>
            <a:off x="6688113" y="5869186"/>
            <a:ext cx="609600" cy="571500"/>
          </a:xfrm>
          <a:prstGeom prst="rect">
            <a:avLst/>
          </a:prstGeom>
          <a:noFill/>
          <a:ln/>
        </p:spPr>
        <p:txBody>
          <a:bodyPr wrap="square" lIns="25400" tIns="25400" rIns="25400" bIns="25400" rtlCol="0" anchor="ctr">
            <a:normAutofit/>
          </a:bodyPr>
          <a:lstStyle/>
          <a:p>
            <a:pPr algn="ctr" indent="0" marL="0">
              <a:lnSpc>
                <a:spcPct val="150000"/>
              </a:lnSpc>
              <a:buNone/>
            </a:pPr>
            <a:r>
              <a:rPr lang="en-US" sz="1500" b="1" spc="-30" kern="0" dirty="0">
                <a:solidFill>
                  <a:srgbClr val="5B47F0"/>
                </a:solidFill>
                <a:latin typeface="Arial" pitchFamily="34" charset="0"/>
                <a:ea typeface="Arial" pitchFamily="34" charset="-122"/>
                <a:cs typeface="Arial" pitchFamily="34" charset="-120"/>
              </a:rPr>
              <a:t>M</a:t>
            </a:r>
            <a:endParaRPr lang="en-US" sz="1500" dirty="0"/>
          </a:p>
        </p:txBody>
      </p:sp>
      <p:sp>
        <p:nvSpPr>
          <p:cNvPr id="46" name="Text 43"/>
          <p:cNvSpPr/>
          <p:nvPr/>
        </p:nvSpPr>
        <p:spPr>
          <a:xfrm>
            <a:off x="7392963" y="5883027"/>
            <a:ext cx="1304702" cy="310455"/>
          </a:xfrm>
          <a:prstGeom prst="rect">
            <a:avLst/>
          </a:prstGeom>
          <a:noFill/>
          <a:ln/>
        </p:spPr>
        <p:txBody>
          <a:bodyPr wrap="square" lIns="25400" tIns="25400" rIns="25400" bIns="25400" rtlCol="0" anchor="t">
            <a:normAutofit/>
          </a:bodyPr>
          <a:lstStyle/>
          <a:p>
            <a:pPr algn="l" indent="0" marL="0">
              <a:lnSpc>
                <a:spcPct val="110000"/>
              </a:lnSpc>
              <a:buNone/>
            </a:pPr>
            <a:r>
              <a:rPr lang="en-US" sz="1950" b="1" spc="-39" kern="0" dirty="0">
                <a:solidFill>
                  <a:srgbClr val="0F1419"/>
                </a:solidFill>
                <a:latin typeface="Arial" pitchFamily="34" charset="0"/>
                <a:ea typeface="Arial" pitchFamily="34" charset="-122"/>
                <a:cs typeface="Arial" pitchFamily="34" charset="-120"/>
              </a:rPr>
              <a:t>Marcus, 47</a:t>
            </a:r>
            <a:endParaRPr lang="en-US" sz="1950" dirty="0"/>
          </a:p>
        </p:txBody>
      </p:sp>
      <p:sp>
        <p:nvSpPr>
          <p:cNvPr id="47" name="Text 44"/>
          <p:cNvSpPr/>
          <p:nvPr/>
        </p:nvSpPr>
        <p:spPr>
          <a:xfrm>
            <a:off x="7392963" y="6203007"/>
            <a:ext cx="1304702" cy="223838"/>
          </a:xfrm>
          <a:prstGeom prst="rect">
            <a:avLst/>
          </a:prstGeom>
          <a:noFill/>
          <a:ln/>
        </p:spPr>
        <p:txBody>
          <a:bodyPr wrap="square" lIns="25400" tIns="25400" rIns="25400" bIns="25400" rtlCol="0" anchor="t">
            <a:normAutofit/>
          </a:bodyPr>
          <a:lstStyle/>
          <a:p>
            <a:pPr algn="l" indent="0" marL="0">
              <a:lnSpc>
                <a:spcPct val="150000"/>
              </a:lnSpc>
              <a:buNone/>
            </a:pPr>
            <a:r>
              <a:rPr lang="en-US" sz="975" spc="98" kern="0" dirty="0">
                <a:solidFill>
                  <a:srgbClr val="6E7785"/>
                </a:solidFill>
                <a:latin typeface="Courier New" pitchFamily="34" charset="0"/>
                <a:ea typeface="Courier New" pitchFamily="34" charset="-122"/>
                <a:cs typeface="Courier New" pitchFamily="34" charset="-120"/>
              </a:rPr>
              <a:t>🇺🇸 US · EX-CTO</a:t>
            </a:r>
            <a:endParaRPr lang="en-US" sz="975" dirty="0"/>
          </a:p>
        </p:txBody>
      </p:sp>
      <p:sp>
        <p:nvSpPr>
          <p:cNvPr id="48" name="Shape 45"/>
          <p:cNvSpPr/>
          <p:nvPr/>
        </p:nvSpPr>
        <p:spPr>
          <a:xfrm>
            <a:off x="6726213" y="6535936"/>
            <a:ext cx="4835500" cy="9525"/>
          </a:xfrm>
          <a:prstGeom prst="rect">
            <a:avLst/>
          </a:prstGeom>
          <a:solidFill>
            <a:srgbClr val="DDE5EC"/>
          </a:solidFill>
          <a:ln/>
        </p:spPr>
      </p:sp>
      <p:sp>
        <p:nvSpPr>
          <p:cNvPr id="49" name="Text 46"/>
          <p:cNvSpPr/>
          <p:nvPr/>
        </p:nvSpPr>
        <p:spPr>
          <a:xfrm>
            <a:off x="6726213" y="6678811"/>
            <a:ext cx="4980565" cy="295275"/>
          </a:xfrm>
          <a:prstGeom prst="rect">
            <a:avLst/>
          </a:prstGeom>
          <a:noFill/>
          <a:ln/>
        </p:spPr>
        <p:txBody>
          <a:bodyPr wrap="square" lIns="25400" tIns="25400" rIns="25400" bIns="25400" rtlCol="0" anchor="t">
            <a:normAutofit/>
          </a:bodyPr>
          <a:lstStyle/>
          <a:p>
            <a:pPr algn="l" indent="0" marL="0">
              <a:lnSpc>
                <a:spcPct val="150000"/>
              </a:lnSpc>
              <a:buNone/>
            </a:pPr>
            <a:r>
              <a:rPr lang="en-US" sz="1350" dirty="0">
                <a:solidFill>
                  <a:srgbClr val="2A3340"/>
                </a:solidFill>
                <a:latin typeface="Arial" pitchFamily="34" charset="0"/>
                <a:ea typeface="Arial" pitchFamily="34" charset="-122"/>
                <a:cs typeface="Arial" pitchFamily="34" charset="-120"/>
              </a:rPr>
              <a:t>Indie consultant · Austin TX · $180K consulting + savings buffer</a:t>
            </a:r>
            <a:endParaRPr lang="en-US" sz="1350" dirty="0"/>
          </a:p>
        </p:txBody>
      </p:sp>
      <p:sp>
        <p:nvSpPr>
          <p:cNvPr id="50" name="Shape 47"/>
          <p:cNvSpPr/>
          <p:nvPr/>
        </p:nvSpPr>
        <p:spPr>
          <a:xfrm>
            <a:off x="6726213" y="7202686"/>
            <a:ext cx="4835500" cy="9525"/>
          </a:xfrm>
          <a:prstGeom prst="rect">
            <a:avLst/>
          </a:prstGeom>
          <a:solidFill>
            <a:srgbClr val="DDE5EC"/>
          </a:solidFill>
          <a:ln/>
        </p:spPr>
      </p:sp>
      <p:sp>
        <p:nvSpPr>
          <p:cNvPr id="51" name="Text 48"/>
          <p:cNvSpPr/>
          <p:nvPr/>
        </p:nvSpPr>
        <p:spPr>
          <a:xfrm>
            <a:off x="6726213" y="7345561"/>
            <a:ext cx="933450" cy="267593"/>
          </a:xfrm>
          <a:prstGeom prst="rect">
            <a:avLst/>
          </a:prstGeom>
          <a:noFill/>
          <a:ln/>
        </p:spPr>
        <p:txBody>
          <a:bodyPr wrap="square" lIns="25400" tIns="25400" rIns="25400" bIns="25400" rtlCol="0" anchor="t">
            <a:normAutofit/>
          </a:bodyPr>
          <a:lstStyle/>
          <a:p>
            <a:pPr algn="l" indent="0" marL="0">
              <a:lnSpc>
                <a:spcPct val="145000"/>
              </a:lnSpc>
              <a:buNone/>
            </a:pPr>
            <a:r>
              <a:rPr lang="en-US" sz="1050" spc="126" kern="0" dirty="0">
                <a:solidFill>
                  <a:srgbClr val="6E7785"/>
                </a:solidFill>
                <a:latin typeface="Courier New" pitchFamily="34" charset="0"/>
                <a:ea typeface="Courier New" pitchFamily="34" charset="-122"/>
                <a:cs typeface="Courier New" pitchFamily="34" charset="-120"/>
              </a:rPr>
              <a:t>TOOLS</a:t>
            </a:r>
            <a:endParaRPr lang="en-US" sz="1050" dirty="0"/>
          </a:p>
        </p:txBody>
      </p:sp>
      <p:sp>
        <p:nvSpPr>
          <p:cNvPr id="52" name="Text 49"/>
          <p:cNvSpPr/>
          <p:nvPr/>
        </p:nvSpPr>
        <p:spPr>
          <a:xfrm>
            <a:off x="7735863" y="7326511"/>
            <a:ext cx="3940626" cy="286643"/>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2A3340"/>
                </a:solidFill>
                <a:latin typeface="Arial" pitchFamily="34" charset="0"/>
                <a:ea typeface="Arial" pitchFamily="34" charset="-122"/>
                <a:cs typeface="Arial" pitchFamily="34" charset="-120"/>
              </a:rPr>
              <a:t>Cursor Pro · Claude Pro · GitHub · Linear</a:t>
            </a:r>
            <a:endParaRPr lang="en-US" sz="1350" dirty="0"/>
          </a:p>
        </p:txBody>
      </p:sp>
      <p:sp>
        <p:nvSpPr>
          <p:cNvPr id="53" name="Shape 50"/>
          <p:cNvSpPr/>
          <p:nvPr/>
        </p:nvSpPr>
        <p:spPr>
          <a:xfrm>
            <a:off x="6726213" y="7822704"/>
            <a:ext cx="4835500" cy="9525"/>
          </a:xfrm>
          <a:prstGeom prst="rect">
            <a:avLst/>
          </a:prstGeom>
          <a:solidFill>
            <a:srgbClr val="DDE5EC"/>
          </a:solidFill>
          <a:ln/>
        </p:spPr>
      </p:sp>
      <p:sp>
        <p:nvSpPr>
          <p:cNvPr id="54" name="Text 51"/>
          <p:cNvSpPr/>
          <p:nvPr/>
        </p:nvSpPr>
        <p:spPr>
          <a:xfrm>
            <a:off x="6726213" y="7965579"/>
            <a:ext cx="933450" cy="267593"/>
          </a:xfrm>
          <a:prstGeom prst="rect">
            <a:avLst/>
          </a:prstGeom>
          <a:noFill/>
          <a:ln/>
        </p:spPr>
        <p:txBody>
          <a:bodyPr wrap="square" lIns="25400" tIns="25400" rIns="25400" bIns="25400" rtlCol="0" anchor="t">
            <a:normAutofit/>
          </a:bodyPr>
          <a:lstStyle/>
          <a:p>
            <a:pPr algn="l" indent="0" marL="0">
              <a:lnSpc>
                <a:spcPct val="145000"/>
              </a:lnSpc>
              <a:buNone/>
            </a:pPr>
            <a:r>
              <a:rPr lang="en-US" sz="1050" spc="126" kern="0" dirty="0">
                <a:solidFill>
                  <a:srgbClr val="6E7785"/>
                </a:solidFill>
                <a:latin typeface="Courier New" pitchFamily="34" charset="0"/>
                <a:ea typeface="Courier New" pitchFamily="34" charset="-122"/>
                <a:cs typeface="Courier New" pitchFamily="34" charset="-120"/>
              </a:rPr>
              <a:t>IDEA</a:t>
            </a:r>
            <a:endParaRPr lang="en-US" sz="1050" dirty="0"/>
          </a:p>
        </p:txBody>
      </p:sp>
      <p:sp>
        <p:nvSpPr>
          <p:cNvPr id="55" name="Text 52"/>
          <p:cNvSpPr/>
          <p:nvPr/>
        </p:nvSpPr>
        <p:spPr>
          <a:xfrm>
            <a:off x="7735863" y="7946529"/>
            <a:ext cx="3940626" cy="286643"/>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2A3340"/>
                </a:solidFill>
                <a:latin typeface="Arial" pitchFamily="34" charset="0"/>
                <a:ea typeface="Arial" pitchFamily="34" charset="-122"/>
                <a:cs typeface="Arial" pitchFamily="34" charset="-120"/>
              </a:rPr>
              <a:t>AI estate-planning workflow for solo lawyers</a:t>
            </a:r>
            <a:endParaRPr lang="en-US" sz="1350" dirty="0"/>
          </a:p>
        </p:txBody>
      </p:sp>
      <p:sp>
        <p:nvSpPr>
          <p:cNvPr id="56" name="Shape 53"/>
          <p:cNvSpPr/>
          <p:nvPr/>
        </p:nvSpPr>
        <p:spPr>
          <a:xfrm>
            <a:off x="6726213" y="8442722"/>
            <a:ext cx="4835500" cy="9525"/>
          </a:xfrm>
          <a:prstGeom prst="rect">
            <a:avLst/>
          </a:prstGeom>
          <a:solidFill>
            <a:srgbClr val="DDE5EC"/>
          </a:solidFill>
          <a:ln/>
        </p:spPr>
      </p:sp>
      <p:sp>
        <p:nvSpPr>
          <p:cNvPr id="57" name="Text 54"/>
          <p:cNvSpPr/>
          <p:nvPr/>
        </p:nvSpPr>
        <p:spPr>
          <a:xfrm>
            <a:off x="6726213" y="8585597"/>
            <a:ext cx="933450" cy="267593"/>
          </a:xfrm>
          <a:prstGeom prst="rect">
            <a:avLst/>
          </a:prstGeom>
          <a:noFill/>
          <a:ln/>
        </p:spPr>
        <p:txBody>
          <a:bodyPr wrap="square" lIns="25400" tIns="25400" rIns="25400" bIns="25400" rtlCol="0" anchor="t">
            <a:normAutofit/>
          </a:bodyPr>
          <a:lstStyle/>
          <a:p>
            <a:pPr algn="l" indent="0" marL="0">
              <a:lnSpc>
                <a:spcPct val="145000"/>
              </a:lnSpc>
              <a:buNone/>
            </a:pPr>
            <a:r>
              <a:rPr lang="en-US" sz="1050" spc="126" kern="0" dirty="0">
                <a:solidFill>
                  <a:srgbClr val="6E7785"/>
                </a:solidFill>
                <a:latin typeface="Courier New" pitchFamily="34" charset="0"/>
                <a:ea typeface="Courier New" pitchFamily="34" charset="-122"/>
                <a:cs typeface="Courier New" pitchFamily="34" charset="-120"/>
              </a:rPr>
              <a:t>PAIN</a:t>
            </a:r>
            <a:endParaRPr lang="en-US" sz="1050" dirty="0"/>
          </a:p>
        </p:txBody>
      </p:sp>
      <p:sp>
        <p:nvSpPr>
          <p:cNvPr id="58" name="Text 55"/>
          <p:cNvSpPr/>
          <p:nvPr/>
        </p:nvSpPr>
        <p:spPr>
          <a:xfrm>
            <a:off x="7735863" y="8566547"/>
            <a:ext cx="3940626" cy="286643"/>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2A3340"/>
                </a:solidFill>
                <a:latin typeface="Arial" pitchFamily="34" charset="0"/>
                <a:ea typeface="Arial" pitchFamily="34" charset="-122"/>
                <a:cs typeface="Arial" pitchFamily="34" charset="-120"/>
              </a:rPr>
              <a:t>Knows infra. Refuses to spend weekends on it</a:t>
            </a:r>
            <a:endParaRPr lang="en-US" sz="1350" dirty="0"/>
          </a:p>
        </p:txBody>
      </p:sp>
      <p:sp>
        <p:nvSpPr>
          <p:cNvPr id="59" name="Shape 56"/>
          <p:cNvSpPr/>
          <p:nvPr/>
        </p:nvSpPr>
        <p:spPr>
          <a:xfrm>
            <a:off x="6726213" y="9062740"/>
            <a:ext cx="4835500" cy="9525"/>
          </a:xfrm>
          <a:prstGeom prst="rect">
            <a:avLst/>
          </a:prstGeom>
          <a:solidFill>
            <a:srgbClr val="DDE5EC"/>
          </a:solidFill>
          <a:ln/>
        </p:spPr>
      </p:sp>
      <p:sp>
        <p:nvSpPr>
          <p:cNvPr id="60" name="Text 57"/>
          <p:cNvSpPr/>
          <p:nvPr/>
        </p:nvSpPr>
        <p:spPr>
          <a:xfrm>
            <a:off x="6726213" y="9224665"/>
            <a:ext cx="4980565" cy="331440"/>
          </a:xfrm>
          <a:prstGeom prst="rect">
            <a:avLst/>
          </a:prstGeom>
          <a:noFill/>
          <a:ln/>
        </p:spPr>
        <p:txBody>
          <a:bodyPr wrap="square" lIns="25400" tIns="25400" rIns="25400" bIns="25400" rtlCol="0" anchor="t">
            <a:normAutofit/>
          </a:bodyPr>
          <a:lstStyle/>
          <a:p>
            <a:pPr algn="l" indent="0" marL="0">
              <a:lnSpc>
                <a:spcPct val="140000"/>
              </a:lnSpc>
              <a:buNone/>
            </a:pPr>
            <a:r>
              <a:rPr lang="en-US" sz="1650" spc="-16" kern="0" dirty="0">
                <a:solidFill>
                  <a:srgbClr val="0F1419"/>
                </a:solidFill>
                <a:latin typeface="Arial" pitchFamily="34" charset="0"/>
                <a:ea typeface="Arial" pitchFamily="34" charset="-122"/>
                <a:cs typeface="Arial" pitchFamily="34" charset="-120"/>
              </a:rPr>
              <a:t>"I'll pay £14 to save 60 hours of plumbing."</a:t>
            </a:r>
            <a:endParaRPr lang="en-US" sz="1650" dirty="0"/>
          </a:p>
        </p:txBody>
      </p:sp>
      <p:sp>
        <p:nvSpPr>
          <p:cNvPr id="61" name="Shape 58"/>
          <p:cNvSpPr/>
          <p:nvPr/>
        </p:nvSpPr>
        <p:spPr>
          <a:xfrm>
            <a:off x="12014150" y="5607248"/>
            <a:ext cx="5359450" cy="4421237"/>
          </a:xfrm>
          <a:prstGeom prst="roundRect">
            <a:avLst>
              <a:gd name="adj" fmla="val 3447"/>
            </a:avLst>
          </a:prstGeom>
          <a:solidFill>
            <a:srgbClr val="FFFFFF"/>
          </a:solidFill>
          <a:ln w="14288">
            <a:solidFill>
              <a:srgbClr val="DDE5EC"/>
            </a:solidFill>
            <a:prstDash val="solid"/>
          </a:ln>
          <a:effectLst>
            <a:outerShdw sx="100000" sy="100000" kx="0" ky="0" algn="bl" rotWithShape="0" blurRad="28575" dist="9525" dir="5400000">
              <a:srgbClr val="0F1419">
                <a:alpha val="4000"/>
              </a:srgbClr>
            </a:outerShdw>
          </a:effectLst>
        </p:spPr>
      </p:sp>
      <p:sp>
        <p:nvSpPr>
          <p:cNvPr id="62" name="Shape 59"/>
          <p:cNvSpPr/>
          <p:nvPr/>
        </p:nvSpPr>
        <p:spPr>
          <a:xfrm>
            <a:off x="12276088" y="5869186"/>
            <a:ext cx="533400" cy="533400"/>
          </a:xfrm>
          <a:prstGeom prst="ellipse">
            <a:avLst/>
          </a:prstGeom>
          <a:solidFill>
            <a:srgbClr val="EEEBFD"/>
          </a:solidFill>
          <a:ln/>
        </p:spPr>
      </p:sp>
      <p:sp>
        <p:nvSpPr>
          <p:cNvPr id="63" name="Text 60"/>
          <p:cNvSpPr/>
          <p:nvPr/>
        </p:nvSpPr>
        <p:spPr>
          <a:xfrm>
            <a:off x="12237988" y="5869186"/>
            <a:ext cx="609600" cy="571500"/>
          </a:xfrm>
          <a:prstGeom prst="rect">
            <a:avLst/>
          </a:prstGeom>
          <a:noFill/>
          <a:ln/>
        </p:spPr>
        <p:txBody>
          <a:bodyPr wrap="square" lIns="25400" tIns="25400" rIns="25400" bIns="25400" rtlCol="0" anchor="ctr">
            <a:normAutofit/>
          </a:bodyPr>
          <a:lstStyle/>
          <a:p>
            <a:pPr algn="ctr" indent="0" marL="0">
              <a:lnSpc>
                <a:spcPct val="150000"/>
              </a:lnSpc>
              <a:buNone/>
            </a:pPr>
            <a:r>
              <a:rPr lang="en-US" sz="1500" b="1" spc="-30" kern="0" dirty="0">
                <a:solidFill>
                  <a:srgbClr val="5B47F0"/>
                </a:solidFill>
                <a:latin typeface="Arial" pitchFamily="34" charset="0"/>
                <a:ea typeface="Arial" pitchFamily="34" charset="-122"/>
                <a:cs typeface="Arial" pitchFamily="34" charset="-120"/>
              </a:rPr>
              <a:t>P</a:t>
            </a:r>
            <a:endParaRPr lang="en-US" sz="1500" dirty="0"/>
          </a:p>
        </p:txBody>
      </p:sp>
      <p:sp>
        <p:nvSpPr>
          <p:cNvPr id="64" name="Text 61"/>
          <p:cNvSpPr/>
          <p:nvPr/>
        </p:nvSpPr>
        <p:spPr>
          <a:xfrm>
            <a:off x="12942838" y="5883027"/>
            <a:ext cx="1946225" cy="310455"/>
          </a:xfrm>
          <a:prstGeom prst="rect">
            <a:avLst/>
          </a:prstGeom>
          <a:noFill/>
          <a:ln/>
        </p:spPr>
        <p:txBody>
          <a:bodyPr wrap="square" lIns="25400" tIns="25400" rIns="25400" bIns="25400" rtlCol="0" anchor="t">
            <a:normAutofit/>
          </a:bodyPr>
          <a:lstStyle/>
          <a:p>
            <a:pPr algn="l" indent="0" marL="0">
              <a:lnSpc>
                <a:spcPct val="110000"/>
              </a:lnSpc>
              <a:buNone/>
            </a:pPr>
            <a:r>
              <a:rPr lang="en-US" sz="1950" b="1" spc="-39" kern="0" dirty="0">
                <a:solidFill>
                  <a:srgbClr val="0F1419"/>
                </a:solidFill>
                <a:latin typeface="Arial" pitchFamily="34" charset="0"/>
                <a:ea typeface="Arial" pitchFamily="34" charset="-122"/>
                <a:cs typeface="Arial" pitchFamily="34" charset="-120"/>
              </a:rPr>
              <a:t>Priya, 28</a:t>
            </a:r>
            <a:endParaRPr lang="en-US" sz="1950" dirty="0"/>
          </a:p>
        </p:txBody>
      </p:sp>
      <p:sp>
        <p:nvSpPr>
          <p:cNvPr id="65" name="Text 62"/>
          <p:cNvSpPr/>
          <p:nvPr/>
        </p:nvSpPr>
        <p:spPr>
          <a:xfrm>
            <a:off x="12942838" y="6203007"/>
            <a:ext cx="1946225" cy="223838"/>
          </a:xfrm>
          <a:prstGeom prst="rect">
            <a:avLst/>
          </a:prstGeom>
          <a:noFill/>
          <a:ln/>
        </p:spPr>
        <p:txBody>
          <a:bodyPr wrap="square" lIns="25400" tIns="25400" rIns="25400" bIns="25400" rtlCol="0" anchor="t">
            <a:normAutofit/>
          </a:bodyPr>
          <a:lstStyle/>
          <a:p>
            <a:pPr algn="l" indent="0" marL="0">
              <a:lnSpc>
                <a:spcPct val="150000"/>
              </a:lnSpc>
              <a:buNone/>
            </a:pPr>
            <a:r>
              <a:rPr lang="en-US" sz="975" spc="98" kern="0" dirty="0">
                <a:solidFill>
                  <a:srgbClr val="6E7785"/>
                </a:solidFill>
                <a:latin typeface="Courier New" pitchFamily="34" charset="0"/>
                <a:ea typeface="Courier New" pitchFamily="34" charset="-122"/>
                <a:cs typeface="Courier New" pitchFamily="34" charset="-120"/>
              </a:rPr>
              <a:t>🇸🇬 APAC · INDIE HACKER</a:t>
            </a:r>
            <a:endParaRPr lang="en-US" sz="975" dirty="0"/>
          </a:p>
        </p:txBody>
      </p:sp>
      <p:sp>
        <p:nvSpPr>
          <p:cNvPr id="66" name="Shape 63"/>
          <p:cNvSpPr/>
          <p:nvPr/>
        </p:nvSpPr>
        <p:spPr>
          <a:xfrm>
            <a:off x="12276088" y="6535936"/>
            <a:ext cx="4835575" cy="9525"/>
          </a:xfrm>
          <a:prstGeom prst="rect">
            <a:avLst/>
          </a:prstGeom>
          <a:solidFill>
            <a:srgbClr val="DDE5EC"/>
          </a:solidFill>
          <a:ln/>
        </p:spPr>
      </p:sp>
      <p:sp>
        <p:nvSpPr>
          <p:cNvPr id="67" name="Text 64"/>
          <p:cNvSpPr/>
          <p:nvPr/>
        </p:nvSpPr>
        <p:spPr>
          <a:xfrm>
            <a:off x="12276088" y="6678811"/>
            <a:ext cx="4980642" cy="295275"/>
          </a:xfrm>
          <a:prstGeom prst="rect">
            <a:avLst/>
          </a:prstGeom>
          <a:noFill/>
          <a:ln/>
        </p:spPr>
        <p:txBody>
          <a:bodyPr wrap="square" lIns="25400" tIns="25400" rIns="25400" bIns="25400" rtlCol="0" anchor="t">
            <a:normAutofit/>
          </a:bodyPr>
          <a:lstStyle/>
          <a:p>
            <a:pPr algn="l" indent="0" marL="0">
              <a:lnSpc>
                <a:spcPct val="150000"/>
              </a:lnSpc>
              <a:buNone/>
            </a:pPr>
            <a:r>
              <a:rPr lang="en-US" sz="1350" dirty="0">
                <a:solidFill>
                  <a:srgbClr val="2A3340"/>
                </a:solidFill>
                <a:latin typeface="Arial" pitchFamily="34" charset="0"/>
                <a:ea typeface="Arial" pitchFamily="34" charset="-122"/>
                <a:cs typeface="Arial" pitchFamily="34" charset="-120"/>
              </a:rPr>
              <a:t>Performance marketer · Singapore · SGD 95K (~£55K)</a:t>
            </a:r>
            <a:endParaRPr lang="en-US" sz="1350" dirty="0"/>
          </a:p>
        </p:txBody>
      </p:sp>
      <p:sp>
        <p:nvSpPr>
          <p:cNvPr id="68" name="Shape 65"/>
          <p:cNvSpPr/>
          <p:nvPr/>
        </p:nvSpPr>
        <p:spPr>
          <a:xfrm>
            <a:off x="12276088" y="7202686"/>
            <a:ext cx="4835575" cy="9525"/>
          </a:xfrm>
          <a:prstGeom prst="rect">
            <a:avLst/>
          </a:prstGeom>
          <a:solidFill>
            <a:srgbClr val="DDE5EC"/>
          </a:solidFill>
          <a:ln/>
        </p:spPr>
      </p:sp>
      <p:sp>
        <p:nvSpPr>
          <p:cNvPr id="69" name="Text 66"/>
          <p:cNvSpPr/>
          <p:nvPr/>
        </p:nvSpPr>
        <p:spPr>
          <a:xfrm>
            <a:off x="12276088" y="7345561"/>
            <a:ext cx="933450" cy="267593"/>
          </a:xfrm>
          <a:prstGeom prst="rect">
            <a:avLst/>
          </a:prstGeom>
          <a:noFill/>
          <a:ln/>
        </p:spPr>
        <p:txBody>
          <a:bodyPr wrap="square" lIns="25400" tIns="25400" rIns="25400" bIns="25400" rtlCol="0" anchor="t">
            <a:normAutofit/>
          </a:bodyPr>
          <a:lstStyle/>
          <a:p>
            <a:pPr algn="l" indent="0" marL="0">
              <a:lnSpc>
                <a:spcPct val="145000"/>
              </a:lnSpc>
              <a:buNone/>
            </a:pPr>
            <a:r>
              <a:rPr lang="en-US" sz="1050" spc="126" kern="0" dirty="0">
                <a:solidFill>
                  <a:srgbClr val="6E7785"/>
                </a:solidFill>
                <a:latin typeface="Courier New" pitchFamily="34" charset="0"/>
                <a:ea typeface="Courier New" pitchFamily="34" charset="-122"/>
                <a:cs typeface="Courier New" pitchFamily="34" charset="-120"/>
              </a:rPr>
              <a:t>TOOLS</a:t>
            </a:r>
            <a:endParaRPr lang="en-US" sz="1050" dirty="0"/>
          </a:p>
        </p:txBody>
      </p:sp>
      <p:sp>
        <p:nvSpPr>
          <p:cNvPr id="70" name="Text 67"/>
          <p:cNvSpPr/>
          <p:nvPr/>
        </p:nvSpPr>
        <p:spPr>
          <a:xfrm>
            <a:off x="13285738" y="7326511"/>
            <a:ext cx="3940702" cy="286643"/>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2A3340"/>
                </a:solidFill>
                <a:latin typeface="Arial" pitchFamily="34" charset="0"/>
                <a:ea typeface="Arial" pitchFamily="34" charset="-122"/>
                <a:cs typeface="Arial" pitchFamily="34" charset="-120"/>
              </a:rPr>
              <a:t>Lovable · Cursor · Notion · Linear · Stripe</a:t>
            </a:r>
            <a:endParaRPr lang="en-US" sz="1350" dirty="0"/>
          </a:p>
        </p:txBody>
      </p:sp>
      <p:sp>
        <p:nvSpPr>
          <p:cNvPr id="71" name="Shape 68"/>
          <p:cNvSpPr/>
          <p:nvPr/>
        </p:nvSpPr>
        <p:spPr>
          <a:xfrm>
            <a:off x="12276088" y="7822704"/>
            <a:ext cx="4835575" cy="9525"/>
          </a:xfrm>
          <a:prstGeom prst="rect">
            <a:avLst/>
          </a:prstGeom>
          <a:solidFill>
            <a:srgbClr val="DDE5EC"/>
          </a:solidFill>
          <a:ln/>
        </p:spPr>
      </p:sp>
      <p:sp>
        <p:nvSpPr>
          <p:cNvPr id="72" name="Text 69"/>
          <p:cNvSpPr/>
          <p:nvPr/>
        </p:nvSpPr>
        <p:spPr>
          <a:xfrm>
            <a:off x="12276088" y="7965579"/>
            <a:ext cx="933450" cy="267593"/>
          </a:xfrm>
          <a:prstGeom prst="rect">
            <a:avLst/>
          </a:prstGeom>
          <a:noFill/>
          <a:ln/>
        </p:spPr>
        <p:txBody>
          <a:bodyPr wrap="square" lIns="25400" tIns="25400" rIns="25400" bIns="25400" rtlCol="0" anchor="t">
            <a:normAutofit/>
          </a:bodyPr>
          <a:lstStyle/>
          <a:p>
            <a:pPr algn="l" indent="0" marL="0">
              <a:lnSpc>
                <a:spcPct val="145000"/>
              </a:lnSpc>
              <a:buNone/>
            </a:pPr>
            <a:r>
              <a:rPr lang="en-US" sz="1050" spc="126" kern="0" dirty="0">
                <a:solidFill>
                  <a:srgbClr val="6E7785"/>
                </a:solidFill>
                <a:latin typeface="Courier New" pitchFamily="34" charset="0"/>
                <a:ea typeface="Courier New" pitchFamily="34" charset="-122"/>
                <a:cs typeface="Courier New" pitchFamily="34" charset="-120"/>
              </a:rPr>
              <a:t>IDEA</a:t>
            </a:r>
            <a:endParaRPr lang="en-US" sz="1050" dirty="0"/>
          </a:p>
        </p:txBody>
      </p:sp>
      <p:sp>
        <p:nvSpPr>
          <p:cNvPr id="73" name="Text 70"/>
          <p:cNvSpPr/>
          <p:nvPr/>
        </p:nvSpPr>
        <p:spPr>
          <a:xfrm>
            <a:off x="13285738" y="7946529"/>
            <a:ext cx="3940702" cy="286643"/>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2A3340"/>
                </a:solidFill>
                <a:latin typeface="Arial" pitchFamily="34" charset="0"/>
                <a:ea typeface="Arial" pitchFamily="34" charset="-122"/>
                <a:cs typeface="Arial" pitchFamily="34" charset="-120"/>
              </a:rPr>
              <a:t>Wedding &amp; event planner SaaS for SE Asia</a:t>
            </a:r>
            <a:endParaRPr lang="en-US" sz="1350" dirty="0"/>
          </a:p>
        </p:txBody>
      </p:sp>
      <p:sp>
        <p:nvSpPr>
          <p:cNvPr id="74" name="Shape 71"/>
          <p:cNvSpPr/>
          <p:nvPr/>
        </p:nvSpPr>
        <p:spPr>
          <a:xfrm>
            <a:off x="12276088" y="8442722"/>
            <a:ext cx="4835575" cy="9525"/>
          </a:xfrm>
          <a:prstGeom prst="rect">
            <a:avLst/>
          </a:prstGeom>
          <a:solidFill>
            <a:srgbClr val="DDE5EC"/>
          </a:solidFill>
          <a:ln/>
        </p:spPr>
      </p:sp>
      <p:sp>
        <p:nvSpPr>
          <p:cNvPr id="75" name="Text 72"/>
          <p:cNvSpPr/>
          <p:nvPr/>
        </p:nvSpPr>
        <p:spPr>
          <a:xfrm>
            <a:off x="12276088" y="8585597"/>
            <a:ext cx="933450" cy="267593"/>
          </a:xfrm>
          <a:prstGeom prst="rect">
            <a:avLst/>
          </a:prstGeom>
          <a:noFill/>
          <a:ln/>
        </p:spPr>
        <p:txBody>
          <a:bodyPr wrap="square" lIns="25400" tIns="25400" rIns="25400" bIns="25400" rtlCol="0" anchor="t">
            <a:normAutofit/>
          </a:bodyPr>
          <a:lstStyle/>
          <a:p>
            <a:pPr algn="l" indent="0" marL="0">
              <a:lnSpc>
                <a:spcPct val="145000"/>
              </a:lnSpc>
              <a:buNone/>
            </a:pPr>
            <a:r>
              <a:rPr lang="en-US" sz="1050" spc="126" kern="0" dirty="0">
                <a:solidFill>
                  <a:srgbClr val="6E7785"/>
                </a:solidFill>
                <a:latin typeface="Courier New" pitchFamily="34" charset="0"/>
                <a:ea typeface="Courier New" pitchFamily="34" charset="-122"/>
                <a:cs typeface="Courier New" pitchFamily="34" charset="-120"/>
              </a:rPr>
              <a:t>PAIN</a:t>
            </a:r>
            <a:endParaRPr lang="en-US" sz="1050" dirty="0"/>
          </a:p>
        </p:txBody>
      </p:sp>
      <p:sp>
        <p:nvSpPr>
          <p:cNvPr id="76" name="Text 73"/>
          <p:cNvSpPr/>
          <p:nvPr/>
        </p:nvSpPr>
        <p:spPr>
          <a:xfrm>
            <a:off x="13285738" y="8566547"/>
            <a:ext cx="3940702" cy="286643"/>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2A3340"/>
                </a:solidFill>
                <a:latin typeface="Arial" pitchFamily="34" charset="0"/>
                <a:ea typeface="Arial" pitchFamily="34" charset="-122"/>
                <a:cs typeface="Arial" pitchFamily="34" charset="-120"/>
              </a:rPr>
              <a:t>Lovable boxed her in — no real DB, no MoR</a:t>
            </a:r>
            <a:endParaRPr lang="en-US" sz="1350" dirty="0"/>
          </a:p>
        </p:txBody>
      </p:sp>
      <p:sp>
        <p:nvSpPr>
          <p:cNvPr id="77" name="Shape 74"/>
          <p:cNvSpPr/>
          <p:nvPr/>
        </p:nvSpPr>
        <p:spPr>
          <a:xfrm>
            <a:off x="12276088" y="9062740"/>
            <a:ext cx="4835575" cy="9525"/>
          </a:xfrm>
          <a:prstGeom prst="rect">
            <a:avLst/>
          </a:prstGeom>
          <a:solidFill>
            <a:srgbClr val="DDE5EC"/>
          </a:solidFill>
          <a:ln/>
        </p:spPr>
      </p:sp>
      <p:sp>
        <p:nvSpPr>
          <p:cNvPr id="78" name="Text 75"/>
          <p:cNvSpPr/>
          <p:nvPr/>
        </p:nvSpPr>
        <p:spPr>
          <a:xfrm>
            <a:off x="12276088" y="9224665"/>
            <a:ext cx="4980642" cy="331440"/>
          </a:xfrm>
          <a:prstGeom prst="rect">
            <a:avLst/>
          </a:prstGeom>
          <a:noFill/>
          <a:ln/>
        </p:spPr>
        <p:txBody>
          <a:bodyPr wrap="square" lIns="25400" tIns="25400" rIns="25400" bIns="25400" rtlCol="0" anchor="t">
            <a:normAutofit/>
          </a:bodyPr>
          <a:lstStyle/>
          <a:p>
            <a:pPr algn="l" indent="0" marL="0">
              <a:lnSpc>
                <a:spcPct val="140000"/>
              </a:lnSpc>
              <a:buNone/>
            </a:pPr>
            <a:r>
              <a:rPr lang="en-US" sz="1650" spc="-16" kern="0" dirty="0">
                <a:solidFill>
                  <a:srgbClr val="0F1419"/>
                </a:solidFill>
                <a:latin typeface="Arial" pitchFamily="34" charset="0"/>
                <a:ea typeface="Arial" pitchFamily="34" charset="-122"/>
                <a:cs typeface="Arial" pitchFamily="34" charset="-120"/>
              </a:rPr>
              <a:t>"Paddle MoR + multi-region from day one."</a:t>
            </a:r>
            <a:endParaRPr lang="en-US" sz="1650" dirty="0"/>
          </a:p>
        </p:txBody>
      </p:sp>
      <p:sp>
        <p:nvSpPr>
          <p:cNvPr id="79" name="Text 76"/>
          <p:cNvSpPr/>
          <p:nvPr/>
        </p:nvSpPr>
        <p:spPr>
          <a:xfrm>
            <a:off x="914400" y="10290423"/>
            <a:ext cx="2938933"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spc="144" kern="0" dirty="0">
                <a:solidFill>
                  <a:srgbClr val="5B47F0"/>
                </a:solidFill>
                <a:latin typeface="Courier New" pitchFamily="34" charset="0"/>
                <a:ea typeface="Courier New" pitchFamily="34" charset="-122"/>
                <a:cs typeface="Courier New" pitchFamily="34" charset="-120"/>
              </a:rPr>
              <a:t>WHY ALL THREE PICK HATCHIK</a:t>
            </a:r>
            <a:endParaRPr lang="en-US" sz="1200" dirty="0"/>
          </a:p>
        </p:txBody>
      </p:sp>
      <p:sp>
        <p:nvSpPr>
          <p:cNvPr id="80" name="Shape 77"/>
          <p:cNvSpPr/>
          <p:nvPr/>
        </p:nvSpPr>
        <p:spPr>
          <a:xfrm>
            <a:off x="3901083" y="10257086"/>
            <a:ext cx="1322263" cy="295275"/>
          </a:xfrm>
          <a:prstGeom prst="roundRect">
            <a:avLst>
              <a:gd name="adj" fmla="val 22581"/>
            </a:avLst>
          </a:prstGeom>
          <a:solidFill>
            <a:srgbClr val="EEF2F7"/>
          </a:solidFill>
          <a:ln w="14288">
            <a:solidFill>
              <a:srgbClr val="DDE5EC"/>
            </a:solidFill>
            <a:prstDash val="solid"/>
          </a:ln>
        </p:spPr>
      </p:sp>
      <p:sp>
        <p:nvSpPr>
          <p:cNvPr id="81" name="Text 78"/>
          <p:cNvSpPr/>
          <p:nvPr/>
        </p:nvSpPr>
        <p:spPr>
          <a:xfrm>
            <a:off x="4048720" y="10338048"/>
            <a:ext cx="1103188" cy="171450"/>
          </a:xfrm>
          <a:prstGeom prst="rect">
            <a:avLst/>
          </a:prstGeom>
          <a:noFill/>
          <a:ln/>
        </p:spPr>
        <p:txBody>
          <a:bodyPr wrap="square" lIns="25400" tIns="25400" rIns="25400" bIns="25400" rtlCol="0" anchor="ctr">
            <a:normAutofit/>
          </a:bodyPr>
          <a:lstStyle/>
          <a:p>
            <a:pPr algn="l" indent="0" marL="0">
              <a:lnSpc>
                <a:spcPct val="100000"/>
              </a:lnSpc>
              <a:buNone/>
            </a:pPr>
            <a:r>
              <a:rPr lang="en-US" sz="1050" spc="105" kern="0" dirty="0">
                <a:solidFill>
                  <a:srgbClr val="0F1419"/>
                </a:solidFill>
                <a:latin typeface="Courier New" pitchFamily="34" charset="0"/>
                <a:ea typeface="Courier New" pitchFamily="34" charset="-122"/>
                <a:cs typeface="Courier New" pitchFamily="34" charset="-120"/>
              </a:rPr>
              <a:t>BYO AI TOOL</a:t>
            </a:r>
            <a:endParaRPr lang="en-US" sz="1050" dirty="0"/>
          </a:p>
        </p:txBody>
      </p:sp>
      <p:sp>
        <p:nvSpPr>
          <p:cNvPr id="82" name="Shape 79"/>
          <p:cNvSpPr/>
          <p:nvPr/>
        </p:nvSpPr>
        <p:spPr>
          <a:xfrm>
            <a:off x="5318596" y="10257086"/>
            <a:ext cx="2162473" cy="295275"/>
          </a:xfrm>
          <a:prstGeom prst="roundRect">
            <a:avLst>
              <a:gd name="adj" fmla="val 22581"/>
            </a:avLst>
          </a:prstGeom>
          <a:solidFill>
            <a:srgbClr val="EEF2F7"/>
          </a:solidFill>
          <a:ln w="14288">
            <a:solidFill>
              <a:srgbClr val="DDE5EC"/>
            </a:solidFill>
            <a:prstDash val="solid"/>
          </a:ln>
        </p:spPr>
      </p:sp>
      <p:sp>
        <p:nvSpPr>
          <p:cNvPr id="83" name="Text 80"/>
          <p:cNvSpPr/>
          <p:nvPr/>
        </p:nvSpPr>
        <p:spPr>
          <a:xfrm>
            <a:off x="5466234" y="10338048"/>
            <a:ext cx="1943398" cy="171450"/>
          </a:xfrm>
          <a:prstGeom prst="rect">
            <a:avLst/>
          </a:prstGeom>
          <a:noFill/>
          <a:ln/>
        </p:spPr>
        <p:txBody>
          <a:bodyPr wrap="square" lIns="25400" tIns="25400" rIns="25400" bIns="25400" rtlCol="0" anchor="ctr">
            <a:normAutofit/>
          </a:bodyPr>
          <a:lstStyle/>
          <a:p>
            <a:pPr algn="l" indent="0" marL="0">
              <a:lnSpc>
                <a:spcPct val="100000"/>
              </a:lnSpc>
              <a:buNone/>
            </a:pPr>
            <a:r>
              <a:rPr lang="en-US" sz="1050" spc="105" kern="0" dirty="0">
                <a:solidFill>
                  <a:srgbClr val="0F1419"/>
                </a:solidFill>
                <a:latin typeface="Courier New" pitchFamily="34" charset="0"/>
                <a:ea typeface="Courier New" pitchFamily="34" charset="-122"/>
                <a:cs typeface="Courier New" pitchFamily="34" charset="-120"/>
              </a:rPr>
              <a:t>CODE ON THEIR GITHUB</a:t>
            </a:r>
            <a:endParaRPr lang="en-US" sz="1050" dirty="0"/>
          </a:p>
        </p:txBody>
      </p:sp>
      <p:sp>
        <p:nvSpPr>
          <p:cNvPr id="84" name="Shape 81"/>
          <p:cNvSpPr/>
          <p:nvPr/>
        </p:nvSpPr>
        <p:spPr>
          <a:xfrm>
            <a:off x="7576319" y="10257086"/>
            <a:ext cx="2255862" cy="295275"/>
          </a:xfrm>
          <a:prstGeom prst="roundRect">
            <a:avLst>
              <a:gd name="adj" fmla="val 22581"/>
            </a:avLst>
          </a:prstGeom>
          <a:solidFill>
            <a:srgbClr val="EEF2F7"/>
          </a:solidFill>
          <a:ln w="14288">
            <a:solidFill>
              <a:srgbClr val="DDE5EC"/>
            </a:solidFill>
            <a:prstDash val="solid"/>
          </a:ln>
        </p:spPr>
      </p:sp>
      <p:sp>
        <p:nvSpPr>
          <p:cNvPr id="85" name="Text 82"/>
          <p:cNvSpPr/>
          <p:nvPr/>
        </p:nvSpPr>
        <p:spPr>
          <a:xfrm>
            <a:off x="7723956" y="10338048"/>
            <a:ext cx="2036787" cy="171450"/>
          </a:xfrm>
          <a:prstGeom prst="rect">
            <a:avLst/>
          </a:prstGeom>
          <a:noFill/>
          <a:ln/>
        </p:spPr>
        <p:txBody>
          <a:bodyPr wrap="square" lIns="25400" tIns="25400" rIns="25400" bIns="25400" rtlCol="0" anchor="ctr">
            <a:normAutofit/>
          </a:bodyPr>
          <a:lstStyle/>
          <a:p>
            <a:pPr algn="l" indent="0" marL="0">
              <a:lnSpc>
                <a:spcPct val="100000"/>
              </a:lnSpc>
              <a:buNone/>
            </a:pPr>
            <a:r>
              <a:rPr lang="en-US" sz="1050" spc="105" kern="0" dirty="0">
                <a:solidFill>
                  <a:srgbClr val="0F1419"/>
                </a:solidFill>
                <a:latin typeface="Courier New" pitchFamily="34" charset="0"/>
                <a:ea typeface="Courier New" pitchFamily="34" charset="-122"/>
                <a:cs typeface="Courier New" pitchFamily="34" charset="-120"/>
              </a:rPr>
              <a:t>5–7× CHEAPER THAN DIY</a:t>
            </a:r>
            <a:endParaRPr lang="en-US" sz="1050" dirty="0"/>
          </a:p>
        </p:txBody>
      </p:sp>
      <p:sp>
        <p:nvSpPr>
          <p:cNvPr id="86" name="Shape 83"/>
          <p:cNvSpPr/>
          <p:nvPr/>
        </p:nvSpPr>
        <p:spPr>
          <a:xfrm>
            <a:off x="9927431" y="10257086"/>
            <a:ext cx="1415579" cy="295275"/>
          </a:xfrm>
          <a:prstGeom prst="roundRect">
            <a:avLst>
              <a:gd name="adj" fmla="val 22581"/>
            </a:avLst>
          </a:prstGeom>
          <a:solidFill>
            <a:srgbClr val="5B47F0"/>
          </a:solidFill>
          <a:ln/>
        </p:spPr>
      </p:sp>
      <p:sp>
        <p:nvSpPr>
          <p:cNvPr id="87" name="Text 84"/>
          <p:cNvSpPr/>
          <p:nvPr/>
        </p:nvSpPr>
        <p:spPr>
          <a:xfrm>
            <a:off x="10075069" y="10338048"/>
            <a:ext cx="1196504" cy="171450"/>
          </a:xfrm>
          <a:prstGeom prst="rect">
            <a:avLst/>
          </a:prstGeom>
          <a:noFill/>
          <a:ln/>
        </p:spPr>
        <p:txBody>
          <a:bodyPr wrap="square" lIns="25400" tIns="25400" rIns="25400" bIns="25400" rtlCol="0" anchor="ctr">
            <a:normAutofit/>
          </a:bodyPr>
          <a:lstStyle/>
          <a:p>
            <a:pPr algn="l" indent="0" marL="0">
              <a:lnSpc>
                <a:spcPct val="100000"/>
              </a:lnSpc>
              <a:buNone/>
            </a:pPr>
            <a:r>
              <a:rPr lang="en-US" sz="1050" spc="105" kern="0" dirty="0">
                <a:solidFill>
                  <a:srgbClr val="FFFFFF"/>
                </a:solidFill>
                <a:latin typeface="Courier New" pitchFamily="34" charset="0"/>
                <a:ea typeface="Courier New" pitchFamily="34" charset="-122"/>
                <a:cs typeface="Courier New" pitchFamily="34" charset="-120"/>
              </a:rPr>
              <a:t>DAY-ONE SAAS</a:t>
            </a:r>
            <a:endParaRPr lang="en-US" sz="1050" dirty="0"/>
          </a:p>
        </p:txBody>
      </p:sp>
      <p:sp>
        <p:nvSpPr>
          <p:cNvPr id="88" name="Shape 85"/>
          <p:cNvSpPr/>
          <p:nvPr/>
        </p:nvSpPr>
        <p:spPr>
          <a:xfrm>
            <a:off x="914400" y="10552361"/>
            <a:ext cx="16459200" cy="9525"/>
          </a:xfrm>
          <a:prstGeom prst="rect">
            <a:avLst/>
          </a:prstGeom>
          <a:solidFill>
            <a:srgbClr val="DDE5EC"/>
          </a:solidFill>
          <a:ln/>
        </p:spPr>
      </p:sp>
      <p:sp>
        <p:nvSpPr>
          <p:cNvPr id="89" name="Text 86"/>
          <p:cNvSpPr/>
          <p:nvPr/>
        </p:nvSpPr>
        <p:spPr>
          <a:xfrm>
            <a:off x="914400" y="10797629"/>
            <a:ext cx="4533256"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113" kern="0" dirty="0">
                <a:solidFill>
                  <a:srgbClr val="6E7785"/>
                </a:solidFill>
                <a:latin typeface="Courier New" pitchFamily="34" charset="0"/>
                <a:ea typeface="Courier New" pitchFamily="34" charset="-122"/>
                <a:cs typeface="Courier New" pitchFamily="34" charset="-120"/>
              </a:rPr>
              <a:t>HATCHIK · INVESTOR &amp; PARTNER DECK · MAY 2026</a:t>
            </a:r>
            <a:endParaRPr lang="en-US" sz="1125" dirty="0"/>
          </a:p>
        </p:txBody>
      </p:sp>
      <p:sp>
        <p:nvSpPr>
          <p:cNvPr id="90" name="Text 87"/>
          <p:cNvSpPr/>
          <p:nvPr/>
        </p:nvSpPr>
        <p:spPr>
          <a:xfrm>
            <a:off x="16690851" y="10790486"/>
            <a:ext cx="758949"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spc="48" kern="0" dirty="0">
                <a:solidFill>
                  <a:srgbClr val="0F1419"/>
                </a:solidFill>
                <a:latin typeface="Courier New" pitchFamily="34" charset="0"/>
                <a:ea typeface="Courier New" pitchFamily="34" charset="-122"/>
                <a:cs typeface="Courier New" pitchFamily="34" charset="-120"/>
              </a:rPr>
              <a:t>09 / 31</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5B47F0">
              <a:alpha val="4000"/>
            </a:srgbClr>
          </a:solidFill>
          <a:ln/>
        </p:spPr>
      </p:sp>
      <p:sp>
        <p:nvSpPr>
          <p:cNvPr id="3" name="Shape 1"/>
          <p:cNvSpPr/>
          <p:nvPr/>
        </p:nvSpPr>
        <p:spPr>
          <a:xfrm>
            <a:off x="914400" y="1009650"/>
            <a:ext cx="16459200" cy="9525"/>
          </a:xfrm>
          <a:prstGeom prst="rect">
            <a:avLst/>
          </a:prstGeom>
          <a:solidFill>
            <a:srgbClr val="DDE5EC"/>
          </a:solidFill>
          <a:ln/>
        </p:spPr>
      </p:sp>
      <p:pic>
        <p:nvPicPr>
          <p:cNvPr id="4" name="Image 0" descr="preencoded.png">    </p:cNvPr>
          <p:cNvPicPr>
            <a:picLocks noChangeAspect="1"/>
          </p:cNvPicPr>
          <p:nvPr/>
        </p:nvPicPr>
        <p:blipFill>
          <a:blip r:embed="rId1"/>
          <a:stretch>
            <a:fillRect/>
          </a:stretch>
        </p:blipFill>
        <p:spPr>
          <a:xfrm>
            <a:off x="914400" y="571500"/>
            <a:ext cx="209550" cy="209550"/>
          </a:xfrm>
          <a:prstGeom prst="rect">
            <a:avLst/>
          </a:prstGeom>
        </p:spPr>
      </p:pic>
      <p:sp>
        <p:nvSpPr>
          <p:cNvPr id="5" name="Text 2"/>
          <p:cNvSpPr/>
          <p:nvPr/>
        </p:nvSpPr>
        <p:spPr>
          <a:xfrm>
            <a:off x="1219200" y="533400"/>
            <a:ext cx="745108"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spc="-37" kern="0" dirty="0">
                <a:solidFill>
                  <a:srgbClr val="0F1419"/>
                </a:solidFill>
                <a:latin typeface="Arial" pitchFamily="34" charset="0"/>
                <a:ea typeface="Arial" pitchFamily="34" charset="-122"/>
                <a:cs typeface="Arial" pitchFamily="34" charset="-120"/>
              </a:rPr>
              <a:t>hatchik</a:t>
            </a:r>
            <a:endParaRPr lang="en-US" sz="1500" dirty="0"/>
          </a:p>
        </p:txBody>
      </p:sp>
      <p:sp>
        <p:nvSpPr>
          <p:cNvPr id="6" name="Text 3"/>
          <p:cNvSpPr/>
          <p:nvPr/>
        </p:nvSpPr>
        <p:spPr>
          <a:xfrm>
            <a:off x="14698563" y="562421"/>
            <a:ext cx="2755288" cy="265733"/>
          </a:xfrm>
          <a:prstGeom prst="rect">
            <a:avLst/>
          </a:prstGeom>
          <a:noFill/>
          <a:ln/>
        </p:spPr>
        <p:txBody>
          <a:bodyPr wrap="square" lIns="25400" tIns="25400" rIns="25400" bIns="25400" rtlCol="0" anchor="t">
            <a:normAutofit/>
          </a:bodyPr>
          <a:lstStyle/>
          <a:p>
            <a:pPr algn="l" indent="0" marL="0">
              <a:lnSpc>
                <a:spcPct val="140000"/>
              </a:lnSpc>
              <a:buNone/>
            </a:pPr>
            <a:r>
              <a:rPr lang="en-US" sz="1200" spc="120" kern="0" dirty="0">
                <a:solidFill>
                  <a:srgbClr val="0F1419"/>
                </a:solidFill>
                <a:latin typeface="Courier New" pitchFamily="34" charset="0"/>
                <a:ea typeface="Courier New" pitchFamily="34" charset="-122"/>
                <a:cs typeface="Courier New" pitchFamily="34" charset="-120"/>
              </a:rPr>
              <a:t>10 </a:t>
            </a:r>
            <a:pPr algn="l" indent="0" marL="0">
              <a:lnSpc>
                <a:spcPct val="140000"/>
              </a:lnSpc>
              <a:buNone/>
            </a:pPr>
            <a:r>
              <a:rPr lang="en-US" sz="1200" spc="120" kern="0" dirty="0">
                <a:solidFill>
                  <a:srgbClr val="5B47F0"/>
                </a:solidFill>
                <a:latin typeface="Courier New" pitchFamily="34" charset="0"/>
                <a:ea typeface="Courier New" pitchFamily="34" charset="-122"/>
                <a:cs typeface="Courier New" pitchFamily="34" charset="-120"/>
              </a:rPr>
              <a:t>· </a:t>
            </a:r>
            <a:pPr algn="l" indent="0" marL="0">
              <a:lnSpc>
                <a:spcPct val="140000"/>
              </a:lnSpc>
              <a:buNone/>
            </a:pPr>
            <a:r>
              <a:rPr lang="en-US" sz="1200" spc="120" kern="0" dirty="0">
                <a:solidFill>
                  <a:srgbClr val="6E7785"/>
                </a:solidFill>
                <a:latin typeface="Courier New" pitchFamily="34" charset="0"/>
                <a:ea typeface="Courier New" pitchFamily="34" charset="-122"/>
                <a:cs typeface="Courier New" pitchFamily="34" charset="-120"/>
              </a:rPr>
              <a:t>COMPETITIVE LANDSCAPE</a:t>
            </a:r>
            <a:endParaRPr lang="en-US" sz="1200" dirty="0"/>
          </a:p>
        </p:txBody>
      </p:sp>
      <p:sp>
        <p:nvSpPr>
          <p:cNvPr id="7" name="Text 4"/>
          <p:cNvSpPr/>
          <p:nvPr/>
        </p:nvSpPr>
        <p:spPr>
          <a:xfrm>
            <a:off x="914400" y="1438275"/>
            <a:ext cx="15893415" cy="723900"/>
          </a:xfrm>
          <a:prstGeom prst="rect">
            <a:avLst/>
          </a:prstGeom>
          <a:noFill/>
          <a:ln/>
        </p:spPr>
        <p:txBody>
          <a:bodyPr wrap="square" lIns="25400" tIns="25400" rIns="25400" bIns="25400" rtlCol="0" anchor="t">
            <a:normAutofit/>
          </a:bodyPr>
          <a:lstStyle/>
          <a:p>
            <a:pPr algn="l" indent="0" marL="0">
              <a:lnSpc>
                <a:spcPct val="100000"/>
              </a:lnSpc>
              <a:buNone/>
            </a:pPr>
            <a:r>
              <a:rPr lang="en-US" sz="5400" b="1" spc="-216" kern="0" dirty="0">
                <a:solidFill>
                  <a:srgbClr val="0F1419"/>
                </a:solidFill>
                <a:latin typeface="Arial" pitchFamily="34" charset="0"/>
                <a:ea typeface="Arial" pitchFamily="34" charset="-122"/>
                <a:cs typeface="Arial" pitchFamily="34" charset="-120"/>
              </a:rPr>
              <a:t>Two layers exist. </a:t>
            </a:r>
            <a:pPr algn="l" indent="0" marL="0">
              <a:lnSpc>
                <a:spcPct val="100000"/>
              </a:lnSpc>
              <a:buNone/>
            </a:pPr>
            <a:r>
              <a:rPr lang="en-US" sz="5400" b="1" spc="-216" kern="0" dirty="0">
                <a:solidFill>
                  <a:srgbClr val="5B47F0"/>
                </a:solidFill>
                <a:latin typeface="Arial" pitchFamily="34" charset="0"/>
                <a:ea typeface="Arial" pitchFamily="34" charset="-122"/>
                <a:cs typeface="Arial" pitchFamily="34" charset="-120"/>
              </a:rPr>
              <a:t>Nobody owns the seam.</a:t>
            </a:r>
            <a:endParaRPr lang="en-US" sz="5400" dirty="0"/>
          </a:p>
        </p:txBody>
      </p:sp>
      <p:sp>
        <p:nvSpPr>
          <p:cNvPr id="8" name="Text 5"/>
          <p:cNvSpPr/>
          <p:nvPr/>
        </p:nvSpPr>
        <p:spPr>
          <a:xfrm>
            <a:off x="914400" y="2390775"/>
            <a:ext cx="12950190" cy="756196"/>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2A3340"/>
                </a:solidFill>
                <a:latin typeface="Arial" pitchFamily="34" charset="0"/>
                <a:ea typeface="Arial" pitchFamily="34" charset="-122"/>
                <a:cs typeface="Arial" pitchFamily="34" charset="-120"/>
              </a:rPr>
              <a:t>AI builders own the chat-to-prototype loop. Infra players own the deploy-runtime loop. The production-substrate-with-business-plumbing layer that the AI-coder customer actually needs — that's unowned.</a:t>
            </a:r>
            <a:endParaRPr lang="en-US" sz="1950" dirty="0"/>
          </a:p>
        </p:txBody>
      </p:sp>
      <p:sp>
        <p:nvSpPr>
          <p:cNvPr id="9" name="Shape 6"/>
          <p:cNvSpPr/>
          <p:nvPr/>
        </p:nvSpPr>
        <p:spPr>
          <a:xfrm>
            <a:off x="914400" y="3566071"/>
            <a:ext cx="8115300" cy="4567238"/>
          </a:xfrm>
          <a:prstGeom prst="roundRect">
            <a:avLst>
              <a:gd name="adj" fmla="val 2920"/>
            </a:avLst>
          </a:prstGeom>
          <a:solidFill>
            <a:srgbClr val="F7FAFC"/>
          </a:solidFill>
          <a:ln w="9525">
            <a:solidFill>
              <a:srgbClr val="DDE5EC"/>
            </a:solidFill>
            <a:prstDash val="solid"/>
          </a:ln>
        </p:spPr>
      </p:sp>
      <p:sp>
        <p:nvSpPr>
          <p:cNvPr id="10" name="Text 7"/>
          <p:cNvSpPr/>
          <p:nvPr/>
        </p:nvSpPr>
        <p:spPr>
          <a:xfrm>
            <a:off x="1133475" y="3747046"/>
            <a:ext cx="1176561"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113" kern="0" dirty="0">
                <a:solidFill>
                  <a:srgbClr val="6E7785"/>
                </a:solidFill>
                <a:latin typeface="Courier New" pitchFamily="34" charset="0"/>
                <a:ea typeface="Courier New" pitchFamily="34" charset="-122"/>
                <a:cs typeface="Courier New" pitchFamily="34" charset="-120"/>
              </a:rPr>
              <a:t>AI BUILDERS</a:t>
            </a:r>
            <a:endParaRPr lang="en-US" sz="1125" dirty="0"/>
          </a:p>
        </p:txBody>
      </p:sp>
      <p:sp>
        <p:nvSpPr>
          <p:cNvPr id="11" name="Text 8"/>
          <p:cNvSpPr/>
          <p:nvPr/>
        </p:nvSpPr>
        <p:spPr>
          <a:xfrm>
            <a:off x="7054676" y="3747046"/>
            <a:ext cx="1832149"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spc="144" kern="0" dirty="0">
                <a:solidFill>
                  <a:srgbClr val="6E7785"/>
                </a:solidFill>
                <a:latin typeface="Courier New" pitchFamily="34" charset="0"/>
                <a:ea typeface="Courier New" pitchFamily="34" charset="-122"/>
                <a:cs typeface="Courier New" pitchFamily="34" charset="-120"/>
              </a:rPr>
              <a:t>CHAT → PROTOTYPE</a:t>
            </a:r>
            <a:endParaRPr lang="en-US" sz="1200" dirty="0"/>
          </a:p>
        </p:txBody>
      </p:sp>
      <p:sp>
        <p:nvSpPr>
          <p:cNvPr id="12" name="Shape 9"/>
          <p:cNvSpPr/>
          <p:nvPr/>
        </p:nvSpPr>
        <p:spPr>
          <a:xfrm>
            <a:off x="1266825" y="4299496"/>
            <a:ext cx="7410450" cy="1676400"/>
          </a:xfrm>
          <a:prstGeom prst="roundRect">
            <a:avLst>
              <a:gd name="adj" fmla="val 5682"/>
            </a:avLst>
          </a:prstGeom>
          <a:solidFill>
            <a:srgbClr val="EEF2F7"/>
          </a:solidFill>
          <a:ln w="9525">
            <a:solidFill>
              <a:srgbClr val="C5D0DC"/>
            </a:solidFill>
            <a:prstDash val="dash"/>
          </a:ln>
        </p:spPr>
      </p:sp>
      <p:sp>
        <p:nvSpPr>
          <p:cNvPr id="13" name="Shape 10"/>
          <p:cNvSpPr/>
          <p:nvPr/>
        </p:nvSpPr>
        <p:spPr>
          <a:xfrm>
            <a:off x="1466850" y="4499521"/>
            <a:ext cx="3476625" cy="342900"/>
          </a:xfrm>
          <a:prstGeom prst="roundRect">
            <a:avLst>
              <a:gd name="adj" fmla="val 16667"/>
            </a:avLst>
          </a:prstGeom>
          <a:solidFill>
            <a:srgbClr val="F7FAFC"/>
          </a:solidFill>
          <a:ln w="9525">
            <a:solidFill>
              <a:srgbClr val="DDE5EC"/>
            </a:solidFill>
            <a:prstDash val="solid"/>
          </a:ln>
        </p:spPr>
      </p:sp>
      <p:sp>
        <p:nvSpPr>
          <p:cNvPr id="14" name="Text 11"/>
          <p:cNvSpPr/>
          <p:nvPr/>
        </p:nvSpPr>
        <p:spPr>
          <a:xfrm>
            <a:off x="1590675" y="4585246"/>
            <a:ext cx="3333274" cy="209550"/>
          </a:xfrm>
          <a:prstGeom prst="rect">
            <a:avLst/>
          </a:prstGeom>
          <a:noFill/>
          <a:ln/>
        </p:spPr>
        <p:txBody>
          <a:bodyPr wrap="square" lIns="25400" tIns="25400" rIns="25400" bIns="25400" rtlCol="0" anchor="t">
            <a:normAutofit/>
          </a:bodyPr>
          <a:lstStyle/>
          <a:p>
            <a:pPr algn="l" indent="0" marL="0">
              <a:lnSpc>
                <a:spcPct val="150000"/>
              </a:lnSpc>
              <a:buNone/>
            </a:pPr>
            <a:r>
              <a:rPr lang="en-US" sz="900" dirty="0">
                <a:solidFill>
                  <a:srgbClr val="0F1419"/>
                </a:solidFill>
                <a:latin typeface="Courier New" pitchFamily="34" charset="0"/>
                <a:ea typeface="Courier New" pitchFamily="34" charset="-122"/>
                <a:cs typeface="Courier New" pitchFamily="34" charset="-120"/>
              </a:rPr>
              <a:t>Lovable</a:t>
            </a:r>
            <a:endParaRPr lang="en-US" sz="900" dirty="0"/>
          </a:p>
        </p:txBody>
      </p:sp>
      <p:sp>
        <p:nvSpPr>
          <p:cNvPr id="15" name="Shape 12"/>
          <p:cNvSpPr/>
          <p:nvPr/>
        </p:nvSpPr>
        <p:spPr>
          <a:xfrm>
            <a:off x="5000625" y="4499521"/>
            <a:ext cx="3476625" cy="342900"/>
          </a:xfrm>
          <a:prstGeom prst="roundRect">
            <a:avLst>
              <a:gd name="adj" fmla="val 16667"/>
            </a:avLst>
          </a:prstGeom>
          <a:solidFill>
            <a:srgbClr val="F7FAFC"/>
          </a:solidFill>
          <a:ln w="9525">
            <a:solidFill>
              <a:srgbClr val="DDE5EC"/>
            </a:solidFill>
            <a:prstDash val="solid"/>
          </a:ln>
        </p:spPr>
      </p:sp>
      <p:sp>
        <p:nvSpPr>
          <p:cNvPr id="16" name="Text 13"/>
          <p:cNvSpPr/>
          <p:nvPr/>
        </p:nvSpPr>
        <p:spPr>
          <a:xfrm>
            <a:off x="5124450" y="4585246"/>
            <a:ext cx="3333274" cy="209550"/>
          </a:xfrm>
          <a:prstGeom prst="rect">
            <a:avLst/>
          </a:prstGeom>
          <a:noFill/>
          <a:ln/>
        </p:spPr>
        <p:txBody>
          <a:bodyPr wrap="square" lIns="25400" tIns="25400" rIns="25400" bIns="25400" rtlCol="0" anchor="t">
            <a:normAutofit/>
          </a:bodyPr>
          <a:lstStyle/>
          <a:p>
            <a:pPr algn="l" indent="0" marL="0">
              <a:lnSpc>
                <a:spcPct val="150000"/>
              </a:lnSpc>
              <a:buNone/>
            </a:pPr>
            <a:r>
              <a:rPr lang="en-US" sz="900" dirty="0">
                <a:solidFill>
                  <a:srgbClr val="0F1419"/>
                </a:solidFill>
                <a:latin typeface="Courier New" pitchFamily="34" charset="0"/>
                <a:ea typeface="Courier New" pitchFamily="34" charset="-122"/>
                <a:cs typeface="Courier New" pitchFamily="34" charset="-120"/>
              </a:rPr>
              <a:t>Bolt.new</a:t>
            </a:r>
            <a:endParaRPr lang="en-US" sz="900" dirty="0"/>
          </a:p>
        </p:txBody>
      </p:sp>
      <p:sp>
        <p:nvSpPr>
          <p:cNvPr id="17" name="Shape 14"/>
          <p:cNvSpPr/>
          <p:nvPr/>
        </p:nvSpPr>
        <p:spPr>
          <a:xfrm>
            <a:off x="1466850" y="4899571"/>
            <a:ext cx="3476625" cy="342900"/>
          </a:xfrm>
          <a:prstGeom prst="roundRect">
            <a:avLst>
              <a:gd name="adj" fmla="val 16667"/>
            </a:avLst>
          </a:prstGeom>
          <a:solidFill>
            <a:srgbClr val="F7FAFC"/>
          </a:solidFill>
          <a:ln w="9525">
            <a:solidFill>
              <a:srgbClr val="DDE5EC"/>
            </a:solidFill>
            <a:prstDash val="solid"/>
          </a:ln>
        </p:spPr>
      </p:sp>
      <p:sp>
        <p:nvSpPr>
          <p:cNvPr id="18" name="Text 15"/>
          <p:cNvSpPr/>
          <p:nvPr/>
        </p:nvSpPr>
        <p:spPr>
          <a:xfrm>
            <a:off x="1590675" y="4985296"/>
            <a:ext cx="3333274" cy="209550"/>
          </a:xfrm>
          <a:prstGeom prst="rect">
            <a:avLst/>
          </a:prstGeom>
          <a:noFill/>
          <a:ln/>
        </p:spPr>
        <p:txBody>
          <a:bodyPr wrap="square" lIns="25400" tIns="25400" rIns="25400" bIns="25400" rtlCol="0" anchor="t">
            <a:normAutofit/>
          </a:bodyPr>
          <a:lstStyle/>
          <a:p>
            <a:pPr algn="l" indent="0" marL="0">
              <a:lnSpc>
                <a:spcPct val="150000"/>
              </a:lnSpc>
              <a:buNone/>
            </a:pPr>
            <a:r>
              <a:rPr lang="en-US" sz="900" dirty="0">
                <a:solidFill>
                  <a:srgbClr val="0F1419"/>
                </a:solidFill>
                <a:latin typeface="Courier New" pitchFamily="34" charset="0"/>
                <a:ea typeface="Courier New" pitchFamily="34" charset="-122"/>
                <a:cs typeface="Courier New" pitchFamily="34" charset="-120"/>
              </a:rPr>
              <a:t>v0 (Vercel)</a:t>
            </a:r>
            <a:endParaRPr lang="en-US" sz="900" dirty="0"/>
          </a:p>
        </p:txBody>
      </p:sp>
      <p:sp>
        <p:nvSpPr>
          <p:cNvPr id="19" name="Shape 16"/>
          <p:cNvSpPr/>
          <p:nvPr/>
        </p:nvSpPr>
        <p:spPr>
          <a:xfrm>
            <a:off x="5000625" y="4899571"/>
            <a:ext cx="3476625" cy="342900"/>
          </a:xfrm>
          <a:prstGeom prst="roundRect">
            <a:avLst>
              <a:gd name="adj" fmla="val 16667"/>
            </a:avLst>
          </a:prstGeom>
          <a:solidFill>
            <a:srgbClr val="F7FAFC"/>
          </a:solidFill>
          <a:ln w="9525">
            <a:solidFill>
              <a:srgbClr val="DDE5EC"/>
            </a:solidFill>
            <a:prstDash val="solid"/>
          </a:ln>
        </p:spPr>
      </p:sp>
      <p:sp>
        <p:nvSpPr>
          <p:cNvPr id="20" name="Text 17"/>
          <p:cNvSpPr/>
          <p:nvPr/>
        </p:nvSpPr>
        <p:spPr>
          <a:xfrm>
            <a:off x="5124450" y="4985296"/>
            <a:ext cx="3333274" cy="209550"/>
          </a:xfrm>
          <a:prstGeom prst="rect">
            <a:avLst/>
          </a:prstGeom>
          <a:noFill/>
          <a:ln/>
        </p:spPr>
        <p:txBody>
          <a:bodyPr wrap="square" lIns="25400" tIns="25400" rIns="25400" bIns="25400" rtlCol="0" anchor="t">
            <a:normAutofit/>
          </a:bodyPr>
          <a:lstStyle/>
          <a:p>
            <a:pPr algn="l" indent="0" marL="0">
              <a:lnSpc>
                <a:spcPct val="150000"/>
              </a:lnSpc>
              <a:buNone/>
            </a:pPr>
            <a:r>
              <a:rPr lang="en-US" sz="900" dirty="0">
                <a:solidFill>
                  <a:srgbClr val="0F1419"/>
                </a:solidFill>
                <a:latin typeface="Courier New" pitchFamily="34" charset="0"/>
                <a:ea typeface="Courier New" pitchFamily="34" charset="-122"/>
                <a:cs typeface="Courier New" pitchFamily="34" charset="-120"/>
              </a:rPr>
              <a:t>Replit Agent</a:t>
            </a:r>
            <a:endParaRPr lang="en-US" sz="900" dirty="0"/>
          </a:p>
        </p:txBody>
      </p:sp>
      <p:sp>
        <p:nvSpPr>
          <p:cNvPr id="21" name="Shape 18"/>
          <p:cNvSpPr/>
          <p:nvPr/>
        </p:nvSpPr>
        <p:spPr>
          <a:xfrm>
            <a:off x="1466850" y="5299621"/>
            <a:ext cx="3476625" cy="342900"/>
          </a:xfrm>
          <a:prstGeom prst="roundRect">
            <a:avLst>
              <a:gd name="adj" fmla="val 16667"/>
            </a:avLst>
          </a:prstGeom>
          <a:solidFill>
            <a:srgbClr val="F7FAFC"/>
          </a:solidFill>
          <a:ln w="9525">
            <a:solidFill>
              <a:srgbClr val="DDE5EC"/>
            </a:solidFill>
            <a:prstDash val="solid"/>
          </a:ln>
        </p:spPr>
      </p:sp>
      <p:sp>
        <p:nvSpPr>
          <p:cNvPr id="22" name="Text 19"/>
          <p:cNvSpPr/>
          <p:nvPr/>
        </p:nvSpPr>
        <p:spPr>
          <a:xfrm>
            <a:off x="1590675" y="5385346"/>
            <a:ext cx="3333274" cy="209550"/>
          </a:xfrm>
          <a:prstGeom prst="rect">
            <a:avLst/>
          </a:prstGeom>
          <a:noFill/>
          <a:ln/>
        </p:spPr>
        <p:txBody>
          <a:bodyPr wrap="square" lIns="25400" tIns="25400" rIns="25400" bIns="25400" rtlCol="0" anchor="t">
            <a:normAutofit/>
          </a:bodyPr>
          <a:lstStyle/>
          <a:p>
            <a:pPr algn="l" indent="0" marL="0">
              <a:lnSpc>
                <a:spcPct val="150000"/>
              </a:lnSpc>
              <a:buNone/>
            </a:pPr>
            <a:r>
              <a:rPr lang="en-US" sz="900" dirty="0">
                <a:solidFill>
                  <a:srgbClr val="0F1419"/>
                </a:solidFill>
                <a:latin typeface="Courier New" pitchFamily="34" charset="0"/>
                <a:ea typeface="Courier New" pitchFamily="34" charset="-122"/>
                <a:cs typeface="Courier New" pitchFamily="34" charset="-120"/>
              </a:rPr>
              <a:t>Pi App Studio</a:t>
            </a:r>
            <a:endParaRPr lang="en-US" sz="900" dirty="0"/>
          </a:p>
        </p:txBody>
      </p:sp>
      <p:sp>
        <p:nvSpPr>
          <p:cNvPr id="23" name="Shape 20"/>
          <p:cNvSpPr/>
          <p:nvPr/>
        </p:nvSpPr>
        <p:spPr>
          <a:xfrm>
            <a:off x="5000625" y="5299621"/>
            <a:ext cx="3476625" cy="342900"/>
          </a:xfrm>
          <a:prstGeom prst="roundRect">
            <a:avLst>
              <a:gd name="adj" fmla="val 16667"/>
            </a:avLst>
          </a:prstGeom>
          <a:solidFill>
            <a:srgbClr val="F7FAFC"/>
          </a:solidFill>
          <a:ln w="9525">
            <a:solidFill>
              <a:srgbClr val="DDE5EC"/>
            </a:solidFill>
            <a:prstDash val="solid"/>
          </a:ln>
        </p:spPr>
      </p:sp>
      <p:sp>
        <p:nvSpPr>
          <p:cNvPr id="24" name="Text 21"/>
          <p:cNvSpPr/>
          <p:nvPr/>
        </p:nvSpPr>
        <p:spPr>
          <a:xfrm>
            <a:off x="5124450" y="5385346"/>
            <a:ext cx="3333274" cy="209550"/>
          </a:xfrm>
          <a:prstGeom prst="rect">
            <a:avLst/>
          </a:prstGeom>
          <a:noFill/>
          <a:ln/>
        </p:spPr>
        <p:txBody>
          <a:bodyPr wrap="square" lIns="25400" tIns="25400" rIns="25400" bIns="25400" rtlCol="0" anchor="t">
            <a:normAutofit/>
          </a:bodyPr>
          <a:lstStyle/>
          <a:p>
            <a:pPr algn="l" indent="0" marL="0">
              <a:lnSpc>
                <a:spcPct val="150000"/>
              </a:lnSpc>
              <a:buNone/>
            </a:pPr>
            <a:r>
              <a:rPr lang="en-US" sz="900" dirty="0">
                <a:solidFill>
                  <a:srgbClr val="0F1419"/>
                </a:solidFill>
                <a:latin typeface="Courier New" pitchFamily="34" charset="0"/>
                <a:ea typeface="Courier New" pitchFamily="34" charset="-122"/>
                <a:cs typeface="Courier New" pitchFamily="34" charset="-120"/>
              </a:rPr>
              <a:t>Bubble</a:t>
            </a:r>
            <a:endParaRPr lang="en-US" sz="900" dirty="0"/>
          </a:p>
        </p:txBody>
      </p:sp>
      <p:sp>
        <p:nvSpPr>
          <p:cNvPr id="25" name="Shape 22"/>
          <p:cNvSpPr/>
          <p:nvPr/>
        </p:nvSpPr>
        <p:spPr>
          <a:xfrm>
            <a:off x="1266825" y="6147346"/>
            <a:ext cx="7410450" cy="9525"/>
          </a:xfrm>
          <a:prstGeom prst="rect">
            <a:avLst/>
          </a:prstGeom>
          <a:solidFill>
            <a:srgbClr val="DDE5EC"/>
          </a:solidFill>
          <a:ln/>
        </p:spPr>
      </p:sp>
      <p:sp>
        <p:nvSpPr>
          <p:cNvPr id="26" name="Text 23"/>
          <p:cNvSpPr/>
          <p:nvPr/>
        </p:nvSpPr>
        <p:spPr>
          <a:xfrm>
            <a:off x="1266825" y="6233071"/>
            <a:ext cx="219075"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dirty="0">
                <a:solidFill>
                  <a:srgbClr val="6E7785"/>
                </a:solidFill>
                <a:latin typeface="Arial" pitchFamily="34" charset="0"/>
                <a:ea typeface="Arial" pitchFamily="34" charset="-122"/>
                <a:cs typeface="Arial" pitchFamily="34" charset="-120"/>
              </a:rPr>
              <a:t>—</a:t>
            </a:r>
            <a:endParaRPr lang="en-US" sz="1125" dirty="0"/>
          </a:p>
        </p:txBody>
      </p:sp>
      <p:sp>
        <p:nvSpPr>
          <p:cNvPr id="27" name="Text 24"/>
          <p:cNvSpPr/>
          <p:nvPr/>
        </p:nvSpPr>
        <p:spPr>
          <a:xfrm>
            <a:off x="1438275" y="6261646"/>
            <a:ext cx="2756284" cy="195263"/>
          </a:xfrm>
          <a:prstGeom prst="rect">
            <a:avLst/>
          </a:prstGeom>
          <a:noFill/>
          <a:ln/>
        </p:spPr>
        <p:txBody>
          <a:bodyPr wrap="square" lIns="0" tIns="0" rIns="0" bIns="0" rtlCol="0" anchor="t">
            <a:normAutofit/>
          </a:bodyPr>
          <a:lstStyle/>
          <a:p>
            <a:pPr algn="l" indent="0" marL="0">
              <a:lnSpc>
                <a:spcPct val="150000"/>
              </a:lnSpc>
              <a:buNone/>
            </a:pPr>
            <a:r>
              <a:rPr lang="en-US" sz="1125" dirty="0">
                <a:solidFill>
                  <a:srgbClr val="2A3340"/>
                </a:solidFill>
                <a:latin typeface="Arial" pitchFamily="34" charset="0"/>
                <a:ea typeface="Arial" pitchFamily="34" charset="-122"/>
                <a:cs typeface="Arial" pitchFamily="34" charset="-120"/>
              </a:rPr>
              <a:t>Their AI, their chat, their runtime. No BYO.</a:t>
            </a:r>
            <a:endParaRPr lang="en-US" sz="1125" dirty="0"/>
          </a:p>
        </p:txBody>
      </p:sp>
      <p:sp>
        <p:nvSpPr>
          <p:cNvPr id="28" name="Shape 25"/>
          <p:cNvSpPr/>
          <p:nvPr/>
        </p:nvSpPr>
        <p:spPr>
          <a:xfrm>
            <a:off x="1266825" y="6523583"/>
            <a:ext cx="7410450" cy="9525"/>
          </a:xfrm>
          <a:prstGeom prst="rect">
            <a:avLst/>
          </a:prstGeom>
          <a:solidFill>
            <a:srgbClr val="DDE5EC"/>
          </a:solidFill>
          <a:ln/>
        </p:spPr>
      </p:sp>
      <p:sp>
        <p:nvSpPr>
          <p:cNvPr id="29" name="Text 26"/>
          <p:cNvSpPr/>
          <p:nvPr/>
        </p:nvSpPr>
        <p:spPr>
          <a:xfrm>
            <a:off x="1266825" y="6609308"/>
            <a:ext cx="219075"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dirty="0">
                <a:solidFill>
                  <a:srgbClr val="6E7785"/>
                </a:solidFill>
                <a:latin typeface="Arial" pitchFamily="34" charset="0"/>
                <a:ea typeface="Arial" pitchFamily="34" charset="-122"/>
                <a:cs typeface="Arial" pitchFamily="34" charset="-120"/>
              </a:rPr>
              <a:t>—</a:t>
            </a:r>
            <a:endParaRPr lang="en-US" sz="1125" dirty="0"/>
          </a:p>
        </p:txBody>
      </p:sp>
      <p:sp>
        <p:nvSpPr>
          <p:cNvPr id="30" name="Text 27"/>
          <p:cNvSpPr/>
          <p:nvPr/>
        </p:nvSpPr>
        <p:spPr>
          <a:xfrm>
            <a:off x="1438275" y="6637883"/>
            <a:ext cx="3582610" cy="195263"/>
          </a:xfrm>
          <a:prstGeom prst="rect">
            <a:avLst/>
          </a:prstGeom>
          <a:noFill/>
          <a:ln/>
        </p:spPr>
        <p:txBody>
          <a:bodyPr wrap="square" lIns="0" tIns="0" rIns="0" bIns="0" rtlCol="0" anchor="t">
            <a:normAutofit/>
          </a:bodyPr>
          <a:lstStyle/>
          <a:p>
            <a:pPr algn="l" indent="0" marL="0">
              <a:lnSpc>
                <a:spcPct val="150000"/>
              </a:lnSpc>
              <a:buNone/>
            </a:pPr>
            <a:r>
              <a:rPr lang="en-US" sz="1125" dirty="0">
                <a:solidFill>
                  <a:srgbClr val="2A3340"/>
                </a:solidFill>
                <a:latin typeface="Arial" pitchFamily="34" charset="0"/>
                <a:ea typeface="Arial" pitchFamily="34" charset="-122"/>
                <a:cs typeface="Arial" pitchFamily="34" charset="-120"/>
              </a:rPr>
              <a:t>Code lives in their walled garden. Export friction is real.</a:t>
            </a:r>
            <a:endParaRPr lang="en-US" sz="1125" dirty="0"/>
          </a:p>
        </p:txBody>
      </p:sp>
      <p:sp>
        <p:nvSpPr>
          <p:cNvPr id="31" name="Shape 28"/>
          <p:cNvSpPr/>
          <p:nvPr/>
        </p:nvSpPr>
        <p:spPr>
          <a:xfrm>
            <a:off x="1266825" y="6899821"/>
            <a:ext cx="7410450" cy="9525"/>
          </a:xfrm>
          <a:prstGeom prst="rect">
            <a:avLst/>
          </a:prstGeom>
          <a:solidFill>
            <a:srgbClr val="DDE5EC"/>
          </a:solidFill>
          <a:ln/>
        </p:spPr>
      </p:sp>
      <p:sp>
        <p:nvSpPr>
          <p:cNvPr id="32" name="Text 29"/>
          <p:cNvSpPr/>
          <p:nvPr/>
        </p:nvSpPr>
        <p:spPr>
          <a:xfrm>
            <a:off x="1266825" y="6985546"/>
            <a:ext cx="219075"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dirty="0">
                <a:solidFill>
                  <a:srgbClr val="6E7785"/>
                </a:solidFill>
                <a:latin typeface="Arial" pitchFamily="34" charset="0"/>
                <a:ea typeface="Arial" pitchFamily="34" charset="-122"/>
                <a:cs typeface="Arial" pitchFamily="34" charset="-120"/>
              </a:rPr>
              <a:t>—</a:t>
            </a:r>
            <a:endParaRPr lang="en-US" sz="1125" dirty="0"/>
          </a:p>
        </p:txBody>
      </p:sp>
      <p:sp>
        <p:nvSpPr>
          <p:cNvPr id="33" name="Text 30"/>
          <p:cNvSpPr/>
          <p:nvPr/>
        </p:nvSpPr>
        <p:spPr>
          <a:xfrm>
            <a:off x="1438275" y="7014121"/>
            <a:ext cx="3691141" cy="195263"/>
          </a:xfrm>
          <a:prstGeom prst="rect">
            <a:avLst/>
          </a:prstGeom>
          <a:noFill/>
          <a:ln/>
        </p:spPr>
        <p:txBody>
          <a:bodyPr wrap="square" lIns="0" tIns="0" rIns="0" bIns="0" rtlCol="0" anchor="t">
            <a:normAutofit/>
          </a:bodyPr>
          <a:lstStyle/>
          <a:p>
            <a:pPr algn="l" indent="0" marL="0">
              <a:lnSpc>
                <a:spcPct val="150000"/>
              </a:lnSpc>
              <a:buNone/>
            </a:pPr>
            <a:r>
              <a:rPr lang="en-US" sz="1125" dirty="0">
                <a:solidFill>
                  <a:srgbClr val="2A3340"/>
                </a:solidFill>
                <a:latin typeface="Arial" pitchFamily="34" charset="0"/>
                <a:ea typeface="Arial" pitchFamily="34" charset="-122"/>
                <a:cs typeface="Arial" pitchFamily="34" charset="-120"/>
              </a:rPr>
              <a:t>No auth, payments, mail wiring. "Deploy" = their preview.</a:t>
            </a:r>
            <a:endParaRPr lang="en-US" sz="1125" dirty="0"/>
          </a:p>
        </p:txBody>
      </p:sp>
      <p:sp>
        <p:nvSpPr>
          <p:cNvPr id="34" name="Shape 31"/>
          <p:cNvSpPr/>
          <p:nvPr/>
        </p:nvSpPr>
        <p:spPr>
          <a:xfrm>
            <a:off x="1266825" y="7447508"/>
            <a:ext cx="7410450" cy="9525"/>
          </a:xfrm>
          <a:prstGeom prst="rect">
            <a:avLst/>
          </a:prstGeom>
          <a:solidFill>
            <a:srgbClr val="C8C0F8"/>
          </a:solidFill>
          <a:ln/>
        </p:spPr>
      </p:sp>
      <p:sp>
        <p:nvSpPr>
          <p:cNvPr id="35" name="Text 32"/>
          <p:cNvSpPr/>
          <p:nvPr/>
        </p:nvSpPr>
        <p:spPr>
          <a:xfrm>
            <a:off x="1266825" y="7590383"/>
            <a:ext cx="7632763"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b="1" dirty="0">
                <a:solidFill>
                  <a:srgbClr val="5B47F0"/>
                </a:solidFill>
                <a:latin typeface="Arial" pitchFamily="34" charset="0"/>
                <a:ea typeface="Arial" pitchFamily="34" charset="-122"/>
                <a:cs typeface="Arial" pitchFamily="34" charset="-120"/>
              </a:rPr>
              <a:t>Where Hatchik wins: BYO AI tool · real GitHub · real stack.</a:t>
            </a:r>
            <a:endParaRPr lang="en-US" sz="1200" dirty="0"/>
          </a:p>
        </p:txBody>
      </p:sp>
      <p:sp>
        <p:nvSpPr>
          <p:cNvPr id="36" name="Shape 33"/>
          <p:cNvSpPr/>
          <p:nvPr/>
        </p:nvSpPr>
        <p:spPr>
          <a:xfrm>
            <a:off x="9258300" y="3566071"/>
            <a:ext cx="8115300" cy="4567238"/>
          </a:xfrm>
          <a:prstGeom prst="roundRect">
            <a:avLst>
              <a:gd name="adj" fmla="val 2920"/>
            </a:avLst>
          </a:prstGeom>
          <a:solidFill>
            <a:srgbClr val="F7FAFC"/>
          </a:solidFill>
          <a:ln w="9525">
            <a:solidFill>
              <a:srgbClr val="DDE5EC"/>
            </a:solidFill>
            <a:prstDash val="solid"/>
          </a:ln>
        </p:spPr>
      </p:sp>
      <p:sp>
        <p:nvSpPr>
          <p:cNvPr id="37" name="Text 34"/>
          <p:cNvSpPr/>
          <p:nvPr/>
        </p:nvSpPr>
        <p:spPr>
          <a:xfrm>
            <a:off x="9477375" y="3747046"/>
            <a:ext cx="1476598"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113" kern="0" dirty="0">
                <a:solidFill>
                  <a:srgbClr val="6E7785"/>
                </a:solidFill>
                <a:latin typeface="Courier New" pitchFamily="34" charset="0"/>
                <a:ea typeface="Courier New" pitchFamily="34" charset="-122"/>
                <a:cs typeface="Courier New" pitchFamily="34" charset="-120"/>
              </a:rPr>
              <a:t>INFRA · DEPLOY</a:t>
            </a:r>
            <a:endParaRPr lang="en-US" sz="1125" dirty="0"/>
          </a:p>
        </p:txBody>
      </p:sp>
      <p:sp>
        <p:nvSpPr>
          <p:cNvPr id="38" name="Text 35"/>
          <p:cNvSpPr/>
          <p:nvPr/>
        </p:nvSpPr>
        <p:spPr>
          <a:xfrm>
            <a:off x="15618098" y="3747046"/>
            <a:ext cx="1612627"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spc="144" kern="0" dirty="0">
                <a:solidFill>
                  <a:srgbClr val="6E7785"/>
                </a:solidFill>
                <a:latin typeface="Courier New" pitchFamily="34" charset="0"/>
                <a:ea typeface="Courier New" pitchFamily="34" charset="-122"/>
                <a:cs typeface="Courier New" pitchFamily="34" charset="-120"/>
              </a:rPr>
              <a:t>CODE → RUNTIME</a:t>
            </a:r>
            <a:endParaRPr lang="en-US" sz="1200" dirty="0"/>
          </a:p>
        </p:txBody>
      </p:sp>
      <p:sp>
        <p:nvSpPr>
          <p:cNvPr id="39" name="Shape 36"/>
          <p:cNvSpPr/>
          <p:nvPr/>
        </p:nvSpPr>
        <p:spPr>
          <a:xfrm>
            <a:off x="9610725" y="4299496"/>
            <a:ext cx="7410450" cy="1543050"/>
          </a:xfrm>
          <a:prstGeom prst="roundRect">
            <a:avLst>
              <a:gd name="adj" fmla="val 6173"/>
            </a:avLst>
          </a:prstGeom>
          <a:solidFill>
            <a:srgbClr val="EEF2F7"/>
          </a:solidFill>
          <a:ln w="9525">
            <a:solidFill>
              <a:srgbClr val="C5D0DC"/>
            </a:solidFill>
            <a:prstDash val="dash"/>
          </a:ln>
        </p:spPr>
      </p:sp>
      <p:sp>
        <p:nvSpPr>
          <p:cNvPr id="40" name="Shape 37"/>
          <p:cNvSpPr/>
          <p:nvPr/>
        </p:nvSpPr>
        <p:spPr>
          <a:xfrm>
            <a:off x="9810750" y="4499521"/>
            <a:ext cx="3476625" cy="342900"/>
          </a:xfrm>
          <a:prstGeom prst="roundRect">
            <a:avLst>
              <a:gd name="adj" fmla="val 16667"/>
            </a:avLst>
          </a:prstGeom>
          <a:solidFill>
            <a:srgbClr val="F7FAFC"/>
          </a:solidFill>
          <a:ln w="9525">
            <a:solidFill>
              <a:srgbClr val="DDE5EC"/>
            </a:solidFill>
            <a:prstDash val="solid"/>
          </a:ln>
        </p:spPr>
      </p:sp>
      <p:sp>
        <p:nvSpPr>
          <p:cNvPr id="41" name="Text 38"/>
          <p:cNvSpPr/>
          <p:nvPr/>
        </p:nvSpPr>
        <p:spPr>
          <a:xfrm>
            <a:off x="9934575" y="4585246"/>
            <a:ext cx="3333274" cy="209550"/>
          </a:xfrm>
          <a:prstGeom prst="rect">
            <a:avLst/>
          </a:prstGeom>
          <a:noFill/>
          <a:ln/>
        </p:spPr>
        <p:txBody>
          <a:bodyPr wrap="square" lIns="25400" tIns="25400" rIns="25400" bIns="25400" rtlCol="0" anchor="t">
            <a:normAutofit/>
          </a:bodyPr>
          <a:lstStyle/>
          <a:p>
            <a:pPr algn="l" indent="0" marL="0">
              <a:lnSpc>
                <a:spcPct val="150000"/>
              </a:lnSpc>
              <a:buNone/>
            </a:pPr>
            <a:r>
              <a:rPr lang="en-US" sz="900" dirty="0">
                <a:solidFill>
                  <a:srgbClr val="0F1419"/>
                </a:solidFill>
                <a:latin typeface="Courier New" pitchFamily="34" charset="0"/>
                <a:ea typeface="Courier New" pitchFamily="34" charset="-122"/>
                <a:cs typeface="Courier New" pitchFamily="34" charset="-120"/>
              </a:rPr>
              <a:t>Vercel</a:t>
            </a:r>
            <a:endParaRPr lang="en-US" sz="900" dirty="0"/>
          </a:p>
        </p:txBody>
      </p:sp>
      <p:sp>
        <p:nvSpPr>
          <p:cNvPr id="42" name="Shape 39"/>
          <p:cNvSpPr/>
          <p:nvPr/>
        </p:nvSpPr>
        <p:spPr>
          <a:xfrm>
            <a:off x="13344525" y="4499521"/>
            <a:ext cx="3476625" cy="342900"/>
          </a:xfrm>
          <a:prstGeom prst="roundRect">
            <a:avLst>
              <a:gd name="adj" fmla="val 16667"/>
            </a:avLst>
          </a:prstGeom>
          <a:solidFill>
            <a:srgbClr val="F7FAFC"/>
          </a:solidFill>
          <a:ln w="9525">
            <a:solidFill>
              <a:srgbClr val="DDE5EC"/>
            </a:solidFill>
            <a:prstDash val="solid"/>
          </a:ln>
        </p:spPr>
      </p:sp>
      <p:sp>
        <p:nvSpPr>
          <p:cNvPr id="43" name="Text 40"/>
          <p:cNvSpPr/>
          <p:nvPr/>
        </p:nvSpPr>
        <p:spPr>
          <a:xfrm>
            <a:off x="13468350" y="4585246"/>
            <a:ext cx="3333274" cy="209550"/>
          </a:xfrm>
          <a:prstGeom prst="rect">
            <a:avLst/>
          </a:prstGeom>
          <a:noFill/>
          <a:ln/>
        </p:spPr>
        <p:txBody>
          <a:bodyPr wrap="square" lIns="25400" tIns="25400" rIns="25400" bIns="25400" rtlCol="0" anchor="t">
            <a:normAutofit/>
          </a:bodyPr>
          <a:lstStyle/>
          <a:p>
            <a:pPr algn="l" indent="0" marL="0">
              <a:lnSpc>
                <a:spcPct val="150000"/>
              </a:lnSpc>
              <a:buNone/>
            </a:pPr>
            <a:r>
              <a:rPr lang="en-US" sz="900" dirty="0">
                <a:solidFill>
                  <a:srgbClr val="0F1419"/>
                </a:solidFill>
                <a:latin typeface="Courier New" pitchFamily="34" charset="0"/>
                <a:ea typeface="Courier New" pitchFamily="34" charset="-122"/>
                <a:cs typeface="Courier New" pitchFamily="34" charset="-120"/>
              </a:rPr>
              <a:t>Render</a:t>
            </a:r>
            <a:endParaRPr lang="en-US" sz="900" dirty="0"/>
          </a:p>
        </p:txBody>
      </p:sp>
      <p:sp>
        <p:nvSpPr>
          <p:cNvPr id="44" name="Shape 41"/>
          <p:cNvSpPr/>
          <p:nvPr/>
        </p:nvSpPr>
        <p:spPr>
          <a:xfrm>
            <a:off x="9810750" y="4899571"/>
            <a:ext cx="3476625" cy="342900"/>
          </a:xfrm>
          <a:prstGeom prst="roundRect">
            <a:avLst>
              <a:gd name="adj" fmla="val 16667"/>
            </a:avLst>
          </a:prstGeom>
          <a:solidFill>
            <a:srgbClr val="F7FAFC"/>
          </a:solidFill>
          <a:ln w="9525">
            <a:solidFill>
              <a:srgbClr val="DDE5EC"/>
            </a:solidFill>
            <a:prstDash val="solid"/>
          </a:ln>
        </p:spPr>
      </p:sp>
      <p:sp>
        <p:nvSpPr>
          <p:cNvPr id="45" name="Text 42"/>
          <p:cNvSpPr/>
          <p:nvPr/>
        </p:nvSpPr>
        <p:spPr>
          <a:xfrm>
            <a:off x="9934575" y="4985296"/>
            <a:ext cx="3333274" cy="209550"/>
          </a:xfrm>
          <a:prstGeom prst="rect">
            <a:avLst/>
          </a:prstGeom>
          <a:noFill/>
          <a:ln/>
        </p:spPr>
        <p:txBody>
          <a:bodyPr wrap="square" lIns="25400" tIns="25400" rIns="25400" bIns="25400" rtlCol="0" anchor="t">
            <a:normAutofit/>
          </a:bodyPr>
          <a:lstStyle/>
          <a:p>
            <a:pPr algn="l" indent="0" marL="0">
              <a:lnSpc>
                <a:spcPct val="150000"/>
              </a:lnSpc>
              <a:buNone/>
            </a:pPr>
            <a:r>
              <a:rPr lang="en-US" sz="900" dirty="0">
                <a:solidFill>
                  <a:srgbClr val="0F1419"/>
                </a:solidFill>
                <a:latin typeface="Courier New" pitchFamily="34" charset="0"/>
                <a:ea typeface="Courier New" pitchFamily="34" charset="-122"/>
                <a:cs typeface="Courier New" pitchFamily="34" charset="-120"/>
              </a:rPr>
              <a:t>Railway</a:t>
            </a:r>
            <a:endParaRPr lang="en-US" sz="900" dirty="0"/>
          </a:p>
        </p:txBody>
      </p:sp>
      <p:sp>
        <p:nvSpPr>
          <p:cNvPr id="46" name="Shape 43"/>
          <p:cNvSpPr/>
          <p:nvPr/>
        </p:nvSpPr>
        <p:spPr>
          <a:xfrm>
            <a:off x="13344525" y="4899571"/>
            <a:ext cx="3476625" cy="342900"/>
          </a:xfrm>
          <a:prstGeom prst="roundRect">
            <a:avLst>
              <a:gd name="adj" fmla="val 16667"/>
            </a:avLst>
          </a:prstGeom>
          <a:solidFill>
            <a:srgbClr val="F7FAFC"/>
          </a:solidFill>
          <a:ln w="9525">
            <a:solidFill>
              <a:srgbClr val="DDE5EC"/>
            </a:solidFill>
            <a:prstDash val="solid"/>
          </a:ln>
        </p:spPr>
      </p:sp>
      <p:sp>
        <p:nvSpPr>
          <p:cNvPr id="47" name="Text 44"/>
          <p:cNvSpPr/>
          <p:nvPr/>
        </p:nvSpPr>
        <p:spPr>
          <a:xfrm>
            <a:off x="13468350" y="4985296"/>
            <a:ext cx="3333274" cy="209550"/>
          </a:xfrm>
          <a:prstGeom prst="rect">
            <a:avLst/>
          </a:prstGeom>
          <a:noFill/>
          <a:ln/>
        </p:spPr>
        <p:txBody>
          <a:bodyPr wrap="square" lIns="25400" tIns="25400" rIns="25400" bIns="25400" rtlCol="0" anchor="t">
            <a:normAutofit/>
          </a:bodyPr>
          <a:lstStyle/>
          <a:p>
            <a:pPr algn="l" indent="0" marL="0">
              <a:lnSpc>
                <a:spcPct val="150000"/>
              </a:lnSpc>
              <a:buNone/>
            </a:pPr>
            <a:r>
              <a:rPr lang="en-US" sz="900" dirty="0">
                <a:solidFill>
                  <a:srgbClr val="0F1419"/>
                </a:solidFill>
                <a:latin typeface="Courier New" pitchFamily="34" charset="0"/>
                <a:ea typeface="Courier New" pitchFamily="34" charset="-122"/>
                <a:cs typeface="Courier New" pitchFamily="34" charset="-120"/>
              </a:rPr>
              <a:t>Fly.io</a:t>
            </a:r>
            <a:endParaRPr lang="en-US" sz="900" dirty="0"/>
          </a:p>
        </p:txBody>
      </p:sp>
      <p:sp>
        <p:nvSpPr>
          <p:cNvPr id="48" name="Shape 45"/>
          <p:cNvSpPr/>
          <p:nvPr/>
        </p:nvSpPr>
        <p:spPr>
          <a:xfrm>
            <a:off x="9810750" y="5299621"/>
            <a:ext cx="3476625" cy="342900"/>
          </a:xfrm>
          <a:prstGeom prst="roundRect">
            <a:avLst>
              <a:gd name="adj" fmla="val 16667"/>
            </a:avLst>
          </a:prstGeom>
          <a:solidFill>
            <a:srgbClr val="F7FAFC"/>
          </a:solidFill>
          <a:ln w="9525">
            <a:solidFill>
              <a:srgbClr val="DDE5EC"/>
            </a:solidFill>
            <a:prstDash val="solid"/>
          </a:ln>
        </p:spPr>
      </p:sp>
      <p:sp>
        <p:nvSpPr>
          <p:cNvPr id="49" name="Text 46"/>
          <p:cNvSpPr/>
          <p:nvPr/>
        </p:nvSpPr>
        <p:spPr>
          <a:xfrm>
            <a:off x="9934575" y="5385346"/>
            <a:ext cx="3333274" cy="209550"/>
          </a:xfrm>
          <a:prstGeom prst="rect">
            <a:avLst/>
          </a:prstGeom>
          <a:noFill/>
          <a:ln/>
        </p:spPr>
        <p:txBody>
          <a:bodyPr wrap="square" lIns="25400" tIns="25400" rIns="25400" bIns="25400" rtlCol="0" anchor="t">
            <a:normAutofit/>
          </a:bodyPr>
          <a:lstStyle/>
          <a:p>
            <a:pPr algn="l" indent="0" marL="0">
              <a:lnSpc>
                <a:spcPct val="150000"/>
              </a:lnSpc>
              <a:buNone/>
            </a:pPr>
            <a:r>
              <a:rPr lang="en-US" sz="900" dirty="0">
                <a:solidFill>
                  <a:srgbClr val="0F1419"/>
                </a:solidFill>
                <a:latin typeface="Courier New" pitchFamily="34" charset="0"/>
                <a:ea typeface="Courier New" pitchFamily="34" charset="-122"/>
                <a:cs typeface="Courier New" pitchFamily="34" charset="-120"/>
              </a:rPr>
              <a:t>Heroku</a:t>
            </a:r>
            <a:endParaRPr lang="en-US" sz="900" dirty="0"/>
          </a:p>
        </p:txBody>
      </p:sp>
      <p:sp>
        <p:nvSpPr>
          <p:cNvPr id="50" name="Shape 47"/>
          <p:cNvSpPr/>
          <p:nvPr/>
        </p:nvSpPr>
        <p:spPr>
          <a:xfrm>
            <a:off x="13344525" y="5299621"/>
            <a:ext cx="3476625" cy="342900"/>
          </a:xfrm>
          <a:prstGeom prst="roundRect">
            <a:avLst>
              <a:gd name="adj" fmla="val 16667"/>
            </a:avLst>
          </a:prstGeom>
          <a:solidFill>
            <a:srgbClr val="F7FAFC"/>
          </a:solidFill>
          <a:ln w="9525">
            <a:solidFill>
              <a:srgbClr val="DDE5EC"/>
            </a:solidFill>
            <a:prstDash val="solid"/>
          </a:ln>
        </p:spPr>
      </p:sp>
      <p:sp>
        <p:nvSpPr>
          <p:cNvPr id="51" name="Text 48"/>
          <p:cNvSpPr/>
          <p:nvPr/>
        </p:nvSpPr>
        <p:spPr>
          <a:xfrm>
            <a:off x="13468350" y="5385346"/>
            <a:ext cx="3333274" cy="209550"/>
          </a:xfrm>
          <a:prstGeom prst="rect">
            <a:avLst/>
          </a:prstGeom>
          <a:noFill/>
          <a:ln/>
        </p:spPr>
        <p:txBody>
          <a:bodyPr wrap="square" lIns="25400" tIns="25400" rIns="25400" bIns="25400" rtlCol="0" anchor="t">
            <a:normAutofit/>
          </a:bodyPr>
          <a:lstStyle/>
          <a:p>
            <a:pPr algn="l" indent="0" marL="0">
              <a:lnSpc>
                <a:spcPct val="150000"/>
              </a:lnSpc>
              <a:buNone/>
            </a:pPr>
            <a:r>
              <a:rPr lang="en-US" sz="900" dirty="0">
                <a:solidFill>
                  <a:srgbClr val="0F1419"/>
                </a:solidFill>
                <a:latin typeface="Courier New" pitchFamily="34" charset="0"/>
                <a:ea typeface="Courier New" pitchFamily="34" charset="-122"/>
                <a:cs typeface="Courier New" pitchFamily="34" charset="-120"/>
              </a:rPr>
              <a:t>DO App Platform</a:t>
            </a:r>
            <a:endParaRPr lang="en-US" sz="900" dirty="0"/>
          </a:p>
        </p:txBody>
      </p:sp>
      <p:sp>
        <p:nvSpPr>
          <p:cNvPr id="52" name="Shape 49"/>
          <p:cNvSpPr/>
          <p:nvPr/>
        </p:nvSpPr>
        <p:spPr>
          <a:xfrm>
            <a:off x="9610725" y="6013996"/>
            <a:ext cx="7410450" cy="9525"/>
          </a:xfrm>
          <a:prstGeom prst="rect">
            <a:avLst/>
          </a:prstGeom>
          <a:solidFill>
            <a:srgbClr val="DDE5EC"/>
          </a:solidFill>
          <a:ln/>
        </p:spPr>
      </p:sp>
      <p:sp>
        <p:nvSpPr>
          <p:cNvPr id="53" name="Text 50"/>
          <p:cNvSpPr/>
          <p:nvPr/>
        </p:nvSpPr>
        <p:spPr>
          <a:xfrm>
            <a:off x="9610725" y="6099721"/>
            <a:ext cx="219075"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dirty="0">
                <a:solidFill>
                  <a:srgbClr val="6E7785"/>
                </a:solidFill>
                <a:latin typeface="Arial" pitchFamily="34" charset="0"/>
                <a:ea typeface="Arial" pitchFamily="34" charset="-122"/>
                <a:cs typeface="Arial" pitchFamily="34" charset="-120"/>
              </a:rPr>
              <a:t>—</a:t>
            </a:r>
            <a:endParaRPr lang="en-US" sz="1125" dirty="0"/>
          </a:p>
        </p:txBody>
      </p:sp>
      <p:sp>
        <p:nvSpPr>
          <p:cNvPr id="54" name="Text 51"/>
          <p:cNvSpPr/>
          <p:nvPr/>
        </p:nvSpPr>
        <p:spPr>
          <a:xfrm>
            <a:off x="9782175" y="6128296"/>
            <a:ext cx="4016046" cy="195263"/>
          </a:xfrm>
          <a:prstGeom prst="rect">
            <a:avLst/>
          </a:prstGeom>
          <a:noFill/>
          <a:ln/>
        </p:spPr>
        <p:txBody>
          <a:bodyPr wrap="square" lIns="0" tIns="0" rIns="0" bIns="0" rtlCol="0" anchor="t">
            <a:normAutofit/>
          </a:bodyPr>
          <a:lstStyle/>
          <a:p>
            <a:pPr algn="l" indent="0" marL="0">
              <a:lnSpc>
                <a:spcPct val="150000"/>
              </a:lnSpc>
              <a:buNone/>
            </a:pPr>
            <a:r>
              <a:rPr lang="en-US" sz="1125" dirty="0">
                <a:solidFill>
                  <a:srgbClr val="2A3340"/>
                </a:solidFill>
                <a:latin typeface="Arial" pitchFamily="34" charset="0"/>
                <a:ea typeface="Arial" pitchFamily="34" charset="-122"/>
                <a:cs typeface="Arial" pitchFamily="34" charset="-120"/>
              </a:rPr>
              <a:t>Deploys your code — auth, mail, payments, mobile are yours.</a:t>
            </a:r>
            <a:endParaRPr lang="en-US" sz="1125" dirty="0"/>
          </a:p>
        </p:txBody>
      </p:sp>
      <p:sp>
        <p:nvSpPr>
          <p:cNvPr id="55" name="Shape 52"/>
          <p:cNvSpPr/>
          <p:nvPr/>
        </p:nvSpPr>
        <p:spPr>
          <a:xfrm>
            <a:off x="9610725" y="6390233"/>
            <a:ext cx="7410450" cy="9525"/>
          </a:xfrm>
          <a:prstGeom prst="rect">
            <a:avLst/>
          </a:prstGeom>
          <a:solidFill>
            <a:srgbClr val="DDE5EC"/>
          </a:solidFill>
          <a:ln/>
        </p:spPr>
      </p:sp>
      <p:sp>
        <p:nvSpPr>
          <p:cNvPr id="56" name="Text 53"/>
          <p:cNvSpPr/>
          <p:nvPr/>
        </p:nvSpPr>
        <p:spPr>
          <a:xfrm>
            <a:off x="9610725" y="6475958"/>
            <a:ext cx="219075"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dirty="0">
                <a:solidFill>
                  <a:srgbClr val="6E7785"/>
                </a:solidFill>
                <a:latin typeface="Arial" pitchFamily="34" charset="0"/>
                <a:ea typeface="Arial" pitchFamily="34" charset="-122"/>
                <a:cs typeface="Arial" pitchFamily="34" charset="-120"/>
              </a:rPr>
              <a:t>—</a:t>
            </a:r>
            <a:endParaRPr lang="en-US" sz="1125" dirty="0"/>
          </a:p>
        </p:txBody>
      </p:sp>
      <p:sp>
        <p:nvSpPr>
          <p:cNvPr id="57" name="Text 54"/>
          <p:cNvSpPr/>
          <p:nvPr/>
        </p:nvSpPr>
        <p:spPr>
          <a:xfrm>
            <a:off x="9782175" y="6504533"/>
            <a:ext cx="4273808" cy="195263"/>
          </a:xfrm>
          <a:prstGeom prst="rect">
            <a:avLst/>
          </a:prstGeom>
          <a:noFill/>
          <a:ln/>
        </p:spPr>
        <p:txBody>
          <a:bodyPr wrap="square" lIns="0" tIns="0" rIns="0" bIns="0" rtlCol="0" anchor="t">
            <a:normAutofit/>
          </a:bodyPr>
          <a:lstStyle/>
          <a:p>
            <a:pPr algn="l" indent="0" marL="0">
              <a:lnSpc>
                <a:spcPct val="150000"/>
              </a:lnSpc>
              <a:buNone/>
            </a:pPr>
            <a:r>
              <a:rPr lang="en-US" sz="1125" dirty="0">
                <a:solidFill>
                  <a:srgbClr val="2A3340"/>
                </a:solidFill>
                <a:latin typeface="Arial" pitchFamily="34" charset="0"/>
                <a:ea typeface="Arial" pitchFamily="34" charset="-122"/>
                <a:cs typeface="Arial" pitchFamily="34" charset="-120"/>
              </a:rPr>
              <a:t>Built for engineers. Non-tech founder can't stitch a SaaS together.</a:t>
            </a:r>
            <a:endParaRPr lang="en-US" sz="1125" dirty="0"/>
          </a:p>
        </p:txBody>
      </p:sp>
      <p:sp>
        <p:nvSpPr>
          <p:cNvPr id="58" name="Shape 55"/>
          <p:cNvSpPr/>
          <p:nvPr/>
        </p:nvSpPr>
        <p:spPr>
          <a:xfrm>
            <a:off x="9610725" y="6766471"/>
            <a:ext cx="7410450" cy="9525"/>
          </a:xfrm>
          <a:prstGeom prst="rect">
            <a:avLst/>
          </a:prstGeom>
          <a:solidFill>
            <a:srgbClr val="DDE5EC"/>
          </a:solidFill>
          <a:ln/>
        </p:spPr>
      </p:sp>
      <p:sp>
        <p:nvSpPr>
          <p:cNvPr id="59" name="Text 56"/>
          <p:cNvSpPr/>
          <p:nvPr/>
        </p:nvSpPr>
        <p:spPr>
          <a:xfrm>
            <a:off x="9610725" y="6852196"/>
            <a:ext cx="219075"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dirty="0">
                <a:solidFill>
                  <a:srgbClr val="6E7785"/>
                </a:solidFill>
                <a:latin typeface="Arial" pitchFamily="34" charset="0"/>
                <a:ea typeface="Arial" pitchFamily="34" charset="-122"/>
                <a:cs typeface="Arial" pitchFamily="34" charset="-120"/>
              </a:rPr>
              <a:t>—</a:t>
            </a:r>
            <a:endParaRPr lang="en-US" sz="1125" dirty="0"/>
          </a:p>
        </p:txBody>
      </p:sp>
      <p:sp>
        <p:nvSpPr>
          <p:cNvPr id="60" name="Text 57"/>
          <p:cNvSpPr/>
          <p:nvPr/>
        </p:nvSpPr>
        <p:spPr>
          <a:xfrm>
            <a:off x="9782175" y="6880771"/>
            <a:ext cx="3206582" cy="195263"/>
          </a:xfrm>
          <a:prstGeom prst="rect">
            <a:avLst/>
          </a:prstGeom>
          <a:noFill/>
          <a:ln/>
        </p:spPr>
        <p:txBody>
          <a:bodyPr wrap="square" lIns="0" tIns="0" rIns="0" bIns="0" rtlCol="0" anchor="t">
            <a:normAutofit/>
          </a:bodyPr>
          <a:lstStyle/>
          <a:p>
            <a:pPr algn="l" indent="0" marL="0">
              <a:lnSpc>
                <a:spcPct val="150000"/>
              </a:lnSpc>
              <a:buNone/>
            </a:pPr>
            <a:r>
              <a:rPr lang="en-US" sz="1125" dirty="0">
                <a:solidFill>
                  <a:srgbClr val="2A3340"/>
                </a:solidFill>
                <a:latin typeface="Arial" pitchFamily="34" charset="0"/>
                <a:ea typeface="Arial" pitchFamily="34" charset="-122"/>
                <a:cs typeface="Arial" pitchFamily="34" charset="-120"/>
              </a:rPr>
              <a:t>Usage-based pricing hard for a learner to predict.</a:t>
            </a:r>
            <a:endParaRPr lang="en-US" sz="1125" dirty="0"/>
          </a:p>
        </p:txBody>
      </p:sp>
      <p:sp>
        <p:nvSpPr>
          <p:cNvPr id="61" name="Shape 58"/>
          <p:cNvSpPr/>
          <p:nvPr/>
        </p:nvSpPr>
        <p:spPr>
          <a:xfrm>
            <a:off x="9610725" y="7314158"/>
            <a:ext cx="7410450" cy="9525"/>
          </a:xfrm>
          <a:prstGeom prst="rect">
            <a:avLst/>
          </a:prstGeom>
          <a:solidFill>
            <a:srgbClr val="C8C0F8"/>
          </a:solidFill>
          <a:ln/>
        </p:spPr>
      </p:sp>
      <p:sp>
        <p:nvSpPr>
          <p:cNvPr id="62" name="Text 59"/>
          <p:cNvSpPr/>
          <p:nvPr/>
        </p:nvSpPr>
        <p:spPr>
          <a:xfrm>
            <a:off x="9610725" y="7457033"/>
            <a:ext cx="7632763"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b="1" dirty="0">
                <a:solidFill>
                  <a:srgbClr val="5B47F0"/>
                </a:solidFill>
                <a:latin typeface="Arial" pitchFamily="34" charset="0"/>
                <a:ea typeface="Arial" pitchFamily="34" charset="-122"/>
                <a:cs typeface="Arial" pitchFamily="34" charset="-120"/>
              </a:rPr>
              <a:t>Where Hatchik wins: substrate pre-wired · day-one SaaS.</a:t>
            </a:r>
            <a:endParaRPr lang="en-US" sz="1200" dirty="0"/>
          </a:p>
        </p:txBody>
      </p:sp>
      <p:sp>
        <p:nvSpPr>
          <p:cNvPr id="63" name="Shape 60"/>
          <p:cNvSpPr/>
          <p:nvPr/>
        </p:nvSpPr>
        <p:spPr>
          <a:xfrm>
            <a:off x="914400" y="8361908"/>
            <a:ext cx="16459200" cy="614363"/>
          </a:xfrm>
          <a:prstGeom prst="roundRect">
            <a:avLst>
              <a:gd name="adj" fmla="val 18605"/>
            </a:avLst>
          </a:prstGeom>
          <a:solidFill>
            <a:srgbClr val="EEEBFD"/>
          </a:solidFill>
          <a:ln w="14288">
            <a:solidFill>
              <a:srgbClr val="C8C0F8"/>
            </a:solidFill>
            <a:prstDash val="solid"/>
          </a:ln>
          <a:effectLst>
            <a:outerShdw sx="100000" sy="100000" kx="0" ky="0" algn="bl" rotWithShape="0" blurRad="28575" dist="9525" dir="5400000">
              <a:srgbClr val="5B47F0">
                <a:alpha val="6000"/>
              </a:srgbClr>
            </a:outerShdw>
          </a:effectLst>
        </p:spPr>
      </p:sp>
      <p:sp>
        <p:nvSpPr>
          <p:cNvPr id="64" name="Shape 61"/>
          <p:cNvSpPr/>
          <p:nvPr/>
        </p:nvSpPr>
        <p:spPr>
          <a:xfrm>
            <a:off x="1138238" y="8552408"/>
            <a:ext cx="454223" cy="233362"/>
          </a:xfrm>
          <a:prstGeom prst="roundRect">
            <a:avLst>
              <a:gd name="adj" fmla="val 16327"/>
            </a:avLst>
          </a:prstGeom>
          <a:solidFill>
            <a:srgbClr val="5B47F0"/>
          </a:solidFill>
          <a:ln/>
        </p:spPr>
      </p:sp>
      <p:sp>
        <p:nvSpPr>
          <p:cNvPr id="65" name="Text 62"/>
          <p:cNvSpPr/>
          <p:nvPr/>
        </p:nvSpPr>
        <p:spPr>
          <a:xfrm>
            <a:off x="1214438" y="8590508"/>
            <a:ext cx="378023" cy="195263"/>
          </a:xfrm>
          <a:prstGeom prst="rect">
            <a:avLst/>
          </a:prstGeom>
          <a:noFill/>
          <a:ln/>
        </p:spPr>
        <p:txBody>
          <a:bodyPr wrap="square" lIns="25400" tIns="25400" rIns="25400" bIns="25400" rtlCol="0" anchor="t">
            <a:normAutofit/>
          </a:bodyPr>
          <a:lstStyle/>
          <a:p>
            <a:pPr algn="l" indent="0" marL="0">
              <a:lnSpc>
                <a:spcPct val="150000"/>
              </a:lnSpc>
              <a:buNone/>
            </a:pPr>
            <a:r>
              <a:rPr lang="en-US" sz="825" spc="99" kern="0" dirty="0">
                <a:solidFill>
                  <a:srgbClr val="FFFFFF"/>
                </a:solidFill>
                <a:latin typeface="Courier New" pitchFamily="34" charset="0"/>
                <a:ea typeface="Courier New" pitchFamily="34" charset="-122"/>
                <a:cs typeface="Courier New" pitchFamily="34" charset="-120"/>
              </a:rPr>
              <a:t>SEAM</a:t>
            </a:r>
            <a:endParaRPr lang="en-US" sz="825" dirty="0"/>
          </a:p>
        </p:txBody>
      </p:sp>
      <p:sp>
        <p:nvSpPr>
          <p:cNvPr id="66" name="Text 63"/>
          <p:cNvSpPr/>
          <p:nvPr/>
        </p:nvSpPr>
        <p:spPr>
          <a:xfrm>
            <a:off x="1725811" y="8576221"/>
            <a:ext cx="7925630" cy="219075"/>
          </a:xfrm>
          <a:prstGeom prst="rect">
            <a:avLst/>
          </a:prstGeom>
          <a:noFill/>
          <a:ln/>
        </p:spPr>
        <p:txBody>
          <a:bodyPr wrap="square" lIns="0" tIns="0" rIns="0" bIns="0" rtlCol="0" anchor="t">
            <a:normAutofit/>
          </a:bodyPr>
          <a:lstStyle/>
          <a:p>
            <a:pPr algn="l" indent="0" marL="0">
              <a:lnSpc>
                <a:spcPct val="150000"/>
              </a:lnSpc>
              <a:buNone/>
            </a:pPr>
            <a:r>
              <a:rPr lang="en-US" sz="1275" dirty="0">
                <a:solidFill>
                  <a:srgbClr val="4231CC"/>
                </a:solidFill>
                <a:latin typeface="Arial" pitchFamily="34" charset="0"/>
                <a:ea typeface="Arial" pitchFamily="34" charset="-122"/>
                <a:cs typeface="Arial" pitchFamily="34" charset="-120"/>
              </a:rPr>
              <a:t>Hatchik sits where both groups stop. Full per-competitor matrix in appendix 23 · acquirer-risk analysis in 24.</a:t>
            </a:r>
            <a:endParaRPr lang="en-US" sz="1275" dirty="0"/>
          </a:p>
        </p:txBody>
      </p:sp>
      <p:sp>
        <p:nvSpPr>
          <p:cNvPr id="67" name="Shape 64"/>
          <p:cNvSpPr/>
          <p:nvPr/>
        </p:nvSpPr>
        <p:spPr>
          <a:xfrm>
            <a:off x="914400" y="9286875"/>
            <a:ext cx="16459200" cy="9525"/>
          </a:xfrm>
          <a:prstGeom prst="rect">
            <a:avLst/>
          </a:prstGeom>
          <a:solidFill>
            <a:srgbClr val="DDE5EC"/>
          </a:solidFill>
          <a:ln/>
        </p:spPr>
      </p:sp>
      <p:sp>
        <p:nvSpPr>
          <p:cNvPr id="68" name="Text 65"/>
          <p:cNvSpPr/>
          <p:nvPr/>
        </p:nvSpPr>
        <p:spPr>
          <a:xfrm>
            <a:off x="914400" y="9532144"/>
            <a:ext cx="4533256"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113" kern="0" dirty="0">
                <a:solidFill>
                  <a:srgbClr val="6E7785"/>
                </a:solidFill>
                <a:latin typeface="Courier New" pitchFamily="34" charset="0"/>
                <a:ea typeface="Courier New" pitchFamily="34" charset="-122"/>
                <a:cs typeface="Courier New" pitchFamily="34" charset="-120"/>
              </a:rPr>
              <a:t>HATCHIK · INVESTOR &amp; PARTNER DECK · MAY 2026</a:t>
            </a:r>
            <a:endParaRPr lang="en-US" sz="1125" dirty="0"/>
          </a:p>
        </p:txBody>
      </p:sp>
      <p:sp>
        <p:nvSpPr>
          <p:cNvPr id="69" name="Text 66"/>
          <p:cNvSpPr/>
          <p:nvPr/>
        </p:nvSpPr>
        <p:spPr>
          <a:xfrm>
            <a:off x="16690851" y="9525000"/>
            <a:ext cx="758949"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spc="48" kern="0" dirty="0">
                <a:solidFill>
                  <a:srgbClr val="0F1419"/>
                </a:solidFill>
                <a:latin typeface="Courier New" pitchFamily="34" charset="0"/>
                <a:ea typeface="Courier New" pitchFamily="34" charset="-122"/>
                <a:cs typeface="Courier New" pitchFamily="34" charset="-120"/>
              </a:rPr>
              <a:t>10 / 31</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C1118"/>
        </a:solidFill>
      </p:bgPr>
    </p:bg>
    <p:spTree>
      <p:nvGrpSpPr>
        <p:cNvPr id="1" name=""/>
        <p:cNvGrpSpPr/>
        <p:nvPr/>
      </p:nvGrpSpPr>
      <p:grpSpPr>
        <a:xfrm>
          <a:off x="0" y="0"/>
          <a:ext cx="0" cy="0"/>
          <a:chOff x="0" y="0"/>
          <a:chExt cx="0" cy="0"/>
        </a:xfrm>
      </p:grpSpPr>
      <p:sp>
        <p:nvSpPr>
          <p:cNvPr id="2" name="Shape 0"/>
          <p:cNvSpPr/>
          <p:nvPr/>
        </p:nvSpPr>
        <p:spPr>
          <a:xfrm>
            <a:off x="914400" y="1009650"/>
            <a:ext cx="16459200" cy="9525"/>
          </a:xfrm>
          <a:prstGeom prst="rect">
            <a:avLst/>
          </a:prstGeom>
          <a:solidFill>
            <a:srgbClr val="F7FAFC">
              <a:alpha val="12000"/>
            </a:srgbClr>
          </a:solidFill>
          <a:ln/>
        </p:spPr>
      </p:sp>
      <p:pic>
        <p:nvPicPr>
          <p:cNvPr id="3" name="Image 0" descr="preencoded.png">    </p:cNvPr>
          <p:cNvPicPr>
            <a:picLocks noChangeAspect="1"/>
          </p:cNvPicPr>
          <p:nvPr/>
        </p:nvPicPr>
        <p:blipFill>
          <a:blip r:embed="rId1"/>
          <a:stretch>
            <a:fillRect/>
          </a:stretch>
        </p:blipFill>
        <p:spPr>
          <a:xfrm>
            <a:off x="914400" y="571500"/>
            <a:ext cx="209550" cy="209550"/>
          </a:xfrm>
          <a:prstGeom prst="rect">
            <a:avLst/>
          </a:prstGeom>
        </p:spPr>
      </p:pic>
      <p:sp>
        <p:nvSpPr>
          <p:cNvPr id="4" name="Text 1"/>
          <p:cNvSpPr/>
          <p:nvPr/>
        </p:nvSpPr>
        <p:spPr>
          <a:xfrm>
            <a:off x="1219200" y="533400"/>
            <a:ext cx="745108"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spc="-37" kern="0" dirty="0">
                <a:solidFill>
                  <a:srgbClr val="F7FAFC"/>
                </a:solidFill>
                <a:latin typeface="Arial" pitchFamily="34" charset="0"/>
                <a:ea typeface="Arial" pitchFamily="34" charset="-122"/>
                <a:cs typeface="Arial" pitchFamily="34" charset="-120"/>
              </a:rPr>
              <a:t>hatchik</a:t>
            </a:r>
            <a:endParaRPr lang="en-US" sz="1500" dirty="0"/>
          </a:p>
        </p:txBody>
      </p:sp>
      <p:sp>
        <p:nvSpPr>
          <p:cNvPr id="5" name="Text 2"/>
          <p:cNvSpPr/>
          <p:nvPr/>
        </p:nvSpPr>
        <p:spPr>
          <a:xfrm>
            <a:off x="15658802" y="562421"/>
            <a:ext cx="1790998" cy="265733"/>
          </a:xfrm>
          <a:prstGeom prst="rect">
            <a:avLst/>
          </a:prstGeom>
          <a:noFill/>
          <a:ln/>
        </p:spPr>
        <p:txBody>
          <a:bodyPr wrap="square" lIns="25400" tIns="25400" rIns="25400" bIns="25400" rtlCol="0" anchor="t">
            <a:normAutofit/>
          </a:bodyPr>
          <a:lstStyle/>
          <a:p>
            <a:pPr algn="l" indent="0" marL="0">
              <a:lnSpc>
                <a:spcPct val="140000"/>
              </a:lnSpc>
              <a:buNone/>
            </a:pPr>
            <a:r>
              <a:rPr lang="en-US" sz="1200" spc="120" kern="0" dirty="0">
                <a:solidFill>
                  <a:srgbClr val="F7FAFC"/>
                </a:solidFill>
                <a:latin typeface="Courier New" pitchFamily="34" charset="0"/>
                <a:ea typeface="Courier New" pitchFamily="34" charset="-122"/>
                <a:cs typeface="Courier New" pitchFamily="34" charset="-120"/>
              </a:rPr>
              <a:t>11 </a:t>
            </a:r>
            <a:pPr algn="l" indent="0" marL="0">
              <a:lnSpc>
                <a:spcPct val="140000"/>
              </a:lnSpc>
              <a:buNone/>
            </a:pPr>
            <a:r>
              <a:rPr lang="en-US" sz="1200" spc="120" kern="0" dirty="0">
                <a:solidFill>
                  <a:srgbClr val="5B47F0"/>
                </a:solidFill>
                <a:latin typeface="Courier New" pitchFamily="34" charset="0"/>
                <a:ea typeface="Courier New" pitchFamily="34" charset="-122"/>
                <a:cs typeface="Courier New" pitchFamily="34" charset="-120"/>
              </a:rPr>
              <a:t>· </a:t>
            </a:r>
            <a:pPr algn="l" indent="0" marL="0">
              <a:lnSpc>
                <a:spcPct val="140000"/>
              </a:lnSpc>
              <a:buNone/>
            </a:pPr>
            <a:r>
              <a:rPr lang="en-US" sz="1200" spc="120" kern="0" dirty="0">
                <a:solidFill>
                  <a:srgbClr val="F7FAFC">
                    <a:alpha val="55000"/>
                  </a:srgbClr>
                </a:solidFill>
                <a:latin typeface="Courier New" pitchFamily="34" charset="0"/>
                <a:ea typeface="Courier New" pitchFamily="34" charset="-122"/>
                <a:cs typeface="Courier New" pitchFamily="34" charset="-120"/>
              </a:rPr>
              <a:t>WHERE WE WIN</a:t>
            </a:r>
            <a:endParaRPr lang="en-US" sz="1200" dirty="0"/>
          </a:p>
        </p:txBody>
      </p:sp>
      <p:sp>
        <p:nvSpPr>
          <p:cNvPr id="6" name="Text 3"/>
          <p:cNvSpPr/>
          <p:nvPr/>
        </p:nvSpPr>
        <p:spPr>
          <a:xfrm>
            <a:off x="914400" y="1438275"/>
            <a:ext cx="15893415" cy="723900"/>
          </a:xfrm>
          <a:prstGeom prst="rect">
            <a:avLst/>
          </a:prstGeom>
          <a:noFill/>
          <a:ln/>
        </p:spPr>
        <p:txBody>
          <a:bodyPr wrap="square" lIns="25400" tIns="25400" rIns="25400" bIns="25400" rtlCol="0" anchor="t">
            <a:normAutofit/>
          </a:bodyPr>
          <a:lstStyle/>
          <a:p>
            <a:pPr algn="l" indent="0" marL="0">
              <a:lnSpc>
                <a:spcPct val="100000"/>
              </a:lnSpc>
              <a:buNone/>
            </a:pPr>
            <a:r>
              <a:rPr lang="en-US" sz="5400" b="1" spc="-216" kern="0" dirty="0">
                <a:solidFill>
                  <a:srgbClr val="F7FAFC"/>
                </a:solidFill>
                <a:latin typeface="Arial" pitchFamily="34" charset="0"/>
                <a:ea typeface="Arial" pitchFamily="34" charset="-122"/>
                <a:cs typeface="Arial" pitchFamily="34" charset="-120"/>
              </a:rPr>
              <a:t>Three things </a:t>
            </a:r>
            <a:pPr algn="l" indent="0" marL="0">
              <a:lnSpc>
                <a:spcPct val="100000"/>
              </a:lnSpc>
              <a:buNone/>
            </a:pPr>
            <a:r>
              <a:rPr lang="en-US" sz="5400" b="1" spc="-216" kern="0" dirty="0">
                <a:solidFill>
                  <a:srgbClr val="C8C0F8"/>
                </a:solidFill>
                <a:latin typeface="Arial" pitchFamily="34" charset="0"/>
                <a:ea typeface="Arial" pitchFamily="34" charset="-122"/>
                <a:cs typeface="Arial" pitchFamily="34" charset="-120"/>
              </a:rPr>
              <a:t>no competitor combines.</a:t>
            </a:r>
            <a:endParaRPr lang="en-US" sz="5400" dirty="0"/>
          </a:p>
        </p:txBody>
      </p:sp>
      <p:sp>
        <p:nvSpPr>
          <p:cNvPr id="7" name="Shape 4"/>
          <p:cNvSpPr/>
          <p:nvPr/>
        </p:nvSpPr>
        <p:spPr>
          <a:xfrm>
            <a:off x="914400" y="3038475"/>
            <a:ext cx="5359375" cy="3958233"/>
          </a:xfrm>
          <a:prstGeom prst="roundRect">
            <a:avLst>
              <a:gd name="adj" fmla="val 4331"/>
            </a:avLst>
          </a:prstGeom>
          <a:solidFill>
            <a:srgbClr val="232C3D"/>
          </a:solidFill>
          <a:ln w="14288">
            <a:solidFill>
              <a:srgbClr val="232C3D"/>
            </a:solidFill>
            <a:prstDash val="solid"/>
          </a:ln>
          <a:effectLst>
            <a:outerShdw sx="100000" sy="100000" kx="0" ky="0" algn="bl" rotWithShape="0" blurRad="133350" dist="38100" dir="5400000">
              <a:srgbClr val="000000">
                <a:alpha val="25000"/>
              </a:srgbClr>
            </a:outerShdw>
          </a:effectLst>
        </p:spPr>
      </p:sp>
      <p:sp>
        <p:nvSpPr>
          <p:cNvPr id="8" name="Text 5"/>
          <p:cNvSpPr/>
          <p:nvPr/>
        </p:nvSpPr>
        <p:spPr>
          <a:xfrm>
            <a:off x="1271588" y="3395663"/>
            <a:ext cx="4784350" cy="195263"/>
          </a:xfrm>
          <a:prstGeom prst="rect">
            <a:avLst/>
          </a:prstGeom>
          <a:noFill/>
          <a:ln/>
        </p:spPr>
        <p:txBody>
          <a:bodyPr wrap="square" lIns="25400" tIns="25400" rIns="25400" bIns="25400" rtlCol="0" anchor="t">
            <a:normAutofit/>
          </a:bodyPr>
          <a:lstStyle/>
          <a:p>
            <a:pPr algn="l" indent="0" marL="0">
              <a:lnSpc>
                <a:spcPct val="150000"/>
              </a:lnSpc>
              <a:buNone/>
            </a:pPr>
            <a:r>
              <a:rPr lang="en-US" sz="825" spc="99" kern="0" dirty="0">
                <a:solidFill>
                  <a:srgbClr val="C8C0F8"/>
                </a:solidFill>
                <a:latin typeface="Courier New" pitchFamily="34" charset="0"/>
                <a:ea typeface="Courier New" pitchFamily="34" charset="-122"/>
                <a:cs typeface="Courier New" pitchFamily="34" charset="-120"/>
              </a:rPr>
              <a:t>WEDGE 01</a:t>
            </a:r>
            <a:endParaRPr lang="en-US" sz="825" dirty="0"/>
          </a:p>
        </p:txBody>
      </p:sp>
      <p:sp>
        <p:nvSpPr>
          <p:cNvPr id="9" name="Text 6"/>
          <p:cNvSpPr/>
          <p:nvPr/>
        </p:nvSpPr>
        <p:spPr>
          <a:xfrm>
            <a:off x="1271588" y="3705225"/>
            <a:ext cx="4784350" cy="598884"/>
          </a:xfrm>
          <a:prstGeom prst="rect">
            <a:avLst/>
          </a:prstGeom>
          <a:noFill/>
          <a:ln/>
        </p:spPr>
        <p:txBody>
          <a:bodyPr wrap="square" lIns="25400" tIns="25400" rIns="25400" bIns="25400" rtlCol="0" anchor="t">
            <a:normAutofit/>
          </a:bodyPr>
          <a:lstStyle/>
          <a:p>
            <a:pPr algn="l" indent="0" marL="0">
              <a:lnSpc>
                <a:spcPct val="92000"/>
              </a:lnSpc>
              <a:buNone/>
            </a:pPr>
            <a:r>
              <a:rPr lang="en-US" sz="4800" b="1" spc="-192" kern="0" dirty="0">
                <a:solidFill>
                  <a:srgbClr val="C8C0F8"/>
                </a:solidFill>
                <a:latin typeface="Arial" pitchFamily="34" charset="0"/>
                <a:ea typeface="Arial" pitchFamily="34" charset="-122"/>
                <a:cs typeface="Arial" pitchFamily="34" charset="-120"/>
              </a:rPr>
              <a:t>01</a:t>
            </a:r>
            <a:endParaRPr lang="en-US" sz="4800" dirty="0"/>
          </a:p>
        </p:txBody>
      </p:sp>
      <p:sp>
        <p:nvSpPr>
          <p:cNvPr id="10" name="Text 7"/>
          <p:cNvSpPr/>
          <p:nvPr/>
        </p:nvSpPr>
        <p:spPr>
          <a:xfrm>
            <a:off x="1271588" y="4418409"/>
            <a:ext cx="4784350" cy="352425"/>
          </a:xfrm>
          <a:prstGeom prst="rect">
            <a:avLst/>
          </a:prstGeom>
          <a:noFill/>
          <a:ln/>
        </p:spPr>
        <p:txBody>
          <a:bodyPr wrap="square" lIns="25400" tIns="25400" rIns="25400" bIns="25400" rtlCol="0" anchor="t">
            <a:normAutofit/>
          </a:bodyPr>
          <a:lstStyle/>
          <a:p>
            <a:pPr algn="l" indent="0" marL="0">
              <a:lnSpc>
                <a:spcPct val="110000"/>
              </a:lnSpc>
              <a:buNone/>
            </a:pPr>
            <a:r>
              <a:rPr lang="en-US" sz="2250" b="1" spc="-56" kern="0" dirty="0">
                <a:solidFill>
                  <a:srgbClr val="F7FAFC"/>
                </a:solidFill>
                <a:latin typeface="Arial" pitchFamily="34" charset="0"/>
                <a:ea typeface="Arial" pitchFamily="34" charset="-122"/>
                <a:cs typeface="Arial" pitchFamily="34" charset="-120"/>
              </a:rPr>
              <a:t>Your AI tool, not ours.</a:t>
            </a:r>
            <a:endParaRPr lang="en-US" sz="2250" dirty="0"/>
          </a:p>
        </p:txBody>
      </p:sp>
      <p:sp>
        <p:nvSpPr>
          <p:cNvPr id="11" name="Text 8"/>
          <p:cNvSpPr/>
          <p:nvPr/>
        </p:nvSpPr>
        <p:spPr>
          <a:xfrm>
            <a:off x="1271588" y="4885134"/>
            <a:ext cx="4784350" cy="1278136"/>
          </a:xfrm>
          <a:prstGeom prst="rect">
            <a:avLst/>
          </a:prstGeom>
          <a:noFill/>
          <a:ln/>
        </p:spPr>
        <p:txBody>
          <a:bodyPr wrap="square" lIns="25400" tIns="25400" rIns="25400" bIns="25400" rtlCol="0" anchor="t">
            <a:normAutofit/>
          </a:bodyPr>
          <a:lstStyle/>
          <a:p>
            <a:pPr algn="l" indent="0" marL="0">
              <a:lnSpc>
                <a:spcPct val="155000"/>
              </a:lnSpc>
              <a:buNone/>
            </a:pPr>
            <a:r>
              <a:rPr lang="en-US" sz="1575" dirty="0">
                <a:solidFill>
                  <a:srgbClr val="F7FAFC">
                    <a:alpha val="78000"/>
                  </a:srgbClr>
                </a:solidFill>
                <a:latin typeface="Arial" pitchFamily="34" charset="0"/>
                <a:ea typeface="Arial" pitchFamily="34" charset="-122"/>
                <a:cs typeface="Arial" pitchFamily="34" charset="-120"/>
              </a:rPr>
              <a:t>Every other AI builder ships its own chat. We plug into the one your customer already trusts — Claude Code, Cursor, Windsurf, Copilot. Zero context switching, zero retraining.</a:t>
            </a:r>
            <a:endParaRPr lang="en-US" sz="1575" dirty="0"/>
          </a:p>
        </p:txBody>
      </p:sp>
      <p:sp>
        <p:nvSpPr>
          <p:cNvPr id="12" name="Shape 9"/>
          <p:cNvSpPr/>
          <p:nvPr/>
        </p:nvSpPr>
        <p:spPr>
          <a:xfrm>
            <a:off x="1271588" y="6353770"/>
            <a:ext cx="845939" cy="285750"/>
          </a:xfrm>
          <a:prstGeom prst="roundRect">
            <a:avLst>
              <a:gd name="adj" fmla="val 23333"/>
            </a:avLst>
          </a:prstGeom>
          <a:solidFill>
            <a:srgbClr val="232C3D"/>
          </a:solidFill>
          <a:ln w="9525">
            <a:solidFill>
              <a:srgbClr val="F7FAFC">
                <a:alpha val="12000"/>
              </a:srgbClr>
            </a:solidFill>
            <a:prstDash val="solid"/>
          </a:ln>
        </p:spPr>
      </p:sp>
      <p:sp>
        <p:nvSpPr>
          <p:cNvPr id="13" name="Text 10"/>
          <p:cNvSpPr/>
          <p:nvPr/>
        </p:nvSpPr>
        <p:spPr>
          <a:xfrm>
            <a:off x="1414463" y="6429970"/>
            <a:ext cx="636389" cy="171450"/>
          </a:xfrm>
          <a:prstGeom prst="rect">
            <a:avLst/>
          </a:prstGeom>
          <a:noFill/>
          <a:ln/>
        </p:spPr>
        <p:txBody>
          <a:bodyPr wrap="square" lIns="25400" tIns="25400" rIns="25400" bIns="25400" rtlCol="0" anchor="ctr">
            <a:normAutofit/>
          </a:bodyPr>
          <a:lstStyle/>
          <a:p>
            <a:pPr algn="l" indent="0" marL="0">
              <a:lnSpc>
                <a:spcPct val="100000"/>
              </a:lnSpc>
              <a:buNone/>
            </a:pPr>
            <a:r>
              <a:rPr lang="en-US" sz="1050" spc="105" kern="0" dirty="0">
                <a:solidFill>
                  <a:srgbClr val="F7FAFC"/>
                </a:solidFill>
                <a:latin typeface="Courier New" pitchFamily="34" charset="0"/>
                <a:ea typeface="Courier New" pitchFamily="34" charset="-122"/>
                <a:cs typeface="Courier New" pitchFamily="34" charset="-120"/>
              </a:rPr>
              <a:t>CURSOR</a:t>
            </a:r>
            <a:endParaRPr lang="en-US" sz="1050" dirty="0"/>
          </a:p>
        </p:txBody>
      </p:sp>
      <p:sp>
        <p:nvSpPr>
          <p:cNvPr id="14" name="Shape 11"/>
          <p:cNvSpPr/>
          <p:nvPr/>
        </p:nvSpPr>
        <p:spPr>
          <a:xfrm>
            <a:off x="2174677" y="6353770"/>
            <a:ext cx="1312738" cy="285750"/>
          </a:xfrm>
          <a:prstGeom prst="roundRect">
            <a:avLst>
              <a:gd name="adj" fmla="val 23333"/>
            </a:avLst>
          </a:prstGeom>
          <a:solidFill>
            <a:srgbClr val="232C3D"/>
          </a:solidFill>
          <a:ln w="9525">
            <a:solidFill>
              <a:srgbClr val="F7FAFC">
                <a:alpha val="12000"/>
              </a:srgbClr>
            </a:solidFill>
            <a:prstDash val="solid"/>
          </a:ln>
        </p:spPr>
      </p:sp>
      <p:sp>
        <p:nvSpPr>
          <p:cNvPr id="15" name="Text 12"/>
          <p:cNvSpPr/>
          <p:nvPr/>
        </p:nvSpPr>
        <p:spPr>
          <a:xfrm>
            <a:off x="2317552" y="6429970"/>
            <a:ext cx="1103188" cy="171450"/>
          </a:xfrm>
          <a:prstGeom prst="rect">
            <a:avLst/>
          </a:prstGeom>
          <a:noFill/>
          <a:ln/>
        </p:spPr>
        <p:txBody>
          <a:bodyPr wrap="square" lIns="25400" tIns="25400" rIns="25400" bIns="25400" rtlCol="0" anchor="ctr">
            <a:normAutofit/>
          </a:bodyPr>
          <a:lstStyle/>
          <a:p>
            <a:pPr algn="l" indent="0" marL="0">
              <a:lnSpc>
                <a:spcPct val="100000"/>
              </a:lnSpc>
              <a:buNone/>
            </a:pPr>
            <a:r>
              <a:rPr lang="en-US" sz="1050" spc="105" kern="0" dirty="0">
                <a:solidFill>
                  <a:srgbClr val="F7FAFC"/>
                </a:solidFill>
                <a:latin typeface="Courier New" pitchFamily="34" charset="0"/>
                <a:ea typeface="Courier New" pitchFamily="34" charset="-122"/>
                <a:cs typeface="Courier New" pitchFamily="34" charset="-120"/>
              </a:rPr>
              <a:t>CLAUDE CODE</a:t>
            </a:r>
            <a:endParaRPr lang="en-US" sz="1050" dirty="0"/>
          </a:p>
        </p:txBody>
      </p:sp>
      <p:sp>
        <p:nvSpPr>
          <p:cNvPr id="16" name="Shape 13"/>
          <p:cNvSpPr/>
          <p:nvPr/>
        </p:nvSpPr>
        <p:spPr>
          <a:xfrm>
            <a:off x="3544565" y="6353770"/>
            <a:ext cx="1032644" cy="285750"/>
          </a:xfrm>
          <a:prstGeom prst="roundRect">
            <a:avLst>
              <a:gd name="adj" fmla="val 23333"/>
            </a:avLst>
          </a:prstGeom>
          <a:solidFill>
            <a:srgbClr val="232C3D"/>
          </a:solidFill>
          <a:ln w="9525">
            <a:solidFill>
              <a:srgbClr val="F7FAFC">
                <a:alpha val="12000"/>
              </a:srgbClr>
            </a:solidFill>
            <a:prstDash val="solid"/>
          </a:ln>
        </p:spPr>
      </p:sp>
      <p:sp>
        <p:nvSpPr>
          <p:cNvPr id="17" name="Text 14"/>
          <p:cNvSpPr/>
          <p:nvPr/>
        </p:nvSpPr>
        <p:spPr>
          <a:xfrm>
            <a:off x="3687440" y="6429970"/>
            <a:ext cx="823094" cy="171450"/>
          </a:xfrm>
          <a:prstGeom prst="rect">
            <a:avLst/>
          </a:prstGeom>
          <a:noFill/>
          <a:ln/>
        </p:spPr>
        <p:txBody>
          <a:bodyPr wrap="square" lIns="25400" tIns="25400" rIns="25400" bIns="25400" rtlCol="0" anchor="ctr">
            <a:normAutofit/>
          </a:bodyPr>
          <a:lstStyle/>
          <a:p>
            <a:pPr algn="l" indent="0" marL="0">
              <a:lnSpc>
                <a:spcPct val="100000"/>
              </a:lnSpc>
              <a:buNone/>
            </a:pPr>
            <a:r>
              <a:rPr lang="en-US" sz="1050" spc="105" kern="0" dirty="0">
                <a:solidFill>
                  <a:srgbClr val="F7FAFC"/>
                </a:solidFill>
                <a:latin typeface="Courier New" pitchFamily="34" charset="0"/>
                <a:ea typeface="Courier New" pitchFamily="34" charset="-122"/>
                <a:cs typeface="Courier New" pitchFamily="34" charset="-120"/>
              </a:rPr>
              <a:t>WINDSURF</a:t>
            </a:r>
            <a:endParaRPr lang="en-US" sz="1050" dirty="0"/>
          </a:p>
        </p:txBody>
      </p:sp>
      <p:sp>
        <p:nvSpPr>
          <p:cNvPr id="18" name="Shape 15"/>
          <p:cNvSpPr/>
          <p:nvPr/>
        </p:nvSpPr>
        <p:spPr>
          <a:xfrm>
            <a:off x="4634359" y="6353770"/>
            <a:ext cx="752549" cy="285750"/>
          </a:xfrm>
          <a:prstGeom prst="roundRect">
            <a:avLst>
              <a:gd name="adj" fmla="val 23333"/>
            </a:avLst>
          </a:prstGeom>
          <a:solidFill>
            <a:srgbClr val="232C3D"/>
          </a:solidFill>
          <a:ln w="9525">
            <a:solidFill>
              <a:srgbClr val="F7FAFC">
                <a:alpha val="12000"/>
              </a:srgbClr>
            </a:solidFill>
            <a:prstDash val="solid"/>
          </a:ln>
        </p:spPr>
      </p:sp>
      <p:sp>
        <p:nvSpPr>
          <p:cNvPr id="19" name="Text 16"/>
          <p:cNvSpPr/>
          <p:nvPr/>
        </p:nvSpPr>
        <p:spPr>
          <a:xfrm>
            <a:off x="4777234" y="6429970"/>
            <a:ext cx="542999" cy="171450"/>
          </a:xfrm>
          <a:prstGeom prst="rect">
            <a:avLst/>
          </a:prstGeom>
          <a:noFill/>
          <a:ln/>
        </p:spPr>
        <p:txBody>
          <a:bodyPr wrap="square" lIns="25400" tIns="25400" rIns="25400" bIns="25400" rtlCol="0" anchor="ctr">
            <a:normAutofit/>
          </a:bodyPr>
          <a:lstStyle/>
          <a:p>
            <a:pPr algn="l" indent="0" marL="0">
              <a:lnSpc>
                <a:spcPct val="100000"/>
              </a:lnSpc>
              <a:buNone/>
            </a:pPr>
            <a:r>
              <a:rPr lang="en-US" sz="1050" spc="105" kern="0" dirty="0">
                <a:solidFill>
                  <a:srgbClr val="F7FAFC"/>
                </a:solidFill>
                <a:latin typeface="Courier New" pitchFamily="34" charset="0"/>
                <a:ea typeface="Courier New" pitchFamily="34" charset="-122"/>
                <a:cs typeface="Courier New" pitchFamily="34" charset="-120"/>
              </a:rPr>
              <a:t>CLINE</a:t>
            </a:r>
            <a:endParaRPr lang="en-US" sz="1050" dirty="0"/>
          </a:p>
        </p:txBody>
      </p:sp>
      <p:sp>
        <p:nvSpPr>
          <p:cNvPr id="20" name="Shape 17"/>
          <p:cNvSpPr/>
          <p:nvPr/>
        </p:nvSpPr>
        <p:spPr>
          <a:xfrm>
            <a:off x="6464275" y="3038475"/>
            <a:ext cx="5359375" cy="3958233"/>
          </a:xfrm>
          <a:prstGeom prst="roundRect">
            <a:avLst>
              <a:gd name="adj" fmla="val 4331"/>
            </a:avLst>
          </a:prstGeom>
          <a:solidFill>
            <a:srgbClr val="232C3D"/>
          </a:solidFill>
          <a:ln w="14288">
            <a:solidFill>
              <a:srgbClr val="232C3D"/>
            </a:solidFill>
            <a:prstDash val="solid"/>
          </a:ln>
          <a:effectLst>
            <a:outerShdw sx="100000" sy="100000" kx="0" ky="0" algn="bl" rotWithShape="0" blurRad="133350" dist="38100" dir="5400000">
              <a:srgbClr val="000000">
                <a:alpha val="25000"/>
              </a:srgbClr>
            </a:outerShdw>
          </a:effectLst>
        </p:spPr>
      </p:sp>
      <p:sp>
        <p:nvSpPr>
          <p:cNvPr id="21" name="Text 18"/>
          <p:cNvSpPr/>
          <p:nvPr/>
        </p:nvSpPr>
        <p:spPr>
          <a:xfrm>
            <a:off x="6821463" y="3395663"/>
            <a:ext cx="4784350" cy="195263"/>
          </a:xfrm>
          <a:prstGeom prst="rect">
            <a:avLst/>
          </a:prstGeom>
          <a:noFill/>
          <a:ln/>
        </p:spPr>
        <p:txBody>
          <a:bodyPr wrap="square" lIns="25400" tIns="25400" rIns="25400" bIns="25400" rtlCol="0" anchor="t">
            <a:normAutofit/>
          </a:bodyPr>
          <a:lstStyle/>
          <a:p>
            <a:pPr algn="l" indent="0" marL="0">
              <a:lnSpc>
                <a:spcPct val="150000"/>
              </a:lnSpc>
              <a:buNone/>
            </a:pPr>
            <a:r>
              <a:rPr lang="en-US" sz="825" spc="99" kern="0" dirty="0">
                <a:solidFill>
                  <a:srgbClr val="C8C0F8"/>
                </a:solidFill>
                <a:latin typeface="Courier New" pitchFamily="34" charset="0"/>
                <a:ea typeface="Courier New" pitchFamily="34" charset="-122"/>
                <a:cs typeface="Courier New" pitchFamily="34" charset="-120"/>
              </a:rPr>
              <a:t>WEDGE 02</a:t>
            </a:r>
            <a:endParaRPr lang="en-US" sz="825" dirty="0"/>
          </a:p>
        </p:txBody>
      </p:sp>
      <p:sp>
        <p:nvSpPr>
          <p:cNvPr id="22" name="Text 19"/>
          <p:cNvSpPr/>
          <p:nvPr/>
        </p:nvSpPr>
        <p:spPr>
          <a:xfrm>
            <a:off x="6821463" y="3705225"/>
            <a:ext cx="4784350" cy="598884"/>
          </a:xfrm>
          <a:prstGeom prst="rect">
            <a:avLst/>
          </a:prstGeom>
          <a:noFill/>
          <a:ln/>
        </p:spPr>
        <p:txBody>
          <a:bodyPr wrap="square" lIns="25400" tIns="25400" rIns="25400" bIns="25400" rtlCol="0" anchor="t">
            <a:normAutofit/>
          </a:bodyPr>
          <a:lstStyle/>
          <a:p>
            <a:pPr algn="l" indent="0" marL="0">
              <a:lnSpc>
                <a:spcPct val="92000"/>
              </a:lnSpc>
              <a:buNone/>
            </a:pPr>
            <a:r>
              <a:rPr lang="en-US" sz="4800" b="1" spc="-192" kern="0" dirty="0">
                <a:solidFill>
                  <a:srgbClr val="C8C0F8"/>
                </a:solidFill>
                <a:latin typeface="Arial" pitchFamily="34" charset="0"/>
                <a:ea typeface="Arial" pitchFamily="34" charset="-122"/>
                <a:cs typeface="Arial" pitchFamily="34" charset="-120"/>
              </a:rPr>
              <a:t>02</a:t>
            </a:r>
            <a:endParaRPr lang="en-US" sz="4800" dirty="0"/>
          </a:p>
        </p:txBody>
      </p:sp>
      <p:sp>
        <p:nvSpPr>
          <p:cNvPr id="23" name="Text 20"/>
          <p:cNvSpPr/>
          <p:nvPr/>
        </p:nvSpPr>
        <p:spPr>
          <a:xfrm>
            <a:off x="6821463" y="4418409"/>
            <a:ext cx="4784350" cy="352425"/>
          </a:xfrm>
          <a:prstGeom prst="rect">
            <a:avLst/>
          </a:prstGeom>
          <a:noFill/>
          <a:ln/>
        </p:spPr>
        <p:txBody>
          <a:bodyPr wrap="square" lIns="25400" tIns="25400" rIns="25400" bIns="25400" rtlCol="0" anchor="t">
            <a:normAutofit/>
          </a:bodyPr>
          <a:lstStyle/>
          <a:p>
            <a:pPr algn="l" indent="0" marL="0">
              <a:lnSpc>
                <a:spcPct val="110000"/>
              </a:lnSpc>
              <a:buNone/>
            </a:pPr>
            <a:r>
              <a:rPr lang="en-US" sz="2250" b="1" spc="-56" kern="0" dirty="0">
                <a:solidFill>
                  <a:srgbClr val="F7FAFC"/>
                </a:solidFill>
                <a:latin typeface="Arial" pitchFamily="34" charset="0"/>
                <a:ea typeface="Arial" pitchFamily="34" charset="-122"/>
                <a:cs typeface="Arial" pitchFamily="34" charset="-120"/>
              </a:rPr>
              <a:t>Your code, your repo, your VPS.</a:t>
            </a:r>
            <a:endParaRPr lang="en-US" sz="2250" dirty="0"/>
          </a:p>
        </p:txBody>
      </p:sp>
      <p:sp>
        <p:nvSpPr>
          <p:cNvPr id="24" name="Text 21"/>
          <p:cNvSpPr/>
          <p:nvPr/>
        </p:nvSpPr>
        <p:spPr>
          <a:xfrm>
            <a:off x="6821463" y="4885134"/>
            <a:ext cx="4784350" cy="968127"/>
          </a:xfrm>
          <a:prstGeom prst="rect">
            <a:avLst/>
          </a:prstGeom>
          <a:noFill/>
          <a:ln/>
        </p:spPr>
        <p:txBody>
          <a:bodyPr wrap="square" lIns="25400" tIns="25400" rIns="25400" bIns="25400" rtlCol="0" anchor="t">
            <a:normAutofit/>
          </a:bodyPr>
          <a:lstStyle/>
          <a:p>
            <a:pPr algn="l" indent="0" marL="0">
              <a:lnSpc>
                <a:spcPct val="155000"/>
              </a:lnSpc>
              <a:buNone/>
            </a:pPr>
            <a:r>
              <a:rPr lang="en-US" sz="1575" dirty="0">
                <a:solidFill>
                  <a:srgbClr val="F7FAFC">
                    <a:alpha val="78000"/>
                  </a:srgbClr>
                </a:solidFill>
                <a:latin typeface="Arial" pitchFamily="34" charset="0"/>
                <a:ea typeface="Arial" pitchFamily="34" charset="-122"/>
                <a:cs typeface="Arial" pitchFamily="34" charset="-120"/>
              </a:rPr>
              <a:t>Every tenant gets a private GitHub repo on day one. Want to leave? You already own everything. Exit cost is zero — which is exactly why customers stay.</a:t>
            </a:r>
            <a:endParaRPr lang="en-US" sz="1575" dirty="0"/>
          </a:p>
        </p:txBody>
      </p:sp>
      <p:sp>
        <p:nvSpPr>
          <p:cNvPr id="25" name="Shape 22"/>
          <p:cNvSpPr/>
          <p:nvPr/>
        </p:nvSpPr>
        <p:spPr>
          <a:xfrm>
            <a:off x="6821463" y="6043761"/>
            <a:ext cx="4645000" cy="347663"/>
          </a:xfrm>
          <a:prstGeom prst="roundRect">
            <a:avLst>
              <a:gd name="adj" fmla="val 16438"/>
            </a:avLst>
          </a:prstGeom>
          <a:solidFill>
            <a:srgbClr val="161D2A"/>
          </a:solidFill>
          <a:ln/>
        </p:spPr>
      </p:sp>
      <p:sp>
        <p:nvSpPr>
          <p:cNvPr id="26" name="Text 23"/>
          <p:cNvSpPr/>
          <p:nvPr/>
        </p:nvSpPr>
        <p:spPr>
          <a:xfrm>
            <a:off x="6935763" y="6139011"/>
            <a:ext cx="4555750" cy="195262"/>
          </a:xfrm>
          <a:prstGeom prst="rect">
            <a:avLst/>
          </a:prstGeom>
          <a:noFill/>
          <a:ln/>
        </p:spPr>
        <p:txBody>
          <a:bodyPr wrap="square" lIns="25400" tIns="25400" rIns="25400" bIns="25400" rtlCol="0" anchor="t">
            <a:normAutofit/>
          </a:bodyPr>
          <a:lstStyle/>
          <a:p>
            <a:pPr algn="l" indent="0" marL="0">
              <a:lnSpc>
                <a:spcPct val="150000"/>
              </a:lnSpc>
              <a:buNone/>
            </a:pPr>
            <a:r>
              <a:rPr lang="en-US" sz="825" spc="33" kern="0" dirty="0">
                <a:solidFill>
                  <a:srgbClr val="C8C0F8"/>
                </a:solidFill>
                <a:latin typeface="Courier New" pitchFamily="34" charset="0"/>
                <a:ea typeface="Courier New" pitchFamily="34" charset="-122"/>
                <a:cs typeface="Courier New" pitchFamily="34" charset="-120"/>
              </a:rPr>
              <a:t>github.com/your-handle/prepsheet</a:t>
            </a:r>
            <a:endParaRPr lang="en-US" sz="825" dirty="0"/>
          </a:p>
        </p:txBody>
      </p:sp>
      <p:sp>
        <p:nvSpPr>
          <p:cNvPr id="27" name="Shape 24"/>
          <p:cNvSpPr/>
          <p:nvPr/>
        </p:nvSpPr>
        <p:spPr>
          <a:xfrm>
            <a:off x="12014150" y="3038475"/>
            <a:ext cx="5359450" cy="3958233"/>
          </a:xfrm>
          <a:prstGeom prst="roundRect">
            <a:avLst>
              <a:gd name="adj" fmla="val 4331"/>
            </a:avLst>
          </a:prstGeom>
          <a:solidFill>
            <a:srgbClr val="232C3D"/>
          </a:solidFill>
          <a:ln w="14288">
            <a:solidFill>
              <a:srgbClr val="232C3D"/>
            </a:solidFill>
            <a:prstDash val="solid"/>
          </a:ln>
          <a:effectLst>
            <a:outerShdw sx="100000" sy="100000" kx="0" ky="0" algn="bl" rotWithShape="0" blurRad="133350" dist="38100" dir="5400000">
              <a:srgbClr val="000000">
                <a:alpha val="25000"/>
              </a:srgbClr>
            </a:outerShdw>
          </a:effectLst>
        </p:spPr>
      </p:sp>
      <p:sp>
        <p:nvSpPr>
          <p:cNvPr id="28" name="Text 25"/>
          <p:cNvSpPr/>
          <p:nvPr/>
        </p:nvSpPr>
        <p:spPr>
          <a:xfrm>
            <a:off x="12371338" y="3395663"/>
            <a:ext cx="4784427" cy="195263"/>
          </a:xfrm>
          <a:prstGeom prst="rect">
            <a:avLst/>
          </a:prstGeom>
          <a:noFill/>
          <a:ln/>
        </p:spPr>
        <p:txBody>
          <a:bodyPr wrap="square" lIns="25400" tIns="25400" rIns="25400" bIns="25400" rtlCol="0" anchor="t">
            <a:normAutofit/>
          </a:bodyPr>
          <a:lstStyle/>
          <a:p>
            <a:pPr algn="l" indent="0" marL="0">
              <a:lnSpc>
                <a:spcPct val="150000"/>
              </a:lnSpc>
              <a:buNone/>
            </a:pPr>
            <a:r>
              <a:rPr lang="en-US" sz="825" spc="99" kern="0" dirty="0">
                <a:solidFill>
                  <a:srgbClr val="C8C0F8"/>
                </a:solidFill>
                <a:latin typeface="Courier New" pitchFamily="34" charset="0"/>
                <a:ea typeface="Courier New" pitchFamily="34" charset="-122"/>
                <a:cs typeface="Courier New" pitchFamily="34" charset="-120"/>
              </a:rPr>
              <a:t>WEDGE 03</a:t>
            </a:r>
            <a:endParaRPr lang="en-US" sz="825" dirty="0"/>
          </a:p>
        </p:txBody>
      </p:sp>
      <p:sp>
        <p:nvSpPr>
          <p:cNvPr id="29" name="Text 26"/>
          <p:cNvSpPr/>
          <p:nvPr/>
        </p:nvSpPr>
        <p:spPr>
          <a:xfrm>
            <a:off x="12371338" y="3705225"/>
            <a:ext cx="4784427" cy="598884"/>
          </a:xfrm>
          <a:prstGeom prst="rect">
            <a:avLst/>
          </a:prstGeom>
          <a:noFill/>
          <a:ln/>
        </p:spPr>
        <p:txBody>
          <a:bodyPr wrap="square" lIns="25400" tIns="25400" rIns="25400" bIns="25400" rtlCol="0" anchor="t">
            <a:normAutofit/>
          </a:bodyPr>
          <a:lstStyle/>
          <a:p>
            <a:pPr algn="l" indent="0" marL="0">
              <a:lnSpc>
                <a:spcPct val="92000"/>
              </a:lnSpc>
              <a:buNone/>
            </a:pPr>
            <a:r>
              <a:rPr lang="en-US" sz="4800" b="1" spc="-192" kern="0" dirty="0">
                <a:solidFill>
                  <a:srgbClr val="C8C0F8"/>
                </a:solidFill>
                <a:latin typeface="Arial" pitchFamily="34" charset="0"/>
                <a:ea typeface="Arial" pitchFamily="34" charset="-122"/>
                <a:cs typeface="Arial" pitchFamily="34" charset="-120"/>
              </a:rPr>
              <a:t>03</a:t>
            </a:r>
            <a:endParaRPr lang="en-US" sz="4800" dirty="0"/>
          </a:p>
        </p:txBody>
      </p:sp>
      <p:sp>
        <p:nvSpPr>
          <p:cNvPr id="30" name="Text 27"/>
          <p:cNvSpPr/>
          <p:nvPr/>
        </p:nvSpPr>
        <p:spPr>
          <a:xfrm>
            <a:off x="12371338" y="4418409"/>
            <a:ext cx="4784427" cy="352425"/>
          </a:xfrm>
          <a:prstGeom prst="rect">
            <a:avLst/>
          </a:prstGeom>
          <a:noFill/>
          <a:ln/>
        </p:spPr>
        <p:txBody>
          <a:bodyPr wrap="square" lIns="25400" tIns="25400" rIns="25400" bIns="25400" rtlCol="0" anchor="t">
            <a:normAutofit/>
          </a:bodyPr>
          <a:lstStyle/>
          <a:p>
            <a:pPr algn="l" indent="0" marL="0">
              <a:lnSpc>
                <a:spcPct val="110000"/>
              </a:lnSpc>
              <a:buNone/>
            </a:pPr>
            <a:r>
              <a:rPr lang="en-US" sz="2250" b="1" spc="-56" kern="0" dirty="0">
                <a:solidFill>
                  <a:srgbClr val="F7FAFC"/>
                </a:solidFill>
                <a:latin typeface="Arial" pitchFamily="34" charset="0"/>
                <a:ea typeface="Arial" pitchFamily="34" charset="-122"/>
                <a:cs typeface="Arial" pitchFamily="34" charset="-120"/>
              </a:rPr>
              <a:t>Pre-wired production stack.</a:t>
            </a:r>
            <a:endParaRPr lang="en-US" sz="2250" dirty="0"/>
          </a:p>
        </p:txBody>
      </p:sp>
      <p:sp>
        <p:nvSpPr>
          <p:cNvPr id="31" name="Text 28"/>
          <p:cNvSpPr/>
          <p:nvPr/>
        </p:nvSpPr>
        <p:spPr>
          <a:xfrm>
            <a:off x="12371338" y="4885134"/>
            <a:ext cx="4784427" cy="1278136"/>
          </a:xfrm>
          <a:prstGeom prst="rect">
            <a:avLst/>
          </a:prstGeom>
          <a:noFill/>
          <a:ln/>
        </p:spPr>
        <p:txBody>
          <a:bodyPr wrap="square" lIns="25400" tIns="25400" rIns="25400" bIns="25400" rtlCol="0" anchor="t">
            <a:normAutofit/>
          </a:bodyPr>
          <a:lstStyle/>
          <a:p>
            <a:pPr algn="l" indent="0" marL="0">
              <a:lnSpc>
                <a:spcPct val="155000"/>
              </a:lnSpc>
              <a:buNone/>
            </a:pPr>
            <a:r>
              <a:rPr lang="en-US" sz="1575" dirty="0">
                <a:solidFill>
                  <a:srgbClr val="F7FAFC">
                    <a:alpha val="78000"/>
                  </a:srgbClr>
                </a:solidFill>
                <a:latin typeface="Arial" pitchFamily="34" charset="0"/>
                <a:ea typeface="Arial" pitchFamily="34" charset="-122"/>
                <a:cs typeface="Arial" pitchFamily="34" charset="-120"/>
              </a:rPr>
              <a:t>Auth, Postgres, payments, mail, mobile, MoR billing — all wired and live on day one. A working SaaS the moment they sign up, not a sandbox to graduate from.</a:t>
            </a:r>
            <a:endParaRPr lang="en-US" sz="1575" dirty="0"/>
          </a:p>
        </p:txBody>
      </p:sp>
      <p:sp>
        <p:nvSpPr>
          <p:cNvPr id="32" name="Shape 29"/>
          <p:cNvSpPr/>
          <p:nvPr/>
        </p:nvSpPr>
        <p:spPr>
          <a:xfrm>
            <a:off x="12371338" y="6353770"/>
            <a:ext cx="659234" cy="285750"/>
          </a:xfrm>
          <a:prstGeom prst="roundRect">
            <a:avLst>
              <a:gd name="adj" fmla="val 23333"/>
            </a:avLst>
          </a:prstGeom>
          <a:solidFill>
            <a:srgbClr val="232C3D"/>
          </a:solidFill>
          <a:ln w="9525">
            <a:solidFill>
              <a:srgbClr val="F7FAFC">
                <a:alpha val="12000"/>
              </a:srgbClr>
            </a:solidFill>
            <a:prstDash val="solid"/>
          </a:ln>
        </p:spPr>
      </p:sp>
      <p:sp>
        <p:nvSpPr>
          <p:cNvPr id="33" name="Text 30"/>
          <p:cNvSpPr/>
          <p:nvPr/>
        </p:nvSpPr>
        <p:spPr>
          <a:xfrm>
            <a:off x="12514213" y="6429970"/>
            <a:ext cx="449684" cy="171450"/>
          </a:xfrm>
          <a:prstGeom prst="rect">
            <a:avLst/>
          </a:prstGeom>
          <a:noFill/>
          <a:ln/>
        </p:spPr>
        <p:txBody>
          <a:bodyPr wrap="square" lIns="25400" tIns="25400" rIns="25400" bIns="25400" rtlCol="0" anchor="ctr">
            <a:normAutofit/>
          </a:bodyPr>
          <a:lstStyle/>
          <a:p>
            <a:pPr algn="l" indent="0" marL="0">
              <a:lnSpc>
                <a:spcPct val="100000"/>
              </a:lnSpc>
              <a:buNone/>
            </a:pPr>
            <a:r>
              <a:rPr lang="en-US" sz="1050" spc="105" kern="0" dirty="0">
                <a:solidFill>
                  <a:srgbClr val="F7FAFC"/>
                </a:solidFill>
                <a:latin typeface="Courier New" pitchFamily="34" charset="0"/>
                <a:ea typeface="Courier New" pitchFamily="34" charset="-122"/>
                <a:cs typeface="Courier New" pitchFamily="34" charset="-120"/>
              </a:rPr>
              <a:t>AUTH</a:t>
            </a:r>
            <a:endParaRPr lang="en-US" sz="1050" dirty="0"/>
          </a:p>
        </p:txBody>
      </p:sp>
      <p:sp>
        <p:nvSpPr>
          <p:cNvPr id="34" name="Shape 31"/>
          <p:cNvSpPr/>
          <p:nvPr/>
        </p:nvSpPr>
        <p:spPr>
          <a:xfrm>
            <a:off x="13087722" y="6353770"/>
            <a:ext cx="1032644" cy="285750"/>
          </a:xfrm>
          <a:prstGeom prst="roundRect">
            <a:avLst>
              <a:gd name="adj" fmla="val 23333"/>
            </a:avLst>
          </a:prstGeom>
          <a:solidFill>
            <a:srgbClr val="232C3D"/>
          </a:solidFill>
          <a:ln w="9525">
            <a:solidFill>
              <a:srgbClr val="F7FAFC">
                <a:alpha val="12000"/>
              </a:srgbClr>
            </a:solidFill>
            <a:prstDash val="solid"/>
          </a:ln>
        </p:spPr>
      </p:sp>
      <p:sp>
        <p:nvSpPr>
          <p:cNvPr id="35" name="Text 32"/>
          <p:cNvSpPr/>
          <p:nvPr/>
        </p:nvSpPr>
        <p:spPr>
          <a:xfrm>
            <a:off x="13230597" y="6429970"/>
            <a:ext cx="823094" cy="171450"/>
          </a:xfrm>
          <a:prstGeom prst="rect">
            <a:avLst/>
          </a:prstGeom>
          <a:noFill/>
          <a:ln/>
        </p:spPr>
        <p:txBody>
          <a:bodyPr wrap="square" lIns="25400" tIns="25400" rIns="25400" bIns="25400" rtlCol="0" anchor="ctr">
            <a:normAutofit/>
          </a:bodyPr>
          <a:lstStyle/>
          <a:p>
            <a:pPr algn="l" indent="0" marL="0">
              <a:lnSpc>
                <a:spcPct val="100000"/>
              </a:lnSpc>
              <a:buNone/>
            </a:pPr>
            <a:r>
              <a:rPr lang="en-US" sz="1050" spc="105" kern="0" dirty="0">
                <a:solidFill>
                  <a:srgbClr val="F7FAFC"/>
                </a:solidFill>
                <a:latin typeface="Courier New" pitchFamily="34" charset="0"/>
                <a:ea typeface="Courier New" pitchFamily="34" charset="-122"/>
                <a:cs typeface="Courier New" pitchFamily="34" charset="-120"/>
              </a:rPr>
              <a:t>POSTGRES</a:t>
            </a:r>
            <a:endParaRPr lang="en-US" sz="1050" dirty="0"/>
          </a:p>
        </p:txBody>
      </p:sp>
      <p:sp>
        <p:nvSpPr>
          <p:cNvPr id="36" name="Shape 33"/>
          <p:cNvSpPr/>
          <p:nvPr/>
        </p:nvSpPr>
        <p:spPr>
          <a:xfrm>
            <a:off x="14177516" y="6353770"/>
            <a:ext cx="845939" cy="285750"/>
          </a:xfrm>
          <a:prstGeom prst="roundRect">
            <a:avLst>
              <a:gd name="adj" fmla="val 23333"/>
            </a:avLst>
          </a:prstGeom>
          <a:solidFill>
            <a:srgbClr val="232C3D"/>
          </a:solidFill>
          <a:ln w="9525">
            <a:solidFill>
              <a:srgbClr val="F7FAFC">
                <a:alpha val="12000"/>
              </a:srgbClr>
            </a:solidFill>
            <a:prstDash val="solid"/>
          </a:ln>
        </p:spPr>
      </p:sp>
      <p:sp>
        <p:nvSpPr>
          <p:cNvPr id="37" name="Text 34"/>
          <p:cNvSpPr/>
          <p:nvPr/>
        </p:nvSpPr>
        <p:spPr>
          <a:xfrm>
            <a:off x="14320391" y="6429970"/>
            <a:ext cx="636389" cy="171450"/>
          </a:xfrm>
          <a:prstGeom prst="rect">
            <a:avLst/>
          </a:prstGeom>
          <a:noFill/>
          <a:ln/>
        </p:spPr>
        <p:txBody>
          <a:bodyPr wrap="square" lIns="25400" tIns="25400" rIns="25400" bIns="25400" rtlCol="0" anchor="ctr">
            <a:normAutofit/>
          </a:bodyPr>
          <a:lstStyle/>
          <a:p>
            <a:pPr algn="l" indent="0" marL="0">
              <a:lnSpc>
                <a:spcPct val="100000"/>
              </a:lnSpc>
              <a:buNone/>
            </a:pPr>
            <a:r>
              <a:rPr lang="en-US" sz="1050" spc="105" kern="0" dirty="0">
                <a:solidFill>
                  <a:srgbClr val="F7FAFC"/>
                </a:solidFill>
                <a:latin typeface="Courier New" pitchFamily="34" charset="0"/>
                <a:ea typeface="Courier New" pitchFamily="34" charset="-122"/>
                <a:cs typeface="Courier New" pitchFamily="34" charset="-120"/>
              </a:rPr>
              <a:t>STRIPE</a:t>
            </a:r>
            <a:endParaRPr lang="en-US" sz="1050" dirty="0"/>
          </a:p>
        </p:txBody>
      </p:sp>
      <p:sp>
        <p:nvSpPr>
          <p:cNvPr id="38" name="Shape 35"/>
          <p:cNvSpPr/>
          <p:nvPr/>
        </p:nvSpPr>
        <p:spPr>
          <a:xfrm>
            <a:off x="15080605" y="6353770"/>
            <a:ext cx="939329" cy="285750"/>
          </a:xfrm>
          <a:prstGeom prst="roundRect">
            <a:avLst>
              <a:gd name="adj" fmla="val 23333"/>
            </a:avLst>
          </a:prstGeom>
          <a:solidFill>
            <a:srgbClr val="232C3D"/>
          </a:solidFill>
          <a:ln w="9525">
            <a:solidFill>
              <a:srgbClr val="F7FAFC">
                <a:alpha val="12000"/>
              </a:srgbClr>
            </a:solidFill>
            <a:prstDash val="solid"/>
          </a:ln>
        </p:spPr>
      </p:sp>
      <p:sp>
        <p:nvSpPr>
          <p:cNvPr id="39" name="Text 36"/>
          <p:cNvSpPr/>
          <p:nvPr/>
        </p:nvSpPr>
        <p:spPr>
          <a:xfrm>
            <a:off x="15223480" y="6429970"/>
            <a:ext cx="729779" cy="171450"/>
          </a:xfrm>
          <a:prstGeom prst="rect">
            <a:avLst/>
          </a:prstGeom>
          <a:noFill/>
          <a:ln/>
        </p:spPr>
        <p:txBody>
          <a:bodyPr wrap="square" lIns="25400" tIns="25400" rIns="25400" bIns="25400" rtlCol="0" anchor="ctr">
            <a:normAutofit/>
          </a:bodyPr>
          <a:lstStyle/>
          <a:p>
            <a:pPr algn="l" indent="0" marL="0">
              <a:lnSpc>
                <a:spcPct val="100000"/>
              </a:lnSpc>
              <a:buNone/>
            </a:pPr>
            <a:r>
              <a:rPr lang="en-US" sz="1050" spc="105" kern="0" dirty="0">
                <a:solidFill>
                  <a:srgbClr val="F7FAFC"/>
                </a:solidFill>
                <a:latin typeface="Courier New" pitchFamily="34" charset="0"/>
                <a:ea typeface="Courier New" pitchFamily="34" charset="-122"/>
                <a:cs typeface="Courier New" pitchFamily="34" charset="-120"/>
              </a:rPr>
              <a:t>+9 MORE</a:t>
            </a:r>
            <a:endParaRPr lang="en-US" sz="1050" dirty="0"/>
          </a:p>
        </p:txBody>
      </p:sp>
      <p:sp>
        <p:nvSpPr>
          <p:cNvPr id="40" name="Shape 37"/>
          <p:cNvSpPr/>
          <p:nvPr/>
        </p:nvSpPr>
        <p:spPr>
          <a:xfrm>
            <a:off x="914400" y="9286875"/>
            <a:ext cx="16459200" cy="9525"/>
          </a:xfrm>
          <a:prstGeom prst="rect">
            <a:avLst/>
          </a:prstGeom>
          <a:solidFill>
            <a:srgbClr val="F7FAFC">
              <a:alpha val="12000"/>
            </a:srgbClr>
          </a:solidFill>
          <a:ln/>
        </p:spPr>
      </p:sp>
      <p:sp>
        <p:nvSpPr>
          <p:cNvPr id="41" name="Text 38"/>
          <p:cNvSpPr/>
          <p:nvPr/>
        </p:nvSpPr>
        <p:spPr>
          <a:xfrm>
            <a:off x="914400" y="9532144"/>
            <a:ext cx="4533256"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113" kern="0" dirty="0">
                <a:solidFill>
                  <a:srgbClr val="F7FAFC">
                    <a:alpha val="50000"/>
                  </a:srgbClr>
                </a:solidFill>
                <a:latin typeface="Courier New" pitchFamily="34" charset="0"/>
                <a:ea typeface="Courier New" pitchFamily="34" charset="-122"/>
                <a:cs typeface="Courier New" pitchFamily="34" charset="-120"/>
              </a:rPr>
              <a:t>HATCHIK · INVESTOR &amp; PARTNER DECK · MAY 2026</a:t>
            </a:r>
            <a:endParaRPr lang="en-US" sz="1125" dirty="0"/>
          </a:p>
        </p:txBody>
      </p:sp>
      <p:sp>
        <p:nvSpPr>
          <p:cNvPr id="42" name="Text 39"/>
          <p:cNvSpPr/>
          <p:nvPr/>
        </p:nvSpPr>
        <p:spPr>
          <a:xfrm>
            <a:off x="16690851" y="9525000"/>
            <a:ext cx="758949"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spc="48" kern="0" dirty="0">
                <a:solidFill>
                  <a:srgbClr val="F7FAFC"/>
                </a:solidFill>
                <a:latin typeface="Courier New" pitchFamily="34" charset="0"/>
                <a:ea typeface="Courier New" pitchFamily="34" charset="-122"/>
                <a:cs typeface="Courier New" pitchFamily="34" charset="-120"/>
              </a:rPr>
              <a:t>11 / 31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5B47F0">
              <a:alpha val="4000"/>
            </a:srgbClr>
          </a:solidFill>
          <a:ln/>
        </p:spPr>
      </p:sp>
      <p:sp>
        <p:nvSpPr>
          <p:cNvPr id="3" name="Shape 1"/>
          <p:cNvSpPr/>
          <p:nvPr/>
        </p:nvSpPr>
        <p:spPr>
          <a:xfrm>
            <a:off x="914400" y="1009650"/>
            <a:ext cx="16459200" cy="9525"/>
          </a:xfrm>
          <a:prstGeom prst="rect">
            <a:avLst/>
          </a:prstGeom>
          <a:solidFill>
            <a:srgbClr val="DDE5EC"/>
          </a:solidFill>
          <a:ln/>
        </p:spPr>
      </p:sp>
      <p:pic>
        <p:nvPicPr>
          <p:cNvPr id="4" name="Image 0" descr="preencoded.png">    </p:cNvPr>
          <p:cNvPicPr>
            <a:picLocks noChangeAspect="1"/>
          </p:cNvPicPr>
          <p:nvPr/>
        </p:nvPicPr>
        <p:blipFill>
          <a:blip r:embed="rId1"/>
          <a:stretch>
            <a:fillRect/>
          </a:stretch>
        </p:blipFill>
        <p:spPr>
          <a:xfrm>
            <a:off x="914400" y="571500"/>
            <a:ext cx="209550" cy="209550"/>
          </a:xfrm>
          <a:prstGeom prst="rect">
            <a:avLst/>
          </a:prstGeom>
        </p:spPr>
      </p:pic>
      <p:sp>
        <p:nvSpPr>
          <p:cNvPr id="5" name="Text 2"/>
          <p:cNvSpPr/>
          <p:nvPr/>
        </p:nvSpPr>
        <p:spPr>
          <a:xfrm>
            <a:off x="1219200" y="533400"/>
            <a:ext cx="745108"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spc="-37" kern="0" dirty="0">
                <a:solidFill>
                  <a:srgbClr val="0F1419"/>
                </a:solidFill>
                <a:latin typeface="Arial" pitchFamily="34" charset="0"/>
                <a:ea typeface="Arial" pitchFamily="34" charset="-122"/>
                <a:cs typeface="Arial" pitchFamily="34" charset="-120"/>
              </a:rPr>
              <a:t>hatchik</a:t>
            </a:r>
            <a:endParaRPr lang="en-US" sz="1500" dirty="0"/>
          </a:p>
        </p:txBody>
      </p:sp>
      <p:sp>
        <p:nvSpPr>
          <p:cNvPr id="6" name="Text 3"/>
          <p:cNvSpPr/>
          <p:nvPr/>
        </p:nvSpPr>
        <p:spPr>
          <a:xfrm>
            <a:off x="15445383" y="562421"/>
            <a:ext cx="2004417" cy="265733"/>
          </a:xfrm>
          <a:prstGeom prst="rect">
            <a:avLst/>
          </a:prstGeom>
          <a:noFill/>
          <a:ln/>
        </p:spPr>
        <p:txBody>
          <a:bodyPr wrap="square" lIns="25400" tIns="25400" rIns="25400" bIns="25400" rtlCol="0" anchor="t">
            <a:normAutofit/>
          </a:bodyPr>
          <a:lstStyle/>
          <a:p>
            <a:pPr algn="l" indent="0" marL="0">
              <a:lnSpc>
                <a:spcPct val="140000"/>
              </a:lnSpc>
              <a:buNone/>
            </a:pPr>
            <a:r>
              <a:rPr lang="en-US" sz="1200" spc="120" kern="0" dirty="0">
                <a:solidFill>
                  <a:srgbClr val="0F1419"/>
                </a:solidFill>
                <a:latin typeface="Courier New" pitchFamily="34" charset="0"/>
                <a:ea typeface="Courier New" pitchFamily="34" charset="-122"/>
                <a:cs typeface="Courier New" pitchFamily="34" charset="-120"/>
              </a:rPr>
              <a:t>12 </a:t>
            </a:r>
            <a:pPr algn="l" indent="0" marL="0">
              <a:lnSpc>
                <a:spcPct val="140000"/>
              </a:lnSpc>
              <a:buNone/>
            </a:pPr>
            <a:r>
              <a:rPr lang="en-US" sz="1200" spc="120" kern="0" dirty="0">
                <a:solidFill>
                  <a:srgbClr val="5B47F0"/>
                </a:solidFill>
                <a:latin typeface="Courier New" pitchFamily="34" charset="0"/>
                <a:ea typeface="Courier New" pitchFamily="34" charset="-122"/>
                <a:cs typeface="Courier New" pitchFamily="34" charset="-120"/>
              </a:rPr>
              <a:t>· </a:t>
            </a:r>
            <a:pPr algn="l" indent="0" marL="0">
              <a:lnSpc>
                <a:spcPct val="140000"/>
              </a:lnSpc>
              <a:buNone/>
            </a:pPr>
            <a:r>
              <a:rPr lang="en-US" sz="1200" spc="120" kern="0" dirty="0">
                <a:solidFill>
                  <a:srgbClr val="6E7785"/>
                </a:solidFill>
                <a:latin typeface="Courier New" pitchFamily="34" charset="0"/>
                <a:ea typeface="Courier New" pitchFamily="34" charset="-122"/>
                <a:cs typeface="Courier New" pitchFamily="34" charset="-120"/>
              </a:rPr>
              <a:t>BUSINESS MODEL</a:t>
            </a:r>
            <a:endParaRPr lang="en-US" sz="1200" dirty="0"/>
          </a:p>
        </p:txBody>
      </p:sp>
      <p:sp>
        <p:nvSpPr>
          <p:cNvPr id="7" name="Text 4"/>
          <p:cNvSpPr/>
          <p:nvPr/>
        </p:nvSpPr>
        <p:spPr>
          <a:xfrm>
            <a:off x="914400" y="1438275"/>
            <a:ext cx="15893415" cy="723900"/>
          </a:xfrm>
          <a:prstGeom prst="rect">
            <a:avLst/>
          </a:prstGeom>
          <a:noFill/>
          <a:ln/>
        </p:spPr>
        <p:txBody>
          <a:bodyPr wrap="square" lIns="25400" tIns="25400" rIns="25400" bIns="25400" rtlCol="0" anchor="t">
            <a:normAutofit/>
          </a:bodyPr>
          <a:lstStyle/>
          <a:p>
            <a:pPr algn="l" indent="0" marL="0">
              <a:lnSpc>
                <a:spcPct val="100000"/>
              </a:lnSpc>
              <a:buNone/>
            </a:pPr>
            <a:r>
              <a:rPr lang="en-US" sz="5400" b="1" spc="-216" kern="0" dirty="0">
                <a:solidFill>
                  <a:srgbClr val="0F1419"/>
                </a:solidFill>
                <a:latin typeface="Arial" pitchFamily="34" charset="0"/>
                <a:ea typeface="Arial" pitchFamily="34" charset="-122"/>
                <a:cs typeface="Arial" pitchFamily="34" charset="-120"/>
              </a:rPr>
              <a:t>Three tiers. </a:t>
            </a:r>
            <a:pPr algn="l" indent="0" marL="0">
              <a:lnSpc>
                <a:spcPct val="100000"/>
              </a:lnSpc>
              <a:buNone/>
            </a:pPr>
            <a:r>
              <a:rPr lang="en-US" sz="5400" b="1" spc="-216" kern="0" dirty="0">
                <a:solidFill>
                  <a:srgbClr val="5B47F0"/>
                </a:solidFill>
                <a:latin typeface="Arial" pitchFamily="34" charset="0"/>
                <a:ea typeface="Arial" pitchFamily="34" charset="-122"/>
                <a:cs typeface="Arial" pitchFamily="34" charset="-120"/>
              </a:rPr>
              <a:t>Paddle as MoR.</a:t>
            </a:r>
            <a:endParaRPr lang="en-US" sz="5400" dirty="0"/>
          </a:p>
        </p:txBody>
      </p:sp>
      <p:sp>
        <p:nvSpPr>
          <p:cNvPr id="8" name="Shape 5"/>
          <p:cNvSpPr/>
          <p:nvPr/>
        </p:nvSpPr>
        <p:spPr>
          <a:xfrm>
            <a:off x="914400" y="2657475"/>
            <a:ext cx="5359375" cy="5426199"/>
          </a:xfrm>
          <a:prstGeom prst="roundRect">
            <a:avLst>
              <a:gd name="adj" fmla="val 3199"/>
            </a:avLst>
          </a:prstGeom>
          <a:solidFill>
            <a:srgbClr val="FFFFFF"/>
          </a:solidFill>
          <a:ln w="14288">
            <a:solidFill>
              <a:srgbClr val="DDE5EC"/>
            </a:solidFill>
            <a:prstDash val="solid"/>
          </a:ln>
          <a:effectLst>
            <a:outerShdw sx="100000" sy="100000" kx="0" ky="0" algn="bl" rotWithShape="0" blurRad="28575" dist="9525" dir="5400000">
              <a:srgbClr val="0F1419">
                <a:alpha val="4000"/>
              </a:srgbClr>
            </a:outerShdw>
          </a:effectLst>
        </p:spPr>
      </p:sp>
      <p:sp>
        <p:nvSpPr>
          <p:cNvPr id="9" name="Text 6"/>
          <p:cNvSpPr/>
          <p:nvPr/>
        </p:nvSpPr>
        <p:spPr>
          <a:xfrm>
            <a:off x="1233488" y="2976563"/>
            <a:ext cx="4862836" cy="238125"/>
          </a:xfrm>
          <a:prstGeom prst="rect">
            <a:avLst/>
          </a:prstGeom>
          <a:noFill/>
          <a:ln/>
        </p:spPr>
        <p:txBody>
          <a:bodyPr wrap="square" lIns="25400" tIns="25400" rIns="25400" bIns="25400" rtlCol="0" anchor="t">
            <a:normAutofit/>
          </a:bodyPr>
          <a:lstStyle/>
          <a:p>
            <a:pPr algn="l" indent="0" marL="0">
              <a:lnSpc>
                <a:spcPct val="150000"/>
              </a:lnSpc>
              <a:buNone/>
            </a:pPr>
            <a:r>
              <a:rPr lang="en-US" sz="1050" spc="126" kern="0" dirty="0">
                <a:solidFill>
                  <a:srgbClr val="6E7785"/>
                </a:solidFill>
                <a:latin typeface="Courier New" pitchFamily="34" charset="0"/>
                <a:ea typeface="Courier New" pitchFamily="34" charset="-122"/>
                <a:cs typeface="Courier New" pitchFamily="34" charset="-120"/>
              </a:rPr>
              <a:t>STAGE 0 · EVALUATION</a:t>
            </a:r>
            <a:endParaRPr lang="en-US" sz="1050" dirty="0"/>
          </a:p>
        </p:txBody>
      </p:sp>
      <p:sp>
        <p:nvSpPr>
          <p:cNvPr id="10" name="Text 7"/>
          <p:cNvSpPr/>
          <p:nvPr/>
        </p:nvSpPr>
        <p:spPr>
          <a:xfrm>
            <a:off x="1233488" y="3309938"/>
            <a:ext cx="4862836" cy="381000"/>
          </a:xfrm>
          <a:prstGeom prst="rect">
            <a:avLst/>
          </a:prstGeom>
          <a:noFill/>
          <a:ln/>
        </p:spPr>
        <p:txBody>
          <a:bodyPr wrap="square" lIns="25400" tIns="25400" rIns="25400" bIns="25400" rtlCol="0" anchor="t">
            <a:normAutofit/>
          </a:bodyPr>
          <a:lstStyle/>
          <a:p>
            <a:pPr algn="l" indent="0" marL="0">
              <a:lnSpc>
                <a:spcPct val="100000"/>
              </a:lnSpc>
              <a:buNone/>
            </a:pPr>
            <a:r>
              <a:rPr lang="en-US" sz="2700" b="1" spc="-81" kern="0" dirty="0">
                <a:solidFill>
                  <a:srgbClr val="0F1419"/>
                </a:solidFill>
                <a:latin typeface="Arial" pitchFamily="34" charset="0"/>
                <a:ea typeface="Arial" pitchFamily="34" charset="-122"/>
                <a:cs typeface="Arial" pitchFamily="34" charset="-120"/>
              </a:rPr>
              <a:t>Sandbox</a:t>
            </a:r>
            <a:endParaRPr lang="en-US" sz="2700" dirty="0"/>
          </a:p>
        </p:txBody>
      </p:sp>
      <p:sp>
        <p:nvSpPr>
          <p:cNvPr id="11" name="Text 8"/>
          <p:cNvSpPr/>
          <p:nvPr/>
        </p:nvSpPr>
        <p:spPr>
          <a:xfrm>
            <a:off x="1233488" y="3748087"/>
            <a:ext cx="4862836" cy="571500"/>
          </a:xfrm>
          <a:prstGeom prst="rect">
            <a:avLst/>
          </a:prstGeom>
          <a:noFill/>
          <a:ln/>
        </p:spPr>
        <p:txBody>
          <a:bodyPr wrap="square" lIns="25400" tIns="25400" rIns="25400" bIns="25400" rtlCol="0" anchor="t">
            <a:normAutofit/>
          </a:bodyPr>
          <a:lstStyle/>
          <a:p>
            <a:pPr algn="l" indent="0" marL="0">
              <a:lnSpc>
                <a:spcPct val="100000"/>
              </a:lnSpc>
              <a:buNone/>
            </a:pPr>
            <a:r>
              <a:rPr lang="en-US" sz="4200" b="1" spc="-147" kern="0" dirty="0">
                <a:solidFill>
                  <a:srgbClr val="0F1419"/>
                </a:solidFill>
                <a:latin typeface="Arial" pitchFamily="34" charset="0"/>
                <a:ea typeface="Arial" pitchFamily="34" charset="-122"/>
                <a:cs typeface="Arial" pitchFamily="34" charset="-120"/>
              </a:rPr>
              <a:t>£0</a:t>
            </a:r>
            <a:endParaRPr lang="en-US" sz="4200" dirty="0"/>
          </a:p>
        </p:txBody>
      </p:sp>
      <p:sp>
        <p:nvSpPr>
          <p:cNvPr id="12" name="Text 9"/>
          <p:cNvSpPr/>
          <p:nvPr/>
        </p:nvSpPr>
        <p:spPr>
          <a:xfrm>
            <a:off x="1233488" y="4338638"/>
            <a:ext cx="4862836" cy="251445"/>
          </a:xfrm>
          <a:prstGeom prst="rect">
            <a:avLst/>
          </a:prstGeom>
          <a:noFill/>
          <a:ln/>
        </p:spPr>
        <p:txBody>
          <a:bodyPr wrap="square" lIns="25400" tIns="25400" rIns="25400" bIns="25400" rtlCol="0" anchor="t">
            <a:normAutofit/>
          </a:bodyPr>
          <a:lstStyle/>
          <a:p>
            <a:pPr algn="l" indent="0" marL="0">
              <a:lnSpc>
                <a:spcPct val="140000"/>
              </a:lnSpc>
              <a:buNone/>
            </a:pPr>
            <a:r>
              <a:rPr lang="en-US" sz="1200" dirty="0">
                <a:solidFill>
                  <a:srgbClr val="6E7785"/>
                </a:solidFill>
                <a:latin typeface="Arial" pitchFamily="34" charset="0"/>
                <a:ea typeface="Arial" pitchFamily="34" charset="-122"/>
                <a:cs typeface="Arial" pitchFamily="34" charset="-120"/>
              </a:rPr>
              <a:t>Free forever while active · 30-day idle auto-archive</a:t>
            </a:r>
            <a:endParaRPr lang="en-US" sz="1200" dirty="0"/>
          </a:p>
        </p:txBody>
      </p:sp>
      <p:sp>
        <p:nvSpPr>
          <p:cNvPr id="13" name="Text 10"/>
          <p:cNvSpPr/>
          <p:nvPr/>
        </p:nvSpPr>
        <p:spPr>
          <a:xfrm>
            <a:off x="1106805" y="4761533"/>
            <a:ext cx="4924083" cy="2540645"/>
          </a:xfrm>
          <a:prstGeom prst="rect">
            <a:avLst/>
          </a:prstGeom>
          <a:noFill/>
          <a:ln/>
        </p:spPr>
        <p:txBody>
          <a:bodyPr wrap="square" lIns="25400" tIns="25400" rIns="25400" bIns="25400" rtlCol="0" anchor="t">
            <a:normAutofit/>
          </a:bodyPr>
          <a:lstStyle/>
          <a:p>
            <a:pPr algn="l" indent="0" marL="0">
              <a:lnSpc>
                <a:spcPct val="145000"/>
              </a:lnSpc>
              <a:buNone/>
            </a:pPr>
            <a:r>
              <a:rPr lang="en-US" sz="1425" dirty="0">
                <a:solidFill>
                  <a:srgbClr val="0F1419"/>
                </a:solidFill>
                <a:latin typeface="Arial" pitchFamily="34" charset="0"/>
                <a:ea typeface="Arial" pitchFamily="34" charset="-122"/>
                <a:cs typeface="Arial" pitchFamily="34" charset="-120"/>
              </a:rPr>
              <a:t>Sandbox at slug.hatchik.com</a:t>
            </a:r>
            <a:endParaRPr lang="en-US" sz="1425" dirty="0"/>
          </a:p>
          <a:p>
            <a:pPr algn="l" indent="0" marL="0">
              <a:lnSpc>
                <a:spcPct val="145000"/>
              </a:lnSpc>
              <a:buNone/>
            </a:pPr>
            <a:r>
              <a:rPr lang="en-US" sz="1425" dirty="0">
                <a:solidFill>
                  <a:srgbClr val="0F1419"/>
                </a:solidFill>
                <a:latin typeface="Arial" pitchFamily="34" charset="0"/>
                <a:ea typeface="Arial" pitchFamily="34" charset="-122"/>
                <a:cs typeface="Arial" pitchFamily="34" charset="-120"/>
              </a:rPr>
              <a:t>Shared host (Hetzner CAX31)</a:t>
            </a:r>
            <a:endParaRPr lang="en-US" sz="1425" dirty="0"/>
          </a:p>
          <a:p>
            <a:pPr algn="l" indent="0" marL="0">
              <a:lnSpc>
                <a:spcPct val="145000"/>
              </a:lnSpc>
              <a:buNone/>
            </a:pPr>
            <a:r>
              <a:rPr lang="en-US" sz="1425" dirty="0">
                <a:solidFill>
                  <a:srgbClr val="0F1419"/>
                </a:solidFill>
                <a:latin typeface="Arial" pitchFamily="34" charset="0"/>
                <a:ea typeface="Arial" pitchFamily="34" charset="-122"/>
                <a:cs typeface="Arial" pitchFamily="34" charset="-120"/>
              </a:rPr>
              <a:t>Private GitHub repo + AI handoff</a:t>
            </a:r>
            <a:endParaRPr lang="en-US" sz="1425" dirty="0"/>
          </a:p>
          <a:p>
            <a:pPr algn="l" indent="0" marL="0">
              <a:lnSpc>
                <a:spcPct val="145000"/>
              </a:lnSpc>
              <a:buNone/>
            </a:pPr>
            <a:r>
              <a:rPr lang="en-US" sz="1425" dirty="0">
                <a:solidFill>
                  <a:srgbClr val="0F1419"/>
                </a:solidFill>
                <a:latin typeface="Arial" pitchFamily="34" charset="0"/>
                <a:ea typeface="Arial" pitchFamily="34" charset="-122"/>
                <a:cs typeface="Arial" pitchFamily="34" charset="-120"/>
              </a:rPr>
              <a:t>Capped one active per email</a:t>
            </a:r>
            <a:endParaRPr lang="en-US" sz="1425" dirty="0"/>
          </a:p>
          <a:p>
            <a:pPr algn="l" indent="0" marL="0">
              <a:lnSpc>
                <a:spcPct val="145000"/>
              </a:lnSpc>
              <a:buNone/>
            </a:pPr>
            <a:r>
              <a:rPr lang="en-US" sz="1425" dirty="0">
                <a:solidFill>
                  <a:srgbClr val="0F1419"/>
                </a:solidFill>
                <a:latin typeface="Arial" pitchFamily="34" charset="0"/>
                <a:ea typeface="Arial" pitchFamily="34" charset="-122"/>
                <a:cs typeface="Arial" pitchFamily="34" charset="-120"/>
              </a:rPr>
              <a:t>£0.50 one-off AI credit</a:t>
            </a:r>
            <a:endParaRPr lang="en-US" sz="1425" dirty="0"/>
          </a:p>
        </p:txBody>
      </p:sp>
      <p:sp>
        <p:nvSpPr>
          <p:cNvPr id="14" name="Shape 11"/>
          <p:cNvSpPr/>
          <p:nvPr/>
        </p:nvSpPr>
        <p:spPr>
          <a:xfrm>
            <a:off x="6464275" y="2657475"/>
            <a:ext cx="5359375" cy="5426199"/>
          </a:xfrm>
          <a:prstGeom prst="roundRect">
            <a:avLst>
              <a:gd name="adj" fmla="val 3199"/>
            </a:avLst>
          </a:prstGeom>
          <a:solidFill>
            <a:srgbClr val="161D2A"/>
          </a:solidFill>
          <a:ln w="14288">
            <a:solidFill>
              <a:srgbClr val="232C3D"/>
            </a:solidFill>
            <a:prstDash val="solid"/>
          </a:ln>
          <a:effectLst>
            <a:outerShdw sx="100000" sy="100000" kx="0" ky="0" algn="bl" rotWithShape="0" blurRad="133350" dist="38100" dir="5400000">
              <a:srgbClr val="000000">
                <a:alpha val="30000"/>
              </a:srgbClr>
            </a:outerShdw>
          </a:effectLst>
        </p:spPr>
      </p:sp>
      <p:sp>
        <p:nvSpPr>
          <p:cNvPr id="15" name="Shape 12"/>
          <p:cNvSpPr/>
          <p:nvPr/>
        </p:nvSpPr>
        <p:spPr>
          <a:xfrm>
            <a:off x="10408816" y="2557463"/>
            <a:ext cx="1171947" cy="323850"/>
          </a:xfrm>
          <a:prstGeom prst="roundRect">
            <a:avLst>
              <a:gd name="adj" fmla="val 50000"/>
            </a:avLst>
          </a:prstGeom>
          <a:solidFill>
            <a:srgbClr val="6E5BF5"/>
          </a:solidFill>
          <a:ln/>
          <a:effectLst>
            <a:outerShdw sx="100000" sy="100000" kx="0" ky="0" algn="bl" rotWithShape="0" blurRad="133350" dist="38100" dir="5400000">
              <a:srgbClr val="5B47F0">
                <a:alpha val="40000"/>
              </a:srgbClr>
            </a:outerShdw>
          </a:effectLst>
        </p:spPr>
      </p:sp>
      <p:sp>
        <p:nvSpPr>
          <p:cNvPr id="16" name="Text 13"/>
          <p:cNvSpPr/>
          <p:nvPr/>
        </p:nvSpPr>
        <p:spPr>
          <a:xfrm>
            <a:off x="10542166" y="2633663"/>
            <a:ext cx="981447" cy="209550"/>
          </a:xfrm>
          <a:prstGeom prst="rect">
            <a:avLst/>
          </a:prstGeom>
          <a:noFill/>
          <a:ln/>
        </p:spPr>
        <p:txBody>
          <a:bodyPr wrap="square" lIns="25400" tIns="25400" rIns="25400" bIns="25400" rtlCol="0" anchor="t">
            <a:normAutofit/>
          </a:bodyPr>
          <a:lstStyle/>
          <a:p>
            <a:pPr algn="l" indent="0" marL="0">
              <a:lnSpc>
                <a:spcPct val="150000"/>
              </a:lnSpc>
              <a:buNone/>
            </a:pPr>
            <a:r>
              <a:rPr lang="en-US" sz="900" spc="108" kern="0" dirty="0">
                <a:solidFill>
                  <a:srgbClr val="FFFFFF"/>
                </a:solidFill>
                <a:latin typeface="Courier New" pitchFamily="34" charset="0"/>
                <a:ea typeface="Courier New" pitchFamily="34" charset="-122"/>
                <a:cs typeface="Courier New" pitchFamily="34" charset="-120"/>
              </a:rPr>
              <a:t>RECOMMENDED</a:t>
            </a:r>
            <a:endParaRPr lang="en-US" sz="900" dirty="0"/>
          </a:p>
        </p:txBody>
      </p:sp>
      <p:sp>
        <p:nvSpPr>
          <p:cNvPr id="17" name="Text 14"/>
          <p:cNvSpPr/>
          <p:nvPr/>
        </p:nvSpPr>
        <p:spPr>
          <a:xfrm>
            <a:off x="6783363" y="2976563"/>
            <a:ext cx="4862836" cy="238125"/>
          </a:xfrm>
          <a:prstGeom prst="rect">
            <a:avLst/>
          </a:prstGeom>
          <a:noFill/>
          <a:ln/>
        </p:spPr>
        <p:txBody>
          <a:bodyPr wrap="square" lIns="25400" tIns="25400" rIns="25400" bIns="25400" rtlCol="0" anchor="t">
            <a:normAutofit/>
          </a:bodyPr>
          <a:lstStyle/>
          <a:p>
            <a:pPr algn="l" indent="0" marL="0">
              <a:lnSpc>
                <a:spcPct val="150000"/>
              </a:lnSpc>
              <a:buNone/>
            </a:pPr>
            <a:r>
              <a:rPr lang="en-US" sz="1050" spc="126" kern="0" dirty="0">
                <a:solidFill>
                  <a:srgbClr val="C8C0F8"/>
                </a:solidFill>
                <a:latin typeface="Courier New" pitchFamily="34" charset="0"/>
                <a:ea typeface="Courier New" pitchFamily="34" charset="-122"/>
                <a:cs typeface="Courier New" pitchFamily="34" charset="-120"/>
              </a:rPr>
              <a:t>STAGE 1 </a:t>
            </a:r>
            <a:pPr algn="l" indent="0" marL="0">
              <a:lnSpc>
                <a:spcPct val="150000"/>
              </a:lnSpc>
              <a:buNone/>
            </a:pPr>
            <a:r>
              <a:rPr lang="en-US" sz="1050" spc="126" kern="0" dirty="0">
                <a:solidFill>
                  <a:srgbClr val="F7FAFC">
                    <a:alpha val="50000"/>
                  </a:srgbClr>
                </a:solidFill>
                <a:latin typeface="Courier New" pitchFamily="34" charset="0"/>
                <a:ea typeface="Courier New" pitchFamily="34" charset="-122"/>
                <a:cs typeface="Courier New" pitchFamily="34" charset="-120"/>
              </a:rPr>
              <a:t>· PRODUCTION · SOLO</a:t>
            </a:r>
            <a:endParaRPr lang="en-US" sz="1050" dirty="0"/>
          </a:p>
        </p:txBody>
      </p:sp>
      <p:sp>
        <p:nvSpPr>
          <p:cNvPr id="18" name="Text 15"/>
          <p:cNvSpPr/>
          <p:nvPr/>
        </p:nvSpPr>
        <p:spPr>
          <a:xfrm>
            <a:off x="6783363" y="3309938"/>
            <a:ext cx="4862836" cy="381000"/>
          </a:xfrm>
          <a:prstGeom prst="rect">
            <a:avLst/>
          </a:prstGeom>
          <a:noFill/>
          <a:ln/>
        </p:spPr>
        <p:txBody>
          <a:bodyPr wrap="square" lIns="25400" tIns="25400" rIns="25400" bIns="25400" rtlCol="0" anchor="t">
            <a:normAutofit/>
          </a:bodyPr>
          <a:lstStyle/>
          <a:p>
            <a:pPr algn="l" indent="0" marL="0">
              <a:lnSpc>
                <a:spcPct val="100000"/>
              </a:lnSpc>
              <a:buNone/>
            </a:pPr>
            <a:r>
              <a:rPr lang="en-US" sz="2700" b="1" spc="-81" kern="0" dirty="0">
                <a:solidFill>
                  <a:srgbClr val="F7FAFC"/>
                </a:solidFill>
                <a:latin typeface="Arial" pitchFamily="34" charset="0"/>
                <a:ea typeface="Arial" pitchFamily="34" charset="-122"/>
                <a:cs typeface="Arial" pitchFamily="34" charset="-120"/>
              </a:rPr>
              <a:t>Launch</a:t>
            </a:r>
            <a:endParaRPr lang="en-US" sz="2700" dirty="0"/>
          </a:p>
        </p:txBody>
      </p:sp>
      <p:sp>
        <p:nvSpPr>
          <p:cNvPr id="19" name="Text 16"/>
          <p:cNvSpPr/>
          <p:nvPr/>
        </p:nvSpPr>
        <p:spPr>
          <a:xfrm>
            <a:off x="6783363" y="3748087"/>
            <a:ext cx="4862836" cy="571500"/>
          </a:xfrm>
          <a:prstGeom prst="rect">
            <a:avLst/>
          </a:prstGeom>
          <a:noFill/>
          <a:ln/>
        </p:spPr>
        <p:txBody>
          <a:bodyPr wrap="square" lIns="25400" tIns="25400" rIns="25400" bIns="25400" rtlCol="0" anchor="t">
            <a:normAutofit/>
          </a:bodyPr>
          <a:lstStyle/>
          <a:p>
            <a:pPr algn="l" indent="0" marL="0">
              <a:lnSpc>
                <a:spcPct val="100000"/>
              </a:lnSpc>
              <a:buNone/>
            </a:pPr>
            <a:r>
              <a:rPr lang="en-US" sz="4200" b="1" spc="-147" kern="0" dirty="0">
                <a:solidFill>
                  <a:srgbClr val="F7FAFC"/>
                </a:solidFill>
                <a:latin typeface="Arial" pitchFamily="34" charset="0"/>
                <a:ea typeface="Arial" pitchFamily="34" charset="-122"/>
                <a:cs typeface="Arial" pitchFamily="34" charset="-120"/>
              </a:rPr>
              <a:t>£89 </a:t>
            </a:r>
            <a:pPr algn="l" indent="0" marL="0">
              <a:lnSpc>
                <a:spcPct val="100000"/>
              </a:lnSpc>
              <a:buNone/>
            </a:pPr>
            <a:r>
              <a:rPr lang="en-US" sz="1350" spc="-147" kern="0" dirty="0">
                <a:solidFill>
                  <a:srgbClr val="F7FAFC">
                    <a:alpha val="50000"/>
                  </a:srgbClr>
                </a:solidFill>
                <a:latin typeface="Arial" pitchFamily="34" charset="0"/>
                <a:ea typeface="Arial" pitchFamily="34" charset="-122"/>
                <a:cs typeface="Arial" pitchFamily="34" charset="-120"/>
              </a:rPr>
              <a:t>+ £14/mo</a:t>
            </a:r>
            <a:endParaRPr lang="en-US" sz="4200" dirty="0"/>
          </a:p>
        </p:txBody>
      </p:sp>
      <p:sp>
        <p:nvSpPr>
          <p:cNvPr id="20" name="Text 17"/>
          <p:cNvSpPr/>
          <p:nvPr/>
        </p:nvSpPr>
        <p:spPr>
          <a:xfrm>
            <a:off x="6783363" y="4338638"/>
            <a:ext cx="4862836" cy="251445"/>
          </a:xfrm>
          <a:prstGeom prst="rect">
            <a:avLst/>
          </a:prstGeom>
          <a:noFill/>
          <a:ln/>
        </p:spPr>
        <p:txBody>
          <a:bodyPr wrap="square" lIns="25400" tIns="25400" rIns="25400" bIns="25400" rtlCol="0" anchor="t">
            <a:normAutofit/>
          </a:bodyPr>
          <a:lstStyle/>
          <a:p>
            <a:pPr algn="l" indent="0" marL="0">
              <a:lnSpc>
                <a:spcPct val="140000"/>
              </a:lnSpc>
              <a:buNone/>
            </a:pPr>
            <a:r>
              <a:rPr lang="en-US" sz="1200" dirty="0">
                <a:solidFill>
                  <a:srgbClr val="F7FAFC">
                    <a:alpha val="50000"/>
                  </a:srgbClr>
                </a:solidFill>
                <a:latin typeface="Arial" pitchFamily="34" charset="0"/>
                <a:ea typeface="Arial" pitchFamily="34" charset="-122"/>
                <a:cs typeface="Arial" pitchFamily="34" charset="-120"/>
              </a:rPr>
              <a:t>Setup, then £14/mo annual or £17/mo monthly</a:t>
            </a:r>
            <a:endParaRPr lang="en-US" sz="1200" dirty="0"/>
          </a:p>
        </p:txBody>
      </p:sp>
      <p:sp>
        <p:nvSpPr>
          <p:cNvPr id="21" name="Text 18"/>
          <p:cNvSpPr/>
          <p:nvPr/>
        </p:nvSpPr>
        <p:spPr>
          <a:xfrm>
            <a:off x="6656680" y="4761533"/>
            <a:ext cx="4924083" cy="3041154"/>
          </a:xfrm>
          <a:prstGeom prst="rect">
            <a:avLst/>
          </a:prstGeom>
          <a:noFill/>
          <a:ln/>
        </p:spPr>
        <p:txBody>
          <a:bodyPr wrap="square" lIns="25400" tIns="25400" rIns="25400" bIns="25400" rtlCol="0" anchor="t">
            <a:normAutofit/>
          </a:bodyPr>
          <a:lstStyle/>
          <a:p>
            <a:pPr algn="l" indent="0" marL="0">
              <a:lnSpc>
                <a:spcPct val="145000"/>
              </a:lnSpc>
              <a:buNone/>
            </a:pPr>
            <a:r>
              <a:rPr lang="en-US" sz="1425" dirty="0">
                <a:solidFill>
                  <a:srgbClr val="F7FAFC"/>
                </a:solidFill>
                <a:latin typeface="Arial" pitchFamily="34" charset="0"/>
                <a:ea typeface="Arial" pitchFamily="34" charset="-122"/>
                <a:cs typeface="Arial" pitchFamily="34" charset="-120"/>
              </a:rPr>
              <a:t>Production hosting + domain + mailboxes</a:t>
            </a:r>
            <a:endParaRPr lang="en-US" sz="1425" dirty="0"/>
          </a:p>
          <a:p>
            <a:pPr algn="l" indent="0" marL="0">
              <a:lnSpc>
                <a:spcPct val="145000"/>
              </a:lnSpc>
              <a:buNone/>
            </a:pPr>
            <a:r>
              <a:rPr lang="en-US" sz="1425" dirty="0">
                <a:solidFill>
                  <a:srgbClr val="F7FAFC"/>
                </a:solidFill>
                <a:latin typeface="Arial" pitchFamily="34" charset="0"/>
                <a:ea typeface="Arial" pitchFamily="34" charset="-122"/>
                <a:cs typeface="Arial" pitchFamily="34" charset="-120"/>
              </a:rPr>
              <a:t>Shared host in customer region</a:t>
            </a:r>
            <a:endParaRPr lang="en-US" sz="1425" dirty="0"/>
          </a:p>
          <a:p>
            <a:pPr algn="l" indent="0" marL="0">
              <a:lnSpc>
                <a:spcPct val="145000"/>
              </a:lnSpc>
              <a:buNone/>
            </a:pPr>
            <a:r>
              <a:rPr lang="en-US" sz="1425" dirty="0">
                <a:solidFill>
                  <a:srgbClr val="F7FAFC"/>
                </a:solidFill>
                <a:latin typeface="Arial" pitchFamily="34" charset="0"/>
                <a:ea typeface="Arial" pitchFamily="34" charset="-122"/>
                <a:cs typeface="Arial" pitchFamily="34" charset="-120"/>
              </a:rPr>
              <a:t>3 mailboxes (Infomaniak)</a:t>
            </a:r>
            <a:endParaRPr lang="en-US" sz="1425" dirty="0"/>
          </a:p>
          <a:p>
            <a:pPr algn="l" indent="0" marL="0">
              <a:lnSpc>
                <a:spcPct val="145000"/>
              </a:lnSpc>
              <a:buNone/>
            </a:pPr>
            <a:r>
              <a:rPr lang="en-US" sz="1425" dirty="0">
                <a:solidFill>
                  <a:srgbClr val="F7FAFC"/>
                </a:solidFill>
                <a:latin typeface="Arial" pitchFamily="34" charset="0"/>
                <a:ea typeface="Arial" pitchFamily="34" charset="-122"/>
                <a:cs typeface="Arial" pitchFamily="34" charset="-120"/>
              </a:rPr>
              <a:t>BYO or registered domain</a:t>
            </a:r>
            <a:endParaRPr lang="en-US" sz="1425" dirty="0"/>
          </a:p>
          <a:p>
            <a:pPr algn="l" indent="0" marL="0">
              <a:lnSpc>
                <a:spcPct val="145000"/>
              </a:lnSpc>
              <a:buNone/>
            </a:pPr>
            <a:r>
              <a:rPr lang="en-US" sz="1425" dirty="0">
                <a:solidFill>
                  <a:srgbClr val="F7FAFC"/>
                </a:solidFill>
                <a:latin typeface="Arial" pitchFamily="34" charset="0"/>
                <a:ea typeface="Arial" pitchFamily="34" charset="-122"/>
                <a:cs typeface="Arial" pitchFamily="34" charset="-120"/>
              </a:rPr>
              <a:t>Push-to-deploy + mobile builds</a:t>
            </a:r>
            <a:endParaRPr lang="en-US" sz="1425" dirty="0"/>
          </a:p>
          <a:p>
            <a:pPr algn="l" indent="0" marL="0">
              <a:lnSpc>
                <a:spcPct val="145000"/>
              </a:lnSpc>
              <a:buNone/>
            </a:pPr>
            <a:r>
              <a:rPr lang="en-US" sz="1425" dirty="0">
                <a:solidFill>
                  <a:srgbClr val="F7FAFC"/>
                </a:solidFill>
                <a:latin typeface="Arial" pitchFamily="34" charset="0"/>
                <a:ea typeface="Arial" pitchFamily="34" charset="-122"/>
                <a:cs typeface="Arial" pitchFamily="34" charset="-120"/>
              </a:rPr>
              <a:t>£3/month AI credit included</a:t>
            </a:r>
            <a:endParaRPr lang="en-US" sz="1425" dirty="0"/>
          </a:p>
        </p:txBody>
      </p:sp>
      <p:sp>
        <p:nvSpPr>
          <p:cNvPr id="22" name="Shape 19"/>
          <p:cNvSpPr/>
          <p:nvPr/>
        </p:nvSpPr>
        <p:spPr>
          <a:xfrm>
            <a:off x="12014150" y="2657475"/>
            <a:ext cx="5359450" cy="5426199"/>
          </a:xfrm>
          <a:prstGeom prst="roundRect">
            <a:avLst>
              <a:gd name="adj" fmla="val 3199"/>
            </a:avLst>
          </a:prstGeom>
          <a:solidFill>
            <a:srgbClr val="FFFFFF"/>
          </a:solidFill>
          <a:ln w="14288">
            <a:solidFill>
              <a:srgbClr val="DDE5EC"/>
            </a:solidFill>
            <a:prstDash val="solid"/>
          </a:ln>
          <a:effectLst>
            <a:outerShdw sx="100000" sy="100000" kx="0" ky="0" algn="bl" rotWithShape="0" blurRad="28575" dist="9525" dir="5400000">
              <a:srgbClr val="0F1419">
                <a:alpha val="4000"/>
              </a:srgbClr>
            </a:outerShdw>
          </a:effectLst>
        </p:spPr>
      </p:sp>
      <p:sp>
        <p:nvSpPr>
          <p:cNvPr id="23" name="Text 20"/>
          <p:cNvSpPr/>
          <p:nvPr/>
        </p:nvSpPr>
        <p:spPr>
          <a:xfrm>
            <a:off x="12333238" y="2976563"/>
            <a:ext cx="4862913" cy="238125"/>
          </a:xfrm>
          <a:prstGeom prst="rect">
            <a:avLst/>
          </a:prstGeom>
          <a:noFill/>
          <a:ln/>
        </p:spPr>
        <p:txBody>
          <a:bodyPr wrap="square" lIns="25400" tIns="25400" rIns="25400" bIns="25400" rtlCol="0" anchor="t">
            <a:normAutofit/>
          </a:bodyPr>
          <a:lstStyle/>
          <a:p>
            <a:pPr algn="l" indent="0" marL="0">
              <a:lnSpc>
                <a:spcPct val="150000"/>
              </a:lnSpc>
              <a:buNone/>
            </a:pPr>
            <a:r>
              <a:rPr lang="en-US" sz="1050" spc="126" kern="0" dirty="0">
                <a:solidFill>
                  <a:srgbClr val="6E7785"/>
                </a:solidFill>
                <a:latin typeface="Courier New" pitchFamily="34" charset="0"/>
                <a:ea typeface="Courier New" pitchFamily="34" charset="-122"/>
                <a:cs typeface="Courier New" pitchFamily="34" charset="-120"/>
              </a:rPr>
              <a:t>STAGE 2 · PRODUCTION · SCALE</a:t>
            </a:r>
            <a:endParaRPr lang="en-US" sz="1050" dirty="0"/>
          </a:p>
        </p:txBody>
      </p:sp>
      <p:sp>
        <p:nvSpPr>
          <p:cNvPr id="24" name="Text 21"/>
          <p:cNvSpPr/>
          <p:nvPr/>
        </p:nvSpPr>
        <p:spPr>
          <a:xfrm>
            <a:off x="12333238" y="3309938"/>
            <a:ext cx="4862913" cy="381000"/>
          </a:xfrm>
          <a:prstGeom prst="rect">
            <a:avLst/>
          </a:prstGeom>
          <a:noFill/>
          <a:ln/>
        </p:spPr>
        <p:txBody>
          <a:bodyPr wrap="square" lIns="25400" tIns="25400" rIns="25400" bIns="25400" rtlCol="0" anchor="t">
            <a:normAutofit/>
          </a:bodyPr>
          <a:lstStyle/>
          <a:p>
            <a:pPr algn="l" indent="0" marL="0">
              <a:lnSpc>
                <a:spcPct val="100000"/>
              </a:lnSpc>
              <a:buNone/>
            </a:pPr>
            <a:r>
              <a:rPr lang="en-US" sz="2700" b="1" spc="-81" kern="0" dirty="0">
                <a:solidFill>
                  <a:srgbClr val="0F1419"/>
                </a:solidFill>
                <a:latin typeface="Arial" pitchFamily="34" charset="0"/>
                <a:ea typeface="Arial" pitchFamily="34" charset="-122"/>
                <a:cs typeface="Arial" pitchFamily="34" charset="-120"/>
              </a:rPr>
              <a:t>Growth</a:t>
            </a:r>
            <a:endParaRPr lang="en-US" sz="2700" dirty="0"/>
          </a:p>
        </p:txBody>
      </p:sp>
      <p:sp>
        <p:nvSpPr>
          <p:cNvPr id="25" name="Text 22"/>
          <p:cNvSpPr/>
          <p:nvPr/>
        </p:nvSpPr>
        <p:spPr>
          <a:xfrm>
            <a:off x="12333238" y="3748087"/>
            <a:ext cx="4862913" cy="571500"/>
          </a:xfrm>
          <a:prstGeom prst="rect">
            <a:avLst/>
          </a:prstGeom>
          <a:noFill/>
          <a:ln/>
        </p:spPr>
        <p:txBody>
          <a:bodyPr wrap="square" lIns="25400" tIns="25400" rIns="25400" bIns="25400" rtlCol="0" anchor="t">
            <a:normAutofit/>
          </a:bodyPr>
          <a:lstStyle/>
          <a:p>
            <a:pPr algn="l" indent="0" marL="0">
              <a:lnSpc>
                <a:spcPct val="100000"/>
              </a:lnSpc>
              <a:buNone/>
            </a:pPr>
            <a:r>
              <a:rPr lang="en-US" sz="4200" b="1" spc="-147" kern="0" dirty="0">
                <a:solidFill>
                  <a:srgbClr val="0F1419"/>
                </a:solidFill>
                <a:latin typeface="Arial" pitchFamily="34" charset="0"/>
                <a:ea typeface="Arial" pitchFamily="34" charset="-122"/>
                <a:cs typeface="Arial" pitchFamily="34" charset="-120"/>
              </a:rPr>
              <a:t>£39</a:t>
            </a:r>
            <a:pPr algn="l" indent="0" marL="0">
              <a:lnSpc>
                <a:spcPct val="100000"/>
              </a:lnSpc>
              <a:buNone/>
            </a:pPr>
            <a:r>
              <a:rPr lang="en-US" sz="1350" spc="-147" kern="0" dirty="0">
                <a:solidFill>
                  <a:srgbClr val="6E7785"/>
                </a:solidFill>
                <a:latin typeface="Arial" pitchFamily="34" charset="0"/>
                <a:ea typeface="Arial" pitchFamily="34" charset="-122"/>
                <a:cs typeface="Arial" pitchFamily="34" charset="-120"/>
              </a:rPr>
              <a:t>/mo</a:t>
            </a:r>
            <a:endParaRPr lang="en-US" sz="4200" dirty="0"/>
          </a:p>
        </p:txBody>
      </p:sp>
      <p:sp>
        <p:nvSpPr>
          <p:cNvPr id="26" name="Text 23"/>
          <p:cNvSpPr/>
          <p:nvPr/>
        </p:nvSpPr>
        <p:spPr>
          <a:xfrm>
            <a:off x="12333238" y="4338638"/>
            <a:ext cx="4862913" cy="251445"/>
          </a:xfrm>
          <a:prstGeom prst="rect">
            <a:avLst/>
          </a:prstGeom>
          <a:noFill/>
          <a:ln/>
        </p:spPr>
        <p:txBody>
          <a:bodyPr wrap="square" lIns="25400" tIns="25400" rIns="25400" bIns="25400" rtlCol="0" anchor="t">
            <a:normAutofit/>
          </a:bodyPr>
          <a:lstStyle/>
          <a:p>
            <a:pPr algn="l" indent="0" marL="0">
              <a:lnSpc>
                <a:spcPct val="140000"/>
              </a:lnSpc>
              <a:buNone/>
            </a:pPr>
            <a:r>
              <a:rPr lang="en-US" sz="1200" dirty="0">
                <a:solidFill>
                  <a:srgbClr val="6E7785"/>
                </a:solidFill>
                <a:latin typeface="Arial" pitchFamily="34" charset="0"/>
                <a:ea typeface="Arial" pitchFamily="34" charset="-122"/>
                <a:cs typeface="Arial" pitchFamily="34" charset="-120"/>
              </a:rPr>
              <a:t>Auto-graduates at customer's 15th end-user signup</a:t>
            </a:r>
            <a:endParaRPr lang="en-US" sz="1200" dirty="0"/>
          </a:p>
        </p:txBody>
      </p:sp>
      <p:sp>
        <p:nvSpPr>
          <p:cNvPr id="27" name="Text 24"/>
          <p:cNvSpPr/>
          <p:nvPr/>
        </p:nvSpPr>
        <p:spPr>
          <a:xfrm>
            <a:off x="12206555" y="4761533"/>
            <a:ext cx="4924157" cy="3041154"/>
          </a:xfrm>
          <a:prstGeom prst="rect">
            <a:avLst/>
          </a:prstGeom>
          <a:noFill/>
          <a:ln/>
        </p:spPr>
        <p:txBody>
          <a:bodyPr wrap="square" lIns="25400" tIns="25400" rIns="25400" bIns="25400" rtlCol="0" anchor="t">
            <a:normAutofit/>
          </a:bodyPr>
          <a:lstStyle/>
          <a:p>
            <a:pPr algn="l" indent="0" marL="0">
              <a:lnSpc>
                <a:spcPct val="145000"/>
              </a:lnSpc>
              <a:buNone/>
            </a:pPr>
            <a:r>
              <a:rPr lang="en-US" sz="1425" dirty="0">
                <a:solidFill>
                  <a:srgbClr val="0F1419"/>
                </a:solidFill>
                <a:latin typeface="Arial" pitchFamily="34" charset="0"/>
                <a:ea typeface="Arial" pitchFamily="34" charset="-122"/>
                <a:cs typeface="Arial" pitchFamily="34" charset="-120"/>
              </a:rPr>
              <a:t>Dedicated VPS in your region</a:t>
            </a:r>
            <a:endParaRPr lang="en-US" sz="1425" dirty="0"/>
          </a:p>
          <a:p>
            <a:pPr algn="l" indent="0" marL="0">
              <a:lnSpc>
                <a:spcPct val="145000"/>
              </a:lnSpc>
              <a:buNone/>
            </a:pPr>
            <a:r>
              <a:rPr lang="en-US" sz="1425" dirty="0">
                <a:solidFill>
                  <a:srgbClr val="0F1419"/>
                </a:solidFill>
                <a:latin typeface="Arial" pitchFamily="34" charset="0"/>
                <a:ea typeface="Arial" pitchFamily="34" charset="-122"/>
                <a:cs typeface="Arial" pitchFamily="34" charset="-120"/>
              </a:rPr>
              <a:t>Priority redeploy queue</a:t>
            </a:r>
            <a:endParaRPr lang="en-US" sz="1425" dirty="0"/>
          </a:p>
          <a:p>
            <a:pPr algn="l" indent="0" marL="0">
              <a:lnSpc>
                <a:spcPct val="145000"/>
              </a:lnSpc>
              <a:buNone/>
            </a:pPr>
            <a:r>
              <a:rPr lang="en-US" sz="1425" dirty="0">
                <a:solidFill>
                  <a:srgbClr val="0F1419"/>
                </a:solidFill>
                <a:latin typeface="Arial" pitchFamily="34" charset="0"/>
                <a:ea typeface="Arial" pitchFamily="34" charset="-122"/>
                <a:cs typeface="Arial" pitchFamily="34" charset="-120"/>
              </a:rPr>
              <a:t>10 mailboxes + Supabase Studio</a:t>
            </a:r>
            <a:endParaRPr lang="en-US" sz="1425" dirty="0"/>
          </a:p>
          <a:p>
            <a:pPr algn="l" indent="0" marL="0">
              <a:lnSpc>
                <a:spcPct val="145000"/>
              </a:lnSpc>
              <a:buNone/>
            </a:pPr>
            <a:r>
              <a:rPr lang="en-US" sz="1425" dirty="0">
                <a:solidFill>
                  <a:srgbClr val="0F1419"/>
                </a:solidFill>
                <a:latin typeface="Arial" pitchFamily="34" charset="0"/>
                <a:ea typeface="Arial" pitchFamily="34" charset="-122"/>
                <a:cs typeface="Arial" pitchFamily="34" charset="-120"/>
              </a:rPr>
              <a:t>Cohort analytics access</a:t>
            </a:r>
            <a:endParaRPr lang="en-US" sz="1425" dirty="0"/>
          </a:p>
          <a:p>
            <a:pPr algn="l" indent="0" marL="0">
              <a:lnSpc>
                <a:spcPct val="145000"/>
              </a:lnSpc>
              <a:buNone/>
            </a:pPr>
            <a:r>
              <a:rPr lang="en-US" sz="1425" dirty="0">
                <a:solidFill>
                  <a:srgbClr val="0F1419"/>
                </a:solidFill>
                <a:latin typeface="Arial" pitchFamily="34" charset="0"/>
                <a:ea typeface="Arial" pitchFamily="34" charset="-122"/>
                <a:cs typeface="Arial" pitchFamily="34" charset="-120"/>
              </a:rPr>
              <a:t>Founder support window</a:t>
            </a:r>
            <a:endParaRPr lang="en-US" sz="1425" dirty="0"/>
          </a:p>
          <a:p>
            <a:pPr algn="l" indent="0" marL="0">
              <a:lnSpc>
                <a:spcPct val="145000"/>
              </a:lnSpc>
              <a:buNone/>
            </a:pPr>
            <a:r>
              <a:rPr lang="en-US" sz="1425" dirty="0">
                <a:solidFill>
                  <a:srgbClr val="0F1419"/>
                </a:solidFill>
                <a:latin typeface="Arial" pitchFamily="34" charset="0"/>
                <a:ea typeface="Arial" pitchFamily="34" charset="-122"/>
                <a:cs typeface="Arial" pitchFamily="34" charset="-120"/>
              </a:rPr>
              <a:t>£10/month AI credit included</a:t>
            </a:r>
            <a:endParaRPr lang="en-US" sz="1425" dirty="0"/>
          </a:p>
        </p:txBody>
      </p:sp>
      <p:sp>
        <p:nvSpPr>
          <p:cNvPr id="28" name="Text 25"/>
          <p:cNvSpPr/>
          <p:nvPr/>
        </p:nvSpPr>
        <p:spPr>
          <a:xfrm>
            <a:off x="914400" y="8350374"/>
            <a:ext cx="16952976" cy="510480"/>
          </a:xfrm>
          <a:prstGeom prst="rect">
            <a:avLst/>
          </a:prstGeom>
          <a:noFill/>
          <a:ln/>
        </p:spPr>
        <p:txBody>
          <a:bodyPr wrap="square" lIns="25400" tIns="25400" rIns="25400" bIns="25400" rtlCol="0" anchor="t">
            <a:normAutofit/>
          </a:bodyPr>
          <a:lstStyle/>
          <a:p>
            <a:pPr algn="l" indent="0" marL="0">
              <a:lnSpc>
                <a:spcPct val="155000"/>
              </a:lnSpc>
              <a:buNone/>
            </a:pPr>
            <a:r>
              <a:rPr lang="en-US" sz="1200" spc="48" kern="0" dirty="0">
                <a:solidFill>
                  <a:srgbClr val="6E7785"/>
                </a:solidFill>
                <a:latin typeface="Courier New" pitchFamily="34" charset="0"/>
                <a:ea typeface="Courier New" pitchFamily="34" charset="-122"/>
                <a:cs typeface="Courier New" pitchFamily="34" charset="-120"/>
              </a:rPr>
              <a:t>Pass-through overage at cost × 1.60 (40% net + Paddle fee). Mid-range Launch £11.55/mo · Growth £31.74/mo · Sandbox cost £0.30/mo. Full sensitivity: AI_COGS_SENSITIVITY.xlsx.</a:t>
            </a:r>
            <a:endParaRPr lang="en-US" sz="1200" dirty="0"/>
          </a:p>
        </p:txBody>
      </p:sp>
      <p:sp>
        <p:nvSpPr>
          <p:cNvPr id="29" name="Shape 26"/>
          <p:cNvSpPr/>
          <p:nvPr/>
        </p:nvSpPr>
        <p:spPr>
          <a:xfrm>
            <a:off x="914400" y="9286875"/>
            <a:ext cx="16459200" cy="9525"/>
          </a:xfrm>
          <a:prstGeom prst="rect">
            <a:avLst/>
          </a:prstGeom>
          <a:solidFill>
            <a:srgbClr val="DDE5EC"/>
          </a:solidFill>
          <a:ln/>
        </p:spPr>
      </p:sp>
      <p:sp>
        <p:nvSpPr>
          <p:cNvPr id="30" name="Text 27"/>
          <p:cNvSpPr/>
          <p:nvPr/>
        </p:nvSpPr>
        <p:spPr>
          <a:xfrm>
            <a:off x="914400" y="9532144"/>
            <a:ext cx="4533256"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113" kern="0" dirty="0">
                <a:solidFill>
                  <a:srgbClr val="6E7785"/>
                </a:solidFill>
                <a:latin typeface="Courier New" pitchFamily="34" charset="0"/>
                <a:ea typeface="Courier New" pitchFamily="34" charset="-122"/>
                <a:cs typeface="Courier New" pitchFamily="34" charset="-120"/>
              </a:rPr>
              <a:t>HATCHIK · INVESTOR &amp; PARTNER DECK · MAY 2026</a:t>
            </a:r>
            <a:endParaRPr lang="en-US" sz="1125" dirty="0"/>
          </a:p>
        </p:txBody>
      </p:sp>
      <p:sp>
        <p:nvSpPr>
          <p:cNvPr id="31" name="Text 28"/>
          <p:cNvSpPr/>
          <p:nvPr/>
        </p:nvSpPr>
        <p:spPr>
          <a:xfrm>
            <a:off x="16690851" y="9525000"/>
            <a:ext cx="758949"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spc="48" kern="0" dirty="0">
                <a:solidFill>
                  <a:srgbClr val="0F1419"/>
                </a:solidFill>
                <a:latin typeface="Courier New" pitchFamily="34" charset="0"/>
                <a:ea typeface="Courier New" pitchFamily="34" charset="-122"/>
                <a:cs typeface="Courier New" pitchFamily="34" charset="-120"/>
              </a:rPr>
              <a:t>12 / 31</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5B47F0">
              <a:alpha val="4000"/>
            </a:srgbClr>
          </a:solidFill>
          <a:ln/>
        </p:spPr>
        <p:txBody>
          <a:bodyPr/>
          <a:p/>
        </p:txBody>
      </p:sp>
      <p:sp>
        <p:nvSpPr>
          <p:cNvPr id="3" name="Shape 1"/>
          <p:cNvSpPr/>
          <p:nvPr/>
        </p:nvSpPr>
        <p:spPr>
          <a:xfrm>
            <a:off x="914400" y="1009650"/>
            <a:ext cx="16459200" cy="9525"/>
          </a:xfrm>
          <a:prstGeom prst="rect">
            <a:avLst/>
          </a:prstGeom>
          <a:solidFill>
            <a:srgbClr val="DDE5EC"/>
          </a:solidFill>
          <a:ln/>
        </p:spPr>
        <p:txBody>
          <a:bodyPr/>
          <a:p/>
        </p:txBody>
      </p:sp>
      <p:pic>
        <p:nvPicPr>
          <p:cNvPr id="4" name="Image 0" descr="preencoded.png">    </p:cNvPr>
          <p:cNvPicPr>
            <a:picLocks noChangeAspect="1"/>
          </p:cNvPicPr>
          <p:nvPr/>
        </p:nvPicPr>
        <p:blipFill>
          <a:blip r:embed="rId1"/>
          <a:stretch>
            <a:fillRect/>
          </a:stretch>
        </p:blipFill>
        <p:spPr>
          <a:xfrm>
            <a:off x="914400" y="571500"/>
            <a:ext cx="209550" cy="209550"/>
          </a:xfrm>
          <a:prstGeom prst="rect">
            <a:avLst/>
          </a:prstGeom>
        </p:spPr>
      </p:pic>
      <p:sp>
        <p:nvSpPr>
          <p:cNvPr id="5" name="Text 2"/>
          <p:cNvSpPr/>
          <p:nvPr/>
        </p:nvSpPr>
        <p:spPr>
          <a:xfrm>
            <a:off x="1219200" y="533400"/>
            <a:ext cx="745108"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spc="-37" kern="0" dirty="0">
                <a:solidFill>
                  <a:srgbClr val="0F1419"/>
                </a:solidFill>
                <a:latin typeface="Arial" pitchFamily="34" charset="0"/>
                <a:ea typeface="Arial" pitchFamily="34" charset="-122"/>
                <a:cs typeface="Arial" pitchFamily="34" charset="-120"/>
              </a:rPr>
              <a:t>hatchik</a:t>
            </a:r>
            <a:endParaRPr lang="en-US" sz="1500" dirty="0"/>
          </a:p>
        </p:txBody>
      </p:sp>
      <p:sp>
        <p:nvSpPr>
          <p:cNvPr id="6" name="Text 3"/>
          <p:cNvSpPr/>
          <p:nvPr/>
        </p:nvSpPr>
        <p:spPr>
          <a:xfrm>
            <a:off x="15658802" y="562421"/>
            <a:ext cx="1790998" cy="265733"/>
          </a:xfrm>
          <a:prstGeom prst="rect">
            <a:avLst/>
          </a:prstGeom>
          <a:noFill/>
          <a:ln/>
        </p:spPr>
        <p:txBody>
          <a:bodyPr wrap="square" lIns="25400" tIns="25400" rIns="25400" bIns="25400" rtlCol="0" anchor="t">
            <a:normAutofit/>
          </a:bodyPr>
          <a:lstStyle/>
          <a:p>
            <a:pPr algn="l" indent="0" marL="0">
              <a:lnSpc>
                <a:spcPct val="140000"/>
              </a:lnSpc>
              <a:buNone/>
            </a:pPr>
            <a:r>
              <a:rPr lang="en-US" sz="1200" spc="120" kern="0" dirty="0">
                <a:solidFill>
                  <a:srgbClr val="0F1419"/>
                </a:solidFill>
                <a:latin typeface="Courier New" pitchFamily="34" charset="0"/>
                <a:ea typeface="Courier New" pitchFamily="34" charset="-122"/>
                <a:cs typeface="Courier New" pitchFamily="34" charset="-120"/>
              </a:rPr>
              <a:t>13 </a:t>
            </a:r>
            <a:pPr algn="l" indent="0" marL="0">
              <a:lnSpc>
                <a:spcPct val="140000"/>
              </a:lnSpc>
              <a:buNone/>
            </a:pPr>
            <a:r>
              <a:rPr lang="en-US" sz="1200" spc="120" kern="0" dirty="0">
                <a:solidFill>
                  <a:srgbClr val="5B47F0"/>
                </a:solidFill>
                <a:latin typeface="Courier New" pitchFamily="34" charset="0"/>
                <a:ea typeface="Courier New" pitchFamily="34" charset="-122"/>
                <a:cs typeface="Courier New" pitchFamily="34" charset="-120"/>
              </a:rPr>
              <a:t>· </a:t>
            </a:r>
            <a:pPr algn="l" indent="0" marL="0">
              <a:lnSpc>
                <a:spcPct val="140000"/>
              </a:lnSpc>
              <a:buNone/>
            </a:pPr>
            <a:r>
              <a:rPr lang="en-US" sz="1200" spc="120" kern="0" dirty="0">
                <a:solidFill>
                  <a:srgbClr val="6E7785"/>
                </a:solidFill>
                <a:latin typeface="Courier New" pitchFamily="34" charset="0"/>
                <a:ea typeface="Courier New" pitchFamily="34" charset="-122"/>
                <a:cs typeface="Courier New" pitchFamily="34" charset="-120"/>
              </a:rPr>
              <a:t>GO-TO-MARKET</a:t>
            </a:r>
            <a:endParaRPr lang="en-US" sz="1200" dirty="0"/>
          </a:p>
        </p:txBody>
      </p:sp>
      <p:sp>
        <p:nvSpPr>
          <p:cNvPr id="7" name="Text 4"/>
          <p:cNvSpPr/>
          <p:nvPr/>
        </p:nvSpPr>
        <p:spPr>
          <a:xfrm>
            <a:off x="914400" y="1438275"/>
            <a:ext cx="15893415" cy="723900"/>
          </a:xfrm>
          <a:prstGeom prst="rect">
            <a:avLst/>
          </a:prstGeom>
          <a:noFill/>
          <a:ln/>
        </p:spPr>
        <p:txBody>
          <a:bodyPr wrap="square" lIns="25400" tIns="25400" rIns="25400" bIns="25400" rtlCol="0" anchor="t">
            <a:normAutofit/>
          </a:bodyPr>
          <a:lstStyle/>
          <a:p>
            <a:pPr algn="l" indent="0" marL="0">
              <a:lnSpc>
                <a:spcPct val="100000"/>
              </a:lnSpc>
              <a:buNone/>
            </a:pPr>
            <a:r>
              <a:rPr lang="en-US" sz="5400" b="1" spc="-216" kern="0" dirty="0">
                <a:solidFill>
                  <a:srgbClr val="0F1419"/>
                </a:solidFill>
                <a:latin typeface="Arial" pitchFamily="34" charset="0"/>
                <a:ea typeface="Arial" pitchFamily="34" charset="-122"/>
                <a:cs typeface="Arial" pitchFamily="34" charset="-120"/>
              </a:rPr>
              <a:t>Who we engage. </a:t>
            </a:r>
            <a:pPr algn="l" indent="0" marL="0">
              <a:lnSpc>
                <a:spcPct val="100000"/>
              </a:lnSpc>
              <a:buNone/>
            </a:pPr>
            <a:r>
              <a:rPr lang="en-US" sz="5400" b="1" spc="-216" kern="0" dirty="0">
                <a:solidFill>
                  <a:srgbClr val="5B47F0"/>
                </a:solidFill>
                <a:latin typeface="Arial" pitchFamily="34" charset="0"/>
                <a:ea typeface="Arial" pitchFamily="34" charset="-122"/>
                <a:cs typeface="Arial" pitchFamily="34" charset="-120"/>
              </a:rPr>
              <a:t>How we win them.</a:t>
            </a:r>
            <a:endParaRPr lang="en-US" sz="5400" dirty="0"/>
          </a:p>
        </p:txBody>
      </p:sp>
      <p:sp>
        <p:nvSpPr>
          <p:cNvPr id="30" name="Shape 27"/>
          <p:cNvSpPr/>
          <p:nvPr/>
        </p:nvSpPr>
        <p:spPr>
          <a:xfrm>
            <a:off x="914400" y="2561433"/>
            <a:ext cx="3986213" cy="2623170"/>
          </a:xfrm>
          <a:prstGeom prst="roundRect">
            <a:avLst>
              <a:gd name="adj" fmla="val 5084"/>
            </a:avLst>
          </a:prstGeom>
          <a:solidFill>
            <a:srgbClr val="FFFFFF"/>
          </a:solidFill>
          <a:ln w="14288">
            <a:solidFill>
              <a:srgbClr val="DDE5EC"/>
            </a:solidFill>
            <a:prstDash val="solid"/>
          </a:ln>
          <a:effectLst>
            <a:outerShdw sx="100000" sy="100000" kx="0" ky="0" algn="bl" rotWithShape="0" blurRad="28575" dist="9525" dir="5400000">
              <a:srgbClr val="0F1419">
                <a:alpha val="4000"/>
              </a:srgbClr>
            </a:outerShdw>
          </a:effectLst>
        </p:spPr>
        <p:txBody>
          <a:bodyPr/>
          <a:p/>
        </p:txBody>
      </p:sp>
      <p:sp>
        <p:nvSpPr>
          <p:cNvPr id="31" name="Text 28"/>
          <p:cNvSpPr/>
          <p:nvPr/>
        </p:nvSpPr>
        <p:spPr>
          <a:xfrm>
            <a:off x="1176338" y="2823371"/>
            <a:ext cx="3566208" cy="223838"/>
          </a:xfrm>
          <a:prstGeom prst="rect">
            <a:avLst/>
          </a:prstGeom>
          <a:noFill/>
          <a:ln/>
        </p:spPr>
        <p:txBody>
          <a:bodyPr wrap="square" lIns="25400" tIns="25400" rIns="25400" bIns="25400" rtlCol="0" anchor="t">
            <a:normAutofit/>
          </a:bodyPr>
          <a:lstStyle/>
          <a:p>
            <a:pPr algn="l" indent="0" marL="0">
              <a:lnSpc>
                <a:spcPct val="150000"/>
              </a:lnSpc>
              <a:buNone/>
            </a:pPr>
            <a:r>
              <a:rPr lang="en-US" sz="975" spc="117" kern="0" dirty="0">
                <a:solidFill>
                  <a:srgbClr val="6E7785"/>
                </a:solidFill>
                <a:latin typeface="Courier New" pitchFamily="34" charset="0"/>
                <a:ea typeface="Courier New" pitchFamily="34" charset="-122"/>
                <a:cs typeface="Courier New" pitchFamily="34" charset="-120"/>
              </a:rPr>
              <a:t>AUDIENCE 01</a:t>
            </a:r>
            <a:endParaRPr lang="en-US" sz="975" dirty="0"/>
          </a:p>
        </p:txBody>
      </p:sp>
      <p:sp>
        <p:nvSpPr>
          <p:cNvPr id="32" name="Text 29"/>
          <p:cNvSpPr/>
          <p:nvPr/>
        </p:nvSpPr>
        <p:spPr>
          <a:xfrm>
            <a:off x="1176338" y="3123408"/>
            <a:ext cx="3566208" cy="295275"/>
          </a:xfrm>
          <a:prstGeom prst="rect">
            <a:avLst/>
          </a:prstGeom>
          <a:noFill/>
          <a:ln/>
        </p:spPr>
        <p:txBody>
          <a:bodyPr wrap="square" lIns="25400" tIns="25400" rIns="25400" bIns="25400" rtlCol="0" anchor="t">
            <a:normAutofit/>
          </a:bodyPr>
          <a:lstStyle/>
          <a:p>
            <a:pPr algn="l" indent="0" marL="0">
              <a:lnSpc>
                <a:spcPct val="150000"/>
              </a:lnSpc>
              <a:buNone/>
            </a:pPr>
            <a:r>
              <a:rPr lang="en-US" sz="1350" b="1" spc="-7" kern="0" dirty="0">
                <a:solidFill>
                  <a:srgbClr val="5B47F0"/>
                </a:solidFill>
                <a:latin typeface="Arial" pitchFamily="34" charset="0"/>
                <a:ea typeface="Arial" pitchFamily="34" charset="-122"/>
                <a:cs typeface="Arial" pitchFamily="34" charset="-120"/>
              </a:rPr>
              <a:t>r/cursor · r/ClaudeAI · X</a:t>
            </a:r>
            <a:endParaRPr lang="en-US" sz="1350" dirty="0"/>
          </a:p>
        </p:txBody>
      </p:sp>
      <p:sp>
        <p:nvSpPr>
          <p:cNvPr id="33" name="Text 30"/>
          <p:cNvSpPr/>
          <p:nvPr/>
        </p:nvSpPr>
        <p:spPr>
          <a:xfrm>
            <a:off x="1176338" y="3494883"/>
            <a:ext cx="3566208" cy="322883"/>
          </a:xfrm>
          <a:prstGeom prst="rect">
            <a:avLst/>
          </a:prstGeom>
          <a:noFill/>
          <a:ln/>
        </p:spPr>
        <p:txBody>
          <a:bodyPr wrap="square" lIns="25400" tIns="25400" rIns="25400" bIns="25400" rtlCol="0" anchor="t">
            <a:normAutofit/>
          </a:bodyPr>
          <a:lstStyle/>
          <a:p>
            <a:pPr algn="l" indent="0" marL="0">
              <a:lnSpc>
                <a:spcPct val="115000"/>
              </a:lnSpc>
              <a:buNone/>
            </a:pPr>
            <a:r>
              <a:rPr lang="en-US" sz="1950" b="1" spc="-39" kern="0" dirty="0">
                <a:solidFill>
                  <a:srgbClr val="0F1419"/>
                </a:solidFill>
                <a:latin typeface="Arial" pitchFamily="34" charset="0"/>
                <a:ea typeface="Arial" pitchFamily="34" charset="-122"/>
                <a:cs typeface="Arial" pitchFamily="34" charset="-120"/>
              </a:rPr>
              <a:t>AI-tool power users.</a:t>
            </a:r>
            <a:endParaRPr lang="en-US" sz="1950" dirty="0"/>
          </a:p>
        </p:txBody>
      </p:sp>
      <p:sp>
        <p:nvSpPr>
          <p:cNvPr id="34" name="Text 31"/>
          <p:cNvSpPr/>
          <p:nvPr/>
        </p:nvSpPr>
        <p:spPr>
          <a:xfrm>
            <a:off x="1176338" y="3893966"/>
            <a:ext cx="3566208" cy="809625"/>
          </a:xfrm>
          <a:prstGeom prst="rect">
            <a:avLst/>
          </a:prstGeom>
          <a:noFill/>
          <a:ln/>
        </p:spPr>
        <p:txBody>
          <a:bodyPr wrap="square" lIns="25400" tIns="25400" rIns="25400" bIns="25400" rtlCol="0" anchor="t">
            <a:normAutofit/>
          </a:bodyPr>
          <a:lstStyle/>
          <a:p>
            <a:pPr algn="l" indent="0" marL="0">
              <a:lnSpc>
                <a:spcPct val="150000"/>
              </a:lnSpc>
              <a:buNone/>
            </a:pPr>
            <a:r>
              <a:rPr lang="en-US" sz="1350" dirty="0">
                <a:solidFill>
                  <a:srgbClr val="2A3340"/>
                </a:solidFill>
                <a:latin typeface="Arial" pitchFamily="34" charset="0"/>
                <a:ea typeface="Arial" pitchFamily="34" charset="-122"/>
                <a:cs typeface="Arial" pitchFamily="34" charset="-120"/>
              </a:rPr>
              <a:t>Reach via build-in-public threads, weekly MRR posts, AI_CONTEXT.md handoff demos. Free Sandbox signup → upgrade at user-#15. Organic-led. CAC £0–40.</a:t>
            </a:r>
            <a:endParaRPr lang="en-US" sz="1350" dirty="0"/>
          </a:p>
        </p:txBody>
      </p:sp>
      <p:sp>
        <p:nvSpPr>
          <p:cNvPr id="35" name="Shape 32"/>
          <p:cNvSpPr/>
          <p:nvPr/>
        </p:nvSpPr>
        <p:spPr>
          <a:xfrm>
            <a:off x="5072063" y="2561433"/>
            <a:ext cx="3986213" cy="2623170"/>
          </a:xfrm>
          <a:prstGeom prst="roundRect">
            <a:avLst>
              <a:gd name="adj" fmla="val 5084"/>
            </a:avLst>
          </a:prstGeom>
          <a:solidFill>
            <a:srgbClr val="6E5BF5"/>
          </a:solidFill>
          <a:ln/>
          <a:effectLst>
            <a:outerShdw sx="100000" sy="100000" kx="0" ky="0" algn="bl" rotWithShape="0" blurRad="133350" dist="38100" dir="5400000">
              <a:srgbClr val="5B47F0">
                <a:alpha val="35000"/>
              </a:srgbClr>
            </a:outerShdw>
          </a:effectLst>
        </p:spPr>
        <p:txBody>
          <a:bodyPr/>
          <a:p/>
        </p:txBody>
      </p:sp>
      <p:sp>
        <p:nvSpPr>
          <p:cNvPr id="36" name="Text 33"/>
          <p:cNvSpPr/>
          <p:nvPr/>
        </p:nvSpPr>
        <p:spPr>
          <a:xfrm>
            <a:off x="5334000" y="2823371"/>
            <a:ext cx="3566208" cy="223838"/>
          </a:xfrm>
          <a:prstGeom prst="rect">
            <a:avLst/>
          </a:prstGeom>
          <a:noFill/>
          <a:ln/>
        </p:spPr>
        <p:txBody>
          <a:bodyPr wrap="square" lIns="25400" tIns="25400" rIns="25400" bIns="25400" rtlCol="0" anchor="t">
            <a:normAutofit/>
          </a:bodyPr>
          <a:lstStyle/>
          <a:p>
            <a:pPr algn="l" indent="0" marL="0">
              <a:lnSpc>
                <a:spcPct val="150000"/>
              </a:lnSpc>
              <a:buNone/>
            </a:pPr>
            <a:r>
              <a:rPr lang="en-US" sz="975" spc="117" kern="0" dirty="0">
                <a:solidFill>
                  <a:srgbClr val="FFFFFF">
                    <a:alpha val="70000"/>
                  </a:srgbClr>
                </a:solidFill>
                <a:latin typeface="Courier New" pitchFamily="34" charset="0"/>
                <a:ea typeface="Courier New" pitchFamily="34" charset="-122"/>
                <a:cs typeface="Courier New" pitchFamily="34" charset="-120"/>
              </a:rPr>
              <a:t>AUDIENCE 02</a:t>
            </a:r>
            <a:endParaRPr lang="en-US" sz="975" dirty="0"/>
          </a:p>
        </p:txBody>
      </p:sp>
      <p:sp>
        <p:nvSpPr>
          <p:cNvPr id="37" name="Text 34"/>
          <p:cNvSpPr/>
          <p:nvPr/>
        </p:nvSpPr>
        <p:spPr>
          <a:xfrm>
            <a:off x="5334000" y="3123408"/>
            <a:ext cx="3566208" cy="295275"/>
          </a:xfrm>
          <a:prstGeom prst="rect">
            <a:avLst/>
          </a:prstGeom>
          <a:noFill/>
          <a:ln/>
        </p:spPr>
        <p:txBody>
          <a:bodyPr wrap="square" lIns="25400" tIns="25400" rIns="25400" bIns="25400" rtlCol="0" anchor="t">
            <a:normAutofit/>
          </a:bodyPr>
          <a:lstStyle/>
          <a:p>
            <a:pPr algn="l" indent="0" marL="0">
              <a:lnSpc>
                <a:spcPct val="150000"/>
              </a:lnSpc>
              <a:buNone/>
            </a:pPr>
            <a:r>
              <a:rPr lang="en-US" sz="1350" b="1" spc="-7" kern="0" dirty="0">
                <a:solidFill>
                  <a:srgbClr val="FFFFFF"/>
                </a:solidFill>
                <a:latin typeface="Arial" pitchFamily="34" charset="0"/>
                <a:ea typeface="Arial" pitchFamily="34" charset="-122"/>
                <a:cs typeface="Arial" pitchFamily="34" charset="-120"/>
              </a:rPr>
              <a:t>YouTube · creator network</a:t>
            </a:r>
            <a:endParaRPr lang="en-US" sz="1350" dirty="0"/>
          </a:p>
        </p:txBody>
      </p:sp>
      <p:sp>
        <p:nvSpPr>
          <p:cNvPr id="38" name="Text 35"/>
          <p:cNvSpPr/>
          <p:nvPr/>
        </p:nvSpPr>
        <p:spPr>
          <a:xfrm>
            <a:off x="5334000" y="3494883"/>
            <a:ext cx="3566208" cy="322883"/>
          </a:xfrm>
          <a:prstGeom prst="rect">
            <a:avLst/>
          </a:prstGeom>
          <a:noFill/>
          <a:ln/>
        </p:spPr>
        <p:txBody>
          <a:bodyPr wrap="square" lIns="25400" tIns="25400" rIns="25400" bIns="25400" rtlCol="0" anchor="t">
            <a:normAutofit/>
          </a:bodyPr>
          <a:lstStyle/>
          <a:p>
            <a:pPr algn="l" indent="0" marL="0">
              <a:lnSpc>
                <a:spcPct val="115000"/>
              </a:lnSpc>
              <a:buNone/>
            </a:pPr>
            <a:r>
              <a:rPr lang="en-US" sz="1950" b="1" spc="-39" kern="0" dirty="0">
                <a:solidFill>
                  <a:srgbClr val="FFFFFF"/>
                </a:solidFill>
                <a:latin typeface="Arial" pitchFamily="34" charset="0"/>
                <a:ea typeface="Arial" pitchFamily="34" charset="-122"/>
                <a:cs typeface="Arial" pitchFamily="34" charset="-120"/>
              </a:rPr>
              <a:t>Creator-adjacent founders.</a:t>
            </a:r>
            <a:endParaRPr lang="en-US" sz="1950" dirty="0"/>
          </a:p>
        </p:txBody>
      </p:sp>
      <p:sp>
        <p:nvSpPr>
          <p:cNvPr id="39" name="Text 36"/>
          <p:cNvSpPr/>
          <p:nvPr/>
        </p:nvSpPr>
        <p:spPr>
          <a:xfrm>
            <a:off x="5334000" y="3893966"/>
            <a:ext cx="3566208" cy="1066800"/>
          </a:xfrm>
          <a:prstGeom prst="rect">
            <a:avLst/>
          </a:prstGeom>
          <a:noFill/>
          <a:ln/>
        </p:spPr>
        <p:txBody>
          <a:bodyPr wrap="square" lIns="25400" tIns="25400" rIns="25400" bIns="25400" rtlCol="0" anchor="t">
            <a:normAutofit/>
          </a:bodyPr>
          <a:lstStyle/>
          <a:p>
            <a:pPr algn="l" indent="0" marL="0">
              <a:lnSpc>
                <a:spcPct val="150000"/>
              </a:lnSpc>
              <a:buNone/>
            </a:pPr>
            <a:r>
              <a:rPr lang="en-US" sz="1350" dirty="0">
                <a:solidFill>
                  <a:srgbClr val="FFFFFF">
                    <a:alpha val="85000"/>
                  </a:srgbClr>
                </a:solidFill>
                <a:latin typeface="Arial" pitchFamily="34" charset="0"/>
                <a:ea typeface="Arial" pitchFamily="34" charset="-122"/>
                <a:cs typeface="Arial" pitchFamily="34" charset="-120"/>
              </a:rPr>
              <a:t>Theo, Fireship-adjacents, vibe-coding YouTubers. 60-second sandbox provision demos sponsored. Promo codes → 90-day Launch credit. CAC £80–140.</a:t>
            </a:r>
            <a:endParaRPr lang="en-US" sz="1350" dirty="0"/>
          </a:p>
        </p:txBody>
      </p:sp>
      <p:sp>
        <p:nvSpPr>
          <p:cNvPr id="40" name="Shape 37"/>
          <p:cNvSpPr/>
          <p:nvPr/>
        </p:nvSpPr>
        <p:spPr>
          <a:xfrm>
            <a:off x="9229725" y="2561433"/>
            <a:ext cx="3986213" cy="2623170"/>
          </a:xfrm>
          <a:prstGeom prst="roundRect">
            <a:avLst>
              <a:gd name="adj" fmla="val 5084"/>
            </a:avLst>
          </a:prstGeom>
          <a:solidFill>
            <a:srgbClr val="6E5BF5"/>
          </a:solidFill>
          <a:ln/>
          <a:effectLst>
            <a:outerShdw sx="100000" sy="100000" kx="0" ky="0" algn="bl" rotWithShape="0" blurRad="133350" dist="38100" dir="5400000">
              <a:srgbClr val="5B47F0">
                <a:alpha val="35000"/>
              </a:srgbClr>
            </a:outerShdw>
          </a:effectLst>
        </p:spPr>
        <p:txBody>
          <a:bodyPr/>
          <a:p/>
        </p:txBody>
      </p:sp>
      <p:sp>
        <p:nvSpPr>
          <p:cNvPr id="41" name="Text 38"/>
          <p:cNvSpPr/>
          <p:nvPr/>
        </p:nvSpPr>
        <p:spPr>
          <a:xfrm>
            <a:off x="9491663" y="2823371"/>
            <a:ext cx="3566208" cy="223838"/>
          </a:xfrm>
          <a:prstGeom prst="rect">
            <a:avLst/>
          </a:prstGeom>
          <a:noFill/>
          <a:ln/>
        </p:spPr>
        <p:txBody>
          <a:bodyPr wrap="square" lIns="25400" tIns="25400" rIns="25400" bIns="25400" rtlCol="0" anchor="t">
            <a:normAutofit/>
          </a:bodyPr>
          <a:lstStyle/>
          <a:p>
            <a:pPr algn="l" indent="0" marL="0">
              <a:lnSpc>
                <a:spcPct val="150000"/>
              </a:lnSpc>
              <a:buNone/>
            </a:pPr>
            <a:r>
              <a:rPr lang="en-US" sz="975" spc="117" kern="0" dirty="0">
                <a:solidFill>
                  <a:srgbClr val="FFFFFF">
                    <a:alpha val="70000"/>
                  </a:srgbClr>
                </a:solidFill>
                <a:latin typeface="Courier New" pitchFamily="34" charset="0"/>
                <a:ea typeface="Courier New" pitchFamily="34" charset="-122"/>
                <a:cs typeface="Courier New" pitchFamily="34" charset="-120"/>
              </a:rPr>
              <a:t>AUDIENCE 03</a:t>
            </a:r>
            <a:endParaRPr lang="en-US" sz="975" dirty="0"/>
          </a:p>
        </p:txBody>
      </p:sp>
      <p:sp>
        <p:nvSpPr>
          <p:cNvPr id="42" name="Text 39"/>
          <p:cNvSpPr/>
          <p:nvPr/>
        </p:nvSpPr>
        <p:spPr>
          <a:xfrm>
            <a:off x="9491663" y="3123408"/>
            <a:ext cx="3566208" cy="295275"/>
          </a:xfrm>
          <a:prstGeom prst="rect">
            <a:avLst/>
          </a:prstGeom>
          <a:noFill/>
          <a:ln/>
        </p:spPr>
        <p:txBody>
          <a:bodyPr wrap="square" lIns="25400" tIns="25400" rIns="25400" bIns="25400" rtlCol="0" anchor="t">
            <a:normAutofit/>
          </a:bodyPr>
          <a:lstStyle/>
          <a:p>
            <a:pPr algn="l" indent="0" marL="0">
              <a:lnSpc>
                <a:spcPct val="150000"/>
              </a:lnSpc>
              <a:buNone/>
            </a:pPr>
            <a:r>
              <a:rPr lang="en-US" sz="1350" b="1" spc="-7" kern="0" dirty="0">
                <a:solidFill>
                  <a:srgbClr val="FFFFFF"/>
                </a:solidFill>
                <a:latin typeface="Arial" pitchFamily="34" charset="0"/>
                <a:ea typeface="Arial" pitchFamily="34" charset="-122"/>
                <a:cs typeface="Arial" pitchFamily="34" charset="-120"/>
              </a:rPr>
              <a:t>Product Hunt · TLDR · Hacker NL</a:t>
            </a:r>
            <a:endParaRPr lang="en-US" sz="1350" dirty="0"/>
          </a:p>
        </p:txBody>
      </p:sp>
      <p:sp>
        <p:nvSpPr>
          <p:cNvPr id="43" name="Text 40"/>
          <p:cNvSpPr/>
          <p:nvPr/>
        </p:nvSpPr>
        <p:spPr>
          <a:xfrm>
            <a:off x="9491663" y="3494883"/>
            <a:ext cx="3566208" cy="322883"/>
          </a:xfrm>
          <a:prstGeom prst="rect">
            <a:avLst/>
          </a:prstGeom>
          <a:noFill/>
          <a:ln/>
        </p:spPr>
        <p:txBody>
          <a:bodyPr wrap="square" lIns="25400" tIns="25400" rIns="25400" bIns="25400" rtlCol="0" anchor="t">
            <a:normAutofit/>
          </a:bodyPr>
          <a:lstStyle/>
          <a:p>
            <a:pPr algn="l" indent="0" marL="0">
              <a:lnSpc>
                <a:spcPct val="115000"/>
              </a:lnSpc>
              <a:buNone/>
            </a:pPr>
            <a:r>
              <a:rPr lang="en-US" sz="1950" b="1" spc="-39" kern="0" dirty="0">
                <a:solidFill>
                  <a:srgbClr val="FFFFFF"/>
                </a:solidFill>
                <a:latin typeface="Arial" pitchFamily="34" charset="0"/>
                <a:ea typeface="Arial" pitchFamily="34" charset="-122"/>
                <a:cs typeface="Arial" pitchFamily="34" charset="-120"/>
              </a:rPr>
              <a:t>Indie SaaS launchers.</a:t>
            </a:r>
            <a:endParaRPr lang="en-US" sz="1950" dirty="0"/>
          </a:p>
        </p:txBody>
      </p:sp>
      <p:sp>
        <p:nvSpPr>
          <p:cNvPr id="44" name="Text 41"/>
          <p:cNvSpPr/>
          <p:nvPr/>
        </p:nvSpPr>
        <p:spPr>
          <a:xfrm>
            <a:off x="9491663" y="3893966"/>
            <a:ext cx="3566208" cy="809625"/>
          </a:xfrm>
          <a:prstGeom prst="rect">
            <a:avLst/>
          </a:prstGeom>
          <a:noFill/>
          <a:ln/>
        </p:spPr>
        <p:txBody>
          <a:bodyPr wrap="square" lIns="25400" tIns="25400" rIns="25400" bIns="25400" rtlCol="0" anchor="t">
            <a:normAutofit/>
          </a:bodyPr>
          <a:lstStyle/>
          <a:p>
            <a:pPr algn="l" indent="0" marL="0">
              <a:lnSpc>
                <a:spcPct val="150000"/>
              </a:lnSpc>
              <a:buNone/>
            </a:pPr>
            <a:r>
              <a:rPr lang="en-US" sz="1350" dirty="0">
                <a:solidFill>
                  <a:srgbClr val="FFFFFF">
                    <a:alpha val="85000"/>
                  </a:srgbClr>
                </a:solidFill>
                <a:latin typeface="Arial" pitchFamily="34" charset="0"/>
                <a:ea typeface="Arial" pitchFamily="34" charset="-122"/>
                <a:cs typeface="Arial" pitchFamily="34" charset="-120"/>
              </a:rPr>
              <a:t>Coordinated PH launch + newsletter sponsorships at peak hype. Direct-to-signup with UTM attribution. 60s wow factor gates conversion. CAC £40–120.</a:t>
            </a:r>
            <a:endParaRPr lang="en-US" sz="1350" dirty="0"/>
          </a:p>
        </p:txBody>
      </p:sp>
      <p:sp>
        <p:nvSpPr>
          <p:cNvPr id="45" name="Shape 42"/>
          <p:cNvSpPr/>
          <p:nvPr/>
        </p:nvSpPr>
        <p:spPr>
          <a:xfrm>
            <a:off x="13387388" y="2561433"/>
            <a:ext cx="3986213" cy="2623170"/>
          </a:xfrm>
          <a:prstGeom prst="roundRect">
            <a:avLst>
              <a:gd name="adj" fmla="val 5084"/>
            </a:avLst>
          </a:prstGeom>
          <a:solidFill>
            <a:srgbClr val="161D2A"/>
          </a:solidFill>
          <a:ln w="14288">
            <a:solidFill>
              <a:srgbClr val="232C3D"/>
            </a:solidFill>
            <a:prstDash val="solid"/>
          </a:ln>
          <a:effectLst>
            <a:outerShdw sx="100000" sy="100000" kx="0" ky="0" algn="bl" rotWithShape="0" blurRad="133350" dist="38100" dir="5400000">
              <a:srgbClr val="000000">
                <a:alpha val="25000"/>
              </a:srgbClr>
            </a:outerShdw>
          </a:effectLst>
        </p:spPr>
        <p:txBody>
          <a:bodyPr/>
          <a:p/>
        </p:txBody>
      </p:sp>
      <p:sp>
        <p:nvSpPr>
          <p:cNvPr id="46" name="Text 43"/>
          <p:cNvSpPr/>
          <p:nvPr/>
        </p:nvSpPr>
        <p:spPr>
          <a:xfrm>
            <a:off x="13649325" y="2823371"/>
            <a:ext cx="3566208" cy="223838"/>
          </a:xfrm>
          <a:prstGeom prst="rect">
            <a:avLst/>
          </a:prstGeom>
          <a:noFill/>
          <a:ln/>
        </p:spPr>
        <p:txBody>
          <a:bodyPr wrap="square" lIns="25400" tIns="25400" rIns="25400" bIns="25400" rtlCol="0" anchor="t">
            <a:normAutofit/>
          </a:bodyPr>
          <a:lstStyle/>
          <a:p>
            <a:pPr algn="l" indent="0" marL="0">
              <a:lnSpc>
                <a:spcPct val="150000"/>
              </a:lnSpc>
              <a:buNone/>
            </a:pPr>
            <a:r>
              <a:rPr lang="en-US" sz="975" spc="117" kern="0" dirty="0">
                <a:solidFill>
                  <a:srgbClr val="F7FAFC">
                    <a:alpha val="55000"/>
                  </a:srgbClr>
                </a:solidFill>
                <a:latin typeface="Courier New" pitchFamily="34" charset="0"/>
                <a:ea typeface="Courier New" pitchFamily="34" charset="-122"/>
                <a:cs typeface="Courier New" pitchFamily="34" charset="-120"/>
              </a:rPr>
              <a:t>AUDIENCE 04</a:t>
            </a:r>
            <a:endParaRPr lang="en-US" sz="975" dirty="0"/>
          </a:p>
        </p:txBody>
      </p:sp>
      <p:sp>
        <p:nvSpPr>
          <p:cNvPr id="47" name="Text 44"/>
          <p:cNvSpPr/>
          <p:nvPr/>
        </p:nvSpPr>
        <p:spPr>
          <a:xfrm>
            <a:off x="13649325" y="3123408"/>
            <a:ext cx="3566208" cy="295275"/>
          </a:xfrm>
          <a:prstGeom prst="rect">
            <a:avLst/>
          </a:prstGeom>
          <a:noFill/>
          <a:ln/>
        </p:spPr>
        <p:txBody>
          <a:bodyPr wrap="square" lIns="25400" tIns="25400" rIns="25400" bIns="25400" rtlCol="0" anchor="t">
            <a:normAutofit/>
          </a:bodyPr>
          <a:lstStyle/>
          <a:p>
            <a:pPr algn="l" indent="0" marL="0">
              <a:lnSpc>
                <a:spcPct val="150000"/>
              </a:lnSpc>
              <a:buNone/>
            </a:pPr>
            <a:r>
              <a:rPr lang="en-US" sz="1350" b="1" spc="-7" kern="0" dirty="0">
                <a:solidFill>
                  <a:srgbClr val="C8C0F8"/>
                </a:solidFill>
                <a:latin typeface="Arial" pitchFamily="34" charset="0"/>
                <a:ea typeface="Arial" pitchFamily="34" charset="-122"/>
                <a:cs typeface="Arial" pitchFamily="34" charset="-120"/>
              </a:rPr>
              <a:t>Anthropic · Cursor · Lovable · Bolt</a:t>
            </a:r>
            <a:endParaRPr lang="en-US" sz="1350" dirty="0"/>
          </a:p>
        </p:txBody>
      </p:sp>
      <p:sp>
        <p:nvSpPr>
          <p:cNvPr id="48" name="Text 45"/>
          <p:cNvSpPr/>
          <p:nvPr/>
        </p:nvSpPr>
        <p:spPr>
          <a:xfrm>
            <a:off x="13649325" y="3494883"/>
            <a:ext cx="3566208" cy="322883"/>
          </a:xfrm>
          <a:prstGeom prst="rect">
            <a:avLst/>
          </a:prstGeom>
          <a:noFill/>
          <a:ln/>
        </p:spPr>
        <p:txBody>
          <a:bodyPr wrap="square" lIns="25400" tIns="25400" rIns="25400" bIns="25400" rtlCol="0" anchor="t">
            <a:normAutofit/>
          </a:bodyPr>
          <a:lstStyle/>
          <a:p>
            <a:pPr algn="l" indent="0" marL="0">
              <a:lnSpc>
                <a:spcPct val="115000"/>
              </a:lnSpc>
              <a:buNone/>
            </a:pPr>
            <a:r>
              <a:rPr lang="en-US" sz="1950" b="1" spc="-39" kern="0" dirty="0">
                <a:solidFill>
                  <a:srgbClr val="F7FAFC"/>
                </a:solidFill>
                <a:latin typeface="Arial" pitchFamily="34" charset="0"/>
                <a:ea typeface="Arial" pitchFamily="34" charset="-122"/>
                <a:cs typeface="Arial" pitchFamily="34" charset="-120"/>
              </a:rPr>
              <a:t>AI-tool partners.</a:t>
            </a:r>
            <a:endParaRPr lang="en-US" sz="1950" dirty="0"/>
          </a:p>
        </p:txBody>
      </p:sp>
      <p:sp>
        <p:nvSpPr>
          <p:cNvPr id="49" name="Text 46"/>
          <p:cNvSpPr/>
          <p:nvPr/>
        </p:nvSpPr>
        <p:spPr>
          <a:xfrm>
            <a:off x="13649325" y="3893966"/>
            <a:ext cx="3566208" cy="809625"/>
          </a:xfrm>
          <a:prstGeom prst="rect">
            <a:avLst/>
          </a:prstGeom>
          <a:noFill/>
          <a:ln/>
        </p:spPr>
        <p:txBody>
          <a:bodyPr wrap="square" lIns="25400" tIns="25400" rIns="25400" bIns="25400" rtlCol="0" anchor="t">
            <a:normAutofit/>
          </a:bodyPr>
          <a:lstStyle/>
          <a:p>
            <a:pPr algn="l" indent="0" marL="0">
              <a:lnSpc>
                <a:spcPct val="150000"/>
              </a:lnSpc>
              <a:buNone/>
            </a:pPr>
            <a:r>
              <a:rPr lang="en-US" sz="1350" dirty="0">
                <a:solidFill>
                  <a:srgbClr val="F7FAFC">
                    <a:alpha val="78000"/>
                  </a:srgbClr>
                </a:solidFill>
                <a:latin typeface="Arial" pitchFamily="34" charset="0"/>
                <a:ea typeface="Arial" pitchFamily="34" charset="-122"/>
                <a:cs typeface="Arial" pitchFamily="34" charset="-120"/>
              </a:rPr>
              <a:t>Co-marketing on integration listings. "Deploy your prototype to production" positioning. Doubles as acquirer signaling for the M12–18 exit window. CAC £0 (rev-share).</a:t>
            </a:r>
            <a:endParaRPr lang="en-US" sz="1350" dirty="0"/>
          </a:p>
        </p:txBody>
      </p:sp>
      <p:sp>
        <p:nvSpPr>
          <p:cNvPr id="50" name="Text 47"/>
          <p:cNvSpPr/>
          <p:nvPr/>
        </p:nvSpPr>
        <p:spPr>
          <a:xfrm>
            <a:off x="914400" y="8945835"/>
            <a:ext cx="16952976" cy="397148"/>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0F1419"/>
                </a:solidFill>
                <a:latin typeface="Arial" pitchFamily="34" charset="0"/>
                <a:ea typeface="Arial" pitchFamily="34" charset="-122"/>
                <a:cs typeface="Arial" pitchFamily="34" charset="-120"/>
              </a:rPr>
              <a:t>Total Y1 paid spend ≈ £420K (60% of raise). Blended LTV £520. CAC ceiling £175 at 3:1. Channels safely under ceiling.</a:t>
            </a:r>
            <a:pPr algn="l" indent="0" marL="0">
              <a:lnSpc>
                <a:spcPct val="145000"/>
              </a:lnSpc>
              <a:buNone/>
            </a:pPr>
            <a:endParaRPr lang="en-US" sz="1950" dirty="0"/>
          </a:p>
        </p:txBody>
      </p:sp>
      <p:sp>
        <p:nvSpPr>
          <p:cNvPr id="51" name="Shape 48"/>
          <p:cNvSpPr/>
          <p:nvPr/>
        </p:nvSpPr>
        <p:spPr>
          <a:xfrm>
            <a:off x="914400" y="9552533"/>
            <a:ext cx="16459200" cy="9525"/>
          </a:xfrm>
          <a:prstGeom prst="rect">
            <a:avLst/>
          </a:prstGeom>
          <a:solidFill>
            <a:srgbClr val="DDE5EC"/>
          </a:solidFill>
          <a:ln/>
        </p:spPr>
      </p:sp>
      <p:sp>
        <p:nvSpPr>
          <p:cNvPr id="52" name="Text 49"/>
          <p:cNvSpPr/>
          <p:nvPr/>
        </p:nvSpPr>
        <p:spPr>
          <a:xfrm>
            <a:off x="914400" y="9797802"/>
            <a:ext cx="4533256"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113" kern="0" dirty="0">
                <a:solidFill>
                  <a:srgbClr val="6E7785"/>
                </a:solidFill>
                <a:latin typeface="Courier New" pitchFamily="34" charset="0"/>
                <a:ea typeface="Courier New" pitchFamily="34" charset="-122"/>
                <a:cs typeface="Courier New" pitchFamily="34" charset="-120"/>
              </a:rPr>
              <a:t>HATCHIK · INVESTOR &amp; PARTNER DECK · MAY 2026</a:t>
            </a:r>
            <a:endParaRPr lang="en-US" sz="1125" dirty="0"/>
          </a:p>
        </p:txBody>
      </p:sp>
      <p:sp>
        <p:nvSpPr>
          <p:cNvPr id="53" name="Text 50"/>
          <p:cNvSpPr/>
          <p:nvPr/>
        </p:nvSpPr>
        <p:spPr>
          <a:xfrm>
            <a:off x="16690851" y="9790658"/>
            <a:ext cx="758949"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spc="48" kern="0" dirty="0">
                <a:solidFill>
                  <a:srgbClr val="0F1419"/>
                </a:solidFill>
                <a:latin typeface="Courier New" pitchFamily="34" charset="0"/>
                <a:ea typeface="Courier New" pitchFamily="34" charset="-122"/>
                <a:cs typeface="Courier New" pitchFamily="34" charset="-120"/>
              </a:rPr>
              <a:t>13 / 31</a:t>
            </a:r>
            <a:endParaRPr lang="en-US" sz="1200" dirty="0"/>
          </a:p>
        </p:txBody>
      </p:sp>
      <p:sp>
        <p:nvSpPr>
          <p:cNvPr id="9000" name="cadCard"/>
          <p:cNvSpPr/>
          <p:nvPr/>
        </p:nvSpPr>
        <p:spPr>
          <a:xfrm>
            <a:off x="914400" y="6217920"/>
            <a:ext cx="3986784" cy="1600200"/>
          </a:xfrm>
          <a:prstGeom prst="roundRect">
            <a:avLst>
              <a:gd name="adj" fmla="val 4500"/>
            </a:avLst>
          </a:prstGeom>
          <a:solidFill>
            <a:srgbClr val="EEF2F7"/>
          </a:solidFill>
          <a:ln w="14288">
            <a:solidFill>
              <a:srgbClr val="DDE5EC"/>
            </a:solidFill>
          </a:ln>
        </p:spPr>
        <p:txBody>
          <a:bodyPr wrap="square"/>
          <a:lstStyle/>
          <a:p/>
        </p:txBody>
      </p:sp>
      <p:sp>
        <p:nvSpPr>
          <p:cNvPr id="9100" name="cadText"/>
          <p:cNvSpPr txBox="1"/>
          <p:nvPr/>
        </p:nvSpPr>
        <p:spPr>
          <a:xfrm>
            <a:off x="1143000" y="6400800"/>
            <a:ext cx="3529584" cy="274320"/>
          </a:xfrm>
          <a:prstGeom prst="rect">
            <a:avLst/>
          </a:prstGeom>
          <a:noFill/>
        </p:spPr>
        <p:txBody>
          <a:bodyPr wrap="square" lIns="0" tIns="0" rIns="0" bIns="0"/>
          <a:lstStyle/>
          <a:p>
            <a:r>
              <a:rPr lang="en-US" sz="900" spc="200">
                <a:solidFill>
                  <a:srgbClr val="6E7785"/>
                </a:solidFill>
                <a:latin typeface="Courier New"/>
              </a:rPr>
              <a:t>M0 – M2</a:t>
            </a:r>
          </a:p>
        </p:txBody>
      </p:sp>
      <p:sp>
        <p:nvSpPr>
          <p:cNvPr id="9100" name="cadText"/>
          <p:cNvSpPr txBox="1"/>
          <p:nvPr/>
        </p:nvSpPr>
        <p:spPr>
          <a:xfrm>
            <a:off x="1143000" y="6720840"/>
            <a:ext cx="3529584" cy="365760"/>
          </a:xfrm>
          <a:prstGeom prst="rect">
            <a:avLst/>
          </a:prstGeom>
          <a:noFill/>
        </p:spPr>
        <p:txBody>
          <a:bodyPr wrap="square" lIns="0" tIns="0" rIns="0" bIns="0"/>
          <a:lstStyle/>
          <a:p>
            <a:r>
              <a:rPr lang="en-US" sz="1400" b="1">
                <a:solidFill>
                  <a:srgbClr val="0F1419"/>
                </a:solidFill>
                <a:latin typeface="Arial"/>
              </a:rPr>
              <a:t>Founder beta</a:t>
            </a:r>
          </a:p>
        </p:txBody>
      </p:sp>
      <p:sp>
        <p:nvSpPr>
          <p:cNvPr id="9100" name="cadText"/>
          <p:cNvSpPr txBox="1"/>
          <p:nvPr/>
        </p:nvSpPr>
        <p:spPr>
          <a:xfrm>
            <a:off x="1143000" y="7132320"/>
            <a:ext cx="3529584" cy="594360"/>
          </a:xfrm>
          <a:prstGeom prst="rect">
            <a:avLst/>
          </a:prstGeom>
          <a:noFill/>
        </p:spPr>
        <p:txBody>
          <a:bodyPr wrap="square" lIns="0" tIns="0" rIns="0" bIns="0"/>
          <a:lstStyle/>
          <a:p>
            <a:r>
              <a:rPr lang="en-US" sz="1000">
                <a:solidFill>
                  <a:srgbClr val="2A3340"/>
                </a:solidFill>
                <a:latin typeface="Arial"/>
              </a:rPr>
              <a:t>100 friendly users. Pricing tested on first 50 paying. £0 paid spend.</a:t>
            </a:r>
          </a:p>
        </p:txBody>
      </p:sp>
      <p:sp>
        <p:nvSpPr>
          <p:cNvPr id="9000" name="cadCard"/>
          <p:cNvSpPr/>
          <p:nvPr/>
        </p:nvSpPr>
        <p:spPr>
          <a:xfrm>
            <a:off x="5084064" y="6217920"/>
            <a:ext cx="3986784" cy="1600200"/>
          </a:xfrm>
          <a:prstGeom prst="roundRect">
            <a:avLst>
              <a:gd name="adj" fmla="val 4500"/>
            </a:avLst>
          </a:prstGeom>
          <a:solidFill>
            <a:srgbClr val="6E5BF5"/>
          </a:solidFill>
          <a:ln w="14288">
            <a:solidFill>
              <a:srgbClr val="DDE5EC"/>
            </a:solidFill>
          </a:ln>
        </p:spPr>
        <p:txBody>
          <a:bodyPr wrap="square"/>
          <a:lstStyle/>
          <a:p/>
        </p:txBody>
      </p:sp>
      <p:sp>
        <p:nvSpPr>
          <p:cNvPr id="9100" name="cadText"/>
          <p:cNvSpPr txBox="1"/>
          <p:nvPr/>
        </p:nvSpPr>
        <p:spPr>
          <a:xfrm>
            <a:off x="5312664" y="6400800"/>
            <a:ext cx="3529584" cy="274320"/>
          </a:xfrm>
          <a:prstGeom prst="rect">
            <a:avLst/>
          </a:prstGeom>
          <a:noFill/>
        </p:spPr>
        <p:txBody>
          <a:bodyPr wrap="square" lIns="0" tIns="0" rIns="0" bIns="0"/>
          <a:lstStyle/>
          <a:p>
            <a:r>
              <a:rPr lang="en-US" sz="900" spc="200">
                <a:solidFill>
                  <a:srgbClr val="F7FAFC"/>
                </a:solidFill>
                <a:latin typeface="Courier New"/>
              </a:rPr>
              <a:t>M2 – M4</a:t>
            </a:r>
          </a:p>
        </p:txBody>
      </p:sp>
      <p:sp>
        <p:nvSpPr>
          <p:cNvPr id="9100" name="cadText"/>
          <p:cNvSpPr txBox="1"/>
          <p:nvPr/>
        </p:nvSpPr>
        <p:spPr>
          <a:xfrm>
            <a:off x="5312664" y="6720840"/>
            <a:ext cx="3529584" cy="365760"/>
          </a:xfrm>
          <a:prstGeom prst="rect">
            <a:avLst/>
          </a:prstGeom>
          <a:noFill/>
        </p:spPr>
        <p:txBody>
          <a:bodyPr wrap="square" lIns="0" tIns="0" rIns="0" bIns="0"/>
          <a:lstStyle/>
          <a:p>
            <a:r>
              <a:rPr lang="en-US" sz="1400" b="1">
                <a:solidFill>
                  <a:srgbClr val="FFFFFF"/>
                </a:solidFill>
                <a:latin typeface="Arial"/>
              </a:rPr>
              <a:t>Hype injection</a:t>
            </a:r>
          </a:p>
        </p:txBody>
      </p:sp>
      <p:sp>
        <p:nvSpPr>
          <p:cNvPr id="9100" name="cadText"/>
          <p:cNvSpPr txBox="1"/>
          <p:nvPr/>
        </p:nvSpPr>
        <p:spPr>
          <a:xfrm>
            <a:off x="5312664" y="7132320"/>
            <a:ext cx="3529584" cy="594360"/>
          </a:xfrm>
          <a:prstGeom prst="rect">
            <a:avLst/>
          </a:prstGeom>
          <a:noFill/>
        </p:spPr>
        <p:txBody>
          <a:bodyPr wrap="square" lIns="0" tIns="0" rIns="0" bIns="0"/>
          <a:lstStyle/>
          <a:p>
            <a:r>
              <a:rPr lang="en-US" sz="1000">
                <a:solidFill>
                  <a:srgbClr val="EEEBFD"/>
                </a:solidFill>
                <a:latin typeface="Arial"/>
              </a:rPr>
              <a:t>PH + Show HN + 5× YouTube creators. Target 5K signups · 250–500 paying. £40K + £15K NL.</a:t>
            </a:r>
          </a:p>
        </p:txBody>
      </p:sp>
      <p:sp>
        <p:nvSpPr>
          <p:cNvPr id="9000" name="cadCard"/>
          <p:cNvSpPr/>
          <p:nvPr/>
        </p:nvSpPr>
        <p:spPr>
          <a:xfrm>
            <a:off x="9253728" y="6217920"/>
            <a:ext cx="3986784" cy="1600200"/>
          </a:xfrm>
          <a:prstGeom prst="roundRect">
            <a:avLst>
              <a:gd name="adj" fmla="val 4500"/>
            </a:avLst>
          </a:prstGeom>
          <a:solidFill>
            <a:srgbClr val="EEF2F7"/>
          </a:solidFill>
          <a:ln w="14288">
            <a:solidFill>
              <a:srgbClr val="DDE5EC"/>
            </a:solidFill>
          </a:ln>
        </p:spPr>
        <p:txBody>
          <a:bodyPr wrap="square"/>
          <a:lstStyle/>
          <a:p/>
        </p:txBody>
      </p:sp>
      <p:sp>
        <p:nvSpPr>
          <p:cNvPr id="9100" name="cadText"/>
          <p:cNvSpPr txBox="1"/>
          <p:nvPr/>
        </p:nvSpPr>
        <p:spPr>
          <a:xfrm>
            <a:off x="9482328" y="6400800"/>
            <a:ext cx="3529584" cy="274320"/>
          </a:xfrm>
          <a:prstGeom prst="rect">
            <a:avLst/>
          </a:prstGeom>
          <a:noFill/>
        </p:spPr>
        <p:txBody>
          <a:bodyPr wrap="square" lIns="0" tIns="0" rIns="0" bIns="0"/>
          <a:lstStyle/>
          <a:p>
            <a:r>
              <a:rPr lang="en-US" sz="900" spc="200">
                <a:solidFill>
                  <a:srgbClr val="6E7785"/>
                </a:solidFill>
                <a:latin typeface="Courier New"/>
              </a:rPr>
              <a:t>M4 – M6</a:t>
            </a:r>
          </a:p>
        </p:txBody>
      </p:sp>
      <p:sp>
        <p:nvSpPr>
          <p:cNvPr id="9100" name="cadText"/>
          <p:cNvSpPr txBox="1"/>
          <p:nvPr/>
        </p:nvSpPr>
        <p:spPr>
          <a:xfrm>
            <a:off x="9482328" y="6720840"/>
            <a:ext cx="3529584" cy="365760"/>
          </a:xfrm>
          <a:prstGeom prst="rect">
            <a:avLst/>
          </a:prstGeom>
          <a:noFill/>
        </p:spPr>
        <p:txBody>
          <a:bodyPr wrap="square" lIns="0" tIns="0" rIns="0" bIns="0"/>
          <a:lstStyle/>
          <a:p>
            <a:r>
              <a:rPr lang="en-US" sz="1400" b="1">
                <a:solidFill>
                  <a:srgbClr val="0F1419"/>
                </a:solidFill>
                <a:latin typeface="Arial"/>
              </a:rPr>
              <a:t>Compound</a:t>
            </a:r>
          </a:p>
        </p:txBody>
      </p:sp>
      <p:sp>
        <p:nvSpPr>
          <p:cNvPr id="9100" name="cadText"/>
          <p:cNvSpPr txBox="1"/>
          <p:nvPr/>
        </p:nvSpPr>
        <p:spPr>
          <a:xfrm>
            <a:off x="9482328" y="7132320"/>
            <a:ext cx="3529584" cy="594360"/>
          </a:xfrm>
          <a:prstGeom prst="rect">
            <a:avLst/>
          </a:prstGeom>
          <a:noFill/>
        </p:spPr>
        <p:txBody>
          <a:bodyPr wrap="square" lIns="0" tIns="0" rIns="0" bIns="0"/>
          <a:lstStyle/>
          <a:p>
            <a:r>
              <a:rPr lang="en-US" sz="1000">
                <a:solidFill>
                  <a:srgbClr val="2A3340"/>
                </a:solidFill>
                <a:latin typeface="Arial"/>
              </a:rPr>
              <a:t>Reddit + X build-in-public + community. Target 15K signups · 1.5–2K paying. £25K + content.</a:t>
            </a:r>
          </a:p>
        </p:txBody>
      </p:sp>
      <p:sp>
        <p:nvSpPr>
          <p:cNvPr id="9000" name="cadCard"/>
          <p:cNvSpPr/>
          <p:nvPr/>
        </p:nvSpPr>
        <p:spPr>
          <a:xfrm>
            <a:off x="13423392" y="6217920"/>
            <a:ext cx="3986784" cy="1600200"/>
          </a:xfrm>
          <a:prstGeom prst="roundRect">
            <a:avLst>
              <a:gd name="adj" fmla="val 4500"/>
            </a:avLst>
          </a:prstGeom>
          <a:solidFill>
            <a:srgbClr val="EEF2F7"/>
          </a:solidFill>
          <a:ln w="14288">
            <a:solidFill>
              <a:srgbClr val="DDE5EC"/>
            </a:solidFill>
          </a:ln>
        </p:spPr>
        <p:txBody>
          <a:bodyPr wrap="square"/>
          <a:lstStyle/>
          <a:p/>
        </p:txBody>
      </p:sp>
      <p:sp>
        <p:nvSpPr>
          <p:cNvPr id="9100" name="cadText"/>
          <p:cNvSpPr txBox="1"/>
          <p:nvPr/>
        </p:nvSpPr>
        <p:spPr>
          <a:xfrm>
            <a:off x="13651992" y="6400800"/>
            <a:ext cx="3529584" cy="274320"/>
          </a:xfrm>
          <a:prstGeom prst="rect">
            <a:avLst/>
          </a:prstGeom>
          <a:noFill/>
        </p:spPr>
        <p:txBody>
          <a:bodyPr wrap="square" lIns="0" tIns="0" rIns="0" bIns="0"/>
          <a:lstStyle/>
          <a:p>
            <a:r>
              <a:rPr lang="en-US" sz="900" spc="200">
                <a:solidFill>
                  <a:srgbClr val="6E7785"/>
                </a:solidFill>
                <a:latin typeface="Courier New"/>
              </a:rPr>
              <a:t>M6 – M15</a:t>
            </a:r>
          </a:p>
        </p:txBody>
      </p:sp>
      <p:sp>
        <p:nvSpPr>
          <p:cNvPr id="9100" name="cadText"/>
          <p:cNvSpPr txBox="1"/>
          <p:nvPr/>
        </p:nvSpPr>
        <p:spPr>
          <a:xfrm>
            <a:off x="13651992" y="6720840"/>
            <a:ext cx="3529584" cy="365760"/>
          </a:xfrm>
          <a:prstGeom prst="rect">
            <a:avLst/>
          </a:prstGeom>
          <a:noFill/>
        </p:spPr>
        <p:txBody>
          <a:bodyPr wrap="square" lIns="0" tIns="0" rIns="0" bIns="0"/>
          <a:lstStyle/>
          <a:p>
            <a:r>
              <a:rPr lang="en-US" sz="1400" b="1">
                <a:solidFill>
                  <a:srgbClr val="0F1419"/>
                </a:solidFill>
                <a:latin typeface="Arial"/>
              </a:rPr>
              <a:t>Decide + scale</a:t>
            </a:r>
          </a:p>
        </p:txBody>
      </p:sp>
      <p:sp>
        <p:nvSpPr>
          <p:cNvPr id="9100" name="cadText"/>
          <p:cNvSpPr txBox="1"/>
          <p:nvPr/>
        </p:nvSpPr>
        <p:spPr>
          <a:xfrm>
            <a:off x="13651992" y="7132320"/>
            <a:ext cx="3529584" cy="594360"/>
          </a:xfrm>
          <a:prstGeom prst="rect">
            <a:avLst/>
          </a:prstGeom>
          <a:noFill/>
        </p:spPr>
        <p:txBody>
          <a:bodyPr wrap="square" lIns="0" tIns="0" rIns="0" bIns="0"/>
          <a:lstStyle/>
          <a:p>
            <a:r>
              <a:rPr lang="en-US" sz="1000">
                <a:solidFill>
                  <a:srgbClr val="2A3340"/>
                </a:solidFill>
                <a:latin typeface="Arial"/>
              </a:rPr>
              <a:t>M6–9 pre-seed signalling or run lean. M9–15 paid acquisition if numbers support — £300K.</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5B47F0">
              <a:alpha val="4000"/>
            </a:srgbClr>
          </a:solidFill>
          <a:ln/>
        </p:spPr>
      </p:sp>
      <p:sp>
        <p:nvSpPr>
          <p:cNvPr id="3" name="Shape 1"/>
          <p:cNvSpPr/>
          <p:nvPr/>
        </p:nvSpPr>
        <p:spPr>
          <a:xfrm>
            <a:off x="914400" y="1009650"/>
            <a:ext cx="16459200" cy="9525"/>
          </a:xfrm>
          <a:prstGeom prst="rect">
            <a:avLst/>
          </a:prstGeom>
          <a:solidFill>
            <a:srgbClr val="DDE5EC"/>
          </a:solidFill>
          <a:ln/>
        </p:spPr>
      </p:sp>
      <p:pic>
        <p:nvPicPr>
          <p:cNvPr id="4" name="Image 0" descr="preencoded.png">    </p:cNvPr>
          <p:cNvPicPr>
            <a:picLocks noChangeAspect="1"/>
          </p:cNvPicPr>
          <p:nvPr/>
        </p:nvPicPr>
        <p:blipFill>
          <a:blip r:embed="rId1"/>
          <a:stretch>
            <a:fillRect/>
          </a:stretch>
        </p:blipFill>
        <p:spPr>
          <a:xfrm>
            <a:off x="914400" y="571500"/>
            <a:ext cx="209550" cy="209550"/>
          </a:xfrm>
          <a:prstGeom prst="rect">
            <a:avLst/>
          </a:prstGeom>
        </p:spPr>
      </p:pic>
      <p:sp>
        <p:nvSpPr>
          <p:cNvPr id="5" name="Text 2"/>
          <p:cNvSpPr/>
          <p:nvPr/>
        </p:nvSpPr>
        <p:spPr>
          <a:xfrm>
            <a:off x="1219200" y="533400"/>
            <a:ext cx="745108"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spc="-37" kern="0" dirty="0">
                <a:solidFill>
                  <a:srgbClr val="0F1419"/>
                </a:solidFill>
                <a:latin typeface="Arial" pitchFamily="34" charset="0"/>
                <a:ea typeface="Arial" pitchFamily="34" charset="-122"/>
                <a:cs typeface="Arial" pitchFamily="34" charset="-120"/>
              </a:rPr>
              <a:t>hatchik</a:t>
            </a:r>
            <a:endParaRPr lang="en-US" sz="1500" dirty="0"/>
          </a:p>
        </p:txBody>
      </p:sp>
      <p:sp>
        <p:nvSpPr>
          <p:cNvPr id="6" name="Text 3"/>
          <p:cNvSpPr/>
          <p:nvPr/>
        </p:nvSpPr>
        <p:spPr>
          <a:xfrm>
            <a:off x="14805273" y="562421"/>
            <a:ext cx="2645377" cy="265733"/>
          </a:xfrm>
          <a:prstGeom prst="rect">
            <a:avLst/>
          </a:prstGeom>
          <a:noFill/>
          <a:ln/>
        </p:spPr>
        <p:txBody>
          <a:bodyPr wrap="square" lIns="25400" tIns="25400" rIns="25400" bIns="25400" rtlCol="0" anchor="t">
            <a:normAutofit/>
          </a:bodyPr>
          <a:lstStyle/>
          <a:p>
            <a:pPr algn="l" indent="0" marL="0">
              <a:lnSpc>
                <a:spcPct val="140000"/>
              </a:lnSpc>
              <a:buNone/>
            </a:pPr>
            <a:r>
              <a:rPr lang="en-US" sz="1200" spc="120" kern="0" dirty="0">
                <a:solidFill>
                  <a:srgbClr val="0F1419"/>
                </a:solidFill>
                <a:latin typeface="Courier New" pitchFamily="34" charset="0"/>
                <a:ea typeface="Courier New" pitchFamily="34" charset="-122"/>
                <a:cs typeface="Courier New" pitchFamily="34" charset="-120"/>
              </a:rPr>
              <a:t>14 </a:t>
            </a:r>
            <a:pPr algn="l" indent="0" marL="0">
              <a:lnSpc>
                <a:spcPct val="140000"/>
              </a:lnSpc>
              <a:buNone/>
            </a:pPr>
            <a:r>
              <a:rPr lang="en-US" sz="1200" spc="120" kern="0" dirty="0">
                <a:solidFill>
                  <a:srgbClr val="5B47F0"/>
                </a:solidFill>
                <a:latin typeface="Courier New" pitchFamily="34" charset="0"/>
                <a:ea typeface="Courier New" pitchFamily="34" charset="-122"/>
                <a:cs typeface="Courier New" pitchFamily="34" charset="-120"/>
              </a:rPr>
              <a:t>· </a:t>
            </a:r>
            <a:pPr algn="l" indent="0" marL="0">
              <a:lnSpc>
                <a:spcPct val="140000"/>
              </a:lnSpc>
              <a:buNone/>
            </a:pPr>
            <a:r>
              <a:rPr lang="en-US" sz="1200" spc="120" kern="0" dirty="0">
                <a:solidFill>
                  <a:srgbClr val="6E7785"/>
                </a:solidFill>
                <a:latin typeface="Courier New" pitchFamily="34" charset="0"/>
                <a:ea typeface="Courier New" pitchFamily="34" charset="-122"/>
                <a:cs typeface="Courier New" pitchFamily="34" charset="-120"/>
              </a:rPr>
              <a:t>FUNNEL + ASSUMPTIONS</a:t>
            </a:r>
            <a:endParaRPr lang="en-US" sz="1200" dirty="0"/>
          </a:p>
        </p:txBody>
      </p:sp>
      <p:sp>
        <p:nvSpPr>
          <p:cNvPr id="7" name="Text 4"/>
          <p:cNvSpPr/>
          <p:nvPr/>
        </p:nvSpPr>
        <p:spPr>
          <a:xfrm>
            <a:off x="914400" y="1438275"/>
            <a:ext cx="15893415" cy="723900"/>
          </a:xfrm>
          <a:prstGeom prst="rect">
            <a:avLst/>
          </a:prstGeom>
          <a:noFill/>
          <a:ln/>
        </p:spPr>
        <p:txBody>
          <a:bodyPr wrap="square" lIns="25400" tIns="25400" rIns="25400" bIns="25400" rtlCol="0" anchor="t">
            <a:normAutofit/>
          </a:bodyPr>
          <a:lstStyle/>
          <a:p>
            <a:pPr algn="l" indent="0" marL="0">
              <a:lnSpc>
                <a:spcPct val="100000"/>
              </a:lnSpc>
              <a:buNone/>
            </a:pPr>
            <a:r>
              <a:rPr lang="en-US" sz="5400" b="1" spc="-216" kern="0" dirty="0">
                <a:solidFill>
                  <a:srgbClr val="0F1419"/>
                </a:solidFill>
                <a:latin typeface="Arial" pitchFamily="34" charset="0"/>
                <a:ea typeface="Arial" pitchFamily="34" charset="-122"/>
                <a:cs typeface="Arial" pitchFamily="34" charset="-120"/>
              </a:rPr>
              <a:t>Validate by signup #100. </a:t>
            </a:r>
            <a:pPr algn="l" indent="0" marL="0">
              <a:lnSpc>
                <a:spcPct val="100000"/>
              </a:lnSpc>
              <a:buNone/>
            </a:pPr>
            <a:r>
              <a:rPr lang="en-US" sz="5400" b="1" spc="-216" kern="0" dirty="0">
                <a:solidFill>
                  <a:srgbClr val="5B47F0"/>
                </a:solidFill>
                <a:latin typeface="Arial" pitchFamily="34" charset="0"/>
                <a:ea typeface="Arial" pitchFamily="34" charset="-122"/>
                <a:cs typeface="Arial" pitchFamily="34" charset="-120"/>
              </a:rPr>
              <a:t>Decide by month 6.</a:t>
            </a:r>
            <a:endParaRPr lang="en-US" sz="5400" dirty="0"/>
          </a:p>
        </p:txBody>
      </p:sp>
      <p:sp>
        <p:nvSpPr>
          <p:cNvPr id="8" name="Text 5"/>
          <p:cNvSpPr/>
          <p:nvPr/>
        </p:nvSpPr>
        <p:spPr>
          <a:xfrm>
            <a:off x="914400" y="2581275"/>
            <a:ext cx="7131955"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spc="144" kern="0" dirty="0">
                <a:solidFill>
                  <a:srgbClr val="6E7785"/>
                </a:solidFill>
                <a:latin typeface="Courier New" pitchFamily="34" charset="0"/>
                <a:ea typeface="Courier New" pitchFamily="34" charset="-122"/>
                <a:cs typeface="Courier New" pitchFamily="34" charset="-120"/>
              </a:rPr>
              <a:t>FUNNEL</a:t>
            </a:r>
            <a:endParaRPr lang="en-US" sz="1200" dirty="0"/>
          </a:p>
        </p:txBody>
      </p:sp>
      <p:pic>
        <p:nvPicPr>
          <p:cNvPr id="9" name="Image 1" descr="preencoded.png">    </p:cNvPr>
          <p:cNvPicPr>
            <a:picLocks noChangeAspect="1"/>
          </p:cNvPicPr>
          <p:nvPr/>
        </p:nvPicPr>
        <p:blipFill>
          <a:blip r:embed="rId2"/>
          <a:stretch>
            <a:fillRect/>
          </a:stretch>
        </p:blipFill>
        <p:spPr>
          <a:xfrm>
            <a:off x="914400" y="2981325"/>
            <a:ext cx="6924229" cy="5193134"/>
          </a:xfrm>
          <a:prstGeom prst="rect">
            <a:avLst/>
          </a:prstGeom>
        </p:spPr>
      </p:pic>
      <p:sp>
        <p:nvSpPr>
          <p:cNvPr id="10" name="Shape 6"/>
          <p:cNvSpPr/>
          <p:nvPr/>
        </p:nvSpPr>
        <p:spPr>
          <a:xfrm>
            <a:off x="914400" y="8479259"/>
            <a:ext cx="3395439" cy="1252538"/>
          </a:xfrm>
          <a:prstGeom prst="roundRect">
            <a:avLst>
              <a:gd name="adj" fmla="val 12167"/>
            </a:avLst>
          </a:prstGeom>
          <a:solidFill>
            <a:srgbClr val="F7FAFC"/>
          </a:solidFill>
          <a:ln w="14288">
            <a:solidFill>
              <a:srgbClr val="DDE5EC"/>
            </a:solidFill>
            <a:prstDash val="solid"/>
          </a:ln>
        </p:spPr>
      </p:sp>
      <p:sp>
        <p:nvSpPr>
          <p:cNvPr id="11" name="Text 7"/>
          <p:cNvSpPr/>
          <p:nvPr/>
        </p:nvSpPr>
        <p:spPr>
          <a:xfrm>
            <a:off x="1119188" y="8684047"/>
            <a:ext cx="3075440"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113" kern="0" dirty="0">
                <a:solidFill>
                  <a:srgbClr val="6E7785"/>
                </a:solidFill>
                <a:latin typeface="Courier New" pitchFamily="34" charset="0"/>
                <a:ea typeface="Courier New" pitchFamily="34" charset="-122"/>
                <a:cs typeface="Courier New" pitchFamily="34" charset="-120"/>
              </a:rPr>
              <a:t>BLENDED LTV</a:t>
            </a:r>
            <a:endParaRPr lang="en-US" sz="1125" dirty="0"/>
          </a:p>
        </p:txBody>
      </p:sp>
      <p:sp>
        <p:nvSpPr>
          <p:cNvPr id="12" name="Text 8"/>
          <p:cNvSpPr/>
          <p:nvPr/>
        </p:nvSpPr>
        <p:spPr>
          <a:xfrm>
            <a:off x="1119188" y="9107909"/>
            <a:ext cx="3075440" cy="457200"/>
          </a:xfrm>
          <a:prstGeom prst="rect">
            <a:avLst/>
          </a:prstGeom>
          <a:noFill/>
          <a:ln/>
        </p:spPr>
        <p:txBody>
          <a:bodyPr wrap="square" lIns="25400" tIns="25400" rIns="25400" bIns="25400" rtlCol="0" anchor="t">
            <a:normAutofit/>
          </a:bodyPr>
          <a:lstStyle/>
          <a:p>
            <a:pPr algn="l" indent="0" marL="0">
              <a:lnSpc>
                <a:spcPct val="100000"/>
              </a:lnSpc>
              <a:buNone/>
            </a:pPr>
            <a:r>
              <a:rPr lang="en-US" sz="3300" b="1" spc="-115" kern="0" dirty="0">
                <a:solidFill>
                  <a:srgbClr val="0F1419"/>
                </a:solidFill>
                <a:latin typeface="Arial" pitchFamily="34" charset="0"/>
                <a:ea typeface="Arial" pitchFamily="34" charset="-122"/>
                <a:cs typeface="Arial" pitchFamily="34" charset="-120"/>
              </a:rPr>
              <a:t>£520</a:t>
            </a:r>
            <a:endParaRPr lang="en-US" sz="3300" dirty="0"/>
          </a:p>
        </p:txBody>
      </p:sp>
      <p:sp>
        <p:nvSpPr>
          <p:cNvPr id="13" name="Shape 9"/>
          <p:cNvSpPr/>
          <p:nvPr/>
        </p:nvSpPr>
        <p:spPr>
          <a:xfrm>
            <a:off x="4443189" y="8479259"/>
            <a:ext cx="3395439" cy="1252538"/>
          </a:xfrm>
          <a:prstGeom prst="roundRect">
            <a:avLst>
              <a:gd name="adj" fmla="val 12167"/>
            </a:avLst>
          </a:prstGeom>
          <a:solidFill>
            <a:srgbClr val="F7FAFC"/>
          </a:solidFill>
          <a:ln w="14288">
            <a:solidFill>
              <a:srgbClr val="DDE5EC"/>
            </a:solidFill>
            <a:prstDash val="solid"/>
          </a:ln>
        </p:spPr>
      </p:sp>
      <p:sp>
        <p:nvSpPr>
          <p:cNvPr id="14" name="Text 10"/>
          <p:cNvSpPr/>
          <p:nvPr/>
        </p:nvSpPr>
        <p:spPr>
          <a:xfrm>
            <a:off x="4647977" y="8684047"/>
            <a:ext cx="3075440"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113" kern="0" dirty="0">
                <a:solidFill>
                  <a:srgbClr val="6E7785"/>
                </a:solidFill>
                <a:latin typeface="Courier New" pitchFamily="34" charset="0"/>
                <a:ea typeface="Courier New" pitchFamily="34" charset="-122"/>
                <a:cs typeface="Courier New" pitchFamily="34" charset="-120"/>
              </a:rPr>
              <a:t>CAC CEILING (3:1)</a:t>
            </a:r>
            <a:endParaRPr lang="en-US" sz="1125" dirty="0"/>
          </a:p>
        </p:txBody>
      </p:sp>
      <p:sp>
        <p:nvSpPr>
          <p:cNvPr id="15" name="Text 11"/>
          <p:cNvSpPr/>
          <p:nvPr/>
        </p:nvSpPr>
        <p:spPr>
          <a:xfrm>
            <a:off x="4647977" y="9107909"/>
            <a:ext cx="3075440" cy="457200"/>
          </a:xfrm>
          <a:prstGeom prst="rect">
            <a:avLst/>
          </a:prstGeom>
          <a:noFill/>
          <a:ln/>
        </p:spPr>
        <p:txBody>
          <a:bodyPr wrap="square" lIns="25400" tIns="25400" rIns="25400" bIns="25400" rtlCol="0" anchor="t">
            <a:normAutofit/>
          </a:bodyPr>
          <a:lstStyle/>
          <a:p>
            <a:pPr algn="l" indent="0" marL="0">
              <a:lnSpc>
                <a:spcPct val="100000"/>
              </a:lnSpc>
              <a:buNone/>
            </a:pPr>
            <a:r>
              <a:rPr lang="en-US" sz="3300" b="1" spc="-115" kern="0" dirty="0">
                <a:solidFill>
                  <a:srgbClr val="5B47F0"/>
                </a:solidFill>
                <a:latin typeface="Arial" pitchFamily="34" charset="0"/>
                <a:ea typeface="Arial" pitchFamily="34" charset="-122"/>
                <a:cs typeface="Arial" pitchFamily="34" charset="-120"/>
              </a:rPr>
              <a:t>£175</a:t>
            </a:r>
            <a:endParaRPr lang="en-US" sz="3300" dirty="0"/>
          </a:p>
        </p:txBody>
      </p:sp>
      <p:sp>
        <p:nvSpPr>
          <p:cNvPr id="16" name="Text 12"/>
          <p:cNvSpPr/>
          <p:nvPr/>
        </p:nvSpPr>
        <p:spPr>
          <a:xfrm>
            <a:off x="8372029" y="2581275"/>
            <a:ext cx="9271619"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spc="144" kern="0" dirty="0">
                <a:solidFill>
                  <a:srgbClr val="6E7785"/>
                </a:solidFill>
                <a:latin typeface="Courier New" pitchFamily="34" charset="0"/>
                <a:ea typeface="Courier New" pitchFamily="34" charset="-122"/>
                <a:cs typeface="Courier New" pitchFamily="34" charset="-120"/>
              </a:rPr>
              <a:t>WHAT WE'RE TESTING</a:t>
            </a:r>
            <a:endParaRPr lang="en-US" sz="1200" dirty="0"/>
          </a:p>
        </p:txBody>
      </p:sp>
      <p:sp>
        <p:nvSpPr>
          <p:cNvPr id="17" name="Shape 13"/>
          <p:cNvSpPr/>
          <p:nvPr/>
        </p:nvSpPr>
        <p:spPr>
          <a:xfrm>
            <a:off x="8372029" y="2981325"/>
            <a:ext cx="9001571" cy="1160115"/>
          </a:xfrm>
          <a:prstGeom prst="roundRect">
            <a:avLst>
              <a:gd name="adj" fmla="val 13137"/>
            </a:avLst>
          </a:prstGeom>
          <a:solidFill>
            <a:srgbClr val="F7FAFC"/>
          </a:solidFill>
          <a:ln w="14288">
            <a:solidFill>
              <a:srgbClr val="DDE5EC"/>
            </a:solidFill>
            <a:prstDash val="solid"/>
          </a:ln>
          <a:effectLst>
            <a:outerShdw sx="100000" sy="100000" kx="0" ky="0" algn="bl" rotWithShape="0" blurRad="38100" dist="19050" dir="5400000">
              <a:srgbClr val="0F1419">
                <a:alpha val="4000"/>
              </a:srgbClr>
            </a:outerShdw>
          </a:effectLst>
        </p:spPr>
      </p:sp>
      <p:sp>
        <p:nvSpPr>
          <p:cNvPr id="18" name="Text 14"/>
          <p:cNvSpPr/>
          <p:nvPr/>
        </p:nvSpPr>
        <p:spPr>
          <a:xfrm>
            <a:off x="8614916" y="3186113"/>
            <a:ext cx="6924627" cy="238125"/>
          </a:xfrm>
          <a:prstGeom prst="rect">
            <a:avLst/>
          </a:prstGeom>
          <a:noFill/>
          <a:ln/>
        </p:spPr>
        <p:txBody>
          <a:bodyPr wrap="square" lIns="25400" tIns="25400" rIns="25400" bIns="25400" rtlCol="0" anchor="t">
            <a:normAutofit/>
          </a:bodyPr>
          <a:lstStyle/>
          <a:p>
            <a:pPr algn="l" indent="0" marL="0">
              <a:lnSpc>
                <a:spcPct val="150000"/>
              </a:lnSpc>
              <a:buNone/>
            </a:pPr>
            <a:r>
              <a:rPr lang="en-US" sz="1050" spc="126" kern="0" dirty="0">
                <a:solidFill>
                  <a:srgbClr val="5B47F0"/>
                </a:solidFill>
                <a:latin typeface="Courier New" pitchFamily="34" charset="0"/>
                <a:ea typeface="Courier New" pitchFamily="34" charset="-122"/>
                <a:cs typeface="Courier New" pitchFamily="34" charset="-120"/>
              </a:rPr>
              <a:t>01</a:t>
            </a:r>
            <a:endParaRPr lang="en-US" sz="1050" dirty="0"/>
          </a:p>
        </p:txBody>
      </p:sp>
      <p:sp>
        <p:nvSpPr>
          <p:cNvPr id="19" name="Text 15"/>
          <p:cNvSpPr/>
          <p:nvPr/>
        </p:nvSpPr>
        <p:spPr>
          <a:xfrm>
            <a:off x="8614916" y="3424238"/>
            <a:ext cx="6924627" cy="279053"/>
          </a:xfrm>
          <a:prstGeom prst="rect">
            <a:avLst/>
          </a:prstGeom>
          <a:noFill/>
          <a:ln/>
        </p:spPr>
        <p:txBody>
          <a:bodyPr wrap="square" lIns="25400" tIns="25400" rIns="25400" bIns="25400" rtlCol="0" anchor="t">
            <a:normAutofit/>
          </a:bodyPr>
          <a:lstStyle/>
          <a:p>
            <a:pPr algn="l" indent="0" marL="0">
              <a:lnSpc>
                <a:spcPct val="115000"/>
              </a:lnSpc>
              <a:buNone/>
            </a:pPr>
            <a:r>
              <a:rPr lang="en-US" sz="1650" b="1" spc="-33" kern="0" dirty="0">
                <a:solidFill>
                  <a:srgbClr val="0F1419"/>
                </a:solidFill>
                <a:latin typeface="Arial" pitchFamily="34" charset="0"/>
                <a:ea typeface="Arial" pitchFamily="34" charset="-122"/>
                <a:cs typeface="Arial" pitchFamily="34" charset="-120"/>
              </a:rPr>
              <a:t>Sandbox → Launch conversion</a:t>
            </a:r>
            <a:endParaRPr lang="en-US" sz="1650" dirty="0"/>
          </a:p>
        </p:txBody>
      </p:sp>
      <p:sp>
        <p:nvSpPr>
          <p:cNvPr id="20" name="Text 16"/>
          <p:cNvSpPr/>
          <p:nvPr/>
        </p:nvSpPr>
        <p:spPr>
          <a:xfrm>
            <a:off x="8614916" y="3722340"/>
            <a:ext cx="6924627"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dirty="0">
                <a:solidFill>
                  <a:srgbClr val="2A3340"/>
                </a:solidFill>
                <a:latin typeface="Arial" pitchFamily="34" charset="0"/>
                <a:ea typeface="Arial" pitchFamily="34" charset="-122"/>
                <a:cs typeface="Arial" pitchFamily="34" charset="-120"/>
              </a:rPr>
              <a:t>Assumed 5% · industry 3–10%</a:t>
            </a:r>
            <a:endParaRPr lang="en-US" sz="1125" dirty="0"/>
          </a:p>
        </p:txBody>
      </p:sp>
      <p:sp>
        <p:nvSpPr>
          <p:cNvPr id="21" name="Shape 17"/>
          <p:cNvSpPr/>
          <p:nvPr/>
        </p:nvSpPr>
        <p:spPr>
          <a:xfrm>
            <a:off x="15528354" y="3186113"/>
            <a:ext cx="1602358" cy="295275"/>
          </a:xfrm>
          <a:prstGeom prst="roundRect">
            <a:avLst>
              <a:gd name="adj" fmla="val 22581"/>
            </a:avLst>
          </a:prstGeom>
          <a:solidFill>
            <a:srgbClr val="5B47F0"/>
          </a:solidFill>
          <a:ln/>
        </p:spPr>
      </p:sp>
      <p:sp>
        <p:nvSpPr>
          <p:cNvPr id="22" name="Text 18"/>
          <p:cNvSpPr/>
          <p:nvPr/>
        </p:nvSpPr>
        <p:spPr>
          <a:xfrm>
            <a:off x="15675992" y="3267075"/>
            <a:ext cx="1383283" cy="171450"/>
          </a:xfrm>
          <a:prstGeom prst="rect">
            <a:avLst/>
          </a:prstGeom>
          <a:noFill/>
          <a:ln/>
        </p:spPr>
        <p:txBody>
          <a:bodyPr wrap="square" lIns="25400" tIns="25400" rIns="25400" bIns="25400" rtlCol="0" anchor="ctr">
            <a:normAutofit/>
          </a:bodyPr>
          <a:lstStyle/>
          <a:p>
            <a:pPr algn="l" indent="0" marL="0">
              <a:lnSpc>
                <a:spcPct val="100000"/>
              </a:lnSpc>
              <a:buNone/>
            </a:pPr>
            <a:r>
              <a:rPr lang="en-US" sz="1050" spc="105" kern="0" dirty="0">
                <a:solidFill>
                  <a:srgbClr val="FFFFFF"/>
                </a:solidFill>
                <a:latin typeface="Courier New" pitchFamily="34" charset="0"/>
                <a:ea typeface="Courier New" pitchFamily="34" charset="-122"/>
                <a:cs typeface="Courier New" pitchFamily="34" charset="-120"/>
              </a:rPr>
              <a:t>SIGNAL BY #100</a:t>
            </a:r>
            <a:endParaRPr lang="en-US" sz="1050" dirty="0"/>
          </a:p>
        </p:txBody>
      </p:sp>
      <p:sp>
        <p:nvSpPr>
          <p:cNvPr id="23" name="Shape 19"/>
          <p:cNvSpPr/>
          <p:nvPr/>
        </p:nvSpPr>
        <p:spPr>
          <a:xfrm>
            <a:off x="8372029" y="4255740"/>
            <a:ext cx="9001571" cy="1160115"/>
          </a:xfrm>
          <a:prstGeom prst="roundRect">
            <a:avLst>
              <a:gd name="adj" fmla="val 13137"/>
            </a:avLst>
          </a:prstGeom>
          <a:solidFill>
            <a:srgbClr val="F7FAFC"/>
          </a:solidFill>
          <a:ln w="14288">
            <a:solidFill>
              <a:srgbClr val="DDE5EC"/>
            </a:solidFill>
            <a:prstDash val="solid"/>
          </a:ln>
          <a:effectLst>
            <a:outerShdw sx="100000" sy="100000" kx="0" ky="0" algn="bl" rotWithShape="0" blurRad="38100" dist="19050" dir="5400000">
              <a:srgbClr val="0F1419">
                <a:alpha val="4000"/>
              </a:srgbClr>
            </a:outerShdw>
          </a:effectLst>
        </p:spPr>
      </p:sp>
      <p:sp>
        <p:nvSpPr>
          <p:cNvPr id="24" name="Text 20"/>
          <p:cNvSpPr/>
          <p:nvPr/>
        </p:nvSpPr>
        <p:spPr>
          <a:xfrm>
            <a:off x="8614916" y="4460528"/>
            <a:ext cx="7405430" cy="238125"/>
          </a:xfrm>
          <a:prstGeom prst="rect">
            <a:avLst/>
          </a:prstGeom>
          <a:noFill/>
          <a:ln/>
        </p:spPr>
        <p:txBody>
          <a:bodyPr wrap="square" lIns="25400" tIns="25400" rIns="25400" bIns="25400" rtlCol="0" anchor="t">
            <a:normAutofit/>
          </a:bodyPr>
          <a:lstStyle/>
          <a:p>
            <a:pPr algn="l" indent="0" marL="0">
              <a:lnSpc>
                <a:spcPct val="150000"/>
              </a:lnSpc>
              <a:buNone/>
            </a:pPr>
            <a:r>
              <a:rPr lang="en-US" sz="1050" spc="126" kern="0" dirty="0">
                <a:solidFill>
                  <a:srgbClr val="5B47F0"/>
                </a:solidFill>
                <a:latin typeface="Courier New" pitchFamily="34" charset="0"/>
                <a:ea typeface="Courier New" pitchFamily="34" charset="-122"/>
                <a:cs typeface="Courier New" pitchFamily="34" charset="-120"/>
              </a:rPr>
              <a:t>02</a:t>
            </a:r>
            <a:endParaRPr lang="en-US" sz="1050" dirty="0"/>
          </a:p>
        </p:txBody>
      </p:sp>
      <p:sp>
        <p:nvSpPr>
          <p:cNvPr id="25" name="Text 21"/>
          <p:cNvSpPr/>
          <p:nvPr/>
        </p:nvSpPr>
        <p:spPr>
          <a:xfrm>
            <a:off x="8614916" y="4698653"/>
            <a:ext cx="7405430" cy="279053"/>
          </a:xfrm>
          <a:prstGeom prst="rect">
            <a:avLst/>
          </a:prstGeom>
          <a:noFill/>
          <a:ln/>
        </p:spPr>
        <p:txBody>
          <a:bodyPr wrap="square" lIns="25400" tIns="25400" rIns="25400" bIns="25400" rtlCol="0" anchor="t">
            <a:normAutofit/>
          </a:bodyPr>
          <a:lstStyle/>
          <a:p>
            <a:pPr algn="l" indent="0" marL="0">
              <a:lnSpc>
                <a:spcPct val="115000"/>
              </a:lnSpc>
              <a:buNone/>
            </a:pPr>
            <a:r>
              <a:rPr lang="en-US" sz="1650" b="1" spc="-33" kern="0" dirty="0">
                <a:solidFill>
                  <a:srgbClr val="0F1419"/>
                </a:solidFill>
                <a:latin typeface="Arial" pitchFamily="34" charset="0"/>
                <a:ea typeface="Arial" pitchFamily="34" charset="-122"/>
                <a:cs typeface="Arial" pitchFamily="34" charset="-120"/>
              </a:rPr>
              <a:t>Launch monthly churn</a:t>
            </a:r>
            <a:endParaRPr lang="en-US" sz="1650" dirty="0"/>
          </a:p>
        </p:txBody>
      </p:sp>
      <p:sp>
        <p:nvSpPr>
          <p:cNvPr id="26" name="Text 22"/>
          <p:cNvSpPr/>
          <p:nvPr/>
        </p:nvSpPr>
        <p:spPr>
          <a:xfrm>
            <a:off x="8614916" y="4996755"/>
            <a:ext cx="7405430"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dirty="0">
                <a:solidFill>
                  <a:srgbClr val="2A3340"/>
                </a:solidFill>
                <a:latin typeface="Arial" pitchFamily="34" charset="0"/>
                <a:ea typeface="Arial" pitchFamily="34" charset="-122"/>
                <a:cs typeface="Arial" pitchFamily="34" charset="-120"/>
              </a:rPr>
              <a:t>Assumed ~3%/mo · signal in 60–90 days</a:t>
            </a:r>
            <a:endParaRPr lang="en-US" sz="1125" dirty="0"/>
          </a:p>
        </p:txBody>
      </p:sp>
      <p:sp>
        <p:nvSpPr>
          <p:cNvPr id="27" name="Shape 23"/>
          <p:cNvSpPr/>
          <p:nvPr/>
        </p:nvSpPr>
        <p:spPr>
          <a:xfrm>
            <a:off x="15995154" y="4460528"/>
            <a:ext cx="1135559" cy="295275"/>
          </a:xfrm>
          <a:prstGeom prst="roundRect">
            <a:avLst>
              <a:gd name="adj" fmla="val 22581"/>
            </a:avLst>
          </a:prstGeom>
          <a:solidFill>
            <a:srgbClr val="EEF2F7"/>
          </a:solidFill>
          <a:ln w="14288">
            <a:solidFill>
              <a:srgbClr val="DDE5EC"/>
            </a:solidFill>
            <a:prstDash val="solid"/>
          </a:ln>
        </p:spPr>
      </p:sp>
      <p:sp>
        <p:nvSpPr>
          <p:cNvPr id="28" name="Text 24"/>
          <p:cNvSpPr/>
          <p:nvPr/>
        </p:nvSpPr>
        <p:spPr>
          <a:xfrm>
            <a:off x="16142791" y="4541490"/>
            <a:ext cx="916484" cy="171450"/>
          </a:xfrm>
          <a:prstGeom prst="rect">
            <a:avLst/>
          </a:prstGeom>
          <a:noFill/>
          <a:ln/>
        </p:spPr>
        <p:txBody>
          <a:bodyPr wrap="square" lIns="25400" tIns="25400" rIns="25400" bIns="25400" rtlCol="0" anchor="ctr">
            <a:normAutofit/>
          </a:bodyPr>
          <a:lstStyle/>
          <a:p>
            <a:pPr algn="l" indent="0" marL="0">
              <a:lnSpc>
                <a:spcPct val="100000"/>
              </a:lnSpc>
              <a:buNone/>
            </a:pPr>
            <a:r>
              <a:rPr lang="en-US" sz="1050" spc="105" kern="0" dirty="0">
                <a:solidFill>
                  <a:srgbClr val="0F1419"/>
                </a:solidFill>
                <a:latin typeface="Courier New" pitchFamily="34" charset="0"/>
                <a:ea typeface="Courier New" pitchFamily="34" charset="-122"/>
                <a:cs typeface="Courier New" pitchFamily="34" charset="-120"/>
              </a:rPr>
              <a:t>M2 SIGNAL</a:t>
            </a:r>
            <a:endParaRPr lang="en-US" sz="1050" dirty="0"/>
          </a:p>
        </p:txBody>
      </p:sp>
      <p:sp>
        <p:nvSpPr>
          <p:cNvPr id="29" name="Shape 25"/>
          <p:cNvSpPr/>
          <p:nvPr/>
        </p:nvSpPr>
        <p:spPr>
          <a:xfrm>
            <a:off x="8372029" y="5530155"/>
            <a:ext cx="9001571" cy="1160115"/>
          </a:xfrm>
          <a:prstGeom prst="roundRect">
            <a:avLst>
              <a:gd name="adj" fmla="val 13137"/>
            </a:avLst>
          </a:prstGeom>
          <a:solidFill>
            <a:srgbClr val="F7FAFC"/>
          </a:solidFill>
          <a:ln w="14288">
            <a:solidFill>
              <a:srgbClr val="DDE5EC"/>
            </a:solidFill>
            <a:prstDash val="solid"/>
          </a:ln>
          <a:effectLst>
            <a:outerShdw sx="100000" sy="100000" kx="0" ky="0" algn="bl" rotWithShape="0" blurRad="38100" dist="19050" dir="5400000">
              <a:srgbClr val="0F1419">
                <a:alpha val="4000"/>
              </a:srgbClr>
            </a:outerShdw>
          </a:effectLst>
        </p:spPr>
      </p:sp>
      <p:sp>
        <p:nvSpPr>
          <p:cNvPr id="30" name="Text 26"/>
          <p:cNvSpPr/>
          <p:nvPr/>
        </p:nvSpPr>
        <p:spPr>
          <a:xfrm>
            <a:off x="8614916" y="5734943"/>
            <a:ext cx="7405430" cy="238125"/>
          </a:xfrm>
          <a:prstGeom prst="rect">
            <a:avLst/>
          </a:prstGeom>
          <a:noFill/>
          <a:ln/>
        </p:spPr>
        <p:txBody>
          <a:bodyPr wrap="square" lIns="25400" tIns="25400" rIns="25400" bIns="25400" rtlCol="0" anchor="t">
            <a:normAutofit/>
          </a:bodyPr>
          <a:lstStyle/>
          <a:p>
            <a:pPr algn="l" indent="0" marL="0">
              <a:lnSpc>
                <a:spcPct val="150000"/>
              </a:lnSpc>
              <a:buNone/>
            </a:pPr>
            <a:r>
              <a:rPr lang="en-US" sz="1050" spc="126" kern="0" dirty="0">
                <a:solidFill>
                  <a:srgbClr val="5B47F0"/>
                </a:solidFill>
                <a:latin typeface="Courier New" pitchFamily="34" charset="0"/>
                <a:ea typeface="Courier New" pitchFamily="34" charset="-122"/>
                <a:cs typeface="Courier New" pitchFamily="34" charset="-120"/>
              </a:rPr>
              <a:t>03</a:t>
            </a:r>
            <a:endParaRPr lang="en-US" sz="1050" dirty="0"/>
          </a:p>
        </p:txBody>
      </p:sp>
      <p:sp>
        <p:nvSpPr>
          <p:cNvPr id="31" name="Text 27"/>
          <p:cNvSpPr/>
          <p:nvPr/>
        </p:nvSpPr>
        <p:spPr>
          <a:xfrm>
            <a:off x="8614916" y="5973068"/>
            <a:ext cx="7405430" cy="279053"/>
          </a:xfrm>
          <a:prstGeom prst="rect">
            <a:avLst/>
          </a:prstGeom>
          <a:noFill/>
          <a:ln/>
        </p:spPr>
        <p:txBody>
          <a:bodyPr wrap="square" lIns="25400" tIns="25400" rIns="25400" bIns="25400" rtlCol="0" anchor="t">
            <a:normAutofit/>
          </a:bodyPr>
          <a:lstStyle/>
          <a:p>
            <a:pPr algn="l" indent="0" marL="0">
              <a:lnSpc>
                <a:spcPct val="115000"/>
              </a:lnSpc>
              <a:buNone/>
            </a:pPr>
            <a:r>
              <a:rPr lang="en-US" sz="1650" b="1" spc="-33" kern="0" dirty="0">
                <a:solidFill>
                  <a:srgbClr val="0F1419"/>
                </a:solidFill>
                <a:latin typeface="Arial" pitchFamily="34" charset="0"/>
                <a:ea typeface="Arial" pitchFamily="34" charset="-122"/>
                <a:cs typeface="Arial" pitchFamily="34" charset="-120"/>
              </a:rPr>
              <a:t>Time to Launch → Growth</a:t>
            </a:r>
            <a:endParaRPr lang="en-US" sz="1650" dirty="0"/>
          </a:p>
        </p:txBody>
      </p:sp>
      <p:sp>
        <p:nvSpPr>
          <p:cNvPr id="32" name="Text 28"/>
          <p:cNvSpPr/>
          <p:nvPr/>
        </p:nvSpPr>
        <p:spPr>
          <a:xfrm>
            <a:off x="8614916" y="6271171"/>
            <a:ext cx="7405430"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dirty="0">
                <a:solidFill>
                  <a:srgbClr val="2A3340"/>
                </a:solidFill>
                <a:latin typeface="Arial" pitchFamily="34" charset="0"/>
                <a:ea typeface="Arial" pitchFamily="34" charset="-122"/>
                <a:cs typeface="Arial" pitchFamily="34" charset="-120"/>
              </a:rPr>
              <a:t>Assumed 6 months in sprint mode</a:t>
            </a:r>
            <a:endParaRPr lang="en-US" sz="1125" dirty="0"/>
          </a:p>
        </p:txBody>
      </p:sp>
      <p:sp>
        <p:nvSpPr>
          <p:cNvPr id="33" name="Shape 29"/>
          <p:cNvSpPr/>
          <p:nvPr/>
        </p:nvSpPr>
        <p:spPr>
          <a:xfrm>
            <a:off x="15995154" y="5734943"/>
            <a:ext cx="1135559" cy="295275"/>
          </a:xfrm>
          <a:prstGeom prst="roundRect">
            <a:avLst>
              <a:gd name="adj" fmla="val 22581"/>
            </a:avLst>
          </a:prstGeom>
          <a:solidFill>
            <a:srgbClr val="EEF2F7"/>
          </a:solidFill>
          <a:ln w="14288">
            <a:solidFill>
              <a:srgbClr val="DDE5EC"/>
            </a:solidFill>
            <a:prstDash val="solid"/>
          </a:ln>
        </p:spPr>
      </p:sp>
      <p:sp>
        <p:nvSpPr>
          <p:cNvPr id="34" name="Text 30"/>
          <p:cNvSpPr/>
          <p:nvPr/>
        </p:nvSpPr>
        <p:spPr>
          <a:xfrm>
            <a:off x="16142791" y="5815905"/>
            <a:ext cx="916484" cy="171450"/>
          </a:xfrm>
          <a:prstGeom prst="rect">
            <a:avLst/>
          </a:prstGeom>
          <a:noFill/>
          <a:ln/>
        </p:spPr>
        <p:txBody>
          <a:bodyPr wrap="square" lIns="25400" tIns="25400" rIns="25400" bIns="25400" rtlCol="0" anchor="ctr">
            <a:normAutofit/>
          </a:bodyPr>
          <a:lstStyle/>
          <a:p>
            <a:pPr algn="l" indent="0" marL="0">
              <a:lnSpc>
                <a:spcPct val="100000"/>
              </a:lnSpc>
              <a:buNone/>
            </a:pPr>
            <a:r>
              <a:rPr lang="en-US" sz="1050" spc="105" kern="0" dirty="0">
                <a:solidFill>
                  <a:srgbClr val="0F1419"/>
                </a:solidFill>
                <a:latin typeface="Courier New" pitchFamily="34" charset="0"/>
                <a:ea typeface="Courier New" pitchFamily="34" charset="-122"/>
                <a:cs typeface="Courier New" pitchFamily="34" charset="-120"/>
              </a:rPr>
              <a:t>M6 SIGNAL</a:t>
            </a:r>
            <a:endParaRPr lang="en-US" sz="1050" dirty="0"/>
          </a:p>
        </p:txBody>
      </p:sp>
      <p:sp>
        <p:nvSpPr>
          <p:cNvPr id="35" name="Shape 31"/>
          <p:cNvSpPr/>
          <p:nvPr/>
        </p:nvSpPr>
        <p:spPr>
          <a:xfrm>
            <a:off x="8372029" y="6861721"/>
            <a:ext cx="9001571" cy="614363"/>
          </a:xfrm>
          <a:prstGeom prst="roundRect">
            <a:avLst>
              <a:gd name="adj" fmla="val 18605"/>
            </a:avLst>
          </a:prstGeom>
          <a:solidFill>
            <a:srgbClr val="EEEBFD"/>
          </a:solidFill>
          <a:ln w="14288">
            <a:solidFill>
              <a:srgbClr val="C8C0F8"/>
            </a:solidFill>
            <a:prstDash val="solid"/>
          </a:ln>
          <a:effectLst>
            <a:outerShdw sx="100000" sy="100000" kx="0" ky="0" algn="bl" rotWithShape="0" blurRad="28575" dist="9525" dir="5400000">
              <a:srgbClr val="5B47F0">
                <a:alpha val="6000"/>
              </a:srgbClr>
            </a:outerShdw>
          </a:effectLst>
        </p:spPr>
      </p:sp>
      <p:sp>
        <p:nvSpPr>
          <p:cNvPr id="36" name="Shape 32"/>
          <p:cNvSpPr/>
          <p:nvPr/>
        </p:nvSpPr>
        <p:spPr>
          <a:xfrm>
            <a:off x="8595866" y="7052221"/>
            <a:ext cx="454223" cy="233362"/>
          </a:xfrm>
          <a:prstGeom prst="roundRect">
            <a:avLst>
              <a:gd name="adj" fmla="val 16327"/>
            </a:avLst>
          </a:prstGeom>
          <a:solidFill>
            <a:srgbClr val="5B47F0"/>
          </a:solidFill>
          <a:ln/>
        </p:spPr>
      </p:sp>
      <p:sp>
        <p:nvSpPr>
          <p:cNvPr id="37" name="Text 33"/>
          <p:cNvSpPr/>
          <p:nvPr/>
        </p:nvSpPr>
        <p:spPr>
          <a:xfrm>
            <a:off x="8672066" y="7090321"/>
            <a:ext cx="378023" cy="195263"/>
          </a:xfrm>
          <a:prstGeom prst="rect">
            <a:avLst/>
          </a:prstGeom>
          <a:noFill/>
          <a:ln/>
        </p:spPr>
        <p:txBody>
          <a:bodyPr wrap="square" lIns="25400" tIns="25400" rIns="25400" bIns="25400" rtlCol="0" anchor="t">
            <a:normAutofit/>
          </a:bodyPr>
          <a:lstStyle/>
          <a:p>
            <a:pPr algn="l" indent="0" marL="0">
              <a:lnSpc>
                <a:spcPct val="150000"/>
              </a:lnSpc>
              <a:buNone/>
            </a:pPr>
            <a:r>
              <a:rPr lang="en-US" sz="825" spc="99" kern="0" dirty="0">
                <a:solidFill>
                  <a:srgbClr val="FFFFFF"/>
                </a:solidFill>
                <a:latin typeface="Courier New" pitchFamily="34" charset="0"/>
                <a:ea typeface="Courier New" pitchFamily="34" charset="-122"/>
                <a:cs typeface="Courier New" pitchFamily="34" charset="-120"/>
              </a:rPr>
              <a:t>GATE</a:t>
            </a:r>
            <a:endParaRPr lang="en-US" sz="825" dirty="0"/>
          </a:p>
        </p:txBody>
      </p:sp>
      <p:sp>
        <p:nvSpPr>
          <p:cNvPr id="38" name="Text 34"/>
          <p:cNvSpPr/>
          <p:nvPr/>
        </p:nvSpPr>
        <p:spPr>
          <a:xfrm>
            <a:off x="9183439" y="7076033"/>
            <a:ext cx="6211814" cy="219075"/>
          </a:xfrm>
          <a:prstGeom prst="rect">
            <a:avLst/>
          </a:prstGeom>
          <a:noFill/>
          <a:ln/>
        </p:spPr>
        <p:txBody>
          <a:bodyPr wrap="square" lIns="0" tIns="0" rIns="0" bIns="0" rtlCol="0" anchor="t">
            <a:normAutofit/>
          </a:bodyPr>
          <a:lstStyle/>
          <a:p>
            <a:pPr algn="l" indent="0" marL="0">
              <a:lnSpc>
                <a:spcPct val="150000"/>
              </a:lnSpc>
              <a:buNone/>
            </a:pPr>
            <a:r>
              <a:rPr lang="en-US" sz="1275" dirty="0">
                <a:solidFill>
                  <a:srgbClr val="4231CC"/>
                </a:solidFill>
                <a:latin typeface="Arial" pitchFamily="34" charset="0"/>
                <a:ea typeface="Arial" pitchFamily="34" charset="-122"/>
                <a:cs typeface="Arial" pitchFamily="34" charset="-120"/>
              </a:rPr>
              <a:t>If conversion or churn misses by signup #100, paid spend pauses pending repricing.</a:t>
            </a:r>
            <a:endParaRPr lang="en-US" sz="1275" dirty="0"/>
          </a:p>
        </p:txBody>
      </p:sp>
      <p:sp>
        <p:nvSpPr>
          <p:cNvPr id="39" name="Shape 35"/>
          <p:cNvSpPr/>
          <p:nvPr/>
        </p:nvSpPr>
        <p:spPr>
          <a:xfrm>
            <a:off x="914400" y="9731797"/>
            <a:ext cx="16459200" cy="9525"/>
          </a:xfrm>
          <a:prstGeom prst="rect">
            <a:avLst/>
          </a:prstGeom>
          <a:solidFill>
            <a:srgbClr val="DDE5EC"/>
          </a:solidFill>
          <a:ln/>
        </p:spPr>
      </p:sp>
      <p:sp>
        <p:nvSpPr>
          <p:cNvPr id="40" name="Text 36"/>
          <p:cNvSpPr/>
          <p:nvPr/>
        </p:nvSpPr>
        <p:spPr>
          <a:xfrm>
            <a:off x="914400" y="9977065"/>
            <a:ext cx="4533256"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113" kern="0" dirty="0">
                <a:solidFill>
                  <a:srgbClr val="6E7785"/>
                </a:solidFill>
                <a:latin typeface="Courier New" pitchFamily="34" charset="0"/>
                <a:ea typeface="Courier New" pitchFamily="34" charset="-122"/>
                <a:cs typeface="Courier New" pitchFamily="34" charset="-120"/>
              </a:rPr>
              <a:t>HATCHIK · INVESTOR &amp; PARTNER DECK · MAY 2026</a:t>
            </a:r>
            <a:endParaRPr lang="en-US" sz="1125" dirty="0"/>
          </a:p>
        </p:txBody>
      </p:sp>
      <p:sp>
        <p:nvSpPr>
          <p:cNvPr id="41" name="Text 37"/>
          <p:cNvSpPr/>
          <p:nvPr/>
        </p:nvSpPr>
        <p:spPr>
          <a:xfrm>
            <a:off x="16690851" y="9969922"/>
            <a:ext cx="758949"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spc="48" kern="0" dirty="0">
                <a:solidFill>
                  <a:srgbClr val="0F1419"/>
                </a:solidFill>
                <a:latin typeface="Courier New" pitchFamily="34" charset="0"/>
                <a:ea typeface="Courier New" pitchFamily="34" charset="-122"/>
                <a:cs typeface="Courier New" pitchFamily="34" charset="-120"/>
              </a:rPr>
              <a:t>14 / 31</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5B47F0">
              <a:alpha val="4000"/>
            </a:srgbClr>
          </a:solidFill>
          <a:ln/>
        </p:spPr>
      </p:sp>
      <p:sp>
        <p:nvSpPr>
          <p:cNvPr id="3" name="Shape 1"/>
          <p:cNvSpPr/>
          <p:nvPr/>
        </p:nvSpPr>
        <p:spPr>
          <a:xfrm>
            <a:off x="914400" y="1009650"/>
            <a:ext cx="16459200" cy="9525"/>
          </a:xfrm>
          <a:prstGeom prst="rect">
            <a:avLst/>
          </a:prstGeom>
          <a:solidFill>
            <a:srgbClr val="DDE5EC"/>
          </a:solidFill>
          <a:ln/>
        </p:spPr>
      </p:sp>
      <p:pic>
        <p:nvPicPr>
          <p:cNvPr id="4" name="Image 0" descr="preencoded.png">    </p:cNvPr>
          <p:cNvPicPr>
            <a:picLocks noChangeAspect="1"/>
          </p:cNvPicPr>
          <p:nvPr/>
        </p:nvPicPr>
        <p:blipFill>
          <a:blip r:embed="rId1"/>
          <a:stretch>
            <a:fillRect/>
          </a:stretch>
        </p:blipFill>
        <p:spPr>
          <a:xfrm>
            <a:off x="914400" y="571500"/>
            <a:ext cx="209550" cy="209550"/>
          </a:xfrm>
          <a:prstGeom prst="rect">
            <a:avLst/>
          </a:prstGeom>
        </p:spPr>
      </p:pic>
      <p:sp>
        <p:nvSpPr>
          <p:cNvPr id="5" name="Text 2"/>
          <p:cNvSpPr/>
          <p:nvPr/>
        </p:nvSpPr>
        <p:spPr>
          <a:xfrm>
            <a:off x="1219200" y="533400"/>
            <a:ext cx="745108"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spc="-37" kern="0" dirty="0">
                <a:solidFill>
                  <a:srgbClr val="0F1419"/>
                </a:solidFill>
                <a:latin typeface="Arial" pitchFamily="34" charset="0"/>
                <a:ea typeface="Arial" pitchFamily="34" charset="-122"/>
                <a:cs typeface="Arial" pitchFamily="34" charset="-120"/>
              </a:rPr>
              <a:t>hatchik</a:t>
            </a:r>
            <a:endParaRPr lang="en-US" sz="1500" dirty="0"/>
          </a:p>
        </p:txBody>
      </p:sp>
      <p:sp>
        <p:nvSpPr>
          <p:cNvPr id="6" name="Text 3"/>
          <p:cNvSpPr/>
          <p:nvPr/>
        </p:nvSpPr>
        <p:spPr>
          <a:xfrm>
            <a:off x="15018618" y="562421"/>
            <a:ext cx="2431182" cy="265733"/>
          </a:xfrm>
          <a:prstGeom prst="rect">
            <a:avLst/>
          </a:prstGeom>
          <a:noFill/>
          <a:ln/>
        </p:spPr>
        <p:txBody>
          <a:bodyPr wrap="square" lIns="25400" tIns="25400" rIns="25400" bIns="25400" rtlCol="0" anchor="t">
            <a:normAutofit/>
          </a:bodyPr>
          <a:lstStyle/>
          <a:p>
            <a:pPr algn="l" indent="0" marL="0">
              <a:lnSpc>
                <a:spcPct val="140000"/>
              </a:lnSpc>
              <a:buNone/>
            </a:pPr>
            <a:r>
              <a:rPr lang="en-US" sz="1200" spc="120" kern="0" dirty="0">
                <a:solidFill>
                  <a:srgbClr val="0F1419"/>
                </a:solidFill>
                <a:latin typeface="Courier New" pitchFamily="34" charset="0"/>
                <a:ea typeface="Courier New" pitchFamily="34" charset="-122"/>
                <a:cs typeface="Courier New" pitchFamily="34" charset="-120"/>
              </a:rPr>
              <a:t>15 </a:t>
            </a:r>
            <a:pPr algn="l" indent="0" marL="0">
              <a:lnSpc>
                <a:spcPct val="140000"/>
              </a:lnSpc>
              <a:buNone/>
            </a:pPr>
            <a:r>
              <a:rPr lang="en-US" sz="1200" spc="120" kern="0" dirty="0">
                <a:solidFill>
                  <a:srgbClr val="5B47F0"/>
                </a:solidFill>
                <a:latin typeface="Courier New" pitchFamily="34" charset="0"/>
                <a:ea typeface="Courier New" pitchFamily="34" charset="-122"/>
                <a:cs typeface="Courier New" pitchFamily="34" charset="-120"/>
              </a:rPr>
              <a:t>· </a:t>
            </a:r>
            <a:pPr algn="l" indent="0" marL="0">
              <a:lnSpc>
                <a:spcPct val="140000"/>
              </a:lnSpc>
              <a:buNone/>
            </a:pPr>
            <a:r>
              <a:rPr lang="en-US" sz="1200" spc="120" kern="0" dirty="0">
                <a:solidFill>
                  <a:srgbClr val="6E7785"/>
                </a:solidFill>
                <a:latin typeface="Courier New" pitchFamily="34" charset="0"/>
                <a:ea typeface="Courier New" pitchFamily="34" charset="-122"/>
                <a:cs typeface="Courier New" pitchFamily="34" charset="-120"/>
              </a:rPr>
              <a:t>REVENUE TRAJECTORY</a:t>
            </a:r>
            <a:endParaRPr lang="en-US" sz="1200" dirty="0"/>
          </a:p>
        </p:txBody>
      </p:sp>
      <p:sp>
        <p:nvSpPr>
          <p:cNvPr id="7" name="Text 4"/>
          <p:cNvSpPr/>
          <p:nvPr/>
        </p:nvSpPr>
        <p:spPr>
          <a:xfrm>
            <a:off x="914400" y="1438275"/>
            <a:ext cx="15893415" cy="723900"/>
          </a:xfrm>
          <a:prstGeom prst="rect">
            <a:avLst/>
          </a:prstGeom>
          <a:noFill/>
          <a:ln/>
        </p:spPr>
        <p:txBody>
          <a:bodyPr wrap="square" lIns="25400" tIns="25400" rIns="25400" bIns="25400" rtlCol="0" anchor="t">
            <a:normAutofit/>
          </a:bodyPr>
          <a:lstStyle/>
          <a:p>
            <a:pPr algn="l" indent="0" marL="0">
              <a:lnSpc>
                <a:spcPct val="100000"/>
              </a:lnSpc>
              <a:buNone/>
            </a:pPr>
            <a:r>
              <a:rPr lang="en-US" sz="5400" b="1" spc="-216" kern="0" dirty="0">
                <a:solidFill>
                  <a:srgbClr val="0F1419"/>
                </a:solidFill>
                <a:latin typeface="Arial" pitchFamily="34" charset="0"/>
                <a:ea typeface="Arial" pitchFamily="34" charset="-122"/>
                <a:cs typeface="Arial" pitchFamily="34" charset="-120"/>
              </a:rPr>
              <a:t>MRR by month 18. </a:t>
            </a:r>
            <a:pPr algn="l" indent="0" marL="0">
              <a:lnSpc>
                <a:spcPct val="100000"/>
              </a:lnSpc>
              <a:buNone/>
            </a:pPr>
            <a:r>
              <a:rPr lang="en-US" sz="5400" b="1" spc="-216" kern="0" dirty="0">
                <a:solidFill>
                  <a:srgbClr val="5B47F0"/>
                </a:solidFill>
                <a:latin typeface="Arial" pitchFamily="34" charset="0"/>
                <a:ea typeface="Arial" pitchFamily="34" charset="-122"/>
                <a:cs typeface="Arial" pitchFamily="34" charset="-120"/>
              </a:rPr>
              <a:t>Two sprint scenarios.</a:t>
            </a:r>
            <a:endParaRPr lang="en-US" sz="5400" dirty="0"/>
          </a:p>
        </p:txBody>
      </p:sp>
      <p:sp>
        <p:nvSpPr>
          <p:cNvPr id="8" name="Shape 5"/>
          <p:cNvSpPr/>
          <p:nvPr/>
        </p:nvSpPr>
        <p:spPr>
          <a:xfrm>
            <a:off x="914400" y="2505075"/>
            <a:ext cx="16459200" cy="4648200"/>
          </a:xfrm>
          <a:prstGeom prst="roundRect">
            <a:avLst>
              <a:gd name="adj" fmla="val 2869"/>
            </a:avLst>
          </a:prstGeom>
          <a:solidFill>
            <a:srgbClr val="F7FAFC"/>
          </a:solidFill>
          <a:ln w="9525">
            <a:solidFill>
              <a:srgbClr val="DDE5EC"/>
            </a:solidFill>
            <a:prstDash val="solid"/>
          </a:ln>
        </p:spPr>
      </p:sp>
      <p:sp>
        <p:nvSpPr>
          <p:cNvPr id="9" name="Text 6"/>
          <p:cNvSpPr/>
          <p:nvPr/>
        </p:nvSpPr>
        <p:spPr>
          <a:xfrm>
            <a:off x="1304925" y="2819400"/>
            <a:ext cx="4408399"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spc="144" kern="0" dirty="0">
                <a:solidFill>
                  <a:srgbClr val="6E7785"/>
                </a:solidFill>
                <a:latin typeface="Courier New" pitchFamily="34" charset="0"/>
                <a:ea typeface="Courier New" pitchFamily="34" charset="-122"/>
                <a:cs typeface="Courier New" pitchFamily="34" charset="-120"/>
              </a:rPr>
              <a:t>MONTHLY RECURRING REVENUE · MONTHS 0–18</a:t>
            </a:r>
            <a:endParaRPr lang="en-US" sz="1200" dirty="0"/>
          </a:p>
        </p:txBody>
      </p:sp>
      <p:sp>
        <p:nvSpPr>
          <p:cNvPr id="10" name="Shape 7"/>
          <p:cNvSpPr/>
          <p:nvPr/>
        </p:nvSpPr>
        <p:spPr>
          <a:xfrm>
            <a:off x="14822463" y="2933700"/>
            <a:ext cx="114300" cy="38100"/>
          </a:xfrm>
          <a:prstGeom prst="roundRect">
            <a:avLst>
              <a:gd name="adj" fmla="val 50000"/>
            </a:avLst>
          </a:prstGeom>
          <a:solidFill>
            <a:srgbClr val="0F1419"/>
          </a:solidFill>
          <a:ln/>
        </p:spPr>
      </p:sp>
      <p:sp>
        <p:nvSpPr>
          <p:cNvPr id="11" name="Text 8"/>
          <p:cNvSpPr/>
          <p:nvPr/>
        </p:nvSpPr>
        <p:spPr>
          <a:xfrm>
            <a:off x="14993913" y="2886075"/>
            <a:ext cx="830759" cy="166688"/>
          </a:xfrm>
          <a:prstGeom prst="rect">
            <a:avLst/>
          </a:prstGeom>
          <a:noFill/>
          <a:ln/>
        </p:spPr>
        <p:txBody>
          <a:bodyPr wrap="square" lIns="0" tIns="0" rIns="0" bIns="0" rtlCol="0" anchor="t">
            <a:normAutofit/>
          </a:bodyPr>
          <a:lstStyle/>
          <a:p>
            <a:pPr algn="l" indent="0" marL="0">
              <a:lnSpc>
                <a:spcPct val="150000"/>
              </a:lnSpc>
              <a:buNone/>
            </a:pPr>
            <a:r>
              <a:rPr lang="en-US" sz="900" dirty="0">
                <a:solidFill>
                  <a:srgbClr val="2A3340"/>
                </a:solidFill>
                <a:latin typeface="Courier New" pitchFamily="34" charset="0"/>
                <a:ea typeface="Courier New" pitchFamily="34" charset="-122"/>
                <a:cs typeface="Courier New" pitchFamily="34" charset="-120"/>
              </a:rPr>
              <a:t>SPRINT BASE</a:t>
            </a:r>
            <a:endParaRPr lang="en-US" sz="900" dirty="0"/>
          </a:p>
        </p:txBody>
      </p:sp>
      <p:sp>
        <p:nvSpPr>
          <p:cNvPr id="12" name="Shape 9"/>
          <p:cNvSpPr/>
          <p:nvPr/>
        </p:nvSpPr>
        <p:spPr>
          <a:xfrm>
            <a:off x="15919921" y="2933700"/>
            <a:ext cx="114300" cy="38100"/>
          </a:xfrm>
          <a:prstGeom prst="roundRect">
            <a:avLst>
              <a:gd name="adj" fmla="val 50000"/>
            </a:avLst>
          </a:prstGeom>
          <a:solidFill>
            <a:srgbClr val="5B47F0"/>
          </a:solidFill>
          <a:ln/>
        </p:spPr>
      </p:sp>
      <p:sp>
        <p:nvSpPr>
          <p:cNvPr id="13" name="Text 10"/>
          <p:cNvSpPr/>
          <p:nvPr/>
        </p:nvSpPr>
        <p:spPr>
          <a:xfrm>
            <a:off x="16091371" y="2886075"/>
            <a:ext cx="967904" cy="166688"/>
          </a:xfrm>
          <a:prstGeom prst="rect">
            <a:avLst/>
          </a:prstGeom>
          <a:noFill/>
          <a:ln/>
        </p:spPr>
        <p:txBody>
          <a:bodyPr wrap="square" lIns="0" tIns="0" rIns="0" bIns="0" rtlCol="0" anchor="t">
            <a:normAutofit/>
          </a:bodyPr>
          <a:lstStyle/>
          <a:p>
            <a:pPr algn="l" indent="0" marL="0">
              <a:lnSpc>
                <a:spcPct val="150000"/>
              </a:lnSpc>
              <a:buNone/>
            </a:pPr>
            <a:r>
              <a:rPr lang="en-US" sz="900" dirty="0">
                <a:solidFill>
                  <a:srgbClr val="5B47F0"/>
                </a:solidFill>
                <a:latin typeface="Courier New" pitchFamily="34" charset="0"/>
                <a:ea typeface="Courier New" pitchFamily="34" charset="-122"/>
                <a:cs typeface="Courier New" pitchFamily="34" charset="-120"/>
              </a:rPr>
              <a:t>SPRINT UPSIDE</a:t>
            </a:r>
            <a:endParaRPr lang="en-US" sz="900" dirty="0"/>
          </a:p>
        </p:txBody>
      </p:sp>
      <p:pic>
        <p:nvPicPr>
          <p:cNvPr id="14" name="Image 1" descr="preencoded.png">    </p:cNvPr>
          <p:cNvPicPr>
            <a:picLocks noChangeAspect="1"/>
          </p:cNvPicPr>
          <p:nvPr/>
        </p:nvPicPr>
        <p:blipFill>
          <a:blip r:embed="rId2"/>
          <a:stretch>
            <a:fillRect/>
          </a:stretch>
        </p:blipFill>
        <p:spPr>
          <a:xfrm>
            <a:off x="1304925" y="3219450"/>
            <a:ext cx="15678150" cy="3619500"/>
          </a:xfrm>
          <a:prstGeom prst="rect">
            <a:avLst/>
          </a:prstGeom>
        </p:spPr>
      </p:pic>
      <p:sp>
        <p:nvSpPr>
          <p:cNvPr id="15" name="Shape 11"/>
          <p:cNvSpPr/>
          <p:nvPr/>
        </p:nvSpPr>
        <p:spPr>
          <a:xfrm>
            <a:off x="914400" y="7381875"/>
            <a:ext cx="8134350" cy="1962596"/>
          </a:xfrm>
          <a:prstGeom prst="roundRect">
            <a:avLst>
              <a:gd name="adj" fmla="val 7765"/>
            </a:avLst>
          </a:prstGeom>
          <a:solidFill>
            <a:srgbClr val="F7FAFC"/>
          </a:solidFill>
          <a:ln w="14288">
            <a:solidFill>
              <a:srgbClr val="DDE5EC"/>
            </a:solidFill>
            <a:prstDash val="solid"/>
          </a:ln>
          <a:effectLst>
            <a:outerShdw sx="100000" sy="100000" kx="0" ky="0" algn="bl" rotWithShape="0" blurRad="38100" dist="19050" dir="5400000">
              <a:srgbClr val="0F1419">
                <a:alpha val="4000"/>
              </a:srgbClr>
            </a:outerShdw>
          </a:effectLst>
        </p:spPr>
      </p:sp>
      <p:sp>
        <p:nvSpPr>
          <p:cNvPr id="16" name="Text 12"/>
          <p:cNvSpPr/>
          <p:nvPr/>
        </p:nvSpPr>
        <p:spPr>
          <a:xfrm>
            <a:off x="1195388" y="7662863"/>
            <a:ext cx="7799546"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113" kern="0" dirty="0">
                <a:solidFill>
                  <a:srgbClr val="6E7785"/>
                </a:solidFill>
                <a:latin typeface="Courier New" pitchFamily="34" charset="0"/>
                <a:ea typeface="Courier New" pitchFamily="34" charset="-122"/>
                <a:cs typeface="Courier New" pitchFamily="34" charset="-120"/>
              </a:rPr>
              <a:t>SPRINT BASE · M18</a:t>
            </a:r>
            <a:endParaRPr lang="en-US" sz="1125" dirty="0"/>
          </a:p>
        </p:txBody>
      </p:sp>
      <p:sp>
        <p:nvSpPr>
          <p:cNvPr id="17" name="Text 13"/>
          <p:cNvSpPr/>
          <p:nvPr/>
        </p:nvSpPr>
        <p:spPr>
          <a:xfrm>
            <a:off x="1195388" y="8010525"/>
            <a:ext cx="7799546" cy="647700"/>
          </a:xfrm>
          <a:prstGeom prst="rect">
            <a:avLst/>
          </a:prstGeom>
          <a:noFill/>
          <a:ln/>
        </p:spPr>
        <p:txBody>
          <a:bodyPr wrap="square" lIns="25400" tIns="25400" rIns="25400" bIns="25400" rtlCol="0" anchor="t">
            <a:normAutofit/>
          </a:bodyPr>
          <a:lstStyle/>
          <a:p>
            <a:pPr algn="l" indent="0" marL="0">
              <a:lnSpc>
                <a:spcPct val="100000"/>
              </a:lnSpc>
              <a:buNone/>
            </a:pPr>
            <a:r>
              <a:rPr lang="en-US" sz="4800" b="1" spc="-192" kern="0" dirty="0">
                <a:solidFill>
                  <a:srgbClr val="0F1419"/>
                </a:solidFill>
                <a:latin typeface="Arial" pitchFamily="34" charset="0"/>
                <a:ea typeface="Arial" pitchFamily="34" charset="-122"/>
                <a:cs typeface="Arial" pitchFamily="34" charset="-120"/>
              </a:rPr>
              <a:t>~£135K </a:t>
            </a:r>
            <a:pPr algn="l" indent="0" marL="0">
              <a:lnSpc>
                <a:spcPct val="100000"/>
              </a:lnSpc>
              <a:buNone/>
            </a:pPr>
            <a:r>
              <a:rPr lang="en-US" sz="1500" spc="-192" kern="0" dirty="0">
                <a:solidFill>
                  <a:srgbClr val="6E7785"/>
                </a:solidFill>
                <a:latin typeface="Arial" pitchFamily="34" charset="0"/>
                <a:ea typeface="Arial" pitchFamily="34" charset="-122"/>
                <a:cs typeface="Arial" pitchFamily="34" charset="-120"/>
              </a:rPr>
              <a:t>MRR</a:t>
            </a:r>
            <a:endParaRPr lang="en-US" sz="4800" dirty="0"/>
          </a:p>
        </p:txBody>
      </p:sp>
      <p:sp>
        <p:nvSpPr>
          <p:cNvPr id="18" name="Text 14"/>
          <p:cNvSpPr/>
          <p:nvPr/>
        </p:nvSpPr>
        <p:spPr>
          <a:xfrm>
            <a:off x="1195388" y="8753475"/>
            <a:ext cx="7799546" cy="348109"/>
          </a:xfrm>
          <a:prstGeom prst="rect">
            <a:avLst/>
          </a:prstGeom>
          <a:noFill/>
          <a:ln/>
        </p:spPr>
        <p:txBody>
          <a:bodyPr wrap="square" lIns="25400" tIns="25400" rIns="25400" bIns="25400" rtlCol="0" anchor="t">
            <a:normAutofit/>
          </a:bodyPr>
          <a:lstStyle/>
          <a:p>
            <a:pPr algn="l" indent="0" marL="0">
              <a:lnSpc>
                <a:spcPct val="155000"/>
              </a:lnSpc>
              <a:buNone/>
            </a:pPr>
            <a:r>
              <a:rPr lang="en-US" sz="1575" dirty="0">
                <a:solidFill>
                  <a:srgbClr val="2A3340"/>
                </a:solidFill>
                <a:latin typeface="Arial" pitchFamily="34" charset="0"/>
                <a:ea typeface="Arial" pitchFamily="34" charset="-122"/>
                <a:cs typeface="Arial" pitchFamily="34" charset="-120"/>
              </a:rPr>
              <a:t>Organic + creator sponsorships. Hits £40–80K by M9, plateaus £100–150K by M18.</a:t>
            </a:r>
            <a:endParaRPr lang="en-US" sz="1575" dirty="0"/>
          </a:p>
        </p:txBody>
      </p:sp>
      <p:sp>
        <p:nvSpPr>
          <p:cNvPr id="19" name="Shape 15"/>
          <p:cNvSpPr/>
          <p:nvPr/>
        </p:nvSpPr>
        <p:spPr>
          <a:xfrm>
            <a:off x="9239250" y="7381875"/>
            <a:ext cx="8134350" cy="1962596"/>
          </a:xfrm>
          <a:prstGeom prst="roundRect">
            <a:avLst>
              <a:gd name="adj" fmla="val 7765"/>
            </a:avLst>
          </a:prstGeom>
          <a:solidFill>
            <a:srgbClr val="6E5BF5"/>
          </a:solidFill>
          <a:ln/>
          <a:effectLst>
            <a:outerShdw sx="100000" sy="100000" kx="0" ky="0" algn="bl" rotWithShape="0" blurRad="133350" dist="38100" dir="5400000">
              <a:srgbClr val="5B47F0">
                <a:alpha val="40000"/>
              </a:srgbClr>
            </a:outerShdw>
          </a:effectLst>
        </p:spPr>
      </p:sp>
      <p:sp>
        <p:nvSpPr>
          <p:cNvPr id="20" name="Text 16"/>
          <p:cNvSpPr/>
          <p:nvPr/>
        </p:nvSpPr>
        <p:spPr>
          <a:xfrm>
            <a:off x="9520238" y="7662863"/>
            <a:ext cx="7799546"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113" kern="0" dirty="0">
                <a:solidFill>
                  <a:srgbClr val="FFFFFF">
                    <a:alpha val="65000"/>
                  </a:srgbClr>
                </a:solidFill>
                <a:latin typeface="Courier New" pitchFamily="34" charset="0"/>
                <a:ea typeface="Courier New" pitchFamily="34" charset="-122"/>
                <a:cs typeface="Courier New" pitchFamily="34" charset="-120"/>
              </a:rPr>
              <a:t>SPRINT UPSIDE · M18</a:t>
            </a:r>
            <a:endParaRPr lang="en-US" sz="1125" dirty="0"/>
          </a:p>
        </p:txBody>
      </p:sp>
      <p:sp>
        <p:nvSpPr>
          <p:cNvPr id="21" name="Text 17"/>
          <p:cNvSpPr/>
          <p:nvPr/>
        </p:nvSpPr>
        <p:spPr>
          <a:xfrm>
            <a:off x="9520238" y="8010525"/>
            <a:ext cx="7799546" cy="647700"/>
          </a:xfrm>
          <a:prstGeom prst="rect">
            <a:avLst/>
          </a:prstGeom>
          <a:noFill/>
          <a:ln/>
        </p:spPr>
        <p:txBody>
          <a:bodyPr wrap="square" lIns="25400" tIns="25400" rIns="25400" bIns="25400" rtlCol="0" anchor="t">
            <a:normAutofit/>
          </a:bodyPr>
          <a:lstStyle/>
          <a:p>
            <a:pPr algn="l" indent="0" marL="0">
              <a:lnSpc>
                <a:spcPct val="100000"/>
              </a:lnSpc>
              <a:buNone/>
            </a:pPr>
            <a:r>
              <a:rPr lang="en-US" sz="4800" b="1" spc="-192" kern="0" dirty="0">
                <a:solidFill>
                  <a:srgbClr val="FFFFFF"/>
                </a:solidFill>
                <a:latin typeface="Arial" pitchFamily="34" charset="0"/>
                <a:ea typeface="Arial" pitchFamily="34" charset="-122"/>
                <a:cs typeface="Arial" pitchFamily="34" charset="-120"/>
              </a:rPr>
              <a:t>~£380K </a:t>
            </a:r>
            <a:pPr algn="l" indent="0" marL="0">
              <a:lnSpc>
                <a:spcPct val="100000"/>
              </a:lnSpc>
              <a:buNone/>
            </a:pPr>
            <a:r>
              <a:rPr lang="en-US" sz="1500" spc="-192" kern="0" dirty="0">
                <a:solidFill>
                  <a:srgbClr val="FFFFFF">
                    <a:alpha val="70000"/>
                  </a:srgbClr>
                </a:solidFill>
                <a:latin typeface="Arial" pitchFamily="34" charset="0"/>
                <a:ea typeface="Arial" pitchFamily="34" charset="-122"/>
                <a:cs typeface="Arial" pitchFamily="34" charset="-120"/>
              </a:rPr>
              <a:t>MRR</a:t>
            </a:r>
            <a:endParaRPr lang="en-US" sz="4800" dirty="0"/>
          </a:p>
        </p:txBody>
      </p:sp>
      <p:sp>
        <p:nvSpPr>
          <p:cNvPr id="22" name="Text 18"/>
          <p:cNvSpPr/>
          <p:nvPr/>
        </p:nvSpPr>
        <p:spPr>
          <a:xfrm>
            <a:off x="9520238" y="8753475"/>
            <a:ext cx="7799546" cy="348109"/>
          </a:xfrm>
          <a:prstGeom prst="rect">
            <a:avLst/>
          </a:prstGeom>
          <a:noFill/>
          <a:ln/>
        </p:spPr>
        <p:txBody>
          <a:bodyPr wrap="square" lIns="25400" tIns="25400" rIns="25400" bIns="25400" rtlCol="0" anchor="t">
            <a:normAutofit/>
          </a:bodyPr>
          <a:lstStyle/>
          <a:p>
            <a:pPr algn="l" indent="0" marL="0">
              <a:lnSpc>
                <a:spcPct val="155000"/>
              </a:lnSpc>
              <a:buNone/>
            </a:pPr>
            <a:r>
              <a:rPr lang="en-US" sz="1575" dirty="0">
                <a:solidFill>
                  <a:srgbClr val="FFFFFF">
                    <a:alpha val="85000"/>
                  </a:srgbClr>
                </a:solidFill>
                <a:latin typeface="Arial" pitchFamily="34" charset="0"/>
                <a:ea typeface="Arial" pitchFamily="34" charset="-122"/>
                <a:cs typeface="Arial" pitchFamily="34" charset="-120"/>
              </a:rPr>
              <a:t>Full sprint executes. £200–400K MRR by M18. Capitalise window opens M9–12.</a:t>
            </a:r>
            <a:endParaRPr lang="en-US" sz="1575" dirty="0"/>
          </a:p>
        </p:txBody>
      </p:sp>
      <p:sp>
        <p:nvSpPr>
          <p:cNvPr id="23" name="Shape 19"/>
          <p:cNvSpPr/>
          <p:nvPr/>
        </p:nvSpPr>
        <p:spPr>
          <a:xfrm>
            <a:off x="914400" y="9344471"/>
            <a:ext cx="16459200" cy="9525"/>
          </a:xfrm>
          <a:prstGeom prst="rect">
            <a:avLst/>
          </a:prstGeom>
          <a:solidFill>
            <a:srgbClr val="DDE5EC"/>
          </a:solidFill>
          <a:ln/>
        </p:spPr>
      </p:sp>
      <p:sp>
        <p:nvSpPr>
          <p:cNvPr id="24" name="Text 20"/>
          <p:cNvSpPr/>
          <p:nvPr/>
        </p:nvSpPr>
        <p:spPr>
          <a:xfrm>
            <a:off x="914400" y="9589740"/>
            <a:ext cx="4533256"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113" kern="0" dirty="0">
                <a:solidFill>
                  <a:srgbClr val="6E7785"/>
                </a:solidFill>
                <a:latin typeface="Courier New" pitchFamily="34" charset="0"/>
                <a:ea typeface="Courier New" pitchFamily="34" charset="-122"/>
                <a:cs typeface="Courier New" pitchFamily="34" charset="-120"/>
              </a:rPr>
              <a:t>HATCHIK · INVESTOR &amp; PARTNER DECK · MAY 2026</a:t>
            </a:r>
            <a:endParaRPr lang="en-US" sz="1125" dirty="0"/>
          </a:p>
        </p:txBody>
      </p:sp>
      <p:sp>
        <p:nvSpPr>
          <p:cNvPr id="25" name="Text 21"/>
          <p:cNvSpPr/>
          <p:nvPr/>
        </p:nvSpPr>
        <p:spPr>
          <a:xfrm>
            <a:off x="16690851" y="9582596"/>
            <a:ext cx="758949"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spc="48" kern="0" dirty="0">
                <a:solidFill>
                  <a:srgbClr val="0F1419"/>
                </a:solidFill>
                <a:latin typeface="Courier New" pitchFamily="34" charset="0"/>
                <a:ea typeface="Courier New" pitchFamily="34" charset="-122"/>
                <a:cs typeface="Courier New" pitchFamily="34" charset="-120"/>
              </a:rPr>
              <a:t>15 / 31</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5B47F0">
              <a:alpha val="4000"/>
            </a:srgbClr>
          </a:solidFill>
          <a:ln/>
        </p:spPr>
      </p:sp>
      <p:sp>
        <p:nvSpPr>
          <p:cNvPr id="3" name="Shape 1"/>
          <p:cNvSpPr/>
          <p:nvPr/>
        </p:nvSpPr>
        <p:spPr>
          <a:xfrm>
            <a:off x="914400" y="1009650"/>
            <a:ext cx="16459200" cy="9525"/>
          </a:xfrm>
          <a:prstGeom prst="rect">
            <a:avLst/>
          </a:prstGeom>
          <a:solidFill>
            <a:srgbClr val="DDE5EC"/>
          </a:solidFill>
          <a:ln/>
        </p:spPr>
      </p:sp>
      <p:pic>
        <p:nvPicPr>
          <p:cNvPr id="4" name="Image 0" descr="preencoded.png">    </p:cNvPr>
          <p:cNvPicPr>
            <a:picLocks noChangeAspect="1"/>
          </p:cNvPicPr>
          <p:nvPr/>
        </p:nvPicPr>
        <p:blipFill>
          <a:blip r:embed="rId1"/>
          <a:stretch>
            <a:fillRect/>
          </a:stretch>
        </p:blipFill>
        <p:spPr>
          <a:xfrm>
            <a:off x="914400" y="571500"/>
            <a:ext cx="209550" cy="209550"/>
          </a:xfrm>
          <a:prstGeom prst="rect">
            <a:avLst/>
          </a:prstGeom>
        </p:spPr>
      </p:pic>
      <p:sp>
        <p:nvSpPr>
          <p:cNvPr id="5" name="Text 2"/>
          <p:cNvSpPr/>
          <p:nvPr/>
        </p:nvSpPr>
        <p:spPr>
          <a:xfrm>
            <a:off x="1219200" y="533400"/>
            <a:ext cx="745108"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spc="-37" kern="0" dirty="0">
                <a:solidFill>
                  <a:srgbClr val="0F1419"/>
                </a:solidFill>
                <a:latin typeface="Arial" pitchFamily="34" charset="0"/>
                <a:ea typeface="Arial" pitchFamily="34" charset="-122"/>
                <a:cs typeface="Arial" pitchFamily="34" charset="-120"/>
              </a:rPr>
              <a:t>hatchik</a:t>
            </a:r>
            <a:endParaRPr lang="en-US" sz="1500" dirty="0"/>
          </a:p>
        </p:txBody>
      </p:sp>
      <p:sp>
        <p:nvSpPr>
          <p:cNvPr id="6" name="Text 3"/>
          <p:cNvSpPr/>
          <p:nvPr/>
        </p:nvSpPr>
        <p:spPr>
          <a:xfrm>
            <a:off x="15445383" y="562421"/>
            <a:ext cx="2004417" cy="265733"/>
          </a:xfrm>
          <a:prstGeom prst="rect">
            <a:avLst/>
          </a:prstGeom>
          <a:noFill/>
          <a:ln/>
        </p:spPr>
        <p:txBody>
          <a:bodyPr wrap="square" lIns="25400" tIns="25400" rIns="25400" bIns="25400" rtlCol="0" anchor="t">
            <a:normAutofit/>
          </a:bodyPr>
          <a:lstStyle/>
          <a:p>
            <a:pPr algn="l" indent="0" marL="0">
              <a:lnSpc>
                <a:spcPct val="140000"/>
              </a:lnSpc>
              <a:buNone/>
            </a:pPr>
            <a:r>
              <a:rPr lang="en-US" sz="1200" spc="120" kern="0" dirty="0">
                <a:solidFill>
                  <a:srgbClr val="0F1419"/>
                </a:solidFill>
                <a:latin typeface="Courier New" pitchFamily="34" charset="0"/>
                <a:ea typeface="Courier New" pitchFamily="34" charset="-122"/>
                <a:cs typeface="Courier New" pitchFamily="34" charset="-120"/>
              </a:rPr>
              <a:t>16 </a:t>
            </a:r>
            <a:pPr algn="l" indent="0" marL="0">
              <a:lnSpc>
                <a:spcPct val="140000"/>
              </a:lnSpc>
              <a:buNone/>
            </a:pPr>
            <a:r>
              <a:rPr lang="en-US" sz="1200" spc="120" kern="0" dirty="0">
                <a:solidFill>
                  <a:srgbClr val="5B47F0"/>
                </a:solidFill>
                <a:latin typeface="Courier New" pitchFamily="34" charset="0"/>
                <a:ea typeface="Courier New" pitchFamily="34" charset="-122"/>
                <a:cs typeface="Courier New" pitchFamily="34" charset="-120"/>
              </a:rPr>
              <a:t>· </a:t>
            </a:r>
            <a:pPr algn="l" indent="0" marL="0">
              <a:lnSpc>
                <a:spcPct val="140000"/>
              </a:lnSpc>
              <a:buNone/>
            </a:pPr>
            <a:r>
              <a:rPr lang="en-US" sz="1200" spc="120" kern="0" dirty="0">
                <a:solidFill>
                  <a:srgbClr val="6E7785"/>
                </a:solidFill>
                <a:latin typeface="Courier New" pitchFamily="34" charset="0"/>
                <a:ea typeface="Courier New" pitchFamily="34" charset="-122"/>
                <a:cs typeface="Courier New" pitchFamily="34" charset="-120"/>
              </a:rPr>
              <a:t>MARGIN REALITY</a:t>
            </a:r>
            <a:endParaRPr lang="en-US" sz="1200" dirty="0"/>
          </a:p>
        </p:txBody>
      </p:sp>
      <p:sp>
        <p:nvSpPr>
          <p:cNvPr id="7" name="Text 4"/>
          <p:cNvSpPr/>
          <p:nvPr/>
        </p:nvSpPr>
        <p:spPr>
          <a:xfrm>
            <a:off x="914400" y="1438275"/>
            <a:ext cx="15893415" cy="723900"/>
          </a:xfrm>
          <a:prstGeom prst="rect">
            <a:avLst/>
          </a:prstGeom>
          <a:noFill/>
          <a:ln/>
        </p:spPr>
        <p:txBody>
          <a:bodyPr wrap="square" lIns="25400" tIns="25400" rIns="25400" bIns="25400" rtlCol="0" anchor="t">
            <a:normAutofit/>
          </a:bodyPr>
          <a:lstStyle/>
          <a:p>
            <a:pPr algn="l" indent="0" marL="0">
              <a:lnSpc>
                <a:spcPct val="100000"/>
              </a:lnSpc>
              <a:buNone/>
            </a:pPr>
            <a:r>
              <a:rPr lang="en-US" sz="5400" b="1" spc="-216" kern="0" dirty="0">
                <a:solidFill>
                  <a:srgbClr val="0F1419"/>
                </a:solidFill>
                <a:latin typeface="Arial" pitchFamily="34" charset="0"/>
                <a:ea typeface="Arial" pitchFamily="34" charset="-122"/>
                <a:cs typeface="Arial" pitchFamily="34" charset="-120"/>
              </a:rPr>
              <a:t>Repriced unit economics </a:t>
            </a:r>
            <a:pPr algn="l" indent="0" marL="0">
              <a:lnSpc>
                <a:spcPct val="100000"/>
              </a:lnSpc>
              <a:buNone/>
            </a:pPr>
            <a:r>
              <a:rPr lang="en-US" sz="5400" b="1" spc="-216" kern="0" dirty="0">
                <a:solidFill>
                  <a:srgbClr val="5B47F0"/>
                </a:solidFill>
                <a:latin typeface="Arial" pitchFamily="34" charset="0"/>
                <a:ea typeface="Arial" pitchFamily="34" charset="-122"/>
                <a:cs typeface="Arial" pitchFamily="34" charset="-120"/>
              </a:rPr>
              <a:t>× sprint MRR.</a:t>
            </a:r>
            <a:endParaRPr lang="en-US" sz="5400" dirty="0"/>
          </a:p>
        </p:txBody>
      </p:sp>
      <p:sp>
        <p:nvSpPr>
          <p:cNvPr id="8" name="Text 5"/>
          <p:cNvSpPr/>
          <p:nvPr/>
        </p:nvSpPr>
        <p:spPr>
          <a:xfrm>
            <a:off x="914400" y="2581275"/>
            <a:ext cx="8441997"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spc="144" kern="0" dirty="0">
                <a:solidFill>
                  <a:srgbClr val="6E7785"/>
                </a:solidFill>
                <a:latin typeface="Courier New" pitchFamily="34" charset="0"/>
                <a:ea typeface="Courier New" pitchFamily="34" charset="-122"/>
                <a:cs typeface="Courier New" pitchFamily="34" charset="-120"/>
              </a:rPr>
              <a:t>PER-CUSTOMER MARGIN · BLENDED · FINAL</a:t>
            </a:r>
            <a:endParaRPr lang="en-US" sz="1200" dirty="0"/>
          </a:p>
        </p:txBody>
      </p:sp>
      <p:sp>
        <p:nvSpPr>
          <p:cNvPr id="9" name="Shape 6"/>
          <p:cNvSpPr/>
          <p:nvPr/>
        </p:nvSpPr>
        <p:spPr>
          <a:xfrm>
            <a:off x="914400" y="2981325"/>
            <a:ext cx="8196114" cy="2038350"/>
          </a:xfrm>
          <a:prstGeom prst="roundRect">
            <a:avLst>
              <a:gd name="adj" fmla="val 6542"/>
            </a:avLst>
          </a:prstGeom>
          <a:solidFill>
            <a:srgbClr val="FFFFFF"/>
          </a:solidFill>
          <a:ln w="14288">
            <a:solidFill>
              <a:srgbClr val="DDE5EC"/>
            </a:solidFill>
            <a:prstDash val="solid"/>
          </a:ln>
          <a:effectLst>
            <a:outerShdw sx="100000" sy="100000" kx="0" ky="0" algn="bl" rotWithShape="0" blurRad="28575" dist="9525" dir="5400000">
              <a:srgbClr val="0F1419">
                <a:alpha val="4000"/>
              </a:srgbClr>
            </a:outerShdw>
          </a:effectLst>
        </p:spPr>
      </p:sp>
      <p:sp>
        <p:nvSpPr>
          <p:cNvPr id="10" name="Shape 7"/>
          <p:cNvSpPr/>
          <p:nvPr/>
        </p:nvSpPr>
        <p:spPr>
          <a:xfrm>
            <a:off x="928688" y="2995613"/>
            <a:ext cx="3440534" cy="457200"/>
          </a:xfrm>
          <a:prstGeom prst="rect">
            <a:avLst/>
          </a:prstGeom>
          <a:solidFill>
            <a:srgbClr val="EEF2F7"/>
          </a:solidFill>
          <a:ln/>
        </p:spPr>
      </p:sp>
      <p:sp>
        <p:nvSpPr>
          <p:cNvPr id="11" name="Shape 8"/>
          <p:cNvSpPr/>
          <p:nvPr/>
        </p:nvSpPr>
        <p:spPr>
          <a:xfrm>
            <a:off x="928688" y="3443288"/>
            <a:ext cx="3440534" cy="9525"/>
          </a:xfrm>
          <a:prstGeom prst="rect">
            <a:avLst/>
          </a:prstGeom>
          <a:solidFill>
            <a:srgbClr val="DDE5EC"/>
          </a:solidFill>
          <a:ln/>
        </p:spPr>
      </p:sp>
      <p:sp>
        <p:nvSpPr>
          <p:cNvPr id="12" name="Text 9"/>
          <p:cNvSpPr/>
          <p:nvPr/>
        </p:nvSpPr>
        <p:spPr>
          <a:xfrm>
            <a:off x="1081088" y="3128963"/>
            <a:ext cx="3238950" cy="219075"/>
          </a:xfrm>
          <a:prstGeom prst="rect">
            <a:avLst/>
          </a:prstGeom>
          <a:noFill/>
          <a:ln/>
        </p:spPr>
        <p:txBody>
          <a:bodyPr wrap="square" lIns="25400" tIns="25400" rIns="25400" bIns="25400" rtlCol="0" anchor="ctr">
            <a:normAutofit/>
          </a:bodyPr>
          <a:lstStyle/>
          <a:p>
            <a:pPr algn="l" indent="0" marL="0">
              <a:lnSpc>
                <a:spcPct val="150000"/>
              </a:lnSpc>
              <a:buNone/>
            </a:pPr>
            <a:r>
              <a:rPr lang="en-US" sz="975" spc="98" kern="0" dirty="0">
                <a:solidFill>
                  <a:srgbClr val="6E7785"/>
                </a:solidFill>
                <a:latin typeface="Courier New" pitchFamily="34" charset="0"/>
                <a:ea typeface="Courier New" pitchFamily="34" charset="-122"/>
                <a:cs typeface="Courier New" pitchFamily="34" charset="-120"/>
              </a:rPr>
              <a:t>METRIC</a:t>
            </a:r>
            <a:endParaRPr lang="en-US" sz="975" dirty="0"/>
          </a:p>
        </p:txBody>
      </p:sp>
      <p:sp>
        <p:nvSpPr>
          <p:cNvPr id="13" name="Shape 10"/>
          <p:cNvSpPr/>
          <p:nvPr/>
        </p:nvSpPr>
        <p:spPr>
          <a:xfrm>
            <a:off x="4369222" y="2995613"/>
            <a:ext cx="2016175" cy="457200"/>
          </a:xfrm>
          <a:prstGeom prst="rect">
            <a:avLst/>
          </a:prstGeom>
          <a:solidFill>
            <a:srgbClr val="EEF2F7"/>
          </a:solidFill>
          <a:ln/>
        </p:spPr>
      </p:sp>
      <p:sp>
        <p:nvSpPr>
          <p:cNvPr id="14" name="Shape 11"/>
          <p:cNvSpPr/>
          <p:nvPr/>
        </p:nvSpPr>
        <p:spPr>
          <a:xfrm>
            <a:off x="4369222" y="3443288"/>
            <a:ext cx="2016175" cy="9525"/>
          </a:xfrm>
          <a:prstGeom prst="rect">
            <a:avLst/>
          </a:prstGeom>
          <a:solidFill>
            <a:srgbClr val="DDE5EC"/>
          </a:solidFill>
          <a:ln/>
        </p:spPr>
      </p:sp>
      <p:sp>
        <p:nvSpPr>
          <p:cNvPr id="15" name="Text 12"/>
          <p:cNvSpPr/>
          <p:nvPr/>
        </p:nvSpPr>
        <p:spPr>
          <a:xfrm>
            <a:off x="4445422" y="3128963"/>
            <a:ext cx="1787575" cy="219075"/>
          </a:xfrm>
          <a:prstGeom prst="rect">
            <a:avLst/>
          </a:prstGeom>
          <a:noFill/>
          <a:ln/>
        </p:spPr>
        <p:txBody>
          <a:bodyPr wrap="square" lIns="25400" tIns="25400" rIns="25400" bIns="25400" rtlCol="0" anchor="ctr">
            <a:normAutofit/>
          </a:bodyPr>
          <a:lstStyle/>
          <a:p>
            <a:pPr algn="r" indent="0" marL="0">
              <a:lnSpc>
                <a:spcPct val="150000"/>
              </a:lnSpc>
              <a:buNone/>
            </a:pPr>
            <a:r>
              <a:rPr lang="en-US" sz="975" spc="98" kern="0" dirty="0">
                <a:solidFill>
                  <a:srgbClr val="6E7785"/>
                </a:solidFill>
                <a:latin typeface="Courier New" pitchFamily="34" charset="0"/>
                <a:ea typeface="Courier New" pitchFamily="34" charset="-122"/>
                <a:cs typeface="Courier New" pitchFamily="34" charset="-120"/>
              </a:rPr>
              <a:t>SUB REVENUE</a:t>
            </a:r>
            <a:endParaRPr lang="en-US" sz="975" dirty="0"/>
          </a:p>
        </p:txBody>
      </p:sp>
      <p:sp>
        <p:nvSpPr>
          <p:cNvPr id="16" name="Shape 13"/>
          <p:cNvSpPr/>
          <p:nvPr/>
        </p:nvSpPr>
        <p:spPr>
          <a:xfrm>
            <a:off x="6385396" y="2995613"/>
            <a:ext cx="2710830" cy="457200"/>
          </a:xfrm>
          <a:prstGeom prst="rect">
            <a:avLst/>
          </a:prstGeom>
          <a:solidFill>
            <a:srgbClr val="EEF2F7"/>
          </a:solidFill>
          <a:ln/>
        </p:spPr>
      </p:sp>
      <p:sp>
        <p:nvSpPr>
          <p:cNvPr id="17" name="Shape 14"/>
          <p:cNvSpPr/>
          <p:nvPr/>
        </p:nvSpPr>
        <p:spPr>
          <a:xfrm>
            <a:off x="6385396" y="3443288"/>
            <a:ext cx="2710830" cy="9525"/>
          </a:xfrm>
          <a:prstGeom prst="rect">
            <a:avLst/>
          </a:prstGeom>
          <a:solidFill>
            <a:srgbClr val="DDE5EC"/>
          </a:solidFill>
          <a:ln/>
        </p:spPr>
      </p:sp>
      <p:sp>
        <p:nvSpPr>
          <p:cNvPr id="18" name="Text 15"/>
          <p:cNvSpPr/>
          <p:nvPr/>
        </p:nvSpPr>
        <p:spPr>
          <a:xfrm>
            <a:off x="6456471" y="3128963"/>
            <a:ext cx="2487355" cy="219075"/>
          </a:xfrm>
          <a:prstGeom prst="rect">
            <a:avLst/>
          </a:prstGeom>
          <a:noFill/>
          <a:ln/>
        </p:spPr>
        <p:txBody>
          <a:bodyPr wrap="square" lIns="25400" tIns="25400" rIns="25400" bIns="25400" rtlCol="0" anchor="ctr">
            <a:normAutofit/>
          </a:bodyPr>
          <a:lstStyle/>
          <a:p>
            <a:pPr algn="r" indent="0" marL="0">
              <a:lnSpc>
                <a:spcPct val="150000"/>
              </a:lnSpc>
              <a:buNone/>
            </a:pPr>
            <a:r>
              <a:rPr lang="en-US" sz="975" spc="98" kern="0" dirty="0">
                <a:solidFill>
                  <a:srgbClr val="6E7785"/>
                </a:solidFill>
                <a:latin typeface="Courier New" pitchFamily="34" charset="0"/>
                <a:ea typeface="Courier New" pitchFamily="34" charset="-122"/>
                <a:cs typeface="Courier New" pitchFamily="34" charset="-120"/>
              </a:rPr>
              <a:t>FINAL MID MARGIN</a:t>
            </a:r>
            <a:endParaRPr lang="en-US" sz="975" dirty="0"/>
          </a:p>
        </p:txBody>
      </p:sp>
      <p:sp>
        <p:nvSpPr>
          <p:cNvPr id="19" name="Shape 16"/>
          <p:cNvSpPr/>
          <p:nvPr/>
        </p:nvSpPr>
        <p:spPr>
          <a:xfrm>
            <a:off x="928688" y="3962400"/>
            <a:ext cx="3440534" cy="9525"/>
          </a:xfrm>
          <a:prstGeom prst="rect">
            <a:avLst/>
          </a:prstGeom>
          <a:solidFill>
            <a:srgbClr val="DDE5EC"/>
          </a:solidFill>
          <a:ln/>
        </p:spPr>
      </p:sp>
      <p:sp>
        <p:nvSpPr>
          <p:cNvPr id="20" name="Text 17"/>
          <p:cNvSpPr/>
          <p:nvPr/>
        </p:nvSpPr>
        <p:spPr>
          <a:xfrm>
            <a:off x="1081088" y="3586163"/>
            <a:ext cx="3238950" cy="280988"/>
          </a:xfrm>
          <a:prstGeom prst="rect">
            <a:avLst/>
          </a:prstGeom>
          <a:noFill/>
          <a:ln/>
        </p:spPr>
        <p:txBody>
          <a:bodyPr wrap="square" lIns="25400" tIns="25400" rIns="25400" bIns="25400" rtlCol="0" anchor="ctr">
            <a:normAutofit/>
          </a:bodyPr>
          <a:lstStyle/>
          <a:p>
            <a:pPr algn="l" indent="0" marL="0">
              <a:lnSpc>
                <a:spcPct val="150000"/>
              </a:lnSpc>
              <a:buNone/>
            </a:pPr>
            <a:r>
              <a:rPr lang="en-US" sz="1275" dirty="0">
                <a:solidFill>
                  <a:srgbClr val="0F1419"/>
                </a:solidFill>
                <a:latin typeface="Arial" pitchFamily="34" charset="0"/>
                <a:ea typeface="Arial" pitchFamily="34" charset="-122"/>
                <a:cs typeface="Arial" pitchFamily="34" charset="-120"/>
              </a:rPr>
              <a:t>Launch blended /mo</a:t>
            </a:r>
            <a:endParaRPr lang="en-US" sz="1275" dirty="0"/>
          </a:p>
        </p:txBody>
      </p:sp>
      <p:sp>
        <p:nvSpPr>
          <p:cNvPr id="21" name="Shape 18"/>
          <p:cNvSpPr/>
          <p:nvPr/>
        </p:nvSpPr>
        <p:spPr>
          <a:xfrm>
            <a:off x="4369222" y="3962400"/>
            <a:ext cx="2016175" cy="9525"/>
          </a:xfrm>
          <a:prstGeom prst="rect">
            <a:avLst/>
          </a:prstGeom>
          <a:solidFill>
            <a:srgbClr val="DDE5EC"/>
          </a:solidFill>
          <a:ln/>
        </p:spPr>
      </p:sp>
      <p:sp>
        <p:nvSpPr>
          <p:cNvPr id="22" name="Text 19"/>
          <p:cNvSpPr/>
          <p:nvPr/>
        </p:nvSpPr>
        <p:spPr>
          <a:xfrm>
            <a:off x="4445422" y="3586163"/>
            <a:ext cx="1787575" cy="280988"/>
          </a:xfrm>
          <a:prstGeom prst="rect">
            <a:avLst/>
          </a:prstGeom>
          <a:noFill/>
          <a:ln/>
        </p:spPr>
        <p:txBody>
          <a:bodyPr wrap="square" lIns="25400" tIns="25400" rIns="25400" bIns="25400" rtlCol="0" anchor="ctr">
            <a:normAutofit/>
          </a:bodyPr>
          <a:lstStyle/>
          <a:p>
            <a:pPr algn="r" indent="0" marL="0">
              <a:lnSpc>
                <a:spcPct val="150000"/>
              </a:lnSpc>
              <a:buNone/>
            </a:pPr>
            <a:r>
              <a:rPr lang="en-US" sz="1275" dirty="0">
                <a:solidFill>
                  <a:srgbClr val="0F1419"/>
                </a:solidFill>
                <a:latin typeface="Courier New" pitchFamily="34" charset="0"/>
                <a:ea typeface="Courier New" pitchFamily="34" charset="-122"/>
                <a:cs typeface="Courier New" pitchFamily="34" charset="-120"/>
              </a:rPr>
              <a:t>~£15.80</a:t>
            </a:r>
            <a:endParaRPr lang="en-US" sz="1275" dirty="0"/>
          </a:p>
        </p:txBody>
      </p:sp>
      <p:sp>
        <p:nvSpPr>
          <p:cNvPr id="23" name="Shape 20"/>
          <p:cNvSpPr/>
          <p:nvPr/>
        </p:nvSpPr>
        <p:spPr>
          <a:xfrm>
            <a:off x="6385396" y="3962400"/>
            <a:ext cx="2710830" cy="9525"/>
          </a:xfrm>
          <a:prstGeom prst="rect">
            <a:avLst/>
          </a:prstGeom>
          <a:solidFill>
            <a:srgbClr val="DDE5EC"/>
          </a:solidFill>
          <a:ln/>
        </p:spPr>
      </p:sp>
      <p:sp>
        <p:nvSpPr>
          <p:cNvPr id="24" name="Text 21"/>
          <p:cNvSpPr/>
          <p:nvPr/>
        </p:nvSpPr>
        <p:spPr>
          <a:xfrm>
            <a:off x="6456471" y="3586163"/>
            <a:ext cx="2487355" cy="280988"/>
          </a:xfrm>
          <a:prstGeom prst="rect">
            <a:avLst/>
          </a:prstGeom>
          <a:noFill/>
          <a:ln/>
        </p:spPr>
        <p:txBody>
          <a:bodyPr wrap="square" lIns="25400" tIns="25400" rIns="25400" bIns="25400" rtlCol="0" anchor="ctr">
            <a:normAutofit/>
          </a:bodyPr>
          <a:lstStyle/>
          <a:p>
            <a:pPr algn="r" indent="0" marL="0">
              <a:lnSpc>
                <a:spcPct val="150000"/>
              </a:lnSpc>
              <a:buNone/>
            </a:pPr>
            <a:r>
              <a:rPr lang="en-US" sz="1275" b="1" dirty="0">
                <a:solidFill>
                  <a:srgbClr val="5B47F0"/>
                </a:solidFill>
                <a:latin typeface="Arial" pitchFamily="34" charset="0"/>
                <a:ea typeface="Arial" pitchFamily="34" charset="-122"/>
                <a:cs typeface="Arial" pitchFamily="34" charset="-120"/>
              </a:rPr>
              <a:t>~£11.55</a:t>
            </a:r>
            <a:endParaRPr lang="en-US" sz="1275" dirty="0"/>
          </a:p>
        </p:txBody>
      </p:sp>
      <p:sp>
        <p:nvSpPr>
          <p:cNvPr id="25" name="Shape 22"/>
          <p:cNvSpPr/>
          <p:nvPr/>
        </p:nvSpPr>
        <p:spPr>
          <a:xfrm>
            <a:off x="928688" y="4481513"/>
            <a:ext cx="3440534" cy="9525"/>
          </a:xfrm>
          <a:prstGeom prst="rect">
            <a:avLst/>
          </a:prstGeom>
          <a:solidFill>
            <a:srgbClr val="DDE5EC"/>
          </a:solidFill>
          <a:ln/>
        </p:spPr>
      </p:sp>
      <p:sp>
        <p:nvSpPr>
          <p:cNvPr id="26" name="Text 23"/>
          <p:cNvSpPr/>
          <p:nvPr/>
        </p:nvSpPr>
        <p:spPr>
          <a:xfrm>
            <a:off x="1081088" y="4105275"/>
            <a:ext cx="3238950" cy="280988"/>
          </a:xfrm>
          <a:prstGeom prst="rect">
            <a:avLst/>
          </a:prstGeom>
          <a:noFill/>
          <a:ln/>
        </p:spPr>
        <p:txBody>
          <a:bodyPr wrap="square" lIns="25400" tIns="25400" rIns="25400" bIns="25400" rtlCol="0" anchor="ctr">
            <a:normAutofit/>
          </a:bodyPr>
          <a:lstStyle/>
          <a:p>
            <a:pPr algn="l" indent="0" marL="0">
              <a:lnSpc>
                <a:spcPct val="150000"/>
              </a:lnSpc>
              <a:buNone/>
            </a:pPr>
            <a:r>
              <a:rPr lang="en-US" sz="1275" dirty="0">
                <a:solidFill>
                  <a:srgbClr val="0F1419"/>
                </a:solidFill>
                <a:latin typeface="Arial" pitchFamily="34" charset="0"/>
                <a:ea typeface="Arial" pitchFamily="34" charset="-122"/>
                <a:cs typeface="Arial" pitchFamily="34" charset="-120"/>
              </a:rPr>
              <a:t>Launch Y1 net / customer</a:t>
            </a:r>
            <a:endParaRPr lang="en-US" sz="1275" dirty="0"/>
          </a:p>
        </p:txBody>
      </p:sp>
      <p:sp>
        <p:nvSpPr>
          <p:cNvPr id="27" name="Shape 24"/>
          <p:cNvSpPr/>
          <p:nvPr/>
        </p:nvSpPr>
        <p:spPr>
          <a:xfrm>
            <a:off x="4369222" y="4481513"/>
            <a:ext cx="2016175" cy="9525"/>
          </a:xfrm>
          <a:prstGeom prst="rect">
            <a:avLst/>
          </a:prstGeom>
          <a:solidFill>
            <a:srgbClr val="DDE5EC"/>
          </a:solidFill>
          <a:ln/>
        </p:spPr>
      </p:sp>
      <p:sp>
        <p:nvSpPr>
          <p:cNvPr id="28" name="Text 25"/>
          <p:cNvSpPr/>
          <p:nvPr/>
        </p:nvSpPr>
        <p:spPr>
          <a:xfrm>
            <a:off x="4445422" y="4105275"/>
            <a:ext cx="1787575" cy="280988"/>
          </a:xfrm>
          <a:prstGeom prst="rect">
            <a:avLst/>
          </a:prstGeom>
          <a:noFill/>
          <a:ln/>
        </p:spPr>
        <p:txBody>
          <a:bodyPr wrap="square" lIns="25400" tIns="25400" rIns="25400" bIns="25400" rtlCol="0" anchor="ctr">
            <a:normAutofit/>
          </a:bodyPr>
          <a:lstStyle/>
          <a:p>
            <a:pPr algn="r" indent="0" marL="0">
              <a:lnSpc>
                <a:spcPct val="150000"/>
              </a:lnSpc>
              <a:buNone/>
            </a:pPr>
            <a:r>
              <a:rPr lang="en-US" sz="1275" dirty="0">
                <a:solidFill>
                  <a:srgbClr val="0F1419"/>
                </a:solidFill>
                <a:latin typeface="Courier New" pitchFamily="34" charset="0"/>
                <a:ea typeface="Courier New" pitchFamily="34" charset="-122"/>
                <a:cs typeface="Courier New" pitchFamily="34" charset="-120"/>
              </a:rPr>
              <a:t>~£190</a:t>
            </a:r>
            <a:endParaRPr lang="en-US" sz="1275" dirty="0"/>
          </a:p>
        </p:txBody>
      </p:sp>
      <p:sp>
        <p:nvSpPr>
          <p:cNvPr id="29" name="Shape 26"/>
          <p:cNvSpPr/>
          <p:nvPr/>
        </p:nvSpPr>
        <p:spPr>
          <a:xfrm>
            <a:off x="6385396" y="4481513"/>
            <a:ext cx="2710830" cy="9525"/>
          </a:xfrm>
          <a:prstGeom prst="rect">
            <a:avLst/>
          </a:prstGeom>
          <a:solidFill>
            <a:srgbClr val="DDE5EC"/>
          </a:solidFill>
          <a:ln/>
        </p:spPr>
      </p:sp>
      <p:sp>
        <p:nvSpPr>
          <p:cNvPr id="30" name="Text 27"/>
          <p:cNvSpPr/>
          <p:nvPr/>
        </p:nvSpPr>
        <p:spPr>
          <a:xfrm>
            <a:off x="6456471" y="4105275"/>
            <a:ext cx="2487355" cy="280988"/>
          </a:xfrm>
          <a:prstGeom prst="rect">
            <a:avLst/>
          </a:prstGeom>
          <a:noFill/>
          <a:ln/>
        </p:spPr>
        <p:txBody>
          <a:bodyPr wrap="square" lIns="25400" tIns="25400" rIns="25400" bIns="25400" rtlCol="0" anchor="ctr">
            <a:normAutofit/>
          </a:bodyPr>
          <a:lstStyle/>
          <a:p>
            <a:pPr algn="r" indent="0" marL="0">
              <a:lnSpc>
                <a:spcPct val="150000"/>
              </a:lnSpc>
              <a:buNone/>
            </a:pPr>
            <a:r>
              <a:rPr lang="en-US" sz="1275" b="1" dirty="0">
                <a:solidFill>
                  <a:srgbClr val="5B47F0"/>
                </a:solidFill>
                <a:latin typeface="Arial" pitchFamily="34" charset="0"/>
                <a:ea typeface="Arial" pitchFamily="34" charset="-122"/>
                <a:cs typeface="Arial" pitchFamily="34" charset="-120"/>
              </a:rPr>
              <a:t>~£211</a:t>
            </a:r>
            <a:endParaRPr lang="en-US" sz="1275" dirty="0"/>
          </a:p>
        </p:txBody>
      </p:sp>
      <p:sp>
        <p:nvSpPr>
          <p:cNvPr id="31" name="Text 28"/>
          <p:cNvSpPr/>
          <p:nvPr/>
        </p:nvSpPr>
        <p:spPr>
          <a:xfrm>
            <a:off x="1081088" y="4624387"/>
            <a:ext cx="3238950" cy="285750"/>
          </a:xfrm>
          <a:prstGeom prst="rect">
            <a:avLst/>
          </a:prstGeom>
          <a:noFill/>
          <a:ln/>
        </p:spPr>
        <p:txBody>
          <a:bodyPr wrap="square" lIns="25400" tIns="25400" rIns="25400" bIns="25400" rtlCol="0" anchor="ctr">
            <a:normAutofit/>
          </a:bodyPr>
          <a:lstStyle/>
          <a:p>
            <a:pPr algn="l" indent="0" marL="0">
              <a:lnSpc>
                <a:spcPct val="150000"/>
              </a:lnSpc>
              <a:buNone/>
            </a:pPr>
            <a:r>
              <a:rPr lang="en-US" sz="1275" dirty="0">
                <a:solidFill>
                  <a:srgbClr val="0F1419"/>
                </a:solidFill>
                <a:latin typeface="Arial" pitchFamily="34" charset="0"/>
                <a:ea typeface="Arial" pitchFamily="34" charset="-122"/>
                <a:cs typeface="Arial" pitchFamily="34" charset="-120"/>
              </a:rPr>
              <a:t>Growth Y1 net / customer</a:t>
            </a:r>
            <a:endParaRPr lang="en-US" sz="1275" dirty="0"/>
          </a:p>
        </p:txBody>
      </p:sp>
      <p:sp>
        <p:nvSpPr>
          <p:cNvPr id="32" name="Text 29"/>
          <p:cNvSpPr/>
          <p:nvPr/>
        </p:nvSpPr>
        <p:spPr>
          <a:xfrm>
            <a:off x="4445422" y="4624387"/>
            <a:ext cx="1787575" cy="285750"/>
          </a:xfrm>
          <a:prstGeom prst="rect">
            <a:avLst/>
          </a:prstGeom>
          <a:noFill/>
          <a:ln/>
        </p:spPr>
        <p:txBody>
          <a:bodyPr wrap="square" lIns="25400" tIns="25400" rIns="25400" bIns="25400" rtlCol="0" anchor="ctr">
            <a:normAutofit/>
          </a:bodyPr>
          <a:lstStyle/>
          <a:p>
            <a:pPr algn="r" indent="0" marL="0">
              <a:lnSpc>
                <a:spcPct val="150000"/>
              </a:lnSpc>
              <a:buNone/>
            </a:pPr>
            <a:r>
              <a:rPr lang="en-US" sz="1275" dirty="0">
                <a:solidFill>
                  <a:srgbClr val="0F1419"/>
                </a:solidFill>
                <a:latin typeface="Courier New" pitchFamily="34" charset="0"/>
                <a:ea typeface="Courier New" pitchFamily="34" charset="-122"/>
                <a:cs typeface="Courier New" pitchFamily="34" charset="-120"/>
              </a:rPr>
              <a:t>~£468</a:t>
            </a:r>
            <a:endParaRPr lang="en-US" sz="1275" dirty="0"/>
          </a:p>
        </p:txBody>
      </p:sp>
      <p:sp>
        <p:nvSpPr>
          <p:cNvPr id="33" name="Text 30"/>
          <p:cNvSpPr/>
          <p:nvPr/>
        </p:nvSpPr>
        <p:spPr>
          <a:xfrm>
            <a:off x="6456471" y="4624387"/>
            <a:ext cx="2487355" cy="285750"/>
          </a:xfrm>
          <a:prstGeom prst="rect">
            <a:avLst/>
          </a:prstGeom>
          <a:noFill/>
          <a:ln/>
        </p:spPr>
        <p:txBody>
          <a:bodyPr wrap="square" lIns="25400" tIns="25400" rIns="25400" bIns="25400" rtlCol="0" anchor="ctr">
            <a:normAutofit/>
          </a:bodyPr>
          <a:lstStyle/>
          <a:p>
            <a:pPr algn="r" indent="0" marL="0">
              <a:lnSpc>
                <a:spcPct val="150000"/>
              </a:lnSpc>
              <a:buNone/>
            </a:pPr>
            <a:r>
              <a:rPr lang="en-US" sz="1275" b="1" dirty="0">
                <a:solidFill>
                  <a:srgbClr val="5B47F0"/>
                </a:solidFill>
                <a:latin typeface="Arial" pitchFamily="34" charset="0"/>
                <a:ea typeface="Arial" pitchFamily="34" charset="-122"/>
                <a:cs typeface="Arial" pitchFamily="34" charset="-120"/>
              </a:rPr>
              <a:t>~£381</a:t>
            </a:r>
            <a:endParaRPr lang="en-US" sz="1275" dirty="0"/>
          </a:p>
        </p:txBody>
      </p:sp>
      <p:sp>
        <p:nvSpPr>
          <p:cNvPr id="34" name="Text 31"/>
          <p:cNvSpPr/>
          <p:nvPr/>
        </p:nvSpPr>
        <p:spPr>
          <a:xfrm>
            <a:off x="914400" y="5191125"/>
            <a:ext cx="8441997" cy="746671"/>
          </a:xfrm>
          <a:prstGeom prst="rect">
            <a:avLst/>
          </a:prstGeom>
          <a:noFill/>
          <a:ln/>
        </p:spPr>
        <p:txBody>
          <a:bodyPr wrap="square" lIns="25400" tIns="25400" rIns="25400" bIns="25400" rtlCol="0" anchor="t">
            <a:normAutofit/>
          </a:bodyPr>
          <a:lstStyle/>
          <a:p>
            <a:pPr algn="l" indent="0" marL="0">
              <a:lnSpc>
                <a:spcPct val="155000"/>
              </a:lnSpc>
              <a:buNone/>
            </a:pPr>
            <a:r>
              <a:rPr lang="en-US" sz="1200" spc="48" kern="0" dirty="0">
                <a:solidFill>
                  <a:srgbClr val="6E7785"/>
                </a:solidFill>
                <a:latin typeface="Courier New" pitchFamily="34" charset="0"/>
                <a:ea typeface="Courier New" pitchFamily="34" charset="-122"/>
                <a:cs typeface="Courier New" pitchFamily="34" charset="-120"/>
              </a:rPr>
              <a:t>Dual sub (£14 annual / £17 monthly, 40/60 blend), pass-through overage at cost × 1.60, shared multi-tenant Launch host (CAX41), 3 mailboxes, dedicated VPS at Growth. Y1 OPEX ≈ £90K (founder draw excluded).</a:t>
            </a:r>
            <a:endParaRPr lang="en-US" sz="1200" dirty="0"/>
          </a:p>
        </p:txBody>
      </p:sp>
      <p:sp>
        <p:nvSpPr>
          <p:cNvPr id="35" name="Shape 32"/>
          <p:cNvSpPr/>
          <p:nvPr/>
        </p:nvSpPr>
        <p:spPr>
          <a:xfrm>
            <a:off x="9567714" y="2581275"/>
            <a:ext cx="7805886" cy="1915939"/>
          </a:xfrm>
          <a:prstGeom prst="roundRect">
            <a:avLst>
              <a:gd name="adj" fmla="val 7954"/>
            </a:avLst>
          </a:prstGeom>
          <a:solidFill>
            <a:srgbClr val="FFFFFF"/>
          </a:solidFill>
          <a:ln w="14288">
            <a:solidFill>
              <a:srgbClr val="DDE5EC"/>
            </a:solidFill>
            <a:prstDash val="solid"/>
          </a:ln>
          <a:effectLst>
            <a:outerShdw sx="100000" sy="100000" kx="0" ky="0" algn="bl" rotWithShape="0" blurRad="38100" dist="19050" dir="5400000">
              <a:srgbClr val="0F1419">
                <a:alpha val="4000"/>
              </a:srgbClr>
            </a:outerShdw>
          </a:effectLst>
        </p:spPr>
      </p:sp>
      <p:sp>
        <p:nvSpPr>
          <p:cNvPr id="36" name="Text 33"/>
          <p:cNvSpPr/>
          <p:nvPr/>
        </p:nvSpPr>
        <p:spPr>
          <a:xfrm>
            <a:off x="9848701" y="2862263"/>
            <a:ext cx="7461229"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113" kern="0" dirty="0">
                <a:solidFill>
                  <a:srgbClr val="6E7785"/>
                </a:solidFill>
                <a:latin typeface="Courier New" pitchFamily="34" charset="0"/>
                <a:ea typeface="Courier New" pitchFamily="34" charset="-122"/>
                <a:cs typeface="Courier New" pitchFamily="34" charset="-120"/>
              </a:rPr>
              <a:t>SPRINT BASE · M18 · ~£135K MRR</a:t>
            </a:r>
            <a:endParaRPr lang="en-US" sz="1125" dirty="0"/>
          </a:p>
        </p:txBody>
      </p:sp>
      <p:sp>
        <p:nvSpPr>
          <p:cNvPr id="37" name="Text 34"/>
          <p:cNvSpPr/>
          <p:nvPr/>
        </p:nvSpPr>
        <p:spPr>
          <a:xfrm>
            <a:off x="9848701" y="3209925"/>
            <a:ext cx="7461229" cy="689595"/>
          </a:xfrm>
          <a:prstGeom prst="rect">
            <a:avLst/>
          </a:prstGeom>
          <a:noFill/>
          <a:ln/>
        </p:spPr>
        <p:txBody>
          <a:bodyPr wrap="square" lIns="25400" tIns="25400" rIns="25400" bIns="25400" rtlCol="0" anchor="t">
            <a:normAutofit/>
          </a:bodyPr>
          <a:lstStyle/>
          <a:p>
            <a:pPr algn="l" indent="0" marL="0">
              <a:lnSpc>
                <a:spcPct val="95000"/>
              </a:lnSpc>
              <a:buNone/>
            </a:pPr>
            <a:r>
              <a:rPr lang="en-US" sz="5400" b="1" spc="-243" kern="0" dirty="0">
                <a:solidFill>
                  <a:srgbClr val="0F1419"/>
                </a:solidFill>
                <a:latin typeface="Arial" pitchFamily="34" charset="0"/>
                <a:ea typeface="Arial" pitchFamily="34" charset="-122"/>
                <a:cs typeface="Arial" pitchFamily="34" charset="-120"/>
              </a:rPr>
              <a:t>~£1.6M </a:t>
            </a:r>
            <a:pPr algn="l" indent="0" marL="0">
              <a:lnSpc>
                <a:spcPct val="95000"/>
              </a:lnSpc>
              <a:buNone/>
            </a:pPr>
            <a:r>
              <a:rPr lang="en-US" sz="1650" spc="-243" kern="0" dirty="0">
                <a:solidFill>
                  <a:srgbClr val="6E7785"/>
                </a:solidFill>
                <a:latin typeface="Arial" pitchFamily="34" charset="0"/>
                <a:ea typeface="Arial" pitchFamily="34" charset="-122"/>
                <a:cs typeface="Arial" pitchFamily="34" charset="-120"/>
              </a:rPr>
              <a:t>ARR</a:t>
            </a:r>
            <a:endParaRPr lang="en-US" sz="5400" dirty="0"/>
          </a:p>
        </p:txBody>
      </p:sp>
      <p:sp>
        <p:nvSpPr>
          <p:cNvPr id="38" name="Text 35"/>
          <p:cNvSpPr/>
          <p:nvPr/>
        </p:nvSpPr>
        <p:spPr>
          <a:xfrm>
            <a:off x="9848701" y="3994770"/>
            <a:ext cx="7461229" cy="259556"/>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2A3340"/>
                </a:solidFill>
                <a:latin typeface="Arial" pitchFamily="34" charset="0"/>
                <a:ea typeface="Arial" pitchFamily="34" charset="-122"/>
                <a:cs typeface="Arial" pitchFamily="34" charset="-120"/>
              </a:rPr>
              <a:t>Real business at solo-founder scale. Profitable from ~month 6.</a:t>
            </a:r>
            <a:endParaRPr lang="en-US" sz="1125" dirty="0"/>
          </a:p>
        </p:txBody>
      </p:sp>
      <p:sp>
        <p:nvSpPr>
          <p:cNvPr id="39" name="Shape 36"/>
          <p:cNvSpPr/>
          <p:nvPr/>
        </p:nvSpPr>
        <p:spPr>
          <a:xfrm>
            <a:off x="9567714" y="4649614"/>
            <a:ext cx="7805886" cy="1915939"/>
          </a:xfrm>
          <a:prstGeom prst="roundRect">
            <a:avLst>
              <a:gd name="adj" fmla="val 7954"/>
            </a:avLst>
          </a:prstGeom>
          <a:solidFill>
            <a:srgbClr val="161D2A"/>
          </a:solidFill>
          <a:ln w="14288">
            <a:solidFill>
              <a:srgbClr val="232C3D"/>
            </a:solidFill>
            <a:prstDash val="solid"/>
          </a:ln>
          <a:effectLst>
            <a:outerShdw sx="100000" sy="100000" kx="0" ky="0" algn="bl" rotWithShape="0" blurRad="57150" dist="19050" dir="5400000">
              <a:srgbClr val="000000">
                <a:alpha val="45000"/>
              </a:srgbClr>
            </a:outerShdw>
          </a:effectLst>
        </p:spPr>
      </p:sp>
      <p:sp>
        <p:nvSpPr>
          <p:cNvPr id="40" name="Text 37"/>
          <p:cNvSpPr/>
          <p:nvPr/>
        </p:nvSpPr>
        <p:spPr>
          <a:xfrm>
            <a:off x="9848701" y="4930601"/>
            <a:ext cx="7461229"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113" kern="0" dirty="0">
                <a:solidFill>
                  <a:srgbClr val="F7FAFC">
                    <a:alpha val="55000"/>
                  </a:srgbClr>
                </a:solidFill>
                <a:latin typeface="Courier New" pitchFamily="34" charset="0"/>
                <a:ea typeface="Courier New" pitchFamily="34" charset="-122"/>
                <a:cs typeface="Courier New" pitchFamily="34" charset="-120"/>
              </a:rPr>
              <a:t>SPRINT UPSIDE · M18 · ~£380K MRR</a:t>
            </a:r>
            <a:endParaRPr lang="en-US" sz="1125" dirty="0"/>
          </a:p>
        </p:txBody>
      </p:sp>
      <p:sp>
        <p:nvSpPr>
          <p:cNvPr id="41" name="Text 38"/>
          <p:cNvSpPr/>
          <p:nvPr/>
        </p:nvSpPr>
        <p:spPr>
          <a:xfrm>
            <a:off x="9848701" y="5278264"/>
            <a:ext cx="7461229" cy="689595"/>
          </a:xfrm>
          <a:prstGeom prst="rect">
            <a:avLst/>
          </a:prstGeom>
          <a:noFill/>
          <a:ln/>
        </p:spPr>
        <p:txBody>
          <a:bodyPr wrap="square" lIns="25400" tIns="25400" rIns="25400" bIns="25400" rtlCol="0" anchor="t">
            <a:normAutofit/>
          </a:bodyPr>
          <a:lstStyle/>
          <a:p>
            <a:pPr algn="l" indent="0" marL="0">
              <a:lnSpc>
                <a:spcPct val="95000"/>
              </a:lnSpc>
              <a:buNone/>
            </a:pPr>
            <a:r>
              <a:rPr lang="en-US" sz="5400" b="1" spc="-243" kern="0" dirty="0">
                <a:solidFill>
                  <a:srgbClr val="C8C0F8"/>
                </a:solidFill>
                <a:latin typeface="Arial" pitchFamily="34" charset="0"/>
                <a:ea typeface="Arial" pitchFamily="34" charset="-122"/>
                <a:cs typeface="Arial" pitchFamily="34" charset="-120"/>
              </a:rPr>
              <a:t>~£4.5M </a:t>
            </a:r>
            <a:pPr algn="l" indent="0" marL="0">
              <a:lnSpc>
                <a:spcPct val="95000"/>
              </a:lnSpc>
              <a:buNone/>
            </a:pPr>
            <a:r>
              <a:rPr lang="en-US" sz="1650" spc="-243" kern="0" dirty="0">
                <a:solidFill>
                  <a:srgbClr val="F7FAFC">
                    <a:alpha val="50000"/>
                  </a:srgbClr>
                </a:solidFill>
                <a:latin typeface="Arial" pitchFamily="34" charset="0"/>
                <a:ea typeface="Arial" pitchFamily="34" charset="-122"/>
                <a:cs typeface="Arial" pitchFamily="34" charset="-120"/>
              </a:rPr>
              <a:t>ARR</a:t>
            </a:r>
            <a:endParaRPr lang="en-US" sz="5400" dirty="0"/>
          </a:p>
        </p:txBody>
      </p:sp>
      <p:sp>
        <p:nvSpPr>
          <p:cNvPr id="42" name="Text 39"/>
          <p:cNvSpPr/>
          <p:nvPr/>
        </p:nvSpPr>
        <p:spPr>
          <a:xfrm>
            <a:off x="9848701" y="6063109"/>
            <a:ext cx="7461229" cy="259556"/>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F7FAFC">
                    <a:alpha val="78000"/>
                  </a:srgbClr>
                </a:solidFill>
                <a:latin typeface="Arial" pitchFamily="34" charset="0"/>
                <a:ea typeface="Arial" pitchFamily="34" charset="-122"/>
                <a:cs typeface="Arial" pitchFamily="34" charset="-120"/>
              </a:rPr>
              <a:t>Acquirable or fundable. The capitalise window from slide 17.</a:t>
            </a:r>
            <a:endParaRPr lang="en-US" sz="1125" dirty="0"/>
          </a:p>
        </p:txBody>
      </p:sp>
      <p:sp>
        <p:nvSpPr>
          <p:cNvPr id="43" name="Shape 40"/>
          <p:cNvSpPr/>
          <p:nvPr/>
        </p:nvSpPr>
        <p:spPr>
          <a:xfrm>
            <a:off x="914400" y="9286875"/>
            <a:ext cx="16459200" cy="9525"/>
          </a:xfrm>
          <a:prstGeom prst="rect">
            <a:avLst/>
          </a:prstGeom>
          <a:solidFill>
            <a:srgbClr val="DDE5EC"/>
          </a:solidFill>
          <a:ln/>
        </p:spPr>
      </p:sp>
      <p:sp>
        <p:nvSpPr>
          <p:cNvPr id="44" name="Text 41"/>
          <p:cNvSpPr/>
          <p:nvPr/>
        </p:nvSpPr>
        <p:spPr>
          <a:xfrm>
            <a:off x="914400" y="9532144"/>
            <a:ext cx="4533256"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113" kern="0" dirty="0">
                <a:solidFill>
                  <a:srgbClr val="6E7785"/>
                </a:solidFill>
                <a:latin typeface="Courier New" pitchFamily="34" charset="0"/>
                <a:ea typeface="Courier New" pitchFamily="34" charset="-122"/>
                <a:cs typeface="Courier New" pitchFamily="34" charset="-120"/>
              </a:rPr>
              <a:t>HATCHIK · INVESTOR &amp; PARTNER DECK · MAY 2026</a:t>
            </a:r>
            <a:endParaRPr lang="en-US" sz="1125" dirty="0"/>
          </a:p>
        </p:txBody>
      </p:sp>
      <p:sp>
        <p:nvSpPr>
          <p:cNvPr id="45" name="Text 42"/>
          <p:cNvSpPr/>
          <p:nvPr/>
        </p:nvSpPr>
        <p:spPr>
          <a:xfrm>
            <a:off x="16690851" y="9525000"/>
            <a:ext cx="758949"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spc="48" kern="0" dirty="0">
                <a:solidFill>
                  <a:srgbClr val="0F1419"/>
                </a:solidFill>
                <a:latin typeface="Courier New" pitchFamily="34" charset="0"/>
                <a:ea typeface="Courier New" pitchFamily="34" charset="-122"/>
                <a:cs typeface="Courier New" pitchFamily="34" charset="-120"/>
              </a:rPr>
              <a:t>16 / 31</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5B47F0">
              <a:alpha val="4000"/>
            </a:srgbClr>
          </a:solidFill>
          <a:ln/>
        </p:spPr>
      </p:sp>
      <p:sp>
        <p:nvSpPr>
          <p:cNvPr id="3" name="Shape 1"/>
          <p:cNvSpPr/>
          <p:nvPr/>
        </p:nvSpPr>
        <p:spPr>
          <a:xfrm>
            <a:off x="914400" y="1009650"/>
            <a:ext cx="16459200" cy="9525"/>
          </a:xfrm>
          <a:prstGeom prst="rect">
            <a:avLst/>
          </a:prstGeom>
          <a:solidFill>
            <a:srgbClr val="DDE5EC"/>
          </a:solidFill>
          <a:ln/>
        </p:spPr>
      </p:sp>
      <p:pic>
        <p:nvPicPr>
          <p:cNvPr id="4" name="Image 0" descr="preencoded.png">    </p:cNvPr>
          <p:cNvPicPr>
            <a:picLocks noChangeAspect="1"/>
          </p:cNvPicPr>
          <p:nvPr/>
        </p:nvPicPr>
        <p:blipFill>
          <a:blip r:embed="rId1"/>
          <a:stretch>
            <a:fillRect/>
          </a:stretch>
        </p:blipFill>
        <p:spPr>
          <a:xfrm>
            <a:off x="914400" y="571500"/>
            <a:ext cx="209550" cy="209550"/>
          </a:xfrm>
          <a:prstGeom prst="rect">
            <a:avLst/>
          </a:prstGeom>
        </p:spPr>
      </p:pic>
      <p:sp>
        <p:nvSpPr>
          <p:cNvPr id="5" name="Text 2"/>
          <p:cNvSpPr/>
          <p:nvPr/>
        </p:nvSpPr>
        <p:spPr>
          <a:xfrm>
            <a:off x="1219200" y="533400"/>
            <a:ext cx="745108"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spc="-37" kern="0" dirty="0">
                <a:solidFill>
                  <a:srgbClr val="0F1419"/>
                </a:solidFill>
                <a:latin typeface="Arial" pitchFamily="34" charset="0"/>
                <a:ea typeface="Arial" pitchFamily="34" charset="-122"/>
                <a:cs typeface="Arial" pitchFamily="34" charset="-120"/>
              </a:rPr>
              <a:t>hatchik</a:t>
            </a:r>
            <a:endParaRPr lang="en-US" sz="1500" dirty="0"/>
          </a:p>
        </p:txBody>
      </p:sp>
      <p:sp>
        <p:nvSpPr>
          <p:cNvPr id="6" name="Text 3"/>
          <p:cNvSpPr/>
          <p:nvPr/>
        </p:nvSpPr>
        <p:spPr>
          <a:xfrm>
            <a:off x="14911908" y="562421"/>
            <a:ext cx="2537892" cy="265733"/>
          </a:xfrm>
          <a:prstGeom prst="rect">
            <a:avLst/>
          </a:prstGeom>
          <a:noFill/>
          <a:ln/>
        </p:spPr>
        <p:txBody>
          <a:bodyPr wrap="square" lIns="25400" tIns="25400" rIns="25400" bIns="25400" rtlCol="0" anchor="t">
            <a:normAutofit/>
          </a:bodyPr>
          <a:lstStyle/>
          <a:p>
            <a:pPr algn="l" indent="0" marL="0">
              <a:lnSpc>
                <a:spcPct val="140000"/>
              </a:lnSpc>
              <a:buNone/>
            </a:pPr>
            <a:r>
              <a:rPr lang="en-US" sz="1200" spc="120" kern="0" dirty="0">
                <a:solidFill>
                  <a:srgbClr val="0F1419"/>
                </a:solidFill>
                <a:latin typeface="Courier New" pitchFamily="34" charset="0"/>
                <a:ea typeface="Courier New" pitchFamily="34" charset="-122"/>
                <a:cs typeface="Courier New" pitchFamily="34" charset="-120"/>
              </a:rPr>
              <a:t>17 </a:t>
            </a:r>
            <a:pPr algn="l" indent="0" marL="0">
              <a:lnSpc>
                <a:spcPct val="140000"/>
              </a:lnSpc>
              <a:buNone/>
            </a:pPr>
            <a:r>
              <a:rPr lang="en-US" sz="1200" spc="120" kern="0" dirty="0">
                <a:solidFill>
                  <a:srgbClr val="5B47F0"/>
                </a:solidFill>
                <a:latin typeface="Courier New" pitchFamily="34" charset="0"/>
                <a:ea typeface="Courier New" pitchFamily="34" charset="-122"/>
                <a:cs typeface="Courier New" pitchFamily="34" charset="-120"/>
              </a:rPr>
              <a:t>· </a:t>
            </a:r>
            <a:pPr algn="l" indent="0" marL="0">
              <a:lnSpc>
                <a:spcPct val="140000"/>
              </a:lnSpc>
              <a:buNone/>
            </a:pPr>
            <a:r>
              <a:rPr lang="en-US" sz="1200" spc="120" kern="0" dirty="0">
                <a:solidFill>
                  <a:srgbClr val="6E7785"/>
                </a:solidFill>
                <a:latin typeface="Courier New" pitchFamily="34" charset="0"/>
                <a:ea typeface="Courier New" pitchFamily="34" charset="-122"/>
                <a:cs typeface="Courier New" pitchFamily="34" charset="-120"/>
              </a:rPr>
              <a:t>THREE LANDING ZONES</a:t>
            </a:r>
            <a:endParaRPr lang="en-US" sz="1200" dirty="0"/>
          </a:p>
        </p:txBody>
      </p:sp>
      <p:sp>
        <p:nvSpPr>
          <p:cNvPr id="7" name="Text 4"/>
          <p:cNvSpPr/>
          <p:nvPr/>
        </p:nvSpPr>
        <p:spPr>
          <a:xfrm>
            <a:off x="914400" y="1438275"/>
            <a:ext cx="15893415" cy="723900"/>
          </a:xfrm>
          <a:prstGeom prst="rect">
            <a:avLst/>
          </a:prstGeom>
          <a:noFill/>
          <a:ln/>
        </p:spPr>
        <p:txBody>
          <a:bodyPr wrap="square" lIns="25400" tIns="25400" rIns="25400" bIns="25400" rtlCol="0" anchor="t">
            <a:normAutofit/>
          </a:bodyPr>
          <a:lstStyle/>
          <a:p>
            <a:pPr algn="l" indent="0" marL="0">
              <a:lnSpc>
                <a:spcPct val="100000"/>
              </a:lnSpc>
              <a:buNone/>
            </a:pPr>
            <a:r>
              <a:rPr lang="en-US" sz="5400" b="1" spc="-216" kern="0" dirty="0">
                <a:solidFill>
                  <a:srgbClr val="0F1419"/>
                </a:solidFill>
                <a:latin typeface="Arial" pitchFamily="34" charset="0"/>
                <a:ea typeface="Arial" pitchFamily="34" charset="-122"/>
                <a:cs typeface="Arial" pitchFamily="34" charset="-120"/>
              </a:rPr>
              <a:t>Where this </a:t>
            </a:r>
            <a:pPr algn="l" indent="0" marL="0">
              <a:lnSpc>
                <a:spcPct val="100000"/>
              </a:lnSpc>
              <a:buNone/>
            </a:pPr>
            <a:r>
              <a:rPr lang="en-US" sz="5400" b="1" spc="-216" kern="0" dirty="0">
                <a:solidFill>
                  <a:srgbClr val="5B47F0"/>
                </a:solidFill>
                <a:latin typeface="Arial" pitchFamily="34" charset="0"/>
                <a:ea typeface="Arial" pitchFamily="34" charset="-122"/>
                <a:cs typeface="Arial" pitchFamily="34" charset="-120"/>
              </a:rPr>
              <a:t>lands at month 12–18.</a:t>
            </a:r>
            <a:endParaRPr lang="en-US" sz="5400" dirty="0"/>
          </a:p>
        </p:txBody>
      </p:sp>
      <p:pic>
        <p:nvPicPr>
          <p:cNvPr id="8" name="Image 1" descr="preencoded.png">    </p:cNvPr>
          <p:cNvPicPr>
            <a:picLocks noChangeAspect="1"/>
          </p:cNvPicPr>
          <p:nvPr/>
        </p:nvPicPr>
        <p:blipFill>
          <a:blip r:embed="rId2"/>
          <a:stretch>
            <a:fillRect/>
          </a:stretch>
        </p:blipFill>
        <p:spPr>
          <a:xfrm>
            <a:off x="914400" y="2428875"/>
            <a:ext cx="16459200" cy="762000"/>
          </a:xfrm>
          <a:prstGeom prst="rect">
            <a:avLst/>
          </a:prstGeom>
        </p:spPr>
      </p:pic>
      <p:sp>
        <p:nvSpPr>
          <p:cNvPr id="9" name="Shape 5"/>
          <p:cNvSpPr/>
          <p:nvPr/>
        </p:nvSpPr>
        <p:spPr>
          <a:xfrm>
            <a:off x="914400" y="2924175"/>
            <a:ext cx="5359375" cy="3865141"/>
          </a:xfrm>
          <a:prstGeom prst="roundRect">
            <a:avLst>
              <a:gd name="adj" fmla="val 3943"/>
            </a:avLst>
          </a:prstGeom>
          <a:solidFill>
            <a:srgbClr val="161D2A"/>
          </a:solidFill>
          <a:ln w="14288">
            <a:solidFill>
              <a:srgbClr val="232C3D"/>
            </a:solidFill>
            <a:prstDash val="solid"/>
          </a:ln>
          <a:effectLst>
            <a:outerShdw sx="100000" sy="100000" kx="0" ky="0" algn="bl" rotWithShape="0" blurRad="266700" dist="76200" dir="5400000">
              <a:srgbClr val="5B47F0">
                <a:alpha val="20000"/>
              </a:srgbClr>
            </a:outerShdw>
          </a:effectLst>
        </p:spPr>
      </p:sp>
      <p:sp>
        <p:nvSpPr>
          <p:cNvPr id="10" name="Text 6"/>
          <p:cNvSpPr/>
          <p:nvPr/>
        </p:nvSpPr>
        <p:spPr>
          <a:xfrm>
            <a:off x="1233488" y="3243263"/>
            <a:ext cx="4862836" cy="195263"/>
          </a:xfrm>
          <a:prstGeom prst="rect">
            <a:avLst/>
          </a:prstGeom>
          <a:noFill/>
          <a:ln/>
        </p:spPr>
        <p:txBody>
          <a:bodyPr wrap="square" lIns="25400" tIns="25400" rIns="25400" bIns="25400" rtlCol="0" anchor="t">
            <a:normAutofit/>
          </a:bodyPr>
          <a:lstStyle/>
          <a:p>
            <a:pPr algn="l" indent="0" marL="0">
              <a:lnSpc>
                <a:spcPct val="150000"/>
              </a:lnSpc>
              <a:buNone/>
            </a:pPr>
            <a:r>
              <a:rPr lang="en-US" sz="825" spc="99" kern="0" dirty="0">
                <a:solidFill>
                  <a:srgbClr val="C8C0F8"/>
                </a:solidFill>
                <a:latin typeface="Courier New" pitchFamily="34" charset="0"/>
                <a:ea typeface="Courier New" pitchFamily="34" charset="-122"/>
                <a:cs typeface="Courier New" pitchFamily="34" charset="-120"/>
              </a:rPr>
              <a:t>PRIMARY UPSIDE</a:t>
            </a:r>
            <a:endParaRPr lang="en-US" sz="825" dirty="0"/>
          </a:p>
        </p:txBody>
      </p:sp>
      <p:sp>
        <p:nvSpPr>
          <p:cNvPr id="11" name="Text 7"/>
          <p:cNvSpPr/>
          <p:nvPr/>
        </p:nvSpPr>
        <p:spPr>
          <a:xfrm>
            <a:off x="1233488" y="3533775"/>
            <a:ext cx="4862836" cy="344760"/>
          </a:xfrm>
          <a:prstGeom prst="rect">
            <a:avLst/>
          </a:prstGeom>
          <a:noFill/>
          <a:ln/>
        </p:spPr>
        <p:txBody>
          <a:bodyPr wrap="square" lIns="25400" tIns="25400" rIns="25400" bIns="25400" rtlCol="0" anchor="t">
            <a:normAutofit/>
          </a:bodyPr>
          <a:lstStyle/>
          <a:p>
            <a:pPr algn="l" indent="0" marL="0">
              <a:lnSpc>
                <a:spcPct val="115000"/>
              </a:lnSpc>
              <a:buNone/>
            </a:pPr>
            <a:r>
              <a:rPr lang="en-US" sz="2100" b="1" spc="-42" kern="0" dirty="0">
                <a:solidFill>
                  <a:srgbClr val="F7FAFC"/>
                </a:solidFill>
                <a:latin typeface="Arial" pitchFamily="34" charset="0"/>
                <a:ea typeface="Arial" pitchFamily="34" charset="-122"/>
                <a:cs typeface="Arial" pitchFamily="34" charset="-120"/>
              </a:rPr>
              <a:t>Strategic acquisition.</a:t>
            </a:r>
            <a:endParaRPr lang="en-US" sz="2100" dirty="0"/>
          </a:p>
        </p:txBody>
      </p:sp>
      <p:sp>
        <p:nvSpPr>
          <p:cNvPr id="12" name="Text 8"/>
          <p:cNvSpPr/>
          <p:nvPr/>
        </p:nvSpPr>
        <p:spPr>
          <a:xfrm>
            <a:off x="1233488" y="3973785"/>
            <a:ext cx="4862836" cy="653355"/>
          </a:xfrm>
          <a:prstGeom prst="rect">
            <a:avLst/>
          </a:prstGeom>
          <a:noFill/>
          <a:ln/>
        </p:spPr>
        <p:txBody>
          <a:bodyPr wrap="square" lIns="25400" tIns="25400" rIns="25400" bIns="25400" rtlCol="0" anchor="t">
            <a:normAutofit/>
          </a:bodyPr>
          <a:lstStyle/>
          <a:p>
            <a:pPr algn="l" indent="0" marL="0">
              <a:lnSpc>
                <a:spcPct val="95000"/>
              </a:lnSpc>
              <a:buNone/>
            </a:pPr>
            <a:r>
              <a:rPr lang="en-US" sz="5100" b="1" spc="-204" kern="0" dirty="0">
                <a:solidFill>
                  <a:srgbClr val="C8C0F8"/>
                </a:solidFill>
                <a:latin typeface="Arial" pitchFamily="34" charset="0"/>
                <a:ea typeface="Arial" pitchFamily="34" charset="-122"/>
                <a:cs typeface="Arial" pitchFamily="34" charset="-120"/>
              </a:rPr>
              <a:t>$20–100</a:t>
            </a:r>
            <a:pPr algn="l" indent="0" marL="0">
              <a:lnSpc>
                <a:spcPct val="95000"/>
              </a:lnSpc>
              <a:buNone/>
            </a:pPr>
            <a:r>
              <a:rPr lang="en-US" sz="1800" spc="-204" kern="0" dirty="0">
                <a:solidFill>
                  <a:srgbClr val="F7FAFC">
                    <a:alpha val="50000"/>
                  </a:srgbClr>
                </a:solidFill>
                <a:latin typeface="Arial" pitchFamily="34" charset="0"/>
                <a:ea typeface="Arial" pitchFamily="34" charset="-122"/>
                <a:cs typeface="Arial" pitchFamily="34" charset="-120"/>
              </a:rPr>
              <a:t>M</a:t>
            </a:r>
            <a:endParaRPr lang="en-US" sz="5100" dirty="0"/>
          </a:p>
        </p:txBody>
      </p:sp>
      <p:sp>
        <p:nvSpPr>
          <p:cNvPr id="13" name="Text 9"/>
          <p:cNvSpPr/>
          <p:nvPr/>
        </p:nvSpPr>
        <p:spPr>
          <a:xfrm>
            <a:off x="1233488" y="4722391"/>
            <a:ext cx="4862836" cy="223838"/>
          </a:xfrm>
          <a:prstGeom prst="rect">
            <a:avLst/>
          </a:prstGeom>
          <a:noFill/>
          <a:ln/>
        </p:spPr>
        <p:txBody>
          <a:bodyPr wrap="square" lIns="25400" tIns="25400" rIns="25400" bIns="25400" rtlCol="0" anchor="t">
            <a:normAutofit/>
          </a:bodyPr>
          <a:lstStyle/>
          <a:p>
            <a:pPr algn="l" indent="0" marL="0">
              <a:lnSpc>
                <a:spcPct val="150000"/>
              </a:lnSpc>
              <a:buNone/>
            </a:pPr>
            <a:r>
              <a:rPr lang="en-US" sz="975" spc="98" kern="0" dirty="0">
                <a:solidFill>
                  <a:srgbClr val="F7FAFC">
                    <a:alpha val="50000"/>
                  </a:srgbClr>
                </a:solidFill>
                <a:latin typeface="Courier New" pitchFamily="34" charset="0"/>
                <a:ea typeface="Courier New" pitchFamily="34" charset="-122"/>
                <a:cs typeface="Courier New" pitchFamily="34" charset="-120"/>
              </a:rPr>
              <a:t>CATEGORY PRECEDENTS</a:t>
            </a:r>
            <a:endParaRPr lang="en-US" sz="975" dirty="0"/>
          </a:p>
        </p:txBody>
      </p:sp>
      <p:sp>
        <p:nvSpPr>
          <p:cNvPr id="14" name="Text 10"/>
          <p:cNvSpPr/>
          <p:nvPr/>
        </p:nvSpPr>
        <p:spPr>
          <a:xfrm>
            <a:off x="1233488" y="5041478"/>
            <a:ext cx="4862836" cy="552450"/>
          </a:xfrm>
          <a:prstGeom prst="rect">
            <a:avLst/>
          </a:prstGeom>
          <a:noFill/>
          <a:ln/>
        </p:spPr>
        <p:txBody>
          <a:bodyPr wrap="square" lIns="25400" tIns="25400" rIns="25400" bIns="25400" rtlCol="0" anchor="t">
            <a:normAutofit/>
          </a:bodyPr>
          <a:lstStyle/>
          <a:p>
            <a:pPr algn="l" indent="0" marL="0">
              <a:lnSpc>
                <a:spcPct val="150000"/>
              </a:lnSpc>
              <a:buNone/>
            </a:pPr>
            <a:r>
              <a:rPr lang="en-US" sz="1350" dirty="0">
                <a:solidFill>
                  <a:srgbClr val="F7FAFC">
                    <a:alpha val="70000"/>
                  </a:srgbClr>
                </a:solidFill>
                <a:latin typeface="Arial" pitchFamily="34" charset="0"/>
                <a:ea typeface="Arial" pitchFamily="34" charset="-122"/>
                <a:cs typeface="Arial" pitchFamily="34" charset="-120"/>
              </a:rPr>
              <a:t>5–15K active users, clean positioning, strategic alignment with a major AI tool vendor at M12–18.</a:t>
            </a:r>
            <a:endParaRPr lang="en-US" sz="1350" dirty="0"/>
          </a:p>
        </p:txBody>
      </p:sp>
      <p:sp>
        <p:nvSpPr>
          <p:cNvPr id="15" name="Shape 11"/>
          <p:cNvSpPr/>
          <p:nvPr/>
        </p:nvSpPr>
        <p:spPr>
          <a:xfrm>
            <a:off x="1233488" y="5689178"/>
            <a:ext cx="895499" cy="257175"/>
          </a:xfrm>
          <a:prstGeom prst="roundRect">
            <a:avLst>
              <a:gd name="adj" fmla="val 25926"/>
            </a:avLst>
          </a:prstGeom>
          <a:solidFill>
            <a:srgbClr val="161D2A"/>
          </a:solidFill>
          <a:ln w="14288">
            <a:solidFill>
              <a:srgbClr val="F7FAFC">
                <a:alpha val="12000"/>
              </a:srgbClr>
            </a:solidFill>
            <a:prstDash val="solid"/>
          </a:ln>
        </p:spPr>
      </p:sp>
      <p:sp>
        <p:nvSpPr>
          <p:cNvPr id="16" name="Text 12"/>
          <p:cNvSpPr/>
          <p:nvPr/>
        </p:nvSpPr>
        <p:spPr>
          <a:xfrm>
            <a:off x="1381125" y="5770141"/>
            <a:ext cx="676424" cy="133350"/>
          </a:xfrm>
          <a:prstGeom prst="rect">
            <a:avLst/>
          </a:prstGeom>
          <a:noFill/>
          <a:ln/>
        </p:spPr>
        <p:txBody>
          <a:bodyPr wrap="square" lIns="25400" tIns="25400" rIns="25400" bIns="25400" rtlCol="0" anchor="ctr">
            <a:normAutofit/>
          </a:bodyPr>
          <a:lstStyle/>
          <a:p>
            <a:pPr algn="l" indent="0" marL="0">
              <a:lnSpc>
                <a:spcPct val="100000"/>
              </a:lnSpc>
              <a:buNone/>
            </a:pPr>
            <a:r>
              <a:rPr lang="en-US" sz="750" spc="75" kern="0" dirty="0">
                <a:solidFill>
                  <a:srgbClr val="F7FAFC"/>
                </a:solidFill>
                <a:latin typeface="Courier New" pitchFamily="34" charset="0"/>
                <a:ea typeface="Courier New" pitchFamily="34" charset="-122"/>
                <a:cs typeface="Courier New" pitchFamily="34" charset="-120"/>
              </a:rPr>
              <a:t>ANTHROPIC</a:t>
            </a:r>
            <a:endParaRPr lang="en-US" sz="750" dirty="0"/>
          </a:p>
        </p:txBody>
      </p:sp>
      <p:sp>
        <p:nvSpPr>
          <p:cNvPr id="17" name="Shape 13"/>
          <p:cNvSpPr/>
          <p:nvPr/>
        </p:nvSpPr>
        <p:spPr>
          <a:xfrm>
            <a:off x="2186136" y="5689178"/>
            <a:ext cx="695399" cy="257175"/>
          </a:xfrm>
          <a:prstGeom prst="roundRect">
            <a:avLst>
              <a:gd name="adj" fmla="val 25926"/>
            </a:avLst>
          </a:prstGeom>
          <a:solidFill>
            <a:srgbClr val="161D2A"/>
          </a:solidFill>
          <a:ln w="14288">
            <a:solidFill>
              <a:srgbClr val="F7FAFC">
                <a:alpha val="12000"/>
              </a:srgbClr>
            </a:solidFill>
            <a:prstDash val="solid"/>
          </a:ln>
        </p:spPr>
      </p:sp>
      <p:sp>
        <p:nvSpPr>
          <p:cNvPr id="18" name="Text 14"/>
          <p:cNvSpPr/>
          <p:nvPr/>
        </p:nvSpPr>
        <p:spPr>
          <a:xfrm>
            <a:off x="2333774" y="5770141"/>
            <a:ext cx="476324" cy="133350"/>
          </a:xfrm>
          <a:prstGeom prst="rect">
            <a:avLst/>
          </a:prstGeom>
          <a:noFill/>
          <a:ln/>
        </p:spPr>
        <p:txBody>
          <a:bodyPr wrap="square" lIns="25400" tIns="25400" rIns="25400" bIns="25400" rtlCol="0" anchor="ctr">
            <a:normAutofit/>
          </a:bodyPr>
          <a:lstStyle/>
          <a:p>
            <a:pPr algn="l" indent="0" marL="0">
              <a:lnSpc>
                <a:spcPct val="100000"/>
              </a:lnSpc>
              <a:buNone/>
            </a:pPr>
            <a:r>
              <a:rPr lang="en-US" sz="750" spc="75" kern="0" dirty="0">
                <a:solidFill>
                  <a:srgbClr val="F7FAFC"/>
                </a:solidFill>
                <a:latin typeface="Courier New" pitchFamily="34" charset="0"/>
                <a:ea typeface="Courier New" pitchFamily="34" charset="-122"/>
                <a:cs typeface="Courier New" pitchFamily="34" charset="-120"/>
              </a:rPr>
              <a:t>CURSOR</a:t>
            </a:r>
            <a:endParaRPr lang="en-US" sz="750" dirty="0"/>
          </a:p>
        </p:txBody>
      </p:sp>
      <p:sp>
        <p:nvSpPr>
          <p:cNvPr id="19" name="Shape 15"/>
          <p:cNvSpPr/>
          <p:nvPr/>
        </p:nvSpPr>
        <p:spPr>
          <a:xfrm>
            <a:off x="2938686" y="5689178"/>
            <a:ext cx="828749" cy="257175"/>
          </a:xfrm>
          <a:prstGeom prst="roundRect">
            <a:avLst>
              <a:gd name="adj" fmla="val 25926"/>
            </a:avLst>
          </a:prstGeom>
          <a:solidFill>
            <a:srgbClr val="161D2A"/>
          </a:solidFill>
          <a:ln w="14288">
            <a:solidFill>
              <a:srgbClr val="F7FAFC">
                <a:alpha val="12000"/>
              </a:srgbClr>
            </a:solidFill>
            <a:prstDash val="solid"/>
          </a:ln>
        </p:spPr>
      </p:sp>
      <p:sp>
        <p:nvSpPr>
          <p:cNvPr id="20" name="Text 16"/>
          <p:cNvSpPr/>
          <p:nvPr/>
        </p:nvSpPr>
        <p:spPr>
          <a:xfrm>
            <a:off x="3086323" y="5770141"/>
            <a:ext cx="609674" cy="133350"/>
          </a:xfrm>
          <a:prstGeom prst="rect">
            <a:avLst/>
          </a:prstGeom>
          <a:noFill/>
          <a:ln/>
        </p:spPr>
        <p:txBody>
          <a:bodyPr wrap="square" lIns="25400" tIns="25400" rIns="25400" bIns="25400" rtlCol="0" anchor="ctr">
            <a:normAutofit/>
          </a:bodyPr>
          <a:lstStyle/>
          <a:p>
            <a:pPr algn="l" indent="0" marL="0">
              <a:lnSpc>
                <a:spcPct val="100000"/>
              </a:lnSpc>
              <a:buNone/>
            </a:pPr>
            <a:r>
              <a:rPr lang="en-US" sz="750" spc="75" kern="0" dirty="0">
                <a:solidFill>
                  <a:srgbClr val="F7FAFC"/>
                </a:solidFill>
                <a:latin typeface="Courier New" pitchFamily="34" charset="0"/>
                <a:ea typeface="Courier New" pitchFamily="34" charset="-122"/>
                <a:cs typeface="Courier New" pitchFamily="34" charset="-120"/>
              </a:rPr>
              <a:t>WINDSURF</a:t>
            </a:r>
            <a:endParaRPr lang="en-US" sz="750" dirty="0"/>
          </a:p>
        </p:txBody>
      </p:sp>
      <p:sp>
        <p:nvSpPr>
          <p:cNvPr id="21" name="Shape 17"/>
          <p:cNvSpPr/>
          <p:nvPr/>
        </p:nvSpPr>
        <p:spPr>
          <a:xfrm>
            <a:off x="3824585" y="5689178"/>
            <a:ext cx="695399" cy="257175"/>
          </a:xfrm>
          <a:prstGeom prst="roundRect">
            <a:avLst>
              <a:gd name="adj" fmla="val 25926"/>
            </a:avLst>
          </a:prstGeom>
          <a:solidFill>
            <a:srgbClr val="161D2A"/>
          </a:solidFill>
          <a:ln w="14288">
            <a:solidFill>
              <a:srgbClr val="F7FAFC">
                <a:alpha val="12000"/>
              </a:srgbClr>
            </a:solidFill>
            <a:prstDash val="solid"/>
          </a:ln>
        </p:spPr>
      </p:sp>
      <p:sp>
        <p:nvSpPr>
          <p:cNvPr id="22" name="Text 18"/>
          <p:cNvSpPr/>
          <p:nvPr/>
        </p:nvSpPr>
        <p:spPr>
          <a:xfrm>
            <a:off x="3972223" y="5770141"/>
            <a:ext cx="476324" cy="133350"/>
          </a:xfrm>
          <a:prstGeom prst="rect">
            <a:avLst/>
          </a:prstGeom>
          <a:noFill/>
          <a:ln/>
        </p:spPr>
        <p:txBody>
          <a:bodyPr wrap="square" lIns="25400" tIns="25400" rIns="25400" bIns="25400" rtlCol="0" anchor="ctr">
            <a:normAutofit/>
          </a:bodyPr>
          <a:lstStyle/>
          <a:p>
            <a:pPr algn="l" indent="0" marL="0">
              <a:lnSpc>
                <a:spcPct val="100000"/>
              </a:lnSpc>
              <a:buNone/>
            </a:pPr>
            <a:r>
              <a:rPr lang="en-US" sz="750" spc="75" kern="0" dirty="0">
                <a:solidFill>
                  <a:srgbClr val="F7FAFC"/>
                </a:solidFill>
                <a:latin typeface="Courier New" pitchFamily="34" charset="0"/>
                <a:ea typeface="Courier New" pitchFamily="34" charset="-122"/>
                <a:cs typeface="Courier New" pitchFamily="34" charset="-120"/>
              </a:rPr>
              <a:t>VERCEL</a:t>
            </a:r>
            <a:endParaRPr lang="en-US" sz="750" dirty="0"/>
          </a:p>
        </p:txBody>
      </p:sp>
      <p:sp>
        <p:nvSpPr>
          <p:cNvPr id="23" name="Shape 19"/>
          <p:cNvSpPr/>
          <p:nvPr/>
        </p:nvSpPr>
        <p:spPr>
          <a:xfrm>
            <a:off x="4577135" y="5689178"/>
            <a:ext cx="695399" cy="257175"/>
          </a:xfrm>
          <a:prstGeom prst="roundRect">
            <a:avLst>
              <a:gd name="adj" fmla="val 25926"/>
            </a:avLst>
          </a:prstGeom>
          <a:solidFill>
            <a:srgbClr val="161D2A"/>
          </a:solidFill>
          <a:ln w="14288">
            <a:solidFill>
              <a:srgbClr val="F7FAFC">
                <a:alpha val="12000"/>
              </a:srgbClr>
            </a:solidFill>
            <a:prstDash val="solid"/>
          </a:ln>
        </p:spPr>
      </p:sp>
      <p:sp>
        <p:nvSpPr>
          <p:cNvPr id="24" name="Text 20"/>
          <p:cNvSpPr/>
          <p:nvPr/>
        </p:nvSpPr>
        <p:spPr>
          <a:xfrm>
            <a:off x="4724772" y="5770141"/>
            <a:ext cx="476324" cy="133350"/>
          </a:xfrm>
          <a:prstGeom prst="rect">
            <a:avLst/>
          </a:prstGeom>
          <a:noFill/>
          <a:ln/>
        </p:spPr>
        <p:txBody>
          <a:bodyPr wrap="square" lIns="25400" tIns="25400" rIns="25400" bIns="25400" rtlCol="0" anchor="ctr">
            <a:normAutofit/>
          </a:bodyPr>
          <a:lstStyle/>
          <a:p>
            <a:pPr algn="l" indent="0" marL="0">
              <a:lnSpc>
                <a:spcPct val="100000"/>
              </a:lnSpc>
              <a:buNone/>
            </a:pPr>
            <a:r>
              <a:rPr lang="en-US" sz="750" spc="75" kern="0" dirty="0">
                <a:solidFill>
                  <a:srgbClr val="F7FAFC"/>
                </a:solidFill>
                <a:latin typeface="Courier New" pitchFamily="34" charset="0"/>
                <a:ea typeface="Courier New" pitchFamily="34" charset="-122"/>
                <a:cs typeface="Courier New" pitchFamily="34" charset="-120"/>
              </a:rPr>
              <a:t>STRIPE</a:t>
            </a:r>
            <a:endParaRPr lang="en-US" sz="750" dirty="0"/>
          </a:p>
        </p:txBody>
      </p:sp>
      <p:sp>
        <p:nvSpPr>
          <p:cNvPr id="25" name="Shape 21"/>
          <p:cNvSpPr/>
          <p:nvPr/>
        </p:nvSpPr>
        <p:spPr>
          <a:xfrm>
            <a:off x="6464275" y="2924175"/>
            <a:ext cx="5359375" cy="3865141"/>
          </a:xfrm>
          <a:prstGeom prst="roundRect">
            <a:avLst>
              <a:gd name="adj" fmla="val 3943"/>
            </a:avLst>
          </a:prstGeom>
          <a:solidFill>
            <a:srgbClr val="FFFFFF"/>
          </a:solidFill>
          <a:ln w="19050">
            <a:solidFill>
              <a:srgbClr val="5B47F0"/>
            </a:solidFill>
            <a:prstDash val="solid"/>
          </a:ln>
          <a:effectLst>
            <a:outerShdw sx="100000" sy="100000" kx="0" ky="0" algn="bl" rotWithShape="0" blurRad="133350" dist="38100" dir="5400000">
              <a:srgbClr val="0F1419">
                <a:alpha val="6000"/>
              </a:srgbClr>
            </a:outerShdw>
          </a:effectLst>
        </p:spPr>
      </p:sp>
      <p:sp>
        <p:nvSpPr>
          <p:cNvPr id="26" name="Text 22"/>
          <p:cNvSpPr/>
          <p:nvPr/>
        </p:nvSpPr>
        <p:spPr>
          <a:xfrm>
            <a:off x="6788125" y="3248025"/>
            <a:ext cx="4853025" cy="195263"/>
          </a:xfrm>
          <a:prstGeom prst="rect">
            <a:avLst/>
          </a:prstGeom>
          <a:noFill/>
          <a:ln/>
        </p:spPr>
        <p:txBody>
          <a:bodyPr wrap="square" lIns="25400" tIns="25400" rIns="25400" bIns="25400" rtlCol="0" anchor="t">
            <a:normAutofit/>
          </a:bodyPr>
          <a:lstStyle/>
          <a:p>
            <a:pPr algn="l" indent="0" marL="0">
              <a:lnSpc>
                <a:spcPct val="150000"/>
              </a:lnSpc>
              <a:buNone/>
            </a:pPr>
            <a:r>
              <a:rPr lang="en-US" sz="825" spc="99" kern="0" dirty="0">
                <a:solidFill>
                  <a:srgbClr val="5B47F0"/>
                </a:solidFill>
                <a:latin typeface="Courier New" pitchFamily="34" charset="0"/>
                <a:ea typeface="Courier New" pitchFamily="34" charset="-122"/>
                <a:cs typeface="Courier New" pitchFamily="34" charset="-120"/>
              </a:rPr>
              <a:t>HYPERGROWTH</a:t>
            </a:r>
            <a:endParaRPr lang="en-US" sz="825" dirty="0"/>
          </a:p>
        </p:txBody>
      </p:sp>
      <p:sp>
        <p:nvSpPr>
          <p:cNvPr id="27" name="Text 23"/>
          <p:cNvSpPr/>
          <p:nvPr/>
        </p:nvSpPr>
        <p:spPr>
          <a:xfrm>
            <a:off x="6788125" y="3538538"/>
            <a:ext cx="4853025" cy="344760"/>
          </a:xfrm>
          <a:prstGeom prst="rect">
            <a:avLst/>
          </a:prstGeom>
          <a:noFill/>
          <a:ln/>
        </p:spPr>
        <p:txBody>
          <a:bodyPr wrap="square" lIns="25400" tIns="25400" rIns="25400" bIns="25400" rtlCol="0" anchor="t">
            <a:normAutofit/>
          </a:bodyPr>
          <a:lstStyle/>
          <a:p>
            <a:pPr algn="l" indent="0" marL="0">
              <a:lnSpc>
                <a:spcPct val="115000"/>
              </a:lnSpc>
              <a:buNone/>
            </a:pPr>
            <a:r>
              <a:rPr lang="en-US" sz="2100" b="1" spc="-42" kern="0" dirty="0">
                <a:solidFill>
                  <a:srgbClr val="0F1419"/>
                </a:solidFill>
                <a:latin typeface="Arial" pitchFamily="34" charset="0"/>
                <a:ea typeface="Arial" pitchFamily="34" charset="-122"/>
                <a:cs typeface="Arial" pitchFamily="34" charset="-120"/>
              </a:rPr>
              <a:t>Pre-seed → seed raise.</a:t>
            </a:r>
            <a:endParaRPr lang="en-US" sz="2100" dirty="0"/>
          </a:p>
        </p:txBody>
      </p:sp>
      <p:sp>
        <p:nvSpPr>
          <p:cNvPr id="28" name="Text 24"/>
          <p:cNvSpPr/>
          <p:nvPr/>
        </p:nvSpPr>
        <p:spPr>
          <a:xfrm>
            <a:off x="6788125" y="3978548"/>
            <a:ext cx="4853025" cy="653355"/>
          </a:xfrm>
          <a:prstGeom prst="rect">
            <a:avLst/>
          </a:prstGeom>
          <a:noFill/>
          <a:ln/>
        </p:spPr>
        <p:txBody>
          <a:bodyPr wrap="square" lIns="25400" tIns="25400" rIns="25400" bIns="25400" rtlCol="0" anchor="t">
            <a:normAutofit/>
          </a:bodyPr>
          <a:lstStyle/>
          <a:p>
            <a:pPr algn="l" indent="0" marL="0">
              <a:lnSpc>
                <a:spcPct val="95000"/>
              </a:lnSpc>
              <a:buNone/>
            </a:pPr>
            <a:r>
              <a:rPr lang="en-US" sz="5100" b="1" spc="-204" kern="0" dirty="0">
                <a:solidFill>
                  <a:srgbClr val="5B47F0"/>
                </a:solidFill>
                <a:latin typeface="Arial" pitchFamily="34" charset="0"/>
                <a:ea typeface="Arial" pitchFamily="34" charset="-122"/>
                <a:cs typeface="Arial" pitchFamily="34" charset="-120"/>
              </a:rPr>
              <a:t>£20–50</a:t>
            </a:r>
            <a:pPr algn="l" indent="0" marL="0">
              <a:lnSpc>
                <a:spcPct val="95000"/>
              </a:lnSpc>
              <a:buNone/>
            </a:pPr>
            <a:r>
              <a:rPr lang="en-US" sz="1800" spc="-204" kern="0" dirty="0">
                <a:solidFill>
                  <a:srgbClr val="6E7785"/>
                </a:solidFill>
                <a:latin typeface="Arial" pitchFamily="34" charset="0"/>
                <a:ea typeface="Arial" pitchFamily="34" charset="-122"/>
                <a:cs typeface="Arial" pitchFamily="34" charset="-120"/>
              </a:rPr>
              <a:t>M</a:t>
            </a:r>
            <a:endParaRPr lang="en-US" sz="5100" dirty="0"/>
          </a:p>
        </p:txBody>
      </p:sp>
      <p:sp>
        <p:nvSpPr>
          <p:cNvPr id="29" name="Text 25"/>
          <p:cNvSpPr/>
          <p:nvPr/>
        </p:nvSpPr>
        <p:spPr>
          <a:xfrm>
            <a:off x="6788125" y="4727153"/>
            <a:ext cx="4853025" cy="223838"/>
          </a:xfrm>
          <a:prstGeom prst="rect">
            <a:avLst/>
          </a:prstGeom>
          <a:noFill/>
          <a:ln/>
        </p:spPr>
        <p:txBody>
          <a:bodyPr wrap="square" lIns="25400" tIns="25400" rIns="25400" bIns="25400" rtlCol="0" anchor="t">
            <a:normAutofit/>
          </a:bodyPr>
          <a:lstStyle/>
          <a:p>
            <a:pPr algn="l" indent="0" marL="0">
              <a:lnSpc>
                <a:spcPct val="150000"/>
              </a:lnSpc>
              <a:buNone/>
            </a:pPr>
            <a:r>
              <a:rPr lang="en-US" sz="975" spc="98" kern="0" dirty="0">
                <a:solidFill>
                  <a:srgbClr val="6E7785"/>
                </a:solidFill>
                <a:latin typeface="Courier New" pitchFamily="34" charset="0"/>
                <a:ea typeface="Courier New" pitchFamily="34" charset="-122"/>
                <a:cs typeface="Courier New" pitchFamily="34" charset="-120"/>
              </a:rPr>
              <a:t>VALUATION BAND</a:t>
            </a:r>
            <a:endParaRPr lang="en-US" sz="975" dirty="0"/>
          </a:p>
        </p:txBody>
      </p:sp>
      <p:sp>
        <p:nvSpPr>
          <p:cNvPr id="30" name="Text 26"/>
          <p:cNvSpPr/>
          <p:nvPr/>
        </p:nvSpPr>
        <p:spPr>
          <a:xfrm>
            <a:off x="6788125" y="5046241"/>
            <a:ext cx="4853025" cy="552450"/>
          </a:xfrm>
          <a:prstGeom prst="rect">
            <a:avLst/>
          </a:prstGeom>
          <a:noFill/>
          <a:ln/>
        </p:spPr>
        <p:txBody>
          <a:bodyPr wrap="square" lIns="25400" tIns="25400" rIns="25400" bIns="25400" rtlCol="0" anchor="t">
            <a:normAutofit/>
          </a:bodyPr>
          <a:lstStyle/>
          <a:p>
            <a:pPr algn="l" indent="0" marL="0">
              <a:lnSpc>
                <a:spcPct val="150000"/>
              </a:lnSpc>
              <a:buNone/>
            </a:pPr>
            <a:r>
              <a:rPr lang="en-US" sz="1350" dirty="0">
                <a:solidFill>
                  <a:srgbClr val="2A3340"/>
                </a:solidFill>
                <a:latin typeface="Arial" pitchFamily="34" charset="0"/>
                <a:ea typeface="Arial" pitchFamily="34" charset="-122"/>
                <a:cs typeface="Arial" pitchFamily="34" charset="-120"/>
              </a:rPr>
              <a:t>£100–300K MRR. 30%+ MoM growth still compounding at M12–15. Targets: Earlybird AI, Index, Seedcamp, EF, Antler.</a:t>
            </a:r>
            <a:endParaRPr lang="en-US" sz="1350" dirty="0"/>
          </a:p>
        </p:txBody>
      </p:sp>
      <p:sp>
        <p:nvSpPr>
          <p:cNvPr id="31" name="Text 27"/>
          <p:cNvSpPr/>
          <p:nvPr/>
        </p:nvSpPr>
        <p:spPr>
          <a:xfrm>
            <a:off x="6788125" y="5693941"/>
            <a:ext cx="4853025" cy="809625"/>
          </a:xfrm>
          <a:prstGeom prst="rect">
            <a:avLst/>
          </a:prstGeom>
          <a:noFill/>
          <a:ln/>
        </p:spPr>
        <p:txBody>
          <a:bodyPr wrap="square" lIns="25400" tIns="25400" rIns="25400" bIns="25400" rtlCol="0" anchor="t">
            <a:normAutofit/>
          </a:bodyPr>
          <a:lstStyle/>
          <a:p>
            <a:pPr algn="l" indent="0" marL="0">
              <a:lnSpc>
                <a:spcPct val="150000"/>
              </a:lnSpc>
              <a:buNone/>
            </a:pPr>
            <a:r>
              <a:rPr lang="en-US" sz="1350" spc="54" kern="0" dirty="0">
                <a:solidFill>
                  <a:srgbClr val="2A3340"/>
                </a:solidFill>
                <a:latin typeface="Courier New" pitchFamily="34" charset="0"/>
                <a:ea typeface="Courier New" pitchFamily="34" charset="-122"/>
                <a:cs typeface="Courier New" pitchFamily="34" charset="-120"/>
              </a:rPr>
              <a:t>Funds team expansion (5–8 hires), full paid acquisition engine, product expansion.</a:t>
            </a:r>
            <a:endParaRPr lang="en-US" sz="1350" dirty="0"/>
          </a:p>
        </p:txBody>
      </p:sp>
      <p:sp>
        <p:nvSpPr>
          <p:cNvPr id="32" name="Shape 28"/>
          <p:cNvSpPr/>
          <p:nvPr/>
        </p:nvSpPr>
        <p:spPr>
          <a:xfrm>
            <a:off x="12014150" y="2924175"/>
            <a:ext cx="5359450" cy="3865141"/>
          </a:xfrm>
          <a:prstGeom prst="roundRect">
            <a:avLst>
              <a:gd name="adj" fmla="val 3943"/>
            </a:avLst>
          </a:prstGeom>
          <a:solidFill>
            <a:srgbClr val="FFFFFF"/>
          </a:solidFill>
          <a:ln w="14288">
            <a:solidFill>
              <a:srgbClr val="DDE5EC"/>
            </a:solidFill>
            <a:prstDash val="solid"/>
          </a:ln>
          <a:effectLst>
            <a:outerShdw sx="100000" sy="100000" kx="0" ky="0" algn="bl" rotWithShape="0" blurRad="133350" dist="38100" dir="5400000">
              <a:srgbClr val="0F1419">
                <a:alpha val="6000"/>
              </a:srgbClr>
            </a:outerShdw>
          </a:effectLst>
        </p:spPr>
      </p:sp>
      <p:sp>
        <p:nvSpPr>
          <p:cNvPr id="33" name="Text 29"/>
          <p:cNvSpPr/>
          <p:nvPr/>
        </p:nvSpPr>
        <p:spPr>
          <a:xfrm>
            <a:off x="12333238" y="3243263"/>
            <a:ext cx="4862913" cy="195263"/>
          </a:xfrm>
          <a:prstGeom prst="rect">
            <a:avLst/>
          </a:prstGeom>
          <a:noFill/>
          <a:ln/>
        </p:spPr>
        <p:txBody>
          <a:bodyPr wrap="square" lIns="25400" tIns="25400" rIns="25400" bIns="25400" rtlCol="0" anchor="t">
            <a:normAutofit/>
          </a:bodyPr>
          <a:lstStyle/>
          <a:p>
            <a:pPr algn="l" indent="0" marL="0">
              <a:lnSpc>
                <a:spcPct val="150000"/>
              </a:lnSpc>
              <a:buNone/>
            </a:pPr>
            <a:r>
              <a:rPr lang="en-US" sz="825" spc="99" kern="0" dirty="0">
                <a:solidFill>
                  <a:srgbClr val="6E7785"/>
                </a:solidFill>
                <a:latin typeface="Courier New" pitchFamily="34" charset="0"/>
                <a:ea typeface="Courier New" pitchFamily="34" charset="-122"/>
                <a:cs typeface="Courier New" pitchFamily="34" charset="-120"/>
              </a:rPr>
              <a:t>CONSOLATION</a:t>
            </a:r>
            <a:endParaRPr lang="en-US" sz="825" dirty="0"/>
          </a:p>
        </p:txBody>
      </p:sp>
      <p:sp>
        <p:nvSpPr>
          <p:cNvPr id="34" name="Text 30"/>
          <p:cNvSpPr/>
          <p:nvPr/>
        </p:nvSpPr>
        <p:spPr>
          <a:xfrm>
            <a:off x="12333238" y="3533775"/>
            <a:ext cx="4862913" cy="344760"/>
          </a:xfrm>
          <a:prstGeom prst="rect">
            <a:avLst/>
          </a:prstGeom>
          <a:noFill/>
          <a:ln/>
        </p:spPr>
        <p:txBody>
          <a:bodyPr wrap="square" lIns="25400" tIns="25400" rIns="25400" bIns="25400" rtlCol="0" anchor="t">
            <a:normAutofit/>
          </a:bodyPr>
          <a:lstStyle/>
          <a:p>
            <a:pPr algn="l" indent="0" marL="0">
              <a:lnSpc>
                <a:spcPct val="115000"/>
              </a:lnSpc>
              <a:buNone/>
            </a:pPr>
            <a:r>
              <a:rPr lang="en-US" sz="2100" b="1" spc="-42" kern="0" dirty="0">
                <a:solidFill>
                  <a:srgbClr val="0F1419"/>
                </a:solidFill>
                <a:latin typeface="Arial" pitchFamily="34" charset="0"/>
                <a:ea typeface="Arial" pitchFamily="34" charset="-122"/>
                <a:cs typeface="Arial" pitchFamily="34" charset="-120"/>
              </a:rPr>
              <a:t>Lifestyle landing.</a:t>
            </a:r>
            <a:endParaRPr lang="en-US" sz="2100" dirty="0"/>
          </a:p>
        </p:txBody>
      </p:sp>
      <p:sp>
        <p:nvSpPr>
          <p:cNvPr id="35" name="Text 31"/>
          <p:cNvSpPr/>
          <p:nvPr/>
        </p:nvSpPr>
        <p:spPr>
          <a:xfrm>
            <a:off x="12333238" y="3973785"/>
            <a:ext cx="4862913" cy="653355"/>
          </a:xfrm>
          <a:prstGeom prst="rect">
            <a:avLst/>
          </a:prstGeom>
          <a:noFill/>
          <a:ln/>
        </p:spPr>
        <p:txBody>
          <a:bodyPr wrap="square" lIns="25400" tIns="25400" rIns="25400" bIns="25400" rtlCol="0" anchor="t">
            <a:normAutofit/>
          </a:bodyPr>
          <a:lstStyle/>
          <a:p>
            <a:pPr algn="l" indent="0" marL="0">
              <a:lnSpc>
                <a:spcPct val="95000"/>
              </a:lnSpc>
              <a:buNone/>
            </a:pPr>
            <a:r>
              <a:rPr lang="en-US" sz="5100" b="1" spc="-204" kern="0" dirty="0">
                <a:solidFill>
                  <a:srgbClr val="0F1419"/>
                </a:solidFill>
                <a:latin typeface="Arial" pitchFamily="34" charset="0"/>
                <a:ea typeface="Arial" pitchFamily="34" charset="-122"/>
                <a:cs typeface="Arial" pitchFamily="34" charset="-120"/>
              </a:rPr>
              <a:t>£25–65</a:t>
            </a:r>
            <a:pPr algn="l" indent="0" marL="0">
              <a:lnSpc>
                <a:spcPct val="95000"/>
              </a:lnSpc>
              <a:buNone/>
            </a:pPr>
            <a:r>
              <a:rPr lang="en-US" sz="1800" spc="-204" kern="0" dirty="0">
                <a:solidFill>
                  <a:srgbClr val="6E7785"/>
                </a:solidFill>
                <a:latin typeface="Arial" pitchFamily="34" charset="0"/>
                <a:ea typeface="Arial" pitchFamily="34" charset="-122"/>
                <a:cs typeface="Arial" pitchFamily="34" charset="-120"/>
              </a:rPr>
              <a:t>K</a:t>
            </a:r>
            <a:endParaRPr lang="en-US" sz="5100" dirty="0"/>
          </a:p>
        </p:txBody>
      </p:sp>
      <p:sp>
        <p:nvSpPr>
          <p:cNvPr id="36" name="Text 32"/>
          <p:cNvSpPr/>
          <p:nvPr/>
        </p:nvSpPr>
        <p:spPr>
          <a:xfrm>
            <a:off x="12333238" y="4722391"/>
            <a:ext cx="4862913" cy="223838"/>
          </a:xfrm>
          <a:prstGeom prst="rect">
            <a:avLst/>
          </a:prstGeom>
          <a:noFill/>
          <a:ln/>
        </p:spPr>
        <p:txBody>
          <a:bodyPr wrap="square" lIns="25400" tIns="25400" rIns="25400" bIns="25400" rtlCol="0" anchor="t">
            <a:normAutofit/>
          </a:bodyPr>
          <a:lstStyle/>
          <a:p>
            <a:pPr algn="l" indent="0" marL="0">
              <a:lnSpc>
                <a:spcPct val="150000"/>
              </a:lnSpc>
              <a:buNone/>
            </a:pPr>
            <a:r>
              <a:rPr lang="en-US" sz="975" spc="98" kern="0" dirty="0">
                <a:solidFill>
                  <a:srgbClr val="6E7785"/>
                </a:solidFill>
                <a:latin typeface="Courier New" pitchFamily="34" charset="0"/>
                <a:ea typeface="Courier New" pitchFamily="34" charset="-122"/>
                <a:cs typeface="Courier New" pitchFamily="34" charset="-120"/>
              </a:rPr>
              <a:t>SOLO INCOME · MONTH</a:t>
            </a:r>
            <a:endParaRPr lang="en-US" sz="975" dirty="0"/>
          </a:p>
        </p:txBody>
      </p:sp>
      <p:sp>
        <p:nvSpPr>
          <p:cNvPr id="37" name="Text 33"/>
          <p:cNvSpPr/>
          <p:nvPr/>
        </p:nvSpPr>
        <p:spPr>
          <a:xfrm>
            <a:off x="12333238" y="5041478"/>
            <a:ext cx="4862913" cy="552450"/>
          </a:xfrm>
          <a:prstGeom prst="rect">
            <a:avLst/>
          </a:prstGeom>
          <a:noFill/>
          <a:ln/>
        </p:spPr>
        <p:txBody>
          <a:bodyPr wrap="square" lIns="25400" tIns="25400" rIns="25400" bIns="25400" rtlCol="0" anchor="t">
            <a:normAutofit/>
          </a:bodyPr>
          <a:lstStyle/>
          <a:p>
            <a:pPr algn="l" indent="0" marL="0">
              <a:lnSpc>
                <a:spcPct val="150000"/>
              </a:lnSpc>
              <a:buNone/>
            </a:pPr>
            <a:r>
              <a:rPr lang="en-US" sz="1350" dirty="0">
                <a:solidFill>
                  <a:srgbClr val="2A3340"/>
                </a:solidFill>
                <a:latin typeface="Arial" pitchFamily="34" charset="0"/>
                <a:ea typeface="Arial" pitchFamily="34" charset="-122"/>
                <a:cs typeface="Arial" pitchFamily="34" charset="-120"/>
              </a:rPr>
              <a:t>£30–80K MRR plateaued at M12–18. Sprint base outcome. No external capital, no team.</a:t>
            </a:r>
            <a:endParaRPr lang="en-US" sz="1350" dirty="0"/>
          </a:p>
        </p:txBody>
      </p:sp>
      <p:sp>
        <p:nvSpPr>
          <p:cNvPr id="38" name="Text 34"/>
          <p:cNvSpPr/>
          <p:nvPr/>
        </p:nvSpPr>
        <p:spPr>
          <a:xfrm>
            <a:off x="12333238" y="5689178"/>
            <a:ext cx="4862913" cy="552450"/>
          </a:xfrm>
          <a:prstGeom prst="rect">
            <a:avLst/>
          </a:prstGeom>
          <a:noFill/>
          <a:ln/>
        </p:spPr>
        <p:txBody>
          <a:bodyPr wrap="square" lIns="25400" tIns="25400" rIns="25400" bIns="25400" rtlCol="0" anchor="t">
            <a:normAutofit/>
          </a:bodyPr>
          <a:lstStyle/>
          <a:p>
            <a:pPr algn="l" indent="0" marL="0">
              <a:lnSpc>
                <a:spcPct val="150000"/>
              </a:lnSpc>
              <a:buNone/>
            </a:pPr>
            <a:r>
              <a:rPr lang="en-US" sz="1350" spc="54" kern="0" dirty="0">
                <a:solidFill>
                  <a:srgbClr val="2A3340"/>
                </a:solidFill>
                <a:latin typeface="Courier New" pitchFamily="34" charset="0"/>
                <a:ea typeface="Courier New" pitchFamily="34" charset="-122"/>
                <a:cs typeface="Courier New" pitchFamily="34" charset="-120"/>
              </a:rPr>
              <a:t>Floor if both acquisition window and hypergrowth raise miss.</a:t>
            </a:r>
            <a:endParaRPr lang="en-US" sz="1350" dirty="0"/>
          </a:p>
        </p:txBody>
      </p:sp>
      <p:sp>
        <p:nvSpPr>
          <p:cNvPr id="39" name="Text 35"/>
          <p:cNvSpPr/>
          <p:nvPr/>
        </p:nvSpPr>
        <p:spPr>
          <a:xfrm>
            <a:off x="914400" y="7056016"/>
            <a:ext cx="16952976" cy="274290"/>
          </a:xfrm>
          <a:prstGeom prst="rect">
            <a:avLst/>
          </a:prstGeom>
          <a:noFill/>
          <a:ln/>
        </p:spPr>
        <p:txBody>
          <a:bodyPr wrap="square" lIns="25400" tIns="25400" rIns="25400" bIns="25400" rtlCol="0" anchor="t">
            <a:normAutofit/>
          </a:bodyPr>
          <a:lstStyle/>
          <a:p>
            <a:pPr algn="l" indent="0" marL="0">
              <a:lnSpc>
                <a:spcPct val="155000"/>
              </a:lnSpc>
              <a:buNone/>
            </a:pPr>
            <a:r>
              <a:rPr lang="en-US" sz="1200" spc="48" kern="0" dirty="0">
                <a:solidFill>
                  <a:srgbClr val="6E7785"/>
                </a:solidFill>
                <a:latin typeface="Courier New" pitchFamily="34" charset="0"/>
                <a:ea typeface="Courier New" pitchFamily="34" charset="-122"/>
                <a:cs typeface="Courier New" pitchFamily="34" charset="-120"/>
              </a:rPr>
              <a:t>Acquisition framing is a credible upside scenario with category precedents (Vercel ⊃ Nuxt Labs / Splitbee). Not a guarantee, not a forecast.</a:t>
            </a:r>
            <a:endParaRPr lang="en-US" sz="1200" dirty="0"/>
          </a:p>
        </p:txBody>
      </p:sp>
      <p:sp>
        <p:nvSpPr>
          <p:cNvPr id="40" name="Shape 36"/>
          <p:cNvSpPr/>
          <p:nvPr/>
        </p:nvSpPr>
        <p:spPr>
          <a:xfrm>
            <a:off x="914400" y="9286875"/>
            <a:ext cx="16459200" cy="9525"/>
          </a:xfrm>
          <a:prstGeom prst="rect">
            <a:avLst/>
          </a:prstGeom>
          <a:solidFill>
            <a:srgbClr val="DDE5EC"/>
          </a:solidFill>
          <a:ln/>
        </p:spPr>
      </p:sp>
      <p:sp>
        <p:nvSpPr>
          <p:cNvPr id="41" name="Text 37"/>
          <p:cNvSpPr/>
          <p:nvPr/>
        </p:nvSpPr>
        <p:spPr>
          <a:xfrm>
            <a:off x="914400" y="9532144"/>
            <a:ext cx="4533256"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113" kern="0" dirty="0">
                <a:solidFill>
                  <a:srgbClr val="6E7785"/>
                </a:solidFill>
                <a:latin typeface="Courier New" pitchFamily="34" charset="0"/>
                <a:ea typeface="Courier New" pitchFamily="34" charset="-122"/>
                <a:cs typeface="Courier New" pitchFamily="34" charset="-120"/>
              </a:rPr>
              <a:t>HATCHIK · INVESTOR &amp; PARTNER DECK · MAY 2026</a:t>
            </a:r>
            <a:endParaRPr lang="en-US" sz="1125" dirty="0"/>
          </a:p>
        </p:txBody>
      </p:sp>
      <p:sp>
        <p:nvSpPr>
          <p:cNvPr id="42" name="Text 38"/>
          <p:cNvSpPr/>
          <p:nvPr/>
        </p:nvSpPr>
        <p:spPr>
          <a:xfrm>
            <a:off x="16690851" y="9525000"/>
            <a:ext cx="758949"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spc="48" kern="0" dirty="0">
                <a:solidFill>
                  <a:srgbClr val="0F1419"/>
                </a:solidFill>
                <a:latin typeface="Courier New" pitchFamily="34" charset="0"/>
                <a:ea typeface="Courier New" pitchFamily="34" charset="-122"/>
                <a:cs typeface="Courier New" pitchFamily="34" charset="-120"/>
              </a:rPr>
              <a:t>17 / 31</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5B47F0">
              <a:alpha val="4000"/>
            </a:srgbClr>
          </a:solidFill>
          <a:ln/>
        </p:spPr>
      </p:sp>
      <p:sp>
        <p:nvSpPr>
          <p:cNvPr id="3" name="Shape 1"/>
          <p:cNvSpPr/>
          <p:nvPr/>
        </p:nvSpPr>
        <p:spPr>
          <a:xfrm>
            <a:off x="914400" y="1009650"/>
            <a:ext cx="16459200" cy="9525"/>
          </a:xfrm>
          <a:prstGeom prst="rect">
            <a:avLst/>
          </a:prstGeom>
          <a:solidFill>
            <a:srgbClr val="DDE5EC"/>
          </a:solidFill>
          <a:ln/>
        </p:spPr>
      </p:sp>
      <p:pic>
        <p:nvPicPr>
          <p:cNvPr id="4" name="Image 0" descr="preencoded.png">    </p:cNvPr>
          <p:cNvPicPr>
            <a:picLocks noChangeAspect="1"/>
          </p:cNvPicPr>
          <p:nvPr/>
        </p:nvPicPr>
        <p:blipFill>
          <a:blip r:embed="rId1"/>
          <a:stretch>
            <a:fillRect/>
          </a:stretch>
        </p:blipFill>
        <p:spPr>
          <a:xfrm>
            <a:off x="914400" y="571500"/>
            <a:ext cx="209550" cy="209550"/>
          </a:xfrm>
          <a:prstGeom prst="rect">
            <a:avLst/>
          </a:prstGeom>
        </p:spPr>
      </p:pic>
      <p:sp>
        <p:nvSpPr>
          <p:cNvPr id="5" name="Text 2"/>
          <p:cNvSpPr/>
          <p:nvPr/>
        </p:nvSpPr>
        <p:spPr>
          <a:xfrm>
            <a:off x="1219200" y="533400"/>
            <a:ext cx="745108"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spc="-37" kern="0" dirty="0">
                <a:solidFill>
                  <a:srgbClr val="0F1419"/>
                </a:solidFill>
                <a:latin typeface="Arial" pitchFamily="34" charset="0"/>
                <a:ea typeface="Arial" pitchFamily="34" charset="-122"/>
                <a:cs typeface="Arial" pitchFamily="34" charset="-120"/>
              </a:rPr>
              <a:t>hatchik</a:t>
            </a:r>
            <a:endParaRPr lang="en-US" sz="1500" dirty="0"/>
          </a:p>
        </p:txBody>
      </p:sp>
      <p:sp>
        <p:nvSpPr>
          <p:cNvPr id="6" name="Text 3"/>
          <p:cNvSpPr/>
          <p:nvPr/>
        </p:nvSpPr>
        <p:spPr>
          <a:xfrm>
            <a:off x="14805273" y="562421"/>
            <a:ext cx="2645377" cy="265733"/>
          </a:xfrm>
          <a:prstGeom prst="rect">
            <a:avLst/>
          </a:prstGeom>
          <a:noFill/>
          <a:ln/>
        </p:spPr>
        <p:txBody>
          <a:bodyPr wrap="square" lIns="25400" tIns="25400" rIns="25400" bIns="25400" rtlCol="0" anchor="t">
            <a:normAutofit/>
          </a:bodyPr>
          <a:lstStyle/>
          <a:p>
            <a:pPr algn="l" indent="0" marL="0">
              <a:lnSpc>
                <a:spcPct val="140000"/>
              </a:lnSpc>
              <a:buNone/>
            </a:pPr>
            <a:r>
              <a:rPr lang="en-US" sz="1200" spc="120" kern="0" dirty="0">
                <a:solidFill>
                  <a:srgbClr val="0F1419"/>
                </a:solidFill>
                <a:latin typeface="Courier New" pitchFamily="34" charset="0"/>
                <a:ea typeface="Courier New" pitchFamily="34" charset="-122"/>
                <a:cs typeface="Courier New" pitchFamily="34" charset="-120"/>
              </a:rPr>
              <a:t>18 </a:t>
            </a:r>
            <a:pPr algn="l" indent="0" marL="0">
              <a:lnSpc>
                <a:spcPct val="140000"/>
              </a:lnSpc>
              <a:buNone/>
            </a:pPr>
            <a:r>
              <a:rPr lang="en-US" sz="1200" spc="120" kern="0" dirty="0">
                <a:solidFill>
                  <a:srgbClr val="5B47F0"/>
                </a:solidFill>
                <a:latin typeface="Courier New" pitchFamily="34" charset="0"/>
                <a:ea typeface="Courier New" pitchFamily="34" charset="-122"/>
                <a:cs typeface="Courier New" pitchFamily="34" charset="-120"/>
              </a:rPr>
              <a:t>· </a:t>
            </a:r>
            <a:pPr algn="l" indent="0" marL="0">
              <a:lnSpc>
                <a:spcPct val="140000"/>
              </a:lnSpc>
              <a:buNone/>
            </a:pPr>
            <a:r>
              <a:rPr lang="en-US" sz="1200" spc="120" kern="0" dirty="0">
                <a:solidFill>
                  <a:srgbClr val="6E7785"/>
                </a:solidFill>
                <a:latin typeface="Courier New" pitchFamily="34" charset="0"/>
                <a:ea typeface="Courier New" pitchFamily="34" charset="-122"/>
                <a:cs typeface="Courier New" pitchFamily="34" charset="-120"/>
              </a:rPr>
              <a:t>WHAT'S ALREADY BUILT</a:t>
            </a:r>
            <a:endParaRPr lang="en-US" sz="1200" dirty="0"/>
          </a:p>
        </p:txBody>
      </p:sp>
      <p:sp>
        <p:nvSpPr>
          <p:cNvPr id="7" name="Text 4"/>
          <p:cNvSpPr/>
          <p:nvPr/>
        </p:nvSpPr>
        <p:spPr>
          <a:xfrm>
            <a:off x="914400" y="1438275"/>
            <a:ext cx="15893415" cy="1409700"/>
          </a:xfrm>
          <a:prstGeom prst="rect">
            <a:avLst/>
          </a:prstGeom>
          <a:noFill/>
          <a:ln/>
        </p:spPr>
        <p:txBody>
          <a:bodyPr wrap="square" lIns="25400" tIns="25400" rIns="25400" bIns="25400" rtlCol="0" anchor="t">
            <a:normAutofit/>
          </a:bodyPr>
          <a:lstStyle/>
          <a:p>
            <a:pPr algn="l" indent="0" marL="0">
              <a:lnSpc>
                <a:spcPct val="100000"/>
              </a:lnSpc>
              <a:buNone/>
            </a:pPr>
            <a:r>
              <a:rPr lang="en-US" sz="5400" b="1" spc="-216" kern="0" dirty="0">
                <a:solidFill>
                  <a:srgbClr val="0F1419"/>
                </a:solidFill>
                <a:latin typeface="Arial" pitchFamily="34" charset="0"/>
                <a:ea typeface="Arial" pitchFamily="34" charset="-122"/>
                <a:cs typeface="Arial" pitchFamily="34" charset="-120"/>
              </a:rPr>
              <a:t>Not a pitch for a slide. </a:t>
            </a:r>
            <a:pPr algn="l" indent="0" marL="0">
              <a:lnSpc>
                <a:spcPct val="100000"/>
              </a:lnSpc>
              <a:buNone/>
            </a:pPr>
            <a:r>
              <a:rPr lang="en-US" sz="5400" b="1" spc="-216" kern="0" dirty="0">
                <a:solidFill>
                  <a:srgbClr val="5B47F0"/>
                </a:solidFill>
                <a:latin typeface="Arial" pitchFamily="34" charset="0"/>
                <a:ea typeface="Arial" pitchFamily="34" charset="-122"/>
                <a:cs typeface="Arial" pitchFamily="34" charset="-120"/>
              </a:rPr>
              <a:t>A pitch for a working product.</a:t>
            </a:r>
            <a:endParaRPr lang="en-US" sz="5400" dirty="0"/>
          </a:p>
        </p:txBody>
      </p:sp>
      <p:sp>
        <p:nvSpPr>
          <p:cNvPr id="8" name="Text 5"/>
          <p:cNvSpPr/>
          <p:nvPr/>
        </p:nvSpPr>
        <p:spPr>
          <a:xfrm>
            <a:off x="914400" y="3076575"/>
            <a:ext cx="12950190" cy="756196"/>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2A3340"/>
                </a:solidFill>
                <a:latin typeface="Arial" pitchFamily="34" charset="0"/>
                <a:ea typeface="Arial" pitchFamily="34" charset="-122"/>
                <a:cs typeface="Arial" pitchFamily="34" charset="-120"/>
              </a:rPr>
              <a:t>Built solo + AI-augmented in ~3 weeks. Every item below is in production today — running for our first cohort of sandbox tenants.</a:t>
            </a:r>
            <a:endParaRPr lang="en-US" sz="1950" dirty="0"/>
          </a:p>
        </p:txBody>
      </p:sp>
      <p:sp>
        <p:nvSpPr>
          <p:cNvPr id="9" name="Shape 6"/>
          <p:cNvSpPr/>
          <p:nvPr/>
        </p:nvSpPr>
        <p:spPr>
          <a:xfrm>
            <a:off x="914400" y="4251871"/>
            <a:ext cx="8115300" cy="859110"/>
          </a:xfrm>
          <a:prstGeom prst="roundRect">
            <a:avLst>
              <a:gd name="adj" fmla="val 13304"/>
            </a:avLst>
          </a:prstGeom>
          <a:solidFill>
            <a:srgbClr val="FFFFFF"/>
          </a:solidFill>
          <a:ln w="14288">
            <a:solidFill>
              <a:srgbClr val="DDE5EC"/>
            </a:solidFill>
            <a:prstDash val="solid"/>
          </a:ln>
          <a:effectLst>
            <a:outerShdw sx="100000" sy="100000" kx="0" ky="0" algn="bl" rotWithShape="0" blurRad="38100" dist="19050" dir="5400000">
              <a:srgbClr val="0F1419">
                <a:alpha val="4000"/>
              </a:srgbClr>
            </a:outerShdw>
          </a:effectLst>
        </p:spPr>
      </p:sp>
      <p:sp>
        <p:nvSpPr>
          <p:cNvPr id="10" name="Shape 7"/>
          <p:cNvSpPr/>
          <p:nvPr/>
        </p:nvSpPr>
        <p:spPr>
          <a:xfrm>
            <a:off x="1138238" y="4456658"/>
            <a:ext cx="285750" cy="285750"/>
          </a:xfrm>
          <a:prstGeom prst="roundRect">
            <a:avLst>
              <a:gd name="adj" fmla="val 23333"/>
            </a:avLst>
          </a:prstGeom>
          <a:solidFill>
            <a:srgbClr val="EEEBFD"/>
          </a:solidFill>
          <a:ln w="9525">
            <a:solidFill>
              <a:srgbClr val="C8C0F8"/>
            </a:solidFill>
            <a:prstDash val="solid"/>
          </a:ln>
        </p:spPr>
      </p:sp>
      <p:sp>
        <p:nvSpPr>
          <p:cNvPr id="11" name="Text 8"/>
          <p:cNvSpPr/>
          <p:nvPr/>
        </p:nvSpPr>
        <p:spPr>
          <a:xfrm>
            <a:off x="1109663" y="4466183"/>
            <a:ext cx="342900" cy="304800"/>
          </a:xfrm>
          <a:prstGeom prst="rect">
            <a:avLst/>
          </a:prstGeom>
          <a:noFill/>
          <a:ln/>
        </p:spPr>
        <p:txBody>
          <a:bodyPr wrap="square" lIns="25400" tIns="25400" rIns="25400" bIns="25400" rtlCol="0" anchor="ctr">
            <a:normAutofit/>
          </a:bodyPr>
          <a:lstStyle/>
          <a:p>
            <a:pPr algn="ctr" indent="0" marL="0">
              <a:lnSpc>
                <a:spcPct val="150000"/>
              </a:lnSpc>
              <a:buNone/>
            </a:pPr>
            <a:r>
              <a:rPr lang="en-US" sz="1200" b="1" dirty="0">
                <a:solidFill>
                  <a:srgbClr val="4231CC"/>
                </a:solidFill>
                <a:latin typeface="Arial" pitchFamily="34" charset="0"/>
                <a:ea typeface="Arial" pitchFamily="34" charset="-122"/>
                <a:cs typeface="Arial" pitchFamily="34" charset="-120"/>
              </a:rPr>
              <a:t>✓</a:t>
            </a:r>
            <a:endParaRPr lang="en-US" sz="1200" dirty="0"/>
          </a:p>
        </p:txBody>
      </p:sp>
      <p:sp>
        <p:nvSpPr>
          <p:cNvPr id="12" name="Text 9"/>
          <p:cNvSpPr/>
          <p:nvPr/>
        </p:nvSpPr>
        <p:spPr>
          <a:xfrm>
            <a:off x="1557338" y="4437608"/>
            <a:ext cx="3238084" cy="278085"/>
          </a:xfrm>
          <a:prstGeom prst="rect">
            <a:avLst/>
          </a:prstGeom>
          <a:noFill/>
          <a:ln/>
        </p:spPr>
        <p:txBody>
          <a:bodyPr wrap="square" lIns="25400" tIns="25400" rIns="25400" bIns="25400" rtlCol="0" anchor="t">
            <a:normAutofit/>
          </a:bodyPr>
          <a:lstStyle/>
          <a:p>
            <a:pPr algn="l" indent="0" marL="0">
              <a:lnSpc>
                <a:spcPct val="120000"/>
              </a:lnSpc>
              <a:buNone/>
            </a:pPr>
            <a:r>
              <a:rPr lang="en-US" sz="1575" b="1" spc="-16" kern="0" dirty="0">
                <a:solidFill>
                  <a:srgbClr val="0F1419"/>
                </a:solidFill>
                <a:latin typeface="Arial" pitchFamily="34" charset="0"/>
                <a:ea typeface="Arial" pitchFamily="34" charset="-122"/>
                <a:cs typeface="Arial" pitchFamily="34" charset="-120"/>
              </a:rPr>
              <a:t>End-to-end Sandbox provisioning</a:t>
            </a:r>
            <a:endParaRPr lang="en-US" sz="1575" dirty="0"/>
          </a:p>
        </p:txBody>
      </p:sp>
      <p:sp>
        <p:nvSpPr>
          <p:cNvPr id="13" name="Text 10"/>
          <p:cNvSpPr/>
          <p:nvPr/>
        </p:nvSpPr>
        <p:spPr>
          <a:xfrm>
            <a:off x="1557338" y="4725219"/>
            <a:ext cx="3238084" cy="238125"/>
          </a:xfrm>
          <a:prstGeom prst="rect">
            <a:avLst/>
          </a:prstGeom>
          <a:noFill/>
          <a:ln/>
        </p:spPr>
        <p:txBody>
          <a:bodyPr wrap="square" lIns="25400" tIns="25400" rIns="25400" bIns="25400" rtlCol="0" anchor="t">
            <a:normAutofit/>
          </a:bodyPr>
          <a:lstStyle/>
          <a:p>
            <a:pPr algn="l" indent="0" marL="0">
              <a:lnSpc>
                <a:spcPct val="140000"/>
              </a:lnSpc>
              <a:buNone/>
            </a:pPr>
            <a:r>
              <a:rPr lang="en-US" sz="1125" spc="45" kern="0" dirty="0">
                <a:solidFill>
                  <a:srgbClr val="6E7785"/>
                </a:solidFill>
                <a:latin typeface="Courier New" pitchFamily="34" charset="0"/>
                <a:ea typeface="Courier New" pitchFamily="34" charset="-122"/>
                <a:cs typeface="Courier New" pitchFamily="34" charset="-120"/>
              </a:rPr>
              <a:t>~60s · automated · idempotent</a:t>
            </a:r>
            <a:endParaRPr lang="en-US" sz="1125" dirty="0"/>
          </a:p>
        </p:txBody>
      </p:sp>
      <p:sp>
        <p:nvSpPr>
          <p:cNvPr id="14" name="Shape 11"/>
          <p:cNvSpPr/>
          <p:nvPr/>
        </p:nvSpPr>
        <p:spPr>
          <a:xfrm>
            <a:off x="9258300" y="4251871"/>
            <a:ext cx="8115300" cy="859110"/>
          </a:xfrm>
          <a:prstGeom prst="roundRect">
            <a:avLst>
              <a:gd name="adj" fmla="val 13304"/>
            </a:avLst>
          </a:prstGeom>
          <a:solidFill>
            <a:srgbClr val="FFFFFF"/>
          </a:solidFill>
          <a:ln w="14288">
            <a:solidFill>
              <a:srgbClr val="DDE5EC"/>
            </a:solidFill>
            <a:prstDash val="solid"/>
          </a:ln>
          <a:effectLst>
            <a:outerShdw sx="100000" sy="100000" kx="0" ky="0" algn="bl" rotWithShape="0" blurRad="38100" dist="19050" dir="5400000">
              <a:srgbClr val="0F1419">
                <a:alpha val="4000"/>
              </a:srgbClr>
            </a:outerShdw>
          </a:effectLst>
        </p:spPr>
      </p:sp>
      <p:sp>
        <p:nvSpPr>
          <p:cNvPr id="15" name="Shape 12"/>
          <p:cNvSpPr/>
          <p:nvPr/>
        </p:nvSpPr>
        <p:spPr>
          <a:xfrm>
            <a:off x="9482138" y="4456658"/>
            <a:ext cx="285750" cy="285750"/>
          </a:xfrm>
          <a:prstGeom prst="roundRect">
            <a:avLst>
              <a:gd name="adj" fmla="val 23333"/>
            </a:avLst>
          </a:prstGeom>
          <a:solidFill>
            <a:srgbClr val="EEEBFD"/>
          </a:solidFill>
          <a:ln w="9525">
            <a:solidFill>
              <a:srgbClr val="C8C0F8"/>
            </a:solidFill>
            <a:prstDash val="solid"/>
          </a:ln>
        </p:spPr>
      </p:sp>
      <p:sp>
        <p:nvSpPr>
          <p:cNvPr id="16" name="Text 13"/>
          <p:cNvSpPr/>
          <p:nvPr/>
        </p:nvSpPr>
        <p:spPr>
          <a:xfrm>
            <a:off x="9453563" y="4466183"/>
            <a:ext cx="342900" cy="304800"/>
          </a:xfrm>
          <a:prstGeom prst="rect">
            <a:avLst/>
          </a:prstGeom>
          <a:noFill/>
          <a:ln/>
        </p:spPr>
        <p:txBody>
          <a:bodyPr wrap="square" lIns="25400" tIns="25400" rIns="25400" bIns="25400" rtlCol="0" anchor="ctr">
            <a:normAutofit/>
          </a:bodyPr>
          <a:lstStyle/>
          <a:p>
            <a:pPr algn="ctr" indent="0" marL="0">
              <a:lnSpc>
                <a:spcPct val="150000"/>
              </a:lnSpc>
              <a:buNone/>
            </a:pPr>
            <a:r>
              <a:rPr lang="en-US" sz="1200" b="1" dirty="0">
                <a:solidFill>
                  <a:srgbClr val="4231CC"/>
                </a:solidFill>
                <a:latin typeface="Arial" pitchFamily="34" charset="0"/>
                <a:ea typeface="Arial" pitchFamily="34" charset="-122"/>
                <a:cs typeface="Arial" pitchFamily="34" charset="-120"/>
              </a:rPr>
              <a:t>✓</a:t>
            </a:r>
            <a:endParaRPr lang="en-US" sz="1200" dirty="0"/>
          </a:p>
        </p:txBody>
      </p:sp>
      <p:sp>
        <p:nvSpPr>
          <p:cNvPr id="17" name="Text 14"/>
          <p:cNvSpPr/>
          <p:nvPr/>
        </p:nvSpPr>
        <p:spPr>
          <a:xfrm>
            <a:off x="9901238" y="4437608"/>
            <a:ext cx="3723640" cy="278085"/>
          </a:xfrm>
          <a:prstGeom prst="rect">
            <a:avLst/>
          </a:prstGeom>
          <a:noFill/>
          <a:ln/>
        </p:spPr>
        <p:txBody>
          <a:bodyPr wrap="square" lIns="25400" tIns="25400" rIns="25400" bIns="25400" rtlCol="0" anchor="t">
            <a:normAutofit/>
          </a:bodyPr>
          <a:lstStyle/>
          <a:p>
            <a:pPr algn="l" indent="0" marL="0">
              <a:lnSpc>
                <a:spcPct val="120000"/>
              </a:lnSpc>
              <a:buNone/>
            </a:pPr>
            <a:r>
              <a:rPr lang="en-US" sz="1575" b="1" spc="-16" kern="0" dirty="0">
                <a:solidFill>
                  <a:srgbClr val="0F1419"/>
                </a:solidFill>
                <a:latin typeface="Arial" pitchFamily="34" charset="0"/>
                <a:ea typeface="Arial" pitchFamily="34" charset="-122"/>
                <a:cs typeface="Arial" pitchFamily="34" charset="-120"/>
              </a:rPr>
              <a:t>Magic-link + verification-code account</a:t>
            </a:r>
            <a:endParaRPr lang="en-US" sz="1575" dirty="0"/>
          </a:p>
        </p:txBody>
      </p:sp>
      <p:sp>
        <p:nvSpPr>
          <p:cNvPr id="18" name="Text 15"/>
          <p:cNvSpPr/>
          <p:nvPr/>
        </p:nvSpPr>
        <p:spPr>
          <a:xfrm>
            <a:off x="9901238" y="4725219"/>
            <a:ext cx="3723640" cy="238125"/>
          </a:xfrm>
          <a:prstGeom prst="rect">
            <a:avLst/>
          </a:prstGeom>
          <a:noFill/>
          <a:ln/>
        </p:spPr>
        <p:txBody>
          <a:bodyPr wrap="square" lIns="25400" tIns="25400" rIns="25400" bIns="25400" rtlCol="0" anchor="t">
            <a:normAutofit/>
          </a:bodyPr>
          <a:lstStyle/>
          <a:p>
            <a:pPr algn="l" indent="0" marL="0">
              <a:lnSpc>
                <a:spcPct val="140000"/>
              </a:lnSpc>
              <a:buNone/>
            </a:pPr>
            <a:r>
              <a:rPr lang="en-US" sz="1125" spc="45" kern="0" dirty="0">
                <a:solidFill>
                  <a:srgbClr val="6E7785"/>
                </a:solidFill>
                <a:latin typeface="Courier New" pitchFamily="34" charset="0"/>
                <a:ea typeface="Courier New" pitchFamily="34" charset="-122"/>
                <a:cs typeface="Courier New" pitchFamily="34" charset="-120"/>
              </a:rPr>
              <a:t>Hatchik root identity</a:t>
            </a:r>
            <a:endParaRPr lang="en-US" sz="1125" dirty="0"/>
          </a:p>
        </p:txBody>
      </p:sp>
      <p:sp>
        <p:nvSpPr>
          <p:cNvPr id="19" name="Shape 16"/>
          <p:cNvSpPr/>
          <p:nvPr/>
        </p:nvSpPr>
        <p:spPr>
          <a:xfrm>
            <a:off x="914400" y="5225281"/>
            <a:ext cx="8115300" cy="859110"/>
          </a:xfrm>
          <a:prstGeom prst="roundRect">
            <a:avLst>
              <a:gd name="adj" fmla="val 13304"/>
            </a:avLst>
          </a:prstGeom>
          <a:solidFill>
            <a:srgbClr val="FFFFFF"/>
          </a:solidFill>
          <a:ln w="14288">
            <a:solidFill>
              <a:srgbClr val="DDE5EC"/>
            </a:solidFill>
            <a:prstDash val="solid"/>
          </a:ln>
          <a:effectLst>
            <a:outerShdw sx="100000" sy="100000" kx="0" ky="0" algn="bl" rotWithShape="0" blurRad="38100" dist="19050" dir="5400000">
              <a:srgbClr val="0F1419">
                <a:alpha val="4000"/>
              </a:srgbClr>
            </a:outerShdw>
          </a:effectLst>
        </p:spPr>
      </p:sp>
      <p:sp>
        <p:nvSpPr>
          <p:cNvPr id="20" name="Shape 17"/>
          <p:cNvSpPr/>
          <p:nvPr/>
        </p:nvSpPr>
        <p:spPr>
          <a:xfrm>
            <a:off x="1138238" y="5430069"/>
            <a:ext cx="285750" cy="285750"/>
          </a:xfrm>
          <a:prstGeom prst="roundRect">
            <a:avLst>
              <a:gd name="adj" fmla="val 23333"/>
            </a:avLst>
          </a:prstGeom>
          <a:solidFill>
            <a:srgbClr val="EEEBFD"/>
          </a:solidFill>
          <a:ln w="9525">
            <a:solidFill>
              <a:srgbClr val="C8C0F8"/>
            </a:solidFill>
            <a:prstDash val="solid"/>
          </a:ln>
        </p:spPr>
      </p:sp>
      <p:sp>
        <p:nvSpPr>
          <p:cNvPr id="21" name="Text 18"/>
          <p:cNvSpPr/>
          <p:nvPr/>
        </p:nvSpPr>
        <p:spPr>
          <a:xfrm>
            <a:off x="1109663" y="5439594"/>
            <a:ext cx="342900" cy="304800"/>
          </a:xfrm>
          <a:prstGeom prst="rect">
            <a:avLst/>
          </a:prstGeom>
          <a:noFill/>
          <a:ln/>
        </p:spPr>
        <p:txBody>
          <a:bodyPr wrap="square" lIns="25400" tIns="25400" rIns="25400" bIns="25400" rtlCol="0" anchor="ctr">
            <a:normAutofit/>
          </a:bodyPr>
          <a:lstStyle/>
          <a:p>
            <a:pPr algn="ctr" indent="0" marL="0">
              <a:lnSpc>
                <a:spcPct val="150000"/>
              </a:lnSpc>
              <a:buNone/>
            </a:pPr>
            <a:r>
              <a:rPr lang="en-US" sz="1200" b="1" dirty="0">
                <a:solidFill>
                  <a:srgbClr val="4231CC"/>
                </a:solidFill>
                <a:latin typeface="Arial" pitchFamily="34" charset="0"/>
                <a:ea typeface="Arial" pitchFamily="34" charset="-122"/>
                <a:cs typeface="Arial" pitchFamily="34" charset="-120"/>
              </a:rPr>
              <a:t>✓</a:t>
            </a:r>
            <a:endParaRPr lang="en-US" sz="1200" dirty="0"/>
          </a:p>
        </p:txBody>
      </p:sp>
      <p:sp>
        <p:nvSpPr>
          <p:cNvPr id="22" name="Text 19"/>
          <p:cNvSpPr/>
          <p:nvPr/>
        </p:nvSpPr>
        <p:spPr>
          <a:xfrm>
            <a:off x="1557338" y="5411019"/>
            <a:ext cx="4396902" cy="278085"/>
          </a:xfrm>
          <a:prstGeom prst="rect">
            <a:avLst/>
          </a:prstGeom>
          <a:noFill/>
          <a:ln/>
        </p:spPr>
        <p:txBody>
          <a:bodyPr wrap="square" lIns="25400" tIns="25400" rIns="25400" bIns="25400" rtlCol="0" anchor="t">
            <a:normAutofit/>
          </a:bodyPr>
          <a:lstStyle/>
          <a:p>
            <a:pPr algn="l" indent="0" marL="0">
              <a:lnSpc>
                <a:spcPct val="120000"/>
              </a:lnSpc>
              <a:buNone/>
            </a:pPr>
            <a:r>
              <a:rPr lang="en-US" sz="1575" b="1" spc="-16" kern="0" dirty="0">
                <a:solidFill>
                  <a:srgbClr val="0F1419"/>
                </a:solidFill>
                <a:latin typeface="Arial" pitchFamily="34" charset="0"/>
                <a:ea typeface="Arial" pitchFamily="34" charset="-122"/>
                <a:cs typeface="Arial" pitchFamily="34" charset="-120"/>
              </a:rPr>
              <a:t>Self-serve sandbox deletion + admin lifecycle</a:t>
            </a:r>
            <a:endParaRPr lang="en-US" sz="1575" dirty="0"/>
          </a:p>
        </p:txBody>
      </p:sp>
      <p:sp>
        <p:nvSpPr>
          <p:cNvPr id="23" name="Text 20"/>
          <p:cNvSpPr/>
          <p:nvPr/>
        </p:nvSpPr>
        <p:spPr>
          <a:xfrm>
            <a:off x="1557338" y="5698629"/>
            <a:ext cx="4396902" cy="238125"/>
          </a:xfrm>
          <a:prstGeom prst="rect">
            <a:avLst/>
          </a:prstGeom>
          <a:noFill/>
          <a:ln/>
        </p:spPr>
        <p:txBody>
          <a:bodyPr wrap="square" lIns="25400" tIns="25400" rIns="25400" bIns="25400" rtlCol="0" anchor="t">
            <a:normAutofit/>
          </a:bodyPr>
          <a:lstStyle/>
          <a:p>
            <a:pPr algn="l" indent="0" marL="0">
              <a:lnSpc>
                <a:spcPct val="140000"/>
              </a:lnSpc>
              <a:buNone/>
            </a:pPr>
            <a:r>
              <a:rPr lang="en-US" sz="1125" spc="45" kern="0" dirty="0">
                <a:solidFill>
                  <a:srgbClr val="6E7785"/>
                </a:solidFill>
                <a:latin typeface="Courier New" pitchFamily="34" charset="0"/>
                <a:ea typeface="Courier New" pitchFamily="34" charset="-122"/>
                <a:cs typeface="Courier New" pitchFamily="34" charset="-120"/>
              </a:rPr>
              <a:t>30-day archive · 7-day restore grace</a:t>
            </a:r>
            <a:endParaRPr lang="en-US" sz="1125" dirty="0"/>
          </a:p>
        </p:txBody>
      </p:sp>
      <p:sp>
        <p:nvSpPr>
          <p:cNvPr id="24" name="Shape 21"/>
          <p:cNvSpPr/>
          <p:nvPr/>
        </p:nvSpPr>
        <p:spPr>
          <a:xfrm>
            <a:off x="9258300" y="5225281"/>
            <a:ext cx="8115300" cy="859110"/>
          </a:xfrm>
          <a:prstGeom prst="roundRect">
            <a:avLst>
              <a:gd name="adj" fmla="val 13304"/>
            </a:avLst>
          </a:prstGeom>
          <a:solidFill>
            <a:srgbClr val="FFFFFF"/>
          </a:solidFill>
          <a:ln w="14288">
            <a:solidFill>
              <a:srgbClr val="DDE5EC"/>
            </a:solidFill>
            <a:prstDash val="solid"/>
          </a:ln>
          <a:effectLst>
            <a:outerShdw sx="100000" sy="100000" kx="0" ky="0" algn="bl" rotWithShape="0" blurRad="38100" dist="19050" dir="5400000">
              <a:srgbClr val="0F1419">
                <a:alpha val="4000"/>
              </a:srgbClr>
            </a:outerShdw>
          </a:effectLst>
        </p:spPr>
      </p:sp>
      <p:sp>
        <p:nvSpPr>
          <p:cNvPr id="25" name="Shape 22"/>
          <p:cNvSpPr/>
          <p:nvPr/>
        </p:nvSpPr>
        <p:spPr>
          <a:xfrm>
            <a:off x="9482138" y="5430069"/>
            <a:ext cx="285750" cy="285750"/>
          </a:xfrm>
          <a:prstGeom prst="roundRect">
            <a:avLst>
              <a:gd name="adj" fmla="val 23333"/>
            </a:avLst>
          </a:prstGeom>
          <a:solidFill>
            <a:srgbClr val="EEEBFD"/>
          </a:solidFill>
          <a:ln w="9525">
            <a:solidFill>
              <a:srgbClr val="C8C0F8"/>
            </a:solidFill>
            <a:prstDash val="solid"/>
          </a:ln>
        </p:spPr>
      </p:sp>
      <p:sp>
        <p:nvSpPr>
          <p:cNvPr id="26" name="Text 23"/>
          <p:cNvSpPr/>
          <p:nvPr/>
        </p:nvSpPr>
        <p:spPr>
          <a:xfrm>
            <a:off x="9453563" y="5439594"/>
            <a:ext cx="342900" cy="304800"/>
          </a:xfrm>
          <a:prstGeom prst="rect">
            <a:avLst/>
          </a:prstGeom>
          <a:noFill/>
          <a:ln/>
        </p:spPr>
        <p:txBody>
          <a:bodyPr wrap="square" lIns="25400" tIns="25400" rIns="25400" bIns="25400" rtlCol="0" anchor="ctr">
            <a:normAutofit/>
          </a:bodyPr>
          <a:lstStyle/>
          <a:p>
            <a:pPr algn="ctr" indent="0" marL="0">
              <a:lnSpc>
                <a:spcPct val="150000"/>
              </a:lnSpc>
              <a:buNone/>
            </a:pPr>
            <a:r>
              <a:rPr lang="en-US" sz="1200" b="1" dirty="0">
                <a:solidFill>
                  <a:srgbClr val="4231CC"/>
                </a:solidFill>
                <a:latin typeface="Arial" pitchFamily="34" charset="0"/>
                <a:ea typeface="Arial" pitchFamily="34" charset="-122"/>
                <a:cs typeface="Arial" pitchFamily="34" charset="-120"/>
              </a:rPr>
              <a:t>✓</a:t>
            </a:r>
            <a:endParaRPr lang="en-US" sz="1200" dirty="0"/>
          </a:p>
        </p:txBody>
      </p:sp>
      <p:sp>
        <p:nvSpPr>
          <p:cNvPr id="27" name="Text 24"/>
          <p:cNvSpPr/>
          <p:nvPr/>
        </p:nvSpPr>
        <p:spPr>
          <a:xfrm>
            <a:off x="9901238" y="5411019"/>
            <a:ext cx="3948444" cy="278085"/>
          </a:xfrm>
          <a:prstGeom prst="rect">
            <a:avLst/>
          </a:prstGeom>
          <a:noFill/>
          <a:ln/>
        </p:spPr>
        <p:txBody>
          <a:bodyPr wrap="square" lIns="25400" tIns="25400" rIns="25400" bIns="25400" rtlCol="0" anchor="t">
            <a:normAutofit/>
          </a:bodyPr>
          <a:lstStyle/>
          <a:p>
            <a:pPr algn="l" indent="0" marL="0">
              <a:lnSpc>
                <a:spcPct val="120000"/>
              </a:lnSpc>
              <a:buNone/>
            </a:pPr>
            <a:r>
              <a:rPr lang="en-US" sz="1575" b="1" spc="-16" kern="0" dirty="0">
                <a:solidFill>
                  <a:srgbClr val="0F1419"/>
                </a:solidFill>
                <a:latin typeface="Arial" pitchFamily="34" charset="0"/>
                <a:ea typeface="Arial" pitchFamily="34" charset="-122"/>
                <a:cs typeface="Arial" pitchFamily="34" charset="-120"/>
              </a:rPr>
              <a:t>Per-tenant GitHub repo + push-to-deploy</a:t>
            </a:r>
            <a:endParaRPr lang="en-US" sz="1575" dirty="0"/>
          </a:p>
        </p:txBody>
      </p:sp>
      <p:sp>
        <p:nvSpPr>
          <p:cNvPr id="28" name="Text 25"/>
          <p:cNvSpPr/>
          <p:nvPr/>
        </p:nvSpPr>
        <p:spPr>
          <a:xfrm>
            <a:off x="9901238" y="5698629"/>
            <a:ext cx="3948444" cy="238125"/>
          </a:xfrm>
          <a:prstGeom prst="rect">
            <a:avLst/>
          </a:prstGeom>
          <a:noFill/>
          <a:ln/>
        </p:spPr>
        <p:txBody>
          <a:bodyPr wrap="square" lIns="25400" tIns="25400" rIns="25400" bIns="25400" rtlCol="0" anchor="t">
            <a:normAutofit/>
          </a:bodyPr>
          <a:lstStyle/>
          <a:p>
            <a:pPr algn="l" indent="0" marL="0">
              <a:lnSpc>
                <a:spcPct val="140000"/>
              </a:lnSpc>
              <a:buNone/>
            </a:pPr>
            <a:r>
              <a:rPr lang="en-US" sz="1125" spc="45" kern="0" dirty="0">
                <a:solidFill>
                  <a:srgbClr val="6E7785"/>
                </a:solidFill>
                <a:latin typeface="Courier New" pitchFamily="34" charset="0"/>
                <a:ea typeface="Courier New" pitchFamily="34" charset="-122"/>
                <a:cs typeface="Courier New" pitchFamily="34" charset="-120"/>
              </a:rPr>
              <a:t>Private repo · webhook deploy</a:t>
            </a:r>
            <a:endParaRPr lang="en-US" sz="1125" dirty="0"/>
          </a:p>
        </p:txBody>
      </p:sp>
      <p:sp>
        <p:nvSpPr>
          <p:cNvPr id="29" name="Shape 26"/>
          <p:cNvSpPr/>
          <p:nvPr/>
        </p:nvSpPr>
        <p:spPr>
          <a:xfrm>
            <a:off x="914400" y="6198691"/>
            <a:ext cx="8115300" cy="859110"/>
          </a:xfrm>
          <a:prstGeom prst="roundRect">
            <a:avLst>
              <a:gd name="adj" fmla="val 13304"/>
            </a:avLst>
          </a:prstGeom>
          <a:solidFill>
            <a:srgbClr val="FFFFFF"/>
          </a:solidFill>
          <a:ln w="14288">
            <a:solidFill>
              <a:srgbClr val="DDE5EC"/>
            </a:solidFill>
            <a:prstDash val="solid"/>
          </a:ln>
          <a:effectLst>
            <a:outerShdw sx="100000" sy="100000" kx="0" ky="0" algn="bl" rotWithShape="0" blurRad="38100" dist="19050" dir="5400000">
              <a:srgbClr val="0F1419">
                <a:alpha val="4000"/>
              </a:srgbClr>
            </a:outerShdw>
          </a:effectLst>
        </p:spPr>
      </p:sp>
      <p:sp>
        <p:nvSpPr>
          <p:cNvPr id="30" name="Shape 27"/>
          <p:cNvSpPr/>
          <p:nvPr/>
        </p:nvSpPr>
        <p:spPr>
          <a:xfrm>
            <a:off x="1138238" y="6403479"/>
            <a:ext cx="285750" cy="285750"/>
          </a:xfrm>
          <a:prstGeom prst="roundRect">
            <a:avLst>
              <a:gd name="adj" fmla="val 23333"/>
            </a:avLst>
          </a:prstGeom>
          <a:solidFill>
            <a:srgbClr val="EEEBFD"/>
          </a:solidFill>
          <a:ln w="9525">
            <a:solidFill>
              <a:srgbClr val="C8C0F8"/>
            </a:solidFill>
            <a:prstDash val="solid"/>
          </a:ln>
        </p:spPr>
      </p:sp>
      <p:sp>
        <p:nvSpPr>
          <p:cNvPr id="31" name="Text 28"/>
          <p:cNvSpPr/>
          <p:nvPr/>
        </p:nvSpPr>
        <p:spPr>
          <a:xfrm>
            <a:off x="1109663" y="6413004"/>
            <a:ext cx="342900" cy="304800"/>
          </a:xfrm>
          <a:prstGeom prst="rect">
            <a:avLst/>
          </a:prstGeom>
          <a:noFill/>
          <a:ln/>
        </p:spPr>
        <p:txBody>
          <a:bodyPr wrap="square" lIns="25400" tIns="25400" rIns="25400" bIns="25400" rtlCol="0" anchor="ctr">
            <a:normAutofit/>
          </a:bodyPr>
          <a:lstStyle/>
          <a:p>
            <a:pPr algn="ctr" indent="0" marL="0">
              <a:lnSpc>
                <a:spcPct val="150000"/>
              </a:lnSpc>
              <a:buNone/>
            </a:pPr>
            <a:r>
              <a:rPr lang="en-US" sz="1200" b="1" dirty="0">
                <a:solidFill>
                  <a:srgbClr val="4231CC"/>
                </a:solidFill>
                <a:latin typeface="Arial" pitchFamily="34" charset="0"/>
                <a:ea typeface="Arial" pitchFamily="34" charset="-122"/>
                <a:cs typeface="Arial" pitchFamily="34" charset="-120"/>
              </a:rPr>
              <a:t>✓</a:t>
            </a:r>
            <a:endParaRPr lang="en-US" sz="1200" dirty="0"/>
          </a:p>
        </p:txBody>
      </p:sp>
      <p:sp>
        <p:nvSpPr>
          <p:cNvPr id="32" name="Text 29"/>
          <p:cNvSpPr/>
          <p:nvPr/>
        </p:nvSpPr>
        <p:spPr>
          <a:xfrm>
            <a:off x="1557338" y="6384429"/>
            <a:ext cx="3767941" cy="278085"/>
          </a:xfrm>
          <a:prstGeom prst="rect">
            <a:avLst/>
          </a:prstGeom>
          <a:noFill/>
          <a:ln/>
        </p:spPr>
        <p:txBody>
          <a:bodyPr wrap="square" lIns="25400" tIns="25400" rIns="25400" bIns="25400" rtlCol="0" anchor="t">
            <a:normAutofit/>
          </a:bodyPr>
          <a:lstStyle/>
          <a:p>
            <a:pPr algn="l" indent="0" marL="0">
              <a:lnSpc>
                <a:spcPct val="120000"/>
              </a:lnSpc>
              <a:buNone/>
            </a:pPr>
            <a:r>
              <a:rPr lang="en-US" sz="1575" b="1" spc="-16" kern="0" dirty="0">
                <a:solidFill>
                  <a:srgbClr val="0F1419"/>
                </a:solidFill>
                <a:latin typeface="Arial" pitchFamily="34" charset="0"/>
                <a:ea typeface="Arial" pitchFamily="34" charset="-122"/>
                <a:cs typeface="Arial" pitchFamily="34" charset="-120"/>
              </a:rPr>
              <a:t>AI deploy token</a:t>
            </a:r>
            <a:endParaRPr lang="en-US" sz="1575" dirty="0"/>
          </a:p>
        </p:txBody>
      </p:sp>
      <p:sp>
        <p:nvSpPr>
          <p:cNvPr id="33" name="Text 30"/>
          <p:cNvSpPr/>
          <p:nvPr/>
        </p:nvSpPr>
        <p:spPr>
          <a:xfrm>
            <a:off x="1557338" y="6672039"/>
            <a:ext cx="3767941" cy="238125"/>
          </a:xfrm>
          <a:prstGeom prst="rect">
            <a:avLst/>
          </a:prstGeom>
          <a:noFill/>
          <a:ln/>
        </p:spPr>
        <p:txBody>
          <a:bodyPr wrap="square" lIns="25400" tIns="25400" rIns="25400" bIns="25400" rtlCol="0" anchor="t">
            <a:normAutofit/>
          </a:bodyPr>
          <a:lstStyle/>
          <a:p>
            <a:pPr algn="l" indent="0" marL="0">
              <a:lnSpc>
                <a:spcPct val="140000"/>
              </a:lnSpc>
              <a:buNone/>
            </a:pPr>
            <a:r>
              <a:rPr lang="en-US" sz="1125" spc="45" kern="0" dirty="0">
                <a:solidFill>
                  <a:srgbClr val="6E7785"/>
                </a:solidFill>
                <a:latin typeface="Courier New" pitchFamily="34" charset="0"/>
                <a:ea typeface="Courier New" pitchFamily="34" charset="-122"/>
                <a:cs typeface="Courier New" pitchFamily="34" charset="-120"/>
              </a:rPr>
              <a:t>Claude / Cursor / Windsurf ship directly</a:t>
            </a:r>
            <a:endParaRPr lang="en-US" sz="1125" dirty="0"/>
          </a:p>
        </p:txBody>
      </p:sp>
      <p:sp>
        <p:nvSpPr>
          <p:cNvPr id="34" name="Shape 31"/>
          <p:cNvSpPr/>
          <p:nvPr/>
        </p:nvSpPr>
        <p:spPr>
          <a:xfrm>
            <a:off x="9258300" y="6198691"/>
            <a:ext cx="8115300" cy="859110"/>
          </a:xfrm>
          <a:prstGeom prst="roundRect">
            <a:avLst>
              <a:gd name="adj" fmla="val 13304"/>
            </a:avLst>
          </a:prstGeom>
          <a:solidFill>
            <a:srgbClr val="FFFFFF"/>
          </a:solidFill>
          <a:ln w="14288">
            <a:solidFill>
              <a:srgbClr val="DDE5EC"/>
            </a:solidFill>
            <a:prstDash val="solid"/>
          </a:ln>
          <a:effectLst>
            <a:outerShdw sx="100000" sy="100000" kx="0" ky="0" algn="bl" rotWithShape="0" blurRad="38100" dist="19050" dir="5400000">
              <a:srgbClr val="0F1419">
                <a:alpha val="4000"/>
              </a:srgbClr>
            </a:outerShdw>
          </a:effectLst>
        </p:spPr>
      </p:sp>
      <p:sp>
        <p:nvSpPr>
          <p:cNvPr id="35" name="Shape 32"/>
          <p:cNvSpPr/>
          <p:nvPr/>
        </p:nvSpPr>
        <p:spPr>
          <a:xfrm>
            <a:off x="9482138" y="6403479"/>
            <a:ext cx="285750" cy="285750"/>
          </a:xfrm>
          <a:prstGeom prst="roundRect">
            <a:avLst>
              <a:gd name="adj" fmla="val 23333"/>
            </a:avLst>
          </a:prstGeom>
          <a:solidFill>
            <a:srgbClr val="EEEBFD"/>
          </a:solidFill>
          <a:ln w="9525">
            <a:solidFill>
              <a:srgbClr val="C8C0F8"/>
            </a:solidFill>
            <a:prstDash val="solid"/>
          </a:ln>
        </p:spPr>
      </p:sp>
      <p:sp>
        <p:nvSpPr>
          <p:cNvPr id="36" name="Text 33"/>
          <p:cNvSpPr/>
          <p:nvPr/>
        </p:nvSpPr>
        <p:spPr>
          <a:xfrm>
            <a:off x="9453563" y="6413004"/>
            <a:ext cx="342900" cy="304800"/>
          </a:xfrm>
          <a:prstGeom prst="rect">
            <a:avLst/>
          </a:prstGeom>
          <a:noFill/>
          <a:ln/>
        </p:spPr>
        <p:txBody>
          <a:bodyPr wrap="square" lIns="25400" tIns="25400" rIns="25400" bIns="25400" rtlCol="0" anchor="ctr">
            <a:normAutofit/>
          </a:bodyPr>
          <a:lstStyle/>
          <a:p>
            <a:pPr algn="ctr" indent="0" marL="0">
              <a:lnSpc>
                <a:spcPct val="150000"/>
              </a:lnSpc>
              <a:buNone/>
            </a:pPr>
            <a:r>
              <a:rPr lang="en-US" sz="1200" b="1" dirty="0">
                <a:solidFill>
                  <a:srgbClr val="4231CC"/>
                </a:solidFill>
                <a:latin typeface="Arial" pitchFamily="34" charset="0"/>
                <a:ea typeface="Arial" pitchFamily="34" charset="-122"/>
                <a:cs typeface="Arial" pitchFamily="34" charset="-120"/>
              </a:rPr>
              <a:t>✓</a:t>
            </a:r>
            <a:endParaRPr lang="en-US" sz="1200" dirty="0"/>
          </a:p>
        </p:txBody>
      </p:sp>
      <p:sp>
        <p:nvSpPr>
          <p:cNvPr id="37" name="Text 34"/>
          <p:cNvSpPr/>
          <p:nvPr/>
        </p:nvSpPr>
        <p:spPr>
          <a:xfrm>
            <a:off x="9901238" y="6384429"/>
            <a:ext cx="3296949" cy="278085"/>
          </a:xfrm>
          <a:prstGeom prst="rect">
            <a:avLst/>
          </a:prstGeom>
          <a:noFill/>
          <a:ln/>
        </p:spPr>
        <p:txBody>
          <a:bodyPr wrap="square" lIns="25400" tIns="25400" rIns="25400" bIns="25400" rtlCol="0" anchor="t">
            <a:normAutofit/>
          </a:bodyPr>
          <a:lstStyle/>
          <a:p>
            <a:pPr algn="l" indent="0" marL="0">
              <a:lnSpc>
                <a:spcPct val="120000"/>
              </a:lnSpc>
              <a:buNone/>
            </a:pPr>
            <a:r>
              <a:rPr lang="en-US" sz="1575" b="1" spc="-16" kern="0" dirty="0">
                <a:solidFill>
                  <a:srgbClr val="0F1419"/>
                </a:solidFill>
                <a:latin typeface="Arial" pitchFamily="34" charset="0"/>
                <a:ea typeface="Arial" pitchFamily="34" charset="-122"/>
                <a:cs typeface="Arial" pitchFamily="34" charset="-120"/>
              </a:rPr>
              <a:t>Mobile build pipeline</a:t>
            </a:r>
            <a:endParaRPr lang="en-US" sz="1575" dirty="0"/>
          </a:p>
        </p:txBody>
      </p:sp>
      <p:sp>
        <p:nvSpPr>
          <p:cNvPr id="38" name="Text 35"/>
          <p:cNvSpPr/>
          <p:nvPr/>
        </p:nvSpPr>
        <p:spPr>
          <a:xfrm>
            <a:off x="9901238" y="6672039"/>
            <a:ext cx="3296949" cy="238125"/>
          </a:xfrm>
          <a:prstGeom prst="rect">
            <a:avLst/>
          </a:prstGeom>
          <a:noFill/>
          <a:ln/>
        </p:spPr>
        <p:txBody>
          <a:bodyPr wrap="square" lIns="25400" tIns="25400" rIns="25400" bIns="25400" rtlCol="0" anchor="t">
            <a:normAutofit/>
          </a:bodyPr>
          <a:lstStyle/>
          <a:p>
            <a:pPr algn="l" indent="0" marL="0">
              <a:lnSpc>
                <a:spcPct val="140000"/>
              </a:lnSpc>
              <a:buNone/>
            </a:pPr>
            <a:r>
              <a:rPr lang="en-US" sz="1125" spc="45" kern="0" dirty="0">
                <a:solidFill>
                  <a:srgbClr val="6E7785"/>
                </a:solidFill>
                <a:latin typeface="Courier New" pitchFamily="34" charset="0"/>
                <a:ea typeface="Courier New" pitchFamily="34" charset="-122"/>
                <a:cs typeface="Courier New" pitchFamily="34" charset="-120"/>
              </a:rPr>
              <a:t>GitHub Actions · unsigned IPA + APK</a:t>
            </a:r>
            <a:endParaRPr lang="en-US" sz="1125" dirty="0"/>
          </a:p>
        </p:txBody>
      </p:sp>
      <p:sp>
        <p:nvSpPr>
          <p:cNvPr id="39" name="Shape 36"/>
          <p:cNvSpPr/>
          <p:nvPr/>
        </p:nvSpPr>
        <p:spPr>
          <a:xfrm>
            <a:off x="914400" y="7172102"/>
            <a:ext cx="8115300" cy="859110"/>
          </a:xfrm>
          <a:prstGeom prst="roundRect">
            <a:avLst>
              <a:gd name="adj" fmla="val 13304"/>
            </a:avLst>
          </a:prstGeom>
          <a:solidFill>
            <a:srgbClr val="FFFFFF"/>
          </a:solidFill>
          <a:ln w="14288">
            <a:solidFill>
              <a:srgbClr val="DDE5EC"/>
            </a:solidFill>
            <a:prstDash val="solid"/>
          </a:ln>
          <a:effectLst>
            <a:outerShdw sx="100000" sy="100000" kx="0" ky="0" algn="bl" rotWithShape="0" blurRad="38100" dist="19050" dir="5400000">
              <a:srgbClr val="0F1419">
                <a:alpha val="4000"/>
              </a:srgbClr>
            </a:outerShdw>
          </a:effectLst>
        </p:spPr>
      </p:sp>
      <p:sp>
        <p:nvSpPr>
          <p:cNvPr id="40" name="Shape 37"/>
          <p:cNvSpPr/>
          <p:nvPr/>
        </p:nvSpPr>
        <p:spPr>
          <a:xfrm>
            <a:off x="1138238" y="7376889"/>
            <a:ext cx="285750" cy="285750"/>
          </a:xfrm>
          <a:prstGeom prst="roundRect">
            <a:avLst>
              <a:gd name="adj" fmla="val 23333"/>
            </a:avLst>
          </a:prstGeom>
          <a:solidFill>
            <a:srgbClr val="EEEBFD"/>
          </a:solidFill>
          <a:ln w="9525">
            <a:solidFill>
              <a:srgbClr val="C8C0F8"/>
            </a:solidFill>
            <a:prstDash val="solid"/>
          </a:ln>
        </p:spPr>
      </p:sp>
      <p:sp>
        <p:nvSpPr>
          <p:cNvPr id="41" name="Text 38"/>
          <p:cNvSpPr/>
          <p:nvPr/>
        </p:nvSpPr>
        <p:spPr>
          <a:xfrm>
            <a:off x="1109663" y="7386414"/>
            <a:ext cx="342900" cy="304800"/>
          </a:xfrm>
          <a:prstGeom prst="rect">
            <a:avLst/>
          </a:prstGeom>
          <a:noFill/>
          <a:ln/>
        </p:spPr>
        <p:txBody>
          <a:bodyPr wrap="square" lIns="25400" tIns="25400" rIns="25400" bIns="25400" rtlCol="0" anchor="ctr">
            <a:normAutofit/>
          </a:bodyPr>
          <a:lstStyle/>
          <a:p>
            <a:pPr algn="ctr" indent="0" marL="0">
              <a:lnSpc>
                <a:spcPct val="150000"/>
              </a:lnSpc>
              <a:buNone/>
            </a:pPr>
            <a:r>
              <a:rPr lang="en-US" sz="1200" b="1" dirty="0">
                <a:solidFill>
                  <a:srgbClr val="4231CC"/>
                </a:solidFill>
                <a:latin typeface="Arial" pitchFamily="34" charset="0"/>
                <a:ea typeface="Arial" pitchFamily="34" charset="-122"/>
                <a:cs typeface="Arial" pitchFamily="34" charset="-120"/>
              </a:rPr>
              <a:t>✓</a:t>
            </a:r>
            <a:endParaRPr lang="en-US" sz="1200" dirty="0"/>
          </a:p>
        </p:txBody>
      </p:sp>
      <p:sp>
        <p:nvSpPr>
          <p:cNvPr id="42" name="Text 39"/>
          <p:cNvSpPr/>
          <p:nvPr/>
        </p:nvSpPr>
        <p:spPr>
          <a:xfrm>
            <a:off x="1557338" y="7357839"/>
            <a:ext cx="1722388" cy="278085"/>
          </a:xfrm>
          <a:prstGeom prst="rect">
            <a:avLst/>
          </a:prstGeom>
          <a:noFill/>
          <a:ln/>
        </p:spPr>
        <p:txBody>
          <a:bodyPr wrap="square" lIns="25400" tIns="25400" rIns="25400" bIns="25400" rtlCol="0" anchor="t">
            <a:normAutofit/>
          </a:bodyPr>
          <a:lstStyle/>
          <a:p>
            <a:pPr algn="l" indent="0" marL="0">
              <a:lnSpc>
                <a:spcPct val="120000"/>
              </a:lnSpc>
              <a:buNone/>
            </a:pPr>
            <a:r>
              <a:rPr lang="en-US" sz="1575" b="1" spc="-16" kern="0" dirty="0">
                <a:solidFill>
                  <a:srgbClr val="0F1419"/>
                </a:solidFill>
                <a:latin typeface="Arial" pitchFamily="34" charset="0"/>
                <a:ea typeface="Arial" pitchFamily="34" charset="-122"/>
                <a:cs typeface="Arial" pitchFamily="34" charset="-120"/>
              </a:rPr>
              <a:t>Status page</a:t>
            </a:r>
            <a:endParaRPr lang="en-US" sz="1575" dirty="0"/>
          </a:p>
        </p:txBody>
      </p:sp>
      <p:sp>
        <p:nvSpPr>
          <p:cNvPr id="43" name="Text 40"/>
          <p:cNvSpPr/>
          <p:nvPr/>
        </p:nvSpPr>
        <p:spPr>
          <a:xfrm>
            <a:off x="1557338" y="7645450"/>
            <a:ext cx="1722388" cy="238125"/>
          </a:xfrm>
          <a:prstGeom prst="rect">
            <a:avLst/>
          </a:prstGeom>
          <a:noFill/>
          <a:ln/>
        </p:spPr>
        <p:txBody>
          <a:bodyPr wrap="square" lIns="25400" tIns="25400" rIns="25400" bIns="25400" rtlCol="0" anchor="t">
            <a:normAutofit/>
          </a:bodyPr>
          <a:lstStyle/>
          <a:p>
            <a:pPr algn="l" indent="0" marL="0">
              <a:lnSpc>
                <a:spcPct val="140000"/>
              </a:lnSpc>
              <a:buNone/>
            </a:pPr>
            <a:r>
              <a:rPr lang="en-US" sz="1125" spc="45" kern="0" dirty="0">
                <a:solidFill>
                  <a:srgbClr val="6E7785"/>
                </a:solidFill>
                <a:latin typeface="Courier New" pitchFamily="34" charset="0"/>
                <a:ea typeface="Courier New" pitchFamily="34" charset="-122"/>
                <a:cs typeface="Courier New" pitchFamily="34" charset="-120"/>
              </a:rPr>
              <a:t>status.hatchik.com</a:t>
            </a:r>
            <a:endParaRPr lang="en-US" sz="1125" dirty="0"/>
          </a:p>
        </p:txBody>
      </p:sp>
      <p:sp>
        <p:nvSpPr>
          <p:cNvPr id="44" name="Shape 41"/>
          <p:cNvSpPr/>
          <p:nvPr/>
        </p:nvSpPr>
        <p:spPr>
          <a:xfrm>
            <a:off x="9258300" y="7172102"/>
            <a:ext cx="8115300" cy="859110"/>
          </a:xfrm>
          <a:prstGeom prst="roundRect">
            <a:avLst>
              <a:gd name="adj" fmla="val 13304"/>
            </a:avLst>
          </a:prstGeom>
          <a:solidFill>
            <a:srgbClr val="FFFFFF"/>
          </a:solidFill>
          <a:ln w="14288">
            <a:solidFill>
              <a:srgbClr val="DDE5EC"/>
            </a:solidFill>
            <a:prstDash val="solid"/>
          </a:ln>
          <a:effectLst>
            <a:outerShdw sx="100000" sy="100000" kx="0" ky="0" algn="bl" rotWithShape="0" blurRad="38100" dist="19050" dir="5400000">
              <a:srgbClr val="0F1419">
                <a:alpha val="4000"/>
              </a:srgbClr>
            </a:outerShdw>
          </a:effectLst>
        </p:spPr>
      </p:sp>
      <p:sp>
        <p:nvSpPr>
          <p:cNvPr id="45" name="Shape 42"/>
          <p:cNvSpPr/>
          <p:nvPr/>
        </p:nvSpPr>
        <p:spPr>
          <a:xfrm>
            <a:off x="9482138" y="7376889"/>
            <a:ext cx="285750" cy="285750"/>
          </a:xfrm>
          <a:prstGeom prst="roundRect">
            <a:avLst>
              <a:gd name="adj" fmla="val 23333"/>
            </a:avLst>
          </a:prstGeom>
          <a:solidFill>
            <a:srgbClr val="EEEBFD"/>
          </a:solidFill>
          <a:ln w="9525">
            <a:solidFill>
              <a:srgbClr val="C8C0F8"/>
            </a:solidFill>
            <a:prstDash val="solid"/>
          </a:ln>
        </p:spPr>
      </p:sp>
      <p:sp>
        <p:nvSpPr>
          <p:cNvPr id="46" name="Text 43"/>
          <p:cNvSpPr/>
          <p:nvPr/>
        </p:nvSpPr>
        <p:spPr>
          <a:xfrm>
            <a:off x="9453563" y="7386414"/>
            <a:ext cx="342900" cy="304800"/>
          </a:xfrm>
          <a:prstGeom prst="rect">
            <a:avLst/>
          </a:prstGeom>
          <a:noFill/>
          <a:ln/>
        </p:spPr>
        <p:txBody>
          <a:bodyPr wrap="square" lIns="25400" tIns="25400" rIns="25400" bIns="25400" rtlCol="0" anchor="ctr">
            <a:normAutofit/>
          </a:bodyPr>
          <a:lstStyle/>
          <a:p>
            <a:pPr algn="ctr" indent="0" marL="0">
              <a:lnSpc>
                <a:spcPct val="150000"/>
              </a:lnSpc>
              <a:buNone/>
            </a:pPr>
            <a:r>
              <a:rPr lang="en-US" sz="1200" b="1" dirty="0">
                <a:solidFill>
                  <a:srgbClr val="4231CC"/>
                </a:solidFill>
                <a:latin typeface="Arial" pitchFamily="34" charset="0"/>
                <a:ea typeface="Arial" pitchFamily="34" charset="-122"/>
                <a:cs typeface="Arial" pitchFamily="34" charset="-120"/>
              </a:rPr>
              <a:t>✓</a:t>
            </a:r>
            <a:endParaRPr lang="en-US" sz="1200" dirty="0"/>
          </a:p>
        </p:txBody>
      </p:sp>
      <p:sp>
        <p:nvSpPr>
          <p:cNvPr id="47" name="Text 44"/>
          <p:cNvSpPr/>
          <p:nvPr/>
        </p:nvSpPr>
        <p:spPr>
          <a:xfrm>
            <a:off x="9901238" y="7357839"/>
            <a:ext cx="1539478" cy="278085"/>
          </a:xfrm>
          <a:prstGeom prst="rect">
            <a:avLst/>
          </a:prstGeom>
          <a:noFill/>
          <a:ln/>
        </p:spPr>
        <p:txBody>
          <a:bodyPr wrap="square" lIns="25400" tIns="25400" rIns="25400" bIns="25400" rtlCol="0" anchor="t">
            <a:normAutofit/>
          </a:bodyPr>
          <a:lstStyle/>
          <a:p>
            <a:pPr algn="l" indent="0" marL="0">
              <a:lnSpc>
                <a:spcPct val="120000"/>
              </a:lnSpc>
              <a:buNone/>
            </a:pPr>
            <a:r>
              <a:rPr lang="en-US" sz="1575" b="1" spc="-16" kern="0" dirty="0">
                <a:solidFill>
                  <a:srgbClr val="0F1419"/>
                </a:solidFill>
                <a:latin typeface="Arial" pitchFamily="34" charset="0"/>
                <a:ea typeface="Arial" pitchFamily="34" charset="-122"/>
                <a:cs typeface="Arial" pitchFamily="34" charset="-120"/>
              </a:rPr>
              <a:t>Docs site</a:t>
            </a:r>
            <a:endParaRPr lang="en-US" sz="1575" dirty="0"/>
          </a:p>
        </p:txBody>
      </p:sp>
      <p:sp>
        <p:nvSpPr>
          <p:cNvPr id="48" name="Text 45"/>
          <p:cNvSpPr/>
          <p:nvPr/>
        </p:nvSpPr>
        <p:spPr>
          <a:xfrm>
            <a:off x="9901238" y="7645450"/>
            <a:ext cx="1539478" cy="238125"/>
          </a:xfrm>
          <a:prstGeom prst="rect">
            <a:avLst/>
          </a:prstGeom>
          <a:noFill/>
          <a:ln/>
        </p:spPr>
        <p:txBody>
          <a:bodyPr wrap="square" lIns="25400" tIns="25400" rIns="25400" bIns="25400" rtlCol="0" anchor="t">
            <a:normAutofit/>
          </a:bodyPr>
          <a:lstStyle/>
          <a:p>
            <a:pPr algn="l" indent="0" marL="0">
              <a:lnSpc>
                <a:spcPct val="140000"/>
              </a:lnSpc>
              <a:buNone/>
            </a:pPr>
            <a:r>
              <a:rPr lang="en-US" sz="1125" spc="45" kern="0" dirty="0">
                <a:solidFill>
                  <a:srgbClr val="6E7785"/>
                </a:solidFill>
                <a:latin typeface="Courier New" pitchFamily="34" charset="0"/>
                <a:ea typeface="Courier New" pitchFamily="34" charset="-122"/>
                <a:cs typeface="Courier New" pitchFamily="34" charset="-120"/>
              </a:rPr>
              <a:t>docs.hatchik.com</a:t>
            </a:r>
            <a:endParaRPr lang="en-US" sz="1125" dirty="0"/>
          </a:p>
        </p:txBody>
      </p:sp>
      <p:sp>
        <p:nvSpPr>
          <p:cNvPr id="49" name="Shape 46"/>
          <p:cNvSpPr/>
          <p:nvPr/>
        </p:nvSpPr>
        <p:spPr>
          <a:xfrm>
            <a:off x="914400" y="8145512"/>
            <a:ext cx="8115300" cy="859110"/>
          </a:xfrm>
          <a:prstGeom prst="roundRect">
            <a:avLst>
              <a:gd name="adj" fmla="val 13304"/>
            </a:avLst>
          </a:prstGeom>
          <a:solidFill>
            <a:srgbClr val="FFFFFF"/>
          </a:solidFill>
          <a:ln w="14288">
            <a:solidFill>
              <a:srgbClr val="DDE5EC"/>
            </a:solidFill>
            <a:prstDash val="solid"/>
          </a:ln>
          <a:effectLst>
            <a:outerShdw sx="100000" sy="100000" kx="0" ky="0" algn="bl" rotWithShape="0" blurRad="38100" dist="19050" dir="5400000">
              <a:srgbClr val="0F1419">
                <a:alpha val="4000"/>
              </a:srgbClr>
            </a:outerShdw>
          </a:effectLst>
        </p:spPr>
      </p:sp>
      <p:sp>
        <p:nvSpPr>
          <p:cNvPr id="50" name="Shape 47"/>
          <p:cNvSpPr/>
          <p:nvPr/>
        </p:nvSpPr>
        <p:spPr>
          <a:xfrm>
            <a:off x="1138238" y="8350300"/>
            <a:ext cx="285750" cy="285750"/>
          </a:xfrm>
          <a:prstGeom prst="roundRect">
            <a:avLst>
              <a:gd name="adj" fmla="val 23333"/>
            </a:avLst>
          </a:prstGeom>
          <a:solidFill>
            <a:srgbClr val="EEEBFD"/>
          </a:solidFill>
          <a:ln w="9525">
            <a:solidFill>
              <a:srgbClr val="C8C0F8"/>
            </a:solidFill>
            <a:prstDash val="solid"/>
          </a:ln>
        </p:spPr>
      </p:sp>
      <p:sp>
        <p:nvSpPr>
          <p:cNvPr id="51" name="Text 48"/>
          <p:cNvSpPr/>
          <p:nvPr/>
        </p:nvSpPr>
        <p:spPr>
          <a:xfrm>
            <a:off x="1109663" y="8359825"/>
            <a:ext cx="342900" cy="304800"/>
          </a:xfrm>
          <a:prstGeom prst="rect">
            <a:avLst/>
          </a:prstGeom>
          <a:noFill/>
          <a:ln/>
        </p:spPr>
        <p:txBody>
          <a:bodyPr wrap="square" lIns="25400" tIns="25400" rIns="25400" bIns="25400" rtlCol="0" anchor="ctr">
            <a:normAutofit/>
          </a:bodyPr>
          <a:lstStyle/>
          <a:p>
            <a:pPr algn="ctr" indent="0" marL="0">
              <a:lnSpc>
                <a:spcPct val="150000"/>
              </a:lnSpc>
              <a:buNone/>
            </a:pPr>
            <a:r>
              <a:rPr lang="en-US" sz="1200" b="1" dirty="0">
                <a:solidFill>
                  <a:srgbClr val="4231CC"/>
                </a:solidFill>
                <a:latin typeface="Arial" pitchFamily="34" charset="0"/>
                <a:ea typeface="Arial" pitchFamily="34" charset="-122"/>
                <a:cs typeface="Arial" pitchFamily="34" charset="-120"/>
              </a:rPr>
              <a:t>✓</a:t>
            </a:r>
            <a:endParaRPr lang="en-US" sz="1200" dirty="0"/>
          </a:p>
        </p:txBody>
      </p:sp>
      <p:sp>
        <p:nvSpPr>
          <p:cNvPr id="52" name="Text 49"/>
          <p:cNvSpPr/>
          <p:nvPr/>
        </p:nvSpPr>
        <p:spPr>
          <a:xfrm>
            <a:off x="1557338" y="8331250"/>
            <a:ext cx="2667834" cy="278085"/>
          </a:xfrm>
          <a:prstGeom prst="rect">
            <a:avLst/>
          </a:prstGeom>
          <a:noFill/>
          <a:ln/>
        </p:spPr>
        <p:txBody>
          <a:bodyPr wrap="square" lIns="25400" tIns="25400" rIns="25400" bIns="25400" rtlCol="0" anchor="t">
            <a:normAutofit/>
          </a:bodyPr>
          <a:lstStyle/>
          <a:p>
            <a:pPr algn="l" indent="0" marL="0">
              <a:lnSpc>
                <a:spcPct val="120000"/>
              </a:lnSpc>
              <a:buNone/>
            </a:pPr>
            <a:r>
              <a:rPr lang="en-US" sz="1575" b="1" spc="-16" kern="0" dirty="0">
                <a:solidFill>
                  <a:srgbClr val="0F1419"/>
                </a:solidFill>
                <a:latin typeface="Arial" pitchFamily="34" charset="0"/>
                <a:ea typeface="Arial" pitchFamily="34" charset="-122"/>
                <a:cs typeface="Arial" pitchFamily="34" charset="-120"/>
              </a:rPr>
              <a:t>Cohort analytics dashboard</a:t>
            </a:r>
            <a:endParaRPr lang="en-US" sz="1575" dirty="0"/>
          </a:p>
        </p:txBody>
      </p:sp>
      <p:sp>
        <p:nvSpPr>
          <p:cNvPr id="53" name="Text 50"/>
          <p:cNvSpPr/>
          <p:nvPr/>
        </p:nvSpPr>
        <p:spPr>
          <a:xfrm>
            <a:off x="1557338" y="8618860"/>
            <a:ext cx="2667834" cy="238125"/>
          </a:xfrm>
          <a:prstGeom prst="rect">
            <a:avLst/>
          </a:prstGeom>
          <a:noFill/>
          <a:ln/>
        </p:spPr>
        <p:txBody>
          <a:bodyPr wrap="square" lIns="25400" tIns="25400" rIns="25400" bIns="25400" rtlCol="0" anchor="t">
            <a:normAutofit/>
          </a:bodyPr>
          <a:lstStyle/>
          <a:p>
            <a:pPr algn="l" indent="0" marL="0">
              <a:lnSpc>
                <a:spcPct val="140000"/>
              </a:lnSpc>
              <a:buNone/>
            </a:pPr>
            <a:r>
              <a:rPr lang="en-US" sz="1125" spc="45" kern="0" dirty="0">
                <a:solidFill>
                  <a:srgbClr val="6E7785"/>
                </a:solidFill>
                <a:latin typeface="Courier New" pitchFamily="34" charset="0"/>
                <a:ea typeface="Courier New" pitchFamily="34" charset="-122"/>
                <a:cs typeface="Courier New" pitchFamily="34" charset="-120"/>
              </a:rPr>
              <a:t>Admin · conversion + churn</a:t>
            </a:r>
            <a:endParaRPr lang="en-US" sz="1125" dirty="0"/>
          </a:p>
        </p:txBody>
      </p:sp>
      <p:sp>
        <p:nvSpPr>
          <p:cNvPr id="54" name="Shape 51"/>
          <p:cNvSpPr/>
          <p:nvPr/>
        </p:nvSpPr>
        <p:spPr>
          <a:xfrm>
            <a:off x="9258300" y="8145512"/>
            <a:ext cx="8115300" cy="859110"/>
          </a:xfrm>
          <a:prstGeom prst="roundRect">
            <a:avLst>
              <a:gd name="adj" fmla="val 13304"/>
            </a:avLst>
          </a:prstGeom>
          <a:solidFill>
            <a:srgbClr val="FFFFFF"/>
          </a:solidFill>
          <a:ln w="14288">
            <a:solidFill>
              <a:srgbClr val="DDE5EC"/>
            </a:solidFill>
            <a:prstDash val="solid"/>
          </a:ln>
          <a:effectLst>
            <a:outerShdw sx="100000" sy="100000" kx="0" ky="0" algn="bl" rotWithShape="0" blurRad="38100" dist="19050" dir="5400000">
              <a:srgbClr val="0F1419">
                <a:alpha val="4000"/>
              </a:srgbClr>
            </a:outerShdw>
          </a:effectLst>
        </p:spPr>
      </p:sp>
      <p:sp>
        <p:nvSpPr>
          <p:cNvPr id="55" name="Shape 52"/>
          <p:cNvSpPr/>
          <p:nvPr/>
        </p:nvSpPr>
        <p:spPr>
          <a:xfrm>
            <a:off x="9482138" y="8350300"/>
            <a:ext cx="285750" cy="285750"/>
          </a:xfrm>
          <a:prstGeom prst="roundRect">
            <a:avLst>
              <a:gd name="adj" fmla="val 23333"/>
            </a:avLst>
          </a:prstGeom>
          <a:solidFill>
            <a:srgbClr val="EEEBFD"/>
          </a:solidFill>
          <a:ln w="9525">
            <a:solidFill>
              <a:srgbClr val="C8C0F8"/>
            </a:solidFill>
            <a:prstDash val="solid"/>
          </a:ln>
        </p:spPr>
      </p:sp>
      <p:sp>
        <p:nvSpPr>
          <p:cNvPr id="56" name="Text 53"/>
          <p:cNvSpPr/>
          <p:nvPr/>
        </p:nvSpPr>
        <p:spPr>
          <a:xfrm>
            <a:off x="9453563" y="8359825"/>
            <a:ext cx="342900" cy="304800"/>
          </a:xfrm>
          <a:prstGeom prst="rect">
            <a:avLst/>
          </a:prstGeom>
          <a:noFill/>
          <a:ln/>
        </p:spPr>
        <p:txBody>
          <a:bodyPr wrap="square" lIns="25400" tIns="25400" rIns="25400" bIns="25400" rtlCol="0" anchor="ctr">
            <a:normAutofit/>
          </a:bodyPr>
          <a:lstStyle/>
          <a:p>
            <a:pPr algn="ctr" indent="0" marL="0">
              <a:lnSpc>
                <a:spcPct val="150000"/>
              </a:lnSpc>
              <a:buNone/>
            </a:pPr>
            <a:r>
              <a:rPr lang="en-US" sz="1200" b="1" dirty="0">
                <a:solidFill>
                  <a:srgbClr val="4231CC"/>
                </a:solidFill>
                <a:latin typeface="Arial" pitchFamily="34" charset="0"/>
                <a:ea typeface="Arial" pitchFamily="34" charset="-122"/>
                <a:cs typeface="Arial" pitchFamily="34" charset="-120"/>
              </a:rPr>
              <a:t>✓</a:t>
            </a:r>
            <a:endParaRPr lang="en-US" sz="1200" dirty="0"/>
          </a:p>
        </p:txBody>
      </p:sp>
      <p:sp>
        <p:nvSpPr>
          <p:cNvPr id="57" name="Text 54"/>
          <p:cNvSpPr/>
          <p:nvPr/>
        </p:nvSpPr>
        <p:spPr>
          <a:xfrm>
            <a:off x="9901238" y="8331250"/>
            <a:ext cx="5086721" cy="278085"/>
          </a:xfrm>
          <a:prstGeom prst="rect">
            <a:avLst/>
          </a:prstGeom>
          <a:noFill/>
          <a:ln/>
        </p:spPr>
        <p:txBody>
          <a:bodyPr wrap="square" lIns="25400" tIns="25400" rIns="25400" bIns="25400" rtlCol="0" anchor="t">
            <a:normAutofit/>
          </a:bodyPr>
          <a:lstStyle/>
          <a:p>
            <a:pPr algn="l" indent="0" marL="0">
              <a:lnSpc>
                <a:spcPct val="120000"/>
              </a:lnSpc>
              <a:buNone/>
            </a:pPr>
            <a:r>
              <a:rPr lang="en-US" sz="1575" b="1" spc="-16" kern="0" dirty="0">
                <a:solidFill>
                  <a:srgbClr val="0F1419"/>
                </a:solidFill>
                <a:latin typeface="Arial" pitchFamily="34" charset="0"/>
                <a:ea typeface="Arial" pitchFamily="34" charset="-122"/>
                <a:cs typeface="Arial" pitchFamily="34" charset="-120"/>
              </a:rPr>
              <a:t>Abuse protection</a:t>
            </a:r>
            <a:endParaRPr lang="en-US" sz="1575" dirty="0"/>
          </a:p>
        </p:txBody>
      </p:sp>
      <p:sp>
        <p:nvSpPr>
          <p:cNvPr id="58" name="Text 55"/>
          <p:cNvSpPr/>
          <p:nvPr/>
        </p:nvSpPr>
        <p:spPr>
          <a:xfrm>
            <a:off x="9901238" y="8618860"/>
            <a:ext cx="5086721" cy="238125"/>
          </a:xfrm>
          <a:prstGeom prst="rect">
            <a:avLst/>
          </a:prstGeom>
          <a:noFill/>
          <a:ln/>
        </p:spPr>
        <p:txBody>
          <a:bodyPr wrap="square" lIns="25400" tIns="25400" rIns="25400" bIns="25400" rtlCol="0" anchor="t">
            <a:normAutofit/>
          </a:bodyPr>
          <a:lstStyle/>
          <a:p>
            <a:pPr algn="l" indent="0" marL="0">
              <a:lnSpc>
                <a:spcPct val="140000"/>
              </a:lnSpc>
              <a:buNone/>
            </a:pPr>
            <a:r>
              <a:rPr lang="en-US" sz="1125" spc="45" kern="0" dirty="0">
                <a:solidFill>
                  <a:srgbClr val="6E7785"/>
                </a:solidFill>
                <a:latin typeface="Courier New" pitchFamily="34" charset="0"/>
                <a:ea typeface="Courier New" pitchFamily="34" charset="-122"/>
                <a:cs typeface="Courier New" pitchFamily="34" charset="-120"/>
              </a:rPr>
              <a:t>Turnstile · geo-IP · throttle · disposable-email block</a:t>
            </a:r>
            <a:endParaRPr lang="en-US" sz="1125" dirty="0"/>
          </a:p>
        </p:txBody>
      </p:sp>
      <p:sp>
        <p:nvSpPr>
          <p:cNvPr id="59" name="Shape 56"/>
          <p:cNvSpPr/>
          <p:nvPr/>
        </p:nvSpPr>
        <p:spPr>
          <a:xfrm>
            <a:off x="914400" y="9118922"/>
            <a:ext cx="8115300" cy="859110"/>
          </a:xfrm>
          <a:prstGeom prst="roundRect">
            <a:avLst>
              <a:gd name="adj" fmla="val 13304"/>
            </a:avLst>
          </a:prstGeom>
          <a:solidFill>
            <a:srgbClr val="FFFFFF"/>
          </a:solidFill>
          <a:ln w="14288">
            <a:solidFill>
              <a:srgbClr val="DDE5EC"/>
            </a:solidFill>
            <a:prstDash val="solid"/>
          </a:ln>
          <a:effectLst>
            <a:outerShdw sx="100000" sy="100000" kx="0" ky="0" algn="bl" rotWithShape="0" blurRad="38100" dist="19050" dir="5400000">
              <a:srgbClr val="0F1419">
                <a:alpha val="4000"/>
              </a:srgbClr>
            </a:outerShdw>
          </a:effectLst>
        </p:spPr>
      </p:sp>
      <p:sp>
        <p:nvSpPr>
          <p:cNvPr id="60" name="Shape 57"/>
          <p:cNvSpPr/>
          <p:nvPr/>
        </p:nvSpPr>
        <p:spPr>
          <a:xfrm>
            <a:off x="1138238" y="9323710"/>
            <a:ext cx="285750" cy="285750"/>
          </a:xfrm>
          <a:prstGeom prst="roundRect">
            <a:avLst>
              <a:gd name="adj" fmla="val 23333"/>
            </a:avLst>
          </a:prstGeom>
          <a:solidFill>
            <a:srgbClr val="EEEBFD"/>
          </a:solidFill>
          <a:ln w="9525">
            <a:solidFill>
              <a:srgbClr val="C8C0F8"/>
            </a:solidFill>
            <a:prstDash val="solid"/>
          </a:ln>
        </p:spPr>
      </p:sp>
      <p:sp>
        <p:nvSpPr>
          <p:cNvPr id="61" name="Text 58"/>
          <p:cNvSpPr/>
          <p:nvPr/>
        </p:nvSpPr>
        <p:spPr>
          <a:xfrm>
            <a:off x="1109663" y="9333235"/>
            <a:ext cx="342900" cy="304800"/>
          </a:xfrm>
          <a:prstGeom prst="rect">
            <a:avLst/>
          </a:prstGeom>
          <a:noFill/>
          <a:ln/>
        </p:spPr>
        <p:txBody>
          <a:bodyPr wrap="square" lIns="25400" tIns="25400" rIns="25400" bIns="25400" rtlCol="0" anchor="ctr">
            <a:normAutofit/>
          </a:bodyPr>
          <a:lstStyle/>
          <a:p>
            <a:pPr algn="ctr" indent="0" marL="0">
              <a:lnSpc>
                <a:spcPct val="150000"/>
              </a:lnSpc>
              <a:buNone/>
            </a:pPr>
            <a:r>
              <a:rPr lang="en-US" sz="1200" b="1" dirty="0">
                <a:solidFill>
                  <a:srgbClr val="4231CC"/>
                </a:solidFill>
                <a:latin typeface="Arial" pitchFamily="34" charset="0"/>
                <a:ea typeface="Arial" pitchFamily="34" charset="-122"/>
                <a:cs typeface="Arial" pitchFamily="34" charset="-120"/>
              </a:rPr>
              <a:t>✓</a:t>
            </a:r>
            <a:endParaRPr lang="en-US" sz="1200" dirty="0"/>
          </a:p>
        </p:txBody>
      </p:sp>
      <p:sp>
        <p:nvSpPr>
          <p:cNvPr id="62" name="Text 59"/>
          <p:cNvSpPr/>
          <p:nvPr/>
        </p:nvSpPr>
        <p:spPr>
          <a:xfrm>
            <a:off x="1557338" y="9304660"/>
            <a:ext cx="3125337" cy="278085"/>
          </a:xfrm>
          <a:prstGeom prst="rect">
            <a:avLst/>
          </a:prstGeom>
          <a:noFill/>
          <a:ln/>
        </p:spPr>
        <p:txBody>
          <a:bodyPr wrap="square" lIns="25400" tIns="25400" rIns="25400" bIns="25400" rtlCol="0" anchor="t">
            <a:normAutofit/>
          </a:bodyPr>
          <a:lstStyle/>
          <a:p>
            <a:pPr algn="l" indent="0" marL="0">
              <a:lnSpc>
                <a:spcPct val="120000"/>
              </a:lnSpc>
              <a:buNone/>
            </a:pPr>
            <a:r>
              <a:rPr lang="en-US" sz="1575" b="1" spc="-16" kern="0" dirty="0">
                <a:solidFill>
                  <a:srgbClr val="0F1419"/>
                </a:solidFill>
                <a:latin typeface="Arial" pitchFamily="34" charset="0"/>
                <a:ea typeface="Arial" pitchFamily="34" charset="-122"/>
                <a:cs typeface="Arial" pitchFamily="34" charset="-120"/>
              </a:rPr>
              <a:t>Stripe customer-portal endpoint</a:t>
            </a:r>
            <a:endParaRPr lang="en-US" sz="1575" dirty="0"/>
          </a:p>
        </p:txBody>
      </p:sp>
      <p:sp>
        <p:nvSpPr>
          <p:cNvPr id="63" name="Text 60"/>
          <p:cNvSpPr/>
          <p:nvPr/>
        </p:nvSpPr>
        <p:spPr>
          <a:xfrm>
            <a:off x="1557338" y="9592270"/>
            <a:ext cx="3125337" cy="238125"/>
          </a:xfrm>
          <a:prstGeom prst="rect">
            <a:avLst/>
          </a:prstGeom>
          <a:noFill/>
          <a:ln/>
        </p:spPr>
        <p:txBody>
          <a:bodyPr wrap="square" lIns="25400" tIns="25400" rIns="25400" bIns="25400" rtlCol="0" anchor="t">
            <a:normAutofit/>
          </a:bodyPr>
          <a:lstStyle/>
          <a:p>
            <a:pPr algn="l" indent="0" marL="0">
              <a:lnSpc>
                <a:spcPct val="140000"/>
              </a:lnSpc>
              <a:buNone/>
            </a:pPr>
            <a:r>
              <a:rPr lang="en-US" sz="1125" spc="45" kern="0" dirty="0">
                <a:solidFill>
                  <a:srgbClr val="6E7785"/>
                </a:solidFill>
                <a:latin typeface="Courier New" pitchFamily="34" charset="0"/>
                <a:ea typeface="Courier New" pitchFamily="34" charset="-122"/>
                <a:cs typeface="Courier New" pitchFamily="34" charset="-120"/>
              </a:rPr>
              <a:t>Test / live mode aware</a:t>
            </a:r>
            <a:endParaRPr lang="en-US" sz="1125" dirty="0"/>
          </a:p>
        </p:txBody>
      </p:sp>
      <p:sp>
        <p:nvSpPr>
          <p:cNvPr id="64" name="Shape 61"/>
          <p:cNvSpPr/>
          <p:nvPr/>
        </p:nvSpPr>
        <p:spPr>
          <a:xfrm>
            <a:off x="9258300" y="9118922"/>
            <a:ext cx="8115300" cy="859110"/>
          </a:xfrm>
          <a:prstGeom prst="roundRect">
            <a:avLst>
              <a:gd name="adj" fmla="val 13304"/>
            </a:avLst>
          </a:prstGeom>
          <a:solidFill>
            <a:srgbClr val="FFFFFF"/>
          </a:solidFill>
          <a:ln w="14288">
            <a:solidFill>
              <a:srgbClr val="DDE5EC"/>
            </a:solidFill>
            <a:prstDash val="solid"/>
          </a:ln>
          <a:effectLst>
            <a:outerShdw sx="100000" sy="100000" kx="0" ky="0" algn="bl" rotWithShape="0" blurRad="38100" dist="19050" dir="5400000">
              <a:srgbClr val="0F1419">
                <a:alpha val="4000"/>
              </a:srgbClr>
            </a:outerShdw>
          </a:effectLst>
        </p:spPr>
      </p:sp>
      <p:sp>
        <p:nvSpPr>
          <p:cNvPr id="65" name="Shape 62"/>
          <p:cNvSpPr/>
          <p:nvPr/>
        </p:nvSpPr>
        <p:spPr>
          <a:xfrm>
            <a:off x="9482138" y="9323710"/>
            <a:ext cx="285750" cy="285750"/>
          </a:xfrm>
          <a:prstGeom prst="roundRect">
            <a:avLst>
              <a:gd name="adj" fmla="val 23333"/>
            </a:avLst>
          </a:prstGeom>
          <a:solidFill>
            <a:srgbClr val="EEEBFD"/>
          </a:solidFill>
          <a:ln w="9525">
            <a:solidFill>
              <a:srgbClr val="C8C0F8"/>
            </a:solidFill>
            <a:prstDash val="solid"/>
          </a:ln>
        </p:spPr>
      </p:sp>
      <p:sp>
        <p:nvSpPr>
          <p:cNvPr id="66" name="Text 63"/>
          <p:cNvSpPr/>
          <p:nvPr/>
        </p:nvSpPr>
        <p:spPr>
          <a:xfrm>
            <a:off x="9453563" y="9333235"/>
            <a:ext cx="342900" cy="304800"/>
          </a:xfrm>
          <a:prstGeom prst="rect">
            <a:avLst/>
          </a:prstGeom>
          <a:noFill/>
          <a:ln/>
        </p:spPr>
        <p:txBody>
          <a:bodyPr wrap="square" lIns="25400" tIns="25400" rIns="25400" bIns="25400" rtlCol="0" anchor="ctr">
            <a:normAutofit/>
          </a:bodyPr>
          <a:lstStyle/>
          <a:p>
            <a:pPr algn="ctr" indent="0" marL="0">
              <a:lnSpc>
                <a:spcPct val="150000"/>
              </a:lnSpc>
              <a:buNone/>
            </a:pPr>
            <a:r>
              <a:rPr lang="en-US" sz="1200" b="1" dirty="0">
                <a:solidFill>
                  <a:srgbClr val="4231CC"/>
                </a:solidFill>
                <a:latin typeface="Arial" pitchFamily="34" charset="0"/>
                <a:ea typeface="Arial" pitchFamily="34" charset="-122"/>
                <a:cs typeface="Arial" pitchFamily="34" charset="-120"/>
              </a:rPr>
              <a:t>✓</a:t>
            </a:r>
            <a:endParaRPr lang="en-US" sz="1200" dirty="0"/>
          </a:p>
        </p:txBody>
      </p:sp>
      <p:sp>
        <p:nvSpPr>
          <p:cNvPr id="67" name="Text 64"/>
          <p:cNvSpPr/>
          <p:nvPr/>
        </p:nvSpPr>
        <p:spPr>
          <a:xfrm>
            <a:off x="9901238" y="9304660"/>
            <a:ext cx="2913869" cy="278085"/>
          </a:xfrm>
          <a:prstGeom prst="rect">
            <a:avLst/>
          </a:prstGeom>
          <a:noFill/>
          <a:ln/>
        </p:spPr>
        <p:txBody>
          <a:bodyPr wrap="square" lIns="25400" tIns="25400" rIns="25400" bIns="25400" rtlCol="0" anchor="t">
            <a:normAutofit/>
          </a:bodyPr>
          <a:lstStyle/>
          <a:p>
            <a:pPr algn="l" indent="0" marL="0">
              <a:lnSpc>
                <a:spcPct val="120000"/>
              </a:lnSpc>
              <a:buNone/>
            </a:pPr>
            <a:r>
              <a:rPr lang="en-US" sz="1575" b="1" spc="-16" kern="0" dirty="0">
                <a:solidFill>
                  <a:srgbClr val="0F1419"/>
                </a:solidFill>
                <a:latin typeface="Arial" pitchFamily="34" charset="0"/>
                <a:ea typeface="Arial" pitchFamily="34" charset="-122"/>
                <a:cs typeface="Arial" pitchFamily="34" charset="-120"/>
              </a:rPr>
              <a:t>Idle-archive + restore lifecycle</a:t>
            </a:r>
            <a:endParaRPr lang="en-US" sz="1575" dirty="0"/>
          </a:p>
        </p:txBody>
      </p:sp>
      <p:sp>
        <p:nvSpPr>
          <p:cNvPr id="68" name="Text 65"/>
          <p:cNvSpPr/>
          <p:nvPr/>
        </p:nvSpPr>
        <p:spPr>
          <a:xfrm>
            <a:off x="9901238" y="9592270"/>
            <a:ext cx="2913869" cy="238125"/>
          </a:xfrm>
          <a:prstGeom prst="rect">
            <a:avLst/>
          </a:prstGeom>
          <a:noFill/>
          <a:ln/>
        </p:spPr>
        <p:txBody>
          <a:bodyPr wrap="square" lIns="25400" tIns="25400" rIns="25400" bIns="25400" rtlCol="0" anchor="t">
            <a:normAutofit/>
          </a:bodyPr>
          <a:lstStyle/>
          <a:p>
            <a:pPr algn="l" indent="0" marL="0">
              <a:lnSpc>
                <a:spcPct val="140000"/>
              </a:lnSpc>
              <a:buNone/>
            </a:pPr>
            <a:r>
              <a:rPr lang="en-US" sz="1125" spc="45" kern="0" dirty="0">
                <a:solidFill>
                  <a:srgbClr val="6E7785"/>
                </a:solidFill>
                <a:latin typeface="Courier New" pitchFamily="34" charset="0"/>
                <a:ea typeface="Courier New" pitchFamily="34" charset="-122"/>
                <a:cs typeface="Courier New" pitchFamily="34" charset="-120"/>
              </a:rPr>
              <a:t>Snapshot + 7-day grace</a:t>
            </a:r>
            <a:endParaRPr lang="en-US" sz="1125" dirty="0"/>
          </a:p>
        </p:txBody>
      </p:sp>
      <p:sp>
        <p:nvSpPr>
          <p:cNvPr id="69" name="Shape 66"/>
          <p:cNvSpPr/>
          <p:nvPr/>
        </p:nvSpPr>
        <p:spPr>
          <a:xfrm>
            <a:off x="914400" y="10282833"/>
            <a:ext cx="16459200" cy="614363"/>
          </a:xfrm>
          <a:prstGeom prst="roundRect">
            <a:avLst>
              <a:gd name="adj" fmla="val 18605"/>
            </a:avLst>
          </a:prstGeom>
          <a:solidFill>
            <a:srgbClr val="EEEBFD"/>
          </a:solidFill>
          <a:ln w="14288">
            <a:solidFill>
              <a:srgbClr val="C8C0F8"/>
            </a:solidFill>
            <a:prstDash val="solid"/>
          </a:ln>
          <a:effectLst>
            <a:outerShdw sx="100000" sy="100000" kx="0" ky="0" algn="bl" rotWithShape="0" blurRad="28575" dist="9525" dir="5400000">
              <a:srgbClr val="5B47F0">
                <a:alpha val="6000"/>
              </a:srgbClr>
            </a:outerShdw>
          </a:effectLst>
        </p:spPr>
      </p:sp>
      <p:sp>
        <p:nvSpPr>
          <p:cNvPr id="70" name="Shape 67"/>
          <p:cNvSpPr/>
          <p:nvPr/>
        </p:nvSpPr>
        <p:spPr>
          <a:xfrm>
            <a:off x="1138238" y="10473333"/>
            <a:ext cx="680591" cy="233362"/>
          </a:xfrm>
          <a:prstGeom prst="roundRect">
            <a:avLst>
              <a:gd name="adj" fmla="val 16327"/>
            </a:avLst>
          </a:prstGeom>
          <a:solidFill>
            <a:srgbClr val="5B47F0"/>
          </a:solidFill>
          <a:ln/>
        </p:spPr>
      </p:sp>
      <p:sp>
        <p:nvSpPr>
          <p:cNvPr id="71" name="Text 68"/>
          <p:cNvSpPr/>
          <p:nvPr/>
        </p:nvSpPr>
        <p:spPr>
          <a:xfrm>
            <a:off x="1214438" y="10511433"/>
            <a:ext cx="604391" cy="195263"/>
          </a:xfrm>
          <a:prstGeom prst="rect">
            <a:avLst/>
          </a:prstGeom>
          <a:noFill/>
          <a:ln/>
        </p:spPr>
        <p:txBody>
          <a:bodyPr wrap="square" lIns="25400" tIns="25400" rIns="25400" bIns="25400" rtlCol="0" anchor="t">
            <a:normAutofit/>
          </a:bodyPr>
          <a:lstStyle/>
          <a:p>
            <a:pPr algn="l" indent="0" marL="0">
              <a:lnSpc>
                <a:spcPct val="150000"/>
              </a:lnSpc>
              <a:buNone/>
            </a:pPr>
            <a:r>
              <a:rPr lang="en-US" sz="825" spc="99" kern="0" dirty="0">
                <a:solidFill>
                  <a:srgbClr val="FFFFFF"/>
                </a:solidFill>
                <a:latin typeface="Courier New" pitchFamily="34" charset="0"/>
                <a:ea typeface="Courier New" pitchFamily="34" charset="-122"/>
                <a:cs typeface="Courier New" pitchFamily="34" charset="-120"/>
              </a:rPr>
              <a:t>3 WEEKS</a:t>
            </a:r>
            <a:endParaRPr lang="en-US" sz="825" dirty="0"/>
          </a:p>
        </p:txBody>
      </p:sp>
      <p:sp>
        <p:nvSpPr>
          <p:cNvPr id="72" name="Text 69"/>
          <p:cNvSpPr/>
          <p:nvPr/>
        </p:nvSpPr>
        <p:spPr>
          <a:xfrm>
            <a:off x="1952179" y="10497145"/>
            <a:ext cx="5110251" cy="219075"/>
          </a:xfrm>
          <a:prstGeom prst="rect">
            <a:avLst/>
          </a:prstGeom>
          <a:noFill/>
          <a:ln/>
        </p:spPr>
        <p:txBody>
          <a:bodyPr wrap="square" lIns="0" tIns="0" rIns="0" bIns="0" rtlCol="0" anchor="t">
            <a:normAutofit/>
          </a:bodyPr>
          <a:lstStyle/>
          <a:p>
            <a:pPr algn="l" indent="0" marL="0">
              <a:lnSpc>
                <a:spcPct val="150000"/>
              </a:lnSpc>
              <a:buNone/>
            </a:pPr>
            <a:r>
              <a:rPr lang="en-US" sz="1275" dirty="0">
                <a:solidFill>
                  <a:srgbClr val="4231CC"/>
                </a:solidFill>
                <a:latin typeface="Arial" pitchFamily="34" charset="0"/>
                <a:ea typeface="Arial" pitchFamily="34" charset="-122"/>
                <a:cs typeface="Arial" pitchFamily="34" charset="-120"/>
              </a:rPr>
              <a:t>Solo + AI-augmented. The raise funds the harness, not the prototype.</a:t>
            </a:r>
            <a:endParaRPr lang="en-US" sz="1275" dirty="0"/>
          </a:p>
        </p:txBody>
      </p:sp>
      <p:sp>
        <p:nvSpPr>
          <p:cNvPr id="73" name="Shape 70"/>
          <p:cNvSpPr/>
          <p:nvPr/>
        </p:nvSpPr>
        <p:spPr>
          <a:xfrm>
            <a:off x="914400" y="10897195"/>
            <a:ext cx="16459200" cy="9525"/>
          </a:xfrm>
          <a:prstGeom prst="rect">
            <a:avLst/>
          </a:prstGeom>
          <a:solidFill>
            <a:srgbClr val="DDE5EC"/>
          </a:solidFill>
          <a:ln/>
        </p:spPr>
      </p:sp>
      <p:sp>
        <p:nvSpPr>
          <p:cNvPr id="74" name="Text 71"/>
          <p:cNvSpPr/>
          <p:nvPr/>
        </p:nvSpPr>
        <p:spPr>
          <a:xfrm>
            <a:off x="914400" y="11142464"/>
            <a:ext cx="4533256"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113" kern="0" dirty="0">
                <a:solidFill>
                  <a:srgbClr val="6E7785"/>
                </a:solidFill>
                <a:latin typeface="Courier New" pitchFamily="34" charset="0"/>
                <a:ea typeface="Courier New" pitchFamily="34" charset="-122"/>
                <a:cs typeface="Courier New" pitchFamily="34" charset="-120"/>
              </a:rPr>
              <a:t>HATCHIK · INVESTOR &amp; PARTNER DECK · MAY 2026</a:t>
            </a:r>
            <a:endParaRPr lang="en-US" sz="1125" dirty="0"/>
          </a:p>
        </p:txBody>
      </p:sp>
      <p:sp>
        <p:nvSpPr>
          <p:cNvPr id="75" name="Text 72"/>
          <p:cNvSpPr/>
          <p:nvPr/>
        </p:nvSpPr>
        <p:spPr>
          <a:xfrm>
            <a:off x="16690851" y="11135320"/>
            <a:ext cx="758949"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spc="48" kern="0" dirty="0">
                <a:solidFill>
                  <a:srgbClr val="0F1419"/>
                </a:solidFill>
                <a:latin typeface="Courier New" pitchFamily="34" charset="0"/>
                <a:ea typeface="Courier New" pitchFamily="34" charset="-122"/>
                <a:cs typeface="Courier New" pitchFamily="34" charset="-120"/>
              </a:rPr>
              <a:t>18 / 31</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5B47F0">
              <a:alpha val="4000"/>
            </a:srgbClr>
          </a:solidFill>
          <a:ln/>
        </p:spPr>
      </p:sp>
      <p:sp>
        <p:nvSpPr>
          <p:cNvPr id="3" name="Shape 1"/>
          <p:cNvSpPr/>
          <p:nvPr/>
        </p:nvSpPr>
        <p:spPr>
          <a:xfrm>
            <a:off x="914400" y="1009650"/>
            <a:ext cx="16459200" cy="9525"/>
          </a:xfrm>
          <a:prstGeom prst="rect">
            <a:avLst/>
          </a:prstGeom>
          <a:solidFill>
            <a:srgbClr val="DDE5EC"/>
          </a:solidFill>
          <a:ln/>
        </p:spPr>
      </p:sp>
      <p:pic>
        <p:nvPicPr>
          <p:cNvPr id="4" name="Image 0" descr="preencoded.png">    </p:cNvPr>
          <p:cNvPicPr>
            <a:picLocks noChangeAspect="1"/>
          </p:cNvPicPr>
          <p:nvPr/>
        </p:nvPicPr>
        <p:blipFill>
          <a:blip r:embed="rId1"/>
          <a:stretch>
            <a:fillRect/>
          </a:stretch>
        </p:blipFill>
        <p:spPr>
          <a:xfrm>
            <a:off x="914400" y="571500"/>
            <a:ext cx="209550" cy="209550"/>
          </a:xfrm>
          <a:prstGeom prst="rect">
            <a:avLst/>
          </a:prstGeom>
        </p:spPr>
      </p:pic>
      <p:sp>
        <p:nvSpPr>
          <p:cNvPr id="5" name="Text 2"/>
          <p:cNvSpPr/>
          <p:nvPr/>
        </p:nvSpPr>
        <p:spPr>
          <a:xfrm>
            <a:off x="1219200" y="533400"/>
            <a:ext cx="745108"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spc="-37" kern="0" dirty="0">
                <a:solidFill>
                  <a:srgbClr val="0F1419"/>
                </a:solidFill>
                <a:latin typeface="Arial" pitchFamily="34" charset="0"/>
                <a:ea typeface="Arial" pitchFamily="34" charset="-122"/>
                <a:cs typeface="Arial" pitchFamily="34" charset="-120"/>
              </a:rPr>
              <a:t>hatchik</a:t>
            </a:r>
            <a:endParaRPr lang="en-US" sz="1500" dirty="0"/>
          </a:p>
        </p:txBody>
      </p:sp>
      <p:sp>
        <p:nvSpPr>
          <p:cNvPr id="6" name="Text 3"/>
          <p:cNvSpPr/>
          <p:nvPr/>
        </p:nvSpPr>
        <p:spPr>
          <a:xfrm>
            <a:off x="15552093" y="562421"/>
            <a:ext cx="1897707" cy="265733"/>
          </a:xfrm>
          <a:prstGeom prst="rect">
            <a:avLst/>
          </a:prstGeom>
          <a:noFill/>
          <a:ln/>
        </p:spPr>
        <p:txBody>
          <a:bodyPr wrap="square" lIns="25400" tIns="25400" rIns="25400" bIns="25400" rtlCol="0" anchor="t">
            <a:normAutofit/>
          </a:bodyPr>
          <a:lstStyle/>
          <a:p>
            <a:pPr algn="l" indent="0" marL="0">
              <a:lnSpc>
                <a:spcPct val="140000"/>
              </a:lnSpc>
              <a:buNone/>
            </a:pPr>
            <a:r>
              <a:rPr lang="en-US" sz="1200" spc="120" kern="0" dirty="0">
                <a:solidFill>
                  <a:srgbClr val="0F1419"/>
                </a:solidFill>
                <a:latin typeface="Courier New" pitchFamily="34" charset="0"/>
                <a:ea typeface="Courier New" pitchFamily="34" charset="-122"/>
                <a:cs typeface="Courier New" pitchFamily="34" charset="-120"/>
              </a:rPr>
              <a:t>19 </a:t>
            </a:r>
            <a:pPr algn="l" indent="0" marL="0">
              <a:lnSpc>
                <a:spcPct val="140000"/>
              </a:lnSpc>
              <a:buNone/>
            </a:pPr>
            <a:r>
              <a:rPr lang="en-US" sz="1200" spc="120" kern="0" dirty="0">
                <a:solidFill>
                  <a:srgbClr val="5B47F0"/>
                </a:solidFill>
                <a:latin typeface="Courier New" pitchFamily="34" charset="0"/>
                <a:ea typeface="Courier New" pitchFamily="34" charset="-122"/>
                <a:cs typeface="Courier New" pitchFamily="34" charset="-120"/>
              </a:rPr>
              <a:t>· </a:t>
            </a:r>
            <a:pPr algn="l" indent="0" marL="0">
              <a:lnSpc>
                <a:spcPct val="140000"/>
              </a:lnSpc>
              <a:buNone/>
            </a:pPr>
            <a:r>
              <a:rPr lang="en-US" sz="1200" spc="120" kern="0" dirty="0">
                <a:solidFill>
                  <a:srgbClr val="6E7785"/>
                </a:solidFill>
                <a:latin typeface="Courier New" pitchFamily="34" charset="0"/>
                <a:ea typeface="Courier New" pitchFamily="34" charset="-122"/>
                <a:cs typeface="Courier New" pitchFamily="34" charset="-120"/>
              </a:rPr>
              <a:t>RISKS · TOP 3</a:t>
            </a:r>
            <a:endParaRPr lang="en-US" sz="1200" dirty="0"/>
          </a:p>
        </p:txBody>
      </p:sp>
      <p:sp>
        <p:nvSpPr>
          <p:cNvPr id="7" name="Text 4"/>
          <p:cNvSpPr/>
          <p:nvPr/>
        </p:nvSpPr>
        <p:spPr>
          <a:xfrm>
            <a:off x="914400" y="1438275"/>
            <a:ext cx="15893415" cy="723900"/>
          </a:xfrm>
          <a:prstGeom prst="rect">
            <a:avLst/>
          </a:prstGeom>
          <a:noFill/>
          <a:ln/>
        </p:spPr>
        <p:txBody>
          <a:bodyPr wrap="square" lIns="25400" tIns="25400" rIns="25400" bIns="25400" rtlCol="0" anchor="t">
            <a:normAutofit/>
          </a:bodyPr>
          <a:lstStyle/>
          <a:p>
            <a:pPr algn="l" indent="0" marL="0">
              <a:lnSpc>
                <a:spcPct val="100000"/>
              </a:lnSpc>
              <a:buNone/>
            </a:pPr>
            <a:r>
              <a:rPr lang="en-US" sz="5400" b="1" spc="-216" kern="0" dirty="0">
                <a:solidFill>
                  <a:srgbClr val="0F1419"/>
                </a:solidFill>
                <a:latin typeface="Arial" pitchFamily="34" charset="0"/>
                <a:ea typeface="Arial" pitchFamily="34" charset="-122"/>
                <a:cs typeface="Arial" pitchFamily="34" charset="-120"/>
              </a:rPr>
              <a:t>We're not </a:t>
            </a:r>
            <a:pPr algn="l" indent="0" marL="0">
              <a:lnSpc>
                <a:spcPct val="100000"/>
              </a:lnSpc>
              <a:buNone/>
            </a:pPr>
            <a:r>
              <a:rPr lang="en-US" sz="5400" b="1" spc="-216" kern="0" dirty="0">
                <a:solidFill>
                  <a:srgbClr val="5B47F0"/>
                </a:solidFill>
                <a:latin typeface="Arial" pitchFamily="34" charset="0"/>
                <a:ea typeface="Arial" pitchFamily="34" charset="-122"/>
                <a:cs typeface="Arial" pitchFamily="34" charset="-120"/>
              </a:rPr>
              <a:t>pretending these don't exist.</a:t>
            </a:r>
            <a:endParaRPr lang="en-US" sz="5400" dirty="0"/>
          </a:p>
        </p:txBody>
      </p:sp>
      <p:sp>
        <p:nvSpPr>
          <p:cNvPr id="8" name="Shape 5"/>
          <p:cNvSpPr/>
          <p:nvPr/>
        </p:nvSpPr>
        <p:spPr>
          <a:xfrm>
            <a:off x="914400" y="2581275"/>
            <a:ext cx="16459200" cy="1487760"/>
          </a:xfrm>
          <a:prstGeom prst="roundRect">
            <a:avLst>
              <a:gd name="adj" fmla="val 8963"/>
            </a:avLst>
          </a:prstGeom>
          <a:solidFill>
            <a:srgbClr val="FFFFFF"/>
          </a:solidFill>
          <a:ln w="14288">
            <a:solidFill>
              <a:srgbClr val="DDE5EC"/>
            </a:solidFill>
            <a:prstDash val="solid"/>
          </a:ln>
          <a:effectLst>
            <a:outerShdw sx="100000" sy="100000" kx="0" ky="0" algn="bl" rotWithShape="0" blurRad="38100" dist="19050" dir="5400000">
              <a:srgbClr val="0F1419">
                <a:alpha val="4000"/>
              </a:srgbClr>
            </a:outerShdw>
          </a:effectLst>
        </p:spPr>
      </p:sp>
      <p:sp>
        <p:nvSpPr>
          <p:cNvPr id="9" name="Shape 6"/>
          <p:cNvSpPr/>
          <p:nvPr/>
        </p:nvSpPr>
        <p:spPr>
          <a:xfrm>
            <a:off x="1233488" y="2843213"/>
            <a:ext cx="1143000" cy="619125"/>
          </a:xfrm>
          <a:prstGeom prst="roundRect">
            <a:avLst>
              <a:gd name="adj" fmla="val 12308"/>
            </a:avLst>
          </a:prstGeom>
          <a:solidFill>
            <a:srgbClr val="EA6478"/>
          </a:solidFill>
          <a:ln/>
          <a:effectLst>
            <a:outerShdw sx="100000" sy="100000" kx="0" ky="0" algn="bl" rotWithShape="0" blurRad="76200" dist="19050" dir="5400000">
              <a:srgbClr val="E14B5E">
                <a:alpha val="35000"/>
              </a:srgbClr>
            </a:outerShdw>
          </a:effectLst>
        </p:spPr>
      </p:sp>
      <p:sp>
        <p:nvSpPr>
          <p:cNvPr id="10" name="Text 7"/>
          <p:cNvSpPr/>
          <p:nvPr/>
        </p:nvSpPr>
        <p:spPr>
          <a:xfrm>
            <a:off x="1309687" y="2938463"/>
            <a:ext cx="990600" cy="466725"/>
          </a:xfrm>
          <a:prstGeom prst="rect">
            <a:avLst/>
          </a:prstGeom>
          <a:noFill/>
          <a:ln/>
        </p:spPr>
        <p:txBody>
          <a:bodyPr wrap="square" lIns="25400" tIns="25400" rIns="25400" bIns="25400" rtlCol="0" anchor="t">
            <a:normAutofit/>
          </a:bodyPr>
          <a:lstStyle/>
          <a:p>
            <a:pPr algn="ctr" indent="0" marL="0">
              <a:lnSpc>
                <a:spcPct val="150000"/>
              </a:lnSpc>
              <a:buNone/>
            </a:pPr>
            <a:r>
              <a:rPr lang="en-US" sz="1125" spc="135" kern="0" dirty="0">
                <a:solidFill>
                  <a:srgbClr val="FFFFFF"/>
                </a:solidFill>
                <a:latin typeface="Courier New" pitchFamily="34" charset="0"/>
                <a:ea typeface="Courier New" pitchFamily="34" charset="-122"/>
                <a:cs typeface="Courier New" pitchFamily="34" charset="-120"/>
              </a:rPr>
              <a:t>HIGH · 01</a:t>
            </a:r>
            <a:endParaRPr lang="en-US" sz="1125" dirty="0"/>
          </a:p>
        </p:txBody>
      </p:sp>
      <p:sp>
        <p:nvSpPr>
          <p:cNvPr id="11" name="Text 8"/>
          <p:cNvSpPr/>
          <p:nvPr/>
        </p:nvSpPr>
        <p:spPr>
          <a:xfrm>
            <a:off x="2681288" y="2843213"/>
            <a:ext cx="7245239" cy="335235"/>
          </a:xfrm>
          <a:prstGeom prst="rect">
            <a:avLst/>
          </a:prstGeom>
          <a:noFill/>
          <a:ln/>
        </p:spPr>
        <p:txBody>
          <a:bodyPr wrap="square" lIns="25400" tIns="25400" rIns="25400" bIns="25400" rtlCol="0" anchor="t">
            <a:normAutofit/>
          </a:bodyPr>
          <a:lstStyle/>
          <a:p>
            <a:pPr algn="l" indent="0" marL="0">
              <a:lnSpc>
                <a:spcPct val="120000"/>
              </a:lnSpc>
              <a:buNone/>
            </a:pPr>
            <a:r>
              <a:rPr lang="en-US" sz="1950" b="1" spc="-29" kern="0" dirty="0">
                <a:solidFill>
                  <a:srgbClr val="0F1419"/>
                </a:solidFill>
                <a:latin typeface="Arial" pitchFamily="34" charset="0"/>
                <a:ea typeface="Arial" pitchFamily="34" charset="-122"/>
                <a:cs typeface="Arial" pitchFamily="34" charset="-120"/>
              </a:rPr>
              <a:t>Big AI lab ships its own deployment layer.</a:t>
            </a:r>
            <a:endParaRPr lang="en-US" sz="1950" dirty="0"/>
          </a:p>
        </p:txBody>
      </p:sp>
      <p:sp>
        <p:nvSpPr>
          <p:cNvPr id="12" name="Text 9"/>
          <p:cNvSpPr/>
          <p:nvPr/>
        </p:nvSpPr>
        <p:spPr>
          <a:xfrm>
            <a:off x="2681288" y="3235598"/>
            <a:ext cx="7245239" cy="609600"/>
          </a:xfrm>
          <a:prstGeom prst="rect">
            <a:avLst/>
          </a:prstGeom>
          <a:noFill/>
          <a:ln/>
        </p:spPr>
        <p:txBody>
          <a:bodyPr wrap="square" lIns="25400" tIns="25400" rIns="25400" bIns="25400" rtlCol="0" anchor="t">
            <a:normAutofit/>
          </a:bodyPr>
          <a:lstStyle/>
          <a:p>
            <a:pPr algn="l" indent="0" marL="0">
              <a:lnSpc>
                <a:spcPct val="150000"/>
              </a:lnSpc>
              <a:buNone/>
            </a:pPr>
            <a:r>
              <a:rPr lang="en-US" sz="1500" dirty="0">
                <a:solidFill>
                  <a:srgbClr val="2A3340"/>
                </a:solidFill>
                <a:latin typeface="Arial" pitchFamily="34" charset="0"/>
                <a:ea typeface="Arial" pitchFamily="34" charset="-122"/>
                <a:cs typeface="Arial" pitchFamily="34" charset="-120"/>
              </a:rPr>
              <a:t>Anthropic / Cursor / OpenAI shipping a "Claude Code Cloud" or similar in the next 6–12 months closes the wedge.</a:t>
            </a:r>
            <a:endParaRPr lang="en-US" sz="1500" dirty="0"/>
          </a:p>
        </p:txBody>
      </p:sp>
      <p:sp>
        <p:nvSpPr>
          <p:cNvPr id="13" name="Text 10"/>
          <p:cNvSpPr/>
          <p:nvPr/>
        </p:nvSpPr>
        <p:spPr>
          <a:xfrm>
            <a:off x="10020300" y="2843213"/>
            <a:ext cx="7245239"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135" kern="0" dirty="0">
                <a:solidFill>
                  <a:srgbClr val="5B47F0"/>
                </a:solidFill>
                <a:latin typeface="Courier New" pitchFamily="34" charset="0"/>
                <a:ea typeface="Courier New" pitchFamily="34" charset="-122"/>
                <a:cs typeface="Courier New" pitchFamily="34" charset="-120"/>
              </a:rPr>
              <a:t>MITIGATION</a:t>
            </a:r>
            <a:endParaRPr lang="en-US" sz="1125" dirty="0"/>
          </a:p>
        </p:txBody>
      </p:sp>
      <p:sp>
        <p:nvSpPr>
          <p:cNvPr id="14" name="Text 11"/>
          <p:cNvSpPr/>
          <p:nvPr/>
        </p:nvSpPr>
        <p:spPr>
          <a:xfrm>
            <a:off x="10020300" y="3152775"/>
            <a:ext cx="7245239" cy="609600"/>
          </a:xfrm>
          <a:prstGeom prst="rect">
            <a:avLst/>
          </a:prstGeom>
          <a:noFill/>
          <a:ln/>
        </p:spPr>
        <p:txBody>
          <a:bodyPr wrap="square" lIns="25400" tIns="25400" rIns="25400" bIns="25400" rtlCol="0" anchor="t">
            <a:normAutofit/>
          </a:bodyPr>
          <a:lstStyle/>
          <a:p>
            <a:pPr algn="l" indent="0" marL="0">
              <a:lnSpc>
                <a:spcPct val="150000"/>
              </a:lnSpc>
              <a:buNone/>
            </a:pPr>
            <a:r>
              <a:rPr lang="en-US" sz="1500" dirty="0">
                <a:solidFill>
                  <a:srgbClr val="2A3340"/>
                </a:solidFill>
                <a:latin typeface="Arial" pitchFamily="34" charset="0"/>
                <a:ea typeface="Arial" pitchFamily="34" charset="-122"/>
                <a:cs typeface="Arial" pitchFamily="34" charset="-120"/>
              </a:rPr>
              <a:t>Aggressive partnership outreach M0–4. Position as their deployment surface, not a competitor. Make Hatchik acquirable, not buildable.</a:t>
            </a:r>
            <a:endParaRPr lang="en-US" sz="1500" dirty="0"/>
          </a:p>
        </p:txBody>
      </p:sp>
      <p:sp>
        <p:nvSpPr>
          <p:cNvPr id="15" name="Shape 12"/>
          <p:cNvSpPr/>
          <p:nvPr/>
        </p:nvSpPr>
        <p:spPr>
          <a:xfrm>
            <a:off x="914400" y="4221435"/>
            <a:ext cx="16459200" cy="1487760"/>
          </a:xfrm>
          <a:prstGeom prst="roundRect">
            <a:avLst>
              <a:gd name="adj" fmla="val 8963"/>
            </a:avLst>
          </a:prstGeom>
          <a:solidFill>
            <a:srgbClr val="FFFFFF"/>
          </a:solidFill>
          <a:ln w="14288">
            <a:solidFill>
              <a:srgbClr val="DDE5EC"/>
            </a:solidFill>
            <a:prstDash val="solid"/>
          </a:ln>
          <a:effectLst>
            <a:outerShdw sx="100000" sy="100000" kx="0" ky="0" algn="bl" rotWithShape="0" blurRad="38100" dist="19050" dir="5400000">
              <a:srgbClr val="0F1419">
                <a:alpha val="4000"/>
              </a:srgbClr>
            </a:outerShdw>
          </a:effectLst>
        </p:spPr>
      </p:sp>
      <p:sp>
        <p:nvSpPr>
          <p:cNvPr id="16" name="Shape 13"/>
          <p:cNvSpPr/>
          <p:nvPr/>
        </p:nvSpPr>
        <p:spPr>
          <a:xfrm>
            <a:off x="1233488" y="4483373"/>
            <a:ext cx="1143000" cy="404813"/>
          </a:xfrm>
          <a:prstGeom prst="roundRect">
            <a:avLst>
              <a:gd name="adj" fmla="val 18824"/>
            </a:avLst>
          </a:prstGeom>
          <a:solidFill>
            <a:srgbClr val="FFC25A"/>
          </a:solidFill>
          <a:ln/>
          <a:effectLst>
            <a:outerShdw sx="100000" sy="100000" kx="0" ky="0" algn="bl" rotWithShape="0" blurRad="76200" dist="19050" dir="5400000">
              <a:srgbClr val="F59E0B">
                <a:alpha val="30000"/>
              </a:srgbClr>
            </a:outerShdw>
          </a:effectLst>
        </p:spPr>
      </p:sp>
      <p:sp>
        <p:nvSpPr>
          <p:cNvPr id="17" name="Text 14"/>
          <p:cNvSpPr/>
          <p:nvPr/>
        </p:nvSpPr>
        <p:spPr>
          <a:xfrm>
            <a:off x="1309687" y="4578623"/>
            <a:ext cx="990600" cy="252412"/>
          </a:xfrm>
          <a:prstGeom prst="rect">
            <a:avLst/>
          </a:prstGeom>
          <a:noFill/>
          <a:ln/>
        </p:spPr>
        <p:txBody>
          <a:bodyPr wrap="square" lIns="25400" tIns="25400" rIns="25400" bIns="25400" rtlCol="0" anchor="t">
            <a:normAutofit/>
          </a:bodyPr>
          <a:lstStyle/>
          <a:p>
            <a:pPr algn="ctr" indent="0" marL="0">
              <a:lnSpc>
                <a:spcPct val="150000"/>
              </a:lnSpc>
              <a:buNone/>
            </a:pPr>
            <a:r>
              <a:rPr lang="en-US" sz="1125" spc="135" kern="0" dirty="0">
                <a:solidFill>
                  <a:srgbClr val="0F1419"/>
                </a:solidFill>
                <a:latin typeface="Courier New" pitchFamily="34" charset="0"/>
                <a:ea typeface="Courier New" pitchFamily="34" charset="-122"/>
                <a:cs typeface="Courier New" pitchFamily="34" charset="-120"/>
              </a:rPr>
              <a:t>MED · 02</a:t>
            </a:r>
            <a:endParaRPr lang="en-US" sz="1125" dirty="0"/>
          </a:p>
        </p:txBody>
      </p:sp>
      <p:sp>
        <p:nvSpPr>
          <p:cNvPr id="18" name="Text 15"/>
          <p:cNvSpPr/>
          <p:nvPr/>
        </p:nvSpPr>
        <p:spPr>
          <a:xfrm>
            <a:off x="2681288" y="4483373"/>
            <a:ext cx="7245239" cy="335235"/>
          </a:xfrm>
          <a:prstGeom prst="rect">
            <a:avLst/>
          </a:prstGeom>
          <a:noFill/>
          <a:ln/>
        </p:spPr>
        <p:txBody>
          <a:bodyPr wrap="square" lIns="25400" tIns="25400" rIns="25400" bIns="25400" rtlCol="0" anchor="t">
            <a:normAutofit/>
          </a:bodyPr>
          <a:lstStyle/>
          <a:p>
            <a:pPr algn="l" indent="0" marL="0">
              <a:lnSpc>
                <a:spcPct val="120000"/>
              </a:lnSpc>
              <a:buNone/>
            </a:pPr>
            <a:r>
              <a:rPr lang="en-US" sz="1950" b="1" spc="-29" kern="0" dirty="0">
                <a:solidFill>
                  <a:srgbClr val="0F1419"/>
                </a:solidFill>
                <a:latin typeface="Arial" pitchFamily="34" charset="0"/>
                <a:ea typeface="Arial" pitchFamily="34" charset="-122"/>
                <a:cs typeface="Arial" pitchFamily="34" charset="-120"/>
              </a:rPr>
              <a:t>Peak coincidence on shared sandbox host.</a:t>
            </a:r>
            <a:endParaRPr lang="en-US" sz="1950" dirty="0"/>
          </a:p>
        </p:txBody>
      </p:sp>
      <p:sp>
        <p:nvSpPr>
          <p:cNvPr id="19" name="Text 16"/>
          <p:cNvSpPr/>
          <p:nvPr/>
        </p:nvSpPr>
        <p:spPr>
          <a:xfrm>
            <a:off x="2681288" y="4875758"/>
            <a:ext cx="7245239" cy="609600"/>
          </a:xfrm>
          <a:prstGeom prst="rect">
            <a:avLst/>
          </a:prstGeom>
          <a:noFill/>
          <a:ln/>
        </p:spPr>
        <p:txBody>
          <a:bodyPr wrap="square" lIns="25400" tIns="25400" rIns="25400" bIns="25400" rtlCol="0" anchor="t">
            <a:normAutofit/>
          </a:bodyPr>
          <a:lstStyle/>
          <a:p>
            <a:pPr algn="l" indent="0" marL="0">
              <a:lnSpc>
                <a:spcPct val="150000"/>
              </a:lnSpc>
              <a:buNone/>
            </a:pPr>
            <a:r>
              <a:rPr lang="en-US" sz="1500" dirty="0">
                <a:solidFill>
                  <a:srgbClr val="2A3340"/>
                </a:solidFill>
                <a:latin typeface="Arial" pitchFamily="34" charset="0"/>
                <a:ea typeface="Arial" pitchFamily="34" charset="-122"/>
                <a:cs typeface="Arial" pitchFamily="34" charset="-120"/>
              </a:rPr>
              <a:t>If &gt;30% of sandboxes go warm simultaneously, CAX31 RAM/CPU contention bites users.</a:t>
            </a:r>
            <a:endParaRPr lang="en-US" sz="1500" dirty="0"/>
          </a:p>
        </p:txBody>
      </p:sp>
      <p:sp>
        <p:nvSpPr>
          <p:cNvPr id="20" name="Text 17"/>
          <p:cNvSpPr/>
          <p:nvPr/>
        </p:nvSpPr>
        <p:spPr>
          <a:xfrm>
            <a:off x="10020300" y="4483373"/>
            <a:ext cx="7245239"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135" kern="0" dirty="0">
                <a:solidFill>
                  <a:srgbClr val="5B47F0"/>
                </a:solidFill>
                <a:latin typeface="Courier New" pitchFamily="34" charset="0"/>
                <a:ea typeface="Courier New" pitchFamily="34" charset="-122"/>
                <a:cs typeface="Courier New" pitchFamily="34" charset="-120"/>
              </a:rPr>
              <a:t>MITIGATION</a:t>
            </a:r>
            <a:endParaRPr lang="en-US" sz="1125" dirty="0"/>
          </a:p>
        </p:txBody>
      </p:sp>
      <p:sp>
        <p:nvSpPr>
          <p:cNvPr id="21" name="Text 18"/>
          <p:cNvSpPr/>
          <p:nvPr/>
        </p:nvSpPr>
        <p:spPr>
          <a:xfrm>
            <a:off x="10020300" y="4792935"/>
            <a:ext cx="7245239" cy="609600"/>
          </a:xfrm>
          <a:prstGeom prst="rect">
            <a:avLst/>
          </a:prstGeom>
          <a:noFill/>
          <a:ln/>
        </p:spPr>
        <p:txBody>
          <a:bodyPr wrap="square" lIns="25400" tIns="25400" rIns="25400" bIns="25400" rtlCol="0" anchor="t">
            <a:normAutofit/>
          </a:bodyPr>
          <a:lstStyle/>
          <a:p>
            <a:pPr algn="l" indent="0" marL="0">
              <a:lnSpc>
                <a:spcPct val="150000"/>
              </a:lnSpc>
              <a:buNone/>
            </a:pPr>
            <a:r>
              <a:rPr lang="en-US" sz="1500" dirty="0">
                <a:solidFill>
                  <a:srgbClr val="2A3340"/>
                </a:solidFill>
                <a:latin typeface="Arial" pitchFamily="34" charset="0"/>
                <a:ea typeface="Arial" pitchFamily="34" charset="-122"/>
                <a:cs typeface="Arial" pitchFamily="34" charset="-120"/>
              </a:rPr>
              <a:t>Watermark alert at 35-warm-concurrent → auto-provision second CAX31. Cost-per-sandbox stays in band (+£11.30/mo).</a:t>
            </a:r>
            <a:endParaRPr lang="en-US" sz="1500" dirty="0"/>
          </a:p>
        </p:txBody>
      </p:sp>
      <p:sp>
        <p:nvSpPr>
          <p:cNvPr id="22" name="Shape 19"/>
          <p:cNvSpPr/>
          <p:nvPr/>
        </p:nvSpPr>
        <p:spPr>
          <a:xfrm>
            <a:off x="914400" y="5861596"/>
            <a:ext cx="16459200" cy="1404938"/>
          </a:xfrm>
          <a:prstGeom prst="roundRect">
            <a:avLst>
              <a:gd name="adj" fmla="val 9492"/>
            </a:avLst>
          </a:prstGeom>
          <a:solidFill>
            <a:srgbClr val="FFFFFF"/>
          </a:solidFill>
          <a:ln w="14288">
            <a:solidFill>
              <a:srgbClr val="DDE5EC"/>
            </a:solidFill>
            <a:prstDash val="solid"/>
          </a:ln>
          <a:effectLst>
            <a:outerShdw sx="100000" sy="100000" kx="0" ky="0" algn="bl" rotWithShape="0" blurRad="38100" dist="19050" dir="5400000">
              <a:srgbClr val="0F1419">
                <a:alpha val="4000"/>
              </a:srgbClr>
            </a:outerShdw>
          </a:effectLst>
        </p:spPr>
      </p:sp>
      <p:sp>
        <p:nvSpPr>
          <p:cNvPr id="23" name="Shape 20"/>
          <p:cNvSpPr/>
          <p:nvPr/>
        </p:nvSpPr>
        <p:spPr>
          <a:xfrm>
            <a:off x="1233488" y="6123533"/>
            <a:ext cx="1143000" cy="433388"/>
          </a:xfrm>
          <a:prstGeom prst="roundRect">
            <a:avLst>
              <a:gd name="adj" fmla="val 17582"/>
            </a:avLst>
          </a:prstGeom>
          <a:solidFill>
            <a:srgbClr val="EEF2F7"/>
          </a:solidFill>
          <a:ln w="14288">
            <a:solidFill>
              <a:srgbClr val="DDE5EC"/>
            </a:solidFill>
            <a:prstDash val="solid"/>
          </a:ln>
        </p:spPr>
      </p:sp>
      <p:sp>
        <p:nvSpPr>
          <p:cNvPr id="24" name="Text 21"/>
          <p:cNvSpPr/>
          <p:nvPr/>
        </p:nvSpPr>
        <p:spPr>
          <a:xfrm>
            <a:off x="1323975" y="6233071"/>
            <a:ext cx="962025" cy="252412"/>
          </a:xfrm>
          <a:prstGeom prst="rect">
            <a:avLst/>
          </a:prstGeom>
          <a:noFill/>
          <a:ln/>
        </p:spPr>
        <p:txBody>
          <a:bodyPr wrap="square" lIns="25400" tIns="25400" rIns="25400" bIns="25400" rtlCol="0" anchor="t">
            <a:normAutofit/>
          </a:bodyPr>
          <a:lstStyle/>
          <a:p>
            <a:pPr algn="ctr" indent="0" marL="0">
              <a:lnSpc>
                <a:spcPct val="150000"/>
              </a:lnSpc>
              <a:buNone/>
            </a:pPr>
            <a:r>
              <a:rPr lang="en-US" sz="1125" spc="135" kern="0" dirty="0">
                <a:solidFill>
                  <a:srgbClr val="2A3340"/>
                </a:solidFill>
                <a:latin typeface="Courier New" pitchFamily="34" charset="0"/>
                <a:ea typeface="Courier New" pitchFamily="34" charset="-122"/>
                <a:cs typeface="Courier New" pitchFamily="34" charset="-120"/>
              </a:rPr>
              <a:t>LOW · 03</a:t>
            </a:r>
            <a:endParaRPr lang="en-US" sz="1125" dirty="0"/>
          </a:p>
        </p:txBody>
      </p:sp>
      <p:sp>
        <p:nvSpPr>
          <p:cNvPr id="25" name="Text 22"/>
          <p:cNvSpPr/>
          <p:nvPr/>
        </p:nvSpPr>
        <p:spPr>
          <a:xfrm>
            <a:off x="2681288" y="6123533"/>
            <a:ext cx="7245239" cy="335235"/>
          </a:xfrm>
          <a:prstGeom prst="rect">
            <a:avLst/>
          </a:prstGeom>
          <a:noFill/>
          <a:ln/>
        </p:spPr>
        <p:txBody>
          <a:bodyPr wrap="square" lIns="25400" tIns="25400" rIns="25400" bIns="25400" rtlCol="0" anchor="t">
            <a:normAutofit/>
          </a:bodyPr>
          <a:lstStyle/>
          <a:p>
            <a:pPr algn="l" indent="0" marL="0">
              <a:lnSpc>
                <a:spcPct val="120000"/>
              </a:lnSpc>
              <a:buNone/>
            </a:pPr>
            <a:r>
              <a:rPr lang="en-US" sz="1950" b="1" spc="-29" kern="0" dirty="0">
                <a:solidFill>
                  <a:srgbClr val="0F1419"/>
                </a:solidFill>
                <a:latin typeface="Arial" pitchFamily="34" charset="0"/>
                <a:ea typeface="Arial" pitchFamily="34" charset="-122"/>
                <a:cs typeface="Arial" pitchFamily="34" charset="-120"/>
              </a:rPr>
              <a:t>Wake latency on idle-suspended sandboxes.</a:t>
            </a:r>
            <a:endParaRPr lang="en-US" sz="1950" dirty="0"/>
          </a:p>
        </p:txBody>
      </p:sp>
      <p:sp>
        <p:nvSpPr>
          <p:cNvPr id="26" name="Text 23"/>
          <p:cNvSpPr/>
          <p:nvPr/>
        </p:nvSpPr>
        <p:spPr>
          <a:xfrm>
            <a:off x="2681288" y="6515919"/>
            <a:ext cx="7245239"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dirty="0">
                <a:solidFill>
                  <a:srgbClr val="2A3340"/>
                </a:solidFill>
                <a:latin typeface="Arial" pitchFamily="34" charset="0"/>
                <a:ea typeface="Arial" pitchFamily="34" charset="-122"/>
                <a:cs typeface="Arial" pitchFamily="34" charset="-120"/>
              </a:rPr>
              <a:t>10–15s cold start after 2h+ idle could feel broken to first-time users.</a:t>
            </a:r>
            <a:endParaRPr lang="en-US" sz="1500" dirty="0"/>
          </a:p>
        </p:txBody>
      </p:sp>
      <p:sp>
        <p:nvSpPr>
          <p:cNvPr id="27" name="Text 24"/>
          <p:cNvSpPr/>
          <p:nvPr/>
        </p:nvSpPr>
        <p:spPr>
          <a:xfrm>
            <a:off x="10020300" y="6123533"/>
            <a:ext cx="7245239"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135" kern="0" dirty="0">
                <a:solidFill>
                  <a:srgbClr val="5B47F0"/>
                </a:solidFill>
                <a:latin typeface="Courier New" pitchFamily="34" charset="0"/>
                <a:ea typeface="Courier New" pitchFamily="34" charset="-122"/>
                <a:cs typeface="Courier New" pitchFamily="34" charset="-120"/>
              </a:rPr>
              <a:t>MITIGATION</a:t>
            </a:r>
            <a:endParaRPr lang="en-US" sz="1125" dirty="0"/>
          </a:p>
        </p:txBody>
      </p:sp>
      <p:sp>
        <p:nvSpPr>
          <p:cNvPr id="28" name="Text 25"/>
          <p:cNvSpPr/>
          <p:nvPr/>
        </p:nvSpPr>
        <p:spPr>
          <a:xfrm>
            <a:off x="10020300" y="6433096"/>
            <a:ext cx="7245239" cy="609600"/>
          </a:xfrm>
          <a:prstGeom prst="rect">
            <a:avLst/>
          </a:prstGeom>
          <a:noFill/>
          <a:ln/>
        </p:spPr>
        <p:txBody>
          <a:bodyPr wrap="square" lIns="25400" tIns="25400" rIns="25400" bIns="25400" rtlCol="0" anchor="t">
            <a:normAutofit/>
          </a:bodyPr>
          <a:lstStyle/>
          <a:p>
            <a:pPr algn="l" indent="0" marL="0">
              <a:lnSpc>
                <a:spcPct val="150000"/>
              </a:lnSpc>
              <a:buNone/>
            </a:pPr>
            <a:r>
              <a:rPr lang="en-US" sz="1500" dirty="0">
                <a:solidFill>
                  <a:srgbClr val="2A3340"/>
                </a:solidFill>
                <a:latin typeface="Arial" pitchFamily="34" charset="0"/>
                <a:ea typeface="Arial" pitchFamily="34" charset="-122"/>
                <a:cs typeface="Arial" pitchFamily="34" charset="-120"/>
              </a:rPr>
              <a:t>"Your sandbox is warming up…" splash in the AI tool's deploy-status callback. Acceptable for dev-env framing.</a:t>
            </a:r>
            <a:endParaRPr lang="en-US" sz="1500" dirty="0"/>
          </a:p>
        </p:txBody>
      </p:sp>
      <p:sp>
        <p:nvSpPr>
          <p:cNvPr id="29" name="Text 26"/>
          <p:cNvSpPr/>
          <p:nvPr/>
        </p:nvSpPr>
        <p:spPr>
          <a:xfrm>
            <a:off x="914400" y="7533233"/>
            <a:ext cx="16952976" cy="274290"/>
          </a:xfrm>
          <a:prstGeom prst="rect">
            <a:avLst/>
          </a:prstGeom>
          <a:noFill/>
          <a:ln/>
        </p:spPr>
        <p:txBody>
          <a:bodyPr wrap="square" lIns="25400" tIns="25400" rIns="25400" bIns="25400" rtlCol="0" anchor="t">
            <a:normAutofit/>
          </a:bodyPr>
          <a:lstStyle/>
          <a:p>
            <a:pPr algn="l" indent="0" marL="0">
              <a:lnSpc>
                <a:spcPct val="155000"/>
              </a:lnSpc>
              <a:buNone/>
            </a:pPr>
            <a:r>
              <a:rPr lang="en-US" sz="1200" spc="48" kern="0" dirty="0">
                <a:solidFill>
                  <a:srgbClr val="6E7785"/>
                </a:solidFill>
                <a:latin typeface="Courier New" pitchFamily="34" charset="0"/>
                <a:ea typeface="Courier New" pitchFamily="34" charset="-122"/>
                <a:cs typeface="Courier New" pitchFamily="34" charset="-120"/>
              </a:rPr>
              <a:t>Full risks register in appendix 25 · AI-lab disruption mitigation in appendix 24.</a:t>
            </a:r>
            <a:endParaRPr lang="en-US" sz="1200" dirty="0"/>
          </a:p>
        </p:txBody>
      </p:sp>
      <p:sp>
        <p:nvSpPr>
          <p:cNvPr id="30" name="Shape 27"/>
          <p:cNvSpPr/>
          <p:nvPr/>
        </p:nvSpPr>
        <p:spPr>
          <a:xfrm>
            <a:off x="914400" y="9286875"/>
            <a:ext cx="16459200" cy="9525"/>
          </a:xfrm>
          <a:prstGeom prst="rect">
            <a:avLst/>
          </a:prstGeom>
          <a:solidFill>
            <a:srgbClr val="DDE5EC"/>
          </a:solidFill>
          <a:ln/>
        </p:spPr>
      </p:sp>
      <p:sp>
        <p:nvSpPr>
          <p:cNvPr id="31" name="Text 28"/>
          <p:cNvSpPr/>
          <p:nvPr/>
        </p:nvSpPr>
        <p:spPr>
          <a:xfrm>
            <a:off x="914400" y="9532144"/>
            <a:ext cx="4533256"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113" kern="0" dirty="0">
                <a:solidFill>
                  <a:srgbClr val="6E7785"/>
                </a:solidFill>
                <a:latin typeface="Courier New" pitchFamily="34" charset="0"/>
                <a:ea typeface="Courier New" pitchFamily="34" charset="-122"/>
                <a:cs typeface="Courier New" pitchFamily="34" charset="-120"/>
              </a:rPr>
              <a:t>HATCHIK · INVESTOR &amp; PARTNER DECK · MAY 2026</a:t>
            </a:r>
            <a:endParaRPr lang="en-US" sz="1125" dirty="0"/>
          </a:p>
        </p:txBody>
      </p:sp>
      <p:sp>
        <p:nvSpPr>
          <p:cNvPr id="32" name="Text 29"/>
          <p:cNvSpPr/>
          <p:nvPr/>
        </p:nvSpPr>
        <p:spPr>
          <a:xfrm>
            <a:off x="16690851" y="9525000"/>
            <a:ext cx="758949"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spc="48" kern="0" dirty="0">
                <a:solidFill>
                  <a:srgbClr val="0F1419"/>
                </a:solidFill>
                <a:latin typeface="Courier New" pitchFamily="34" charset="0"/>
                <a:ea typeface="Courier New" pitchFamily="34" charset="-122"/>
                <a:cs typeface="Courier New" pitchFamily="34" charset="-120"/>
              </a:rPr>
              <a:t>19 / 31</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C1118"/>
        </a:solidFill>
      </p:bgPr>
    </p:bg>
    <p:spTree>
      <p:nvGrpSpPr>
        <p:cNvPr id="1" name=""/>
        <p:cNvGrpSpPr/>
        <p:nvPr/>
      </p:nvGrpSpPr>
      <p:grpSpPr>
        <a:xfrm>
          <a:off x="0" y="0"/>
          <a:ext cx="0" cy="0"/>
          <a:chOff x="0" y="0"/>
          <a:chExt cx="0" cy="0"/>
        </a:xfrm>
      </p:grpSpPr>
      <p:sp>
        <p:nvSpPr>
          <p:cNvPr id="2" name="Shape 0"/>
          <p:cNvSpPr/>
          <p:nvPr/>
        </p:nvSpPr>
        <p:spPr>
          <a:xfrm>
            <a:off x="914400" y="1009650"/>
            <a:ext cx="16459200" cy="9525"/>
          </a:xfrm>
          <a:prstGeom prst="rect">
            <a:avLst/>
          </a:prstGeom>
          <a:solidFill>
            <a:srgbClr val="F7FAFC">
              <a:alpha val="12000"/>
            </a:srgbClr>
          </a:solidFill>
          <a:ln/>
        </p:spPr>
      </p:sp>
      <p:pic>
        <p:nvPicPr>
          <p:cNvPr id="3" name="Image 0" descr="preencoded.png">    </p:cNvPr>
          <p:cNvPicPr>
            <a:picLocks noChangeAspect="1"/>
          </p:cNvPicPr>
          <p:nvPr/>
        </p:nvPicPr>
        <p:blipFill>
          <a:blip r:embed="rId1"/>
          <a:stretch>
            <a:fillRect/>
          </a:stretch>
        </p:blipFill>
        <p:spPr>
          <a:xfrm>
            <a:off x="914400" y="571500"/>
            <a:ext cx="209550" cy="209550"/>
          </a:xfrm>
          <a:prstGeom prst="rect">
            <a:avLst/>
          </a:prstGeom>
        </p:spPr>
      </p:pic>
      <p:sp>
        <p:nvSpPr>
          <p:cNvPr id="4" name="Text 1"/>
          <p:cNvSpPr/>
          <p:nvPr/>
        </p:nvSpPr>
        <p:spPr>
          <a:xfrm>
            <a:off x="1219200" y="533400"/>
            <a:ext cx="745108"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spc="-37" kern="0" dirty="0">
                <a:solidFill>
                  <a:srgbClr val="F7FAFC"/>
                </a:solidFill>
                <a:latin typeface="Arial" pitchFamily="34" charset="0"/>
                <a:ea typeface="Arial" pitchFamily="34" charset="-122"/>
                <a:cs typeface="Arial" pitchFamily="34" charset="-120"/>
              </a:rPr>
              <a:t>hatchik</a:t>
            </a:r>
            <a:endParaRPr lang="en-US" sz="1500" dirty="0"/>
          </a:p>
        </p:txBody>
      </p:sp>
      <p:sp>
        <p:nvSpPr>
          <p:cNvPr id="5" name="Text 2"/>
          <p:cNvSpPr/>
          <p:nvPr/>
        </p:nvSpPr>
        <p:spPr>
          <a:xfrm>
            <a:off x="16192277" y="562421"/>
            <a:ext cx="1257523" cy="265733"/>
          </a:xfrm>
          <a:prstGeom prst="rect">
            <a:avLst/>
          </a:prstGeom>
          <a:noFill/>
          <a:ln/>
        </p:spPr>
        <p:txBody>
          <a:bodyPr wrap="square" lIns="25400" tIns="25400" rIns="25400" bIns="25400" rtlCol="0" anchor="t">
            <a:normAutofit/>
          </a:bodyPr>
          <a:lstStyle/>
          <a:p>
            <a:pPr algn="l" indent="0" marL="0">
              <a:lnSpc>
                <a:spcPct val="140000"/>
              </a:lnSpc>
              <a:buNone/>
            </a:pPr>
            <a:r>
              <a:rPr lang="en-US" sz="1200" spc="120" kern="0" dirty="0">
                <a:solidFill>
                  <a:srgbClr val="F7FAFC"/>
                </a:solidFill>
                <a:latin typeface="Courier New" pitchFamily="34" charset="0"/>
                <a:ea typeface="Courier New" pitchFamily="34" charset="-122"/>
                <a:cs typeface="Courier New" pitchFamily="34" charset="-120"/>
              </a:rPr>
              <a:t>20 </a:t>
            </a:r>
            <a:pPr algn="l" indent="0" marL="0">
              <a:lnSpc>
                <a:spcPct val="140000"/>
              </a:lnSpc>
              <a:buNone/>
            </a:pPr>
            <a:r>
              <a:rPr lang="en-US" sz="1200" spc="120" kern="0" dirty="0">
                <a:solidFill>
                  <a:srgbClr val="5B47F0"/>
                </a:solidFill>
                <a:latin typeface="Courier New" pitchFamily="34" charset="0"/>
                <a:ea typeface="Courier New" pitchFamily="34" charset="-122"/>
                <a:cs typeface="Courier New" pitchFamily="34" charset="-120"/>
              </a:rPr>
              <a:t>· </a:t>
            </a:r>
            <a:pPr algn="l" indent="0" marL="0">
              <a:lnSpc>
                <a:spcPct val="140000"/>
              </a:lnSpc>
              <a:buNone/>
            </a:pPr>
            <a:r>
              <a:rPr lang="en-US" sz="1200" spc="120" kern="0" dirty="0">
                <a:solidFill>
                  <a:srgbClr val="F7FAFC">
                    <a:alpha val="55000"/>
                  </a:srgbClr>
                </a:solidFill>
                <a:latin typeface="Courier New" pitchFamily="34" charset="0"/>
                <a:ea typeface="Courier New" pitchFamily="34" charset="-122"/>
                <a:cs typeface="Courier New" pitchFamily="34" charset="-120"/>
              </a:rPr>
              <a:t>THE ASK</a:t>
            </a:r>
            <a:endParaRPr lang="en-US" sz="1200" dirty="0"/>
          </a:p>
        </p:txBody>
      </p:sp>
      <p:sp>
        <p:nvSpPr>
          <p:cNvPr id="6" name="Text 3"/>
          <p:cNvSpPr/>
          <p:nvPr/>
        </p:nvSpPr>
        <p:spPr>
          <a:xfrm>
            <a:off x="914400" y="1438275"/>
            <a:ext cx="15893415" cy="723900"/>
          </a:xfrm>
          <a:prstGeom prst="rect">
            <a:avLst/>
          </a:prstGeom>
          <a:noFill/>
          <a:ln/>
        </p:spPr>
        <p:txBody>
          <a:bodyPr wrap="square" lIns="25400" tIns="25400" rIns="25400" bIns="25400" rtlCol="0" anchor="t">
            <a:normAutofit/>
          </a:bodyPr>
          <a:lstStyle/>
          <a:p>
            <a:pPr algn="l" indent="0" marL="0">
              <a:lnSpc>
                <a:spcPct val="100000"/>
              </a:lnSpc>
              <a:buNone/>
            </a:pPr>
            <a:r>
              <a:rPr lang="en-US" sz="5400" b="1" spc="-216" kern="0" dirty="0">
                <a:solidFill>
                  <a:srgbClr val="F7FAFC"/>
                </a:solidFill>
                <a:latin typeface="Arial" pitchFamily="34" charset="0"/>
                <a:ea typeface="Arial" pitchFamily="34" charset="-122"/>
                <a:cs typeface="Arial" pitchFamily="34" charset="-120"/>
              </a:rPr>
              <a:t>12-month sprint capital. </a:t>
            </a:r>
            <a:pPr algn="l" indent="0" marL="0">
              <a:lnSpc>
                <a:spcPct val="100000"/>
              </a:lnSpc>
              <a:buNone/>
            </a:pPr>
            <a:r>
              <a:rPr lang="en-US" sz="5400" b="1" spc="-216" kern="0" dirty="0">
                <a:solidFill>
                  <a:srgbClr val="C8C0F8"/>
                </a:solidFill>
                <a:latin typeface="Arial" pitchFamily="34" charset="0"/>
                <a:ea typeface="Arial" pitchFamily="34" charset="-122"/>
                <a:cs typeface="Arial" pitchFamily="34" charset="-120"/>
              </a:rPr>
              <a:t>Raise-or-exit at month 6.</a:t>
            </a:r>
            <a:endParaRPr lang="en-US" sz="5400" dirty="0"/>
          </a:p>
        </p:txBody>
      </p:sp>
      <p:sp>
        <p:nvSpPr>
          <p:cNvPr id="7" name="Text 4"/>
          <p:cNvSpPr/>
          <p:nvPr/>
        </p:nvSpPr>
        <p:spPr>
          <a:xfrm>
            <a:off x="914400" y="2833688"/>
            <a:ext cx="844451" cy="214313"/>
          </a:xfrm>
          <a:prstGeom prst="rect">
            <a:avLst/>
          </a:prstGeom>
          <a:noFill/>
          <a:ln/>
        </p:spPr>
        <p:txBody>
          <a:bodyPr wrap="square" lIns="25400" tIns="25400" rIns="25400" bIns="25400" rtlCol="0" anchor="t">
            <a:normAutofit/>
          </a:bodyPr>
          <a:lstStyle/>
          <a:p>
            <a:pPr algn="l" indent="0" marL="0">
              <a:lnSpc>
                <a:spcPct val="150000"/>
              </a:lnSpc>
              <a:buNone/>
            </a:pPr>
            <a:r>
              <a:rPr lang="en-US" sz="1200" spc="144" kern="0" dirty="0">
                <a:solidFill>
                  <a:srgbClr val="C8C0F8"/>
                </a:solidFill>
                <a:latin typeface="Courier New" pitchFamily="34" charset="0"/>
                <a:ea typeface="Courier New" pitchFamily="34" charset="-122"/>
                <a:cs typeface="Courier New" pitchFamily="34" charset="-120"/>
              </a:rPr>
              <a:t>RAISING</a:t>
            </a:r>
            <a:endParaRPr lang="en-US" sz="1200" dirty="0"/>
          </a:p>
        </p:txBody>
      </p:sp>
      <p:sp>
        <p:nvSpPr>
          <p:cNvPr id="8" name="Text 5"/>
          <p:cNvSpPr/>
          <p:nvPr/>
        </p:nvSpPr>
        <p:spPr>
          <a:xfrm>
            <a:off x="914400" y="3181350"/>
            <a:ext cx="6467200" cy="2211288"/>
          </a:xfrm>
          <a:prstGeom prst="rect">
            <a:avLst/>
          </a:prstGeom>
          <a:noFill/>
          <a:ln/>
        </p:spPr>
        <p:txBody>
          <a:bodyPr wrap="square" lIns="25400" tIns="25400" rIns="25400" bIns="25400" rtlCol="0" anchor="t">
            <a:normAutofit/>
          </a:bodyPr>
          <a:lstStyle/>
          <a:p>
            <a:pPr algn="l" indent="0" marL="0">
              <a:lnSpc>
                <a:spcPct val="92000"/>
              </a:lnSpc>
              <a:buNone/>
            </a:pPr>
            <a:r>
              <a:rPr lang="en-US" sz="9300" b="1" spc="-465" kern="0" dirty="0">
                <a:solidFill>
                  <a:srgbClr val="F7FAFC"/>
                </a:solidFill>
                <a:latin typeface="Arial" pitchFamily="34" charset="0"/>
                <a:ea typeface="Arial" pitchFamily="34" charset="-122"/>
                <a:cs typeface="Arial" pitchFamily="34" charset="-120"/>
              </a:rPr>
              <a:t>£500K </a:t>
            </a:r>
            <a:pPr algn="l" indent="0" marL="0">
              <a:lnSpc>
                <a:spcPct val="92000"/>
              </a:lnSpc>
              <a:buNone/>
            </a:pPr>
            <a:r>
              <a:rPr lang="en-US" sz="9300" b="1" spc="-465" kern="0" dirty="0">
                <a:solidFill>
                  <a:srgbClr val="F7FAFC">
                    <a:alpha val="55000"/>
                  </a:srgbClr>
                </a:solidFill>
                <a:latin typeface="Arial" pitchFamily="34" charset="0"/>
                <a:ea typeface="Arial" pitchFamily="34" charset="-122"/>
                <a:cs typeface="Arial" pitchFamily="34" charset="-120"/>
              </a:rPr>
              <a:t>– £1M</a:t>
            </a:r>
            <a:endParaRPr lang="en-US" sz="9300" dirty="0"/>
          </a:p>
        </p:txBody>
      </p:sp>
      <p:sp>
        <p:nvSpPr>
          <p:cNvPr id="9" name="Text 6"/>
          <p:cNvSpPr/>
          <p:nvPr/>
        </p:nvSpPr>
        <p:spPr>
          <a:xfrm>
            <a:off x="914400" y="5583138"/>
            <a:ext cx="6467200" cy="746671"/>
          </a:xfrm>
          <a:prstGeom prst="rect">
            <a:avLst/>
          </a:prstGeom>
          <a:noFill/>
          <a:ln/>
        </p:spPr>
        <p:txBody>
          <a:bodyPr wrap="square" lIns="25400" tIns="25400" rIns="25400" bIns="25400" rtlCol="0" anchor="t">
            <a:normAutofit/>
          </a:bodyPr>
          <a:lstStyle/>
          <a:p>
            <a:pPr algn="l" indent="0" marL="0">
              <a:lnSpc>
                <a:spcPct val="155000"/>
              </a:lnSpc>
              <a:buNone/>
            </a:pPr>
            <a:r>
              <a:rPr lang="en-US" sz="1800" dirty="0">
                <a:solidFill>
                  <a:srgbClr val="F7FAFC">
                    <a:alpha val="78000"/>
                  </a:srgbClr>
                </a:solidFill>
                <a:latin typeface="Arial" pitchFamily="34" charset="0"/>
                <a:ea typeface="Arial" pitchFamily="34" charset="-122"/>
                <a:cs typeface="Arial" pitchFamily="34" charset="-120"/>
              </a:rPr>
              <a:t>Horizon: 12 months to decision point. Pre-seed · SAFE or convertible · founder fills final number.</a:t>
            </a:r>
            <a:endParaRPr lang="en-US" sz="1800" dirty="0"/>
          </a:p>
        </p:txBody>
      </p:sp>
      <p:sp>
        <p:nvSpPr>
          <p:cNvPr id="10" name="Text 7"/>
          <p:cNvSpPr/>
          <p:nvPr/>
        </p:nvSpPr>
        <p:spPr>
          <a:xfrm>
            <a:off x="914400" y="6596509"/>
            <a:ext cx="6467200"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spc="144" kern="0" dirty="0">
                <a:solidFill>
                  <a:srgbClr val="F7FAFC">
                    <a:alpha val="55000"/>
                  </a:srgbClr>
                </a:solidFill>
                <a:latin typeface="Courier New" pitchFamily="34" charset="0"/>
                <a:ea typeface="Courier New" pitchFamily="34" charset="-122"/>
                <a:cs typeface="Courier New" pitchFamily="34" charset="-120"/>
              </a:rPr>
              <a:t>ALLOCATION</a:t>
            </a:r>
            <a:endParaRPr lang="en-US" sz="1200" dirty="0"/>
          </a:p>
        </p:txBody>
      </p:sp>
      <p:pic>
        <p:nvPicPr>
          <p:cNvPr id="11" name="Image 1" descr="preencoded.png">    </p:cNvPr>
          <p:cNvPicPr>
            <a:picLocks noChangeAspect="1"/>
          </p:cNvPicPr>
          <p:nvPr/>
        </p:nvPicPr>
        <p:blipFill>
          <a:blip r:embed="rId2"/>
          <a:stretch>
            <a:fillRect/>
          </a:stretch>
        </p:blipFill>
        <p:spPr>
          <a:xfrm>
            <a:off x="914400" y="6939409"/>
            <a:ext cx="1524000" cy="1524000"/>
          </a:xfrm>
          <a:prstGeom prst="rect">
            <a:avLst/>
          </a:prstGeom>
        </p:spPr>
      </p:pic>
      <p:sp>
        <p:nvSpPr>
          <p:cNvPr id="12" name="Text 8"/>
          <p:cNvSpPr/>
          <p:nvPr/>
        </p:nvSpPr>
        <p:spPr>
          <a:xfrm>
            <a:off x="7955235" y="2733675"/>
            <a:ext cx="9700916"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spc="144" kern="0" dirty="0">
                <a:solidFill>
                  <a:srgbClr val="C8C0F8"/>
                </a:solidFill>
                <a:latin typeface="Courier New" pitchFamily="34" charset="0"/>
                <a:ea typeface="Courier New" pitchFamily="34" charset="-122"/>
                <a:cs typeface="Courier New" pitchFamily="34" charset="-120"/>
              </a:rPr>
              <a:t>USE OF FUNDS</a:t>
            </a:r>
            <a:endParaRPr lang="en-US" sz="1200" dirty="0"/>
          </a:p>
        </p:txBody>
      </p:sp>
      <p:sp>
        <p:nvSpPr>
          <p:cNvPr id="13" name="Shape 9"/>
          <p:cNvSpPr/>
          <p:nvPr/>
        </p:nvSpPr>
        <p:spPr>
          <a:xfrm>
            <a:off x="7955235" y="3114675"/>
            <a:ext cx="9418365" cy="1297260"/>
          </a:xfrm>
          <a:prstGeom prst="roundRect">
            <a:avLst>
              <a:gd name="adj" fmla="val 8811"/>
            </a:avLst>
          </a:prstGeom>
          <a:solidFill>
            <a:srgbClr val="161D2A"/>
          </a:solidFill>
          <a:ln w="14288">
            <a:solidFill>
              <a:srgbClr val="232C3D"/>
            </a:solidFill>
            <a:prstDash val="solid"/>
          </a:ln>
          <a:effectLst>
            <a:outerShdw sx="100000" sy="100000" kx="0" ky="0" algn="bl" rotWithShape="0" blurRad="133350" dist="38100" dir="5400000">
              <a:srgbClr val="000000">
                <a:alpha val="25000"/>
              </a:srgbClr>
            </a:outerShdw>
          </a:effectLst>
        </p:spPr>
      </p:sp>
      <p:sp>
        <p:nvSpPr>
          <p:cNvPr id="14" name="Text 10"/>
          <p:cNvSpPr/>
          <p:nvPr/>
        </p:nvSpPr>
        <p:spPr>
          <a:xfrm>
            <a:off x="8217173" y="3338513"/>
            <a:ext cx="1736675" cy="289545"/>
          </a:xfrm>
          <a:prstGeom prst="rect">
            <a:avLst/>
          </a:prstGeom>
          <a:noFill/>
          <a:ln/>
        </p:spPr>
        <p:txBody>
          <a:bodyPr wrap="square" lIns="25400" tIns="25400" rIns="25400" bIns="25400" rtlCol="0" anchor="t">
            <a:normAutofit/>
          </a:bodyPr>
          <a:lstStyle/>
          <a:p>
            <a:pPr algn="l" indent="0" marL="0">
              <a:lnSpc>
                <a:spcPct val="110000"/>
              </a:lnSpc>
              <a:buNone/>
            </a:pPr>
            <a:r>
              <a:rPr lang="en-US" sz="1800" b="1" spc="-36" kern="0" dirty="0">
                <a:solidFill>
                  <a:srgbClr val="F7FAFC"/>
                </a:solidFill>
                <a:latin typeface="Arial" pitchFamily="34" charset="0"/>
                <a:ea typeface="Arial" pitchFamily="34" charset="-122"/>
                <a:cs typeface="Arial" pitchFamily="34" charset="-120"/>
              </a:rPr>
              <a:t>Paid acquisition</a:t>
            </a:r>
            <a:endParaRPr lang="en-US" sz="1800" dirty="0"/>
          </a:p>
        </p:txBody>
      </p:sp>
      <p:sp>
        <p:nvSpPr>
          <p:cNvPr id="15" name="Text 11"/>
          <p:cNvSpPr/>
          <p:nvPr/>
        </p:nvSpPr>
        <p:spPr>
          <a:xfrm>
            <a:off x="15940980" y="3390900"/>
            <a:ext cx="1246882"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spc="48" kern="0" dirty="0">
                <a:solidFill>
                  <a:srgbClr val="C8C0F8"/>
                </a:solidFill>
                <a:latin typeface="Courier New" pitchFamily="34" charset="0"/>
                <a:ea typeface="Courier New" pitchFamily="34" charset="-122"/>
                <a:cs typeface="Courier New" pitchFamily="34" charset="-120"/>
              </a:rPr>
              <a:t>60% · ~£420K</a:t>
            </a:r>
            <a:endParaRPr lang="en-US" sz="1200" dirty="0"/>
          </a:p>
        </p:txBody>
      </p:sp>
      <p:sp>
        <p:nvSpPr>
          <p:cNvPr id="16" name="Shape 12"/>
          <p:cNvSpPr/>
          <p:nvPr/>
        </p:nvSpPr>
        <p:spPr>
          <a:xfrm>
            <a:off x="8217173" y="3752850"/>
            <a:ext cx="8894490" cy="95250"/>
          </a:xfrm>
          <a:prstGeom prst="roundRect">
            <a:avLst>
              <a:gd name="adj" fmla="val 50000"/>
            </a:avLst>
          </a:prstGeom>
          <a:solidFill>
            <a:srgbClr val="F7FAFC">
              <a:alpha val="12000"/>
            </a:srgbClr>
          </a:solidFill>
          <a:ln/>
        </p:spPr>
      </p:sp>
      <p:sp>
        <p:nvSpPr>
          <p:cNvPr id="17" name="Shape 13"/>
          <p:cNvSpPr/>
          <p:nvPr/>
        </p:nvSpPr>
        <p:spPr>
          <a:xfrm>
            <a:off x="8217173" y="3752850"/>
            <a:ext cx="5336679" cy="95250"/>
          </a:xfrm>
          <a:prstGeom prst="roundRect">
            <a:avLst>
              <a:gd name="adj" fmla="val 50000"/>
            </a:avLst>
          </a:prstGeom>
          <a:solidFill>
            <a:srgbClr val="5B47F0"/>
          </a:solidFill>
          <a:ln/>
        </p:spPr>
      </p:sp>
      <p:sp>
        <p:nvSpPr>
          <p:cNvPr id="18" name="Text 14"/>
          <p:cNvSpPr/>
          <p:nvPr/>
        </p:nvSpPr>
        <p:spPr>
          <a:xfrm>
            <a:off x="8217173" y="3981450"/>
            <a:ext cx="9161324" cy="244748"/>
          </a:xfrm>
          <a:prstGeom prst="rect">
            <a:avLst/>
          </a:prstGeom>
          <a:noFill/>
          <a:ln/>
        </p:spPr>
        <p:txBody>
          <a:bodyPr wrap="square" lIns="25400" tIns="25400" rIns="25400" bIns="25400" rtlCol="0" anchor="t">
            <a:normAutofit/>
          </a:bodyPr>
          <a:lstStyle/>
          <a:p>
            <a:pPr algn="l" indent="0" marL="0">
              <a:lnSpc>
                <a:spcPct val="155000"/>
              </a:lnSpc>
              <a:buNone/>
            </a:pPr>
            <a:r>
              <a:rPr lang="en-US" sz="1050" dirty="0">
                <a:solidFill>
                  <a:srgbClr val="F7FAFC">
                    <a:alpha val="70000"/>
                  </a:srgbClr>
                </a:solidFill>
                <a:latin typeface="Arial" pitchFamily="34" charset="0"/>
                <a:ea typeface="Arial" pitchFamily="34" charset="-122"/>
                <a:cs typeface="Arial" pitchFamily="34" charset="-120"/>
              </a:rPr>
              <a:t>Creator sponsorships + retargeting M2–9. At LTV £520, CAC ceiling £175 — paid becomes viable.</a:t>
            </a:r>
            <a:endParaRPr lang="en-US" sz="1050" dirty="0"/>
          </a:p>
        </p:txBody>
      </p:sp>
      <p:sp>
        <p:nvSpPr>
          <p:cNvPr id="19" name="Shape 15"/>
          <p:cNvSpPr/>
          <p:nvPr/>
        </p:nvSpPr>
        <p:spPr>
          <a:xfrm>
            <a:off x="7955235" y="4564335"/>
            <a:ext cx="9418365" cy="1297260"/>
          </a:xfrm>
          <a:prstGeom prst="roundRect">
            <a:avLst>
              <a:gd name="adj" fmla="val 8811"/>
            </a:avLst>
          </a:prstGeom>
          <a:solidFill>
            <a:srgbClr val="161D2A"/>
          </a:solidFill>
          <a:ln w="14288">
            <a:solidFill>
              <a:srgbClr val="232C3D"/>
            </a:solidFill>
            <a:prstDash val="solid"/>
          </a:ln>
          <a:effectLst>
            <a:outerShdw sx="100000" sy="100000" kx="0" ky="0" algn="bl" rotWithShape="0" blurRad="133350" dist="38100" dir="5400000">
              <a:srgbClr val="000000">
                <a:alpha val="25000"/>
              </a:srgbClr>
            </a:outerShdw>
          </a:effectLst>
        </p:spPr>
      </p:sp>
      <p:sp>
        <p:nvSpPr>
          <p:cNvPr id="20" name="Text 16"/>
          <p:cNvSpPr/>
          <p:nvPr/>
        </p:nvSpPr>
        <p:spPr>
          <a:xfrm>
            <a:off x="8217173" y="4788173"/>
            <a:ext cx="2478435" cy="289545"/>
          </a:xfrm>
          <a:prstGeom prst="rect">
            <a:avLst/>
          </a:prstGeom>
          <a:noFill/>
          <a:ln/>
        </p:spPr>
        <p:txBody>
          <a:bodyPr wrap="square" lIns="25400" tIns="25400" rIns="25400" bIns="25400" rtlCol="0" anchor="t">
            <a:normAutofit/>
          </a:bodyPr>
          <a:lstStyle/>
          <a:p>
            <a:pPr algn="l" indent="0" marL="0">
              <a:lnSpc>
                <a:spcPct val="110000"/>
              </a:lnSpc>
              <a:buNone/>
            </a:pPr>
            <a:r>
              <a:rPr lang="en-US" sz="1800" b="1" spc="-36" kern="0" dirty="0">
                <a:solidFill>
                  <a:srgbClr val="F7FAFC"/>
                </a:solidFill>
                <a:latin typeface="Arial" pitchFamily="34" charset="0"/>
                <a:ea typeface="Arial" pitchFamily="34" charset="-122"/>
                <a:cs typeface="Arial" pitchFamily="34" charset="-120"/>
              </a:rPr>
              <a:t>First hires (12-mo burn)</a:t>
            </a:r>
            <a:endParaRPr lang="en-US" sz="1800" dirty="0"/>
          </a:p>
        </p:txBody>
      </p:sp>
      <p:sp>
        <p:nvSpPr>
          <p:cNvPr id="21" name="Text 17"/>
          <p:cNvSpPr/>
          <p:nvPr/>
        </p:nvSpPr>
        <p:spPr>
          <a:xfrm>
            <a:off x="15940980" y="4840560"/>
            <a:ext cx="1246882"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spc="48" kern="0" dirty="0">
                <a:solidFill>
                  <a:srgbClr val="C8C0F8"/>
                </a:solidFill>
                <a:latin typeface="Courier New" pitchFamily="34" charset="0"/>
                <a:ea typeface="Courier New" pitchFamily="34" charset="-122"/>
                <a:cs typeface="Courier New" pitchFamily="34" charset="-120"/>
              </a:rPr>
              <a:t>25% · ~£175K</a:t>
            </a:r>
            <a:endParaRPr lang="en-US" sz="1200" dirty="0"/>
          </a:p>
        </p:txBody>
      </p:sp>
      <p:sp>
        <p:nvSpPr>
          <p:cNvPr id="22" name="Shape 18"/>
          <p:cNvSpPr/>
          <p:nvPr/>
        </p:nvSpPr>
        <p:spPr>
          <a:xfrm>
            <a:off x="8217173" y="5202510"/>
            <a:ext cx="8894490" cy="95250"/>
          </a:xfrm>
          <a:prstGeom prst="roundRect">
            <a:avLst>
              <a:gd name="adj" fmla="val 50000"/>
            </a:avLst>
          </a:prstGeom>
          <a:solidFill>
            <a:srgbClr val="F7FAFC">
              <a:alpha val="12000"/>
            </a:srgbClr>
          </a:solidFill>
          <a:ln/>
        </p:spPr>
      </p:sp>
      <p:sp>
        <p:nvSpPr>
          <p:cNvPr id="23" name="Shape 19"/>
          <p:cNvSpPr/>
          <p:nvPr/>
        </p:nvSpPr>
        <p:spPr>
          <a:xfrm>
            <a:off x="8217173" y="5202510"/>
            <a:ext cx="2223567" cy="95250"/>
          </a:xfrm>
          <a:prstGeom prst="roundRect">
            <a:avLst>
              <a:gd name="adj" fmla="val 50000"/>
            </a:avLst>
          </a:prstGeom>
          <a:solidFill>
            <a:srgbClr val="F7FAFC"/>
          </a:solidFill>
          <a:ln/>
        </p:spPr>
      </p:sp>
      <p:sp>
        <p:nvSpPr>
          <p:cNvPr id="24" name="Text 20"/>
          <p:cNvSpPr/>
          <p:nvPr/>
        </p:nvSpPr>
        <p:spPr>
          <a:xfrm>
            <a:off x="8217173" y="5431110"/>
            <a:ext cx="9161324" cy="244748"/>
          </a:xfrm>
          <a:prstGeom prst="rect">
            <a:avLst/>
          </a:prstGeom>
          <a:noFill/>
          <a:ln/>
        </p:spPr>
        <p:txBody>
          <a:bodyPr wrap="square" lIns="25400" tIns="25400" rIns="25400" bIns="25400" rtlCol="0" anchor="t">
            <a:normAutofit/>
          </a:bodyPr>
          <a:lstStyle/>
          <a:p>
            <a:pPr algn="l" indent="0" marL="0">
              <a:lnSpc>
                <a:spcPct val="155000"/>
              </a:lnSpc>
              <a:buNone/>
            </a:pPr>
            <a:r>
              <a:rPr lang="en-US" sz="1050" dirty="0">
                <a:solidFill>
                  <a:srgbClr val="F7FAFC">
                    <a:alpha val="70000"/>
                  </a:srgbClr>
                </a:solidFill>
                <a:latin typeface="Arial" pitchFamily="34" charset="0"/>
                <a:ea typeface="Arial" pitchFamily="34" charset="-122"/>
                <a:cs typeface="Arial" pitchFamily="34" charset="-120"/>
              </a:rPr>
              <a:t>One engineer (substrate hardening, second region, signed mobile pipeline) + one marketer (content engine).</a:t>
            </a:r>
            <a:endParaRPr lang="en-US" sz="1050" dirty="0"/>
          </a:p>
        </p:txBody>
      </p:sp>
      <p:sp>
        <p:nvSpPr>
          <p:cNvPr id="25" name="Shape 21"/>
          <p:cNvSpPr/>
          <p:nvPr/>
        </p:nvSpPr>
        <p:spPr>
          <a:xfrm>
            <a:off x="7955235" y="6013996"/>
            <a:ext cx="9418365" cy="1297260"/>
          </a:xfrm>
          <a:prstGeom prst="roundRect">
            <a:avLst>
              <a:gd name="adj" fmla="val 8811"/>
            </a:avLst>
          </a:prstGeom>
          <a:solidFill>
            <a:srgbClr val="161D2A"/>
          </a:solidFill>
          <a:ln w="14288">
            <a:solidFill>
              <a:srgbClr val="232C3D"/>
            </a:solidFill>
            <a:prstDash val="solid"/>
          </a:ln>
          <a:effectLst>
            <a:outerShdw sx="100000" sy="100000" kx="0" ky="0" algn="bl" rotWithShape="0" blurRad="133350" dist="38100" dir="5400000">
              <a:srgbClr val="000000">
                <a:alpha val="25000"/>
              </a:srgbClr>
            </a:outerShdw>
          </a:effectLst>
        </p:spPr>
      </p:sp>
      <p:sp>
        <p:nvSpPr>
          <p:cNvPr id="26" name="Text 22"/>
          <p:cNvSpPr/>
          <p:nvPr/>
        </p:nvSpPr>
        <p:spPr>
          <a:xfrm>
            <a:off x="8217173" y="6237833"/>
            <a:ext cx="3122961" cy="289545"/>
          </a:xfrm>
          <a:prstGeom prst="rect">
            <a:avLst/>
          </a:prstGeom>
          <a:noFill/>
          <a:ln/>
        </p:spPr>
        <p:txBody>
          <a:bodyPr wrap="square" lIns="25400" tIns="25400" rIns="25400" bIns="25400" rtlCol="0" anchor="t">
            <a:normAutofit/>
          </a:bodyPr>
          <a:lstStyle/>
          <a:p>
            <a:pPr algn="l" indent="0" marL="0">
              <a:lnSpc>
                <a:spcPct val="110000"/>
              </a:lnSpc>
              <a:buNone/>
            </a:pPr>
            <a:r>
              <a:rPr lang="en-US" sz="1800" b="1" spc="-36" kern="0" dirty="0">
                <a:solidFill>
                  <a:srgbClr val="F7FAFC"/>
                </a:solidFill>
                <a:latin typeface="Arial" pitchFamily="34" charset="0"/>
                <a:ea typeface="Arial" pitchFamily="34" charset="-122"/>
                <a:cs typeface="Arial" pitchFamily="34" charset="-120"/>
              </a:rPr>
              <a:t>Infrastructure + partnerships</a:t>
            </a:r>
            <a:endParaRPr lang="en-US" sz="1800" dirty="0"/>
          </a:p>
        </p:txBody>
      </p:sp>
      <p:sp>
        <p:nvSpPr>
          <p:cNvPr id="27" name="Text 23"/>
          <p:cNvSpPr/>
          <p:nvPr/>
        </p:nvSpPr>
        <p:spPr>
          <a:xfrm>
            <a:off x="15940980" y="6290221"/>
            <a:ext cx="1246882"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spc="48" kern="0" dirty="0">
                <a:solidFill>
                  <a:srgbClr val="C8C0F8"/>
                </a:solidFill>
                <a:latin typeface="Courier New" pitchFamily="34" charset="0"/>
                <a:ea typeface="Courier New" pitchFamily="34" charset="-122"/>
                <a:cs typeface="Courier New" pitchFamily="34" charset="-120"/>
              </a:rPr>
              <a:t>15% · ~£105K</a:t>
            </a:r>
            <a:endParaRPr lang="en-US" sz="1200" dirty="0"/>
          </a:p>
        </p:txBody>
      </p:sp>
      <p:sp>
        <p:nvSpPr>
          <p:cNvPr id="28" name="Shape 24"/>
          <p:cNvSpPr/>
          <p:nvPr/>
        </p:nvSpPr>
        <p:spPr>
          <a:xfrm>
            <a:off x="8217173" y="6652171"/>
            <a:ext cx="8894490" cy="95250"/>
          </a:xfrm>
          <a:prstGeom prst="roundRect">
            <a:avLst>
              <a:gd name="adj" fmla="val 50000"/>
            </a:avLst>
          </a:prstGeom>
          <a:solidFill>
            <a:srgbClr val="F7FAFC">
              <a:alpha val="12000"/>
            </a:srgbClr>
          </a:solidFill>
          <a:ln/>
        </p:spPr>
      </p:sp>
      <p:sp>
        <p:nvSpPr>
          <p:cNvPr id="29" name="Shape 25"/>
          <p:cNvSpPr/>
          <p:nvPr/>
        </p:nvSpPr>
        <p:spPr>
          <a:xfrm>
            <a:off x="8217173" y="6652171"/>
            <a:ext cx="1334170" cy="95250"/>
          </a:xfrm>
          <a:prstGeom prst="roundRect">
            <a:avLst>
              <a:gd name="adj" fmla="val 50000"/>
            </a:avLst>
          </a:prstGeom>
          <a:solidFill>
            <a:srgbClr val="C8C0F8"/>
          </a:solidFill>
          <a:ln/>
        </p:spPr>
      </p:sp>
      <p:sp>
        <p:nvSpPr>
          <p:cNvPr id="30" name="Text 26"/>
          <p:cNvSpPr/>
          <p:nvPr/>
        </p:nvSpPr>
        <p:spPr>
          <a:xfrm>
            <a:off x="8217173" y="6880771"/>
            <a:ext cx="9161324" cy="244748"/>
          </a:xfrm>
          <a:prstGeom prst="rect">
            <a:avLst/>
          </a:prstGeom>
          <a:noFill/>
          <a:ln/>
        </p:spPr>
        <p:txBody>
          <a:bodyPr wrap="square" lIns="25400" tIns="25400" rIns="25400" bIns="25400" rtlCol="0" anchor="t">
            <a:normAutofit/>
          </a:bodyPr>
          <a:lstStyle/>
          <a:p>
            <a:pPr algn="l" indent="0" marL="0">
              <a:lnSpc>
                <a:spcPct val="155000"/>
              </a:lnSpc>
              <a:buNone/>
            </a:pPr>
            <a:r>
              <a:rPr lang="en-US" sz="1050" dirty="0">
                <a:solidFill>
                  <a:srgbClr val="F7FAFC">
                    <a:alpha val="70000"/>
                  </a:srgbClr>
                </a:solidFill>
                <a:latin typeface="Arial" pitchFamily="34" charset="0"/>
                <a:ea typeface="Arial" pitchFamily="34" charset="-122"/>
                <a:cs typeface="Arial" pitchFamily="34" charset="-120"/>
              </a:rPr>
              <a:t>Multi-region rollout, abuse/scaling headroom, partnership-integration build for Anthropic / Cursor / Windsurf.</a:t>
            </a:r>
            <a:endParaRPr lang="en-US" sz="1050" dirty="0"/>
          </a:p>
        </p:txBody>
      </p:sp>
      <p:sp>
        <p:nvSpPr>
          <p:cNvPr id="31" name="Shape 27"/>
          <p:cNvSpPr/>
          <p:nvPr/>
        </p:nvSpPr>
        <p:spPr>
          <a:xfrm>
            <a:off x="7955235" y="7520806"/>
            <a:ext cx="9418365" cy="614363"/>
          </a:xfrm>
          <a:prstGeom prst="roundRect">
            <a:avLst>
              <a:gd name="adj" fmla="val 18605"/>
            </a:avLst>
          </a:prstGeom>
          <a:solidFill>
            <a:srgbClr val="161D2A"/>
          </a:solidFill>
          <a:ln w="14288">
            <a:solidFill>
              <a:srgbClr val="232C3D"/>
            </a:solidFill>
            <a:prstDash val="solid"/>
          </a:ln>
          <a:effectLst>
            <a:outerShdw sx="100000" sy="100000" kx="0" ky="0" algn="bl" rotWithShape="0" blurRad="28575" dist="9525" dir="5400000">
              <a:srgbClr val="5B47F0">
                <a:alpha val="6000"/>
              </a:srgbClr>
            </a:outerShdw>
          </a:effectLst>
        </p:spPr>
      </p:sp>
      <p:sp>
        <p:nvSpPr>
          <p:cNvPr id="32" name="Shape 28"/>
          <p:cNvSpPr/>
          <p:nvPr/>
        </p:nvSpPr>
        <p:spPr>
          <a:xfrm>
            <a:off x="8179073" y="7711306"/>
            <a:ext cx="605135" cy="233362"/>
          </a:xfrm>
          <a:prstGeom prst="roundRect">
            <a:avLst>
              <a:gd name="adj" fmla="val 16327"/>
            </a:avLst>
          </a:prstGeom>
          <a:solidFill>
            <a:srgbClr val="5B47F0"/>
          </a:solidFill>
          <a:ln/>
        </p:spPr>
      </p:sp>
      <p:sp>
        <p:nvSpPr>
          <p:cNvPr id="33" name="Text 29"/>
          <p:cNvSpPr/>
          <p:nvPr/>
        </p:nvSpPr>
        <p:spPr>
          <a:xfrm>
            <a:off x="8255273" y="7749406"/>
            <a:ext cx="528935" cy="195263"/>
          </a:xfrm>
          <a:prstGeom prst="rect">
            <a:avLst/>
          </a:prstGeom>
          <a:noFill/>
          <a:ln/>
        </p:spPr>
        <p:txBody>
          <a:bodyPr wrap="square" lIns="25400" tIns="25400" rIns="25400" bIns="25400" rtlCol="0" anchor="t">
            <a:normAutofit/>
          </a:bodyPr>
          <a:lstStyle/>
          <a:p>
            <a:pPr algn="l" indent="0" marL="0">
              <a:lnSpc>
                <a:spcPct val="150000"/>
              </a:lnSpc>
              <a:buNone/>
            </a:pPr>
            <a:r>
              <a:rPr lang="en-US" sz="825" spc="99" kern="0" dirty="0">
                <a:solidFill>
                  <a:srgbClr val="FFFFFF"/>
                </a:solidFill>
                <a:latin typeface="Courier New" pitchFamily="34" charset="0"/>
                <a:ea typeface="Courier New" pitchFamily="34" charset="-122"/>
                <a:cs typeface="Courier New" pitchFamily="34" charset="-120"/>
              </a:rPr>
              <a:t>TARGET</a:t>
            </a:r>
            <a:endParaRPr lang="en-US" sz="825" dirty="0"/>
          </a:p>
        </p:txBody>
      </p:sp>
      <p:sp>
        <p:nvSpPr>
          <p:cNvPr id="34" name="Text 30"/>
          <p:cNvSpPr/>
          <p:nvPr/>
        </p:nvSpPr>
        <p:spPr>
          <a:xfrm>
            <a:off x="8917558" y="7735119"/>
            <a:ext cx="6511809" cy="219075"/>
          </a:xfrm>
          <a:prstGeom prst="rect">
            <a:avLst/>
          </a:prstGeom>
          <a:noFill/>
          <a:ln/>
        </p:spPr>
        <p:txBody>
          <a:bodyPr wrap="square" lIns="0" tIns="0" rIns="0" bIns="0" rtlCol="0" anchor="t">
            <a:normAutofit/>
          </a:bodyPr>
          <a:lstStyle/>
          <a:p>
            <a:pPr algn="l" indent="0" marL="0">
              <a:lnSpc>
                <a:spcPct val="150000"/>
              </a:lnSpc>
              <a:buNone/>
            </a:pPr>
            <a:r>
              <a:rPr lang="en-US" sz="1275" dirty="0">
                <a:solidFill>
                  <a:srgbClr val="C8C0F8"/>
                </a:solidFill>
                <a:latin typeface="Arial" pitchFamily="34" charset="0"/>
                <a:ea typeface="Arial" pitchFamily="34" charset="-122"/>
                <a:cs typeface="Arial" pitchFamily="34" charset="-120"/>
              </a:rPr>
              <a:t>M12 · [ fill ] paying · £[ fill ]K MRR · validated funnel · acquirer + raise conversations live.</a:t>
            </a:r>
            <a:endParaRPr lang="en-US" sz="1275" dirty="0"/>
          </a:p>
        </p:txBody>
      </p:sp>
      <p:sp>
        <p:nvSpPr>
          <p:cNvPr id="35" name="Shape 31"/>
          <p:cNvSpPr/>
          <p:nvPr/>
        </p:nvSpPr>
        <p:spPr>
          <a:xfrm>
            <a:off x="914400" y="9286875"/>
            <a:ext cx="16459200" cy="9525"/>
          </a:xfrm>
          <a:prstGeom prst="rect">
            <a:avLst/>
          </a:prstGeom>
          <a:solidFill>
            <a:srgbClr val="F7FAFC">
              <a:alpha val="12000"/>
            </a:srgbClr>
          </a:solidFill>
          <a:ln/>
        </p:spPr>
      </p:sp>
      <p:sp>
        <p:nvSpPr>
          <p:cNvPr id="36" name="Text 32"/>
          <p:cNvSpPr/>
          <p:nvPr/>
        </p:nvSpPr>
        <p:spPr>
          <a:xfrm>
            <a:off x="914400" y="9532144"/>
            <a:ext cx="4533256"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113" kern="0" dirty="0">
                <a:solidFill>
                  <a:srgbClr val="F7FAFC">
                    <a:alpha val="50000"/>
                  </a:srgbClr>
                </a:solidFill>
                <a:latin typeface="Courier New" pitchFamily="34" charset="0"/>
                <a:ea typeface="Courier New" pitchFamily="34" charset="-122"/>
                <a:cs typeface="Courier New" pitchFamily="34" charset="-120"/>
              </a:rPr>
              <a:t>HATCHIK · INVESTOR &amp; PARTNER DECK · MAY 2026</a:t>
            </a:r>
            <a:endParaRPr lang="en-US" sz="1125" dirty="0"/>
          </a:p>
        </p:txBody>
      </p:sp>
      <p:sp>
        <p:nvSpPr>
          <p:cNvPr id="37" name="Text 33"/>
          <p:cNvSpPr/>
          <p:nvPr/>
        </p:nvSpPr>
        <p:spPr>
          <a:xfrm>
            <a:off x="16690851" y="9525000"/>
            <a:ext cx="758949"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spc="48" kern="0" dirty="0">
                <a:solidFill>
                  <a:srgbClr val="F7FAFC"/>
                </a:solidFill>
                <a:latin typeface="Courier New" pitchFamily="34" charset="0"/>
                <a:ea typeface="Courier New" pitchFamily="34" charset="-122"/>
                <a:cs typeface="Courier New" pitchFamily="34" charset="-120"/>
              </a:rPr>
              <a:t>20 / 31</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5B47F0">
              <a:alpha val="4000"/>
            </a:srgbClr>
          </a:solidFill>
          <a:ln/>
        </p:spPr>
      </p:sp>
      <p:pic>
        <p:nvPicPr>
          <p:cNvPr id="3" name="Image 0" descr="preencoded.png">    </p:cNvPr>
          <p:cNvPicPr>
            <a:picLocks noChangeAspect="1"/>
          </p:cNvPicPr>
          <p:nvPr/>
        </p:nvPicPr>
        <p:blipFill>
          <a:blip r:embed="rId1"/>
          <a:stretch>
            <a:fillRect/>
          </a:stretch>
        </p:blipFill>
        <p:spPr>
          <a:xfrm>
            <a:off x="914400" y="609600"/>
            <a:ext cx="342900" cy="342900"/>
          </a:xfrm>
          <a:prstGeom prst="rect">
            <a:avLst/>
          </a:prstGeom>
        </p:spPr>
      </p:pic>
      <p:sp>
        <p:nvSpPr>
          <p:cNvPr id="4" name="Text 1"/>
          <p:cNvSpPr/>
          <p:nvPr/>
        </p:nvSpPr>
        <p:spPr>
          <a:xfrm>
            <a:off x="1352550" y="638175"/>
            <a:ext cx="745108"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spc="-37" kern="0" dirty="0">
                <a:solidFill>
                  <a:srgbClr val="0F1419"/>
                </a:solidFill>
                <a:latin typeface="Arial" pitchFamily="34" charset="0"/>
                <a:ea typeface="Arial" pitchFamily="34" charset="-122"/>
                <a:cs typeface="Arial" pitchFamily="34" charset="-120"/>
              </a:rPr>
              <a:t>hatchik</a:t>
            </a:r>
            <a:endParaRPr lang="en-US" sz="1500" dirty="0"/>
          </a:p>
        </p:txBody>
      </p:sp>
      <p:sp>
        <p:nvSpPr>
          <p:cNvPr id="5" name="Text 2"/>
          <p:cNvSpPr/>
          <p:nvPr/>
        </p:nvSpPr>
        <p:spPr>
          <a:xfrm>
            <a:off x="16385902" y="666750"/>
            <a:ext cx="1063898"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spc="144" kern="0" dirty="0">
                <a:solidFill>
                  <a:srgbClr val="5B47F0"/>
                </a:solidFill>
                <a:latin typeface="Courier New" pitchFamily="34" charset="0"/>
                <a:ea typeface="Courier New" pitchFamily="34" charset="-122"/>
                <a:cs typeface="Courier New" pitchFamily="34" charset="-120"/>
              </a:rPr>
              <a:t>THANK YOU</a:t>
            </a:r>
            <a:endParaRPr lang="en-US" sz="1200" dirty="0"/>
          </a:p>
        </p:txBody>
      </p:sp>
      <p:sp>
        <p:nvSpPr>
          <p:cNvPr id="6" name="Text 3"/>
          <p:cNvSpPr/>
          <p:nvPr/>
        </p:nvSpPr>
        <p:spPr>
          <a:xfrm>
            <a:off x="914400" y="2476500"/>
            <a:ext cx="16952976" cy="2141190"/>
          </a:xfrm>
          <a:prstGeom prst="rect">
            <a:avLst/>
          </a:prstGeom>
          <a:noFill/>
          <a:ln/>
        </p:spPr>
        <p:txBody>
          <a:bodyPr wrap="square" lIns="25400" tIns="25400" rIns="25400" bIns="25400" rtlCol="0" anchor="t">
            <a:normAutofit/>
          </a:bodyPr>
          <a:lstStyle/>
          <a:p>
            <a:pPr algn="l" indent="0" marL="0">
              <a:lnSpc>
                <a:spcPct val="92000"/>
              </a:lnSpc>
              <a:buNone/>
            </a:pPr>
            <a:r>
              <a:rPr lang="en-US" sz="9000" b="1" spc="-405" kern="0" dirty="0">
                <a:solidFill>
                  <a:srgbClr val="0F1419"/>
                </a:solidFill>
                <a:latin typeface="Arial" pitchFamily="34" charset="0"/>
                <a:ea typeface="Arial" pitchFamily="34" charset="-122"/>
                <a:cs typeface="Arial" pitchFamily="34" charset="-120"/>
              </a:rPr>
              <a:t>The production substrate </a:t>
            </a:r>
            <a:pPr algn="l" indent="0" marL="0">
              <a:lnSpc>
                <a:spcPct val="92000"/>
              </a:lnSpc>
              <a:buNone/>
            </a:pPr>
            <a:r>
              <a:rPr lang="en-US" sz="9000" b="1" spc="-405" kern="0" dirty="0">
                <a:solidFill>
                  <a:srgbClr val="5B47F0"/>
                </a:solidFill>
                <a:latin typeface="Arial" pitchFamily="34" charset="0"/>
                <a:ea typeface="Arial" pitchFamily="34" charset="-122"/>
                <a:cs typeface="Arial" pitchFamily="34" charset="-120"/>
              </a:rPr>
              <a:t>your AI coder builds on.</a:t>
            </a:r>
            <a:endParaRPr lang="en-US" sz="9000" dirty="0"/>
          </a:p>
        </p:txBody>
      </p:sp>
      <p:sp>
        <p:nvSpPr>
          <p:cNvPr id="7" name="Text 4"/>
          <p:cNvSpPr/>
          <p:nvPr/>
        </p:nvSpPr>
        <p:spPr>
          <a:xfrm>
            <a:off x="914400" y="4922490"/>
            <a:ext cx="11772900" cy="434280"/>
          </a:xfrm>
          <a:prstGeom prst="rect">
            <a:avLst/>
          </a:prstGeom>
          <a:noFill/>
          <a:ln/>
        </p:spPr>
        <p:txBody>
          <a:bodyPr wrap="square" lIns="25400" tIns="25400" rIns="25400" bIns="25400" rtlCol="0" anchor="t">
            <a:normAutofit/>
          </a:bodyPr>
          <a:lstStyle/>
          <a:p>
            <a:pPr algn="l" indent="0" marL="0">
              <a:lnSpc>
                <a:spcPct val="130000"/>
              </a:lnSpc>
              <a:buNone/>
            </a:pPr>
            <a:r>
              <a:rPr lang="en-US" sz="2400" dirty="0">
                <a:solidFill>
                  <a:srgbClr val="2A3340"/>
                </a:solidFill>
                <a:latin typeface="Arial" pitchFamily="34" charset="0"/>
                <a:ea typeface="Arial" pitchFamily="34" charset="-122"/>
                <a:cs typeface="Arial" pitchFamily="34" charset="-120"/>
              </a:rPr>
              <a:t>No platform. No lock-in. No demos.</a:t>
            </a:r>
            <a:endParaRPr lang="en-US" sz="2400" dirty="0"/>
          </a:p>
        </p:txBody>
      </p:sp>
      <p:sp>
        <p:nvSpPr>
          <p:cNvPr id="8" name="Shape 5"/>
          <p:cNvSpPr/>
          <p:nvPr/>
        </p:nvSpPr>
        <p:spPr>
          <a:xfrm>
            <a:off x="914400" y="8845004"/>
            <a:ext cx="16459200" cy="9525"/>
          </a:xfrm>
          <a:prstGeom prst="rect">
            <a:avLst/>
          </a:prstGeom>
          <a:solidFill>
            <a:srgbClr val="DDE5EC"/>
          </a:solidFill>
          <a:ln/>
        </p:spPr>
      </p:sp>
      <p:sp>
        <p:nvSpPr>
          <p:cNvPr id="9" name="Text 6"/>
          <p:cNvSpPr/>
          <p:nvPr/>
        </p:nvSpPr>
        <p:spPr>
          <a:xfrm>
            <a:off x="914400" y="9159329"/>
            <a:ext cx="1028700" cy="230460"/>
          </a:xfrm>
          <a:prstGeom prst="rect">
            <a:avLst/>
          </a:prstGeom>
          <a:noFill/>
          <a:ln/>
        </p:spPr>
        <p:txBody>
          <a:bodyPr wrap="square" lIns="25400" tIns="25400" rIns="25400" bIns="25400" rtlCol="0" anchor="t">
            <a:normAutofit/>
          </a:bodyPr>
          <a:lstStyle/>
          <a:p>
            <a:pPr algn="l" indent="0" marL="0">
              <a:lnSpc>
                <a:spcPct val="160000"/>
              </a:lnSpc>
              <a:buNone/>
            </a:pPr>
            <a:r>
              <a:rPr lang="en-US" sz="900" spc="90" kern="0" dirty="0">
                <a:solidFill>
                  <a:srgbClr val="6E7785"/>
                </a:solidFill>
                <a:latin typeface="Courier New" pitchFamily="34" charset="0"/>
                <a:ea typeface="Courier New" pitchFamily="34" charset="-122"/>
                <a:cs typeface="Courier New" pitchFamily="34" charset="-120"/>
              </a:rPr>
              <a:t>GENERAL</a:t>
            </a:r>
            <a:endParaRPr lang="en-US" sz="900" dirty="0"/>
          </a:p>
        </p:txBody>
      </p:sp>
      <p:sp>
        <p:nvSpPr>
          <p:cNvPr id="10" name="Text 7"/>
          <p:cNvSpPr/>
          <p:nvPr/>
        </p:nvSpPr>
        <p:spPr>
          <a:xfrm>
            <a:off x="2476500" y="9159329"/>
            <a:ext cx="1436415" cy="230460"/>
          </a:xfrm>
          <a:prstGeom prst="rect">
            <a:avLst/>
          </a:prstGeom>
          <a:noFill/>
          <a:ln/>
        </p:spPr>
        <p:txBody>
          <a:bodyPr wrap="square" lIns="25400" tIns="25400" rIns="25400" bIns="25400" rtlCol="0" anchor="t">
            <a:normAutofit/>
          </a:bodyPr>
          <a:lstStyle/>
          <a:p>
            <a:pPr algn="l" indent="0" marL="0">
              <a:lnSpc>
                <a:spcPct val="160000"/>
              </a:lnSpc>
              <a:buNone/>
            </a:pPr>
            <a:r>
              <a:rPr lang="en-US" sz="900" spc="90" kern="0" dirty="0">
                <a:solidFill>
                  <a:srgbClr val="0F1419"/>
                </a:solidFill>
                <a:latin typeface="Courier New" pitchFamily="34" charset="0"/>
                <a:ea typeface="Courier New" pitchFamily="34" charset="-122"/>
                <a:cs typeface="Courier New" pitchFamily="34" charset="-120"/>
              </a:rPr>
              <a:t>HELLO@HATCHIK.COM</a:t>
            </a:r>
            <a:endParaRPr lang="en-US" sz="900" dirty="0"/>
          </a:p>
        </p:txBody>
      </p:sp>
      <p:sp>
        <p:nvSpPr>
          <p:cNvPr id="11" name="Text 8"/>
          <p:cNvSpPr/>
          <p:nvPr/>
        </p:nvSpPr>
        <p:spPr>
          <a:xfrm>
            <a:off x="4446315" y="9159329"/>
            <a:ext cx="1028700" cy="230460"/>
          </a:xfrm>
          <a:prstGeom prst="rect">
            <a:avLst/>
          </a:prstGeom>
          <a:noFill/>
          <a:ln/>
        </p:spPr>
        <p:txBody>
          <a:bodyPr wrap="square" lIns="25400" tIns="25400" rIns="25400" bIns="25400" rtlCol="0" anchor="t">
            <a:normAutofit/>
          </a:bodyPr>
          <a:lstStyle/>
          <a:p>
            <a:pPr algn="l" indent="0" marL="0">
              <a:lnSpc>
                <a:spcPct val="160000"/>
              </a:lnSpc>
              <a:buNone/>
            </a:pPr>
            <a:r>
              <a:rPr lang="en-US" sz="900" spc="90" kern="0" dirty="0">
                <a:solidFill>
                  <a:srgbClr val="6E7785"/>
                </a:solidFill>
                <a:latin typeface="Courier New" pitchFamily="34" charset="0"/>
                <a:ea typeface="Courier New" pitchFamily="34" charset="-122"/>
                <a:cs typeface="Courier New" pitchFamily="34" charset="-120"/>
              </a:rPr>
              <a:t>WEB</a:t>
            </a:r>
            <a:endParaRPr lang="en-US" sz="900" dirty="0"/>
          </a:p>
        </p:txBody>
      </p:sp>
      <p:sp>
        <p:nvSpPr>
          <p:cNvPr id="12" name="Text 9"/>
          <p:cNvSpPr/>
          <p:nvPr/>
        </p:nvSpPr>
        <p:spPr>
          <a:xfrm>
            <a:off x="6008415" y="9159329"/>
            <a:ext cx="1436415" cy="230460"/>
          </a:xfrm>
          <a:prstGeom prst="rect">
            <a:avLst/>
          </a:prstGeom>
          <a:noFill/>
          <a:ln/>
        </p:spPr>
        <p:txBody>
          <a:bodyPr wrap="square" lIns="25400" tIns="25400" rIns="25400" bIns="25400" rtlCol="0" anchor="t">
            <a:normAutofit/>
          </a:bodyPr>
          <a:lstStyle/>
          <a:p>
            <a:pPr algn="l" indent="0" marL="0">
              <a:lnSpc>
                <a:spcPct val="160000"/>
              </a:lnSpc>
              <a:buNone/>
            </a:pPr>
            <a:r>
              <a:rPr lang="en-US" sz="900" spc="90" kern="0" dirty="0">
                <a:solidFill>
                  <a:srgbClr val="0F1419"/>
                </a:solidFill>
                <a:latin typeface="Courier New" pitchFamily="34" charset="0"/>
                <a:ea typeface="Courier New" pitchFamily="34" charset="-122"/>
                <a:cs typeface="Courier New" pitchFamily="34" charset="-120"/>
              </a:rPr>
              <a:t>HATCHIK.COM</a:t>
            </a:r>
            <a:endParaRPr lang="en-US" sz="900" dirty="0"/>
          </a:p>
        </p:txBody>
      </p:sp>
      <p:sp>
        <p:nvSpPr>
          <p:cNvPr id="13" name="Text 10"/>
          <p:cNvSpPr/>
          <p:nvPr/>
        </p:nvSpPr>
        <p:spPr>
          <a:xfrm>
            <a:off x="914400" y="9485040"/>
            <a:ext cx="1028700" cy="230460"/>
          </a:xfrm>
          <a:prstGeom prst="rect">
            <a:avLst/>
          </a:prstGeom>
          <a:noFill/>
          <a:ln/>
        </p:spPr>
        <p:txBody>
          <a:bodyPr wrap="square" lIns="25400" tIns="25400" rIns="25400" bIns="25400" rtlCol="0" anchor="t">
            <a:normAutofit/>
          </a:bodyPr>
          <a:lstStyle/>
          <a:p>
            <a:pPr algn="l" indent="0" marL="0">
              <a:lnSpc>
                <a:spcPct val="160000"/>
              </a:lnSpc>
              <a:buNone/>
            </a:pPr>
            <a:r>
              <a:rPr lang="en-US" sz="900" spc="90" kern="0" dirty="0">
                <a:solidFill>
                  <a:srgbClr val="6E7785"/>
                </a:solidFill>
                <a:latin typeface="Courier New" pitchFamily="34" charset="0"/>
                <a:ea typeface="Courier New" pitchFamily="34" charset="-122"/>
                <a:cs typeface="Courier New" pitchFamily="34" charset="-120"/>
              </a:rPr>
              <a:t>FOUNDER</a:t>
            </a:r>
            <a:endParaRPr lang="en-US" sz="900" dirty="0"/>
          </a:p>
        </p:txBody>
      </p:sp>
      <p:sp>
        <p:nvSpPr>
          <p:cNvPr id="14" name="Text 11"/>
          <p:cNvSpPr/>
          <p:nvPr/>
        </p:nvSpPr>
        <p:spPr>
          <a:xfrm>
            <a:off x="2476500" y="9485040"/>
            <a:ext cx="1436415" cy="230460"/>
          </a:xfrm>
          <a:prstGeom prst="rect">
            <a:avLst/>
          </a:prstGeom>
          <a:noFill/>
          <a:ln/>
        </p:spPr>
        <p:txBody>
          <a:bodyPr wrap="square" lIns="25400" tIns="25400" rIns="25400" bIns="25400" rtlCol="0" anchor="t">
            <a:normAutofit/>
          </a:bodyPr>
          <a:lstStyle/>
          <a:p>
            <a:pPr algn="l" indent="0" marL="0">
              <a:lnSpc>
                <a:spcPct val="160000"/>
              </a:lnSpc>
              <a:buNone/>
            </a:pPr>
            <a:r>
              <a:rPr lang="en-US" sz="900" spc="90" kern="0" dirty="0">
                <a:solidFill>
                  <a:srgbClr val="0F1419"/>
                </a:solidFill>
                <a:latin typeface="Courier New" pitchFamily="34" charset="0"/>
                <a:ea typeface="Courier New" pitchFamily="34" charset="-122"/>
                <a:cs typeface="Courier New" pitchFamily="34" charset="-120"/>
              </a:rPr>
              <a:t>[ FOUNDER FILLS ]</a:t>
            </a:r>
            <a:endParaRPr lang="en-US" sz="900" dirty="0"/>
          </a:p>
        </p:txBody>
      </p:sp>
      <p:sp>
        <p:nvSpPr>
          <p:cNvPr id="15" name="Text 12"/>
          <p:cNvSpPr/>
          <p:nvPr/>
        </p:nvSpPr>
        <p:spPr>
          <a:xfrm>
            <a:off x="4446315" y="9485040"/>
            <a:ext cx="1028700" cy="230460"/>
          </a:xfrm>
          <a:prstGeom prst="rect">
            <a:avLst/>
          </a:prstGeom>
          <a:noFill/>
          <a:ln/>
        </p:spPr>
        <p:txBody>
          <a:bodyPr wrap="square" lIns="25400" tIns="25400" rIns="25400" bIns="25400" rtlCol="0" anchor="t">
            <a:normAutofit/>
          </a:bodyPr>
          <a:lstStyle/>
          <a:p>
            <a:pPr algn="l" indent="0" marL="0">
              <a:lnSpc>
                <a:spcPct val="160000"/>
              </a:lnSpc>
              <a:buNone/>
            </a:pPr>
            <a:r>
              <a:rPr lang="en-US" sz="900" spc="90" kern="0" dirty="0">
                <a:solidFill>
                  <a:srgbClr val="6E7785"/>
                </a:solidFill>
                <a:latin typeface="Courier New" pitchFamily="34" charset="0"/>
                <a:ea typeface="Courier New" pitchFamily="34" charset="-122"/>
                <a:cs typeface="Courier New" pitchFamily="34" charset="-120"/>
              </a:rPr>
              <a:t>LINKEDIN</a:t>
            </a:r>
            <a:endParaRPr lang="en-US" sz="900" dirty="0"/>
          </a:p>
        </p:txBody>
      </p:sp>
      <p:sp>
        <p:nvSpPr>
          <p:cNvPr id="16" name="Text 13"/>
          <p:cNvSpPr/>
          <p:nvPr/>
        </p:nvSpPr>
        <p:spPr>
          <a:xfrm>
            <a:off x="6008415" y="9485040"/>
            <a:ext cx="1436415" cy="230460"/>
          </a:xfrm>
          <a:prstGeom prst="rect">
            <a:avLst/>
          </a:prstGeom>
          <a:noFill/>
          <a:ln/>
        </p:spPr>
        <p:txBody>
          <a:bodyPr wrap="square" lIns="25400" tIns="25400" rIns="25400" bIns="25400" rtlCol="0" anchor="t">
            <a:normAutofit/>
          </a:bodyPr>
          <a:lstStyle/>
          <a:p>
            <a:pPr algn="l" indent="0" marL="0">
              <a:lnSpc>
                <a:spcPct val="160000"/>
              </a:lnSpc>
              <a:buNone/>
            </a:pPr>
            <a:r>
              <a:rPr lang="en-US" sz="900" spc="90" kern="0" dirty="0">
                <a:solidFill>
                  <a:srgbClr val="0F1419"/>
                </a:solidFill>
                <a:latin typeface="Courier New" pitchFamily="34" charset="0"/>
                <a:ea typeface="Courier New" pitchFamily="34" charset="-122"/>
                <a:cs typeface="Courier New" pitchFamily="34" charset="-120"/>
              </a:rPr>
              <a:t>[ FOUNDER FILLS ]</a:t>
            </a:r>
            <a:endParaRPr lang="en-US" sz="900" dirty="0"/>
          </a:p>
        </p:txBody>
      </p:sp>
      <p:sp>
        <p:nvSpPr>
          <p:cNvPr id="17" name="Text 14"/>
          <p:cNvSpPr/>
          <p:nvPr/>
        </p:nvSpPr>
        <p:spPr>
          <a:xfrm>
            <a:off x="15456843" y="9302204"/>
            <a:ext cx="1916757" cy="413296"/>
          </a:xfrm>
          <a:prstGeom prst="rect">
            <a:avLst/>
          </a:prstGeom>
          <a:noFill/>
          <a:ln/>
        </p:spPr>
        <p:txBody>
          <a:bodyPr wrap="square" lIns="25400" tIns="25400" rIns="25400" bIns="25400" rtlCol="0" anchor="t">
            <a:normAutofit/>
          </a:bodyPr>
          <a:lstStyle/>
          <a:p>
            <a:pPr algn="r" indent="0" marL="0">
              <a:lnSpc>
                <a:spcPct val="160000"/>
              </a:lnSpc>
              <a:buNone/>
            </a:pPr>
            <a:r>
              <a:rPr lang="en-US" sz="900" spc="90" kern="0" dirty="0">
                <a:solidFill>
                  <a:srgbClr val="0F1419"/>
                </a:solidFill>
                <a:latin typeface="Courier New" pitchFamily="34" charset="0"/>
                <a:ea typeface="Courier New" pitchFamily="34" charset="-122"/>
                <a:cs typeface="Courier New" pitchFamily="34" charset="-120"/>
              </a:rPr>
              <a:t>MAY 2026 </a:t>
            </a:r>
            <a:pPr algn="r" indent="0" marL="0">
              <a:lnSpc>
                <a:spcPct val="160000"/>
              </a:lnSpc>
              <a:buNone/>
            </a:pPr>
            <a:r>
              <a:rPr lang="en-US" sz="900" spc="90" kern="0" dirty="0">
                <a:solidFill>
                  <a:srgbClr val="6E7785"/>
                </a:solidFill>
                <a:latin typeface="Courier New" pitchFamily="34" charset="0"/>
                <a:ea typeface="Courier New" pitchFamily="34" charset="-122"/>
                <a:cs typeface="Courier New" pitchFamily="34" charset="-120"/>
              </a:rPr>
              <a:t>INVESTOR &amp; PARTNER DECK</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C111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 y="923925"/>
            <a:ext cx="266700" cy="266700"/>
          </a:xfrm>
          <a:prstGeom prst="rect">
            <a:avLst/>
          </a:prstGeom>
        </p:spPr>
      </p:pic>
      <p:sp>
        <p:nvSpPr>
          <p:cNvPr id="3" name="Text 0"/>
          <p:cNvSpPr/>
          <p:nvPr/>
        </p:nvSpPr>
        <p:spPr>
          <a:xfrm>
            <a:off x="1276350" y="914400"/>
            <a:ext cx="745108"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spc="-37" kern="0" dirty="0">
                <a:solidFill>
                  <a:srgbClr val="F7FAFC"/>
                </a:solidFill>
                <a:latin typeface="Arial" pitchFamily="34" charset="0"/>
                <a:ea typeface="Arial" pitchFamily="34" charset="-122"/>
                <a:cs typeface="Arial" pitchFamily="34" charset="-120"/>
              </a:rPr>
              <a:t>hatchik</a:t>
            </a:r>
            <a:endParaRPr lang="en-US" sz="1500" dirty="0"/>
          </a:p>
        </p:txBody>
      </p:sp>
      <p:sp>
        <p:nvSpPr>
          <p:cNvPr id="4" name="Text 1"/>
          <p:cNvSpPr/>
          <p:nvPr/>
        </p:nvSpPr>
        <p:spPr>
          <a:xfrm>
            <a:off x="14386099" y="950565"/>
            <a:ext cx="3077126" cy="251445"/>
          </a:xfrm>
          <a:prstGeom prst="rect">
            <a:avLst/>
          </a:prstGeom>
          <a:noFill/>
          <a:ln/>
        </p:spPr>
        <p:txBody>
          <a:bodyPr wrap="square" lIns="25400" tIns="25400" rIns="25400" bIns="25400" rtlCol="0" anchor="t">
            <a:normAutofit/>
          </a:bodyPr>
          <a:lstStyle/>
          <a:p>
            <a:pPr algn="l" indent="0" marL="0">
              <a:lnSpc>
                <a:spcPct val="140000"/>
              </a:lnSpc>
              <a:buNone/>
            </a:pPr>
            <a:r>
              <a:rPr lang="en-US" sz="1200" spc="120" kern="0" dirty="0">
                <a:solidFill>
                  <a:srgbClr val="F7FAFC">
                    <a:alpha val="55000"/>
                  </a:srgbClr>
                </a:solidFill>
                <a:latin typeface="Courier New" pitchFamily="34" charset="0"/>
                <a:ea typeface="Courier New" pitchFamily="34" charset="-122"/>
                <a:cs typeface="Courier New" pitchFamily="34" charset="-120"/>
              </a:rPr>
              <a:t>SECTION · APPENDIX · 22 / 31</a:t>
            </a:r>
            <a:endParaRPr lang="en-US" sz="1200" dirty="0"/>
          </a:p>
        </p:txBody>
      </p:sp>
      <p:sp>
        <p:nvSpPr>
          <p:cNvPr id="5" name="Text 2"/>
          <p:cNvSpPr/>
          <p:nvPr/>
        </p:nvSpPr>
        <p:spPr>
          <a:xfrm>
            <a:off x="914400" y="1771650"/>
            <a:ext cx="16952976" cy="2141190"/>
          </a:xfrm>
          <a:prstGeom prst="rect">
            <a:avLst/>
          </a:prstGeom>
          <a:noFill/>
          <a:ln/>
        </p:spPr>
        <p:txBody>
          <a:bodyPr wrap="square" lIns="25400" tIns="25400" rIns="25400" bIns="25400" rtlCol="0" anchor="t">
            <a:normAutofit/>
          </a:bodyPr>
          <a:lstStyle/>
          <a:p>
            <a:pPr algn="l" indent="0" marL="0">
              <a:lnSpc>
                <a:spcPct val="92000"/>
              </a:lnSpc>
              <a:buNone/>
            </a:pPr>
            <a:r>
              <a:rPr lang="en-US" sz="9000" b="1" spc="-360" kern="0" dirty="0">
                <a:solidFill>
                  <a:srgbClr val="C8C0F8"/>
                </a:solidFill>
                <a:latin typeface="Arial" pitchFamily="34" charset="0"/>
                <a:ea typeface="Arial" pitchFamily="34" charset="-122"/>
                <a:cs typeface="Arial" pitchFamily="34" charset="-120"/>
              </a:rPr>
              <a:t>Appendix. </a:t>
            </a:r>
            <a:pPr algn="l" indent="0" marL="0">
              <a:lnSpc>
                <a:spcPct val="92000"/>
              </a:lnSpc>
              <a:buNone/>
            </a:pPr>
            <a:r>
              <a:rPr lang="en-US" sz="9000" b="1" spc="-360" kern="0" dirty="0">
                <a:solidFill>
                  <a:srgbClr val="F7FAFC"/>
                </a:solidFill>
                <a:latin typeface="Arial" pitchFamily="34" charset="0"/>
                <a:ea typeface="Arial" pitchFamily="34" charset="-122"/>
                <a:cs typeface="Arial" pitchFamily="34" charset="-120"/>
              </a:rPr>
              <a:t>Detail, behind the headline.</a:t>
            </a:r>
            <a:endParaRPr lang="en-US" sz="9000" dirty="0"/>
          </a:p>
        </p:txBody>
      </p:sp>
      <p:sp>
        <p:nvSpPr>
          <p:cNvPr id="6" name="Text 3"/>
          <p:cNvSpPr/>
          <p:nvPr/>
        </p:nvSpPr>
        <p:spPr>
          <a:xfrm>
            <a:off x="914400" y="4305300"/>
            <a:ext cx="742950" cy="223838"/>
          </a:xfrm>
          <a:prstGeom prst="rect">
            <a:avLst/>
          </a:prstGeom>
          <a:noFill/>
          <a:ln/>
        </p:spPr>
        <p:txBody>
          <a:bodyPr wrap="square" lIns="25400" tIns="25400" rIns="25400" bIns="25400" rtlCol="0" anchor="t">
            <a:normAutofit/>
          </a:bodyPr>
          <a:lstStyle/>
          <a:p>
            <a:pPr algn="l" indent="0" marL="0">
              <a:lnSpc>
                <a:spcPct val="150000"/>
              </a:lnSpc>
              <a:buNone/>
            </a:pPr>
            <a:r>
              <a:rPr lang="en-US" sz="975" spc="59" kern="0" dirty="0">
                <a:solidFill>
                  <a:srgbClr val="F7FAFC">
                    <a:alpha val="50000"/>
                  </a:srgbClr>
                </a:solidFill>
                <a:latin typeface="Courier New" pitchFamily="34" charset="0"/>
                <a:ea typeface="Courier New" pitchFamily="34" charset="-122"/>
                <a:cs typeface="Courier New" pitchFamily="34" charset="-120"/>
              </a:rPr>
              <a:t>23</a:t>
            </a:r>
            <a:endParaRPr lang="en-US" sz="975" dirty="0"/>
          </a:p>
        </p:txBody>
      </p:sp>
      <p:sp>
        <p:nvSpPr>
          <p:cNvPr id="7" name="Text 4"/>
          <p:cNvSpPr/>
          <p:nvPr/>
        </p:nvSpPr>
        <p:spPr>
          <a:xfrm>
            <a:off x="1809750" y="4200525"/>
            <a:ext cx="9869615" cy="352425"/>
          </a:xfrm>
          <a:prstGeom prst="rect">
            <a:avLst/>
          </a:prstGeom>
          <a:noFill/>
          <a:ln/>
        </p:spPr>
        <p:txBody>
          <a:bodyPr wrap="square" lIns="25400" tIns="25400" rIns="25400" bIns="25400" rtlCol="0" anchor="t">
            <a:normAutofit/>
          </a:bodyPr>
          <a:lstStyle/>
          <a:p>
            <a:pPr algn="l" indent="0" marL="0">
              <a:lnSpc>
                <a:spcPct val="150000"/>
              </a:lnSpc>
              <a:buNone/>
            </a:pPr>
            <a:r>
              <a:rPr lang="en-US" sz="1650" spc="-25" kern="0" dirty="0">
                <a:solidFill>
                  <a:srgbClr val="F7FAFC"/>
                </a:solidFill>
                <a:latin typeface="Arial" pitchFamily="34" charset="0"/>
                <a:ea typeface="Arial" pitchFamily="34" charset="-122"/>
                <a:cs typeface="Arial" pitchFamily="34" charset="-120"/>
              </a:rPr>
              <a:t>Competitor deep-dive — AI builders vs infra players</a:t>
            </a:r>
            <a:endParaRPr lang="en-US" sz="1650" dirty="0"/>
          </a:p>
        </p:txBody>
      </p:sp>
      <p:sp>
        <p:nvSpPr>
          <p:cNvPr id="8" name="Shape 5"/>
          <p:cNvSpPr/>
          <p:nvPr/>
        </p:nvSpPr>
        <p:spPr>
          <a:xfrm>
            <a:off x="914400" y="4648200"/>
            <a:ext cx="10477500" cy="9525"/>
          </a:xfrm>
          <a:prstGeom prst="rect">
            <a:avLst/>
          </a:prstGeom>
          <a:solidFill>
            <a:srgbClr val="F7FAFC">
              <a:alpha val="12000"/>
            </a:srgbClr>
          </a:solidFill>
          <a:ln/>
        </p:spPr>
      </p:sp>
      <p:sp>
        <p:nvSpPr>
          <p:cNvPr id="9" name="Text 6"/>
          <p:cNvSpPr/>
          <p:nvPr/>
        </p:nvSpPr>
        <p:spPr>
          <a:xfrm>
            <a:off x="914400" y="4895850"/>
            <a:ext cx="742950" cy="223838"/>
          </a:xfrm>
          <a:prstGeom prst="rect">
            <a:avLst/>
          </a:prstGeom>
          <a:noFill/>
          <a:ln/>
        </p:spPr>
        <p:txBody>
          <a:bodyPr wrap="square" lIns="25400" tIns="25400" rIns="25400" bIns="25400" rtlCol="0" anchor="t">
            <a:normAutofit/>
          </a:bodyPr>
          <a:lstStyle/>
          <a:p>
            <a:pPr algn="l" indent="0" marL="0">
              <a:lnSpc>
                <a:spcPct val="150000"/>
              </a:lnSpc>
              <a:buNone/>
            </a:pPr>
            <a:r>
              <a:rPr lang="en-US" sz="975" spc="59" kern="0" dirty="0">
                <a:solidFill>
                  <a:srgbClr val="F7FAFC">
                    <a:alpha val="50000"/>
                  </a:srgbClr>
                </a:solidFill>
                <a:latin typeface="Courier New" pitchFamily="34" charset="0"/>
                <a:ea typeface="Courier New" pitchFamily="34" charset="-122"/>
                <a:cs typeface="Courier New" pitchFamily="34" charset="-120"/>
              </a:rPr>
              <a:t>24</a:t>
            </a:r>
            <a:endParaRPr lang="en-US" sz="975" dirty="0"/>
          </a:p>
        </p:txBody>
      </p:sp>
      <p:sp>
        <p:nvSpPr>
          <p:cNvPr id="10" name="Text 7"/>
          <p:cNvSpPr/>
          <p:nvPr/>
        </p:nvSpPr>
        <p:spPr>
          <a:xfrm>
            <a:off x="1809750" y="4791075"/>
            <a:ext cx="9869615" cy="352425"/>
          </a:xfrm>
          <a:prstGeom prst="rect">
            <a:avLst/>
          </a:prstGeom>
          <a:noFill/>
          <a:ln/>
        </p:spPr>
        <p:txBody>
          <a:bodyPr wrap="square" lIns="25400" tIns="25400" rIns="25400" bIns="25400" rtlCol="0" anchor="t">
            <a:normAutofit/>
          </a:bodyPr>
          <a:lstStyle/>
          <a:p>
            <a:pPr algn="l" indent="0" marL="0">
              <a:lnSpc>
                <a:spcPct val="150000"/>
              </a:lnSpc>
              <a:buNone/>
            </a:pPr>
            <a:r>
              <a:rPr lang="en-US" sz="1650" spc="-25" kern="0" dirty="0">
                <a:solidFill>
                  <a:srgbClr val="F7FAFC"/>
                </a:solidFill>
                <a:latin typeface="Arial" pitchFamily="34" charset="0"/>
                <a:ea typeface="Arial" pitchFamily="34" charset="-122"/>
                <a:cs typeface="Arial" pitchFamily="34" charset="-120"/>
              </a:rPr>
              <a:t>AI-lab disruption risk + mitigation strategy</a:t>
            </a:r>
            <a:endParaRPr lang="en-US" sz="1650" dirty="0"/>
          </a:p>
        </p:txBody>
      </p:sp>
      <p:sp>
        <p:nvSpPr>
          <p:cNvPr id="11" name="Shape 8"/>
          <p:cNvSpPr/>
          <p:nvPr/>
        </p:nvSpPr>
        <p:spPr>
          <a:xfrm>
            <a:off x="914400" y="5238750"/>
            <a:ext cx="10477500" cy="9525"/>
          </a:xfrm>
          <a:prstGeom prst="rect">
            <a:avLst/>
          </a:prstGeom>
          <a:solidFill>
            <a:srgbClr val="F7FAFC">
              <a:alpha val="12000"/>
            </a:srgbClr>
          </a:solidFill>
          <a:ln/>
        </p:spPr>
      </p:sp>
      <p:sp>
        <p:nvSpPr>
          <p:cNvPr id="12" name="Text 9"/>
          <p:cNvSpPr/>
          <p:nvPr/>
        </p:nvSpPr>
        <p:spPr>
          <a:xfrm>
            <a:off x="914400" y="5486400"/>
            <a:ext cx="742950" cy="223838"/>
          </a:xfrm>
          <a:prstGeom prst="rect">
            <a:avLst/>
          </a:prstGeom>
          <a:noFill/>
          <a:ln/>
        </p:spPr>
        <p:txBody>
          <a:bodyPr wrap="square" lIns="25400" tIns="25400" rIns="25400" bIns="25400" rtlCol="0" anchor="t">
            <a:normAutofit/>
          </a:bodyPr>
          <a:lstStyle/>
          <a:p>
            <a:pPr algn="l" indent="0" marL="0">
              <a:lnSpc>
                <a:spcPct val="150000"/>
              </a:lnSpc>
              <a:buNone/>
            </a:pPr>
            <a:r>
              <a:rPr lang="en-US" sz="975" spc="59" kern="0" dirty="0">
                <a:solidFill>
                  <a:srgbClr val="F7FAFC">
                    <a:alpha val="50000"/>
                  </a:srgbClr>
                </a:solidFill>
                <a:latin typeface="Courier New" pitchFamily="34" charset="0"/>
                <a:ea typeface="Courier New" pitchFamily="34" charset="-122"/>
                <a:cs typeface="Courier New" pitchFamily="34" charset="-120"/>
              </a:rPr>
              <a:t>25</a:t>
            </a:r>
            <a:endParaRPr lang="en-US" sz="975" dirty="0"/>
          </a:p>
        </p:txBody>
      </p:sp>
      <p:sp>
        <p:nvSpPr>
          <p:cNvPr id="13" name="Text 10"/>
          <p:cNvSpPr/>
          <p:nvPr/>
        </p:nvSpPr>
        <p:spPr>
          <a:xfrm>
            <a:off x="1809750" y="5381625"/>
            <a:ext cx="9869615" cy="352425"/>
          </a:xfrm>
          <a:prstGeom prst="rect">
            <a:avLst/>
          </a:prstGeom>
          <a:noFill/>
          <a:ln/>
        </p:spPr>
        <p:txBody>
          <a:bodyPr wrap="square" lIns="25400" tIns="25400" rIns="25400" bIns="25400" rtlCol="0" anchor="t">
            <a:normAutofit/>
          </a:bodyPr>
          <a:lstStyle/>
          <a:p>
            <a:pPr algn="l" indent="0" marL="0">
              <a:lnSpc>
                <a:spcPct val="150000"/>
              </a:lnSpc>
              <a:buNone/>
            </a:pPr>
            <a:r>
              <a:rPr lang="en-US" sz="1650" spc="-25" kern="0" dirty="0">
                <a:solidFill>
                  <a:srgbClr val="F7FAFC"/>
                </a:solidFill>
                <a:latin typeface="Arial" pitchFamily="34" charset="0"/>
                <a:ea typeface="Arial" pitchFamily="34" charset="-122"/>
                <a:cs typeface="Arial" pitchFamily="34" charset="-120"/>
              </a:rPr>
              <a:t>Full risks register</a:t>
            </a:r>
            <a:endParaRPr lang="en-US" sz="1650" dirty="0"/>
          </a:p>
        </p:txBody>
      </p:sp>
      <p:sp>
        <p:nvSpPr>
          <p:cNvPr id="14" name="Shape 11"/>
          <p:cNvSpPr/>
          <p:nvPr/>
        </p:nvSpPr>
        <p:spPr>
          <a:xfrm>
            <a:off x="914400" y="5829300"/>
            <a:ext cx="10477500" cy="9525"/>
          </a:xfrm>
          <a:prstGeom prst="rect">
            <a:avLst/>
          </a:prstGeom>
          <a:solidFill>
            <a:srgbClr val="F7FAFC">
              <a:alpha val="12000"/>
            </a:srgbClr>
          </a:solidFill>
          <a:ln/>
        </p:spPr>
      </p:sp>
      <p:sp>
        <p:nvSpPr>
          <p:cNvPr id="15" name="Text 12"/>
          <p:cNvSpPr/>
          <p:nvPr/>
        </p:nvSpPr>
        <p:spPr>
          <a:xfrm>
            <a:off x="914400" y="6076950"/>
            <a:ext cx="742950" cy="223838"/>
          </a:xfrm>
          <a:prstGeom prst="rect">
            <a:avLst/>
          </a:prstGeom>
          <a:noFill/>
          <a:ln/>
        </p:spPr>
        <p:txBody>
          <a:bodyPr wrap="square" lIns="25400" tIns="25400" rIns="25400" bIns="25400" rtlCol="0" anchor="t">
            <a:normAutofit/>
          </a:bodyPr>
          <a:lstStyle/>
          <a:p>
            <a:pPr algn="l" indent="0" marL="0">
              <a:lnSpc>
                <a:spcPct val="150000"/>
              </a:lnSpc>
              <a:buNone/>
            </a:pPr>
            <a:r>
              <a:rPr lang="en-US" sz="975" spc="59" kern="0" dirty="0">
                <a:solidFill>
                  <a:srgbClr val="F7FAFC">
                    <a:alpha val="50000"/>
                  </a:srgbClr>
                </a:solidFill>
                <a:latin typeface="Courier New" pitchFamily="34" charset="0"/>
                <a:ea typeface="Courier New" pitchFamily="34" charset="-122"/>
                <a:cs typeface="Courier New" pitchFamily="34" charset="-120"/>
              </a:rPr>
              <a:t>26</a:t>
            </a:r>
            <a:endParaRPr lang="en-US" sz="975" dirty="0"/>
          </a:p>
        </p:txBody>
      </p:sp>
      <p:sp>
        <p:nvSpPr>
          <p:cNvPr id="16" name="Text 13"/>
          <p:cNvSpPr/>
          <p:nvPr/>
        </p:nvSpPr>
        <p:spPr>
          <a:xfrm>
            <a:off x="1809750" y="5972175"/>
            <a:ext cx="9869615" cy="352425"/>
          </a:xfrm>
          <a:prstGeom prst="rect">
            <a:avLst/>
          </a:prstGeom>
          <a:noFill/>
          <a:ln/>
        </p:spPr>
        <p:txBody>
          <a:bodyPr wrap="square" lIns="25400" tIns="25400" rIns="25400" bIns="25400" rtlCol="0" anchor="t">
            <a:normAutofit/>
          </a:bodyPr>
          <a:lstStyle/>
          <a:p>
            <a:pPr algn="l" indent="0" marL="0">
              <a:lnSpc>
                <a:spcPct val="150000"/>
              </a:lnSpc>
              <a:buNone/>
            </a:pPr>
            <a:r>
              <a:rPr lang="en-US" sz="1650" spc="-25" kern="0" dirty="0">
                <a:solidFill>
                  <a:srgbClr val="F7FAFC"/>
                </a:solidFill>
                <a:latin typeface="Arial" pitchFamily="34" charset="0"/>
                <a:ea typeface="Arial" pitchFamily="34" charset="-122"/>
                <a:cs typeface="Arial" pitchFamily="34" charset="-120"/>
              </a:rPr>
              <a:t>MRR build-up — cohort × ARPU × churn</a:t>
            </a:r>
            <a:endParaRPr lang="en-US" sz="1650" dirty="0"/>
          </a:p>
        </p:txBody>
      </p:sp>
      <p:sp>
        <p:nvSpPr>
          <p:cNvPr id="17" name="Shape 14"/>
          <p:cNvSpPr/>
          <p:nvPr/>
        </p:nvSpPr>
        <p:spPr>
          <a:xfrm>
            <a:off x="914400" y="6419850"/>
            <a:ext cx="10477500" cy="9525"/>
          </a:xfrm>
          <a:prstGeom prst="rect">
            <a:avLst/>
          </a:prstGeom>
          <a:solidFill>
            <a:srgbClr val="F7FAFC">
              <a:alpha val="12000"/>
            </a:srgbClr>
          </a:solidFill>
          <a:ln/>
        </p:spPr>
      </p:sp>
      <p:sp>
        <p:nvSpPr>
          <p:cNvPr id="18" name="Text 15"/>
          <p:cNvSpPr/>
          <p:nvPr/>
        </p:nvSpPr>
        <p:spPr>
          <a:xfrm>
            <a:off x="914400" y="6667500"/>
            <a:ext cx="742950" cy="223838"/>
          </a:xfrm>
          <a:prstGeom prst="rect">
            <a:avLst/>
          </a:prstGeom>
          <a:noFill/>
          <a:ln/>
        </p:spPr>
        <p:txBody>
          <a:bodyPr wrap="square" lIns="25400" tIns="25400" rIns="25400" bIns="25400" rtlCol="0" anchor="t">
            <a:normAutofit/>
          </a:bodyPr>
          <a:lstStyle/>
          <a:p>
            <a:pPr algn="l" indent="0" marL="0">
              <a:lnSpc>
                <a:spcPct val="150000"/>
              </a:lnSpc>
              <a:buNone/>
            </a:pPr>
            <a:r>
              <a:rPr lang="en-US" sz="975" spc="59" kern="0" dirty="0">
                <a:solidFill>
                  <a:srgbClr val="F7FAFC">
                    <a:alpha val="50000"/>
                  </a:srgbClr>
                </a:solidFill>
                <a:latin typeface="Courier New" pitchFamily="34" charset="0"/>
                <a:ea typeface="Courier New" pitchFamily="34" charset="-122"/>
                <a:cs typeface="Courier New" pitchFamily="34" charset="-120"/>
              </a:rPr>
              <a:t>27</a:t>
            </a:r>
            <a:endParaRPr lang="en-US" sz="975" dirty="0"/>
          </a:p>
        </p:txBody>
      </p:sp>
      <p:sp>
        <p:nvSpPr>
          <p:cNvPr id="19" name="Text 16"/>
          <p:cNvSpPr/>
          <p:nvPr/>
        </p:nvSpPr>
        <p:spPr>
          <a:xfrm>
            <a:off x="1809750" y="6562725"/>
            <a:ext cx="9869615" cy="352425"/>
          </a:xfrm>
          <a:prstGeom prst="rect">
            <a:avLst/>
          </a:prstGeom>
          <a:noFill/>
          <a:ln/>
        </p:spPr>
        <p:txBody>
          <a:bodyPr wrap="square" lIns="25400" tIns="25400" rIns="25400" bIns="25400" rtlCol="0" anchor="t">
            <a:normAutofit/>
          </a:bodyPr>
          <a:lstStyle/>
          <a:p>
            <a:pPr algn="l" indent="0" marL="0">
              <a:lnSpc>
                <a:spcPct val="150000"/>
              </a:lnSpc>
              <a:buNone/>
            </a:pPr>
            <a:r>
              <a:rPr lang="en-US" sz="1650" spc="-25" kern="0" dirty="0">
                <a:solidFill>
                  <a:srgbClr val="F7FAFC"/>
                </a:solidFill>
                <a:latin typeface="Arial" pitchFamily="34" charset="0"/>
                <a:ea typeface="Arial" pitchFamily="34" charset="-122"/>
                <a:cs typeface="Arial" pitchFamily="34" charset="-120"/>
              </a:rPr>
              <a:t>Use of funds — detailed allocation</a:t>
            </a:r>
            <a:endParaRPr lang="en-US" sz="1650" dirty="0"/>
          </a:p>
        </p:txBody>
      </p:sp>
      <p:sp>
        <p:nvSpPr>
          <p:cNvPr id="20" name="Shape 17"/>
          <p:cNvSpPr/>
          <p:nvPr/>
        </p:nvSpPr>
        <p:spPr>
          <a:xfrm>
            <a:off x="914400" y="7010400"/>
            <a:ext cx="10477500" cy="9525"/>
          </a:xfrm>
          <a:prstGeom prst="rect">
            <a:avLst/>
          </a:prstGeom>
          <a:solidFill>
            <a:srgbClr val="F7FAFC">
              <a:alpha val="12000"/>
            </a:srgbClr>
          </a:solidFill>
          <a:ln/>
        </p:spPr>
      </p:sp>
      <p:sp>
        <p:nvSpPr>
          <p:cNvPr id="21" name="Text 18"/>
          <p:cNvSpPr/>
          <p:nvPr/>
        </p:nvSpPr>
        <p:spPr>
          <a:xfrm>
            <a:off x="914400" y="7258050"/>
            <a:ext cx="742950" cy="223838"/>
          </a:xfrm>
          <a:prstGeom prst="rect">
            <a:avLst/>
          </a:prstGeom>
          <a:noFill/>
          <a:ln/>
        </p:spPr>
        <p:txBody>
          <a:bodyPr wrap="square" lIns="25400" tIns="25400" rIns="25400" bIns="25400" rtlCol="0" anchor="t">
            <a:normAutofit/>
          </a:bodyPr>
          <a:lstStyle/>
          <a:p>
            <a:pPr algn="l" indent="0" marL="0">
              <a:lnSpc>
                <a:spcPct val="150000"/>
              </a:lnSpc>
              <a:buNone/>
            </a:pPr>
            <a:r>
              <a:rPr lang="en-US" sz="975" spc="59" kern="0" dirty="0">
                <a:solidFill>
                  <a:srgbClr val="F7FAFC">
                    <a:alpha val="50000"/>
                  </a:srgbClr>
                </a:solidFill>
                <a:latin typeface="Courier New" pitchFamily="34" charset="0"/>
                <a:ea typeface="Courier New" pitchFamily="34" charset="-122"/>
                <a:cs typeface="Courier New" pitchFamily="34" charset="-120"/>
              </a:rPr>
              <a:t>28</a:t>
            </a:r>
            <a:endParaRPr lang="en-US" sz="975" dirty="0"/>
          </a:p>
        </p:txBody>
      </p:sp>
      <p:sp>
        <p:nvSpPr>
          <p:cNvPr id="22" name="Text 19"/>
          <p:cNvSpPr/>
          <p:nvPr/>
        </p:nvSpPr>
        <p:spPr>
          <a:xfrm>
            <a:off x="1809750" y="7153275"/>
            <a:ext cx="9869615" cy="352425"/>
          </a:xfrm>
          <a:prstGeom prst="rect">
            <a:avLst/>
          </a:prstGeom>
          <a:noFill/>
          <a:ln/>
        </p:spPr>
        <p:txBody>
          <a:bodyPr wrap="square" lIns="25400" tIns="25400" rIns="25400" bIns="25400" rtlCol="0" anchor="t">
            <a:normAutofit/>
          </a:bodyPr>
          <a:lstStyle/>
          <a:p>
            <a:pPr algn="l" indent="0" marL="0">
              <a:lnSpc>
                <a:spcPct val="150000"/>
              </a:lnSpc>
              <a:buNone/>
            </a:pPr>
            <a:r>
              <a:rPr lang="en-US" sz="1650" spc="-25" kern="0" dirty="0">
                <a:solidFill>
                  <a:srgbClr val="F7FAFC"/>
                </a:solidFill>
                <a:latin typeface="Arial" pitchFamily="34" charset="0"/>
                <a:ea typeface="Arial" pitchFamily="34" charset="-122"/>
                <a:cs typeface="Arial" pitchFamily="34" charset="-120"/>
              </a:rPr>
              <a:t>Organic growth model + moats</a:t>
            </a:r>
            <a:endParaRPr lang="en-US" sz="1650" dirty="0"/>
          </a:p>
        </p:txBody>
      </p:sp>
      <p:sp>
        <p:nvSpPr>
          <p:cNvPr id="23" name="Shape 20"/>
          <p:cNvSpPr/>
          <p:nvPr/>
        </p:nvSpPr>
        <p:spPr>
          <a:xfrm>
            <a:off x="914400" y="7600950"/>
            <a:ext cx="10477500" cy="9525"/>
          </a:xfrm>
          <a:prstGeom prst="rect">
            <a:avLst/>
          </a:prstGeom>
          <a:solidFill>
            <a:srgbClr val="F7FAFC">
              <a:alpha val="12000"/>
            </a:srgbClr>
          </a:solidFill>
          <a:ln/>
        </p:spPr>
      </p:sp>
      <p:sp>
        <p:nvSpPr>
          <p:cNvPr id="24" name="Text 21"/>
          <p:cNvSpPr/>
          <p:nvPr/>
        </p:nvSpPr>
        <p:spPr>
          <a:xfrm>
            <a:off x="914400" y="7848600"/>
            <a:ext cx="742950" cy="223838"/>
          </a:xfrm>
          <a:prstGeom prst="rect">
            <a:avLst/>
          </a:prstGeom>
          <a:noFill/>
          <a:ln/>
        </p:spPr>
        <p:txBody>
          <a:bodyPr wrap="square" lIns="25400" tIns="25400" rIns="25400" bIns="25400" rtlCol="0" anchor="t">
            <a:normAutofit/>
          </a:bodyPr>
          <a:lstStyle/>
          <a:p>
            <a:pPr algn="l" indent="0" marL="0">
              <a:lnSpc>
                <a:spcPct val="150000"/>
              </a:lnSpc>
              <a:buNone/>
            </a:pPr>
            <a:r>
              <a:rPr lang="en-US" sz="975" spc="59" kern="0" dirty="0">
                <a:solidFill>
                  <a:srgbClr val="F7FAFC">
                    <a:alpha val="50000"/>
                  </a:srgbClr>
                </a:solidFill>
                <a:latin typeface="Courier New" pitchFamily="34" charset="0"/>
                <a:ea typeface="Courier New" pitchFamily="34" charset="-122"/>
                <a:cs typeface="Courier New" pitchFamily="34" charset="-120"/>
              </a:rPr>
              <a:t>29</a:t>
            </a:r>
            <a:endParaRPr lang="en-US" sz="975" dirty="0"/>
          </a:p>
        </p:txBody>
      </p:sp>
      <p:sp>
        <p:nvSpPr>
          <p:cNvPr id="25" name="Text 22"/>
          <p:cNvSpPr/>
          <p:nvPr/>
        </p:nvSpPr>
        <p:spPr>
          <a:xfrm>
            <a:off x="1809750" y="7743825"/>
            <a:ext cx="9869615" cy="352425"/>
          </a:xfrm>
          <a:prstGeom prst="rect">
            <a:avLst/>
          </a:prstGeom>
          <a:noFill/>
          <a:ln/>
        </p:spPr>
        <p:txBody>
          <a:bodyPr wrap="square" lIns="25400" tIns="25400" rIns="25400" bIns="25400" rtlCol="0" anchor="t">
            <a:normAutofit/>
          </a:bodyPr>
          <a:lstStyle/>
          <a:p>
            <a:pPr algn="l" indent="0" marL="0">
              <a:lnSpc>
                <a:spcPct val="150000"/>
              </a:lnSpc>
              <a:buNone/>
            </a:pPr>
            <a:r>
              <a:rPr lang="en-US" sz="1650" spc="-25" kern="0" dirty="0">
                <a:solidFill>
                  <a:srgbClr val="F7FAFC"/>
                </a:solidFill>
                <a:latin typeface="Arial" pitchFamily="34" charset="0"/>
                <a:ea typeface="Arial" pitchFamily="34" charset="-122"/>
                <a:cs typeface="Arial" pitchFamily="34" charset="-120"/>
              </a:rPr>
              <a:t>Sandbox + Launch capacity management</a:t>
            </a:r>
            <a:endParaRPr lang="en-US" sz="1650" dirty="0"/>
          </a:p>
        </p:txBody>
      </p:sp>
      <p:sp>
        <p:nvSpPr>
          <p:cNvPr id="26" name="Shape 23"/>
          <p:cNvSpPr/>
          <p:nvPr/>
        </p:nvSpPr>
        <p:spPr>
          <a:xfrm>
            <a:off x="914400" y="8191500"/>
            <a:ext cx="10477500" cy="9525"/>
          </a:xfrm>
          <a:prstGeom prst="rect">
            <a:avLst/>
          </a:prstGeom>
          <a:solidFill>
            <a:srgbClr val="F7FAFC">
              <a:alpha val="12000"/>
            </a:srgbClr>
          </a:solidFill>
          <a:ln/>
        </p:spPr>
      </p:sp>
      <p:sp>
        <p:nvSpPr>
          <p:cNvPr id="27" name="Text 24"/>
          <p:cNvSpPr/>
          <p:nvPr/>
        </p:nvSpPr>
        <p:spPr>
          <a:xfrm>
            <a:off x="914400" y="8439150"/>
            <a:ext cx="742950" cy="223838"/>
          </a:xfrm>
          <a:prstGeom prst="rect">
            <a:avLst/>
          </a:prstGeom>
          <a:noFill/>
          <a:ln/>
        </p:spPr>
        <p:txBody>
          <a:bodyPr wrap="square" lIns="25400" tIns="25400" rIns="25400" bIns="25400" rtlCol="0" anchor="t">
            <a:normAutofit/>
          </a:bodyPr>
          <a:lstStyle/>
          <a:p>
            <a:pPr algn="l" indent="0" marL="0">
              <a:lnSpc>
                <a:spcPct val="150000"/>
              </a:lnSpc>
              <a:buNone/>
            </a:pPr>
            <a:r>
              <a:rPr lang="en-US" sz="975" spc="59" kern="0" dirty="0">
                <a:solidFill>
                  <a:srgbClr val="F7FAFC">
                    <a:alpha val="50000"/>
                  </a:srgbClr>
                </a:solidFill>
                <a:latin typeface="Courier New" pitchFamily="34" charset="0"/>
                <a:ea typeface="Courier New" pitchFamily="34" charset="-122"/>
                <a:cs typeface="Courier New" pitchFamily="34" charset="-120"/>
              </a:rPr>
              <a:t>30</a:t>
            </a:r>
            <a:endParaRPr lang="en-US" sz="975" dirty="0"/>
          </a:p>
        </p:txBody>
      </p:sp>
      <p:sp>
        <p:nvSpPr>
          <p:cNvPr id="28" name="Text 25"/>
          <p:cNvSpPr/>
          <p:nvPr/>
        </p:nvSpPr>
        <p:spPr>
          <a:xfrm>
            <a:off x="1809750" y="8334375"/>
            <a:ext cx="9869615" cy="352425"/>
          </a:xfrm>
          <a:prstGeom prst="rect">
            <a:avLst/>
          </a:prstGeom>
          <a:noFill/>
          <a:ln/>
        </p:spPr>
        <p:txBody>
          <a:bodyPr wrap="square" lIns="25400" tIns="25400" rIns="25400" bIns="25400" rtlCol="0" anchor="t">
            <a:normAutofit/>
          </a:bodyPr>
          <a:lstStyle/>
          <a:p>
            <a:pPr algn="l" indent="0" marL="0">
              <a:lnSpc>
                <a:spcPct val="150000"/>
              </a:lnSpc>
              <a:buNone/>
            </a:pPr>
            <a:r>
              <a:rPr lang="en-US" sz="1650" spc="-25" kern="0" dirty="0">
                <a:solidFill>
                  <a:srgbClr val="F7FAFC"/>
                </a:solidFill>
                <a:latin typeface="Arial" pitchFamily="34" charset="0"/>
                <a:ea typeface="Arial" pitchFamily="34" charset="-122"/>
                <a:cs typeface="Arial" pitchFamily="34" charset="-120"/>
              </a:rPr>
              <a:t>Ethos — trust, community, automation</a:t>
            </a:r>
            <a:endParaRPr lang="en-US" sz="1650" dirty="0"/>
          </a:p>
        </p:txBody>
      </p:sp>
      <p:sp>
        <p:nvSpPr>
          <p:cNvPr id="29" name="Shape 26"/>
          <p:cNvSpPr/>
          <p:nvPr/>
        </p:nvSpPr>
        <p:spPr>
          <a:xfrm>
            <a:off x="914400" y="8782050"/>
            <a:ext cx="10477500" cy="9525"/>
          </a:xfrm>
          <a:prstGeom prst="rect">
            <a:avLst/>
          </a:prstGeom>
          <a:solidFill>
            <a:srgbClr val="F7FAFC">
              <a:alpha val="12000"/>
            </a:srgbClr>
          </a:solidFill>
          <a:ln/>
        </p:spPr>
      </p:sp>
      <p:sp>
        <p:nvSpPr>
          <p:cNvPr id="30" name="Text 27"/>
          <p:cNvSpPr/>
          <p:nvPr/>
        </p:nvSpPr>
        <p:spPr>
          <a:xfrm>
            <a:off x="914400" y="9029700"/>
            <a:ext cx="742950" cy="223838"/>
          </a:xfrm>
          <a:prstGeom prst="rect">
            <a:avLst/>
          </a:prstGeom>
          <a:noFill/>
          <a:ln/>
        </p:spPr>
        <p:txBody>
          <a:bodyPr wrap="square" lIns="25400" tIns="25400" rIns="25400" bIns="25400" rtlCol="0" anchor="t">
            <a:normAutofit/>
          </a:bodyPr>
          <a:lstStyle/>
          <a:p>
            <a:pPr algn="l" indent="0" marL="0">
              <a:lnSpc>
                <a:spcPct val="150000"/>
              </a:lnSpc>
              <a:buNone/>
            </a:pPr>
            <a:r>
              <a:rPr lang="en-US" sz="975" spc="59" kern="0" dirty="0">
                <a:solidFill>
                  <a:srgbClr val="F7FAFC">
                    <a:alpha val="50000"/>
                  </a:srgbClr>
                </a:solidFill>
                <a:latin typeface="Courier New" pitchFamily="34" charset="0"/>
                <a:ea typeface="Courier New" pitchFamily="34" charset="-122"/>
                <a:cs typeface="Courier New" pitchFamily="34" charset="-120"/>
              </a:rPr>
              <a:t>31</a:t>
            </a:r>
            <a:endParaRPr lang="en-US" sz="975" dirty="0"/>
          </a:p>
        </p:txBody>
      </p:sp>
      <p:sp>
        <p:nvSpPr>
          <p:cNvPr id="31" name="Text 28"/>
          <p:cNvSpPr/>
          <p:nvPr/>
        </p:nvSpPr>
        <p:spPr>
          <a:xfrm>
            <a:off x="1809750" y="8924925"/>
            <a:ext cx="9869615" cy="352425"/>
          </a:xfrm>
          <a:prstGeom prst="rect">
            <a:avLst/>
          </a:prstGeom>
          <a:noFill/>
          <a:ln/>
        </p:spPr>
        <p:txBody>
          <a:bodyPr wrap="square" lIns="25400" tIns="25400" rIns="25400" bIns="25400" rtlCol="0" anchor="t">
            <a:normAutofit/>
          </a:bodyPr>
          <a:lstStyle/>
          <a:p>
            <a:pPr algn="l" indent="0" marL="0">
              <a:lnSpc>
                <a:spcPct val="150000"/>
              </a:lnSpc>
              <a:buNone/>
            </a:pPr>
            <a:r>
              <a:rPr lang="en-US" sz="1650" spc="-25" kern="0" dirty="0">
                <a:solidFill>
                  <a:srgbClr val="F7FAFC"/>
                </a:solidFill>
                <a:latin typeface="Arial" pitchFamily="34" charset="0"/>
                <a:ea typeface="Arial" pitchFamily="34" charset="-122"/>
                <a:cs typeface="Arial" pitchFamily="34" charset="-120"/>
              </a:rPr>
              <a:t>Strategic offerings — prototype → product → business</a:t>
            </a:r>
            <a:endParaRPr lang="en-US" sz="16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5B47F0">
              <a:alpha val="4000"/>
            </a:srgbClr>
          </a:solidFill>
          <a:ln/>
        </p:spPr>
      </p:sp>
      <p:sp>
        <p:nvSpPr>
          <p:cNvPr id="3" name="Shape 1"/>
          <p:cNvSpPr/>
          <p:nvPr/>
        </p:nvSpPr>
        <p:spPr>
          <a:xfrm>
            <a:off x="762000" y="1047750"/>
            <a:ext cx="16764000" cy="9525"/>
          </a:xfrm>
          <a:prstGeom prst="rect">
            <a:avLst/>
          </a:prstGeom>
          <a:solidFill>
            <a:srgbClr val="DDE5EC"/>
          </a:solidFill>
          <a:ln/>
        </p:spPr>
      </p:sp>
      <p:pic>
        <p:nvPicPr>
          <p:cNvPr id="4" name="Image 0" descr="preencoded.png">    </p:cNvPr>
          <p:cNvPicPr>
            <a:picLocks noChangeAspect="1"/>
          </p:cNvPicPr>
          <p:nvPr/>
        </p:nvPicPr>
        <p:blipFill>
          <a:blip r:embed="rId1"/>
          <a:stretch>
            <a:fillRect/>
          </a:stretch>
        </p:blipFill>
        <p:spPr>
          <a:xfrm>
            <a:off x="762000" y="609600"/>
            <a:ext cx="209550" cy="209550"/>
          </a:xfrm>
          <a:prstGeom prst="rect">
            <a:avLst/>
          </a:prstGeom>
        </p:spPr>
      </p:pic>
      <p:sp>
        <p:nvSpPr>
          <p:cNvPr id="5" name="Text 2"/>
          <p:cNvSpPr/>
          <p:nvPr/>
        </p:nvSpPr>
        <p:spPr>
          <a:xfrm>
            <a:off x="1066800" y="571500"/>
            <a:ext cx="745108"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spc="-37" kern="0" dirty="0">
                <a:solidFill>
                  <a:srgbClr val="0F1419"/>
                </a:solidFill>
                <a:latin typeface="Arial" pitchFamily="34" charset="0"/>
                <a:ea typeface="Arial" pitchFamily="34" charset="-122"/>
                <a:cs typeface="Arial" pitchFamily="34" charset="-120"/>
              </a:rPr>
              <a:t>hatchik</a:t>
            </a:r>
            <a:endParaRPr lang="en-US" sz="1500" dirty="0"/>
          </a:p>
        </p:txBody>
      </p:sp>
      <p:sp>
        <p:nvSpPr>
          <p:cNvPr id="6" name="Text 3"/>
          <p:cNvSpPr/>
          <p:nvPr/>
        </p:nvSpPr>
        <p:spPr>
          <a:xfrm>
            <a:off x="13784014" y="600521"/>
            <a:ext cx="3854245" cy="265733"/>
          </a:xfrm>
          <a:prstGeom prst="rect">
            <a:avLst/>
          </a:prstGeom>
          <a:noFill/>
          <a:ln/>
        </p:spPr>
        <p:txBody>
          <a:bodyPr wrap="square" lIns="25400" tIns="25400" rIns="25400" bIns="25400" rtlCol="0" anchor="t">
            <a:normAutofit/>
          </a:bodyPr>
          <a:lstStyle/>
          <a:p>
            <a:pPr algn="l" indent="0" marL="0">
              <a:lnSpc>
                <a:spcPct val="140000"/>
              </a:lnSpc>
              <a:buNone/>
            </a:pPr>
            <a:r>
              <a:rPr lang="en-US" sz="1200" spc="120" kern="0" dirty="0">
                <a:solidFill>
                  <a:srgbClr val="0F1419"/>
                </a:solidFill>
                <a:latin typeface="Courier New" pitchFamily="34" charset="0"/>
                <a:ea typeface="Courier New" pitchFamily="34" charset="-122"/>
                <a:cs typeface="Courier New" pitchFamily="34" charset="-120"/>
              </a:rPr>
              <a:t>23 </a:t>
            </a:r>
            <a:pPr algn="l" indent="0" marL="0">
              <a:lnSpc>
                <a:spcPct val="140000"/>
              </a:lnSpc>
              <a:buNone/>
            </a:pPr>
            <a:r>
              <a:rPr lang="en-US" sz="1200" spc="120" kern="0" dirty="0">
                <a:solidFill>
                  <a:srgbClr val="5B47F0"/>
                </a:solidFill>
                <a:latin typeface="Courier New" pitchFamily="34" charset="0"/>
                <a:ea typeface="Courier New" pitchFamily="34" charset="-122"/>
                <a:cs typeface="Courier New" pitchFamily="34" charset="-120"/>
              </a:rPr>
              <a:t>· </a:t>
            </a:r>
            <a:pPr algn="l" indent="0" marL="0">
              <a:lnSpc>
                <a:spcPct val="140000"/>
              </a:lnSpc>
              <a:buNone/>
            </a:pPr>
            <a:r>
              <a:rPr lang="en-US" sz="1200" spc="120" kern="0" dirty="0">
                <a:solidFill>
                  <a:srgbClr val="6E7785"/>
                </a:solidFill>
                <a:latin typeface="Courier New" pitchFamily="34" charset="0"/>
                <a:ea typeface="Courier New" pitchFamily="34" charset="-122"/>
                <a:cs typeface="Courier New" pitchFamily="34" charset="-120"/>
              </a:rPr>
              <a:t>APPENDIX · COMPETITOR DEEP-DIVE</a:t>
            </a:r>
            <a:endParaRPr lang="en-US" sz="1200" dirty="0"/>
          </a:p>
        </p:txBody>
      </p:sp>
      <p:sp>
        <p:nvSpPr>
          <p:cNvPr id="7" name="Text 4"/>
          <p:cNvSpPr/>
          <p:nvPr/>
        </p:nvSpPr>
        <p:spPr>
          <a:xfrm>
            <a:off x="762000" y="1400175"/>
            <a:ext cx="15893415" cy="533400"/>
          </a:xfrm>
          <a:prstGeom prst="rect">
            <a:avLst/>
          </a:prstGeom>
          <a:noFill/>
          <a:ln/>
        </p:spPr>
        <p:txBody>
          <a:bodyPr wrap="square" lIns="25400" tIns="25400" rIns="25400" bIns="25400" rtlCol="0" anchor="t">
            <a:normAutofit/>
          </a:bodyPr>
          <a:lstStyle/>
          <a:p>
            <a:pPr algn="l" indent="0" marL="0">
              <a:lnSpc>
                <a:spcPct val="100000"/>
              </a:lnSpc>
              <a:buNone/>
            </a:pPr>
            <a:r>
              <a:rPr lang="en-US" sz="3900" b="1" spc="-156" kern="0" dirty="0">
                <a:solidFill>
                  <a:srgbClr val="0F1419"/>
                </a:solidFill>
                <a:latin typeface="Arial" pitchFamily="34" charset="0"/>
                <a:ea typeface="Arial" pitchFamily="34" charset="-122"/>
                <a:cs typeface="Arial" pitchFamily="34" charset="-120"/>
              </a:rPr>
              <a:t>Two-layer landscape. </a:t>
            </a:r>
            <a:pPr algn="l" indent="0" marL="0">
              <a:lnSpc>
                <a:spcPct val="100000"/>
              </a:lnSpc>
              <a:buNone/>
            </a:pPr>
            <a:r>
              <a:rPr lang="en-US" sz="3900" b="1" spc="-156" kern="0" dirty="0">
                <a:solidFill>
                  <a:srgbClr val="5B47F0"/>
                </a:solidFill>
                <a:latin typeface="Arial" pitchFamily="34" charset="0"/>
                <a:ea typeface="Arial" pitchFamily="34" charset="-122"/>
                <a:cs typeface="Arial" pitchFamily="34" charset="-120"/>
              </a:rPr>
              <a:t>Nobody owns the seam Hatchik sits on.</a:t>
            </a:r>
            <a:endParaRPr lang="en-US" sz="3900" dirty="0"/>
          </a:p>
        </p:txBody>
      </p:sp>
      <p:sp>
        <p:nvSpPr>
          <p:cNvPr id="8" name="Shape 5"/>
          <p:cNvSpPr/>
          <p:nvPr/>
        </p:nvSpPr>
        <p:spPr>
          <a:xfrm>
            <a:off x="762000" y="2200275"/>
            <a:ext cx="16764000" cy="5876925"/>
          </a:xfrm>
          <a:prstGeom prst="roundRect">
            <a:avLst>
              <a:gd name="adj" fmla="val 2269"/>
            </a:avLst>
          </a:prstGeom>
          <a:solidFill>
            <a:srgbClr val="FFFFFF"/>
          </a:solidFill>
          <a:ln w="14288">
            <a:solidFill>
              <a:srgbClr val="DDE5EC"/>
            </a:solidFill>
            <a:prstDash val="solid"/>
          </a:ln>
          <a:effectLst>
            <a:outerShdw sx="100000" sy="100000" kx="0" ky="0" algn="bl" rotWithShape="0" blurRad="28575" dist="9525" dir="5400000">
              <a:srgbClr val="0F1419">
                <a:alpha val="4000"/>
              </a:srgbClr>
            </a:outerShdw>
          </a:effectLst>
        </p:spPr>
      </p:sp>
      <p:sp>
        <p:nvSpPr>
          <p:cNvPr id="9" name="Shape 6"/>
          <p:cNvSpPr/>
          <p:nvPr/>
        </p:nvSpPr>
        <p:spPr>
          <a:xfrm>
            <a:off x="790575" y="2214563"/>
            <a:ext cx="2702496" cy="457200"/>
          </a:xfrm>
          <a:prstGeom prst="rect">
            <a:avLst/>
          </a:prstGeom>
          <a:solidFill>
            <a:srgbClr val="EEF2F7"/>
          </a:solidFill>
          <a:ln/>
        </p:spPr>
      </p:sp>
      <p:sp>
        <p:nvSpPr>
          <p:cNvPr id="10" name="Shape 7"/>
          <p:cNvSpPr/>
          <p:nvPr/>
        </p:nvSpPr>
        <p:spPr>
          <a:xfrm>
            <a:off x="790575" y="2662238"/>
            <a:ext cx="2702496" cy="9525"/>
          </a:xfrm>
          <a:prstGeom prst="rect">
            <a:avLst/>
          </a:prstGeom>
          <a:solidFill>
            <a:srgbClr val="DDE5EC"/>
          </a:solidFill>
          <a:ln/>
        </p:spPr>
      </p:sp>
      <p:sp>
        <p:nvSpPr>
          <p:cNvPr id="11" name="Shape 8"/>
          <p:cNvSpPr/>
          <p:nvPr/>
        </p:nvSpPr>
        <p:spPr>
          <a:xfrm>
            <a:off x="3493071" y="2214563"/>
            <a:ext cx="1373386" cy="457200"/>
          </a:xfrm>
          <a:prstGeom prst="rect">
            <a:avLst/>
          </a:prstGeom>
          <a:solidFill>
            <a:srgbClr val="EEF2F7"/>
          </a:solidFill>
          <a:ln/>
        </p:spPr>
      </p:sp>
      <p:sp>
        <p:nvSpPr>
          <p:cNvPr id="12" name="Shape 9"/>
          <p:cNvSpPr/>
          <p:nvPr/>
        </p:nvSpPr>
        <p:spPr>
          <a:xfrm>
            <a:off x="3493071" y="2662238"/>
            <a:ext cx="1373386" cy="9525"/>
          </a:xfrm>
          <a:prstGeom prst="rect">
            <a:avLst/>
          </a:prstGeom>
          <a:solidFill>
            <a:srgbClr val="DDE5EC"/>
          </a:solidFill>
          <a:ln/>
        </p:spPr>
      </p:sp>
      <p:sp>
        <p:nvSpPr>
          <p:cNvPr id="13" name="Text 10"/>
          <p:cNvSpPr/>
          <p:nvPr/>
        </p:nvSpPr>
        <p:spPr>
          <a:xfrm>
            <a:off x="3607371" y="2347913"/>
            <a:ext cx="1144786" cy="219075"/>
          </a:xfrm>
          <a:prstGeom prst="rect">
            <a:avLst/>
          </a:prstGeom>
          <a:noFill/>
          <a:ln/>
        </p:spPr>
        <p:txBody>
          <a:bodyPr wrap="square" lIns="25400" tIns="25400" rIns="25400" bIns="25400" rtlCol="0" anchor="ctr">
            <a:normAutofit/>
          </a:bodyPr>
          <a:lstStyle/>
          <a:p>
            <a:pPr algn="ctr" indent="0" marL="0">
              <a:lnSpc>
                <a:spcPct val="150000"/>
              </a:lnSpc>
              <a:buNone/>
            </a:pPr>
            <a:r>
              <a:rPr lang="en-US" sz="975" spc="98" kern="0" dirty="0">
                <a:solidFill>
                  <a:srgbClr val="6E7785"/>
                </a:solidFill>
                <a:latin typeface="Courier New" pitchFamily="34" charset="0"/>
                <a:ea typeface="Courier New" pitchFamily="34" charset="-122"/>
                <a:cs typeface="Courier New" pitchFamily="34" charset="-120"/>
              </a:rPr>
              <a:t>BYO AI</a:t>
            </a:r>
            <a:endParaRPr lang="en-US" sz="975" dirty="0"/>
          </a:p>
        </p:txBody>
      </p:sp>
      <p:sp>
        <p:nvSpPr>
          <p:cNvPr id="14" name="Shape 11"/>
          <p:cNvSpPr/>
          <p:nvPr/>
        </p:nvSpPr>
        <p:spPr>
          <a:xfrm>
            <a:off x="4866456" y="2214563"/>
            <a:ext cx="1662113" cy="457200"/>
          </a:xfrm>
          <a:prstGeom prst="rect">
            <a:avLst/>
          </a:prstGeom>
          <a:solidFill>
            <a:srgbClr val="EEF2F7"/>
          </a:solidFill>
          <a:ln/>
        </p:spPr>
      </p:sp>
      <p:sp>
        <p:nvSpPr>
          <p:cNvPr id="15" name="Shape 12"/>
          <p:cNvSpPr/>
          <p:nvPr/>
        </p:nvSpPr>
        <p:spPr>
          <a:xfrm>
            <a:off x="4866456" y="2662238"/>
            <a:ext cx="1662113" cy="9525"/>
          </a:xfrm>
          <a:prstGeom prst="rect">
            <a:avLst/>
          </a:prstGeom>
          <a:solidFill>
            <a:srgbClr val="DDE5EC"/>
          </a:solidFill>
          <a:ln/>
        </p:spPr>
      </p:sp>
      <p:sp>
        <p:nvSpPr>
          <p:cNvPr id="16" name="Text 13"/>
          <p:cNvSpPr/>
          <p:nvPr/>
        </p:nvSpPr>
        <p:spPr>
          <a:xfrm>
            <a:off x="4980756" y="2347913"/>
            <a:ext cx="1433513" cy="219075"/>
          </a:xfrm>
          <a:prstGeom prst="rect">
            <a:avLst/>
          </a:prstGeom>
          <a:noFill/>
          <a:ln/>
        </p:spPr>
        <p:txBody>
          <a:bodyPr wrap="square" lIns="25400" tIns="25400" rIns="25400" bIns="25400" rtlCol="0" anchor="ctr">
            <a:normAutofit/>
          </a:bodyPr>
          <a:lstStyle/>
          <a:p>
            <a:pPr algn="ctr" indent="0" marL="0">
              <a:lnSpc>
                <a:spcPct val="150000"/>
              </a:lnSpc>
              <a:buNone/>
            </a:pPr>
            <a:r>
              <a:rPr lang="en-US" sz="975" spc="98" kern="0" dirty="0">
                <a:solidFill>
                  <a:srgbClr val="6E7785"/>
                </a:solidFill>
                <a:latin typeface="Courier New" pitchFamily="34" charset="0"/>
                <a:ea typeface="Courier New" pitchFamily="34" charset="-122"/>
                <a:cs typeface="Courier New" pitchFamily="34" charset="-120"/>
              </a:rPr>
              <a:t>PLUMBING</a:t>
            </a:r>
            <a:endParaRPr lang="en-US" sz="975" dirty="0"/>
          </a:p>
        </p:txBody>
      </p:sp>
      <p:sp>
        <p:nvSpPr>
          <p:cNvPr id="17" name="Shape 14"/>
          <p:cNvSpPr/>
          <p:nvPr/>
        </p:nvSpPr>
        <p:spPr>
          <a:xfrm>
            <a:off x="6528569" y="2214563"/>
            <a:ext cx="1662113" cy="457200"/>
          </a:xfrm>
          <a:prstGeom prst="rect">
            <a:avLst/>
          </a:prstGeom>
          <a:solidFill>
            <a:srgbClr val="EEF2F7"/>
          </a:solidFill>
          <a:ln/>
        </p:spPr>
      </p:sp>
      <p:sp>
        <p:nvSpPr>
          <p:cNvPr id="18" name="Shape 15"/>
          <p:cNvSpPr/>
          <p:nvPr/>
        </p:nvSpPr>
        <p:spPr>
          <a:xfrm>
            <a:off x="6528569" y="2662238"/>
            <a:ext cx="1662113" cy="9525"/>
          </a:xfrm>
          <a:prstGeom prst="rect">
            <a:avLst/>
          </a:prstGeom>
          <a:solidFill>
            <a:srgbClr val="DDE5EC"/>
          </a:solidFill>
          <a:ln/>
        </p:spPr>
      </p:sp>
      <p:sp>
        <p:nvSpPr>
          <p:cNvPr id="19" name="Text 16"/>
          <p:cNvSpPr/>
          <p:nvPr/>
        </p:nvSpPr>
        <p:spPr>
          <a:xfrm>
            <a:off x="6642869" y="2347913"/>
            <a:ext cx="1433513" cy="219075"/>
          </a:xfrm>
          <a:prstGeom prst="rect">
            <a:avLst/>
          </a:prstGeom>
          <a:noFill/>
          <a:ln/>
        </p:spPr>
        <p:txBody>
          <a:bodyPr wrap="square" lIns="25400" tIns="25400" rIns="25400" bIns="25400" rtlCol="0" anchor="ctr">
            <a:normAutofit/>
          </a:bodyPr>
          <a:lstStyle/>
          <a:p>
            <a:pPr algn="ctr" indent="0" marL="0">
              <a:lnSpc>
                <a:spcPct val="150000"/>
              </a:lnSpc>
              <a:buNone/>
            </a:pPr>
            <a:r>
              <a:rPr lang="en-US" sz="975" spc="98" kern="0" dirty="0">
                <a:solidFill>
                  <a:srgbClr val="6E7785"/>
                </a:solidFill>
                <a:latin typeface="Courier New" pitchFamily="34" charset="0"/>
                <a:ea typeface="Courier New" pitchFamily="34" charset="-122"/>
                <a:cs typeface="Courier New" pitchFamily="34" charset="-120"/>
              </a:rPr>
              <a:t>OWN CODE</a:t>
            </a:r>
            <a:endParaRPr lang="en-US" sz="975" dirty="0"/>
          </a:p>
        </p:txBody>
      </p:sp>
      <p:sp>
        <p:nvSpPr>
          <p:cNvPr id="20" name="Shape 17"/>
          <p:cNvSpPr/>
          <p:nvPr/>
        </p:nvSpPr>
        <p:spPr>
          <a:xfrm>
            <a:off x="8190681" y="2214563"/>
            <a:ext cx="1806476" cy="457200"/>
          </a:xfrm>
          <a:prstGeom prst="rect">
            <a:avLst/>
          </a:prstGeom>
          <a:solidFill>
            <a:srgbClr val="EEF2F7"/>
          </a:solidFill>
          <a:ln/>
        </p:spPr>
      </p:sp>
      <p:sp>
        <p:nvSpPr>
          <p:cNvPr id="21" name="Shape 18"/>
          <p:cNvSpPr/>
          <p:nvPr/>
        </p:nvSpPr>
        <p:spPr>
          <a:xfrm>
            <a:off x="8190681" y="2662238"/>
            <a:ext cx="1806476" cy="9525"/>
          </a:xfrm>
          <a:prstGeom prst="rect">
            <a:avLst/>
          </a:prstGeom>
          <a:solidFill>
            <a:srgbClr val="DDE5EC"/>
          </a:solidFill>
          <a:ln/>
        </p:spPr>
      </p:sp>
      <p:sp>
        <p:nvSpPr>
          <p:cNvPr id="22" name="Text 19"/>
          <p:cNvSpPr/>
          <p:nvPr/>
        </p:nvSpPr>
        <p:spPr>
          <a:xfrm>
            <a:off x="8304981" y="2347913"/>
            <a:ext cx="1577876" cy="219075"/>
          </a:xfrm>
          <a:prstGeom prst="rect">
            <a:avLst/>
          </a:prstGeom>
          <a:noFill/>
          <a:ln/>
        </p:spPr>
        <p:txBody>
          <a:bodyPr wrap="square" lIns="25400" tIns="25400" rIns="25400" bIns="25400" rtlCol="0" anchor="ctr">
            <a:normAutofit/>
          </a:bodyPr>
          <a:lstStyle/>
          <a:p>
            <a:pPr algn="ctr" indent="0" marL="0">
              <a:lnSpc>
                <a:spcPct val="150000"/>
              </a:lnSpc>
              <a:buNone/>
            </a:pPr>
            <a:r>
              <a:rPr lang="en-US" sz="975" spc="98" kern="0" dirty="0">
                <a:solidFill>
                  <a:srgbClr val="6E7785"/>
                </a:solidFill>
                <a:latin typeface="Courier New" pitchFamily="34" charset="0"/>
                <a:ea typeface="Courier New" pitchFamily="34" charset="-122"/>
                <a:cs typeface="Courier New" pitchFamily="34" charset="-120"/>
              </a:rPr>
              <a:t>EXIT COST</a:t>
            </a:r>
            <a:endParaRPr lang="en-US" sz="975" dirty="0"/>
          </a:p>
        </p:txBody>
      </p:sp>
      <p:sp>
        <p:nvSpPr>
          <p:cNvPr id="23" name="Shape 20"/>
          <p:cNvSpPr/>
          <p:nvPr/>
        </p:nvSpPr>
        <p:spPr>
          <a:xfrm>
            <a:off x="9997157" y="2214563"/>
            <a:ext cx="2095054" cy="457200"/>
          </a:xfrm>
          <a:prstGeom prst="rect">
            <a:avLst/>
          </a:prstGeom>
          <a:solidFill>
            <a:srgbClr val="EEF2F7"/>
          </a:solidFill>
          <a:ln/>
        </p:spPr>
      </p:sp>
      <p:sp>
        <p:nvSpPr>
          <p:cNvPr id="24" name="Shape 21"/>
          <p:cNvSpPr/>
          <p:nvPr/>
        </p:nvSpPr>
        <p:spPr>
          <a:xfrm>
            <a:off x="9997157" y="2662238"/>
            <a:ext cx="2095054" cy="9525"/>
          </a:xfrm>
          <a:prstGeom prst="rect">
            <a:avLst/>
          </a:prstGeom>
          <a:solidFill>
            <a:srgbClr val="DDE5EC"/>
          </a:solidFill>
          <a:ln/>
        </p:spPr>
      </p:sp>
      <p:sp>
        <p:nvSpPr>
          <p:cNvPr id="25" name="Text 22"/>
          <p:cNvSpPr/>
          <p:nvPr/>
        </p:nvSpPr>
        <p:spPr>
          <a:xfrm>
            <a:off x="10111457" y="2347913"/>
            <a:ext cx="1866454" cy="219075"/>
          </a:xfrm>
          <a:prstGeom prst="rect">
            <a:avLst/>
          </a:prstGeom>
          <a:noFill/>
          <a:ln/>
        </p:spPr>
        <p:txBody>
          <a:bodyPr wrap="square" lIns="25400" tIns="25400" rIns="25400" bIns="25400" rtlCol="0" anchor="ctr">
            <a:normAutofit/>
          </a:bodyPr>
          <a:lstStyle/>
          <a:p>
            <a:pPr algn="ctr" indent="0" marL="0">
              <a:lnSpc>
                <a:spcPct val="150000"/>
              </a:lnSpc>
              <a:buNone/>
            </a:pPr>
            <a:r>
              <a:rPr lang="en-US" sz="975" spc="98" kern="0" dirty="0">
                <a:solidFill>
                  <a:srgbClr val="6E7785"/>
                </a:solidFill>
                <a:latin typeface="Courier New" pitchFamily="34" charset="0"/>
                <a:ea typeface="Courier New" pitchFamily="34" charset="-122"/>
                <a:cs typeface="Courier New" pitchFamily="34" charset="-120"/>
              </a:rPr>
              <a:t>PROVISIONED</a:t>
            </a:r>
            <a:endParaRPr lang="en-US" sz="975" dirty="0"/>
          </a:p>
        </p:txBody>
      </p:sp>
      <p:sp>
        <p:nvSpPr>
          <p:cNvPr id="26" name="Shape 23"/>
          <p:cNvSpPr/>
          <p:nvPr/>
        </p:nvSpPr>
        <p:spPr>
          <a:xfrm>
            <a:off x="12092211" y="2214563"/>
            <a:ext cx="1373386" cy="457200"/>
          </a:xfrm>
          <a:prstGeom prst="rect">
            <a:avLst/>
          </a:prstGeom>
          <a:solidFill>
            <a:srgbClr val="EEF2F7"/>
          </a:solidFill>
          <a:ln/>
        </p:spPr>
      </p:sp>
      <p:sp>
        <p:nvSpPr>
          <p:cNvPr id="27" name="Shape 24"/>
          <p:cNvSpPr/>
          <p:nvPr/>
        </p:nvSpPr>
        <p:spPr>
          <a:xfrm>
            <a:off x="12092211" y="2662238"/>
            <a:ext cx="1373386" cy="9525"/>
          </a:xfrm>
          <a:prstGeom prst="rect">
            <a:avLst/>
          </a:prstGeom>
          <a:solidFill>
            <a:srgbClr val="DDE5EC"/>
          </a:solidFill>
          <a:ln/>
        </p:spPr>
      </p:sp>
      <p:sp>
        <p:nvSpPr>
          <p:cNvPr id="28" name="Text 25"/>
          <p:cNvSpPr/>
          <p:nvPr/>
        </p:nvSpPr>
        <p:spPr>
          <a:xfrm>
            <a:off x="12206511" y="2347913"/>
            <a:ext cx="1144786" cy="219075"/>
          </a:xfrm>
          <a:prstGeom prst="rect">
            <a:avLst/>
          </a:prstGeom>
          <a:noFill/>
          <a:ln/>
        </p:spPr>
        <p:txBody>
          <a:bodyPr wrap="square" lIns="25400" tIns="25400" rIns="25400" bIns="25400" rtlCol="0" anchor="ctr">
            <a:normAutofit/>
          </a:bodyPr>
          <a:lstStyle/>
          <a:p>
            <a:pPr algn="ctr" indent="0" marL="0">
              <a:lnSpc>
                <a:spcPct val="150000"/>
              </a:lnSpc>
              <a:buNone/>
            </a:pPr>
            <a:r>
              <a:rPr lang="en-US" sz="975" spc="98" kern="0" dirty="0">
                <a:solidFill>
                  <a:srgbClr val="6E7785"/>
                </a:solidFill>
                <a:latin typeface="Courier New" pitchFamily="34" charset="0"/>
                <a:ea typeface="Courier New" pitchFamily="34" charset="-122"/>
                <a:cs typeface="Courier New" pitchFamily="34" charset="-120"/>
              </a:rPr>
              <a:t>MOBILE</a:t>
            </a:r>
            <a:endParaRPr lang="en-US" sz="975" dirty="0"/>
          </a:p>
        </p:txBody>
      </p:sp>
      <p:sp>
        <p:nvSpPr>
          <p:cNvPr id="29" name="Shape 26"/>
          <p:cNvSpPr/>
          <p:nvPr/>
        </p:nvSpPr>
        <p:spPr>
          <a:xfrm>
            <a:off x="13465597" y="2214563"/>
            <a:ext cx="2095054" cy="457200"/>
          </a:xfrm>
          <a:prstGeom prst="rect">
            <a:avLst/>
          </a:prstGeom>
          <a:solidFill>
            <a:srgbClr val="EEF2F7"/>
          </a:solidFill>
          <a:ln/>
        </p:spPr>
      </p:sp>
      <p:sp>
        <p:nvSpPr>
          <p:cNvPr id="30" name="Shape 27"/>
          <p:cNvSpPr/>
          <p:nvPr/>
        </p:nvSpPr>
        <p:spPr>
          <a:xfrm>
            <a:off x="13465597" y="2662238"/>
            <a:ext cx="2095054" cy="9525"/>
          </a:xfrm>
          <a:prstGeom prst="rect">
            <a:avLst/>
          </a:prstGeom>
          <a:solidFill>
            <a:srgbClr val="DDE5EC"/>
          </a:solidFill>
          <a:ln/>
        </p:spPr>
      </p:sp>
      <p:sp>
        <p:nvSpPr>
          <p:cNvPr id="31" name="Text 28"/>
          <p:cNvSpPr/>
          <p:nvPr/>
        </p:nvSpPr>
        <p:spPr>
          <a:xfrm>
            <a:off x="13579897" y="2347913"/>
            <a:ext cx="1866454" cy="219075"/>
          </a:xfrm>
          <a:prstGeom prst="rect">
            <a:avLst/>
          </a:prstGeom>
          <a:noFill/>
          <a:ln/>
        </p:spPr>
        <p:txBody>
          <a:bodyPr wrap="square" lIns="25400" tIns="25400" rIns="25400" bIns="25400" rtlCol="0" anchor="ctr">
            <a:normAutofit/>
          </a:bodyPr>
          <a:lstStyle/>
          <a:p>
            <a:pPr algn="ctr" indent="0" marL="0">
              <a:lnSpc>
                <a:spcPct val="150000"/>
              </a:lnSpc>
              <a:buNone/>
            </a:pPr>
            <a:r>
              <a:rPr lang="en-US" sz="975" spc="98" kern="0" dirty="0">
                <a:solidFill>
                  <a:srgbClr val="6E7785"/>
                </a:solidFill>
                <a:latin typeface="Courier New" pitchFamily="34" charset="0"/>
                <a:ea typeface="Courier New" pitchFamily="34" charset="-122"/>
                <a:cs typeface="Courier New" pitchFamily="34" charset="-120"/>
              </a:rPr>
              <a:t>MOR BILLING</a:t>
            </a:r>
            <a:endParaRPr lang="en-US" sz="975" dirty="0"/>
          </a:p>
        </p:txBody>
      </p:sp>
      <p:sp>
        <p:nvSpPr>
          <p:cNvPr id="32" name="Shape 29"/>
          <p:cNvSpPr/>
          <p:nvPr/>
        </p:nvSpPr>
        <p:spPr>
          <a:xfrm>
            <a:off x="15560650" y="2214563"/>
            <a:ext cx="1951062" cy="457200"/>
          </a:xfrm>
          <a:prstGeom prst="rect">
            <a:avLst/>
          </a:prstGeom>
          <a:solidFill>
            <a:srgbClr val="EEF2F7"/>
          </a:solidFill>
          <a:ln/>
        </p:spPr>
      </p:sp>
      <p:sp>
        <p:nvSpPr>
          <p:cNvPr id="33" name="Shape 30"/>
          <p:cNvSpPr/>
          <p:nvPr/>
        </p:nvSpPr>
        <p:spPr>
          <a:xfrm>
            <a:off x="15560650" y="2662238"/>
            <a:ext cx="1951062" cy="9525"/>
          </a:xfrm>
          <a:prstGeom prst="rect">
            <a:avLst/>
          </a:prstGeom>
          <a:solidFill>
            <a:srgbClr val="DDE5EC"/>
          </a:solidFill>
          <a:ln/>
        </p:spPr>
      </p:sp>
      <p:sp>
        <p:nvSpPr>
          <p:cNvPr id="34" name="Text 31"/>
          <p:cNvSpPr/>
          <p:nvPr/>
        </p:nvSpPr>
        <p:spPr>
          <a:xfrm>
            <a:off x="15636850" y="2347913"/>
            <a:ext cx="1722462" cy="219075"/>
          </a:xfrm>
          <a:prstGeom prst="rect">
            <a:avLst/>
          </a:prstGeom>
          <a:noFill/>
          <a:ln/>
        </p:spPr>
        <p:txBody>
          <a:bodyPr wrap="square" lIns="25400" tIns="25400" rIns="25400" bIns="25400" rtlCol="0" anchor="ctr">
            <a:normAutofit/>
          </a:bodyPr>
          <a:lstStyle/>
          <a:p>
            <a:pPr algn="r" indent="0" marL="0">
              <a:lnSpc>
                <a:spcPct val="150000"/>
              </a:lnSpc>
              <a:buNone/>
            </a:pPr>
            <a:r>
              <a:rPr lang="en-US" sz="975" spc="98" kern="0" dirty="0">
                <a:solidFill>
                  <a:srgbClr val="6E7785"/>
                </a:solidFill>
                <a:latin typeface="Courier New" pitchFamily="34" charset="0"/>
                <a:ea typeface="Courier New" pitchFamily="34" charset="-122"/>
                <a:cs typeface="Courier New" pitchFamily="34" charset="-120"/>
              </a:rPr>
              <a:t>START £/MO</a:t>
            </a:r>
            <a:endParaRPr lang="en-US" sz="975" dirty="0"/>
          </a:p>
        </p:txBody>
      </p:sp>
      <p:sp>
        <p:nvSpPr>
          <p:cNvPr id="35" name="Shape 32"/>
          <p:cNvSpPr/>
          <p:nvPr/>
        </p:nvSpPr>
        <p:spPr>
          <a:xfrm>
            <a:off x="790575" y="2671763"/>
            <a:ext cx="2702496" cy="490538"/>
          </a:xfrm>
          <a:prstGeom prst="rect">
            <a:avLst/>
          </a:prstGeom>
          <a:solidFill>
            <a:srgbClr val="EEEBFD"/>
          </a:solidFill>
          <a:ln/>
        </p:spPr>
      </p:sp>
      <p:sp>
        <p:nvSpPr>
          <p:cNvPr id="36" name="Shape 33"/>
          <p:cNvSpPr/>
          <p:nvPr/>
        </p:nvSpPr>
        <p:spPr>
          <a:xfrm>
            <a:off x="790575" y="3152775"/>
            <a:ext cx="2702496" cy="9525"/>
          </a:xfrm>
          <a:prstGeom prst="rect">
            <a:avLst/>
          </a:prstGeom>
          <a:solidFill>
            <a:srgbClr val="DDE5EC"/>
          </a:solidFill>
          <a:ln/>
        </p:spPr>
      </p:sp>
      <p:sp>
        <p:nvSpPr>
          <p:cNvPr id="37" name="Shape 34"/>
          <p:cNvSpPr/>
          <p:nvPr/>
        </p:nvSpPr>
        <p:spPr>
          <a:xfrm>
            <a:off x="790575" y="2671763"/>
            <a:ext cx="28575" cy="490538"/>
          </a:xfrm>
          <a:prstGeom prst="rect">
            <a:avLst/>
          </a:prstGeom>
          <a:solidFill>
            <a:srgbClr val="5B47F0"/>
          </a:solidFill>
          <a:ln/>
        </p:spPr>
      </p:sp>
      <p:sp>
        <p:nvSpPr>
          <p:cNvPr id="38" name="Text 35"/>
          <p:cNvSpPr/>
          <p:nvPr/>
        </p:nvSpPr>
        <p:spPr>
          <a:xfrm>
            <a:off x="971550" y="2805113"/>
            <a:ext cx="2450195" cy="252413"/>
          </a:xfrm>
          <a:prstGeom prst="rect">
            <a:avLst/>
          </a:prstGeom>
          <a:noFill/>
          <a:ln/>
        </p:spPr>
        <p:txBody>
          <a:bodyPr wrap="square" lIns="25400" tIns="25400" rIns="25400" bIns="25400" rtlCol="0" anchor="ctr">
            <a:normAutofit/>
          </a:bodyPr>
          <a:lstStyle/>
          <a:p>
            <a:pPr algn="l" indent="0" marL="0">
              <a:lnSpc>
                <a:spcPct val="150000"/>
              </a:lnSpc>
              <a:buNone/>
            </a:pPr>
            <a:r>
              <a:rPr lang="en-US" sz="1125" b="1" dirty="0">
                <a:solidFill>
                  <a:srgbClr val="4231CC"/>
                </a:solidFill>
                <a:latin typeface="Arial" pitchFamily="34" charset="0"/>
                <a:ea typeface="Arial" pitchFamily="34" charset="-122"/>
                <a:cs typeface="Arial" pitchFamily="34" charset="-120"/>
              </a:rPr>
              <a:t>Hatchik</a:t>
            </a:r>
            <a:endParaRPr lang="en-US" sz="1125" dirty="0"/>
          </a:p>
        </p:txBody>
      </p:sp>
      <p:sp>
        <p:nvSpPr>
          <p:cNvPr id="39" name="Shape 36"/>
          <p:cNvSpPr/>
          <p:nvPr/>
        </p:nvSpPr>
        <p:spPr>
          <a:xfrm>
            <a:off x="3493071" y="2671763"/>
            <a:ext cx="1373386" cy="490538"/>
          </a:xfrm>
          <a:prstGeom prst="rect">
            <a:avLst/>
          </a:prstGeom>
          <a:solidFill>
            <a:srgbClr val="EEEBFD"/>
          </a:solidFill>
          <a:ln/>
        </p:spPr>
      </p:sp>
      <p:sp>
        <p:nvSpPr>
          <p:cNvPr id="40" name="Shape 37"/>
          <p:cNvSpPr/>
          <p:nvPr/>
        </p:nvSpPr>
        <p:spPr>
          <a:xfrm>
            <a:off x="3493071" y="3152775"/>
            <a:ext cx="1373386" cy="9525"/>
          </a:xfrm>
          <a:prstGeom prst="rect">
            <a:avLst/>
          </a:prstGeom>
          <a:solidFill>
            <a:srgbClr val="DDE5EC"/>
          </a:solidFill>
          <a:ln/>
        </p:spPr>
      </p:sp>
      <p:sp>
        <p:nvSpPr>
          <p:cNvPr id="41" name="Text 38"/>
          <p:cNvSpPr/>
          <p:nvPr/>
        </p:nvSpPr>
        <p:spPr>
          <a:xfrm>
            <a:off x="3607371" y="2805113"/>
            <a:ext cx="1144786" cy="252413"/>
          </a:xfrm>
          <a:prstGeom prst="rect">
            <a:avLst/>
          </a:prstGeom>
          <a:noFill/>
          <a:ln/>
        </p:spPr>
        <p:txBody>
          <a:bodyPr wrap="square" lIns="25400" tIns="25400" rIns="25400" bIns="25400" rtlCol="0" anchor="ctr">
            <a:normAutofit/>
          </a:bodyPr>
          <a:lstStyle/>
          <a:p>
            <a:pPr algn="ctr" indent="0" marL="0">
              <a:lnSpc>
                <a:spcPct val="150000"/>
              </a:lnSpc>
              <a:buNone/>
            </a:pPr>
            <a:r>
              <a:rPr lang="en-US" sz="1125" b="1" dirty="0">
                <a:solidFill>
                  <a:srgbClr val="2DB47A"/>
                </a:solidFill>
                <a:latin typeface="Arial" pitchFamily="34" charset="0"/>
                <a:ea typeface="Arial" pitchFamily="34" charset="-122"/>
                <a:cs typeface="Arial" pitchFamily="34" charset="-120"/>
              </a:rPr>
              <a:t>✓</a:t>
            </a:r>
            <a:endParaRPr lang="en-US" sz="1125" dirty="0"/>
          </a:p>
        </p:txBody>
      </p:sp>
      <p:sp>
        <p:nvSpPr>
          <p:cNvPr id="42" name="Shape 39"/>
          <p:cNvSpPr/>
          <p:nvPr/>
        </p:nvSpPr>
        <p:spPr>
          <a:xfrm>
            <a:off x="4866456" y="2671763"/>
            <a:ext cx="1662113" cy="490538"/>
          </a:xfrm>
          <a:prstGeom prst="rect">
            <a:avLst/>
          </a:prstGeom>
          <a:solidFill>
            <a:srgbClr val="EEEBFD"/>
          </a:solidFill>
          <a:ln/>
        </p:spPr>
      </p:sp>
      <p:sp>
        <p:nvSpPr>
          <p:cNvPr id="43" name="Shape 40"/>
          <p:cNvSpPr/>
          <p:nvPr/>
        </p:nvSpPr>
        <p:spPr>
          <a:xfrm>
            <a:off x="4866456" y="3152775"/>
            <a:ext cx="1662113" cy="9525"/>
          </a:xfrm>
          <a:prstGeom prst="rect">
            <a:avLst/>
          </a:prstGeom>
          <a:solidFill>
            <a:srgbClr val="DDE5EC"/>
          </a:solidFill>
          <a:ln/>
        </p:spPr>
      </p:sp>
      <p:sp>
        <p:nvSpPr>
          <p:cNvPr id="44" name="Text 41"/>
          <p:cNvSpPr/>
          <p:nvPr/>
        </p:nvSpPr>
        <p:spPr>
          <a:xfrm>
            <a:off x="4980756" y="2805113"/>
            <a:ext cx="1433513" cy="252413"/>
          </a:xfrm>
          <a:prstGeom prst="rect">
            <a:avLst/>
          </a:prstGeom>
          <a:noFill/>
          <a:ln/>
        </p:spPr>
        <p:txBody>
          <a:bodyPr wrap="square" lIns="25400" tIns="25400" rIns="25400" bIns="25400" rtlCol="0" anchor="ctr">
            <a:normAutofit/>
          </a:bodyPr>
          <a:lstStyle/>
          <a:p>
            <a:pPr algn="ctr" indent="0" marL="0">
              <a:lnSpc>
                <a:spcPct val="150000"/>
              </a:lnSpc>
              <a:buNone/>
            </a:pPr>
            <a:r>
              <a:rPr lang="en-US" sz="1125" b="1" dirty="0">
                <a:solidFill>
                  <a:srgbClr val="2DB47A"/>
                </a:solidFill>
                <a:latin typeface="Arial" pitchFamily="34" charset="0"/>
                <a:ea typeface="Arial" pitchFamily="34" charset="-122"/>
                <a:cs typeface="Arial" pitchFamily="34" charset="-120"/>
              </a:rPr>
              <a:t>✓</a:t>
            </a:r>
            <a:endParaRPr lang="en-US" sz="1125" dirty="0"/>
          </a:p>
        </p:txBody>
      </p:sp>
      <p:sp>
        <p:nvSpPr>
          <p:cNvPr id="45" name="Shape 42"/>
          <p:cNvSpPr/>
          <p:nvPr/>
        </p:nvSpPr>
        <p:spPr>
          <a:xfrm>
            <a:off x="6528569" y="2671763"/>
            <a:ext cx="1662113" cy="490538"/>
          </a:xfrm>
          <a:prstGeom prst="rect">
            <a:avLst/>
          </a:prstGeom>
          <a:solidFill>
            <a:srgbClr val="EEEBFD"/>
          </a:solidFill>
          <a:ln/>
        </p:spPr>
      </p:sp>
      <p:sp>
        <p:nvSpPr>
          <p:cNvPr id="46" name="Shape 43"/>
          <p:cNvSpPr/>
          <p:nvPr/>
        </p:nvSpPr>
        <p:spPr>
          <a:xfrm>
            <a:off x="6528569" y="3152775"/>
            <a:ext cx="1662113" cy="9525"/>
          </a:xfrm>
          <a:prstGeom prst="rect">
            <a:avLst/>
          </a:prstGeom>
          <a:solidFill>
            <a:srgbClr val="DDE5EC"/>
          </a:solidFill>
          <a:ln/>
        </p:spPr>
      </p:sp>
      <p:sp>
        <p:nvSpPr>
          <p:cNvPr id="47" name="Text 44"/>
          <p:cNvSpPr/>
          <p:nvPr/>
        </p:nvSpPr>
        <p:spPr>
          <a:xfrm>
            <a:off x="6642869" y="2805113"/>
            <a:ext cx="1433513" cy="252413"/>
          </a:xfrm>
          <a:prstGeom prst="rect">
            <a:avLst/>
          </a:prstGeom>
          <a:noFill/>
          <a:ln/>
        </p:spPr>
        <p:txBody>
          <a:bodyPr wrap="square" lIns="25400" tIns="25400" rIns="25400" bIns="25400" rtlCol="0" anchor="ctr">
            <a:normAutofit/>
          </a:bodyPr>
          <a:lstStyle/>
          <a:p>
            <a:pPr algn="ctr" indent="0" marL="0">
              <a:lnSpc>
                <a:spcPct val="150000"/>
              </a:lnSpc>
              <a:buNone/>
            </a:pPr>
            <a:r>
              <a:rPr lang="en-US" sz="1125" b="1" dirty="0">
                <a:solidFill>
                  <a:srgbClr val="2DB47A"/>
                </a:solidFill>
                <a:latin typeface="Arial" pitchFamily="34" charset="0"/>
                <a:ea typeface="Arial" pitchFamily="34" charset="-122"/>
                <a:cs typeface="Arial" pitchFamily="34" charset="-120"/>
              </a:rPr>
              <a:t>✓</a:t>
            </a:r>
            <a:endParaRPr lang="en-US" sz="1125" dirty="0"/>
          </a:p>
        </p:txBody>
      </p:sp>
      <p:sp>
        <p:nvSpPr>
          <p:cNvPr id="48" name="Shape 45"/>
          <p:cNvSpPr/>
          <p:nvPr/>
        </p:nvSpPr>
        <p:spPr>
          <a:xfrm>
            <a:off x="8190681" y="2671763"/>
            <a:ext cx="1806476" cy="490538"/>
          </a:xfrm>
          <a:prstGeom prst="rect">
            <a:avLst/>
          </a:prstGeom>
          <a:solidFill>
            <a:srgbClr val="EEEBFD"/>
          </a:solidFill>
          <a:ln/>
        </p:spPr>
      </p:sp>
      <p:sp>
        <p:nvSpPr>
          <p:cNvPr id="49" name="Shape 46"/>
          <p:cNvSpPr/>
          <p:nvPr/>
        </p:nvSpPr>
        <p:spPr>
          <a:xfrm>
            <a:off x="8190681" y="3152775"/>
            <a:ext cx="1806476" cy="9525"/>
          </a:xfrm>
          <a:prstGeom prst="rect">
            <a:avLst/>
          </a:prstGeom>
          <a:solidFill>
            <a:srgbClr val="DDE5EC"/>
          </a:solidFill>
          <a:ln/>
        </p:spPr>
      </p:sp>
      <p:sp>
        <p:nvSpPr>
          <p:cNvPr id="50" name="Text 47"/>
          <p:cNvSpPr/>
          <p:nvPr/>
        </p:nvSpPr>
        <p:spPr>
          <a:xfrm>
            <a:off x="8304981" y="2805113"/>
            <a:ext cx="1577876" cy="252413"/>
          </a:xfrm>
          <a:prstGeom prst="rect">
            <a:avLst/>
          </a:prstGeom>
          <a:noFill/>
          <a:ln/>
        </p:spPr>
        <p:txBody>
          <a:bodyPr wrap="square" lIns="25400" tIns="25400" rIns="25400" bIns="25400" rtlCol="0" anchor="ctr">
            <a:normAutofit/>
          </a:bodyPr>
          <a:lstStyle/>
          <a:p>
            <a:pPr algn="ctr" indent="0" marL="0">
              <a:lnSpc>
                <a:spcPct val="150000"/>
              </a:lnSpc>
              <a:buNone/>
            </a:pPr>
            <a:r>
              <a:rPr lang="en-US" sz="1125" b="1" dirty="0">
                <a:solidFill>
                  <a:srgbClr val="2DB47A"/>
                </a:solidFill>
                <a:latin typeface="Arial" pitchFamily="34" charset="0"/>
                <a:ea typeface="Arial" pitchFamily="34" charset="-122"/>
                <a:cs typeface="Arial" pitchFamily="34" charset="-120"/>
              </a:rPr>
              <a:t>£0</a:t>
            </a:r>
            <a:endParaRPr lang="en-US" sz="1125" dirty="0"/>
          </a:p>
        </p:txBody>
      </p:sp>
      <p:sp>
        <p:nvSpPr>
          <p:cNvPr id="51" name="Shape 48"/>
          <p:cNvSpPr/>
          <p:nvPr/>
        </p:nvSpPr>
        <p:spPr>
          <a:xfrm>
            <a:off x="9997157" y="2671763"/>
            <a:ext cx="2095054" cy="490538"/>
          </a:xfrm>
          <a:prstGeom prst="rect">
            <a:avLst/>
          </a:prstGeom>
          <a:solidFill>
            <a:srgbClr val="EEEBFD"/>
          </a:solidFill>
          <a:ln/>
        </p:spPr>
      </p:sp>
      <p:sp>
        <p:nvSpPr>
          <p:cNvPr id="52" name="Shape 49"/>
          <p:cNvSpPr/>
          <p:nvPr/>
        </p:nvSpPr>
        <p:spPr>
          <a:xfrm>
            <a:off x="9997157" y="3152775"/>
            <a:ext cx="2095054" cy="9525"/>
          </a:xfrm>
          <a:prstGeom prst="rect">
            <a:avLst/>
          </a:prstGeom>
          <a:solidFill>
            <a:srgbClr val="DDE5EC"/>
          </a:solidFill>
          <a:ln/>
        </p:spPr>
      </p:sp>
      <p:sp>
        <p:nvSpPr>
          <p:cNvPr id="53" name="Text 50"/>
          <p:cNvSpPr/>
          <p:nvPr/>
        </p:nvSpPr>
        <p:spPr>
          <a:xfrm>
            <a:off x="10111457" y="2805113"/>
            <a:ext cx="1866454" cy="252413"/>
          </a:xfrm>
          <a:prstGeom prst="rect">
            <a:avLst/>
          </a:prstGeom>
          <a:noFill/>
          <a:ln/>
        </p:spPr>
        <p:txBody>
          <a:bodyPr wrap="square" lIns="25400" tIns="25400" rIns="25400" bIns="25400" rtlCol="0" anchor="ctr">
            <a:normAutofit/>
          </a:bodyPr>
          <a:lstStyle/>
          <a:p>
            <a:pPr algn="ctr" indent="0" marL="0">
              <a:lnSpc>
                <a:spcPct val="150000"/>
              </a:lnSpc>
              <a:buNone/>
            </a:pPr>
            <a:r>
              <a:rPr lang="en-US" sz="1125" b="1" dirty="0">
                <a:solidFill>
                  <a:srgbClr val="2DB47A"/>
                </a:solidFill>
                <a:latin typeface="Arial" pitchFamily="34" charset="0"/>
                <a:ea typeface="Arial" pitchFamily="34" charset="-122"/>
                <a:cs typeface="Arial" pitchFamily="34" charset="-120"/>
              </a:rPr>
              <a:t>✓</a:t>
            </a:r>
            <a:endParaRPr lang="en-US" sz="1125" dirty="0"/>
          </a:p>
        </p:txBody>
      </p:sp>
      <p:sp>
        <p:nvSpPr>
          <p:cNvPr id="54" name="Shape 51"/>
          <p:cNvSpPr/>
          <p:nvPr/>
        </p:nvSpPr>
        <p:spPr>
          <a:xfrm>
            <a:off x="12092211" y="2671763"/>
            <a:ext cx="1373386" cy="490538"/>
          </a:xfrm>
          <a:prstGeom prst="rect">
            <a:avLst/>
          </a:prstGeom>
          <a:solidFill>
            <a:srgbClr val="EEEBFD"/>
          </a:solidFill>
          <a:ln/>
        </p:spPr>
      </p:sp>
      <p:sp>
        <p:nvSpPr>
          <p:cNvPr id="55" name="Shape 52"/>
          <p:cNvSpPr/>
          <p:nvPr/>
        </p:nvSpPr>
        <p:spPr>
          <a:xfrm>
            <a:off x="12092211" y="3152775"/>
            <a:ext cx="1373386" cy="9525"/>
          </a:xfrm>
          <a:prstGeom prst="rect">
            <a:avLst/>
          </a:prstGeom>
          <a:solidFill>
            <a:srgbClr val="DDE5EC"/>
          </a:solidFill>
          <a:ln/>
        </p:spPr>
      </p:sp>
      <p:sp>
        <p:nvSpPr>
          <p:cNvPr id="56" name="Text 53"/>
          <p:cNvSpPr/>
          <p:nvPr/>
        </p:nvSpPr>
        <p:spPr>
          <a:xfrm>
            <a:off x="12206511" y="2805113"/>
            <a:ext cx="1144786" cy="252413"/>
          </a:xfrm>
          <a:prstGeom prst="rect">
            <a:avLst/>
          </a:prstGeom>
          <a:noFill/>
          <a:ln/>
        </p:spPr>
        <p:txBody>
          <a:bodyPr wrap="square" lIns="25400" tIns="25400" rIns="25400" bIns="25400" rtlCol="0" anchor="ctr">
            <a:normAutofit/>
          </a:bodyPr>
          <a:lstStyle/>
          <a:p>
            <a:pPr algn="ctr" indent="0" marL="0">
              <a:lnSpc>
                <a:spcPct val="150000"/>
              </a:lnSpc>
              <a:buNone/>
            </a:pPr>
            <a:r>
              <a:rPr lang="en-US" sz="1125" b="1" dirty="0">
                <a:solidFill>
                  <a:srgbClr val="2DB47A"/>
                </a:solidFill>
                <a:latin typeface="Arial" pitchFamily="34" charset="0"/>
                <a:ea typeface="Arial" pitchFamily="34" charset="-122"/>
                <a:cs typeface="Arial" pitchFamily="34" charset="-120"/>
              </a:rPr>
              <a:t>✓</a:t>
            </a:r>
            <a:endParaRPr lang="en-US" sz="1125" dirty="0"/>
          </a:p>
        </p:txBody>
      </p:sp>
      <p:sp>
        <p:nvSpPr>
          <p:cNvPr id="57" name="Shape 54"/>
          <p:cNvSpPr/>
          <p:nvPr/>
        </p:nvSpPr>
        <p:spPr>
          <a:xfrm>
            <a:off x="13465597" y="2671763"/>
            <a:ext cx="2095054" cy="490538"/>
          </a:xfrm>
          <a:prstGeom prst="rect">
            <a:avLst/>
          </a:prstGeom>
          <a:solidFill>
            <a:srgbClr val="EEEBFD"/>
          </a:solidFill>
          <a:ln/>
        </p:spPr>
      </p:sp>
      <p:sp>
        <p:nvSpPr>
          <p:cNvPr id="58" name="Shape 55"/>
          <p:cNvSpPr/>
          <p:nvPr/>
        </p:nvSpPr>
        <p:spPr>
          <a:xfrm>
            <a:off x="13465597" y="3152775"/>
            <a:ext cx="2095054" cy="9525"/>
          </a:xfrm>
          <a:prstGeom prst="rect">
            <a:avLst/>
          </a:prstGeom>
          <a:solidFill>
            <a:srgbClr val="DDE5EC"/>
          </a:solidFill>
          <a:ln/>
        </p:spPr>
      </p:sp>
      <p:sp>
        <p:nvSpPr>
          <p:cNvPr id="59" name="Text 56"/>
          <p:cNvSpPr/>
          <p:nvPr/>
        </p:nvSpPr>
        <p:spPr>
          <a:xfrm>
            <a:off x="13579897" y="2805113"/>
            <a:ext cx="1866454" cy="252413"/>
          </a:xfrm>
          <a:prstGeom prst="rect">
            <a:avLst/>
          </a:prstGeom>
          <a:noFill/>
          <a:ln/>
        </p:spPr>
        <p:txBody>
          <a:bodyPr wrap="square" lIns="25400" tIns="25400" rIns="25400" bIns="25400" rtlCol="0" anchor="ctr">
            <a:normAutofit/>
          </a:bodyPr>
          <a:lstStyle/>
          <a:p>
            <a:pPr algn="ctr" indent="0" marL="0">
              <a:lnSpc>
                <a:spcPct val="150000"/>
              </a:lnSpc>
              <a:buNone/>
            </a:pPr>
            <a:r>
              <a:rPr lang="en-US" sz="1125" b="1" dirty="0">
                <a:solidFill>
                  <a:srgbClr val="2DB47A"/>
                </a:solidFill>
                <a:latin typeface="Arial" pitchFamily="34" charset="0"/>
                <a:ea typeface="Arial" pitchFamily="34" charset="-122"/>
                <a:cs typeface="Arial" pitchFamily="34" charset="-120"/>
              </a:rPr>
              <a:t>✓</a:t>
            </a:r>
            <a:endParaRPr lang="en-US" sz="1125" dirty="0"/>
          </a:p>
        </p:txBody>
      </p:sp>
      <p:sp>
        <p:nvSpPr>
          <p:cNvPr id="60" name="Shape 57"/>
          <p:cNvSpPr/>
          <p:nvPr/>
        </p:nvSpPr>
        <p:spPr>
          <a:xfrm>
            <a:off x="15560650" y="2671763"/>
            <a:ext cx="1951062" cy="490538"/>
          </a:xfrm>
          <a:prstGeom prst="rect">
            <a:avLst/>
          </a:prstGeom>
          <a:solidFill>
            <a:srgbClr val="EEEBFD"/>
          </a:solidFill>
          <a:ln/>
        </p:spPr>
      </p:sp>
      <p:sp>
        <p:nvSpPr>
          <p:cNvPr id="61" name="Shape 58"/>
          <p:cNvSpPr/>
          <p:nvPr/>
        </p:nvSpPr>
        <p:spPr>
          <a:xfrm>
            <a:off x="15560650" y="3152775"/>
            <a:ext cx="1951062" cy="9525"/>
          </a:xfrm>
          <a:prstGeom prst="rect">
            <a:avLst/>
          </a:prstGeom>
          <a:solidFill>
            <a:srgbClr val="DDE5EC"/>
          </a:solidFill>
          <a:ln/>
        </p:spPr>
      </p:sp>
      <p:sp>
        <p:nvSpPr>
          <p:cNvPr id="62" name="Text 59"/>
          <p:cNvSpPr/>
          <p:nvPr/>
        </p:nvSpPr>
        <p:spPr>
          <a:xfrm>
            <a:off x="15636850" y="2805113"/>
            <a:ext cx="1722462" cy="252413"/>
          </a:xfrm>
          <a:prstGeom prst="rect">
            <a:avLst/>
          </a:prstGeom>
          <a:noFill/>
          <a:ln/>
        </p:spPr>
        <p:txBody>
          <a:bodyPr wrap="square" lIns="25400" tIns="25400" rIns="25400" bIns="25400" rtlCol="0" anchor="ctr">
            <a:normAutofit/>
          </a:bodyPr>
          <a:lstStyle/>
          <a:p>
            <a:pPr algn="r" indent="0" marL="0">
              <a:lnSpc>
                <a:spcPct val="150000"/>
              </a:lnSpc>
              <a:buNone/>
            </a:pPr>
            <a:r>
              <a:rPr lang="en-US" sz="1125" b="1" dirty="0">
                <a:solidFill>
                  <a:srgbClr val="0F1419"/>
                </a:solidFill>
                <a:latin typeface="Arial" pitchFamily="34" charset="0"/>
                <a:ea typeface="Arial" pitchFamily="34" charset="-122"/>
                <a:cs typeface="Arial" pitchFamily="34" charset="-120"/>
              </a:rPr>
              <a:t>£14</a:t>
            </a:r>
            <a:endParaRPr lang="en-US" sz="1125" dirty="0"/>
          </a:p>
        </p:txBody>
      </p:sp>
      <p:sp>
        <p:nvSpPr>
          <p:cNvPr id="63" name="Shape 60"/>
          <p:cNvSpPr/>
          <p:nvPr/>
        </p:nvSpPr>
        <p:spPr>
          <a:xfrm>
            <a:off x="790575" y="3643313"/>
            <a:ext cx="2702496" cy="9525"/>
          </a:xfrm>
          <a:prstGeom prst="rect">
            <a:avLst/>
          </a:prstGeom>
          <a:solidFill>
            <a:srgbClr val="DDE5EC"/>
          </a:solidFill>
          <a:ln/>
        </p:spPr>
      </p:sp>
      <p:sp>
        <p:nvSpPr>
          <p:cNvPr id="64" name="Text 61"/>
          <p:cNvSpPr/>
          <p:nvPr/>
        </p:nvSpPr>
        <p:spPr>
          <a:xfrm>
            <a:off x="942975" y="3295650"/>
            <a:ext cx="2478770" cy="252413"/>
          </a:xfrm>
          <a:prstGeom prst="rect">
            <a:avLst/>
          </a:prstGeom>
          <a:noFill/>
          <a:ln/>
        </p:spPr>
        <p:txBody>
          <a:bodyPr wrap="square" lIns="25400" tIns="25400" rIns="25400" bIns="25400" rtlCol="0" anchor="ctr">
            <a:normAutofit/>
          </a:bodyPr>
          <a:lstStyle/>
          <a:p>
            <a:pPr algn="l" indent="0" marL="0">
              <a:lnSpc>
                <a:spcPct val="150000"/>
              </a:lnSpc>
              <a:buNone/>
            </a:pPr>
            <a:r>
              <a:rPr lang="en-US" sz="1125" dirty="0">
                <a:solidFill>
                  <a:srgbClr val="0F1419"/>
                </a:solidFill>
                <a:latin typeface="Arial" pitchFamily="34" charset="0"/>
                <a:ea typeface="Arial" pitchFamily="34" charset="-122"/>
                <a:cs typeface="Arial" pitchFamily="34" charset="-120"/>
              </a:rPr>
              <a:t>Lovable</a:t>
            </a:r>
            <a:endParaRPr lang="en-US" sz="1125" dirty="0"/>
          </a:p>
        </p:txBody>
      </p:sp>
      <p:sp>
        <p:nvSpPr>
          <p:cNvPr id="65" name="Shape 62"/>
          <p:cNvSpPr/>
          <p:nvPr/>
        </p:nvSpPr>
        <p:spPr>
          <a:xfrm>
            <a:off x="3493071" y="3643313"/>
            <a:ext cx="1373386" cy="9525"/>
          </a:xfrm>
          <a:prstGeom prst="rect">
            <a:avLst/>
          </a:prstGeom>
          <a:solidFill>
            <a:srgbClr val="DDE5EC"/>
          </a:solidFill>
          <a:ln/>
        </p:spPr>
      </p:sp>
      <p:sp>
        <p:nvSpPr>
          <p:cNvPr id="66" name="Text 63"/>
          <p:cNvSpPr/>
          <p:nvPr/>
        </p:nvSpPr>
        <p:spPr>
          <a:xfrm>
            <a:off x="3607371" y="3295650"/>
            <a:ext cx="1144786" cy="252413"/>
          </a:xfrm>
          <a:prstGeom prst="rect">
            <a:avLst/>
          </a:prstGeom>
          <a:noFill/>
          <a:ln/>
        </p:spPr>
        <p:txBody>
          <a:bodyPr wrap="square" lIns="25400" tIns="25400" rIns="25400" bIns="25400" rtlCol="0" anchor="ctr">
            <a:normAutofit/>
          </a:bodyPr>
          <a:lstStyle/>
          <a:p>
            <a:pPr algn="ctr" indent="0" marL="0">
              <a:lnSpc>
                <a:spcPct val="150000"/>
              </a:lnSpc>
              <a:buNone/>
            </a:pPr>
            <a:r>
              <a:rPr lang="en-US" sz="1125" dirty="0">
                <a:solidFill>
                  <a:srgbClr val="98A1AE"/>
                </a:solidFill>
                <a:latin typeface="Arial" pitchFamily="34" charset="0"/>
                <a:ea typeface="Arial" pitchFamily="34" charset="-122"/>
                <a:cs typeface="Arial" pitchFamily="34" charset="-120"/>
              </a:rPr>
              <a:t>—</a:t>
            </a:r>
            <a:endParaRPr lang="en-US" sz="1125" dirty="0"/>
          </a:p>
        </p:txBody>
      </p:sp>
      <p:sp>
        <p:nvSpPr>
          <p:cNvPr id="67" name="Shape 64"/>
          <p:cNvSpPr/>
          <p:nvPr/>
        </p:nvSpPr>
        <p:spPr>
          <a:xfrm>
            <a:off x="4866456" y="3643313"/>
            <a:ext cx="1662113" cy="9525"/>
          </a:xfrm>
          <a:prstGeom prst="rect">
            <a:avLst/>
          </a:prstGeom>
          <a:solidFill>
            <a:srgbClr val="DDE5EC"/>
          </a:solidFill>
          <a:ln/>
        </p:spPr>
      </p:sp>
      <p:sp>
        <p:nvSpPr>
          <p:cNvPr id="68" name="Text 65"/>
          <p:cNvSpPr/>
          <p:nvPr/>
        </p:nvSpPr>
        <p:spPr>
          <a:xfrm>
            <a:off x="4980756" y="3295650"/>
            <a:ext cx="1433513" cy="252413"/>
          </a:xfrm>
          <a:prstGeom prst="rect">
            <a:avLst/>
          </a:prstGeom>
          <a:noFill/>
          <a:ln/>
        </p:spPr>
        <p:txBody>
          <a:bodyPr wrap="square" lIns="25400" tIns="25400" rIns="25400" bIns="25400" rtlCol="0" anchor="ctr">
            <a:normAutofit/>
          </a:bodyPr>
          <a:lstStyle/>
          <a:p>
            <a:pPr algn="ctr" indent="0" marL="0">
              <a:lnSpc>
                <a:spcPct val="150000"/>
              </a:lnSpc>
              <a:buNone/>
            </a:pPr>
            <a:r>
              <a:rPr lang="en-US" sz="1125" dirty="0">
                <a:solidFill>
                  <a:srgbClr val="0F1419"/>
                </a:solidFill>
                <a:latin typeface="Arial" pitchFamily="34" charset="0"/>
                <a:ea typeface="Arial" pitchFamily="34" charset="-122"/>
                <a:cs typeface="Arial" pitchFamily="34" charset="-120"/>
              </a:rPr>
              <a:t>~</a:t>
            </a:r>
            <a:endParaRPr lang="en-US" sz="1125" dirty="0"/>
          </a:p>
        </p:txBody>
      </p:sp>
      <p:sp>
        <p:nvSpPr>
          <p:cNvPr id="69" name="Shape 66"/>
          <p:cNvSpPr/>
          <p:nvPr/>
        </p:nvSpPr>
        <p:spPr>
          <a:xfrm>
            <a:off x="6528569" y="3643313"/>
            <a:ext cx="1662113" cy="9525"/>
          </a:xfrm>
          <a:prstGeom prst="rect">
            <a:avLst/>
          </a:prstGeom>
          <a:solidFill>
            <a:srgbClr val="DDE5EC"/>
          </a:solidFill>
          <a:ln/>
        </p:spPr>
      </p:sp>
      <p:sp>
        <p:nvSpPr>
          <p:cNvPr id="70" name="Text 67"/>
          <p:cNvSpPr/>
          <p:nvPr/>
        </p:nvSpPr>
        <p:spPr>
          <a:xfrm>
            <a:off x="6642869" y="3295650"/>
            <a:ext cx="1433513" cy="252413"/>
          </a:xfrm>
          <a:prstGeom prst="rect">
            <a:avLst/>
          </a:prstGeom>
          <a:noFill/>
          <a:ln/>
        </p:spPr>
        <p:txBody>
          <a:bodyPr wrap="square" lIns="25400" tIns="25400" rIns="25400" bIns="25400" rtlCol="0" anchor="ctr">
            <a:normAutofit/>
          </a:bodyPr>
          <a:lstStyle/>
          <a:p>
            <a:pPr algn="ctr" indent="0" marL="0">
              <a:lnSpc>
                <a:spcPct val="150000"/>
              </a:lnSpc>
              <a:buNone/>
            </a:pPr>
            <a:r>
              <a:rPr lang="en-US" sz="1125" dirty="0">
                <a:solidFill>
                  <a:srgbClr val="0F1419"/>
                </a:solidFill>
                <a:latin typeface="Arial" pitchFamily="34" charset="0"/>
                <a:ea typeface="Arial" pitchFamily="34" charset="-122"/>
                <a:cs typeface="Arial" pitchFamily="34" charset="-120"/>
              </a:rPr>
              <a:t>~</a:t>
            </a:r>
            <a:endParaRPr lang="en-US" sz="1125" dirty="0"/>
          </a:p>
        </p:txBody>
      </p:sp>
      <p:sp>
        <p:nvSpPr>
          <p:cNvPr id="71" name="Shape 68"/>
          <p:cNvSpPr/>
          <p:nvPr/>
        </p:nvSpPr>
        <p:spPr>
          <a:xfrm>
            <a:off x="8190681" y="3643313"/>
            <a:ext cx="1806476" cy="9525"/>
          </a:xfrm>
          <a:prstGeom prst="rect">
            <a:avLst/>
          </a:prstGeom>
          <a:solidFill>
            <a:srgbClr val="DDE5EC"/>
          </a:solidFill>
          <a:ln/>
        </p:spPr>
      </p:sp>
      <p:sp>
        <p:nvSpPr>
          <p:cNvPr id="72" name="Text 69"/>
          <p:cNvSpPr/>
          <p:nvPr/>
        </p:nvSpPr>
        <p:spPr>
          <a:xfrm>
            <a:off x="8304981" y="3295650"/>
            <a:ext cx="1577876" cy="252413"/>
          </a:xfrm>
          <a:prstGeom prst="rect">
            <a:avLst/>
          </a:prstGeom>
          <a:noFill/>
          <a:ln/>
        </p:spPr>
        <p:txBody>
          <a:bodyPr wrap="square" lIns="25400" tIns="25400" rIns="25400" bIns="25400" rtlCol="0" anchor="ctr">
            <a:normAutofit/>
          </a:bodyPr>
          <a:lstStyle/>
          <a:p>
            <a:pPr algn="ctr" indent="0" marL="0">
              <a:lnSpc>
                <a:spcPct val="150000"/>
              </a:lnSpc>
              <a:buNone/>
            </a:pPr>
            <a:r>
              <a:rPr lang="en-US" sz="1125" dirty="0">
                <a:solidFill>
                  <a:srgbClr val="0F1419"/>
                </a:solidFill>
                <a:latin typeface="Arial" pitchFamily="34" charset="0"/>
                <a:ea typeface="Arial" pitchFamily="34" charset="-122"/>
                <a:cs typeface="Arial" pitchFamily="34" charset="-120"/>
              </a:rPr>
              <a:t>High</a:t>
            </a:r>
            <a:endParaRPr lang="en-US" sz="1125" dirty="0"/>
          </a:p>
        </p:txBody>
      </p:sp>
      <p:sp>
        <p:nvSpPr>
          <p:cNvPr id="73" name="Shape 70"/>
          <p:cNvSpPr/>
          <p:nvPr/>
        </p:nvSpPr>
        <p:spPr>
          <a:xfrm>
            <a:off x="9997157" y="3643313"/>
            <a:ext cx="2095054" cy="9525"/>
          </a:xfrm>
          <a:prstGeom prst="rect">
            <a:avLst/>
          </a:prstGeom>
          <a:solidFill>
            <a:srgbClr val="DDE5EC"/>
          </a:solidFill>
          <a:ln/>
        </p:spPr>
      </p:sp>
      <p:sp>
        <p:nvSpPr>
          <p:cNvPr id="74" name="Text 71"/>
          <p:cNvSpPr/>
          <p:nvPr/>
        </p:nvSpPr>
        <p:spPr>
          <a:xfrm>
            <a:off x="10111457" y="3295650"/>
            <a:ext cx="1866454" cy="252413"/>
          </a:xfrm>
          <a:prstGeom prst="rect">
            <a:avLst/>
          </a:prstGeom>
          <a:noFill/>
          <a:ln/>
        </p:spPr>
        <p:txBody>
          <a:bodyPr wrap="square" lIns="25400" tIns="25400" rIns="25400" bIns="25400" rtlCol="0" anchor="ctr">
            <a:normAutofit/>
          </a:bodyPr>
          <a:lstStyle/>
          <a:p>
            <a:pPr algn="ctr" indent="0" marL="0">
              <a:lnSpc>
                <a:spcPct val="150000"/>
              </a:lnSpc>
              <a:buNone/>
            </a:pPr>
            <a:r>
              <a:rPr lang="en-US" sz="1125" b="1" dirty="0">
                <a:solidFill>
                  <a:srgbClr val="2DB47A"/>
                </a:solidFill>
                <a:latin typeface="Arial" pitchFamily="34" charset="0"/>
                <a:ea typeface="Arial" pitchFamily="34" charset="-122"/>
                <a:cs typeface="Arial" pitchFamily="34" charset="-120"/>
              </a:rPr>
              <a:t>✓</a:t>
            </a:r>
            <a:endParaRPr lang="en-US" sz="1125" dirty="0"/>
          </a:p>
        </p:txBody>
      </p:sp>
      <p:sp>
        <p:nvSpPr>
          <p:cNvPr id="75" name="Shape 72"/>
          <p:cNvSpPr/>
          <p:nvPr/>
        </p:nvSpPr>
        <p:spPr>
          <a:xfrm>
            <a:off x="12092211" y="3643313"/>
            <a:ext cx="1373386" cy="9525"/>
          </a:xfrm>
          <a:prstGeom prst="rect">
            <a:avLst/>
          </a:prstGeom>
          <a:solidFill>
            <a:srgbClr val="DDE5EC"/>
          </a:solidFill>
          <a:ln/>
        </p:spPr>
      </p:sp>
      <p:sp>
        <p:nvSpPr>
          <p:cNvPr id="76" name="Text 73"/>
          <p:cNvSpPr/>
          <p:nvPr/>
        </p:nvSpPr>
        <p:spPr>
          <a:xfrm>
            <a:off x="12206511" y="3295650"/>
            <a:ext cx="1144786" cy="252413"/>
          </a:xfrm>
          <a:prstGeom prst="rect">
            <a:avLst/>
          </a:prstGeom>
          <a:noFill/>
          <a:ln/>
        </p:spPr>
        <p:txBody>
          <a:bodyPr wrap="square" lIns="25400" tIns="25400" rIns="25400" bIns="25400" rtlCol="0" anchor="ctr">
            <a:normAutofit/>
          </a:bodyPr>
          <a:lstStyle/>
          <a:p>
            <a:pPr algn="ctr" indent="0" marL="0">
              <a:lnSpc>
                <a:spcPct val="150000"/>
              </a:lnSpc>
              <a:buNone/>
            </a:pPr>
            <a:r>
              <a:rPr lang="en-US" sz="1125" dirty="0">
                <a:solidFill>
                  <a:srgbClr val="98A1AE"/>
                </a:solidFill>
                <a:latin typeface="Arial" pitchFamily="34" charset="0"/>
                <a:ea typeface="Arial" pitchFamily="34" charset="-122"/>
                <a:cs typeface="Arial" pitchFamily="34" charset="-120"/>
              </a:rPr>
              <a:t>—</a:t>
            </a:r>
            <a:endParaRPr lang="en-US" sz="1125" dirty="0"/>
          </a:p>
        </p:txBody>
      </p:sp>
      <p:sp>
        <p:nvSpPr>
          <p:cNvPr id="77" name="Shape 74"/>
          <p:cNvSpPr/>
          <p:nvPr/>
        </p:nvSpPr>
        <p:spPr>
          <a:xfrm>
            <a:off x="13465597" y="3643313"/>
            <a:ext cx="2095054" cy="9525"/>
          </a:xfrm>
          <a:prstGeom prst="rect">
            <a:avLst/>
          </a:prstGeom>
          <a:solidFill>
            <a:srgbClr val="DDE5EC"/>
          </a:solidFill>
          <a:ln/>
        </p:spPr>
      </p:sp>
      <p:sp>
        <p:nvSpPr>
          <p:cNvPr id="78" name="Text 75"/>
          <p:cNvSpPr/>
          <p:nvPr/>
        </p:nvSpPr>
        <p:spPr>
          <a:xfrm>
            <a:off x="13579897" y="3295650"/>
            <a:ext cx="1866454" cy="252413"/>
          </a:xfrm>
          <a:prstGeom prst="rect">
            <a:avLst/>
          </a:prstGeom>
          <a:noFill/>
          <a:ln/>
        </p:spPr>
        <p:txBody>
          <a:bodyPr wrap="square" lIns="25400" tIns="25400" rIns="25400" bIns="25400" rtlCol="0" anchor="ctr">
            <a:normAutofit/>
          </a:bodyPr>
          <a:lstStyle/>
          <a:p>
            <a:pPr algn="ctr" indent="0" marL="0">
              <a:lnSpc>
                <a:spcPct val="150000"/>
              </a:lnSpc>
              <a:buNone/>
            </a:pPr>
            <a:r>
              <a:rPr lang="en-US" sz="1125" dirty="0">
                <a:solidFill>
                  <a:srgbClr val="98A1AE"/>
                </a:solidFill>
                <a:latin typeface="Arial" pitchFamily="34" charset="0"/>
                <a:ea typeface="Arial" pitchFamily="34" charset="-122"/>
                <a:cs typeface="Arial" pitchFamily="34" charset="-120"/>
              </a:rPr>
              <a:t>—</a:t>
            </a:r>
            <a:endParaRPr lang="en-US" sz="1125" dirty="0"/>
          </a:p>
        </p:txBody>
      </p:sp>
      <p:sp>
        <p:nvSpPr>
          <p:cNvPr id="79" name="Shape 76"/>
          <p:cNvSpPr/>
          <p:nvPr/>
        </p:nvSpPr>
        <p:spPr>
          <a:xfrm>
            <a:off x="15560650" y="3643313"/>
            <a:ext cx="1951062" cy="9525"/>
          </a:xfrm>
          <a:prstGeom prst="rect">
            <a:avLst/>
          </a:prstGeom>
          <a:solidFill>
            <a:srgbClr val="DDE5EC"/>
          </a:solidFill>
          <a:ln/>
        </p:spPr>
      </p:sp>
      <p:sp>
        <p:nvSpPr>
          <p:cNvPr id="80" name="Text 77"/>
          <p:cNvSpPr/>
          <p:nvPr/>
        </p:nvSpPr>
        <p:spPr>
          <a:xfrm>
            <a:off x="15636850" y="3295650"/>
            <a:ext cx="1722462" cy="252413"/>
          </a:xfrm>
          <a:prstGeom prst="rect">
            <a:avLst/>
          </a:prstGeom>
          <a:noFill/>
          <a:ln/>
        </p:spPr>
        <p:txBody>
          <a:bodyPr wrap="square" lIns="25400" tIns="25400" rIns="25400" bIns="25400" rtlCol="0" anchor="ctr">
            <a:normAutofit/>
          </a:bodyPr>
          <a:lstStyle/>
          <a:p>
            <a:pPr algn="r" indent="0" marL="0">
              <a:lnSpc>
                <a:spcPct val="150000"/>
              </a:lnSpc>
              <a:buNone/>
            </a:pPr>
            <a:r>
              <a:rPr lang="en-US" sz="1125" dirty="0">
                <a:solidFill>
                  <a:srgbClr val="0F1419"/>
                </a:solidFill>
                <a:latin typeface="Arial" pitchFamily="34" charset="0"/>
                <a:ea typeface="Arial" pitchFamily="34" charset="-122"/>
                <a:cs typeface="Arial" pitchFamily="34" charset="-120"/>
              </a:rPr>
              <a:t>$25+</a:t>
            </a:r>
            <a:endParaRPr lang="en-US" sz="1125" dirty="0"/>
          </a:p>
        </p:txBody>
      </p:sp>
      <p:sp>
        <p:nvSpPr>
          <p:cNvPr id="81" name="Shape 78"/>
          <p:cNvSpPr/>
          <p:nvPr/>
        </p:nvSpPr>
        <p:spPr>
          <a:xfrm>
            <a:off x="790575" y="4133850"/>
            <a:ext cx="2702496" cy="9525"/>
          </a:xfrm>
          <a:prstGeom prst="rect">
            <a:avLst/>
          </a:prstGeom>
          <a:solidFill>
            <a:srgbClr val="DDE5EC"/>
          </a:solidFill>
          <a:ln/>
        </p:spPr>
      </p:sp>
      <p:sp>
        <p:nvSpPr>
          <p:cNvPr id="82" name="Text 79"/>
          <p:cNvSpPr/>
          <p:nvPr/>
        </p:nvSpPr>
        <p:spPr>
          <a:xfrm>
            <a:off x="942975" y="3786188"/>
            <a:ext cx="2478770" cy="252413"/>
          </a:xfrm>
          <a:prstGeom prst="rect">
            <a:avLst/>
          </a:prstGeom>
          <a:noFill/>
          <a:ln/>
        </p:spPr>
        <p:txBody>
          <a:bodyPr wrap="square" lIns="25400" tIns="25400" rIns="25400" bIns="25400" rtlCol="0" anchor="ctr">
            <a:normAutofit/>
          </a:bodyPr>
          <a:lstStyle/>
          <a:p>
            <a:pPr algn="l" indent="0" marL="0">
              <a:lnSpc>
                <a:spcPct val="150000"/>
              </a:lnSpc>
              <a:buNone/>
            </a:pPr>
            <a:r>
              <a:rPr lang="en-US" sz="1125" dirty="0">
                <a:solidFill>
                  <a:srgbClr val="0F1419"/>
                </a:solidFill>
                <a:latin typeface="Arial" pitchFamily="34" charset="0"/>
                <a:ea typeface="Arial" pitchFamily="34" charset="-122"/>
                <a:cs typeface="Arial" pitchFamily="34" charset="-120"/>
              </a:rPr>
              <a:t>Bolt.new</a:t>
            </a:r>
            <a:endParaRPr lang="en-US" sz="1125" dirty="0"/>
          </a:p>
        </p:txBody>
      </p:sp>
      <p:sp>
        <p:nvSpPr>
          <p:cNvPr id="83" name="Shape 80"/>
          <p:cNvSpPr/>
          <p:nvPr/>
        </p:nvSpPr>
        <p:spPr>
          <a:xfrm>
            <a:off x="3493071" y="4133850"/>
            <a:ext cx="1373386" cy="9525"/>
          </a:xfrm>
          <a:prstGeom prst="rect">
            <a:avLst/>
          </a:prstGeom>
          <a:solidFill>
            <a:srgbClr val="DDE5EC"/>
          </a:solidFill>
          <a:ln/>
        </p:spPr>
      </p:sp>
      <p:sp>
        <p:nvSpPr>
          <p:cNvPr id="84" name="Text 81"/>
          <p:cNvSpPr/>
          <p:nvPr/>
        </p:nvSpPr>
        <p:spPr>
          <a:xfrm>
            <a:off x="3607371" y="3786188"/>
            <a:ext cx="1144786" cy="252413"/>
          </a:xfrm>
          <a:prstGeom prst="rect">
            <a:avLst/>
          </a:prstGeom>
          <a:noFill/>
          <a:ln/>
        </p:spPr>
        <p:txBody>
          <a:bodyPr wrap="square" lIns="25400" tIns="25400" rIns="25400" bIns="25400" rtlCol="0" anchor="ctr">
            <a:normAutofit/>
          </a:bodyPr>
          <a:lstStyle/>
          <a:p>
            <a:pPr algn="ctr" indent="0" marL="0">
              <a:lnSpc>
                <a:spcPct val="150000"/>
              </a:lnSpc>
              <a:buNone/>
            </a:pPr>
            <a:r>
              <a:rPr lang="en-US" sz="1125" dirty="0">
                <a:solidFill>
                  <a:srgbClr val="0F1419"/>
                </a:solidFill>
                <a:latin typeface="Arial" pitchFamily="34" charset="0"/>
                <a:ea typeface="Arial" pitchFamily="34" charset="-122"/>
                <a:cs typeface="Arial" pitchFamily="34" charset="-120"/>
              </a:rPr>
              <a:t>~</a:t>
            </a:r>
            <a:endParaRPr lang="en-US" sz="1125" dirty="0"/>
          </a:p>
        </p:txBody>
      </p:sp>
      <p:sp>
        <p:nvSpPr>
          <p:cNvPr id="85" name="Shape 82"/>
          <p:cNvSpPr/>
          <p:nvPr/>
        </p:nvSpPr>
        <p:spPr>
          <a:xfrm>
            <a:off x="4866456" y="4133850"/>
            <a:ext cx="1662113" cy="9525"/>
          </a:xfrm>
          <a:prstGeom prst="rect">
            <a:avLst/>
          </a:prstGeom>
          <a:solidFill>
            <a:srgbClr val="DDE5EC"/>
          </a:solidFill>
          <a:ln/>
        </p:spPr>
      </p:sp>
      <p:sp>
        <p:nvSpPr>
          <p:cNvPr id="86" name="Text 83"/>
          <p:cNvSpPr/>
          <p:nvPr/>
        </p:nvSpPr>
        <p:spPr>
          <a:xfrm>
            <a:off x="4980756" y="3786188"/>
            <a:ext cx="1433513" cy="252413"/>
          </a:xfrm>
          <a:prstGeom prst="rect">
            <a:avLst/>
          </a:prstGeom>
          <a:noFill/>
          <a:ln/>
        </p:spPr>
        <p:txBody>
          <a:bodyPr wrap="square" lIns="25400" tIns="25400" rIns="25400" bIns="25400" rtlCol="0" anchor="ctr">
            <a:normAutofit/>
          </a:bodyPr>
          <a:lstStyle/>
          <a:p>
            <a:pPr algn="ctr" indent="0" marL="0">
              <a:lnSpc>
                <a:spcPct val="150000"/>
              </a:lnSpc>
              <a:buNone/>
            </a:pPr>
            <a:r>
              <a:rPr lang="en-US" sz="1125" dirty="0">
                <a:solidFill>
                  <a:srgbClr val="98A1AE"/>
                </a:solidFill>
                <a:latin typeface="Arial" pitchFamily="34" charset="0"/>
                <a:ea typeface="Arial" pitchFamily="34" charset="-122"/>
                <a:cs typeface="Arial" pitchFamily="34" charset="-120"/>
              </a:rPr>
              <a:t>—</a:t>
            </a:r>
            <a:endParaRPr lang="en-US" sz="1125" dirty="0"/>
          </a:p>
        </p:txBody>
      </p:sp>
      <p:sp>
        <p:nvSpPr>
          <p:cNvPr id="87" name="Shape 84"/>
          <p:cNvSpPr/>
          <p:nvPr/>
        </p:nvSpPr>
        <p:spPr>
          <a:xfrm>
            <a:off x="6528569" y="4133850"/>
            <a:ext cx="1662113" cy="9525"/>
          </a:xfrm>
          <a:prstGeom prst="rect">
            <a:avLst/>
          </a:prstGeom>
          <a:solidFill>
            <a:srgbClr val="DDE5EC"/>
          </a:solidFill>
          <a:ln/>
        </p:spPr>
      </p:sp>
      <p:sp>
        <p:nvSpPr>
          <p:cNvPr id="88" name="Text 85"/>
          <p:cNvSpPr/>
          <p:nvPr/>
        </p:nvSpPr>
        <p:spPr>
          <a:xfrm>
            <a:off x="6642869" y="3786188"/>
            <a:ext cx="1433513" cy="252413"/>
          </a:xfrm>
          <a:prstGeom prst="rect">
            <a:avLst/>
          </a:prstGeom>
          <a:noFill/>
          <a:ln/>
        </p:spPr>
        <p:txBody>
          <a:bodyPr wrap="square" lIns="25400" tIns="25400" rIns="25400" bIns="25400" rtlCol="0" anchor="ctr">
            <a:normAutofit/>
          </a:bodyPr>
          <a:lstStyle/>
          <a:p>
            <a:pPr algn="ctr" indent="0" marL="0">
              <a:lnSpc>
                <a:spcPct val="150000"/>
              </a:lnSpc>
              <a:buNone/>
            </a:pPr>
            <a:r>
              <a:rPr lang="en-US" sz="1125" dirty="0">
                <a:solidFill>
                  <a:srgbClr val="0F1419"/>
                </a:solidFill>
                <a:latin typeface="Arial" pitchFamily="34" charset="0"/>
                <a:ea typeface="Arial" pitchFamily="34" charset="-122"/>
                <a:cs typeface="Arial" pitchFamily="34" charset="-120"/>
              </a:rPr>
              <a:t>~</a:t>
            </a:r>
            <a:endParaRPr lang="en-US" sz="1125" dirty="0"/>
          </a:p>
        </p:txBody>
      </p:sp>
      <p:sp>
        <p:nvSpPr>
          <p:cNvPr id="89" name="Shape 86"/>
          <p:cNvSpPr/>
          <p:nvPr/>
        </p:nvSpPr>
        <p:spPr>
          <a:xfrm>
            <a:off x="8190681" y="4133850"/>
            <a:ext cx="1806476" cy="9525"/>
          </a:xfrm>
          <a:prstGeom prst="rect">
            <a:avLst/>
          </a:prstGeom>
          <a:solidFill>
            <a:srgbClr val="DDE5EC"/>
          </a:solidFill>
          <a:ln/>
        </p:spPr>
      </p:sp>
      <p:sp>
        <p:nvSpPr>
          <p:cNvPr id="90" name="Text 87"/>
          <p:cNvSpPr/>
          <p:nvPr/>
        </p:nvSpPr>
        <p:spPr>
          <a:xfrm>
            <a:off x="8304981" y="3786188"/>
            <a:ext cx="1577876" cy="252413"/>
          </a:xfrm>
          <a:prstGeom prst="rect">
            <a:avLst/>
          </a:prstGeom>
          <a:noFill/>
          <a:ln/>
        </p:spPr>
        <p:txBody>
          <a:bodyPr wrap="square" lIns="25400" tIns="25400" rIns="25400" bIns="25400" rtlCol="0" anchor="ctr">
            <a:normAutofit/>
          </a:bodyPr>
          <a:lstStyle/>
          <a:p>
            <a:pPr algn="ctr" indent="0" marL="0">
              <a:lnSpc>
                <a:spcPct val="150000"/>
              </a:lnSpc>
              <a:buNone/>
            </a:pPr>
            <a:r>
              <a:rPr lang="en-US" sz="1125" dirty="0">
                <a:solidFill>
                  <a:srgbClr val="0F1419"/>
                </a:solidFill>
                <a:latin typeface="Arial" pitchFamily="34" charset="0"/>
                <a:ea typeface="Arial" pitchFamily="34" charset="-122"/>
                <a:cs typeface="Arial" pitchFamily="34" charset="-120"/>
              </a:rPr>
              <a:t>Med</a:t>
            </a:r>
            <a:endParaRPr lang="en-US" sz="1125" dirty="0"/>
          </a:p>
        </p:txBody>
      </p:sp>
      <p:sp>
        <p:nvSpPr>
          <p:cNvPr id="91" name="Shape 88"/>
          <p:cNvSpPr/>
          <p:nvPr/>
        </p:nvSpPr>
        <p:spPr>
          <a:xfrm>
            <a:off x="9997157" y="4133850"/>
            <a:ext cx="2095054" cy="9525"/>
          </a:xfrm>
          <a:prstGeom prst="rect">
            <a:avLst/>
          </a:prstGeom>
          <a:solidFill>
            <a:srgbClr val="DDE5EC"/>
          </a:solidFill>
          <a:ln/>
        </p:spPr>
      </p:sp>
      <p:sp>
        <p:nvSpPr>
          <p:cNvPr id="92" name="Text 89"/>
          <p:cNvSpPr/>
          <p:nvPr/>
        </p:nvSpPr>
        <p:spPr>
          <a:xfrm>
            <a:off x="10111457" y="3786188"/>
            <a:ext cx="1866454" cy="252413"/>
          </a:xfrm>
          <a:prstGeom prst="rect">
            <a:avLst/>
          </a:prstGeom>
          <a:noFill/>
          <a:ln/>
        </p:spPr>
        <p:txBody>
          <a:bodyPr wrap="square" lIns="25400" tIns="25400" rIns="25400" bIns="25400" rtlCol="0" anchor="ctr">
            <a:normAutofit/>
          </a:bodyPr>
          <a:lstStyle/>
          <a:p>
            <a:pPr algn="ctr" indent="0" marL="0">
              <a:lnSpc>
                <a:spcPct val="150000"/>
              </a:lnSpc>
              <a:buNone/>
            </a:pPr>
            <a:r>
              <a:rPr lang="en-US" sz="1125" dirty="0">
                <a:solidFill>
                  <a:srgbClr val="98A1AE"/>
                </a:solidFill>
                <a:latin typeface="Arial" pitchFamily="34" charset="0"/>
                <a:ea typeface="Arial" pitchFamily="34" charset="-122"/>
                <a:cs typeface="Arial" pitchFamily="34" charset="-120"/>
              </a:rPr>
              <a:t>—</a:t>
            </a:r>
            <a:endParaRPr lang="en-US" sz="1125" dirty="0"/>
          </a:p>
        </p:txBody>
      </p:sp>
      <p:sp>
        <p:nvSpPr>
          <p:cNvPr id="93" name="Shape 90"/>
          <p:cNvSpPr/>
          <p:nvPr/>
        </p:nvSpPr>
        <p:spPr>
          <a:xfrm>
            <a:off x="12092211" y="4133850"/>
            <a:ext cx="1373386" cy="9525"/>
          </a:xfrm>
          <a:prstGeom prst="rect">
            <a:avLst/>
          </a:prstGeom>
          <a:solidFill>
            <a:srgbClr val="DDE5EC"/>
          </a:solidFill>
          <a:ln/>
        </p:spPr>
      </p:sp>
      <p:sp>
        <p:nvSpPr>
          <p:cNvPr id="94" name="Text 91"/>
          <p:cNvSpPr/>
          <p:nvPr/>
        </p:nvSpPr>
        <p:spPr>
          <a:xfrm>
            <a:off x="12206511" y="3786188"/>
            <a:ext cx="1144786" cy="252413"/>
          </a:xfrm>
          <a:prstGeom prst="rect">
            <a:avLst/>
          </a:prstGeom>
          <a:noFill/>
          <a:ln/>
        </p:spPr>
        <p:txBody>
          <a:bodyPr wrap="square" lIns="25400" tIns="25400" rIns="25400" bIns="25400" rtlCol="0" anchor="ctr">
            <a:normAutofit/>
          </a:bodyPr>
          <a:lstStyle/>
          <a:p>
            <a:pPr algn="ctr" indent="0" marL="0">
              <a:lnSpc>
                <a:spcPct val="150000"/>
              </a:lnSpc>
              <a:buNone/>
            </a:pPr>
            <a:r>
              <a:rPr lang="en-US" sz="1125" dirty="0">
                <a:solidFill>
                  <a:srgbClr val="98A1AE"/>
                </a:solidFill>
                <a:latin typeface="Arial" pitchFamily="34" charset="0"/>
                <a:ea typeface="Arial" pitchFamily="34" charset="-122"/>
                <a:cs typeface="Arial" pitchFamily="34" charset="-120"/>
              </a:rPr>
              <a:t>—</a:t>
            </a:r>
            <a:endParaRPr lang="en-US" sz="1125" dirty="0"/>
          </a:p>
        </p:txBody>
      </p:sp>
      <p:sp>
        <p:nvSpPr>
          <p:cNvPr id="95" name="Shape 92"/>
          <p:cNvSpPr/>
          <p:nvPr/>
        </p:nvSpPr>
        <p:spPr>
          <a:xfrm>
            <a:off x="13465597" y="4133850"/>
            <a:ext cx="2095054" cy="9525"/>
          </a:xfrm>
          <a:prstGeom prst="rect">
            <a:avLst/>
          </a:prstGeom>
          <a:solidFill>
            <a:srgbClr val="DDE5EC"/>
          </a:solidFill>
          <a:ln/>
        </p:spPr>
      </p:sp>
      <p:sp>
        <p:nvSpPr>
          <p:cNvPr id="96" name="Text 93"/>
          <p:cNvSpPr/>
          <p:nvPr/>
        </p:nvSpPr>
        <p:spPr>
          <a:xfrm>
            <a:off x="13579897" y="3786188"/>
            <a:ext cx="1866454" cy="252413"/>
          </a:xfrm>
          <a:prstGeom prst="rect">
            <a:avLst/>
          </a:prstGeom>
          <a:noFill/>
          <a:ln/>
        </p:spPr>
        <p:txBody>
          <a:bodyPr wrap="square" lIns="25400" tIns="25400" rIns="25400" bIns="25400" rtlCol="0" anchor="ctr">
            <a:normAutofit/>
          </a:bodyPr>
          <a:lstStyle/>
          <a:p>
            <a:pPr algn="ctr" indent="0" marL="0">
              <a:lnSpc>
                <a:spcPct val="150000"/>
              </a:lnSpc>
              <a:buNone/>
            </a:pPr>
            <a:r>
              <a:rPr lang="en-US" sz="1125" dirty="0">
                <a:solidFill>
                  <a:srgbClr val="98A1AE"/>
                </a:solidFill>
                <a:latin typeface="Arial" pitchFamily="34" charset="0"/>
                <a:ea typeface="Arial" pitchFamily="34" charset="-122"/>
                <a:cs typeface="Arial" pitchFamily="34" charset="-120"/>
              </a:rPr>
              <a:t>—</a:t>
            </a:r>
            <a:endParaRPr lang="en-US" sz="1125" dirty="0"/>
          </a:p>
        </p:txBody>
      </p:sp>
      <p:sp>
        <p:nvSpPr>
          <p:cNvPr id="97" name="Shape 94"/>
          <p:cNvSpPr/>
          <p:nvPr/>
        </p:nvSpPr>
        <p:spPr>
          <a:xfrm>
            <a:off x="15560650" y="4133850"/>
            <a:ext cx="1951062" cy="9525"/>
          </a:xfrm>
          <a:prstGeom prst="rect">
            <a:avLst/>
          </a:prstGeom>
          <a:solidFill>
            <a:srgbClr val="DDE5EC"/>
          </a:solidFill>
          <a:ln/>
        </p:spPr>
      </p:sp>
      <p:sp>
        <p:nvSpPr>
          <p:cNvPr id="98" name="Text 95"/>
          <p:cNvSpPr/>
          <p:nvPr/>
        </p:nvSpPr>
        <p:spPr>
          <a:xfrm>
            <a:off x="15636850" y="3786188"/>
            <a:ext cx="1722462" cy="252413"/>
          </a:xfrm>
          <a:prstGeom prst="rect">
            <a:avLst/>
          </a:prstGeom>
          <a:noFill/>
          <a:ln/>
        </p:spPr>
        <p:txBody>
          <a:bodyPr wrap="square" lIns="25400" tIns="25400" rIns="25400" bIns="25400" rtlCol="0" anchor="ctr">
            <a:normAutofit/>
          </a:bodyPr>
          <a:lstStyle/>
          <a:p>
            <a:pPr algn="r" indent="0" marL="0">
              <a:lnSpc>
                <a:spcPct val="150000"/>
              </a:lnSpc>
              <a:buNone/>
            </a:pPr>
            <a:r>
              <a:rPr lang="en-US" sz="1125" dirty="0">
                <a:solidFill>
                  <a:srgbClr val="0F1419"/>
                </a:solidFill>
                <a:latin typeface="Arial" pitchFamily="34" charset="0"/>
                <a:ea typeface="Arial" pitchFamily="34" charset="-122"/>
                <a:cs typeface="Arial" pitchFamily="34" charset="-120"/>
              </a:rPr>
              <a:t>$20+</a:t>
            </a:r>
            <a:endParaRPr lang="en-US" sz="1125" dirty="0"/>
          </a:p>
        </p:txBody>
      </p:sp>
      <p:sp>
        <p:nvSpPr>
          <p:cNvPr id="99" name="Shape 96"/>
          <p:cNvSpPr/>
          <p:nvPr/>
        </p:nvSpPr>
        <p:spPr>
          <a:xfrm>
            <a:off x="790575" y="4624388"/>
            <a:ext cx="2702496" cy="9525"/>
          </a:xfrm>
          <a:prstGeom prst="rect">
            <a:avLst/>
          </a:prstGeom>
          <a:solidFill>
            <a:srgbClr val="DDE5EC"/>
          </a:solidFill>
          <a:ln/>
        </p:spPr>
      </p:sp>
      <p:sp>
        <p:nvSpPr>
          <p:cNvPr id="100" name="Text 97"/>
          <p:cNvSpPr/>
          <p:nvPr/>
        </p:nvSpPr>
        <p:spPr>
          <a:xfrm>
            <a:off x="942975" y="4276725"/>
            <a:ext cx="2478770" cy="252413"/>
          </a:xfrm>
          <a:prstGeom prst="rect">
            <a:avLst/>
          </a:prstGeom>
          <a:noFill/>
          <a:ln/>
        </p:spPr>
        <p:txBody>
          <a:bodyPr wrap="square" lIns="25400" tIns="25400" rIns="25400" bIns="25400" rtlCol="0" anchor="ctr">
            <a:normAutofit/>
          </a:bodyPr>
          <a:lstStyle/>
          <a:p>
            <a:pPr algn="l" indent="0" marL="0">
              <a:lnSpc>
                <a:spcPct val="150000"/>
              </a:lnSpc>
              <a:buNone/>
            </a:pPr>
            <a:r>
              <a:rPr lang="en-US" sz="1125" dirty="0">
                <a:solidFill>
                  <a:srgbClr val="0F1419"/>
                </a:solidFill>
                <a:latin typeface="Arial" pitchFamily="34" charset="0"/>
                <a:ea typeface="Arial" pitchFamily="34" charset="-122"/>
                <a:cs typeface="Arial" pitchFamily="34" charset="-120"/>
              </a:rPr>
              <a:t>v0 (Vercel)</a:t>
            </a:r>
            <a:endParaRPr lang="en-US" sz="1125" dirty="0"/>
          </a:p>
        </p:txBody>
      </p:sp>
      <p:sp>
        <p:nvSpPr>
          <p:cNvPr id="101" name="Shape 98"/>
          <p:cNvSpPr/>
          <p:nvPr/>
        </p:nvSpPr>
        <p:spPr>
          <a:xfrm>
            <a:off x="3493071" y="4624388"/>
            <a:ext cx="1373386" cy="9525"/>
          </a:xfrm>
          <a:prstGeom prst="rect">
            <a:avLst/>
          </a:prstGeom>
          <a:solidFill>
            <a:srgbClr val="DDE5EC"/>
          </a:solidFill>
          <a:ln/>
        </p:spPr>
      </p:sp>
      <p:sp>
        <p:nvSpPr>
          <p:cNvPr id="102" name="Text 99"/>
          <p:cNvSpPr/>
          <p:nvPr/>
        </p:nvSpPr>
        <p:spPr>
          <a:xfrm>
            <a:off x="3607371" y="4276725"/>
            <a:ext cx="1144786" cy="252413"/>
          </a:xfrm>
          <a:prstGeom prst="rect">
            <a:avLst/>
          </a:prstGeom>
          <a:noFill/>
          <a:ln/>
        </p:spPr>
        <p:txBody>
          <a:bodyPr wrap="square" lIns="25400" tIns="25400" rIns="25400" bIns="25400" rtlCol="0" anchor="ctr">
            <a:normAutofit/>
          </a:bodyPr>
          <a:lstStyle/>
          <a:p>
            <a:pPr algn="ctr" indent="0" marL="0">
              <a:lnSpc>
                <a:spcPct val="150000"/>
              </a:lnSpc>
              <a:buNone/>
            </a:pPr>
            <a:r>
              <a:rPr lang="en-US" sz="1125" dirty="0">
                <a:solidFill>
                  <a:srgbClr val="0F1419"/>
                </a:solidFill>
                <a:latin typeface="Arial" pitchFamily="34" charset="0"/>
                <a:ea typeface="Arial" pitchFamily="34" charset="-122"/>
                <a:cs typeface="Arial" pitchFamily="34" charset="-120"/>
              </a:rPr>
              <a:t>~</a:t>
            </a:r>
            <a:endParaRPr lang="en-US" sz="1125" dirty="0"/>
          </a:p>
        </p:txBody>
      </p:sp>
      <p:sp>
        <p:nvSpPr>
          <p:cNvPr id="103" name="Shape 100"/>
          <p:cNvSpPr/>
          <p:nvPr/>
        </p:nvSpPr>
        <p:spPr>
          <a:xfrm>
            <a:off x="4866456" y="4624388"/>
            <a:ext cx="1662113" cy="9525"/>
          </a:xfrm>
          <a:prstGeom prst="rect">
            <a:avLst/>
          </a:prstGeom>
          <a:solidFill>
            <a:srgbClr val="DDE5EC"/>
          </a:solidFill>
          <a:ln/>
        </p:spPr>
      </p:sp>
      <p:sp>
        <p:nvSpPr>
          <p:cNvPr id="104" name="Text 101"/>
          <p:cNvSpPr/>
          <p:nvPr/>
        </p:nvSpPr>
        <p:spPr>
          <a:xfrm>
            <a:off x="4980756" y="4276725"/>
            <a:ext cx="1433513" cy="252413"/>
          </a:xfrm>
          <a:prstGeom prst="rect">
            <a:avLst/>
          </a:prstGeom>
          <a:noFill/>
          <a:ln/>
        </p:spPr>
        <p:txBody>
          <a:bodyPr wrap="square" lIns="25400" tIns="25400" rIns="25400" bIns="25400" rtlCol="0" anchor="ctr">
            <a:normAutofit/>
          </a:bodyPr>
          <a:lstStyle/>
          <a:p>
            <a:pPr algn="ctr" indent="0" marL="0">
              <a:lnSpc>
                <a:spcPct val="150000"/>
              </a:lnSpc>
              <a:buNone/>
            </a:pPr>
            <a:r>
              <a:rPr lang="en-US" sz="1125" dirty="0">
                <a:solidFill>
                  <a:srgbClr val="98A1AE"/>
                </a:solidFill>
                <a:latin typeface="Arial" pitchFamily="34" charset="0"/>
                <a:ea typeface="Arial" pitchFamily="34" charset="-122"/>
                <a:cs typeface="Arial" pitchFamily="34" charset="-120"/>
              </a:rPr>
              <a:t>—</a:t>
            </a:r>
            <a:endParaRPr lang="en-US" sz="1125" dirty="0"/>
          </a:p>
        </p:txBody>
      </p:sp>
      <p:sp>
        <p:nvSpPr>
          <p:cNvPr id="105" name="Shape 102"/>
          <p:cNvSpPr/>
          <p:nvPr/>
        </p:nvSpPr>
        <p:spPr>
          <a:xfrm>
            <a:off x="6528569" y="4624388"/>
            <a:ext cx="1662113" cy="9525"/>
          </a:xfrm>
          <a:prstGeom prst="rect">
            <a:avLst/>
          </a:prstGeom>
          <a:solidFill>
            <a:srgbClr val="DDE5EC"/>
          </a:solidFill>
          <a:ln/>
        </p:spPr>
      </p:sp>
      <p:sp>
        <p:nvSpPr>
          <p:cNvPr id="106" name="Text 103"/>
          <p:cNvSpPr/>
          <p:nvPr/>
        </p:nvSpPr>
        <p:spPr>
          <a:xfrm>
            <a:off x="6642869" y="4276725"/>
            <a:ext cx="1433513" cy="252413"/>
          </a:xfrm>
          <a:prstGeom prst="rect">
            <a:avLst/>
          </a:prstGeom>
          <a:noFill/>
          <a:ln/>
        </p:spPr>
        <p:txBody>
          <a:bodyPr wrap="square" lIns="25400" tIns="25400" rIns="25400" bIns="25400" rtlCol="0" anchor="ctr">
            <a:normAutofit/>
          </a:bodyPr>
          <a:lstStyle/>
          <a:p>
            <a:pPr algn="ctr" indent="0" marL="0">
              <a:lnSpc>
                <a:spcPct val="150000"/>
              </a:lnSpc>
              <a:buNone/>
            </a:pPr>
            <a:r>
              <a:rPr lang="en-US" sz="1125" dirty="0">
                <a:solidFill>
                  <a:srgbClr val="98A1AE"/>
                </a:solidFill>
                <a:latin typeface="Arial" pitchFamily="34" charset="0"/>
                <a:ea typeface="Arial" pitchFamily="34" charset="-122"/>
                <a:cs typeface="Arial" pitchFamily="34" charset="-120"/>
              </a:rPr>
              <a:t>—</a:t>
            </a:r>
            <a:endParaRPr lang="en-US" sz="1125" dirty="0"/>
          </a:p>
        </p:txBody>
      </p:sp>
      <p:sp>
        <p:nvSpPr>
          <p:cNvPr id="107" name="Shape 104"/>
          <p:cNvSpPr/>
          <p:nvPr/>
        </p:nvSpPr>
        <p:spPr>
          <a:xfrm>
            <a:off x="8190681" y="4624388"/>
            <a:ext cx="1806476" cy="9525"/>
          </a:xfrm>
          <a:prstGeom prst="rect">
            <a:avLst/>
          </a:prstGeom>
          <a:solidFill>
            <a:srgbClr val="DDE5EC"/>
          </a:solidFill>
          <a:ln/>
        </p:spPr>
      </p:sp>
      <p:sp>
        <p:nvSpPr>
          <p:cNvPr id="108" name="Text 105"/>
          <p:cNvSpPr/>
          <p:nvPr/>
        </p:nvSpPr>
        <p:spPr>
          <a:xfrm>
            <a:off x="8304981" y="4276725"/>
            <a:ext cx="1577876" cy="252413"/>
          </a:xfrm>
          <a:prstGeom prst="rect">
            <a:avLst/>
          </a:prstGeom>
          <a:noFill/>
          <a:ln/>
        </p:spPr>
        <p:txBody>
          <a:bodyPr wrap="square" lIns="25400" tIns="25400" rIns="25400" bIns="25400" rtlCol="0" anchor="ctr">
            <a:normAutofit/>
          </a:bodyPr>
          <a:lstStyle/>
          <a:p>
            <a:pPr algn="ctr" indent="0" marL="0">
              <a:lnSpc>
                <a:spcPct val="150000"/>
              </a:lnSpc>
              <a:buNone/>
            </a:pPr>
            <a:r>
              <a:rPr lang="en-US" sz="1125" dirty="0">
                <a:solidFill>
                  <a:srgbClr val="0F1419"/>
                </a:solidFill>
                <a:latin typeface="Arial" pitchFamily="34" charset="0"/>
                <a:ea typeface="Arial" pitchFamily="34" charset="-122"/>
                <a:cs typeface="Arial" pitchFamily="34" charset="-120"/>
              </a:rPr>
              <a:t>Med</a:t>
            </a:r>
            <a:endParaRPr lang="en-US" sz="1125" dirty="0"/>
          </a:p>
        </p:txBody>
      </p:sp>
      <p:sp>
        <p:nvSpPr>
          <p:cNvPr id="109" name="Shape 106"/>
          <p:cNvSpPr/>
          <p:nvPr/>
        </p:nvSpPr>
        <p:spPr>
          <a:xfrm>
            <a:off x="9997157" y="4624388"/>
            <a:ext cx="2095054" cy="9525"/>
          </a:xfrm>
          <a:prstGeom prst="rect">
            <a:avLst/>
          </a:prstGeom>
          <a:solidFill>
            <a:srgbClr val="DDE5EC"/>
          </a:solidFill>
          <a:ln/>
        </p:spPr>
      </p:sp>
      <p:sp>
        <p:nvSpPr>
          <p:cNvPr id="110" name="Text 107"/>
          <p:cNvSpPr/>
          <p:nvPr/>
        </p:nvSpPr>
        <p:spPr>
          <a:xfrm>
            <a:off x="10111457" y="4276725"/>
            <a:ext cx="1866454" cy="252413"/>
          </a:xfrm>
          <a:prstGeom prst="rect">
            <a:avLst/>
          </a:prstGeom>
          <a:noFill/>
          <a:ln/>
        </p:spPr>
        <p:txBody>
          <a:bodyPr wrap="square" lIns="25400" tIns="25400" rIns="25400" bIns="25400" rtlCol="0" anchor="ctr">
            <a:normAutofit/>
          </a:bodyPr>
          <a:lstStyle/>
          <a:p>
            <a:pPr algn="ctr" indent="0" marL="0">
              <a:lnSpc>
                <a:spcPct val="150000"/>
              </a:lnSpc>
              <a:buNone/>
            </a:pPr>
            <a:r>
              <a:rPr lang="en-US" sz="1125" b="1" dirty="0">
                <a:solidFill>
                  <a:srgbClr val="2DB47A"/>
                </a:solidFill>
                <a:latin typeface="Arial" pitchFamily="34" charset="0"/>
                <a:ea typeface="Arial" pitchFamily="34" charset="-122"/>
                <a:cs typeface="Arial" pitchFamily="34" charset="-120"/>
              </a:rPr>
              <a:t>✓</a:t>
            </a:r>
            <a:endParaRPr lang="en-US" sz="1125" dirty="0"/>
          </a:p>
        </p:txBody>
      </p:sp>
      <p:sp>
        <p:nvSpPr>
          <p:cNvPr id="111" name="Shape 108"/>
          <p:cNvSpPr/>
          <p:nvPr/>
        </p:nvSpPr>
        <p:spPr>
          <a:xfrm>
            <a:off x="12092211" y="4624388"/>
            <a:ext cx="1373386" cy="9525"/>
          </a:xfrm>
          <a:prstGeom prst="rect">
            <a:avLst/>
          </a:prstGeom>
          <a:solidFill>
            <a:srgbClr val="DDE5EC"/>
          </a:solidFill>
          <a:ln/>
        </p:spPr>
      </p:sp>
      <p:sp>
        <p:nvSpPr>
          <p:cNvPr id="112" name="Text 109"/>
          <p:cNvSpPr/>
          <p:nvPr/>
        </p:nvSpPr>
        <p:spPr>
          <a:xfrm>
            <a:off x="12206511" y="4276725"/>
            <a:ext cx="1144786" cy="252413"/>
          </a:xfrm>
          <a:prstGeom prst="rect">
            <a:avLst/>
          </a:prstGeom>
          <a:noFill/>
          <a:ln/>
        </p:spPr>
        <p:txBody>
          <a:bodyPr wrap="square" lIns="25400" tIns="25400" rIns="25400" bIns="25400" rtlCol="0" anchor="ctr">
            <a:normAutofit/>
          </a:bodyPr>
          <a:lstStyle/>
          <a:p>
            <a:pPr algn="ctr" indent="0" marL="0">
              <a:lnSpc>
                <a:spcPct val="150000"/>
              </a:lnSpc>
              <a:buNone/>
            </a:pPr>
            <a:r>
              <a:rPr lang="en-US" sz="1125" dirty="0">
                <a:solidFill>
                  <a:srgbClr val="98A1AE"/>
                </a:solidFill>
                <a:latin typeface="Arial" pitchFamily="34" charset="0"/>
                <a:ea typeface="Arial" pitchFamily="34" charset="-122"/>
                <a:cs typeface="Arial" pitchFamily="34" charset="-120"/>
              </a:rPr>
              <a:t>—</a:t>
            </a:r>
            <a:endParaRPr lang="en-US" sz="1125" dirty="0"/>
          </a:p>
        </p:txBody>
      </p:sp>
      <p:sp>
        <p:nvSpPr>
          <p:cNvPr id="113" name="Shape 110"/>
          <p:cNvSpPr/>
          <p:nvPr/>
        </p:nvSpPr>
        <p:spPr>
          <a:xfrm>
            <a:off x="13465597" y="4624388"/>
            <a:ext cx="2095054" cy="9525"/>
          </a:xfrm>
          <a:prstGeom prst="rect">
            <a:avLst/>
          </a:prstGeom>
          <a:solidFill>
            <a:srgbClr val="DDE5EC"/>
          </a:solidFill>
          <a:ln/>
        </p:spPr>
      </p:sp>
      <p:sp>
        <p:nvSpPr>
          <p:cNvPr id="114" name="Text 111"/>
          <p:cNvSpPr/>
          <p:nvPr/>
        </p:nvSpPr>
        <p:spPr>
          <a:xfrm>
            <a:off x="13579897" y="4276725"/>
            <a:ext cx="1866454" cy="252413"/>
          </a:xfrm>
          <a:prstGeom prst="rect">
            <a:avLst/>
          </a:prstGeom>
          <a:noFill/>
          <a:ln/>
        </p:spPr>
        <p:txBody>
          <a:bodyPr wrap="square" lIns="25400" tIns="25400" rIns="25400" bIns="25400" rtlCol="0" anchor="ctr">
            <a:normAutofit/>
          </a:bodyPr>
          <a:lstStyle/>
          <a:p>
            <a:pPr algn="ctr" indent="0" marL="0">
              <a:lnSpc>
                <a:spcPct val="150000"/>
              </a:lnSpc>
              <a:buNone/>
            </a:pPr>
            <a:r>
              <a:rPr lang="en-US" sz="1125" dirty="0">
                <a:solidFill>
                  <a:srgbClr val="98A1AE"/>
                </a:solidFill>
                <a:latin typeface="Arial" pitchFamily="34" charset="0"/>
                <a:ea typeface="Arial" pitchFamily="34" charset="-122"/>
                <a:cs typeface="Arial" pitchFamily="34" charset="-120"/>
              </a:rPr>
              <a:t>—</a:t>
            </a:r>
            <a:endParaRPr lang="en-US" sz="1125" dirty="0"/>
          </a:p>
        </p:txBody>
      </p:sp>
      <p:sp>
        <p:nvSpPr>
          <p:cNvPr id="115" name="Shape 112"/>
          <p:cNvSpPr/>
          <p:nvPr/>
        </p:nvSpPr>
        <p:spPr>
          <a:xfrm>
            <a:off x="15560650" y="4624388"/>
            <a:ext cx="1951062" cy="9525"/>
          </a:xfrm>
          <a:prstGeom prst="rect">
            <a:avLst/>
          </a:prstGeom>
          <a:solidFill>
            <a:srgbClr val="DDE5EC"/>
          </a:solidFill>
          <a:ln/>
        </p:spPr>
      </p:sp>
      <p:sp>
        <p:nvSpPr>
          <p:cNvPr id="116" name="Text 113"/>
          <p:cNvSpPr/>
          <p:nvPr/>
        </p:nvSpPr>
        <p:spPr>
          <a:xfrm>
            <a:off x="15636850" y="4276725"/>
            <a:ext cx="1722462" cy="252413"/>
          </a:xfrm>
          <a:prstGeom prst="rect">
            <a:avLst/>
          </a:prstGeom>
          <a:noFill/>
          <a:ln/>
        </p:spPr>
        <p:txBody>
          <a:bodyPr wrap="square" lIns="25400" tIns="25400" rIns="25400" bIns="25400" rtlCol="0" anchor="ctr">
            <a:normAutofit/>
          </a:bodyPr>
          <a:lstStyle/>
          <a:p>
            <a:pPr algn="r" indent="0" marL="0">
              <a:lnSpc>
                <a:spcPct val="150000"/>
              </a:lnSpc>
              <a:buNone/>
            </a:pPr>
            <a:r>
              <a:rPr lang="en-US" sz="1125" dirty="0">
                <a:solidFill>
                  <a:srgbClr val="0F1419"/>
                </a:solidFill>
                <a:latin typeface="Arial" pitchFamily="34" charset="0"/>
                <a:ea typeface="Arial" pitchFamily="34" charset="-122"/>
                <a:cs typeface="Arial" pitchFamily="34" charset="-120"/>
              </a:rPr>
              <a:t>$20</a:t>
            </a:r>
            <a:endParaRPr lang="en-US" sz="1125" dirty="0"/>
          </a:p>
        </p:txBody>
      </p:sp>
      <p:sp>
        <p:nvSpPr>
          <p:cNvPr id="117" name="Shape 114"/>
          <p:cNvSpPr/>
          <p:nvPr/>
        </p:nvSpPr>
        <p:spPr>
          <a:xfrm>
            <a:off x="790575" y="5114925"/>
            <a:ext cx="2702496" cy="9525"/>
          </a:xfrm>
          <a:prstGeom prst="rect">
            <a:avLst/>
          </a:prstGeom>
          <a:solidFill>
            <a:srgbClr val="DDE5EC"/>
          </a:solidFill>
          <a:ln/>
        </p:spPr>
      </p:sp>
      <p:sp>
        <p:nvSpPr>
          <p:cNvPr id="118" name="Text 115"/>
          <p:cNvSpPr/>
          <p:nvPr/>
        </p:nvSpPr>
        <p:spPr>
          <a:xfrm>
            <a:off x="942975" y="4767262"/>
            <a:ext cx="2478770" cy="252413"/>
          </a:xfrm>
          <a:prstGeom prst="rect">
            <a:avLst/>
          </a:prstGeom>
          <a:noFill/>
          <a:ln/>
        </p:spPr>
        <p:txBody>
          <a:bodyPr wrap="square" lIns="25400" tIns="25400" rIns="25400" bIns="25400" rtlCol="0" anchor="ctr">
            <a:normAutofit/>
          </a:bodyPr>
          <a:lstStyle/>
          <a:p>
            <a:pPr algn="l" indent="0" marL="0">
              <a:lnSpc>
                <a:spcPct val="150000"/>
              </a:lnSpc>
              <a:buNone/>
            </a:pPr>
            <a:r>
              <a:rPr lang="en-US" sz="1125" dirty="0">
                <a:solidFill>
                  <a:srgbClr val="0F1419"/>
                </a:solidFill>
                <a:latin typeface="Arial" pitchFamily="34" charset="0"/>
                <a:ea typeface="Arial" pitchFamily="34" charset="-122"/>
                <a:cs typeface="Arial" pitchFamily="34" charset="-120"/>
              </a:rPr>
              <a:t>Replit Agent</a:t>
            </a:r>
            <a:endParaRPr lang="en-US" sz="1125" dirty="0"/>
          </a:p>
        </p:txBody>
      </p:sp>
      <p:sp>
        <p:nvSpPr>
          <p:cNvPr id="119" name="Shape 116"/>
          <p:cNvSpPr/>
          <p:nvPr/>
        </p:nvSpPr>
        <p:spPr>
          <a:xfrm>
            <a:off x="3493071" y="5114925"/>
            <a:ext cx="1373386" cy="9525"/>
          </a:xfrm>
          <a:prstGeom prst="rect">
            <a:avLst/>
          </a:prstGeom>
          <a:solidFill>
            <a:srgbClr val="DDE5EC"/>
          </a:solidFill>
          <a:ln/>
        </p:spPr>
      </p:sp>
      <p:sp>
        <p:nvSpPr>
          <p:cNvPr id="120" name="Text 117"/>
          <p:cNvSpPr/>
          <p:nvPr/>
        </p:nvSpPr>
        <p:spPr>
          <a:xfrm>
            <a:off x="3607371" y="4767262"/>
            <a:ext cx="1144786" cy="252413"/>
          </a:xfrm>
          <a:prstGeom prst="rect">
            <a:avLst/>
          </a:prstGeom>
          <a:noFill/>
          <a:ln/>
        </p:spPr>
        <p:txBody>
          <a:bodyPr wrap="square" lIns="25400" tIns="25400" rIns="25400" bIns="25400" rtlCol="0" anchor="ctr">
            <a:normAutofit/>
          </a:bodyPr>
          <a:lstStyle/>
          <a:p>
            <a:pPr algn="ctr" indent="0" marL="0">
              <a:lnSpc>
                <a:spcPct val="150000"/>
              </a:lnSpc>
              <a:buNone/>
            </a:pPr>
            <a:r>
              <a:rPr lang="en-US" sz="1125" dirty="0">
                <a:solidFill>
                  <a:srgbClr val="0F1419"/>
                </a:solidFill>
                <a:latin typeface="Arial" pitchFamily="34" charset="0"/>
                <a:ea typeface="Arial" pitchFamily="34" charset="-122"/>
                <a:cs typeface="Arial" pitchFamily="34" charset="-120"/>
              </a:rPr>
              <a:t>~</a:t>
            </a:r>
            <a:endParaRPr lang="en-US" sz="1125" dirty="0"/>
          </a:p>
        </p:txBody>
      </p:sp>
      <p:sp>
        <p:nvSpPr>
          <p:cNvPr id="121" name="Shape 118"/>
          <p:cNvSpPr/>
          <p:nvPr/>
        </p:nvSpPr>
        <p:spPr>
          <a:xfrm>
            <a:off x="4866456" y="5114925"/>
            <a:ext cx="1662113" cy="9525"/>
          </a:xfrm>
          <a:prstGeom prst="rect">
            <a:avLst/>
          </a:prstGeom>
          <a:solidFill>
            <a:srgbClr val="DDE5EC"/>
          </a:solidFill>
          <a:ln/>
        </p:spPr>
      </p:sp>
      <p:sp>
        <p:nvSpPr>
          <p:cNvPr id="122" name="Text 119"/>
          <p:cNvSpPr/>
          <p:nvPr/>
        </p:nvSpPr>
        <p:spPr>
          <a:xfrm>
            <a:off x="4980756" y="4767262"/>
            <a:ext cx="1433513" cy="252413"/>
          </a:xfrm>
          <a:prstGeom prst="rect">
            <a:avLst/>
          </a:prstGeom>
          <a:noFill/>
          <a:ln/>
        </p:spPr>
        <p:txBody>
          <a:bodyPr wrap="square" lIns="25400" tIns="25400" rIns="25400" bIns="25400" rtlCol="0" anchor="ctr">
            <a:normAutofit/>
          </a:bodyPr>
          <a:lstStyle/>
          <a:p>
            <a:pPr algn="ctr" indent="0" marL="0">
              <a:lnSpc>
                <a:spcPct val="150000"/>
              </a:lnSpc>
              <a:buNone/>
            </a:pPr>
            <a:r>
              <a:rPr lang="en-US" sz="1125" dirty="0">
                <a:solidFill>
                  <a:srgbClr val="0F1419"/>
                </a:solidFill>
                <a:latin typeface="Arial" pitchFamily="34" charset="0"/>
                <a:ea typeface="Arial" pitchFamily="34" charset="-122"/>
                <a:cs typeface="Arial" pitchFamily="34" charset="-120"/>
              </a:rPr>
              <a:t>~</a:t>
            </a:r>
            <a:endParaRPr lang="en-US" sz="1125" dirty="0"/>
          </a:p>
        </p:txBody>
      </p:sp>
      <p:sp>
        <p:nvSpPr>
          <p:cNvPr id="123" name="Shape 120"/>
          <p:cNvSpPr/>
          <p:nvPr/>
        </p:nvSpPr>
        <p:spPr>
          <a:xfrm>
            <a:off x="6528569" y="5114925"/>
            <a:ext cx="1662113" cy="9525"/>
          </a:xfrm>
          <a:prstGeom prst="rect">
            <a:avLst/>
          </a:prstGeom>
          <a:solidFill>
            <a:srgbClr val="DDE5EC"/>
          </a:solidFill>
          <a:ln/>
        </p:spPr>
      </p:sp>
      <p:sp>
        <p:nvSpPr>
          <p:cNvPr id="124" name="Text 121"/>
          <p:cNvSpPr/>
          <p:nvPr/>
        </p:nvSpPr>
        <p:spPr>
          <a:xfrm>
            <a:off x="6642869" y="4767262"/>
            <a:ext cx="1433513" cy="252413"/>
          </a:xfrm>
          <a:prstGeom prst="rect">
            <a:avLst/>
          </a:prstGeom>
          <a:noFill/>
          <a:ln/>
        </p:spPr>
        <p:txBody>
          <a:bodyPr wrap="square" lIns="25400" tIns="25400" rIns="25400" bIns="25400" rtlCol="0" anchor="ctr">
            <a:normAutofit/>
          </a:bodyPr>
          <a:lstStyle/>
          <a:p>
            <a:pPr algn="ctr" indent="0" marL="0">
              <a:lnSpc>
                <a:spcPct val="150000"/>
              </a:lnSpc>
              <a:buNone/>
            </a:pPr>
            <a:r>
              <a:rPr lang="en-US" sz="1125" dirty="0">
                <a:solidFill>
                  <a:srgbClr val="98A1AE"/>
                </a:solidFill>
                <a:latin typeface="Arial" pitchFamily="34" charset="0"/>
                <a:ea typeface="Arial" pitchFamily="34" charset="-122"/>
                <a:cs typeface="Arial" pitchFamily="34" charset="-120"/>
              </a:rPr>
              <a:t>—</a:t>
            </a:r>
            <a:endParaRPr lang="en-US" sz="1125" dirty="0"/>
          </a:p>
        </p:txBody>
      </p:sp>
      <p:sp>
        <p:nvSpPr>
          <p:cNvPr id="125" name="Shape 122"/>
          <p:cNvSpPr/>
          <p:nvPr/>
        </p:nvSpPr>
        <p:spPr>
          <a:xfrm>
            <a:off x="8190681" y="5114925"/>
            <a:ext cx="1806476" cy="9525"/>
          </a:xfrm>
          <a:prstGeom prst="rect">
            <a:avLst/>
          </a:prstGeom>
          <a:solidFill>
            <a:srgbClr val="DDE5EC"/>
          </a:solidFill>
          <a:ln/>
        </p:spPr>
      </p:sp>
      <p:sp>
        <p:nvSpPr>
          <p:cNvPr id="126" name="Text 123"/>
          <p:cNvSpPr/>
          <p:nvPr/>
        </p:nvSpPr>
        <p:spPr>
          <a:xfrm>
            <a:off x="8304981" y="4767262"/>
            <a:ext cx="1577876" cy="252413"/>
          </a:xfrm>
          <a:prstGeom prst="rect">
            <a:avLst/>
          </a:prstGeom>
          <a:noFill/>
          <a:ln/>
        </p:spPr>
        <p:txBody>
          <a:bodyPr wrap="square" lIns="25400" tIns="25400" rIns="25400" bIns="25400" rtlCol="0" anchor="ctr">
            <a:normAutofit/>
          </a:bodyPr>
          <a:lstStyle/>
          <a:p>
            <a:pPr algn="ctr" indent="0" marL="0">
              <a:lnSpc>
                <a:spcPct val="150000"/>
              </a:lnSpc>
              <a:buNone/>
            </a:pPr>
            <a:r>
              <a:rPr lang="en-US" sz="1125" dirty="0">
                <a:solidFill>
                  <a:srgbClr val="0F1419"/>
                </a:solidFill>
                <a:latin typeface="Arial" pitchFamily="34" charset="0"/>
                <a:ea typeface="Arial" pitchFamily="34" charset="-122"/>
                <a:cs typeface="Arial" pitchFamily="34" charset="-120"/>
              </a:rPr>
              <a:t>Med</a:t>
            </a:r>
            <a:endParaRPr lang="en-US" sz="1125" dirty="0"/>
          </a:p>
        </p:txBody>
      </p:sp>
      <p:sp>
        <p:nvSpPr>
          <p:cNvPr id="127" name="Shape 124"/>
          <p:cNvSpPr/>
          <p:nvPr/>
        </p:nvSpPr>
        <p:spPr>
          <a:xfrm>
            <a:off x="9997157" y="5114925"/>
            <a:ext cx="2095054" cy="9525"/>
          </a:xfrm>
          <a:prstGeom prst="rect">
            <a:avLst/>
          </a:prstGeom>
          <a:solidFill>
            <a:srgbClr val="DDE5EC"/>
          </a:solidFill>
          <a:ln/>
        </p:spPr>
      </p:sp>
      <p:sp>
        <p:nvSpPr>
          <p:cNvPr id="128" name="Text 125"/>
          <p:cNvSpPr/>
          <p:nvPr/>
        </p:nvSpPr>
        <p:spPr>
          <a:xfrm>
            <a:off x="10111457" y="4767262"/>
            <a:ext cx="1866454" cy="252413"/>
          </a:xfrm>
          <a:prstGeom prst="rect">
            <a:avLst/>
          </a:prstGeom>
          <a:noFill/>
          <a:ln/>
        </p:spPr>
        <p:txBody>
          <a:bodyPr wrap="square" lIns="25400" tIns="25400" rIns="25400" bIns="25400" rtlCol="0" anchor="ctr">
            <a:normAutofit/>
          </a:bodyPr>
          <a:lstStyle/>
          <a:p>
            <a:pPr algn="ctr" indent="0" marL="0">
              <a:lnSpc>
                <a:spcPct val="150000"/>
              </a:lnSpc>
              <a:buNone/>
            </a:pPr>
            <a:r>
              <a:rPr lang="en-US" sz="1125" b="1" dirty="0">
                <a:solidFill>
                  <a:srgbClr val="2DB47A"/>
                </a:solidFill>
                <a:latin typeface="Arial" pitchFamily="34" charset="0"/>
                <a:ea typeface="Arial" pitchFamily="34" charset="-122"/>
                <a:cs typeface="Arial" pitchFamily="34" charset="-120"/>
              </a:rPr>
              <a:t>✓</a:t>
            </a:r>
            <a:endParaRPr lang="en-US" sz="1125" dirty="0"/>
          </a:p>
        </p:txBody>
      </p:sp>
      <p:sp>
        <p:nvSpPr>
          <p:cNvPr id="129" name="Shape 126"/>
          <p:cNvSpPr/>
          <p:nvPr/>
        </p:nvSpPr>
        <p:spPr>
          <a:xfrm>
            <a:off x="12092211" y="5114925"/>
            <a:ext cx="1373386" cy="9525"/>
          </a:xfrm>
          <a:prstGeom prst="rect">
            <a:avLst/>
          </a:prstGeom>
          <a:solidFill>
            <a:srgbClr val="DDE5EC"/>
          </a:solidFill>
          <a:ln/>
        </p:spPr>
      </p:sp>
      <p:sp>
        <p:nvSpPr>
          <p:cNvPr id="130" name="Text 127"/>
          <p:cNvSpPr/>
          <p:nvPr/>
        </p:nvSpPr>
        <p:spPr>
          <a:xfrm>
            <a:off x="12206511" y="4767262"/>
            <a:ext cx="1144786" cy="252413"/>
          </a:xfrm>
          <a:prstGeom prst="rect">
            <a:avLst/>
          </a:prstGeom>
          <a:noFill/>
          <a:ln/>
        </p:spPr>
        <p:txBody>
          <a:bodyPr wrap="square" lIns="25400" tIns="25400" rIns="25400" bIns="25400" rtlCol="0" anchor="ctr">
            <a:normAutofit/>
          </a:bodyPr>
          <a:lstStyle/>
          <a:p>
            <a:pPr algn="ctr" indent="0" marL="0">
              <a:lnSpc>
                <a:spcPct val="150000"/>
              </a:lnSpc>
              <a:buNone/>
            </a:pPr>
            <a:r>
              <a:rPr lang="en-US" sz="1125" dirty="0">
                <a:solidFill>
                  <a:srgbClr val="98A1AE"/>
                </a:solidFill>
                <a:latin typeface="Arial" pitchFamily="34" charset="0"/>
                <a:ea typeface="Arial" pitchFamily="34" charset="-122"/>
                <a:cs typeface="Arial" pitchFamily="34" charset="-120"/>
              </a:rPr>
              <a:t>—</a:t>
            </a:r>
            <a:endParaRPr lang="en-US" sz="1125" dirty="0"/>
          </a:p>
        </p:txBody>
      </p:sp>
      <p:sp>
        <p:nvSpPr>
          <p:cNvPr id="131" name="Shape 128"/>
          <p:cNvSpPr/>
          <p:nvPr/>
        </p:nvSpPr>
        <p:spPr>
          <a:xfrm>
            <a:off x="13465597" y="5114925"/>
            <a:ext cx="2095054" cy="9525"/>
          </a:xfrm>
          <a:prstGeom prst="rect">
            <a:avLst/>
          </a:prstGeom>
          <a:solidFill>
            <a:srgbClr val="DDE5EC"/>
          </a:solidFill>
          <a:ln/>
        </p:spPr>
      </p:sp>
      <p:sp>
        <p:nvSpPr>
          <p:cNvPr id="132" name="Text 129"/>
          <p:cNvSpPr/>
          <p:nvPr/>
        </p:nvSpPr>
        <p:spPr>
          <a:xfrm>
            <a:off x="13579897" y="4767262"/>
            <a:ext cx="1866454" cy="252413"/>
          </a:xfrm>
          <a:prstGeom prst="rect">
            <a:avLst/>
          </a:prstGeom>
          <a:noFill/>
          <a:ln/>
        </p:spPr>
        <p:txBody>
          <a:bodyPr wrap="square" lIns="25400" tIns="25400" rIns="25400" bIns="25400" rtlCol="0" anchor="ctr">
            <a:normAutofit/>
          </a:bodyPr>
          <a:lstStyle/>
          <a:p>
            <a:pPr algn="ctr" indent="0" marL="0">
              <a:lnSpc>
                <a:spcPct val="150000"/>
              </a:lnSpc>
              <a:buNone/>
            </a:pPr>
            <a:r>
              <a:rPr lang="en-US" sz="1125" dirty="0">
                <a:solidFill>
                  <a:srgbClr val="98A1AE"/>
                </a:solidFill>
                <a:latin typeface="Arial" pitchFamily="34" charset="0"/>
                <a:ea typeface="Arial" pitchFamily="34" charset="-122"/>
                <a:cs typeface="Arial" pitchFamily="34" charset="-120"/>
              </a:rPr>
              <a:t>—</a:t>
            </a:r>
            <a:endParaRPr lang="en-US" sz="1125" dirty="0"/>
          </a:p>
        </p:txBody>
      </p:sp>
      <p:sp>
        <p:nvSpPr>
          <p:cNvPr id="133" name="Shape 130"/>
          <p:cNvSpPr/>
          <p:nvPr/>
        </p:nvSpPr>
        <p:spPr>
          <a:xfrm>
            <a:off x="15560650" y="5114925"/>
            <a:ext cx="1951062" cy="9525"/>
          </a:xfrm>
          <a:prstGeom prst="rect">
            <a:avLst/>
          </a:prstGeom>
          <a:solidFill>
            <a:srgbClr val="DDE5EC"/>
          </a:solidFill>
          <a:ln/>
        </p:spPr>
      </p:sp>
      <p:sp>
        <p:nvSpPr>
          <p:cNvPr id="134" name="Text 131"/>
          <p:cNvSpPr/>
          <p:nvPr/>
        </p:nvSpPr>
        <p:spPr>
          <a:xfrm>
            <a:off x="15636850" y="4767262"/>
            <a:ext cx="1722462" cy="252413"/>
          </a:xfrm>
          <a:prstGeom prst="rect">
            <a:avLst/>
          </a:prstGeom>
          <a:noFill/>
          <a:ln/>
        </p:spPr>
        <p:txBody>
          <a:bodyPr wrap="square" lIns="25400" tIns="25400" rIns="25400" bIns="25400" rtlCol="0" anchor="ctr">
            <a:normAutofit/>
          </a:bodyPr>
          <a:lstStyle/>
          <a:p>
            <a:pPr algn="r" indent="0" marL="0">
              <a:lnSpc>
                <a:spcPct val="150000"/>
              </a:lnSpc>
              <a:buNone/>
            </a:pPr>
            <a:r>
              <a:rPr lang="en-US" sz="1125" dirty="0">
                <a:solidFill>
                  <a:srgbClr val="0F1419"/>
                </a:solidFill>
                <a:latin typeface="Arial" pitchFamily="34" charset="0"/>
                <a:ea typeface="Arial" pitchFamily="34" charset="-122"/>
                <a:cs typeface="Arial" pitchFamily="34" charset="-120"/>
              </a:rPr>
              <a:t>$25+</a:t>
            </a:r>
            <a:endParaRPr lang="en-US" sz="1125" dirty="0"/>
          </a:p>
        </p:txBody>
      </p:sp>
      <p:sp>
        <p:nvSpPr>
          <p:cNvPr id="135" name="Shape 132"/>
          <p:cNvSpPr/>
          <p:nvPr/>
        </p:nvSpPr>
        <p:spPr>
          <a:xfrm>
            <a:off x="790575" y="5605463"/>
            <a:ext cx="2702496" cy="9525"/>
          </a:xfrm>
          <a:prstGeom prst="rect">
            <a:avLst/>
          </a:prstGeom>
          <a:solidFill>
            <a:srgbClr val="DDE5EC"/>
          </a:solidFill>
          <a:ln/>
        </p:spPr>
      </p:sp>
      <p:sp>
        <p:nvSpPr>
          <p:cNvPr id="136" name="Text 133"/>
          <p:cNvSpPr/>
          <p:nvPr/>
        </p:nvSpPr>
        <p:spPr>
          <a:xfrm>
            <a:off x="942975" y="5257800"/>
            <a:ext cx="2478770" cy="252413"/>
          </a:xfrm>
          <a:prstGeom prst="rect">
            <a:avLst/>
          </a:prstGeom>
          <a:noFill/>
          <a:ln/>
        </p:spPr>
        <p:txBody>
          <a:bodyPr wrap="square" lIns="25400" tIns="25400" rIns="25400" bIns="25400" rtlCol="0" anchor="ctr">
            <a:normAutofit/>
          </a:bodyPr>
          <a:lstStyle/>
          <a:p>
            <a:pPr algn="l" indent="0" marL="0">
              <a:lnSpc>
                <a:spcPct val="150000"/>
              </a:lnSpc>
              <a:buNone/>
            </a:pPr>
            <a:r>
              <a:rPr lang="en-US" sz="1125" dirty="0">
                <a:solidFill>
                  <a:srgbClr val="0F1419"/>
                </a:solidFill>
                <a:latin typeface="Arial" pitchFamily="34" charset="0"/>
                <a:ea typeface="Arial" pitchFamily="34" charset="-122"/>
                <a:cs typeface="Arial" pitchFamily="34" charset="-120"/>
              </a:rPr>
              <a:t>Bubble</a:t>
            </a:r>
            <a:endParaRPr lang="en-US" sz="1125" dirty="0"/>
          </a:p>
        </p:txBody>
      </p:sp>
      <p:sp>
        <p:nvSpPr>
          <p:cNvPr id="137" name="Shape 134"/>
          <p:cNvSpPr/>
          <p:nvPr/>
        </p:nvSpPr>
        <p:spPr>
          <a:xfrm>
            <a:off x="3493071" y="5605463"/>
            <a:ext cx="1373386" cy="9525"/>
          </a:xfrm>
          <a:prstGeom prst="rect">
            <a:avLst/>
          </a:prstGeom>
          <a:solidFill>
            <a:srgbClr val="DDE5EC"/>
          </a:solidFill>
          <a:ln/>
        </p:spPr>
      </p:sp>
      <p:sp>
        <p:nvSpPr>
          <p:cNvPr id="138" name="Text 135"/>
          <p:cNvSpPr/>
          <p:nvPr/>
        </p:nvSpPr>
        <p:spPr>
          <a:xfrm>
            <a:off x="3607371" y="5257800"/>
            <a:ext cx="1144786" cy="252413"/>
          </a:xfrm>
          <a:prstGeom prst="rect">
            <a:avLst/>
          </a:prstGeom>
          <a:noFill/>
          <a:ln/>
        </p:spPr>
        <p:txBody>
          <a:bodyPr wrap="square" lIns="25400" tIns="25400" rIns="25400" bIns="25400" rtlCol="0" anchor="ctr">
            <a:normAutofit/>
          </a:bodyPr>
          <a:lstStyle/>
          <a:p>
            <a:pPr algn="ctr" indent="0" marL="0">
              <a:lnSpc>
                <a:spcPct val="150000"/>
              </a:lnSpc>
              <a:buNone/>
            </a:pPr>
            <a:r>
              <a:rPr lang="en-US" sz="1125" dirty="0">
                <a:solidFill>
                  <a:srgbClr val="98A1AE"/>
                </a:solidFill>
                <a:latin typeface="Arial" pitchFamily="34" charset="0"/>
                <a:ea typeface="Arial" pitchFamily="34" charset="-122"/>
                <a:cs typeface="Arial" pitchFamily="34" charset="-120"/>
              </a:rPr>
              <a:t>—</a:t>
            </a:r>
            <a:endParaRPr lang="en-US" sz="1125" dirty="0"/>
          </a:p>
        </p:txBody>
      </p:sp>
      <p:sp>
        <p:nvSpPr>
          <p:cNvPr id="139" name="Shape 136"/>
          <p:cNvSpPr/>
          <p:nvPr/>
        </p:nvSpPr>
        <p:spPr>
          <a:xfrm>
            <a:off x="4866456" y="5605463"/>
            <a:ext cx="1662113" cy="9525"/>
          </a:xfrm>
          <a:prstGeom prst="rect">
            <a:avLst/>
          </a:prstGeom>
          <a:solidFill>
            <a:srgbClr val="DDE5EC"/>
          </a:solidFill>
          <a:ln/>
        </p:spPr>
      </p:sp>
      <p:sp>
        <p:nvSpPr>
          <p:cNvPr id="140" name="Text 137"/>
          <p:cNvSpPr/>
          <p:nvPr/>
        </p:nvSpPr>
        <p:spPr>
          <a:xfrm>
            <a:off x="4980756" y="5257800"/>
            <a:ext cx="1433513" cy="252413"/>
          </a:xfrm>
          <a:prstGeom prst="rect">
            <a:avLst/>
          </a:prstGeom>
          <a:noFill/>
          <a:ln/>
        </p:spPr>
        <p:txBody>
          <a:bodyPr wrap="square" lIns="25400" tIns="25400" rIns="25400" bIns="25400" rtlCol="0" anchor="ctr">
            <a:normAutofit/>
          </a:bodyPr>
          <a:lstStyle/>
          <a:p>
            <a:pPr algn="ctr" indent="0" marL="0">
              <a:lnSpc>
                <a:spcPct val="150000"/>
              </a:lnSpc>
              <a:buNone/>
            </a:pPr>
            <a:r>
              <a:rPr lang="en-US" sz="1125" b="1" dirty="0">
                <a:solidFill>
                  <a:srgbClr val="2DB47A"/>
                </a:solidFill>
                <a:latin typeface="Arial" pitchFamily="34" charset="0"/>
                <a:ea typeface="Arial" pitchFamily="34" charset="-122"/>
                <a:cs typeface="Arial" pitchFamily="34" charset="-120"/>
              </a:rPr>
              <a:t>✓</a:t>
            </a:r>
            <a:endParaRPr lang="en-US" sz="1125" dirty="0"/>
          </a:p>
        </p:txBody>
      </p:sp>
      <p:sp>
        <p:nvSpPr>
          <p:cNvPr id="141" name="Shape 138"/>
          <p:cNvSpPr/>
          <p:nvPr/>
        </p:nvSpPr>
        <p:spPr>
          <a:xfrm>
            <a:off x="6528569" y="5605463"/>
            <a:ext cx="1662113" cy="9525"/>
          </a:xfrm>
          <a:prstGeom prst="rect">
            <a:avLst/>
          </a:prstGeom>
          <a:solidFill>
            <a:srgbClr val="DDE5EC"/>
          </a:solidFill>
          <a:ln/>
        </p:spPr>
      </p:sp>
      <p:sp>
        <p:nvSpPr>
          <p:cNvPr id="142" name="Text 139"/>
          <p:cNvSpPr/>
          <p:nvPr/>
        </p:nvSpPr>
        <p:spPr>
          <a:xfrm>
            <a:off x="6642869" y="5257800"/>
            <a:ext cx="1433513" cy="252413"/>
          </a:xfrm>
          <a:prstGeom prst="rect">
            <a:avLst/>
          </a:prstGeom>
          <a:noFill/>
          <a:ln/>
        </p:spPr>
        <p:txBody>
          <a:bodyPr wrap="square" lIns="25400" tIns="25400" rIns="25400" bIns="25400" rtlCol="0" anchor="ctr">
            <a:normAutofit/>
          </a:bodyPr>
          <a:lstStyle/>
          <a:p>
            <a:pPr algn="ctr" indent="0" marL="0">
              <a:lnSpc>
                <a:spcPct val="150000"/>
              </a:lnSpc>
              <a:buNone/>
            </a:pPr>
            <a:r>
              <a:rPr lang="en-US" sz="1125" dirty="0">
                <a:solidFill>
                  <a:srgbClr val="98A1AE"/>
                </a:solidFill>
                <a:latin typeface="Arial" pitchFamily="34" charset="0"/>
                <a:ea typeface="Arial" pitchFamily="34" charset="-122"/>
                <a:cs typeface="Arial" pitchFamily="34" charset="-120"/>
              </a:rPr>
              <a:t>—</a:t>
            </a:r>
            <a:endParaRPr lang="en-US" sz="1125" dirty="0"/>
          </a:p>
        </p:txBody>
      </p:sp>
      <p:sp>
        <p:nvSpPr>
          <p:cNvPr id="143" name="Shape 140"/>
          <p:cNvSpPr/>
          <p:nvPr/>
        </p:nvSpPr>
        <p:spPr>
          <a:xfrm>
            <a:off x="8190681" y="5605463"/>
            <a:ext cx="1806476" cy="9525"/>
          </a:xfrm>
          <a:prstGeom prst="rect">
            <a:avLst/>
          </a:prstGeom>
          <a:solidFill>
            <a:srgbClr val="DDE5EC"/>
          </a:solidFill>
          <a:ln/>
        </p:spPr>
      </p:sp>
      <p:sp>
        <p:nvSpPr>
          <p:cNvPr id="144" name="Text 141"/>
          <p:cNvSpPr/>
          <p:nvPr/>
        </p:nvSpPr>
        <p:spPr>
          <a:xfrm>
            <a:off x="8304981" y="5257800"/>
            <a:ext cx="1577876" cy="252413"/>
          </a:xfrm>
          <a:prstGeom prst="rect">
            <a:avLst/>
          </a:prstGeom>
          <a:noFill/>
          <a:ln/>
        </p:spPr>
        <p:txBody>
          <a:bodyPr wrap="square" lIns="25400" tIns="25400" rIns="25400" bIns="25400" rtlCol="0" anchor="ctr">
            <a:normAutofit/>
          </a:bodyPr>
          <a:lstStyle/>
          <a:p>
            <a:pPr algn="ctr" indent="0" marL="0">
              <a:lnSpc>
                <a:spcPct val="150000"/>
              </a:lnSpc>
              <a:buNone/>
            </a:pPr>
            <a:r>
              <a:rPr lang="en-US" sz="1125" dirty="0">
                <a:solidFill>
                  <a:srgbClr val="0F1419"/>
                </a:solidFill>
                <a:latin typeface="Arial" pitchFamily="34" charset="0"/>
                <a:ea typeface="Arial" pitchFamily="34" charset="-122"/>
                <a:cs typeface="Arial" pitchFamily="34" charset="-120"/>
              </a:rPr>
              <a:t>High</a:t>
            </a:r>
            <a:endParaRPr lang="en-US" sz="1125" dirty="0"/>
          </a:p>
        </p:txBody>
      </p:sp>
      <p:sp>
        <p:nvSpPr>
          <p:cNvPr id="145" name="Shape 142"/>
          <p:cNvSpPr/>
          <p:nvPr/>
        </p:nvSpPr>
        <p:spPr>
          <a:xfrm>
            <a:off x="9997157" y="5605463"/>
            <a:ext cx="2095054" cy="9525"/>
          </a:xfrm>
          <a:prstGeom prst="rect">
            <a:avLst/>
          </a:prstGeom>
          <a:solidFill>
            <a:srgbClr val="DDE5EC"/>
          </a:solidFill>
          <a:ln/>
        </p:spPr>
      </p:sp>
      <p:sp>
        <p:nvSpPr>
          <p:cNvPr id="146" name="Text 143"/>
          <p:cNvSpPr/>
          <p:nvPr/>
        </p:nvSpPr>
        <p:spPr>
          <a:xfrm>
            <a:off x="10111457" y="5257800"/>
            <a:ext cx="1866454" cy="252413"/>
          </a:xfrm>
          <a:prstGeom prst="rect">
            <a:avLst/>
          </a:prstGeom>
          <a:noFill/>
          <a:ln/>
        </p:spPr>
        <p:txBody>
          <a:bodyPr wrap="square" lIns="25400" tIns="25400" rIns="25400" bIns="25400" rtlCol="0" anchor="ctr">
            <a:normAutofit/>
          </a:bodyPr>
          <a:lstStyle/>
          <a:p>
            <a:pPr algn="ctr" indent="0" marL="0">
              <a:lnSpc>
                <a:spcPct val="150000"/>
              </a:lnSpc>
              <a:buNone/>
            </a:pPr>
            <a:r>
              <a:rPr lang="en-US" sz="1125" b="1" dirty="0">
                <a:solidFill>
                  <a:srgbClr val="2DB47A"/>
                </a:solidFill>
                <a:latin typeface="Arial" pitchFamily="34" charset="0"/>
                <a:ea typeface="Arial" pitchFamily="34" charset="-122"/>
                <a:cs typeface="Arial" pitchFamily="34" charset="-120"/>
              </a:rPr>
              <a:t>✓</a:t>
            </a:r>
            <a:endParaRPr lang="en-US" sz="1125" dirty="0"/>
          </a:p>
        </p:txBody>
      </p:sp>
      <p:sp>
        <p:nvSpPr>
          <p:cNvPr id="147" name="Shape 144"/>
          <p:cNvSpPr/>
          <p:nvPr/>
        </p:nvSpPr>
        <p:spPr>
          <a:xfrm>
            <a:off x="12092211" y="5605463"/>
            <a:ext cx="1373386" cy="9525"/>
          </a:xfrm>
          <a:prstGeom prst="rect">
            <a:avLst/>
          </a:prstGeom>
          <a:solidFill>
            <a:srgbClr val="DDE5EC"/>
          </a:solidFill>
          <a:ln/>
        </p:spPr>
      </p:sp>
      <p:sp>
        <p:nvSpPr>
          <p:cNvPr id="148" name="Text 145"/>
          <p:cNvSpPr/>
          <p:nvPr/>
        </p:nvSpPr>
        <p:spPr>
          <a:xfrm>
            <a:off x="12206511" y="5257800"/>
            <a:ext cx="1144786" cy="252413"/>
          </a:xfrm>
          <a:prstGeom prst="rect">
            <a:avLst/>
          </a:prstGeom>
          <a:noFill/>
          <a:ln/>
        </p:spPr>
        <p:txBody>
          <a:bodyPr wrap="square" lIns="25400" tIns="25400" rIns="25400" bIns="25400" rtlCol="0" anchor="ctr">
            <a:normAutofit/>
          </a:bodyPr>
          <a:lstStyle/>
          <a:p>
            <a:pPr algn="ctr" indent="0" marL="0">
              <a:lnSpc>
                <a:spcPct val="150000"/>
              </a:lnSpc>
              <a:buNone/>
            </a:pPr>
            <a:r>
              <a:rPr lang="en-US" sz="1125" dirty="0">
                <a:solidFill>
                  <a:srgbClr val="0F1419"/>
                </a:solidFill>
                <a:latin typeface="Arial" pitchFamily="34" charset="0"/>
                <a:ea typeface="Arial" pitchFamily="34" charset="-122"/>
                <a:cs typeface="Arial" pitchFamily="34" charset="-120"/>
              </a:rPr>
              <a:t>~</a:t>
            </a:r>
            <a:endParaRPr lang="en-US" sz="1125" dirty="0"/>
          </a:p>
        </p:txBody>
      </p:sp>
      <p:sp>
        <p:nvSpPr>
          <p:cNvPr id="149" name="Shape 146"/>
          <p:cNvSpPr/>
          <p:nvPr/>
        </p:nvSpPr>
        <p:spPr>
          <a:xfrm>
            <a:off x="13465597" y="5605463"/>
            <a:ext cx="2095054" cy="9525"/>
          </a:xfrm>
          <a:prstGeom prst="rect">
            <a:avLst/>
          </a:prstGeom>
          <a:solidFill>
            <a:srgbClr val="DDE5EC"/>
          </a:solidFill>
          <a:ln/>
        </p:spPr>
      </p:sp>
      <p:sp>
        <p:nvSpPr>
          <p:cNvPr id="150" name="Text 147"/>
          <p:cNvSpPr/>
          <p:nvPr/>
        </p:nvSpPr>
        <p:spPr>
          <a:xfrm>
            <a:off x="13579897" y="5257800"/>
            <a:ext cx="1866454" cy="252413"/>
          </a:xfrm>
          <a:prstGeom prst="rect">
            <a:avLst/>
          </a:prstGeom>
          <a:noFill/>
          <a:ln/>
        </p:spPr>
        <p:txBody>
          <a:bodyPr wrap="square" lIns="25400" tIns="25400" rIns="25400" bIns="25400" rtlCol="0" anchor="ctr">
            <a:normAutofit/>
          </a:bodyPr>
          <a:lstStyle/>
          <a:p>
            <a:pPr algn="ctr" indent="0" marL="0">
              <a:lnSpc>
                <a:spcPct val="150000"/>
              </a:lnSpc>
              <a:buNone/>
            </a:pPr>
            <a:r>
              <a:rPr lang="en-US" sz="1125" dirty="0">
                <a:solidFill>
                  <a:srgbClr val="98A1AE"/>
                </a:solidFill>
                <a:latin typeface="Arial" pitchFamily="34" charset="0"/>
                <a:ea typeface="Arial" pitchFamily="34" charset="-122"/>
                <a:cs typeface="Arial" pitchFamily="34" charset="-120"/>
              </a:rPr>
              <a:t>—</a:t>
            </a:r>
            <a:endParaRPr lang="en-US" sz="1125" dirty="0"/>
          </a:p>
        </p:txBody>
      </p:sp>
      <p:sp>
        <p:nvSpPr>
          <p:cNvPr id="151" name="Shape 148"/>
          <p:cNvSpPr/>
          <p:nvPr/>
        </p:nvSpPr>
        <p:spPr>
          <a:xfrm>
            <a:off x="15560650" y="5605463"/>
            <a:ext cx="1951062" cy="9525"/>
          </a:xfrm>
          <a:prstGeom prst="rect">
            <a:avLst/>
          </a:prstGeom>
          <a:solidFill>
            <a:srgbClr val="DDE5EC"/>
          </a:solidFill>
          <a:ln/>
        </p:spPr>
      </p:sp>
      <p:sp>
        <p:nvSpPr>
          <p:cNvPr id="152" name="Text 149"/>
          <p:cNvSpPr/>
          <p:nvPr/>
        </p:nvSpPr>
        <p:spPr>
          <a:xfrm>
            <a:off x="15636850" y="5257800"/>
            <a:ext cx="1722462" cy="252413"/>
          </a:xfrm>
          <a:prstGeom prst="rect">
            <a:avLst/>
          </a:prstGeom>
          <a:noFill/>
          <a:ln/>
        </p:spPr>
        <p:txBody>
          <a:bodyPr wrap="square" lIns="25400" tIns="25400" rIns="25400" bIns="25400" rtlCol="0" anchor="ctr">
            <a:normAutofit/>
          </a:bodyPr>
          <a:lstStyle/>
          <a:p>
            <a:pPr algn="r" indent="0" marL="0">
              <a:lnSpc>
                <a:spcPct val="150000"/>
              </a:lnSpc>
              <a:buNone/>
            </a:pPr>
            <a:r>
              <a:rPr lang="en-US" sz="1125" dirty="0">
                <a:solidFill>
                  <a:srgbClr val="0F1419"/>
                </a:solidFill>
                <a:latin typeface="Arial" pitchFamily="34" charset="0"/>
                <a:ea typeface="Arial" pitchFamily="34" charset="-122"/>
                <a:cs typeface="Arial" pitchFamily="34" charset="-120"/>
              </a:rPr>
              <a:t>$39+</a:t>
            </a:r>
            <a:endParaRPr lang="en-US" sz="1125" dirty="0"/>
          </a:p>
        </p:txBody>
      </p:sp>
      <p:sp>
        <p:nvSpPr>
          <p:cNvPr id="153" name="Shape 150"/>
          <p:cNvSpPr/>
          <p:nvPr/>
        </p:nvSpPr>
        <p:spPr>
          <a:xfrm>
            <a:off x="790575" y="6096000"/>
            <a:ext cx="2702496" cy="9525"/>
          </a:xfrm>
          <a:prstGeom prst="rect">
            <a:avLst/>
          </a:prstGeom>
          <a:solidFill>
            <a:srgbClr val="DDE5EC"/>
          </a:solidFill>
          <a:ln/>
        </p:spPr>
      </p:sp>
      <p:sp>
        <p:nvSpPr>
          <p:cNvPr id="154" name="Text 151"/>
          <p:cNvSpPr/>
          <p:nvPr/>
        </p:nvSpPr>
        <p:spPr>
          <a:xfrm>
            <a:off x="942975" y="5748338"/>
            <a:ext cx="2478770" cy="252413"/>
          </a:xfrm>
          <a:prstGeom prst="rect">
            <a:avLst/>
          </a:prstGeom>
          <a:noFill/>
          <a:ln/>
        </p:spPr>
        <p:txBody>
          <a:bodyPr wrap="square" lIns="25400" tIns="25400" rIns="25400" bIns="25400" rtlCol="0" anchor="ctr">
            <a:normAutofit/>
          </a:bodyPr>
          <a:lstStyle/>
          <a:p>
            <a:pPr algn="l" indent="0" marL="0">
              <a:lnSpc>
                <a:spcPct val="150000"/>
              </a:lnSpc>
              <a:buNone/>
            </a:pPr>
            <a:r>
              <a:rPr lang="en-US" sz="1125" dirty="0">
                <a:solidFill>
                  <a:srgbClr val="0F1419"/>
                </a:solidFill>
                <a:latin typeface="Arial" pitchFamily="34" charset="0"/>
                <a:ea typeface="Arial" pitchFamily="34" charset="-122"/>
                <a:cs typeface="Arial" pitchFamily="34" charset="-120"/>
              </a:rPr>
              <a:t>Vercel</a:t>
            </a:r>
            <a:endParaRPr lang="en-US" sz="1125" dirty="0"/>
          </a:p>
        </p:txBody>
      </p:sp>
      <p:sp>
        <p:nvSpPr>
          <p:cNvPr id="155" name="Shape 152"/>
          <p:cNvSpPr/>
          <p:nvPr/>
        </p:nvSpPr>
        <p:spPr>
          <a:xfrm>
            <a:off x="3493071" y="6096000"/>
            <a:ext cx="1373386" cy="9525"/>
          </a:xfrm>
          <a:prstGeom prst="rect">
            <a:avLst/>
          </a:prstGeom>
          <a:solidFill>
            <a:srgbClr val="DDE5EC"/>
          </a:solidFill>
          <a:ln/>
        </p:spPr>
      </p:sp>
      <p:sp>
        <p:nvSpPr>
          <p:cNvPr id="156" name="Text 153"/>
          <p:cNvSpPr/>
          <p:nvPr/>
        </p:nvSpPr>
        <p:spPr>
          <a:xfrm>
            <a:off x="3607371" y="5748338"/>
            <a:ext cx="1144786" cy="252413"/>
          </a:xfrm>
          <a:prstGeom prst="rect">
            <a:avLst/>
          </a:prstGeom>
          <a:noFill/>
          <a:ln/>
        </p:spPr>
        <p:txBody>
          <a:bodyPr wrap="square" lIns="25400" tIns="25400" rIns="25400" bIns="25400" rtlCol="0" anchor="ctr">
            <a:normAutofit/>
          </a:bodyPr>
          <a:lstStyle/>
          <a:p>
            <a:pPr algn="ctr" indent="0" marL="0">
              <a:lnSpc>
                <a:spcPct val="150000"/>
              </a:lnSpc>
              <a:buNone/>
            </a:pPr>
            <a:r>
              <a:rPr lang="en-US" sz="1125" dirty="0">
                <a:solidFill>
                  <a:srgbClr val="0F1419"/>
                </a:solidFill>
                <a:latin typeface="Arial" pitchFamily="34" charset="0"/>
                <a:ea typeface="Arial" pitchFamily="34" charset="-122"/>
                <a:cs typeface="Arial" pitchFamily="34" charset="-120"/>
              </a:rPr>
              <a:t>~</a:t>
            </a:r>
            <a:endParaRPr lang="en-US" sz="1125" dirty="0"/>
          </a:p>
        </p:txBody>
      </p:sp>
      <p:sp>
        <p:nvSpPr>
          <p:cNvPr id="157" name="Shape 154"/>
          <p:cNvSpPr/>
          <p:nvPr/>
        </p:nvSpPr>
        <p:spPr>
          <a:xfrm>
            <a:off x="4866456" y="6096000"/>
            <a:ext cx="1662113" cy="9525"/>
          </a:xfrm>
          <a:prstGeom prst="rect">
            <a:avLst/>
          </a:prstGeom>
          <a:solidFill>
            <a:srgbClr val="DDE5EC"/>
          </a:solidFill>
          <a:ln/>
        </p:spPr>
      </p:sp>
      <p:sp>
        <p:nvSpPr>
          <p:cNvPr id="158" name="Text 155"/>
          <p:cNvSpPr/>
          <p:nvPr/>
        </p:nvSpPr>
        <p:spPr>
          <a:xfrm>
            <a:off x="4980756" y="5748338"/>
            <a:ext cx="1433513" cy="252413"/>
          </a:xfrm>
          <a:prstGeom prst="rect">
            <a:avLst/>
          </a:prstGeom>
          <a:noFill/>
          <a:ln/>
        </p:spPr>
        <p:txBody>
          <a:bodyPr wrap="square" lIns="25400" tIns="25400" rIns="25400" bIns="25400" rtlCol="0" anchor="ctr">
            <a:normAutofit/>
          </a:bodyPr>
          <a:lstStyle/>
          <a:p>
            <a:pPr algn="ctr" indent="0" marL="0">
              <a:lnSpc>
                <a:spcPct val="150000"/>
              </a:lnSpc>
              <a:buNone/>
            </a:pPr>
            <a:r>
              <a:rPr lang="en-US" sz="1125" dirty="0">
                <a:solidFill>
                  <a:srgbClr val="98A1AE"/>
                </a:solidFill>
                <a:latin typeface="Arial" pitchFamily="34" charset="0"/>
                <a:ea typeface="Arial" pitchFamily="34" charset="-122"/>
                <a:cs typeface="Arial" pitchFamily="34" charset="-120"/>
              </a:rPr>
              <a:t>—</a:t>
            </a:r>
            <a:endParaRPr lang="en-US" sz="1125" dirty="0"/>
          </a:p>
        </p:txBody>
      </p:sp>
      <p:sp>
        <p:nvSpPr>
          <p:cNvPr id="159" name="Shape 156"/>
          <p:cNvSpPr/>
          <p:nvPr/>
        </p:nvSpPr>
        <p:spPr>
          <a:xfrm>
            <a:off x="6528569" y="6096000"/>
            <a:ext cx="1662113" cy="9525"/>
          </a:xfrm>
          <a:prstGeom prst="rect">
            <a:avLst/>
          </a:prstGeom>
          <a:solidFill>
            <a:srgbClr val="DDE5EC"/>
          </a:solidFill>
          <a:ln/>
        </p:spPr>
      </p:sp>
      <p:sp>
        <p:nvSpPr>
          <p:cNvPr id="160" name="Text 157"/>
          <p:cNvSpPr/>
          <p:nvPr/>
        </p:nvSpPr>
        <p:spPr>
          <a:xfrm>
            <a:off x="6642869" y="5748338"/>
            <a:ext cx="1433513" cy="252413"/>
          </a:xfrm>
          <a:prstGeom prst="rect">
            <a:avLst/>
          </a:prstGeom>
          <a:noFill/>
          <a:ln/>
        </p:spPr>
        <p:txBody>
          <a:bodyPr wrap="square" lIns="25400" tIns="25400" rIns="25400" bIns="25400" rtlCol="0" anchor="ctr">
            <a:normAutofit/>
          </a:bodyPr>
          <a:lstStyle/>
          <a:p>
            <a:pPr algn="ctr" indent="0" marL="0">
              <a:lnSpc>
                <a:spcPct val="150000"/>
              </a:lnSpc>
              <a:buNone/>
            </a:pPr>
            <a:r>
              <a:rPr lang="en-US" sz="1125" b="1" dirty="0">
                <a:solidFill>
                  <a:srgbClr val="2DB47A"/>
                </a:solidFill>
                <a:latin typeface="Arial" pitchFamily="34" charset="0"/>
                <a:ea typeface="Arial" pitchFamily="34" charset="-122"/>
                <a:cs typeface="Arial" pitchFamily="34" charset="-120"/>
              </a:rPr>
              <a:t>✓</a:t>
            </a:r>
            <a:endParaRPr lang="en-US" sz="1125" dirty="0"/>
          </a:p>
        </p:txBody>
      </p:sp>
      <p:sp>
        <p:nvSpPr>
          <p:cNvPr id="161" name="Shape 158"/>
          <p:cNvSpPr/>
          <p:nvPr/>
        </p:nvSpPr>
        <p:spPr>
          <a:xfrm>
            <a:off x="8190681" y="6096000"/>
            <a:ext cx="1806476" cy="9525"/>
          </a:xfrm>
          <a:prstGeom prst="rect">
            <a:avLst/>
          </a:prstGeom>
          <a:solidFill>
            <a:srgbClr val="DDE5EC"/>
          </a:solidFill>
          <a:ln/>
        </p:spPr>
      </p:sp>
      <p:sp>
        <p:nvSpPr>
          <p:cNvPr id="162" name="Text 159"/>
          <p:cNvSpPr/>
          <p:nvPr/>
        </p:nvSpPr>
        <p:spPr>
          <a:xfrm>
            <a:off x="8304981" y="5748338"/>
            <a:ext cx="1577876" cy="252413"/>
          </a:xfrm>
          <a:prstGeom prst="rect">
            <a:avLst/>
          </a:prstGeom>
          <a:noFill/>
          <a:ln/>
        </p:spPr>
        <p:txBody>
          <a:bodyPr wrap="square" lIns="25400" tIns="25400" rIns="25400" bIns="25400" rtlCol="0" anchor="ctr">
            <a:normAutofit/>
          </a:bodyPr>
          <a:lstStyle/>
          <a:p>
            <a:pPr algn="ctr" indent="0" marL="0">
              <a:lnSpc>
                <a:spcPct val="150000"/>
              </a:lnSpc>
              <a:buNone/>
            </a:pPr>
            <a:r>
              <a:rPr lang="en-US" sz="1125" dirty="0">
                <a:solidFill>
                  <a:srgbClr val="0F1419"/>
                </a:solidFill>
                <a:latin typeface="Arial" pitchFamily="34" charset="0"/>
                <a:ea typeface="Arial" pitchFamily="34" charset="-122"/>
                <a:cs typeface="Arial" pitchFamily="34" charset="-120"/>
              </a:rPr>
              <a:t>£0</a:t>
            </a:r>
            <a:endParaRPr lang="en-US" sz="1125" dirty="0"/>
          </a:p>
        </p:txBody>
      </p:sp>
      <p:sp>
        <p:nvSpPr>
          <p:cNvPr id="163" name="Shape 160"/>
          <p:cNvSpPr/>
          <p:nvPr/>
        </p:nvSpPr>
        <p:spPr>
          <a:xfrm>
            <a:off x="9997157" y="6096000"/>
            <a:ext cx="2095054" cy="9525"/>
          </a:xfrm>
          <a:prstGeom prst="rect">
            <a:avLst/>
          </a:prstGeom>
          <a:solidFill>
            <a:srgbClr val="DDE5EC"/>
          </a:solidFill>
          <a:ln/>
        </p:spPr>
      </p:sp>
      <p:sp>
        <p:nvSpPr>
          <p:cNvPr id="164" name="Text 161"/>
          <p:cNvSpPr/>
          <p:nvPr/>
        </p:nvSpPr>
        <p:spPr>
          <a:xfrm>
            <a:off x="10111457" y="5748338"/>
            <a:ext cx="1866454" cy="252413"/>
          </a:xfrm>
          <a:prstGeom prst="rect">
            <a:avLst/>
          </a:prstGeom>
          <a:noFill/>
          <a:ln/>
        </p:spPr>
        <p:txBody>
          <a:bodyPr wrap="square" lIns="25400" tIns="25400" rIns="25400" bIns="25400" rtlCol="0" anchor="ctr">
            <a:normAutofit/>
          </a:bodyPr>
          <a:lstStyle/>
          <a:p>
            <a:pPr algn="ctr" indent="0" marL="0">
              <a:lnSpc>
                <a:spcPct val="150000"/>
              </a:lnSpc>
              <a:buNone/>
            </a:pPr>
            <a:r>
              <a:rPr lang="en-US" sz="1125" dirty="0">
                <a:solidFill>
                  <a:srgbClr val="98A1AE"/>
                </a:solidFill>
                <a:latin typeface="Arial" pitchFamily="34" charset="0"/>
                <a:ea typeface="Arial" pitchFamily="34" charset="-122"/>
                <a:cs typeface="Arial" pitchFamily="34" charset="-120"/>
              </a:rPr>
              <a:t>—</a:t>
            </a:r>
            <a:endParaRPr lang="en-US" sz="1125" dirty="0"/>
          </a:p>
        </p:txBody>
      </p:sp>
      <p:sp>
        <p:nvSpPr>
          <p:cNvPr id="165" name="Shape 162"/>
          <p:cNvSpPr/>
          <p:nvPr/>
        </p:nvSpPr>
        <p:spPr>
          <a:xfrm>
            <a:off x="12092211" y="6096000"/>
            <a:ext cx="1373386" cy="9525"/>
          </a:xfrm>
          <a:prstGeom prst="rect">
            <a:avLst/>
          </a:prstGeom>
          <a:solidFill>
            <a:srgbClr val="DDE5EC"/>
          </a:solidFill>
          <a:ln/>
        </p:spPr>
      </p:sp>
      <p:sp>
        <p:nvSpPr>
          <p:cNvPr id="166" name="Text 163"/>
          <p:cNvSpPr/>
          <p:nvPr/>
        </p:nvSpPr>
        <p:spPr>
          <a:xfrm>
            <a:off x="12206511" y="5748338"/>
            <a:ext cx="1144786" cy="252413"/>
          </a:xfrm>
          <a:prstGeom prst="rect">
            <a:avLst/>
          </a:prstGeom>
          <a:noFill/>
          <a:ln/>
        </p:spPr>
        <p:txBody>
          <a:bodyPr wrap="square" lIns="25400" tIns="25400" rIns="25400" bIns="25400" rtlCol="0" anchor="ctr">
            <a:normAutofit/>
          </a:bodyPr>
          <a:lstStyle/>
          <a:p>
            <a:pPr algn="ctr" indent="0" marL="0">
              <a:lnSpc>
                <a:spcPct val="150000"/>
              </a:lnSpc>
              <a:buNone/>
            </a:pPr>
            <a:r>
              <a:rPr lang="en-US" sz="1125" dirty="0">
                <a:solidFill>
                  <a:srgbClr val="98A1AE"/>
                </a:solidFill>
                <a:latin typeface="Arial" pitchFamily="34" charset="0"/>
                <a:ea typeface="Arial" pitchFamily="34" charset="-122"/>
                <a:cs typeface="Arial" pitchFamily="34" charset="-120"/>
              </a:rPr>
              <a:t>—</a:t>
            </a:r>
            <a:endParaRPr lang="en-US" sz="1125" dirty="0"/>
          </a:p>
        </p:txBody>
      </p:sp>
      <p:sp>
        <p:nvSpPr>
          <p:cNvPr id="167" name="Shape 164"/>
          <p:cNvSpPr/>
          <p:nvPr/>
        </p:nvSpPr>
        <p:spPr>
          <a:xfrm>
            <a:off x="13465597" y="6096000"/>
            <a:ext cx="2095054" cy="9525"/>
          </a:xfrm>
          <a:prstGeom prst="rect">
            <a:avLst/>
          </a:prstGeom>
          <a:solidFill>
            <a:srgbClr val="DDE5EC"/>
          </a:solidFill>
          <a:ln/>
        </p:spPr>
      </p:sp>
      <p:sp>
        <p:nvSpPr>
          <p:cNvPr id="168" name="Text 165"/>
          <p:cNvSpPr/>
          <p:nvPr/>
        </p:nvSpPr>
        <p:spPr>
          <a:xfrm>
            <a:off x="13579897" y="5748338"/>
            <a:ext cx="1866454" cy="252413"/>
          </a:xfrm>
          <a:prstGeom prst="rect">
            <a:avLst/>
          </a:prstGeom>
          <a:noFill/>
          <a:ln/>
        </p:spPr>
        <p:txBody>
          <a:bodyPr wrap="square" lIns="25400" tIns="25400" rIns="25400" bIns="25400" rtlCol="0" anchor="ctr">
            <a:normAutofit/>
          </a:bodyPr>
          <a:lstStyle/>
          <a:p>
            <a:pPr algn="ctr" indent="0" marL="0">
              <a:lnSpc>
                <a:spcPct val="150000"/>
              </a:lnSpc>
              <a:buNone/>
            </a:pPr>
            <a:r>
              <a:rPr lang="en-US" sz="1125" dirty="0">
                <a:solidFill>
                  <a:srgbClr val="98A1AE"/>
                </a:solidFill>
                <a:latin typeface="Arial" pitchFamily="34" charset="0"/>
                <a:ea typeface="Arial" pitchFamily="34" charset="-122"/>
                <a:cs typeface="Arial" pitchFamily="34" charset="-120"/>
              </a:rPr>
              <a:t>—</a:t>
            </a:r>
            <a:endParaRPr lang="en-US" sz="1125" dirty="0"/>
          </a:p>
        </p:txBody>
      </p:sp>
      <p:sp>
        <p:nvSpPr>
          <p:cNvPr id="169" name="Shape 166"/>
          <p:cNvSpPr/>
          <p:nvPr/>
        </p:nvSpPr>
        <p:spPr>
          <a:xfrm>
            <a:off x="15560650" y="6096000"/>
            <a:ext cx="1951062" cy="9525"/>
          </a:xfrm>
          <a:prstGeom prst="rect">
            <a:avLst/>
          </a:prstGeom>
          <a:solidFill>
            <a:srgbClr val="DDE5EC"/>
          </a:solidFill>
          <a:ln/>
        </p:spPr>
      </p:sp>
      <p:sp>
        <p:nvSpPr>
          <p:cNvPr id="170" name="Text 167"/>
          <p:cNvSpPr/>
          <p:nvPr/>
        </p:nvSpPr>
        <p:spPr>
          <a:xfrm>
            <a:off x="15636850" y="5748338"/>
            <a:ext cx="1722462" cy="252413"/>
          </a:xfrm>
          <a:prstGeom prst="rect">
            <a:avLst/>
          </a:prstGeom>
          <a:noFill/>
          <a:ln/>
        </p:spPr>
        <p:txBody>
          <a:bodyPr wrap="square" lIns="25400" tIns="25400" rIns="25400" bIns="25400" rtlCol="0" anchor="ctr">
            <a:normAutofit/>
          </a:bodyPr>
          <a:lstStyle/>
          <a:p>
            <a:pPr algn="r" indent="0" marL="0">
              <a:lnSpc>
                <a:spcPct val="150000"/>
              </a:lnSpc>
              <a:buNone/>
            </a:pPr>
            <a:r>
              <a:rPr lang="en-US" sz="1125" dirty="0">
                <a:solidFill>
                  <a:srgbClr val="0F1419"/>
                </a:solidFill>
                <a:latin typeface="Arial" pitchFamily="34" charset="0"/>
                <a:ea typeface="Arial" pitchFamily="34" charset="-122"/>
                <a:cs typeface="Arial" pitchFamily="34" charset="-120"/>
              </a:rPr>
              <a:t>£0+</a:t>
            </a:r>
            <a:endParaRPr lang="en-US" sz="1125" dirty="0"/>
          </a:p>
        </p:txBody>
      </p:sp>
      <p:sp>
        <p:nvSpPr>
          <p:cNvPr id="171" name="Shape 168"/>
          <p:cNvSpPr/>
          <p:nvPr/>
        </p:nvSpPr>
        <p:spPr>
          <a:xfrm>
            <a:off x="790575" y="6586538"/>
            <a:ext cx="2702496" cy="9525"/>
          </a:xfrm>
          <a:prstGeom prst="rect">
            <a:avLst/>
          </a:prstGeom>
          <a:solidFill>
            <a:srgbClr val="DDE5EC"/>
          </a:solidFill>
          <a:ln/>
        </p:spPr>
      </p:sp>
      <p:sp>
        <p:nvSpPr>
          <p:cNvPr id="172" name="Text 169"/>
          <p:cNvSpPr/>
          <p:nvPr/>
        </p:nvSpPr>
        <p:spPr>
          <a:xfrm>
            <a:off x="942975" y="6238875"/>
            <a:ext cx="2478770" cy="252413"/>
          </a:xfrm>
          <a:prstGeom prst="rect">
            <a:avLst/>
          </a:prstGeom>
          <a:noFill/>
          <a:ln/>
        </p:spPr>
        <p:txBody>
          <a:bodyPr wrap="square" lIns="25400" tIns="25400" rIns="25400" bIns="25400" rtlCol="0" anchor="ctr">
            <a:normAutofit/>
          </a:bodyPr>
          <a:lstStyle/>
          <a:p>
            <a:pPr algn="l" indent="0" marL="0">
              <a:lnSpc>
                <a:spcPct val="150000"/>
              </a:lnSpc>
              <a:buNone/>
            </a:pPr>
            <a:r>
              <a:rPr lang="en-US" sz="1125" dirty="0">
                <a:solidFill>
                  <a:srgbClr val="0F1419"/>
                </a:solidFill>
                <a:latin typeface="Arial" pitchFamily="34" charset="0"/>
                <a:ea typeface="Arial" pitchFamily="34" charset="-122"/>
                <a:cs typeface="Arial" pitchFamily="34" charset="-120"/>
              </a:rPr>
              <a:t>Render / Railway</a:t>
            </a:r>
            <a:endParaRPr lang="en-US" sz="1125" dirty="0"/>
          </a:p>
        </p:txBody>
      </p:sp>
      <p:sp>
        <p:nvSpPr>
          <p:cNvPr id="173" name="Shape 170"/>
          <p:cNvSpPr/>
          <p:nvPr/>
        </p:nvSpPr>
        <p:spPr>
          <a:xfrm>
            <a:off x="3493071" y="6586538"/>
            <a:ext cx="1373386" cy="9525"/>
          </a:xfrm>
          <a:prstGeom prst="rect">
            <a:avLst/>
          </a:prstGeom>
          <a:solidFill>
            <a:srgbClr val="DDE5EC"/>
          </a:solidFill>
          <a:ln/>
        </p:spPr>
      </p:sp>
      <p:sp>
        <p:nvSpPr>
          <p:cNvPr id="174" name="Text 171"/>
          <p:cNvSpPr/>
          <p:nvPr/>
        </p:nvSpPr>
        <p:spPr>
          <a:xfrm>
            <a:off x="3607371" y="6238875"/>
            <a:ext cx="1144786" cy="252413"/>
          </a:xfrm>
          <a:prstGeom prst="rect">
            <a:avLst/>
          </a:prstGeom>
          <a:noFill/>
          <a:ln/>
        </p:spPr>
        <p:txBody>
          <a:bodyPr wrap="square" lIns="25400" tIns="25400" rIns="25400" bIns="25400" rtlCol="0" anchor="ctr">
            <a:normAutofit/>
          </a:bodyPr>
          <a:lstStyle/>
          <a:p>
            <a:pPr algn="ctr" indent="0" marL="0">
              <a:lnSpc>
                <a:spcPct val="150000"/>
              </a:lnSpc>
              <a:buNone/>
            </a:pPr>
            <a:r>
              <a:rPr lang="en-US" sz="1125" dirty="0">
                <a:solidFill>
                  <a:srgbClr val="0F1419"/>
                </a:solidFill>
                <a:latin typeface="Arial" pitchFamily="34" charset="0"/>
                <a:ea typeface="Arial" pitchFamily="34" charset="-122"/>
                <a:cs typeface="Arial" pitchFamily="34" charset="-120"/>
              </a:rPr>
              <a:t>~</a:t>
            </a:r>
            <a:endParaRPr lang="en-US" sz="1125" dirty="0"/>
          </a:p>
        </p:txBody>
      </p:sp>
      <p:sp>
        <p:nvSpPr>
          <p:cNvPr id="175" name="Shape 172"/>
          <p:cNvSpPr/>
          <p:nvPr/>
        </p:nvSpPr>
        <p:spPr>
          <a:xfrm>
            <a:off x="4866456" y="6586538"/>
            <a:ext cx="1662113" cy="9525"/>
          </a:xfrm>
          <a:prstGeom prst="rect">
            <a:avLst/>
          </a:prstGeom>
          <a:solidFill>
            <a:srgbClr val="DDE5EC"/>
          </a:solidFill>
          <a:ln/>
        </p:spPr>
      </p:sp>
      <p:sp>
        <p:nvSpPr>
          <p:cNvPr id="176" name="Text 173"/>
          <p:cNvSpPr/>
          <p:nvPr/>
        </p:nvSpPr>
        <p:spPr>
          <a:xfrm>
            <a:off x="4980756" y="6238875"/>
            <a:ext cx="1433513" cy="252413"/>
          </a:xfrm>
          <a:prstGeom prst="rect">
            <a:avLst/>
          </a:prstGeom>
          <a:noFill/>
          <a:ln/>
        </p:spPr>
        <p:txBody>
          <a:bodyPr wrap="square" lIns="25400" tIns="25400" rIns="25400" bIns="25400" rtlCol="0" anchor="ctr">
            <a:normAutofit/>
          </a:bodyPr>
          <a:lstStyle/>
          <a:p>
            <a:pPr algn="ctr" indent="0" marL="0">
              <a:lnSpc>
                <a:spcPct val="150000"/>
              </a:lnSpc>
              <a:buNone/>
            </a:pPr>
            <a:r>
              <a:rPr lang="en-US" sz="1125" dirty="0">
                <a:solidFill>
                  <a:srgbClr val="98A1AE"/>
                </a:solidFill>
                <a:latin typeface="Arial" pitchFamily="34" charset="0"/>
                <a:ea typeface="Arial" pitchFamily="34" charset="-122"/>
                <a:cs typeface="Arial" pitchFamily="34" charset="-120"/>
              </a:rPr>
              <a:t>—</a:t>
            </a:r>
            <a:endParaRPr lang="en-US" sz="1125" dirty="0"/>
          </a:p>
        </p:txBody>
      </p:sp>
      <p:sp>
        <p:nvSpPr>
          <p:cNvPr id="177" name="Shape 174"/>
          <p:cNvSpPr/>
          <p:nvPr/>
        </p:nvSpPr>
        <p:spPr>
          <a:xfrm>
            <a:off x="6528569" y="6586538"/>
            <a:ext cx="1662113" cy="9525"/>
          </a:xfrm>
          <a:prstGeom prst="rect">
            <a:avLst/>
          </a:prstGeom>
          <a:solidFill>
            <a:srgbClr val="DDE5EC"/>
          </a:solidFill>
          <a:ln/>
        </p:spPr>
      </p:sp>
      <p:sp>
        <p:nvSpPr>
          <p:cNvPr id="178" name="Text 175"/>
          <p:cNvSpPr/>
          <p:nvPr/>
        </p:nvSpPr>
        <p:spPr>
          <a:xfrm>
            <a:off x="6642869" y="6238875"/>
            <a:ext cx="1433513" cy="252413"/>
          </a:xfrm>
          <a:prstGeom prst="rect">
            <a:avLst/>
          </a:prstGeom>
          <a:noFill/>
          <a:ln/>
        </p:spPr>
        <p:txBody>
          <a:bodyPr wrap="square" lIns="25400" tIns="25400" rIns="25400" bIns="25400" rtlCol="0" anchor="ctr">
            <a:normAutofit/>
          </a:bodyPr>
          <a:lstStyle/>
          <a:p>
            <a:pPr algn="ctr" indent="0" marL="0">
              <a:lnSpc>
                <a:spcPct val="150000"/>
              </a:lnSpc>
              <a:buNone/>
            </a:pPr>
            <a:r>
              <a:rPr lang="en-US" sz="1125" b="1" dirty="0">
                <a:solidFill>
                  <a:srgbClr val="2DB47A"/>
                </a:solidFill>
                <a:latin typeface="Arial" pitchFamily="34" charset="0"/>
                <a:ea typeface="Arial" pitchFamily="34" charset="-122"/>
                <a:cs typeface="Arial" pitchFamily="34" charset="-120"/>
              </a:rPr>
              <a:t>✓</a:t>
            </a:r>
            <a:endParaRPr lang="en-US" sz="1125" dirty="0"/>
          </a:p>
        </p:txBody>
      </p:sp>
      <p:sp>
        <p:nvSpPr>
          <p:cNvPr id="179" name="Shape 176"/>
          <p:cNvSpPr/>
          <p:nvPr/>
        </p:nvSpPr>
        <p:spPr>
          <a:xfrm>
            <a:off x="8190681" y="6586538"/>
            <a:ext cx="1806476" cy="9525"/>
          </a:xfrm>
          <a:prstGeom prst="rect">
            <a:avLst/>
          </a:prstGeom>
          <a:solidFill>
            <a:srgbClr val="DDE5EC"/>
          </a:solidFill>
          <a:ln/>
        </p:spPr>
      </p:sp>
      <p:sp>
        <p:nvSpPr>
          <p:cNvPr id="180" name="Text 177"/>
          <p:cNvSpPr/>
          <p:nvPr/>
        </p:nvSpPr>
        <p:spPr>
          <a:xfrm>
            <a:off x="8304981" y="6238875"/>
            <a:ext cx="1577876" cy="252413"/>
          </a:xfrm>
          <a:prstGeom prst="rect">
            <a:avLst/>
          </a:prstGeom>
          <a:noFill/>
          <a:ln/>
        </p:spPr>
        <p:txBody>
          <a:bodyPr wrap="square" lIns="25400" tIns="25400" rIns="25400" bIns="25400" rtlCol="0" anchor="ctr">
            <a:normAutofit/>
          </a:bodyPr>
          <a:lstStyle/>
          <a:p>
            <a:pPr algn="ctr" indent="0" marL="0">
              <a:lnSpc>
                <a:spcPct val="150000"/>
              </a:lnSpc>
              <a:buNone/>
            </a:pPr>
            <a:r>
              <a:rPr lang="en-US" sz="1125" dirty="0">
                <a:solidFill>
                  <a:srgbClr val="0F1419"/>
                </a:solidFill>
                <a:latin typeface="Arial" pitchFamily="34" charset="0"/>
                <a:ea typeface="Arial" pitchFamily="34" charset="-122"/>
                <a:cs typeface="Arial" pitchFamily="34" charset="-120"/>
              </a:rPr>
              <a:t>£0</a:t>
            </a:r>
            <a:endParaRPr lang="en-US" sz="1125" dirty="0"/>
          </a:p>
        </p:txBody>
      </p:sp>
      <p:sp>
        <p:nvSpPr>
          <p:cNvPr id="181" name="Shape 178"/>
          <p:cNvSpPr/>
          <p:nvPr/>
        </p:nvSpPr>
        <p:spPr>
          <a:xfrm>
            <a:off x="9997157" y="6586538"/>
            <a:ext cx="2095054" cy="9525"/>
          </a:xfrm>
          <a:prstGeom prst="rect">
            <a:avLst/>
          </a:prstGeom>
          <a:solidFill>
            <a:srgbClr val="DDE5EC"/>
          </a:solidFill>
          <a:ln/>
        </p:spPr>
      </p:sp>
      <p:sp>
        <p:nvSpPr>
          <p:cNvPr id="182" name="Text 179"/>
          <p:cNvSpPr/>
          <p:nvPr/>
        </p:nvSpPr>
        <p:spPr>
          <a:xfrm>
            <a:off x="10111457" y="6238875"/>
            <a:ext cx="1866454" cy="252413"/>
          </a:xfrm>
          <a:prstGeom prst="rect">
            <a:avLst/>
          </a:prstGeom>
          <a:noFill/>
          <a:ln/>
        </p:spPr>
        <p:txBody>
          <a:bodyPr wrap="square" lIns="25400" tIns="25400" rIns="25400" bIns="25400" rtlCol="0" anchor="ctr">
            <a:normAutofit/>
          </a:bodyPr>
          <a:lstStyle/>
          <a:p>
            <a:pPr algn="ctr" indent="0" marL="0">
              <a:lnSpc>
                <a:spcPct val="150000"/>
              </a:lnSpc>
              <a:buNone/>
            </a:pPr>
            <a:r>
              <a:rPr lang="en-US" sz="1125" dirty="0">
                <a:solidFill>
                  <a:srgbClr val="98A1AE"/>
                </a:solidFill>
                <a:latin typeface="Arial" pitchFamily="34" charset="0"/>
                <a:ea typeface="Arial" pitchFamily="34" charset="-122"/>
                <a:cs typeface="Arial" pitchFamily="34" charset="-120"/>
              </a:rPr>
              <a:t>—</a:t>
            </a:r>
            <a:endParaRPr lang="en-US" sz="1125" dirty="0"/>
          </a:p>
        </p:txBody>
      </p:sp>
      <p:sp>
        <p:nvSpPr>
          <p:cNvPr id="183" name="Shape 180"/>
          <p:cNvSpPr/>
          <p:nvPr/>
        </p:nvSpPr>
        <p:spPr>
          <a:xfrm>
            <a:off x="12092211" y="6586538"/>
            <a:ext cx="1373386" cy="9525"/>
          </a:xfrm>
          <a:prstGeom prst="rect">
            <a:avLst/>
          </a:prstGeom>
          <a:solidFill>
            <a:srgbClr val="DDE5EC"/>
          </a:solidFill>
          <a:ln/>
        </p:spPr>
      </p:sp>
      <p:sp>
        <p:nvSpPr>
          <p:cNvPr id="184" name="Text 181"/>
          <p:cNvSpPr/>
          <p:nvPr/>
        </p:nvSpPr>
        <p:spPr>
          <a:xfrm>
            <a:off x="12206511" y="6238875"/>
            <a:ext cx="1144786" cy="252413"/>
          </a:xfrm>
          <a:prstGeom prst="rect">
            <a:avLst/>
          </a:prstGeom>
          <a:noFill/>
          <a:ln/>
        </p:spPr>
        <p:txBody>
          <a:bodyPr wrap="square" lIns="25400" tIns="25400" rIns="25400" bIns="25400" rtlCol="0" anchor="ctr">
            <a:normAutofit/>
          </a:bodyPr>
          <a:lstStyle/>
          <a:p>
            <a:pPr algn="ctr" indent="0" marL="0">
              <a:lnSpc>
                <a:spcPct val="150000"/>
              </a:lnSpc>
              <a:buNone/>
            </a:pPr>
            <a:r>
              <a:rPr lang="en-US" sz="1125" dirty="0">
                <a:solidFill>
                  <a:srgbClr val="98A1AE"/>
                </a:solidFill>
                <a:latin typeface="Arial" pitchFamily="34" charset="0"/>
                <a:ea typeface="Arial" pitchFamily="34" charset="-122"/>
                <a:cs typeface="Arial" pitchFamily="34" charset="-120"/>
              </a:rPr>
              <a:t>—</a:t>
            </a:r>
            <a:endParaRPr lang="en-US" sz="1125" dirty="0"/>
          </a:p>
        </p:txBody>
      </p:sp>
      <p:sp>
        <p:nvSpPr>
          <p:cNvPr id="185" name="Shape 182"/>
          <p:cNvSpPr/>
          <p:nvPr/>
        </p:nvSpPr>
        <p:spPr>
          <a:xfrm>
            <a:off x="13465597" y="6586538"/>
            <a:ext cx="2095054" cy="9525"/>
          </a:xfrm>
          <a:prstGeom prst="rect">
            <a:avLst/>
          </a:prstGeom>
          <a:solidFill>
            <a:srgbClr val="DDE5EC"/>
          </a:solidFill>
          <a:ln/>
        </p:spPr>
      </p:sp>
      <p:sp>
        <p:nvSpPr>
          <p:cNvPr id="186" name="Text 183"/>
          <p:cNvSpPr/>
          <p:nvPr/>
        </p:nvSpPr>
        <p:spPr>
          <a:xfrm>
            <a:off x="13579897" y="6238875"/>
            <a:ext cx="1866454" cy="252413"/>
          </a:xfrm>
          <a:prstGeom prst="rect">
            <a:avLst/>
          </a:prstGeom>
          <a:noFill/>
          <a:ln/>
        </p:spPr>
        <p:txBody>
          <a:bodyPr wrap="square" lIns="25400" tIns="25400" rIns="25400" bIns="25400" rtlCol="0" anchor="ctr">
            <a:normAutofit/>
          </a:bodyPr>
          <a:lstStyle/>
          <a:p>
            <a:pPr algn="ctr" indent="0" marL="0">
              <a:lnSpc>
                <a:spcPct val="150000"/>
              </a:lnSpc>
              <a:buNone/>
            </a:pPr>
            <a:r>
              <a:rPr lang="en-US" sz="1125" dirty="0">
                <a:solidFill>
                  <a:srgbClr val="98A1AE"/>
                </a:solidFill>
                <a:latin typeface="Arial" pitchFamily="34" charset="0"/>
                <a:ea typeface="Arial" pitchFamily="34" charset="-122"/>
                <a:cs typeface="Arial" pitchFamily="34" charset="-120"/>
              </a:rPr>
              <a:t>—</a:t>
            </a:r>
            <a:endParaRPr lang="en-US" sz="1125" dirty="0"/>
          </a:p>
        </p:txBody>
      </p:sp>
      <p:sp>
        <p:nvSpPr>
          <p:cNvPr id="187" name="Shape 184"/>
          <p:cNvSpPr/>
          <p:nvPr/>
        </p:nvSpPr>
        <p:spPr>
          <a:xfrm>
            <a:off x="15560650" y="6586538"/>
            <a:ext cx="1951062" cy="9525"/>
          </a:xfrm>
          <a:prstGeom prst="rect">
            <a:avLst/>
          </a:prstGeom>
          <a:solidFill>
            <a:srgbClr val="DDE5EC"/>
          </a:solidFill>
          <a:ln/>
        </p:spPr>
      </p:sp>
      <p:sp>
        <p:nvSpPr>
          <p:cNvPr id="188" name="Text 185"/>
          <p:cNvSpPr/>
          <p:nvPr/>
        </p:nvSpPr>
        <p:spPr>
          <a:xfrm>
            <a:off x="15636850" y="6238875"/>
            <a:ext cx="1722462" cy="252413"/>
          </a:xfrm>
          <a:prstGeom prst="rect">
            <a:avLst/>
          </a:prstGeom>
          <a:noFill/>
          <a:ln/>
        </p:spPr>
        <p:txBody>
          <a:bodyPr wrap="square" lIns="25400" tIns="25400" rIns="25400" bIns="25400" rtlCol="0" anchor="ctr">
            <a:normAutofit/>
          </a:bodyPr>
          <a:lstStyle/>
          <a:p>
            <a:pPr algn="r" indent="0" marL="0">
              <a:lnSpc>
                <a:spcPct val="150000"/>
              </a:lnSpc>
              <a:buNone/>
            </a:pPr>
            <a:r>
              <a:rPr lang="en-US" sz="1125" dirty="0">
                <a:solidFill>
                  <a:srgbClr val="0F1419"/>
                </a:solidFill>
                <a:latin typeface="Arial" pitchFamily="34" charset="0"/>
                <a:ea typeface="Arial" pitchFamily="34" charset="-122"/>
                <a:cs typeface="Arial" pitchFamily="34" charset="-120"/>
              </a:rPr>
              <a:t>£5+</a:t>
            </a:r>
            <a:endParaRPr lang="en-US" sz="1125" dirty="0"/>
          </a:p>
        </p:txBody>
      </p:sp>
      <p:sp>
        <p:nvSpPr>
          <p:cNvPr id="189" name="Shape 186"/>
          <p:cNvSpPr/>
          <p:nvPr/>
        </p:nvSpPr>
        <p:spPr>
          <a:xfrm>
            <a:off x="790575" y="7077075"/>
            <a:ext cx="2702496" cy="9525"/>
          </a:xfrm>
          <a:prstGeom prst="rect">
            <a:avLst/>
          </a:prstGeom>
          <a:solidFill>
            <a:srgbClr val="DDE5EC"/>
          </a:solidFill>
          <a:ln/>
        </p:spPr>
      </p:sp>
      <p:sp>
        <p:nvSpPr>
          <p:cNvPr id="190" name="Text 187"/>
          <p:cNvSpPr/>
          <p:nvPr/>
        </p:nvSpPr>
        <p:spPr>
          <a:xfrm>
            <a:off x="942975" y="6729413"/>
            <a:ext cx="2478770" cy="252413"/>
          </a:xfrm>
          <a:prstGeom prst="rect">
            <a:avLst/>
          </a:prstGeom>
          <a:noFill/>
          <a:ln/>
        </p:spPr>
        <p:txBody>
          <a:bodyPr wrap="square" lIns="25400" tIns="25400" rIns="25400" bIns="25400" rtlCol="0" anchor="ctr">
            <a:normAutofit/>
          </a:bodyPr>
          <a:lstStyle/>
          <a:p>
            <a:pPr algn="l" indent="0" marL="0">
              <a:lnSpc>
                <a:spcPct val="150000"/>
              </a:lnSpc>
              <a:buNone/>
            </a:pPr>
            <a:r>
              <a:rPr lang="en-US" sz="1125" dirty="0">
                <a:solidFill>
                  <a:srgbClr val="0F1419"/>
                </a:solidFill>
                <a:latin typeface="Arial" pitchFamily="34" charset="0"/>
                <a:ea typeface="Arial" pitchFamily="34" charset="-122"/>
                <a:cs typeface="Arial" pitchFamily="34" charset="-120"/>
              </a:rPr>
              <a:t>Fly.io</a:t>
            </a:r>
            <a:endParaRPr lang="en-US" sz="1125" dirty="0"/>
          </a:p>
        </p:txBody>
      </p:sp>
      <p:sp>
        <p:nvSpPr>
          <p:cNvPr id="191" name="Shape 188"/>
          <p:cNvSpPr/>
          <p:nvPr/>
        </p:nvSpPr>
        <p:spPr>
          <a:xfrm>
            <a:off x="3493071" y="7077075"/>
            <a:ext cx="1373386" cy="9525"/>
          </a:xfrm>
          <a:prstGeom prst="rect">
            <a:avLst/>
          </a:prstGeom>
          <a:solidFill>
            <a:srgbClr val="DDE5EC"/>
          </a:solidFill>
          <a:ln/>
        </p:spPr>
      </p:sp>
      <p:sp>
        <p:nvSpPr>
          <p:cNvPr id="192" name="Text 189"/>
          <p:cNvSpPr/>
          <p:nvPr/>
        </p:nvSpPr>
        <p:spPr>
          <a:xfrm>
            <a:off x="3607371" y="6729413"/>
            <a:ext cx="1144786" cy="252413"/>
          </a:xfrm>
          <a:prstGeom prst="rect">
            <a:avLst/>
          </a:prstGeom>
          <a:noFill/>
          <a:ln/>
        </p:spPr>
        <p:txBody>
          <a:bodyPr wrap="square" lIns="25400" tIns="25400" rIns="25400" bIns="25400" rtlCol="0" anchor="ctr">
            <a:normAutofit/>
          </a:bodyPr>
          <a:lstStyle/>
          <a:p>
            <a:pPr algn="ctr" indent="0" marL="0">
              <a:lnSpc>
                <a:spcPct val="150000"/>
              </a:lnSpc>
              <a:buNone/>
            </a:pPr>
            <a:r>
              <a:rPr lang="en-US" sz="1125" dirty="0">
                <a:solidFill>
                  <a:srgbClr val="0F1419"/>
                </a:solidFill>
                <a:latin typeface="Arial" pitchFamily="34" charset="0"/>
                <a:ea typeface="Arial" pitchFamily="34" charset="-122"/>
                <a:cs typeface="Arial" pitchFamily="34" charset="-120"/>
              </a:rPr>
              <a:t>~</a:t>
            </a:r>
            <a:endParaRPr lang="en-US" sz="1125" dirty="0"/>
          </a:p>
        </p:txBody>
      </p:sp>
      <p:sp>
        <p:nvSpPr>
          <p:cNvPr id="193" name="Shape 190"/>
          <p:cNvSpPr/>
          <p:nvPr/>
        </p:nvSpPr>
        <p:spPr>
          <a:xfrm>
            <a:off x="4866456" y="7077075"/>
            <a:ext cx="1662113" cy="9525"/>
          </a:xfrm>
          <a:prstGeom prst="rect">
            <a:avLst/>
          </a:prstGeom>
          <a:solidFill>
            <a:srgbClr val="DDE5EC"/>
          </a:solidFill>
          <a:ln/>
        </p:spPr>
      </p:sp>
      <p:sp>
        <p:nvSpPr>
          <p:cNvPr id="194" name="Text 191"/>
          <p:cNvSpPr/>
          <p:nvPr/>
        </p:nvSpPr>
        <p:spPr>
          <a:xfrm>
            <a:off x="4980756" y="6729413"/>
            <a:ext cx="1433513" cy="252413"/>
          </a:xfrm>
          <a:prstGeom prst="rect">
            <a:avLst/>
          </a:prstGeom>
          <a:noFill/>
          <a:ln/>
        </p:spPr>
        <p:txBody>
          <a:bodyPr wrap="square" lIns="25400" tIns="25400" rIns="25400" bIns="25400" rtlCol="0" anchor="ctr">
            <a:normAutofit/>
          </a:bodyPr>
          <a:lstStyle/>
          <a:p>
            <a:pPr algn="ctr" indent="0" marL="0">
              <a:lnSpc>
                <a:spcPct val="150000"/>
              </a:lnSpc>
              <a:buNone/>
            </a:pPr>
            <a:r>
              <a:rPr lang="en-US" sz="1125" dirty="0">
                <a:solidFill>
                  <a:srgbClr val="98A1AE"/>
                </a:solidFill>
                <a:latin typeface="Arial" pitchFamily="34" charset="0"/>
                <a:ea typeface="Arial" pitchFamily="34" charset="-122"/>
                <a:cs typeface="Arial" pitchFamily="34" charset="-120"/>
              </a:rPr>
              <a:t>—</a:t>
            </a:r>
            <a:endParaRPr lang="en-US" sz="1125" dirty="0"/>
          </a:p>
        </p:txBody>
      </p:sp>
      <p:sp>
        <p:nvSpPr>
          <p:cNvPr id="195" name="Shape 192"/>
          <p:cNvSpPr/>
          <p:nvPr/>
        </p:nvSpPr>
        <p:spPr>
          <a:xfrm>
            <a:off x="6528569" y="7077075"/>
            <a:ext cx="1662113" cy="9525"/>
          </a:xfrm>
          <a:prstGeom prst="rect">
            <a:avLst/>
          </a:prstGeom>
          <a:solidFill>
            <a:srgbClr val="DDE5EC"/>
          </a:solidFill>
          <a:ln/>
        </p:spPr>
      </p:sp>
      <p:sp>
        <p:nvSpPr>
          <p:cNvPr id="196" name="Text 193"/>
          <p:cNvSpPr/>
          <p:nvPr/>
        </p:nvSpPr>
        <p:spPr>
          <a:xfrm>
            <a:off x="6642869" y="6729413"/>
            <a:ext cx="1433513" cy="252413"/>
          </a:xfrm>
          <a:prstGeom prst="rect">
            <a:avLst/>
          </a:prstGeom>
          <a:noFill/>
          <a:ln/>
        </p:spPr>
        <p:txBody>
          <a:bodyPr wrap="square" lIns="25400" tIns="25400" rIns="25400" bIns="25400" rtlCol="0" anchor="ctr">
            <a:normAutofit/>
          </a:bodyPr>
          <a:lstStyle/>
          <a:p>
            <a:pPr algn="ctr" indent="0" marL="0">
              <a:lnSpc>
                <a:spcPct val="150000"/>
              </a:lnSpc>
              <a:buNone/>
            </a:pPr>
            <a:r>
              <a:rPr lang="en-US" sz="1125" b="1" dirty="0">
                <a:solidFill>
                  <a:srgbClr val="2DB47A"/>
                </a:solidFill>
                <a:latin typeface="Arial" pitchFamily="34" charset="0"/>
                <a:ea typeface="Arial" pitchFamily="34" charset="-122"/>
                <a:cs typeface="Arial" pitchFamily="34" charset="-120"/>
              </a:rPr>
              <a:t>✓</a:t>
            </a:r>
            <a:endParaRPr lang="en-US" sz="1125" dirty="0"/>
          </a:p>
        </p:txBody>
      </p:sp>
      <p:sp>
        <p:nvSpPr>
          <p:cNvPr id="197" name="Shape 194"/>
          <p:cNvSpPr/>
          <p:nvPr/>
        </p:nvSpPr>
        <p:spPr>
          <a:xfrm>
            <a:off x="8190681" y="7077075"/>
            <a:ext cx="1806476" cy="9525"/>
          </a:xfrm>
          <a:prstGeom prst="rect">
            <a:avLst/>
          </a:prstGeom>
          <a:solidFill>
            <a:srgbClr val="DDE5EC"/>
          </a:solidFill>
          <a:ln/>
        </p:spPr>
      </p:sp>
      <p:sp>
        <p:nvSpPr>
          <p:cNvPr id="198" name="Text 195"/>
          <p:cNvSpPr/>
          <p:nvPr/>
        </p:nvSpPr>
        <p:spPr>
          <a:xfrm>
            <a:off x="8304981" y="6729413"/>
            <a:ext cx="1577876" cy="252413"/>
          </a:xfrm>
          <a:prstGeom prst="rect">
            <a:avLst/>
          </a:prstGeom>
          <a:noFill/>
          <a:ln/>
        </p:spPr>
        <p:txBody>
          <a:bodyPr wrap="square" lIns="25400" tIns="25400" rIns="25400" bIns="25400" rtlCol="0" anchor="ctr">
            <a:normAutofit/>
          </a:bodyPr>
          <a:lstStyle/>
          <a:p>
            <a:pPr algn="ctr" indent="0" marL="0">
              <a:lnSpc>
                <a:spcPct val="150000"/>
              </a:lnSpc>
              <a:buNone/>
            </a:pPr>
            <a:r>
              <a:rPr lang="en-US" sz="1125" dirty="0">
                <a:solidFill>
                  <a:srgbClr val="0F1419"/>
                </a:solidFill>
                <a:latin typeface="Arial" pitchFamily="34" charset="0"/>
                <a:ea typeface="Arial" pitchFamily="34" charset="-122"/>
                <a:cs typeface="Arial" pitchFamily="34" charset="-120"/>
              </a:rPr>
              <a:t>£0</a:t>
            </a:r>
            <a:endParaRPr lang="en-US" sz="1125" dirty="0"/>
          </a:p>
        </p:txBody>
      </p:sp>
      <p:sp>
        <p:nvSpPr>
          <p:cNvPr id="199" name="Shape 196"/>
          <p:cNvSpPr/>
          <p:nvPr/>
        </p:nvSpPr>
        <p:spPr>
          <a:xfrm>
            <a:off x="9997157" y="7077075"/>
            <a:ext cx="2095054" cy="9525"/>
          </a:xfrm>
          <a:prstGeom prst="rect">
            <a:avLst/>
          </a:prstGeom>
          <a:solidFill>
            <a:srgbClr val="DDE5EC"/>
          </a:solidFill>
          <a:ln/>
        </p:spPr>
      </p:sp>
      <p:sp>
        <p:nvSpPr>
          <p:cNvPr id="200" name="Text 197"/>
          <p:cNvSpPr/>
          <p:nvPr/>
        </p:nvSpPr>
        <p:spPr>
          <a:xfrm>
            <a:off x="10111457" y="6729413"/>
            <a:ext cx="1866454" cy="252413"/>
          </a:xfrm>
          <a:prstGeom prst="rect">
            <a:avLst/>
          </a:prstGeom>
          <a:noFill/>
          <a:ln/>
        </p:spPr>
        <p:txBody>
          <a:bodyPr wrap="square" lIns="25400" tIns="25400" rIns="25400" bIns="25400" rtlCol="0" anchor="ctr">
            <a:normAutofit/>
          </a:bodyPr>
          <a:lstStyle/>
          <a:p>
            <a:pPr algn="ctr" indent="0" marL="0">
              <a:lnSpc>
                <a:spcPct val="150000"/>
              </a:lnSpc>
              <a:buNone/>
            </a:pPr>
            <a:r>
              <a:rPr lang="en-US" sz="1125" dirty="0">
                <a:solidFill>
                  <a:srgbClr val="98A1AE"/>
                </a:solidFill>
                <a:latin typeface="Arial" pitchFamily="34" charset="0"/>
                <a:ea typeface="Arial" pitchFamily="34" charset="-122"/>
                <a:cs typeface="Arial" pitchFamily="34" charset="-120"/>
              </a:rPr>
              <a:t>—</a:t>
            </a:r>
            <a:endParaRPr lang="en-US" sz="1125" dirty="0"/>
          </a:p>
        </p:txBody>
      </p:sp>
      <p:sp>
        <p:nvSpPr>
          <p:cNvPr id="201" name="Shape 198"/>
          <p:cNvSpPr/>
          <p:nvPr/>
        </p:nvSpPr>
        <p:spPr>
          <a:xfrm>
            <a:off x="12092211" y="7077075"/>
            <a:ext cx="1373386" cy="9525"/>
          </a:xfrm>
          <a:prstGeom prst="rect">
            <a:avLst/>
          </a:prstGeom>
          <a:solidFill>
            <a:srgbClr val="DDE5EC"/>
          </a:solidFill>
          <a:ln/>
        </p:spPr>
      </p:sp>
      <p:sp>
        <p:nvSpPr>
          <p:cNvPr id="202" name="Text 199"/>
          <p:cNvSpPr/>
          <p:nvPr/>
        </p:nvSpPr>
        <p:spPr>
          <a:xfrm>
            <a:off x="12206511" y="6729413"/>
            <a:ext cx="1144786" cy="252413"/>
          </a:xfrm>
          <a:prstGeom prst="rect">
            <a:avLst/>
          </a:prstGeom>
          <a:noFill/>
          <a:ln/>
        </p:spPr>
        <p:txBody>
          <a:bodyPr wrap="square" lIns="25400" tIns="25400" rIns="25400" bIns="25400" rtlCol="0" anchor="ctr">
            <a:normAutofit/>
          </a:bodyPr>
          <a:lstStyle/>
          <a:p>
            <a:pPr algn="ctr" indent="0" marL="0">
              <a:lnSpc>
                <a:spcPct val="150000"/>
              </a:lnSpc>
              <a:buNone/>
            </a:pPr>
            <a:r>
              <a:rPr lang="en-US" sz="1125" dirty="0">
                <a:solidFill>
                  <a:srgbClr val="98A1AE"/>
                </a:solidFill>
                <a:latin typeface="Arial" pitchFamily="34" charset="0"/>
                <a:ea typeface="Arial" pitchFamily="34" charset="-122"/>
                <a:cs typeface="Arial" pitchFamily="34" charset="-120"/>
              </a:rPr>
              <a:t>—</a:t>
            </a:r>
            <a:endParaRPr lang="en-US" sz="1125" dirty="0"/>
          </a:p>
        </p:txBody>
      </p:sp>
      <p:sp>
        <p:nvSpPr>
          <p:cNvPr id="203" name="Shape 200"/>
          <p:cNvSpPr/>
          <p:nvPr/>
        </p:nvSpPr>
        <p:spPr>
          <a:xfrm>
            <a:off x="13465597" y="7077075"/>
            <a:ext cx="2095054" cy="9525"/>
          </a:xfrm>
          <a:prstGeom prst="rect">
            <a:avLst/>
          </a:prstGeom>
          <a:solidFill>
            <a:srgbClr val="DDE5EC"/>
          </a:solidFill>
          <a:ln/>
        </p:spPr>
      </p:sp>
      <p:sp>
        <p:nvSpPr>
          <p:cNvPr id="204" name="Text 201"/>
          <p:cNvSpPr/>
          <p:nvPr/>
        </p:nvSpPr>
        <p:spPr>
          <a:xfrm>
            <a:off x="13579897" y="6729413"/>
            <a:ext cx="1866454" cy="252413"/>
          </a:xfrm>
          <a:prstGeom prst="rect">
            <a:avLst/>
          </a:prstGeom>
          <a:noFill/>
          <a:ln/>
        </p:spPr>
        <p:txBody>
          <a:bodyPr wrap="square" lIns="25400" tIns="25400" rIns="25400" bIns="25400" rtlCol="0" anchor="ctr">
            <a:normAutofit/>
          </a:bodyPr>
          <a:lstStyle/>
          <a:p>
            <a:pPr algn="ctr" indent="0" marL="0">
              <a:lnSpc>
                <a:spcPct val="150000"/>
              </a:lnSpc>
              <a:buNone/>
            </a:pPr>
            <a:r>
              <a:rPr lang="en-US" sz="1125" dirty="0">
                <a:solidFill>
                  <a:srgbClr val="98A1AE"/>
                </a:solidFill>
                <a:latin typeface="Arial" pitchFamily="34" charset="0"/>
                <a:ea typeface="Arial" pitchFamily="34" charset="-122"/>
                <a:cs typeface="Arial" pitchFamily="34" charset="-120"/>
              </a:rPr>
              <a:t>—</a:t>
            </a:r>
            <a:endParaRPr lang="en-US" sz="1125" dirty="0"/>
          </a:p>
        </p:txBody>
      </p:sp>
      <p:sp>
        <p:nvSpPr>
          <p:cNvPr id="205" name="Shape 202"/>
          <p:cNvSpPr/>
          <p:nvPr/>
        </p:nvSpPr>
        <p:spPr>
          <a:xfrm>
            <a:off x="15560650" y="7077075"/>
            <a:ext cx="1951062" cy="9525"/>
          </a:xfrm>
          <a:prstGeom prst="rect">
            <a:avLst/>
          </a:prstGeom>
          <a:solidFill>
            <a:srgbClr val="DDE5EC"/>
          </a:solidFill>
          <a:ln/>
        </p:spPr>
      </p:sp>
      <p:sp>
        <p:nvSpPr>
          <p:cNvPr id="206" name="Text 203"/>
          <p:cNvSpPr/>
          <p:nvPr/>
        </p:nvSpPr>
        <p:spPr>
          <a:xfrm>
            <a:off x="15636850" y="6729413"/>
            <a:ext cx="1722462" cy="252413"/>
          </a:xfrm>
          <a:prstGeom prst="rect">
            <a:avLst/>
          </a:prstGeom>
          <a:noFill/>
          <a:ln/>
        </p:spPr>
        <p:txBody>
          <a:bodyPr wrap="square" lIns="25400" tIns="25400" rIns="25400" bIns="25400" rtlCol="0" anchor="ctr">
            <a:normAutofit/>
          </a:bodyPr>
          <a:lstStyle/>
          <a:p>
            <a:pPr algn="r" indent="0" marL="0">
              <a:lnSpc>
                <a:spcPct val="150000"/>
              </a:lnSpc>
              <a:buNone/>
            </a:pPr>
            <a:r>
              <a:rPr lang="en-US" sz="1125" dirty="0">
                <a:solidFill>
                  <a:srgbClr val="0F1419"/>
                </a:solidFill>
                <a:latin typeface="Arial" pitchFamily="34" charset="0"/>
                <a:ea typeface="Arial" pitchFamily="34" charset="-122"/>
                <a:cs typeface="Arial" pitchFamily="34" charset="-120"/>
              </a:rPr>
              <a:t>£0+</a:t>
            </a:r>
            <a:endParaRPr lang="en-US" sz="1125" dirty="0"/>
          </a:p>
        </p:txBody>
      </p:sp>
      <p:sp>
        <p:nvSpPr>
          <p:cNvPr id="207" name="Shape 204"/>
          <p:cNvSpPr/>
          <p:nvPr/>
        </p:nvSpPr>
        <p:spPr>
          <a:xfrm>
            <a:off x="790575" y="7567612"/>
            <a:ext cx="2702496" cy="9525"/>
          </a:xfrm>
          <a:prstGeom prst="rect">
            <a:avLst/>
          </a:prstGeom>
          <a:solidFill>
            <a:srgbClr val="DDE5EC"/>
          </a:solidFill>
          <a:ln/>
        </p:spPr>
      </p:sp>
      <p:sp>
        <p:nvSpPr>
          <p:cNvPr id="208" name="Text 205"/>
          <p:cNvSpPr/>
          <p:nvPr/>
        </p:nvSpPr>
        <p:spPr>
          <a:xfrm>
            <a:off x="942975" y="7219950"/>
            <a:ext cx="2478770" cy="252413"/>
          </a:xfrm>
          <a:prstGeom prst="rect">
            <a:avLst/>
          </a:prstGeom>
          <a:noFill/>
          <a:ln/>
        </p:spPr>
        <p:txBody>
          <a:bodyPr wrap="square" lIns="25400" tIns="25400" rIns="25400" bIns="25400" rtlCol="0" anchor="ctr">
            <a:normAutofit/>
          </a:bodyPr>
          <a:lstStyle/>
          <a:p>
            <a:pPr algn="l" indent="0" marL="0">
              <a:lnSpc>
                <a:spcPct val="150000"/>
              </a:lnSpc>
              <a:buNone/>
            </a:pPr>
            <a:r>
              <a:rPr lang="en-US" sz="1125" dirty="0">
                <a:solidFill>
                  <a:srgbClr val="0F1419"/>
                </a:solidFill>
                <a:latin typeface="Arial" pitchFamily="34" charset="0"/>
                <a:ea typeface="Arial" pitchFamily="34" charset="-122"/>
                <a:cs typeface="Arial" pitchFamily="34" charset="-120"/>
              </a:rPr>
              <a:t>Heroku</a:t>
            </a:r>
            <a:endParaRPr lang="en-US" sz="1125" dirty="0"/>
          </a:p>
        </p:txBody>
      </p:sp>
      <p:sp>
        <p:nvSpPr>
          <p:cNvPr id="209" name="Shape 206"/>
          <p:cNvSpPr/>
          <p:nvPr/>
        </p:nvSpPr>
        <p:spPr>
          <a:xfrm>
            <a:off x="3493071" y="7567612"/>
            <a:ext cx="1373386" cy="9525"/>
          </a:xfrm>
          <a:prstGeom prst="rect">
            <a:avLst/>
          </a:prstGeom>
          <a:solidFill>
            <a:srgbClr val="DDE5EC"/>
          </a:solidFill>
          <a:ln/>
        </p:spPr>
      </p:sp>
      <p:sp>
        <p:nvSpPr>
          <p:cNvPr id="210" name="Text 207"/>
          <p:cNvSpPr/>
          <p:nvPr/>
        </p:nvSpPr>
        <p:spPr>
          <a:xfrm>
            <a:off x="3607371" y="7219950"/>
            <a:ext cx="1144786" cy="252413"/>
          </a:xfrm>
          <a:prstGeom prst="rect">
            <a:avLst/>
          </a:prstGeom>
          <a:noFill/>
          <a:ln/>
        </p:spPr>
        <p:txBody>
          <a:bodyPr wrap="square" lIns="25400" tIns="25400" rIns="25400" bIns="25400" rtlCol="0" anchor="ctr">
            <a:normAutofit/>
          </a:bodyPr>
          <a:lstStyle/>
          <a:p>
            <a:pPr algn="ctr" indent="0" marL="0">
              <a:lnSpc>
                <a:spcPct val="150000"/>
              </a:lnSpc>
              <a:buNone/>
            </a:pPr>
            <a:r>
              <a:rPr lang="en-US" sz="1125" dirty="0">
                <a:solidFill>
                  <a:srgbClr val="0F1419"/>
                </a:solidFill>
                <a:latin typeface="Arial" pitchFamily="34" charset="0"/>
                <a:ea typeface="Arial" pitchFamily="34" charset="-122"/>
                <a:cs typeface="Arial" pitchFamily="34" charset="-120"/>
              </a:rPr>
              <a:t>~</a:t>
            </a:r>
            <a:endParaRPr lang="en-US" sz="1125" dirty="0"/>
          </a:p>
        </p:txBody>
      </p:sp>
      <p:sp>
        <p:nvSpPr>
          <p:cNvPr id="211" name="Shape 208"/>
          <p:cNvSpPr/>
          <p:nvPr/>
        </p:nvSpPr>
        <p:spPr>
          <a:xfrm>
            <a:off x="4866456" y="7567612"/>
            <a:ext cx="1662113" cy="9525"/>
          </a:xfrm>
          <a:prstGeom prst="rect">
            <a:avLst/>
          </a:prstGeom>
          <a:solidFill>
            <a:srgbClr val="DDE5EC"/>
          </a:solidFill>
          <a:ln/>
        </p:spPr>
      </p:sp>
      <p:sp>
        <p:nvSpPr>
          <p:cNvPr id="212" name="Text 209"/>
          <p:cNvSpPr/>
          <p:nvPr/>
        </p:nvSpPr>
        <p:spPr>
          <a:xfrm>
            <a:off x="4980756" y="7219950"/>
            <a:ext cx="1433513" cy="252413"/>
          </a:xfrm>
          <a:prstGeom prst="rect">
            <a:avLst/>
          </a:prstGeom>
          <a:noFill/>
          <a:ln/>
        </p:spPr>
        <p:txBody>
          <a:bodyPr wrap="square" lIns="25400" tIns="25400" rIns="25400" bIns="25400" rtlCol="0" anchor="ctr">
            <a:normAutofit/>
          </a:bodyPr>
          <a:lstStyle/>
          <a:p>
            <a:pPr algn="ctr" indent="0" marL="0">
              <a:lnSpc>
                <a:spcPct val="150000"/>
              </a:lnSpc>
              <a:buNone/>
            </a:pPr>
            <a:r>
              <a:rPr lang="en-US" sz="1125" dirty="0">
                <a:solidFill>
                  <a:srgbClr val="98A1AE"/>
                </a:solidFill>
                <a:latin typeface="Arial" pitchFamily="34" charset="0"/>
                <a:ea typeface="Arial" pitchFamily="34" charset="-122"/>
                <a:cs typeface="Arial" pitchFamily="34" charset="-120"/>
              </a:rPr>
              <a:t>—</a:t>
            </a:r>
            <a:endParaRPr lang="en-US" sz="1125" dirty="0"/>
          </a:p>
        </p:txBody>
      </p:sp>
      <p:sp>
        <p:nvSpPr>
          <p:cNvPr id="213" name="Shape 210"/>
          <p:cNvSpPr/>
          <p:nvPr/>
        </p:nvSpPr>
        <p:spPr>
          <a:xfrm>
            <a:off x="6528569" y="7567612"/>
            <a:ext cx="1662113" cy="9525"/>
          </a:xfrm>
          <a:prstGeom prst="rect">
            <a:avLst/>
          </a:prstGeom>
          <a:solidFill>
            <a:srgbClr val="DDE5EC"/>
          </a:solidFill>
          <a:ln/>
        </p:spPr>
      </p:sp>
      <p:sp>
        <p:nvSpPr>
          <p:cNvPr id="214" name="Text 211"/>
          <p:cNvSpPr/>
          <p:nvPr/>
        </p:nvSpPr>
        <p:spPr>
          <a:xfrm>
            <a:off x="6642869" y="7219950"/>
            <a:ext cx="1433513" cy="252413"/>
          </a:xfrm>
          <a:prstGeom prst="rect">
            <a:avLst/>
          </a:prstGeom>
          <a:noFill/>
          <a:ln/>
        </p:spPr>
        <p:txBody>
          <a:bodyPr wrap="square" lIns="25400" tIns="25400" rIns="25400" bIns="25400" rtlCol="0" anchor="ctr">
            <a:normAutofit/>
          </a:bodyPr>
          <a:lstStyle/>
          <a:p>
            <a:pPr algn="ctr" indent="0" marL="0">
              <a:lnSpc>
                <a:spcPct val="150000"/>
              </a:lnSpc>
              <a:buNone/>
            </a:pPr>
            <a:r>
              <a:rPr lang="en-US" sz="1125" b="1" dirty="0">
                <a:solidFill>
                  <a:srgbClr val="2DB47A"/>
                </a:solidFill>
                <a:latin typeface="Arial" pitchFamily="34" charset="0"/>
                <a:ea typeface="Arial" pitchFamily="34" charset="-122"/>
                <a:cs typeface="Arial" pitchFamily="34" charset="-120"/>
              </a:rPr>
              <a:t>✓</a:t>
            </a:r>
            <a:endParaRPr lang="en-US" sz="1125" dirty="0"/>
          </a:p>
        </p:txBody>
      </p:sp>
      <p:sp>
        <p:nvSpPr>
          <p:cNvPr id="215" name="Shape 212"/>
          <p:cNvSpPr/>
          <p:nvPr/>
        </p:nvSpPr>
        <p:spPr>
          <a:xfrm>
            <a:off x="8190681" y="7567612"/>
            <a:ext cx="1806476" cy="9525"/>
          </a:xfrm>
          <a:prstGeom prst="rect">
            <a:avLst/>
          </a:prstGeom>
          <a:solidFill>
            <a:srgbClr val="DDE5EC"/>
          </a:solidFill>
          <a:ln/>
        </p:spPr>
      </p:sp>
      <p:sp>
        <p:nvSpPr>
          <p:cNvPr id="216" name="Text 213"/>
          <p:cNvSpPr/>
          <p:nvPr/>
        </p:nvSpPr>
        <p:spPr>
          <a:xfrm>
            <a:off x="8304981" y="7219950"/>
            <a:ext cx="1577876" cy="252413"/>
          </a:xfrm>
          <a:prstGeom prst="rect">
            <a:avLst/>
          </a:prstGeom>
          <a:noFill/>
          <a:ln/>
        </p:spPr>
        <p:txBody>
          <a:bodyPr wrap="square" lIns="25400" tIns="25400" rIns="25400" bIns="25400" rtlCol="0" anchor="ctr">
            <a:normAutofit/>
          </a:bodyPr>
          <a:lstStyle/>
          <a:p>
            <a:pPr algn="ctr" indent="0" marL="0">
              <a:lnSpc>
                <a:spcPct val="150000"/>
              </a:lnSpc>
              <a:buNone/>
            </a:pPr>
            <a:r>
              <a:rPr lang="en-US" sz="1125" dirty="0">
                <a:solidFill>
                  <a:srgbClr val="0F1419"/>
                </a:solidFill>
                <a:latin typeface="Arial" pitchFamily="34" charset="0"/>
                <a:ea typeface="Arial" pitchFamily="34" charset="-122"/>
                <a:cs typeface="Arial" pitchFamily="34" charset="-120"/>
              </a:rPr>
              <a:t>£0</a:t>
            </a:r>
            <a:endParaRPr lang="en-US" sz="1125" dirty="0"/>
          </a:p>
        </p:txBody>
      </p:sp>
      <p:sp>
        <p:nvSpPr>
          <p:cNvPr id="217" name="Shape 214"/>
          <p:cNvSpPr/>
          <p:nvPr/>
        </p:nvSpPr>
        <p:spPr>
          <a:xfrm>
            <a:off x="9997157" y="7567612"/>
            <a:ext cx="2095054" cy="9525"/>
          </a:xfrm>
          <a:prstGeom prst="rect">
            <a:avLst/>
          </a:prstGeom>
          <a:solidFill>
            <a:srgbClr val="DDE5EC"/>
          </a:solidFill>
          <a:ln/>
        </p:spPr>
      </p:sp>
      <p:sp>
        <p:nvSpPr>
          <p:cNvPr id="218" name="Text 215"/>
          <p:cNvSpPr/>
          <p:nvPr/>
        </p:nvSpPr>
        <p:spPr>
          <a:xfrm>
            <a:off x="10111457" y="7219950"/>
            <a:ext cx="1866454" cy="252413"/>
          </a:xfrm>
          <a:prstGeom prst="rect">
            <a:avLst/>
          </a:prstGeom>
          <a:noFill/>
          <a:ln/>
        </p:spPr>
        <p:txBody>
          <a:bodyPr wrap="square" lIns="25400" tIns="25400" rIns="25400" bIns="25400" rtlCol="0" anchor="ctr">
            <a:normAutofit/>
          </a:bodyPr>
          <a:lstStyle/>
          <a:p>
            <a:pPr algn="ctr" indent="0" marL="0">
              <a:lnSpc>
                <a:spcPct val="150000"/>
              </a:lnSpc>
              <a:buNone/>
            </a:pPr>
            <a:r>
              <a:rPr lang="en-US" sz="1125" dirty="0">
                <a:solidFill>
                  <a:srgbClr val="98A1AE"/>
                </a:solidFill>
                <a:latin typeface="Arial" pitchFamily="34" charset="0"/>
                <a:ea typeface="Arial" pitchFamily="34" charset="-122"/>
                <a:cs typeface="Arial" pitchFamily="34" charset="-120"/>
              </a:rPr>
              <a:t>—</a:t>
            </a:r>
            <a:endParaRPr lang="en-US" sz="1125" dirty="0"/>
          </a:p>
        </p:txBody>
      </p:sp>
      <p:sp>
        <p:nvSpPr>
          <p:cNvPr id="219" name="Shape 216"/>
          <p:cNvSpPr/>
          <p:nvPr/>
        </p:nvSpPr>
        <p:spPr>
          <a:xfrm>
            <a:off x="12092211" y="7567612"/>
            <a:ext cx="1373386" cy="9525"/>
          </a:xfrm>
          <a:prstGeom prst="rect">
            <a:avLst/>
          </a:prstGeom>
          <a:solidFill>
            <a:srgbClr val="DDE5EC"/>
          </a:solidFill>
          <a:ln/>
        </p:spPr>
      </p:sp>
      <p:sp>
        <p:nvSpPr>
          <p:cNvPr id="220" name="Text 217"/>
          <p:cNvSpPr/>
          <p:nvPr/>
        </p:nvSpPr>
        <p:spPr>
          <a:xfrm>
            <a:off x="12206511" y="7219950"/>
            <a:ext cx="1144786" cy="252413"/>
          </a:xfrm>
          <a:prstGeom prst="rect">
            <a:avLst/>
          </a:prstGeom>
          <a:noFill/>
          <a:ln/>
        </p:spPr>
        <p:txBody>
          <a:bodyPr wrap="square" lIns="25400" tIns="25400" rIns="25400" bIns="25400" rtlCol="0" anchor="ctr">
            <a:normAutofit/>
          </a:bodyPr>
          <a:lstStyle/>
          <a:p>
            <a:pPr algn="ctr" indent="0" marL="0">
              <a:lnSpc>
                <a:spcPct val="150000"/>
              </a:lnSpc>
              <a:buNone/>
            </a:pPr>
            <a:r>
              <a:rPr lang="en-US" sz="1125" dirty="0">
                <a:solidFill>
                  <a:srgbClr val="98A1AE"/>
                </a:solidFill>
                <a:latin typeface="Arial" pitchFamily="34" charset="0"/>
                <a:ea typeface="Arial" pitchFamily="34" charset="-122"/>
                <a:cs typeface="Arial" pitchFamily="34" charset="-120"/>
              </a:rPr>
              <a:t>—</a:t>
            </a:r>
            <a:endParaRPr lang="en-US" sz="1125" dirty="0"/>
          </a:p>
        </p:txBody>
      </p:sp>
      <p:sp>
        <p:nvSpPr>
          <p:cNvPr id="221" name="Shape 218"/>
          <p:cNvSpPr/>
          <p:nvPr/>
        </p:nvSpPr>
        <p:spPr>
          <a:xfrm>
            <a:off x="13465597" y="7567612"/>
            <a:ext cx="2095054" cy="9525"/>
          </a:xfrm>
          <a:prstGeom prst="rect">
            <a:avLst/>
          </a:prstGeom>
          <a:solidFill>
            <a:srgbClr val="DDE5EC"/>
          </a:solidFill>
          <a:ln/>
        </p:spPr>
      </p:sp>
      <p:sp>
        <p:nvSpPr>
          <p:cNvPr id="222" name="Text 219"/>
          <p:cNvSpPr/>
          <p:nvPr/>
        </p:nvSpPr>
        <p:spPr>
          <a:xfrm>
            <a:off x="13579897" y="7219950"/>
            <a:ext cx="1866454" cy="252413"/>
          </a:xfrm>
          <a:prstGeom prst="rect">
            <a:avLst/>
          </a:prstGeom>
          <a:noFill/>
          <a:ln/>
        </p:spPr>
        <p:txBody>
          <a:bodyPr wrap="square" lIns="25400" tIns="25400" rIns="25400" bIns="25400" rtlCol="0" anchor="ctr">
            <a:normAutofit/>
          </a:bodyPr>
          <a:lstStyle/>
          <a:p>
            <a:pPr algn="ctr" indent="0" marL="0">
              <a:lnSpc>
                <a:spcPct val="150000"/>
              </a:lnSpc>
              <a:buNone/>
            </a:pPr>
            <a:r>
              <a:rPr lang="en-US" sz="1125" dirty="0">
                <a:solidFill>
                  <a:srgbClr val="98A1AE"/>
                </a:solidFill>
                <a:latin typeface="Arial" pitchFamily="34" charset="0"/>
                <a:ea typeface="Arial" pitchFamily="34" charset="-122"/>
                <a:cs typeface="Arial" pitchFamily="34" charset="-120"/>
              </a:rPr>
              <a:t>—</a:t>
            </a:r>
            <a:endParaRPr lang="en-US" sz="1125" dirty="0"/>
          </a:p>
        </p:txBody>
      </p:sp>
      <p:sp>
        <p:nvSpPr>
          <p:cNvPr id="223" name="Shape 220"/>
          <p:cNvSpPr/>
          <p:nvPr/>
        </p:nvSpPr>
        <p:spPr>
          <a:xfrm>
            <a:off x="15560650" y="7567612"/>
            <a:ext cx="1951062" cy="9525"/>
          </a:xfrm>
          <a:prstGeom prst="rect">
            <a:avLst/>
          </a:prstGeom>
          <a:solidFill>
            <a:srgbClr val="DDE5EC"/>
          </a:solidFill>
          <a:ln/>
        </p:spPr>
      </p:sp>
      <p:sp>
        <p:nvSpPr>
          <p:cNvPr id="224" name="Text 221"/>
          <p:cNvSpPr/>
          <p:nvPr/>
        </p:nvSpPr>
        <p:spPr>
          <a:xfrm>
            <a:off x="15636850" y="7219950"/>
            <a:ext cx="1722462" cy="252413"/>
          </a:xfrm>
          <a:prstGeom prst="rect">
            <a:avLst/>
          </a:prstGeom>
          <a:noFill/>
          <a:ln/>
        </p:spPr>
        <p:txBody>
          <a:bodyPr wrap="square" lIns="25400" tIns="25400" rIns="25400" bIns="25400" rtlCol="0" anchor="ctr">
            <a:normAutofit/>
          </a:bodyPr>
          <a:lstStyle/>
          <a:p>
            <a:pPr algn="r" indent="0" marL="0">
              <a:lnSpc>
                <a:spcPct val="150000"/>
              </a:lnSpc>
              <a:buNone/>
            </a:pPr>
            <a:r>
              <a:rPr lang="en-US" sz="1125" dirty="0">
                <a:solidFill>
                  <a:srgbClr val="0F1419"/>
                </a:solidFill>
                <a:latin typeface="Arial" pitchFamily="34" charset="0"/>
                <a:ea typeface="Arial" pitchFamily="34" charset="-122"/>
                <a:cs typeface="Arial" pitchFamily="34" charset="-120"/>
              </a:rPr>
              <a:t>$5+</a:t>
            </a:r>
            <a:endParaRPr lang="en-US" sz="1125" dirty="0"/>
          </a:p>
        </p:txBody>
      </p:sp>
      <p:sp>
        <p:nvSpPr>
          <p:cNvPr id="225" name="Text 222"/>
          <p:cNvSpPr/>
          <p:nvPr/>
        </p:nvSpPr>
        <p:spPr>
          <a:xfrm>
            <a:off x="942975" y="7710488"/>
            <a:ext cx="2478770" cy="257175"/>
          </a:xfrm>
          <a:prstGeom prst="rect">
            <a:avLst/>
          </a:prstGeom>
          <a:noFill/>
          <a:ln/>
        </p:spPr>
        <p:txBody>
          <a:bodyPr wrap="square" lIns="25400" tIns="25400" rIns="25400" bIns="25400" rtlCol="0" anchor="ctr">
            <a:normAutofit/>
          </a:bodyPr>
          <a:lstStyle/>
          <a:p>
            <a:pPr algn="l" indent="0" marL="0">
              <a:lnSpc>
                <a:spcPct val="150000"/>
              </a:lnSpc>
              <a:buNone/>
            </a:pPr>
            <a:r>
              <a:rPr lang="en-US" sz="1125" dirty="0">
                <a:solidFill>
                  <a:srgbClr val="0F1419"/>
                </a:solidFill>
                <a:latin typeface="Arial" pitchFamily="34" charset="0"/>
                <a:ea typeface="Arial" pitchFamily="34" charset="-122"/>
                <a:cs typeface="Arial" pitchFamily="34" charset="-120"/>
              </a:rPr>
              <a:t>Supabase (self-host)</a:t>
            </a:r>
            <a:endParaRPr lang="en-US" sz="1125" dirty="0"/>
          </a:p>
        </p:txBody>
      </p:sp>
      <p:sp>
        <p:nvSpPr>
          <p:cNvPr id="226" name="Text 223"/>
          <p:cNvSpPr/>
          <p:nvPr/>
        </p:nvSpPr>
        <p:spPr>
          <a:xfrm>
            <a:off x="3607371" y="7710488"/>
            <a:ext cx="1144786" cy="257175"/>
          </a:xfrm>
          <a:prstGeom prst="rect">
            <a:avLst/>
          </a:prstGeom>
          <a:noFill/>
          <a:ln/>
        </p:spPr>
        <p:txBody>
          <a:bodyPr wrap="square" lIns="25400" tIns="25400" rIns="25400" bIns="25400" rtlCol="0" anchor="ctr">
            <a:normAutofit/>
          </a:bodyPr>
          <a:lstStyle/>
          <a:p>
            <a:pPr algn="ctr" indent="0" marL="0">
              <a:lnSpc>
                <a:spcPct val="150000"/>
              </a:lnSpc>
              <a:buNone/>
            </a:pPr>
            <a:r>
              <a:rPr lang="en-US" sz="1125" dirty="0">
                <a:solidFill>
                  <a:srgbClr val="0F1419"/>
                </a:solidFill>
                <a:latin typeface="Arial" pitchFamily="34" charset="0"/>
                <a:ea typeface="Arial" pitchFamily="34" charset="-122"/>
                <a:cs typeface="Arial" pitchFamily="34" charset="-120"/>
              </a:rPr>
              <a:t>~</a:t>
            </a:r>
            <a:endParaRPr lang="en-US" sz="1125" dirty="0"/>
          </a:p>
        </p:txBody>
      </p:sp>
      <p:sp>
        <p:nvSpPr>
          <p:cNvPr id="227" name="Text 224"/>
          <p:cNvSpPr/>
          <p:nvPr/>
        </p:nvSpPr>
        <p:spPr>
          <a:xfrm>
            <a:off x="4980756" y="7710488"/>
            <a:ext cx="1433513" cy="257175"/>
          </a:xfrm>
          <a:prstGeom prst="rect">
            <a:avLst/>
          </a:prstGeom>
          <a:noFill/>
          <a:ln/>
        </p:spPr>
        <p:txBody>
          <a:bodyPr wrap="square" lIns="25400" tIns="25400" rIns="25400" bIns="25400" rtlCol="0" anchor="ctr">
            <a:normAutofit/>
          </a:bodyPr>
          <a:lstStyle/>
          <a:p>
            <a:pPr algn="ctr" indent="0" marL="0">
              <a:lnSpc>
                <a:spcPct val="150000"/>
              </a:lnSpc>
              <a:buNone/>
            </a:pPr>
            <a:r>
              <a:rPr lang="en-US" sz="1125" dirty="0">
                <a:solidFill>
                  <a:srgbClr val="0F1419"/>
                </a:solidFill>
                <a:latin typeface="Arial" pitchFamily="34" charset="0"/>
                <a:ea typeface="Arial" pitchFamily="34" charset="-122"/>
                <a:cs typeface="Arial" pitchFamily="34" charset="-120"/>
              </a:rPr>
              <a:t>~</a:t>
            </a:r>
            <a:endParaRPr lang="en-US" sz="1125" dirty="0"/>
          </a:p>
        </p:txBody>
      </p:sp>
      <p:sp>
        <p:nvSpPr>
          <p:cNvPr id="228" name="Text 225"/>
          <p:cNvSpPr/>
          <p:nvPr/>
        </p:nvSpPr>
        <p:spPr>
          <a:xfrm>
            <a:off x="6642869" y="7710488"/>
            <a:ext cx="1433513" cy="257175"/>
          </a:xfrm>
          <a:prstGeom prst="rect">
            <a:avLst/>
          </a:prstGeom>
          <a:noFill/>
          <a:ln/>
        </p:spPr>
        <p:txBody>
          <a:bodyPr wrap="square" lIns="25400" tIns="25400" rIns="25400" bIns="25400" rtlCol="0" anchor="ctr">
            <a:normAutofit/>
          </a:bodyPr>
          <a:lstStyle/>
          <a:p>
            <a:pPr algn="ctr" indent="0" marL="0">
              <a:lnSpc>
                <a:spcPct val="150000"/>
              </a:lnSpc>
              <a:buNone/>
            </a:pPr>
            <a:r>
              <a:rPr lang="en-US" sz="1125" b="1" dirty="0">
                <a:solidFill>
                  <a:srgbClr val="2DB47A"/>
                </a:solidFill>
                <a:latin typeface="Arial" pitchFamily="34" charset="0"/>
                <a:ea typeface="Arial" pitchFamily="34" charset="-122"/>
                <a:cs typeface="Arial" pitchFamily="34" charset="-120"/>
              </a:rPr>
              <a:t>✓</a:t>
            </a:r>
            <a:endParaRPr lang="en-US" sz="1125" dirty="0"/>
          </a:p>
        </p:txBody>
      </p:sp>
      <p:sp>
        <p:nvSpPr>
          <p:cNvPr id="229" name="Text 226"/>
          <p:cNvSpPr/>
          <p:nvPr/>
        </p:nvSpPr>
        <p:spPr>
          <a:xfrm>
            <a:off x="8304981" y="7710488"/>
            <a:ext cx="1577876" cy="257175"/>
          </a:xfrm>
          <a:prstGeom prst="rect">
            <a:avLst/>
          </a:prstGeom>
          <a:noFill/>
          <a:ln/>
        </p:spPr>
        <p:txBody>
          <a:bodyPr wrap="square" lIns="25400" tIns="25400" rIns="25400" bIns="25400" rtlCol="0" anchor="ctr">
            <a:normAutofit/>
          </a:bodyPr>
          <a:lstStyle/>
          <a:p>
            <a:pPr algn="ctr" indent="0" marL="0">
              <a:lnSpc>
                <a:spcPct val="150000"/>
              </a:lnSpc>
              <a:buNone/>
            </a:pPr>
            <a:r>
              <a:rPr lang="en-US" sz="1125" dirty="0">
                <a:solidFill>
                  <a:srgbClr val="0F1419"/>
                </a:solidFill>
                <a:latin typeface="Arial" pitchFamily="34" charset="0"/>
                <a:ea typeface="Arial" pitchFamily="34" charset="-122"/>
                <a:cs typeface="Arial" pitchFamily="34" charset="-120"/>
              </a:rPr>
              <a:t>£0</a:t>
            </a:r>
            <a:endParaRPr lang="en-US" sz="1125" dirty="0"/>
          </a:p>
        </p:txBody>
      </p:sp>
      <p:sp>
        <p:nvSpPr>
          <p:cNvPr id="230" name="Text 227"/>
          <p:cNvSpPr/>
          <p:nvPr/>
        </p:nvSpPr>
        <p:spPr>
          <a:xfrm>
            <a:off x="10111457" y="7710488"/>
            <a:ext cx="1866454" cy="257175"/>
          </a:xfrm>
          <a:prstGeom prst="rect">
            <a:avLst/>
          </a:prstGeom>
          <a:noFill/>
          <a:ln/>
        </p:spPr>
        <p:txBody>
          <a:bodyPr wrap="square" lIns="25400" tIns="25400" rIns="25400" bIns="25400" rtlCol="0" anchor="ctr">
            <a:normAutofit/>
          </a:bodyPr>
          <a:lstStyle/>
          <a:p>
            <a:pPr algn="ctr" indent="0" marL="0">
              <a:lnSpc>
                <a:spcPct val="150000"/>
              </a:lnSpc>
              <a:buNone/>
            </a:pPr>
            <a:r>
              <a:rPr lang="en-US" sz="1125" dirty="0">
                <a:solidFill>
                  <a:srgbClr val="98A1AE"/>
                </a:solidFill>
                <a:latin typeface="Arial" pitchFamily="34" charset="0"/>
                <a:ea typeface="Arial" pitchFamily="34" charset="-122"/>
                <a:cs typeface="Arial" pitchFamily="34" charset="-120"/>
              </a:rPr>
              <a:t>—</a:t>
            </a:r>
            <a:endParaRPr lang="en-US" sz="1125" dirty="0"/>
          </a:p>
        </p:txBody>
      </p:sp>
      <p:sp>
        <p:nvSpPr>
          <p:cNvPr id="231" name="Text 228"/>
          <p:cNvSpPr/>
          <p:nvPr/>
        </p:nvSpPr>
        <p:spPr>
          <a:xfrm>
            <a:off x="12206511" y="7710488"/>
            <a:ext cx="1144786" cy="257175"/>
          </a:xfrm>
          <a:prstGeom prst="rect">
            <a:avLst/>
          </a:prstGeom>
          <a:noFill/>
          <a:ln/>
        </p:spPr>
        <p:txBody>
          <a:bodyPr wrap="square" lIns="25400" tIns="25400" rIns="25400" bIns="25400" rtlCol="0" anchor="ctr">
            <a:normAutofit/>
          </a:bodyPr>
          <a:lstStyle/>
          <a:p>
            <a:pPr algn="ctr" indent="0" marL="0">
              <a:lnSpc>
                <a:spcPct val="150000"/>
              </a:lnSpc>
              <a:buNone/>
            </a:pPr>
            <a:r>
              <a:rPr lang="en-US" sz="1125" dirty="0">
                <a:solidFill>
                  <a:srgbClr val="98A1AE"/>
                </a:solidFill>
                <a:latin typeface="Arial" pitchFamily="34" charset="0"/>
                <a:ea typeface="Arial" pitchFamily="34" charset="-122"/>
                <a:cs typeface="Arial" pitchFamily="34" charset="-120"/>
              </a:rPr>
              <a:t>—</a:t>
            </a:r>
            <a:endParaRPr lang="en-US" sz="1125" dirty="0"/>
          </a:p>
        </p:txBody>
      </p:sp>
      <p:sp>
        <p:nvSpPr>
          <p:cNvPr id="232" name="Text 229"/>
          <p:cNvSpPr/>
          <p:nvPr/>
        </p:nvSpPr>
        <p:spPr>
          <a:xfrm>
            <a:off x="13579897" y="7710488"/>
            <a:ext cx="1866454" cy="257175"/>
          </a:xfrm>
          <a:prstGeom prst="rect">
            <a:avLst/>
          </a:prstGeom>
          <a:noFill/>
          <a:ln/>
        </p:spPr>
        <p:txBody>
          <a:bodyPr wrap="square" lIns="25400" tIns="25400" rIns="25400" bIns="25400" rtlCol="0" anchor="ctr">
            <a:normAutofit/>
          </a:bodyPr>
          <a:lstStyle/>
          <a:p>
            <a:pPr algn="ctr" indent="0" marL="0">
              <a:lnSpc>
                <a:spcPct val="150000"/>
              </a:lnSpc>
              <a:buNone/>
            </a:pPr>
            <a:r>
              <a:rPr lang="en-US" sz="1125" dirty="0">
                <a:solidFill>
                  <a:srgbClr val="98A1AE"/>
                </a:solidFill>
                <a:latin typeface="Arial" pitchFamily="34" charset="0"/>
                <a:ea typeface="Arial" pitchFamily="34" charset="-122"/>
                <a:cs typeface="Arial" pitchFamily="34" charset="-120"/>
              </a:rPr>
              <a:t>—</a:t>
            </a:r>
            <a:endParaRPr lang="en-US" sz="1125" dirty="0"/>
          </a:p>
        </p:txBody>
      </p:sp>
      <p:sp>
        <p:nvSpPr>
          <p:cNvPr id="233" name="Text 230"/>
          <p:cNvSpPr/>
          <p:nvPr/>
        </p:nvSpPr>
        <p:spPr>
          <a:xfrm>
            <a:off x="15636850" y="7710488"/>
            <a:ext cx="1722462" cy="257175"/>
          </a:xfrm>
          <a:prstGeom prst="rect">
            <a:avLst/>
          </a:prstGeom>
          <a:noFill/>
          <a:ln/>
        </p:spPr>
        <p:txBody>
          <a:bodyPr wrap="square" lIns="25400" tIns="25400" rIns="25400" bIns="25400" rtlCol="0" anchor="ctr">
            <a:normAutofit/>
          </a:bodyPr>
          <a:lstStyle/>
          <a:p>
            <a:pPr algn="r" indent="0" marL="0">
              <a:lnSpc>
                <a:spcPct val="150000"/>
              </a:lnSpc>
              <a:buNone/>
            </a:pPr>
            <a:r>
              <a:rPr lang="en-US" sz="1125" dirty="0">
                <a:solidFill>
                  <a:srgbClr val="0F1419"/>
                </a:solidFill>
                <a:latin typeface="Arial" pitchFamily="34" charset="0"/>
                <a:ea typeface="Arial" pitchFamily="34" charset="-122"/>
                <a:cs typeface="Arial" pitchFamily="34" charset="-120"/>
              </a:rPr>
              <a:t>$25+</a:t>
            </a:r>
            <a:endParaRPr lang="en-US" sz="1125" dirty="0"/>
          </a:p>
        </p:txBody>
      </p:sp>
      <p:sp>
        <p:nvSpPr>
          <p:cNvPr id="234" name="Text 231"/>
          <p:cNvSpPr/>
          <p:nvPr/>
        </p:nvSpPr>
        <p:spPr>
          <a:xfrm>
            <a:off x="762000" y="8296275"/>
            <a:ext cx="588690" cy="219075"/>
          </a:xfrm>
          <a:prstGeom prst="rect">
            <a:avLst/>
          </a:prstGeom>
          <a:noFill/>
          <a:ln/>
        </p:spPr>
        <p:txBody>
          <a:bodyPr wrap="square" lIns="25400" tIns="25400" rIns="25400" bIns="25400" rtlCol="0" anchor="t">
            <a:normAutofit/>
          </a:bodyPr>
          <a:lstStyle/>
          <a:p>
            <a:pPr algn="l" indent="0" marL="0">
              <a:lnSpc>
                <a:spcPct val="150000"/>
              </a:lnSpc>
              <a:buNone/>
            </a:pPr>
            <a:r>
              <a:rPr lang="en-US" sz="900" b="1" spc="36" kern="0" dirty="0">
                <a:solidFill>
                  <a:srgbClr val="2DB47A"/>
                </a:solidFill>
                <a:latin typeface="Courier New" pitchFamily="34" charset="0"/>
                <a:ea typeface="Courier New" pitchFamily="34" charset="-122"/>
                <a:cs typeface="Courier New" pitchFamily="34" charset="-120"/>
              </a:rPr>
              <a:t>✓ </a:t>
            </a:r>
            <a:pPr algn="l" indent="0" marL="0">
              <a:lnSpc>
                <a:spcPct val="150000"/>
              </a:lnSpc>
              <a:buNone/>
            </a:pPr>
            <a:r>
              <a:rPr lang="en-US" sz="900" spc="36" kern="0" dirty="0">
                <a:solidFill>
                  <a:srgbClr val="6E7785"/>
                </a:solidFill>
                <a:latin typeface="Courier New" pitchFamily="34" charset="0"/>
                <a:ea typeface="Courier New" pitchFamily="34" charset="-122"/>
                <a:cs typeface="Courier New" pitchFamily="34" charset="-120"/>
              </a:rPr>
              <a:t>full</a:t>
            </a:r>
            <a:endParaRPr lang="en-US" sz="900" dirty="0"/>
          </a:p>
        </p:txBody>
      </p:sp>
      <p:sp>
        <p:nvSpPr>
          <p:cNvPr id="235" name="Text 232"/>
          <p:cNvSpPr/>
          <p:nvPr/>
        </p:nvSpPr>
        <p:spPr>
          <a:xfrm>
            <a:off x="1503090" y="8301038"/>
            <a:ext cx="807913" cy="209550"/>
          </a:xfrm>
          <a:prstGeom prst="rect">
            <a:avLst/>
          </a:prstGeom>
          <a:noFill/>
          <a:ln/>
        </p:spPr>
        <p:txBody>
          <a:bodyPr wrap="square" lIns="25400" tIns="25400" rIns="25400" bIns="25400" rtlCol="0" anchor="t">
            <a:normAutofit/>
          </a:bodyPr>
          <a:lstStyle/>
          <a:p>
            <a:pPr algn="l" indent="0" marL="0">
              <a:lnSpc>
                <a:spcPct val="150000"/>
              </a:lnSpc>
              <a:buNone/>
            </a:pPr>
            <a:r>
              <a:rPr lang="en-US" sz="900" spc="36" kern="0" dirty="0">
                <a:solidFill>
                  <a:srgbClr val="0F1419"/>
                </a:solidFill>
                <a:latin typeface="Courier New" pitchFamily="34" charset="0"/>
                <a:ea typeface="Courier New" pitchFamily="34" charset="-122"/>
                <a:cs typeface="Courier New" pitchFamily="34" charset="-120"/>
              </a:rPr>
              <a:t>~ </a:t>
            </a:r>
            <a:pPr algn="l" indent="0" marL="0">
              <a:lnSpc>
                <a:spcPct val="150000"/>
              </a:lnSpc>
              <a:buNone/>
            </a:pPr>
            <a:r>
              <a:rPr lang="en-US" sz="900" spc="36" kern="0" dirty="0">
                <a:solidFill>
                  <a:srgbClr val="6E7785"/>
                </a:solidFill>
                <a:latin typeface="Courier New" pitchFamily="34" charset="0"/>
                <a:ea typeface="Courier New" pitchFamily="34" charset="-122"/>
                <a:cs typeface="Courier New" pitchFamily="34" charset="-120"/>
              </a:rPr>
              <a:t>partial</a:t>
            </a:r>
            <a:endParaRPr lang="en-US" sz="900" dirty="0"/>
          </a:p>
        </p:txBody>
      </p:sp>
      <p:sp>
        <p:nvSpPr>
          <p:cNvPr id="236" name="Text 233"/>
          <p:cNvSpPr/>
          <p:nvPr/>
        </p:nvSpPr>
        <p:spPr>
          <a:xfrm>
            <a:off x="2463403" y="8301038"/>
            <a:ext cx="1246882" cy="209550"/>
          </a:xfrm>
          <a:prstGeom prst="rect">
            <a:avLst/>
          </a:prstGeom>
          <a:noFill/>
          <a:ln/>
        </p:spPr>
        <p:txBody>
          <a:bodyPr wrap="square" lIns="25400" tIns="25400" rIns="25400" bIns="25400" rtlCol="0" anchor="t">
            <a:normAutofit/>
          </a:bodyPr>
          <a:lstStyle/>
          <a:p>
            <a:pPr algn="l" indent="0" marL="0">
              <a:lnSpc>
                <a:spcPct val="150000"/>
              </a:lnSpc>
              <a:buNone/>
            </a:pPr>
            <a:r>
              <a:rPr lang="en-US" sz="900" spc="36" kern="0" dirty="0">
                <a:solidFill>
                  <a:srgbClr val="98A1AE"/>
                </a:solidFill>
                <a:latin typeface="Courier New" pitchFamily="34" charset="0"/>
                <a:ea typeface="Courier New" pitchFamily="34" charset="-122"/>
                <a:cs typeface="Courier New" pitchFamily="34" charset="-120"/>
              </a:rPr>
              <a:t>— </a:t>
            </a:r>
            <a:pPr algn="l" indent="0" marL="0">
              <a:lnSpc>
                <a:spcPct val="150000"/>
              </a:lnSpc>
              <a:buNone/>
            </a:pPr>
            <a:r>
              <a:rPr lang="en-US" sz="900" spc="36" kern="0" dirty="0">
                <a:solidFill>
                  <a:srgbClr val="6E7785"/>
                </a:solidFill>
                <a:latin typeface="Courier New" pitchFamily="34" charset="0"/>
                <a:ea typeface="Courier New" pitchFamily="34" charset="-122"/>
                <a:cs typeface="Courier New" pitchFamily="34" charset="-120"/>
              </a:rPr>
              <a:t>not supported</a:t>
            </a:r>
            <a:endParaRPr lang="en-US" sz="900" dirty="0"/>
          </a:p>
        </p:txBody>
      </p:sp>
      <p:sp>
        <p:nvSpPr>
          <p:cNvPr id="237" name="Text 234"/>
          <p:cNvSpPr/>
          <p:nvPr/>
        </p:nvSpPr>
        <p:spPr>
          <a:xfrm>
            <a:off x="10935891" y="8286750"/>
            <a:ext cx="6787813" cy="238125"/>
          </a:xfrm>
          <a:prstGeom prst="rect">
            <a:avLst/>
          </a:prstGeom>
          <a:noFill/>
          <a:ln/>
        </p:spPr>
        <p:txBody>
          <a:bodyPr wrap="square" lIns="25400" tIns="25400" rIns="25400" bIns="25400" rtlCol="0" anchor="t">
            <a:normAutofit/>
          </a:bodyPr>
          <a:lstStyle/>
          <a:p>
            <a:pPr algn="l" indent="0" marL="0">
              <a:lnSpc>
                <a:spcPct val="150000"/>
              </a:lnSpc>
              <a:buNone/>
            </a:pPr>
            <a:r>
              <a:rPr lang="en-US" sz="1050" spc="36" kern="0" dirty="0">
                <a:solidFill>
                  <a:srgbClr val="0F1419"/>
                </a:solidFill>
                <a:latin typeface="Arial" pitchFamily="34" charset="0"/>
                <a:ea typeface="Arial" pitchFamily="34" charset="-122"/>
                <a:cs typeface="Arial" pitchFamily="34" charset="-120"/>
              </a:rPr>
              <a:t>AI builders lock in their runtime · infra players leave plumbing to you · Hatchik sits where both stop.</a:t>
            </a:r>
            <a:endParaRPr lang="en-US" sz="1050" dirty="0"/>
          </a:p>
        </p:txBody>
      </p:sp>
      <p:sp>
        <p:nvSpPr>
          <p:cNvPr id="238" name="Shape 235"/>
          <p:cNvSpPr/>
          <p:nvPr/>
        </p:nvSpPr>
        <p:spPr>
          <a:xfrm>
            <a:off x="762000" y="9248775"/>
            <a:ext cx="16764000" cy="9525"/>
          </a:xfrm>
          <a:prstGeom prst="rect">
            <a:avLst/>
          </a:prstGeom>
          <a:solidFill>
            <a:srgbClr val="DDE5EC"/>
          </a:solidFill>
          <a:ln/>
        </p:spPr>
      </p:sp>
      <p:sp>
        <p:nvSpPr>
          <p:cNvPr id="239" name="Text 236"/>
          <p:cNvSpPr/>
          <p:nvPr/>
        </p:nvSpPr>
        <p:spPr>
          <a:xfrm>
            <a:off x="762000" y="9494044"/>
            <a:ext cx="4533256"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113" kern="0" dirty="0">
                <a:solidFill>
                  <a:srgbClr val="6E7785"/>
                </a:solidFill>
                <a:latin typeface="Courier New" pitchFamily="34" charset="0"/>
                <a:ea typeface="Courier New" pitchFamily="34" charset="-122"/>
                <a:cs typeface="Courier New" pitchFamily="34" charset="-120"/>
              </a:rPr>
              <a:t>HATCHIK · INVESTOR &amp; PARTNER DECK · MAY 2026</a:t>
            </a:r>
            <a:endParaRPr lang="en-US" sz="1125" dirty="0"/>
          </a:p>
        </p:txBody>
      </p:sp>
      <p:sp>
        <p:nvSpPr>
          <p:cNvPr id="240" name="Text 237"/>
          <p:cNvSpPr/>
          <p:nvPr/>
        </p:nvSpPr>
        <p:spPr>
          <a:xfrm>
            <a:off x="16843251" y="9486900"/>
            <a:ext cx="758949"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spc="48" kern="0" dirty="0">
                <a:solidFill>
                  <a:srgbClr val="0F1419"/>
                </a:solidFill>
                <a:latin typeface="Courier New" pitchFamily="34" charset="0"/>
                <a:ea typeface="Courier New" pitchFamily="34" charset="-122"/>
                <a:cs typeface="Courier New" pitchFamily="34" charset="-120"/>
              </a:rPr>
              <a:t>23 / 31</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5B47F0">
              <a:alpha val="4000"/>
            </a:srgbClr>
          </a:solidFill>
          <a:ln/>
        </p:spPr>
      </p:sp>
      <p:sp>
        <p:nvSpPr>
          <p:cNvPr id="3" name="Shape 1"/>
          <p:cNvSpPr/>
          <p:nvPr/>
        </p:nvSpPr>
        <p:spPr>
          <a:xfrm>
            <a:off x="914400" y="1009650"/>
            <a:ext cx="16459200" cy="9525"/>
          </a:xfrm>
          <a:prstGeom prst="rect">
            <a:avLst/>
          </a:prstGeom>
          <a:solidFill>
            <a:srgbClr val="DDE5EC"/>
          </a:solidFill>
          <a:ln/>
        </p:spPr>
      </p:sp>
      <p:pic>
        <p:nvPicPr>
          <p:cNvPr id="4" name="Image 0" descr="preencoded.png">    </p:cNvPr>
          <p:cNvPicPr>
            <a:picLocks noChangeAspect="1"/>
          </p:cNvPicPr>
          <p:nvPr/>
        </p:nvPicPr>
        <p:blipFill>
          <a:blip r:embed="rId1"/>
          <a:stretch>
            <a:fillRect/>
          </a:stretch>
        </p:blipFill>
        <p:spPr>
          <a:xfrm>
            <a:off x="914400" y="571500"/>
            <a:ext cx="209550" cy="209550"/>
          </a:xfrm>
          <a:prstGeom prst="rect">
            <a:avLst/>
          </a:prstGeom>
        </p:spPr>
      </p:pic>
      <p:sp>
        <p:nvSpPr>
          <p:cNvPr id="5" name="Text 2"/>
          <p:cNvSpPr/>
          <p:nvPr/>
        </p:nvSpPr>
        <p:spPr>
          <a:xfrm>
            <a:off x="1219200" y="533400"/>
            <a:ext cx="745108"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spc="-37" kern="0" dirty="0">
                <a:solidFill>
                  <a:srgbClr val="0F1419"/>
                </a:solidFill>
                <a:latin typeface="Arial" pitchFamily="34" charset="0"/>
                <a:ea typeface="Arial" pitchFamily="34" charset="-122"/>
                <a:cs typeface="Arial" pitchFamily="34" charset="-120"/>
              </a:rPr>
              <a:t>hatchik</a:t>
            </a:r>
            <a:endParaRPr lang="en-US" sz="1500" dirty="0"/>
          </a:p>
        </p:txBody>
      </p:sp>
      <p:sp>
        <p:nvSpPr>
          <p:cNvPr id="6" name="Text 3"/>
          <p:cNvSpPr/>
          <p:nvPr/>
        </p:nvSpPr>
        <p:spPr>
          <a:xfrm>
            <a:off x="13951669" y="562421"/>
            <a:ext cx="3524589" cy="265733"/>
          </a:xfrm>
          <a:prstGeom prst="rect">
            <a:avLst/>
          </a:prstGeom>
          <a:noFill/>
          <a:ln/>
        </p:spPr>
        <p:txBody>
          <a:bodyPr wrap="square" lIns="25400" tIns="25400" rIns="25400" bIns="25400" rtlCol="0" anchor="t">
            <a:normAutofit/>
          </a:bodyPr>
          <a:lstStyle/>
          <a:p>
            <a:pPr algn="l" indent="0" marL="0">
              <a:lnSpc>
                <a:spcPct val="140000"/>
              </a:lnSpc>
              <a:buNone/>
            </a:pPr>
            <a:r>
              <a:rPr lang="en-US" sz="1200" spc="120" kern="0" dirty="0">
                <a:solidFill>
                  <a:srgbClr val="0F1419"/>
                </a:solidFill>
                <a:latin typeface="Courier New" pitchFamily="34" charset="0"/>
                <a:ea typeface="Courier New" pitchFamily="34" charset="-122"/>
                <a:cs typeface="Courier New" pitchFamily="34" charset="-120"/>
              </a:rPr>
              <a:t>24 </a:t>
            </a:r>
            <a:pPr algn="l" indent="0" marL="0">
              <a:lnSpc>
                <a:spcPct val="140000"/>
              </a:lnSpc>
              <a:buNone/>
            </a:pPr>
            <a:r>
              <a:rPr lang="en-US" sz="1200" spc="120" kern="0" dirty="0">
                <a:solidFill>
                  <a:srgbClr val="5B47F0"/>
                </a:solidFill>
                <a:latin typeface="Courier New" pitchFamily="34" charset="0"/>
                <a:ea typeface="Courier New" pitchFamily="34" charset="-122"/>
                <a:cs typeface="Courier New" pitchFamily="34" charset="-120"/>
              </a:rPr>
              <a:t>· </a:t>
            </a:r>
            <a:pPr algn="l" indent="0" marL="0">
              <a:lnSpc>
                <a:spcPct val="140000"/>
              </a:lnSpc>
              <a:buNone/>
            </a:pPr>
            <a:r>
              <a:rPr lang="en-US" sz="1200" spc="120" kern="0" dirty="0">
                <a:solidFill>
                  <a:srgbClr val="6E7785"/>
                </a:solidFill>
                <a:latin typeface="Courier New" pitchFamily="34" charset="0"/>
                <a:ea typeface="Courier New" pitchFamily="34" charset="-122"/>
                <a:cs typeface="Courier New" pitchFamily="34" charset="-120"/>
              </a:rPr>
              <a:t>APPENDIX · AI-LAB DISRUPTION</a:t>
            </a:r>
            <a:endParaRPr lang="en-US" sz="1200" dirty="0"/>
          </a:p>
        </p:txBody>
      </p:sp>
      <p:sp>
        <p:nvSpPr>
          <p:cNvPr id="7" name="Text 4"/>
          <p:cNvSpPr/>
          <p:nvPr/>
        </p:nvSpPr>
        <p:spPr>
          <a:xfrm>
            <a:off x="914400" y="1438275"/>
            <a:ext cx="15893415" cy="533400"/>
          </a:xfrm>
          <a:prstGeom prst="rect">
            <a:avLst/>
          </a:prstGeom>
          <a:noFill/>
          <a:ln/>
        </p:spPr>
        <p:txBody>
          <a:bodyPr wrap="square" lIns="25400" tIns="25400" rIns="25400" bIns="25400" rtlCol="0" anchor="t">
            <a:normAutofit/>
          </a:bodyPr>
          <a:lstStyle/>
          <a:p>
            <a:pPr algn="l" indent="0" marL="0">
              <a:lnSpc>
                <a:spcPct val="100000"/>
              </a:lnSpc>
              <a:buNone/>
            </a:pPr>
            <a:r>
              <a:rPr lang="en-US" sz="3900" b="1" spc="-156" kern="0" dirty="0">
                <a:solidFill>
                  <a:srgbClr val="0F1419"/>
                </a:solidFill>
                <a:latin typeface="Arial" pitchFamily="34" charset="0"/>
                <a:ea typeface="Arial" pitchFamily="34" charset="-122"/>
                <a:cs typeface="Arial" pitchFamily="34" charset="-120"/>
              </a:rPr>
              <a:t>What if Anthropic / OpenAI / Cursor </a:t>
            </a:r>
            <a:pPr algn="l" indent="0" marL="0">
              <a:lnSpc>
                <a:spcPct val="100000"/>
              </a:lnSpc>
              <a:buNone/>
            </a:pPr>
            <a:r>
              <a:rPr lang="en-US" sz="3900" b="1" spc="-156" kern="0" dirty="0">
                <a:solidFill>
                  <a:srgbClr val="5B47F0"/>
                </a:solidFill>
                <a:latin typeface="Arial" pitchFamily="34" charset="0"/>
                <a:ea typeface="Arial" pitchFamily="34" charset="-122"/>
                <a:cs typeface="Arial" pitchFamily="34" charset="-120"/>
              </a:rPr>
              <a:t>ship their own?</a:t>
            </a:r>
            <a:endParaRPr lang="en-US" sz="3900" dirty="0"/>
          </a:p>
        </p:txBody>
      </p:sp>
      <p:sp>
        <p:nvSpPr>
          <p:cNvPr id="8" name="Text 5"/>
          <p:cNvSpPr/>
          <p:nvPr/>
        </p:nvSpPr>
        <p:spPr>
          <a:xfrm>
            <a:off x="914400" y="2200275"/>
            <a:ext cx="12950190"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dirty="0">
                <a:solidFill>
                  <a:srgbClr val="2A3340"/>
                </a:solidFill>
                <a:latin typeface="Arial" pitchFamily="34" charset="0"/>
                <a:ea typeface="Arial" pitchFamily="34" charset="-122"/>
                <a:cs typeface="Arial" pitchFamily="34" charset="-120"/>
              </a:rPr>
              <a:t>The single biggest risk. Mapped honestly: who could ship it, when, what we lose, and how we defend.</a:t>
            </a:r>
            <a:endParaRPr lang="en-US" sz="1500" dirty="0"/>
          </a:p>
        </p:txBody>
      </p:sp>
      <p:sp>
        <p:nvSpPr>
          <p:cNvPr id="9" name="Shape 6"/>
          <p:cNvSpPr/>
          <p:nvPr/>
        </p:nvSpPr>
        <p:spPr>
          <a:xfrm>
            <a:off x="914400" y="2781300"/>
            <a:ext cx="16459200" cy="1709738"/>
          </a:xfrm>
          <a:prstGeom prst="roundRect">
            <a:avLst>
              <a:gd name="adj" fmla="val 6685"/>
            </a:avLst>
          </a:prstGeom>
          <a:solidFill>
            <a:srgbClr val="FFFFFF"/>
          </a:solidFill>
          <a:ln w="14288">
            <a:solidFill>
              <a:srgbClr val="DDE5EC"/>
            </a:solidFill>
            <a:prstDash val="solid"/>
          </a:ln>
          <a:effectLst>
            <a:outerShdw sx="100000" sy="100000" kx="0" ky="0" algn="bl" rotWithShape="0" blurRad="28575" dist="9525" dir="5400000">
              <a:srgbClr val="0F1419">
                <a:alpha val="4000"/>
              </a:srgbClr>
            </a:outerShdw>
          </a:effectLst>
        </p:spPr>
      </p:sp>
      <p:sp>
        <p:nvSpPr>
          <p:cNvPr id="10" name="Text 7"/>
          <p:cNvSpPr/>
          <p:nvPr/>
        </p:nvSpPr>
        <p:spPr>
          <a:xfrm>
            <a:off x="1176338" y="3005138"/>
            <a:ext cx="1981200" cy="310455"/>
          </a:xfrm>
          <a:prstGeom prst="rect">
            <a:avLst/>
          </a:prstGeom>
          <a:noFill/>
          <a:ln/>
        </p:spPr>
        <p:txBody>
          <a:bodyPr wrap="square" lIns="25400" tIns="25400" rIns="25400" bIns="25400" rtlCol="0" anchor="t">
            <a:normAutofit/>
          </a:bodyPr>
          <a:lstStyle/>
          <a:p>
            <a:pPr algn="l" indent="0" marL="0">
              <a:lnSpc>
                <a:spcPct val="110000"/>
              </a:lnSpc>
              <a:buNone/>
            </a:pPr>
            <a:r>
              <a:rPr lang="en-US" sz="1950" b="1" spc="-39" kern="0" dirty="0">
                <a:solidFill>
                  <a:srgbClr val="0F1419"/>
                </a:solidFill>
                <a:latin typeface="Arial" pitchFamily="34" charset="0"/>
                <a:ea typeface="Arial" pitchFamily="34" charset="-122"/>
                <a:cs typeface="Arial" pitchFamily="34" charset="-120"/>
              </a:rPr>
              <a:t>Anthropic</a:t>
            </a:r>
            <a:endParaRPr lang="en-US" sz="1950" dirty="0"/>
          </a:p>
        </p:txBody>
      </p:sp>
      <p:sp>
        <p:nvSpPr>
          <p:cNvPr id="11" name="Text 8"/>
          <p:cNvSpPr/>
          <p:nvPr/>
        </p:nvSpPr>
        <p:spPr>
          <a:xfrm>
            <a:off x="3328988" y="3005138"/>
            <a:ext cx="1076474" cy="333375"/>
          </a:xfrm>
          <a:prstGeom prst="rect">
            <a:avLst/>
          </a:prstGeom>
          <a:noFill/>
          <a:ln/>
        </p:spPr>
        <p:txBody>
          <a:bodyPr wrap="square" lIns="25400" tIns="25400" rIns="25400" bIns="25400" rtlCol="0" anchor="t">
            <a:normAutofit/>
          </a:bodyPr>
          <a:lstStyle/>
          <a:p>
            <a:pPr algn="l" indent="0" marL="0">
              <a:lnSpc>
                <a:spcPct val="150000"/>
              </a:lnSpc>
              <a:buNone/>
            </a:pPr>
            <a:r>
              <a:rPr lang="en-US" sz="1125" spc="113" kern="0" dirty="0">
                <a:solidFill>
                  <a:srgbClr val="6E7785"/>
                </a:solidFill>
                <a:latin typeface="Courier New" pitchFamily="34" charset="0"/>
                <a:ea typeface="Courier New" pitchFamily="34" charset="-122"/>
                <a:cs typeface="Courier New" pitchFamily="34" charset="-120"/>
              </a:rPr>
              <a:t>LIKELIHOOD</a:t>
            </a:r>
            <a:endParaRPr lang="en-US" sz="1125" dirty="0"/>
          </a:p>
        </p:txBody>
      </p:sp>
      <p:sp>
        <p:nvSpPr>
          <p:cNvPr id="12" name="Shape 9"/>
          <p:cNvSpPr/>
          <p:nvPr/>
        </p:nvSpPr>
        <p:spPr>
          <a:xfrm>
            <a:off x="4500711" y="3005138"/>
            <a:ext cx="855464" cy="295275"/>
          </a:xfrm>
          <a:prstGeom prst="roundRect">
            <a:avLst>
              <a:gd name="adj" fmla="val 22581"/>
            </a:avLst>
          </a:prstGeom>
          <a:solidFill>
            <a:srgbClr val="F59E0B"/>
          </a:solidFill>
          <a:ln/>
        </p:spPr>
      </p:sp>
      <p:sp>
        <p:nvSpPr>
          <p:cNvPr id="13" name="Text 10"/>
          <p:cNvSpPr/>
          <p:nvPr/>
        </p:nvSpPr>
        <p:spPr>
          <a:xfrm>
            <a:off x="4648349" y="3086100"/>
            <a:ext cx="636389" cy="171450"/>
          </a:xfrm>
          <a:prstGeom prst="rect">
            <a:avLst/>
          </a:prstGeom>
          <a:noFill/>
          <a:ln/>
        </p:spPr>
        <p:txBody>
          <a:bodyPr wrap="square" lIns="25400" tIns="25400" rIns="25400" bIns="25400" rtlCol="0" anchor="ctr">
            <a:normAutofit/>
          </a:bodyPr>
          <a:lstStyle/>
          <a:p>
            <a:pPr algn="l" indent="0" marL="0">
              <a:lnSpc>
                <a:spcPct val="100000"/>
              </a:lnSpc>
              <a:buNone/>
            </a:pPr>
            <a:r>
              <a:rPr lang="en-US" sz="1050" spc="105" kern="0" dirty="0">
                <a:solidFill>
                  <a:srgbClr val="0F1419"/>
                </a:solidFill>
                <a:latin typeface="Courier New" pitchFamily="34" charset="0"/>
                <a:ea typeface="Courier New" pitchFamily="34" charset="-122"/>
                <a:cs typeface="Courier New" pitchFamily="34" charset="-120"/>
              </a:rPr>
              <a:t>MEDIUM</a:t>
            </a:r>
            <a:endParaRPr lang="en-US" sz="1050" dirty="0"/>
          </a:p>
        </p:txBody>
      </p:sp>
      <p:sp>
        <p:nvSpPr>
          <p:cNvPr id="14" name="Text 11"/>
          <p:cNvSpPr/>
          <p:nvPr/>
        </p:nvSpPr>
        <p:spPr>
          <a:xfrm>
            <a:off x="3328988" y="3376613"/>
            <a:ext cx="1076474" cy="280988"/>
          </a:xfrm>
          <a:prstGeom prst="rect">
            <a:avLst/>
          </a:prstGeom>
          <a:noFill/>
          <a:ln/>
        </p:spPr>
        <p:txBody>
          <a:bodyPr wrap="square" lIns="25400" tIns="25400" rIns="25400" bIns="25400" rtlCol="0" anchor="t">
            <a:normAutofit/>
          </a:bodyPr>
          <a:lstStyle/>
          <a:p>
            <a:pPr algn="l" indent="0" marL="0">
              <a:lnSpc>
                <a:spcPct val="150000"/>
              </a:lnSpc>
              <a:buNone/>
            </a:pPr>
            <a:r>
              <a:rPr lang="en-US" sz="1125" spc="113" kern="0" dirty="0">
                <a:solidFill>
                  <a:srgbClr val="6E7785"/>
                </a:solidFill>
                <a:latin typeface="Courier New" pitchFamily="34" charset="0"/>
                <a:ea typeface="Courier New" pitchFamily="34" charset="-122"/>
                <a:cs typeface="Courier New" pitchFamily="34" charset="-120"/>
              </a:rPr>
              <a:t>TIMING</a:t>
            </a:r>
            <a:endParaRPr lang="en-US" sz="1125" dirty="0"/>
          </a:p>
        </p:txBody>
      </p:sp>
      <p:sp>
        <p:nvSpPr>
          <p:cNvPr id="15" name="Text 12"/>
          <p:cNvSpPr/>
          <p:nvPr/>
        </p:nvSpPr>
        <p:spPr>
          <a:xfrm>
            <a:off x="4500711" y="3376613"/>
            <a:ext cx="5763662" cy="280988"/>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0F1419"/>
                </a:solidFill>
                <a:latin typeface="Courier New" pitchFamily="34" charset="0"/>
                <a:ea typeface="Courier New" pitchFamily="34" charset="-122"/>
                <a:cs typeface="Courier New" pitchFamily="34" charset="-120"/>
              </a:rPr>
              <a:t>6–18 months</a:t>
            </a:r>
            <a:endParaRPr lang="en-US" sz="1275" dirty="0"/>
          </a:p>
        </p:txBody>
      </p:sp>
      <p:sp>
        <p:nvSpPr>
          <p:cNvPr id="16" name="Text 13"/>
          <p:cNvSpPr/>
          <p:nvPr/>
        </p:nvSpPr>
        <p:spPr>
          <a:xfrm>
            <a:off x="3328988" y="3752850"/>
            <a:ext cx="6970538" cy="552450"/>
          </a:xfrm>
          <a:prstGeom prst="rect">
            <a:avLst/>
          </a:prstGeom>
          <a:noFill/>
          <a:ln/>
        </p:spPr>
        <p:txBody>
          <a:bodyPr wrap="square" lIns="25400" tIns="25400" rIns="25400" bIns="25400" rtlCol="0" anchor="t">
            <a:normAutofit/>
          </a:bodyPr>
          <a:lstStyle/>
          <a:p>
            <a:pPr algn="l" indent="0" marL="0">
              <a:lnSpc>
                <a:spcPct val="150000"/>
              </a:lnSpc>
              <a:buNone/>
            </a:pPr>
            <a:r>
              <a:rPr lang="en-US" sz="1350" dirty="0">
                <a:solidFill>
                  <a:srgbClr val="2A3340"/>
                </a:solidFill>
                <a:latin typeface="Arial" pitchFamily="34" charset="0"/>
                <a:ea typeface="Arial" pitchFamily="34" charset="-122"/>
                <a:cs typeface="Arial" pitchFamily="34" charset="-120"/>
              </a:rPr>
              <a:t>"Claude Code Cloud" — managed deployment for Claude Code projects. Already deploys via MCP; one container layer from owning the runtime.</a:t>
            </a:r>
            <a:endParaRPr lang="en-US" sz="1350" dirty="0"/>
          </a:p>
        </p:txBody>
      </p:sp>
      <p:sp>
        <p:nvSpPr>
          <p:cNvPr id="17" name="Shape 14"/>
          <p:cNvSpPr/>
          <p:nvPr/>
        </p:nvSpPr>
        <p:spPr>
          <a:xfrm>
            <a:off x="914400" y="4605338"/>
            <a:ext cx="16459200" cy="1709738"/>
          </a:xfrm>
          <a:prstGeom prst="roundRect">
            <a:avLst>
              <a:gd name="adj" fmla="val 6685"/>
            </a:avLst>
          </a:prstGeom>
          <a:solidFill>
            <a:srgbClr val="FFFFFF"/>
          </a:solidFill>
          <a:ln w="14288">
            <a:solidFill>
              <a:srgbClr val="DDE5EC"/>
            </a:solidFill>
            <a:prstDash val="solid"/>
          </a:ln>
          <a:effectLst>
            <a:outerShdw sx="100000" sy="100000" kx="0" ky="0" algn="bl" rotWithShape="0" blurRad="28575" dist="9525" dir="5400000">
              <a:srgbClr val="0F1419">
                <a:alpha val="4000"/>
              </a:srgbClr>
            </a:outerShdw>
          </a:effectLst>
        </p:spPr>
      </p:sp>
      <p:sp>
        <p:nvSpPr>
          <p:cNvPr id="18" name="Text 15"/>
          <p:cNvSpPr/>
          <p:nvPr/>
        </p:nvSpPr>
        <p:spPr>
          <a:xfrm>
            <a:off x="1176338" y="4829175"/>
            <a:ext cx="1981200" cy="310455"/>
          </a:xfrm>
          <a:prstGeom prst="rect">
            <a:avLst/>
          </a:prstGeom>
          <a:noFill/>
          <a:ln/>
        </p:spPr>
        <p:txBody>
          <a:bodyPr wrap="square" lIns="25400" tIns="25400" rIns="25400" bIns="25400" rtlCol="0" anchor="t">
            <a:normAutofit/>
          </a:bodyPr>
          <a:lstStyle/>
          <a:p>
            <a:pPr algn="l" indent="0" marL="0">
              <a:lnSpc>
                <a:spcPct val="110000"/>
              </a:lnSpc>
              <a:buNone/>
            </a:pPr>
            <a:r>
              <a:rPr lang="en-US" sz="1950" b="1" spc="-39" kern="0" dirty="0">
                <a:solidFill>
                  <a:srgbClr val="0F1419"/>
                </a:solidFill>
                <a:latin typeface="Arial" pitchFamily="34" charset="0"/>
                <a:ea typeface="Arial" pitchFamily="34" charset="-122"/>
                <a:cs typeface="Arial" pitchFamily="34" charset="-120"/>
              </a:rPr>
              <a:t>OpenAI / Codex</a:t>
            </a:r>
            <a:endParaRPr lang="en-US" sz="1950" dirty="0"/>
          </a:p>
        </p:txBody>
      </p:sp>
      <p:sp>
        <p:nvSpPr>
          <p:cNvPr id="19" name="Text 16"/>
          <p:cNvSpPr/>
          <p:nvPr/>
        </p:nvSpPr>
        <p:spPr>
          <a:xfrm>
            <a:off x="3328988" y="4829175"/>
            <a:ext cx="1076474" cy="333375"/>
          </a:xfrm>
          <a:prstGeom prst="rect">
            <a:avLst/>
          </a:prstGeom>
          <a:noFill/>
          <a:ln/>
        </p:spPr>
        <p:txBody>
          <a:bodyPr wrap="square" lIns="25400" tIns="25400" rIns="25400" bIns="25400" rtlCol="0" anchor="t">
            <a:normAutofit/>
          </a:bodyPr>
          <a:lstStyle/>
          <a:p>
            <a:pPr algn="l" indent="0" marL="0">
              <a:lnSpc>
                <a:spcPct val="150000"/>
              </a:lnSpc>
              <a:buNone/>
            </a:pPr>
            <a:r>
              <a:rPr lang="en-US" sz="1125" spc="113" kern="0" dirty="0">
                <a:solidFill>
                  <a:srgbClr val="6E7785"/>
                </a:solidFill>
                <a:latin typeface="Courier New" pitchFamily="34" charset="0"/>
                <a:ea typeface="Courier New" pitchFamily="34" charset="-122"/>
                <a:cs typeface="Courier New" pitchFamily="34" charset="-120"/>
              </a:rPr>
              <a:t>LIKELIHOOD</a:t>
            </a:r>
            <a:endParaRPr lang="en-US" sz="1125" dirty="0"/>
          </a:p>
        </p:txBody>
      </p:sp>
      <p:sp>
        <p:nvSpPr>
          <p:cNvPr id="20" name="Shape 17"/>
          <p:cNvSpPr/>
          <p:nvPr/>
        </p:nvSpPr>
        <p:spPr>
          <a:xfrm>
            <a:off x="4500711" y="4829175"/>
            <a:ext cx="948854" cy="295275"/>
          </a:xfrm>
          <a:prstGeom prst="roundRect">
            <a:avLst>
              <a:gd name="adj" fmla="val 22581"/>
            </a:avLst>
          </a:prstGeom>
          <a:solidFill>
            <a:srgbClr val="EEF2F7"/>
          </a:solidFill>
          <a:ln w="14288">
            <a:solidFill>
              <a:srgbClr val="DDE5EC"/>
            </a:solidFill>
            <a:prstDash val="solid"/>
          </a:ln>
        </p:spPr>
      </p:sp>
      <p:sp>
        <p:nvSpPr>
          <p:cNvPr id="21" name="Text 18"/>
          <p:cNvSpPr/>
          <p:nvPr/>
        </p:nvSpPr>
        <p:spPr>
          <a:xfrm>
            <a:off x="4648349" y="4910138"/>
            <a:ext cx="729779" cy="171450"/>
          </a:xfrm>
          <a:prstGeom prst="rect">
            <a:avLst/>
          </a:prstGeom>
          <a:noFill/>
          <a:ln/>
        </p:spPr>
        <p:txBody>
          <a:bodyPr wrap="square" lIns="25400" tIns="25400" rIns="25400" bIns="25400" rtlCol="0" anchor="ctr">
            <a:normAutofit/>
          </a:bodyPr>
          <a:lstStyle/>
          <a:p>
            <a:pPr algn="l" indent="0" marL="0">
              <a:lnSpc>
                <a:spcPct val="100000"/>
              </a:lnSpc>
              <a:buNone/>
            </a:pPr>
            <a:r>
              <a:rPr lang="en-US" sz="1050" spc="105" kern="0" dirty="0">
                <a:solidFill>
                  <a:srgbClr val="0F1419"/>
                </a:solidFill>
                <a:latin typeface="Courier New" pitchFamily="34" charset="0"/>
                <a:ea typeface="Courier New" pitchFamily="34" charset="-122"/>
                <a:cs typeface="Courier New" pitchFamily="34" charset="-120"/>
              </a:rPr>
              <a:t>MED-LOW</a:t>
            </a:r>
            <a:endParaRPr lang="en-US" sz="1050" dirty="0"/>
          </a:p>
        </p:txBody>
      </p:sp>
      <p:sp>
        <p:nvSpPr>
          <p:cNvPr id="22" name="Text 19"/>
          <p:cNvSpPr/>
          <p:nvPr/>
        </p:nvSpPr>
        <p:spPr>
          <a:xfrm>
            <a:off x="3328988" y="5200650"/>
            <a:ext cx="1076474" cy="280988"/>
          </a:xfrm>
          <a:prstGeom prst="rect">
            <a:avLst/>
          </a:prstGeom>
          <a:noFill/>
          <a:ln/>
        </p:spPr>
        <p:txBody>
          <a:bodyPr wrap="square" lIns="25400" tIns="25400" rIns="25400" bIns="25400" rtlCol="0" anchor="t">
            <a:normAutofit/>
          </a:bodyPr>
          <a:lstStyle/>
          <a:p>
            <a:pPr algn="l" indent="0" marL="0">
              <a:lnSpc>
                <a:spcPct val="150000"/>
              </a:lnSpc>
              <a:buNone/>
            </a:pPr>
            <a:r>
              <a:rPr lang="en-US" sz="1125" spc="113" kern="0" dirty="0">
                <a:solidFill>
                  <a:srgbClr val="6E7785"/>
                </a:solidFill>
                <a:latin typeface="Courier New" pitchFamily="34" charset="0"/>
                <a:ea typeface="Courier New" pitchFamily="34" charset="-122"/>
                <a:cs typeface="Courier New" pitchFamily="34" charset="-120"/>
              </a:rPr>
              <a:t>TIMING</a:t>
            </a:r>
            <a:endParaRPr lang="en-US" sz="1125" dirty="0"/>
          </a:p>
        </p:txBody>
      </p:sp>
      <p:sp>
        <p:nvSpPr>
          <p:cNvPr id="23" name="Text 20"/>
          <p:cNvSpPr/>
          <p:nvPr/>
        </p:nvSpPr>
        <p:spPr>
          <a:xfrm>
            <a:off x="4500711" y="5200650"/>
            <a:ext cx="5763662" cy="280988"/>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0F1419"/>
                </a:solidFill>
                <a:latin typeface="Courier New" pitchFamily="34" charset="0"/>
                <a:ea typeface="Courier New" pitchFamily="34" charset="-122"/>
                <a:cs typeface="Courier New" pitchFamily="34" charset="-120"/>
              </a:rPr>
              <a:t>12–24 months</a:t>
            </a:r>
            <a:endParaRPr lang="en-US" sz="1275" dirty="0"/>
          </a:p>
        </p:txBody>
      </p:sp>
      <p:sp>
        <p:nvSpPr>
          <p:cNvPr id="24" name="Text 21"/>
          <p:cNvSpPr/>
          <p:nvPr/>
        </p:nvSpPr>
        <p:spPr>
          <a:xfrm>
            <a:off x="3328988" y="5576888"/>
            <a:ext cx="6970538" cy="552450"/>
          </a:xfrm>
          <a:prstGeom prst="rect">
            <a:avLst/>
          </a:prstGeom>
          <a:noFill/>
          <a:ln/>
        </p:spPr>
        <p:txBody>
          <a:bodyPr wrap="square" lIns="25400" tIns="25400" rIns="25400" bIns="25400" rtlCol="0" anchor="t">
            <a:normAutofit/>
          </a:bodyPr>
          <a:lstStyle/>
          <a:p>
            <a:pPr algn="l" indent="0" marL="0">
              <a:lnSpc>
                <a:spcPct val="150000"/>
              </a:lnSpc>
              <a:buNone/>
            </a:pPr>
            <a:r>
              <a:rPr lang="en-US" sz="1350" dirty="0">
                <a:solidFill>
                  <a:srgbClr val="2A3340"/>
                </a:solidFill>
                <a:latin typeface="Arial" pitchFamily="34" charset="0"/>
                <a:ea typeface="Arial" pitchFamily="34" charset="-122"/>
                <a:cs typeface="Arial" pitchFamily="34" charset="-120"/>
              </a:rPr>
              <a:t>OpenAI hosted runtime tied to ChatGPT Pro/Team. Shifted toward model-API focus; less likely but possible via partnership.</a:t>
            </a:r>
            <a:endParaRPr lang="en-US" sz="1350" dirty="0"/>
          </a:p>
        </p:txBody>
      </p:sp>
      <p:sp>
        <p:nvSpPr>
          <p:cNvPr id="25" name="Shape 22"/>
          <p:cNvSpPr/>
          <p:nvPr/>
        </p:nvSpPr>
        <p:spPr>
          <a:xfrm>
            <a:off x="914400" y="6429375"/>
            <a:ext cx="16459200" cy="1709738"/>
          </a:xfrm>
          <a:prstGeom prst="roundRect">
            <a:avLst>
              <a:gd name="adj" fmla="val 6685"/>
            </a:avLst>
          </a:prstGeom>
          <a:solidFill>
            <a:srgbClr val="FFFFFF"/>
          </a:solidFill>
          <a:ln w="14288">
            <a:solidFill>
              <a:srgbClr val="DDE5EC"/>
            </a:solidFill>
            <a:prstDash val="solid"/>
          </a:ln>
          <a:effectLst>
            <a:outerShdw sx="100000" sy="100000" kx="0" ky="0" algn="bl" rotWithShape="0" blurRad="28575" dist="9525" dir="5400000">
              <a:srgbClr val="0F1419">
                <a:alpha val="4000"/>
              </a:srgbClr>
            </a:outerShdw>
          </a:effectLst>
        </p:spPr>
      </p:sp>
      <p:sp>
        <p:nvSpPr>
          <p:cNvPr id="26" name="Text 23"/>
          <p:cNvSpPr/>
          <p:nvPr/>
        </p:nvSpPr>
        <p:spPr>
          <a:xfrm>
            <a:off x="1176338" y="6653213"/>
            <a:ext cx="1981200" cy="582811"/>
          </a:xfrm>
          <a:prstGeom prst="rect">
            <a:avLst/>
          </a:prstGeom>
          <a:noFill/>
          <a:ln/>
        </p:spPr>
        <p:txBody>
          <a:bodyPr wrap="square" lIns="25400" tIns="25400" rIns="25400" bIns="25400" rtlCol="0" anchor="t">
            <a:normAutofit/>
          </a:bodyPr>
          <a:lstStyle/>
          <a:p>
            <a:pPr algn="l" indent="0" marL="0">
              <a:lnSpc>
                <a:spcPct val="110000"/>
              </a:lnSpc>
              <a:buNone/>
            </a:pPr>
            <a:r>
              <a:rPr lang="en-US" sz="1950" b="1" spc="-39" kern="0" dirty="0">
                <a:solidFill>
                  <a:srgbClr val="0F1419"/>
                </a:solidFill>
                <a:latin typeface="Arial" pitchFamily="34" charset="0"/>
                <a:ea typeface="Arial" pitchFamily="34" charset="-122"/>
                <a:cs typeface="Arial" pitchFamily="34" charset="-120"/>
              </a:rPr>
              <a:t>Cursor / Windsurf</a:t>
            </a:r>
            <a:endParaRPr lang="en-US" sz="1950" dirty="0"/>
          </a:p>
        </p:txBody>
      </p:sp>
      <p:sp>
        <p:nvSpPr>
          <p:cNvPr id="27" name="Text 24"/>
          <p:cNvSpPr/>
          <p:nvPr/>
        </p:nvSpPr>
        <p:spPr>
          <a:xfrm>
            <a:off x="3328988" y="6653213"/>
            <a:ext cx="1076474" cy="333375"/>
          </a:xfrm>
          <a:prstGeom prst="rect">
            <a:avLst/>
          </a:prstGeom>
          <a:noFill/>
          <a:ln/>
        </p:spPr>
        <p:txBody>
          <a:bodyPr wrap="square" lIns="25400" tIns="25400" rIns="25400" bIns="25400" rtlCol="0" anchor="t">
            <a:normAutofit/>
          </a:bodyPr>
          <a:lstStyle/>
          <a:p>
            <a:pPr algn="l" indent="0" marL="0">
              <a:lnSpc>
                <a:spcPct val="150000"/>
              </a:lnSpc>
              <a:buNone/>
            </a:pPr>
            <a:r>
              <a:rPr lang="en-US" sz="1125" spc="113" kern="0" dirty="0">
                <a:solidFill>
                  <a:srgbClr val="6E7785"/>
                </a:solidFill>
                <a:latin typeface="Courier New" pitchFamily="34" charset="0"/>
                <a:ea typeface="Courier New" pitchFamily="34" charset="-122"/>
                <a:cs typeface="Courier New" pitchFamily="34" charset="-120"/>
              </a:rPr>
              <a:t>LIKELIHOOD</a:t>
            </a:r>
            <a:endParaRPr lang="en-US" sz="1125" dirty="0"/>
          </a:p>
        </p:txBody>
      </p:sp>
      <p:sp>
        <p:nvSpPr>
          <p:cNvPr id="28" name="Shape 25"/>
          <p:cNvSpPr/>
          <p:nvPr/>
        </p:nvSpPr>
        <p:spPr>
          <a:xfrm>
            <a:off x="4500711" y="6653213"/>
            <a:ext cx="668759" cy="295275"/>
          </a:xfrm>
          <a:prstGeom prst="roundRect">
            <a:avLst>
              <a:gd name="adj" fmla="val 22581"/>
            </a:avLst>
          </a:prstGeom>
          <a:solidFill>
            <a:srgbClr val="E14B5E"/>
          </a:solidFill>
          <a:ln/>
        </p:spPr>
      </p:sp>
      <p:sp>
        <p:nvSpPr>
          <p:cNvPr id="29" name="Text 26"/>
          <p:cNvSpPr/>
          <p:nvPr/>
        </p:nvSpPr>
        <p:spPr>
          <a:xfrm>
            <a:off x="4648349" y="6734175"/>
            <a:ext cx="449684" cy="171450"/>
          </a:xfrm>
          <a:prstGeom prst="rect">
            <a:avLst/>
          </a:prstGeom>
          <a:noFill/>
          <a:ln/>
        </p:spPr>
        <p:txBody>
          <a:bodyPr wrap="square" lIns="25400" tIns="25400" rIns="25400" bIns="25400" rtlCol="0" anchor="ctr">
            <a:normAutofit/>
          </a:bodyPr>
          <a:lstStyle/>
          <a:p>
            <a:pPr algn="l" indent="0" marL="0">
              <a:lnSpc>
                <a:spcPct val="100000"/>
              </a:lnSpc>
              <a:buNone/>
            </a:pPr>
            <a:r>
              <a:rPr lang="en-US" sz="1050" spc="105" kern="0" dirty="0">
                <a:solidFill>
                  <a:srgbClr val="FFFFFF"/>
                </a:solidFill>
                <a:latin typeface="Courier New" pitchFamily="34" charset="0"/>
                <a:ea typeface="Courier New" pitchFamily="34" charset="-122"/>
                <a:cs typeface="Courier New" pitchFamily="34" charset="-120"/>
              </a:rPr>
              <a:t>HIGH</a:t>
            </a:r>
            <a:endParaRPr lang="en-US" sz="1050" dirty="0"/>
          </a:p>
        </p:txBody>
      </p:sp>
      <p:sp>
        <p:nvSpPr>
          <p:cNvPr id="30" name="Text 27"/>
          <p:cNvSpPr/>
          <p:nvPr/>
        </p:nvSpPr>
        <p:spPr>
          <a:xfrm>
            <a:off x="3328988" y="7024688"/>
            <a:ext cx="1076474" cy="280988"/>
          </a:xfrm>
          <a:prstGeom prst="rect">
            <a:avLst/>
          </a:prstGeom>
          <a:noFill/>
          <a:ln/>
        </p:spPr>
        <p:txBody>
          <a:bodyPr wrap="square" lIns="25400" tIns="25400" rIns="25400" bIns="25400" rtlCol="0" anchor="t">
            <a:normAutofit/>
          </a:bodyPr>
          <a:lstStyle/>
          <a:p>
            <a:pPr algn="l" indent="0" marL="0">
              <a:lnSpc>
                <a:spcPct val="150000"/>
              </a:lnSpc>
              <a:buNone/>
            </a:pPr>
            <a:r>
              <a:rPr lang="en-US" sz="1125" spc="113" kern="0" dirty="0">
                <a:solidFill>
                  <a:srgbClr val="6E7785"/>
                </a:solidFill>
                <a:latin typeface="Courier New" pitchFamily="34" charset="0"/>
                <a:ea typeface="Courier New" pitchFamily="34" charset="-122"/>
                <a:cs typeface="Courier New" pitchFamily="34" charset="-120"/>
              </a:rPr>
              <a:t>TIMING</a:t>
            </a:r>
            <a:endParaRPr lang="en-US" sz="1125" dirty="0"/>
          </a:p>
        </p:txBody>
      </p:sp>
      <p:sp>
        <p:nvSpPr>
          <p:cNvPr id="31" name="Text 28"/>
          <p:cNvSpPr/>
          <p:nvPr/>
        </p:nvSpPr>
        <p:spPr>
          <a:xfrm>
            <a:off x="4500711" y="7024688"/>
            <a:ext cx="5763662" cy="280988"/>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0F1419"/>
                </a:solidFill>
                <a:latin typeface="Courier New" pitchFamily="34" charset="0"/>
                <a:ea typeface="Courier New" pitchFamily="34" charset="-122"/>
                <a:cs typeface="Courier New" pitchFamily="34" charset="-120"/>
              </a:rPr>
              <a:t>6–12 months</a:t>
            </a:r>
            <a:endParaRPr lang="en-US" sz="1275" dirty="0"/>
          </a:p>
        </p:txBody>
      </p:sp>
      <p:sp>
        <p:nvSpPr>
          <p:cNvPr id="32" name="Text 29"/>
          <p:cNvSpPr/>
          <p:nvPr/>
        </p:nvSpPr>
        <p:spPr>
          <a:xfrm>
            <a:off x="3328988" y="7400925"/>
            <a:ext cx="6970538" cy="552450"/>
          </a:xfrm>
          <a:prstGeom prst="rect">
            <a:avLst/>
          </a:prstGeom>
          <a:noFill/>
          <a:ln/>
        </p:spPr>
        <p:txBody>
          <a:bodyPr wrap="square" lIns="25400" tIns="25400" rIns="25400" bIns="25400" rtlCol="0" anchor="t">
            <a:normAutofit/>
          </a:bodyPr>
          <a:lstStyle/>
          <a:p>
            <a:pPr algn="l" indent="0" marL="0">
              <a:lnSpc>
                <a:spcPct val="150000"/>
              </a:lnSpc>
              <a:buNone/>
            </a:pPr>
            <a:r>
              <a:rPr lang="en-US" sz="1350" dirty="0">
                <a:solidFill>
                  <a:srgbClr val="2A3340"/>
                </a:solidFill>
                <a:latin typeface="Arial" pitchFamily="34" charset="0"/>
                <a:ea typeface="Arial" pitchFamily="34" charset="-122"/>
                <a:cs typeface="Arial" pitchFamily="34" charset="-120"/>
              </a:rPr>
              <a:t>Cloud preview deploys (already exists for static); extend to full SaaS. Both IDEs already have lightweight cloud preview. Substrate-grade is next.</a:t>
            </a:r>
            <a:endParaRPr lang="en-US" sz="1350" dirty="0"/>
          </a:p>
        </p:txBody>
      </p:sp>
      <p:sp>
        <p:nvSpPr>
          <p:cNvPr id="33" name="Shape 30"/>
          <p:cNvSpPr/>
          <p:nvPr/>
        </p:nvSpPr>
        <p:spPr>
          <a:xfrm>
            <a:off x="914400" y="8405813"/>
            <a:ext cx="3986213" cy="1817340"/>
          </a:xfrm>
          <a:prstGeom prst="roundRect">
            <a:avLst>
              <a:gd name="adj" fmla="val 6289"/>
            </a:avLst>
          </a:prstGeom>
          <a:solidFill>
            <a:srgbClr val="FFFFFF"/>
          </a:solidFill>
          <a:ln w="14288">
            <a:solidFill>
              <a:srgbClr val="DDE5EC"/>
            </a:solidFill>
            <a:prstDash val="solid"/>
          </a:ln>
          <a:effectLst>
            <a:outerShdw sx="100000" sy="100000" kx="0" ky="0" algn="bl" rotWithShape="0" blurRad="28575" dist="9525" dir="5400000">
              <a:srgbClr val="0F1419">
                <a:alpha val="3000"/>
              </a:srgbClr>
            </a:outerShdw>
          </a:effectLst>
        </p:spPr>
      </p:sp>
      <p:sp>
        <p:nvSpPr>
          <p:cNvPr id="34" name="Text 31"/>
          <p:cNvSpPr/>
          <p:nvPr/>
        </p:nvSpPr>
        <p:spPr>
          <a:xfrm>
            <a:off x="1138238" y="8629650"/>
            <a:ext cx="3644694"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135" kern="0" dirty="0">
                <a:solidFill>
                  <a:srgbClr val="5B47F0"/>
                </a:solidFill>
                <a:latin typeface="Courier New" pitchFamily="34" charset="0"/>
                <a:ea typeface="Courier New" pitchFamily="34" charset="-122"/>
                <a:cs typeface="Courier New" pitchFamily="34" charset="-120"/>
              </a:rPr>
              <a:t>01</a:t>
            </a:r>
            <a:endParaRPr lang="en-US" sz="1125" dirty="0"/>
          </a:p>
        </p:txBody>
      </p:sp>
      <p:sp>
        <p:nvSpPr>
          <p:cNvPr id="35" name="Text 32"/>
          <p:cNvSpPr/>
          <p:nvPr/>
        </p:nvSpPr>
        <p:spPr>
          <a:xfrm>
            <a:off x="1138238" y="8958263"/>
            <a:ext cx="3644694" cy="279053"/>
          </a:xfrm>
          <a:prstGeom prst="rect">
            <a:avLst/>
          </a:prstGeom>
          <a:noFill/>
          <a:ln/>
        </p:spPr>
        <p:txBody>
          <a:bodyPr wrap="square" lIns="25400" tIns="25400" rIns="25400" bIns="25400" rtlCol="0" anchor="t">
            <a:normAutofit/>
          </a:bodyPr>
          <a:lstStyle/>
          <a:p>
            <a:pPr algn="l" indent="0" marL="0">
              <a:lnSpc>
                <a:spcPct val="115000"/>
              </a:lnSpc>
              <a:buNone/>
            </a:pPr>
            <a:r>
              <a:rPr lang="en-US" sz="1650" b="1" spc="-25" kern="0" dirty="0">
                <a:solidFill>
                  <a:srgbClr val="0F1419"/>
                </a:solidFill>
                <a:latin typeface="Arial" pitchFamily="34" charset="0"/>
                <a:ea typeface="Arial" pitchFamily="34" charset="-122"/>
                <a:cs typeface="Arial" pitchFamily="34" charset="-120"/>
              </a:rPr>
              <a:t>Early share.</a:t>
            </a:r>
            <a:endParaRPr lang="en-US" sz="1650" dirty="0"/>
          </a:p>
        </p:txBody>
      </p:sp>
      <p:sp>
        <p:nvSpPr>
          <p:cNvPr id="36" name="Text 33"/>
          <p:cNvSpPr/>
          <p:nvPr/>
        </p:nvSpPr>
        <p:spPr>
          <a:xfrm>
            <a:off x="1138238" y="9313515"/>
            <a:ext cx="3644694" cy="7239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2A3340"/>
                </a:solidFill>
                <a:latin typeface="Arial" pitchFamily="34" charset="0"/>
                <a:ea typeface="Arial" pitchFamily="34" charset="-122"/>
                <a:cs typeface="Arial" pitchFamily="34" charset="-120"/>
              </a:rPr>
              <a:t>Sprint cadence captures first 5–15K customers before any lab ships. First-mover compounds: BYO-AI brand, content moat.</a:t>
            </a:r>
            <a:endParaRPr lang="en-US" sz="1200" dirty="0"/>
          </a:p>
        </p:txBody>
      </p:sp>
      <p:sp>
        <p:nvSpPr>
          <p:cNvPr id="37" name="Shape 34"/>
          <p:cNvSpPr/>
          <p:nvPr/>
        </p:nvSpPr>
        <p:spPr>
          <a:xfrm>
            <a:off x="5072063" y="8405813"/>
            <a:ext cx="3986213" cy="1817340"/>
          </a:xfrm>
          <a:prstGeom prst="roundRect">
            <a:avLst>
              <a:gd name="adj" fmla="val 6289"/>
            </a:avLst>
          </a:prstGeom>
          <a:solidFill>
            <a:srgbClr val="FFFFFF"/>
          </a:solidFill>
          <a:ln w="14288">
            <a:solidFill>
              <a:srgbClr val="DDE5EC"/>
            </a:solidFill>
            <a:prstDash val="solid"/>
          </a:ln>
          <a:effectLst>
            <a:outerShdw sx="100000" sy="100000" kx="0" ky="0" algn="bl" rotWithShape="0" blurRad="28575" dist="9525" dir="5400000">
              <a:srgbClr val="0F1419">
                <a:alpha val="3000"/>
              </a:srgbClr>
            </a:outerShdw>
          </a:effectLst>
        </p:spPr>
      </p:sp>
      <p:sp>
        <p:nvSpPr>
          <p:cNvPr id="38" name="Text 35"/>
          <p:cNvSpPr/>
          <p:nvPr/>
        </p:nvSpPr>
        <p:spPr>
          <a:xfrm>
            <a:off x="5295900" y="8629650"/>
            <a:ext cx="3644694"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135" kern="0" dirty="0">
                <a:solidFill>
                  <a:srgbClr val="5B47F0"/>
                </a:solidFill>
                <a:latin typeface="Courier New" pitchFamily="34" charset="0"/>
                <a:ea typeface="Courier New" pitchFamily="34" charset="-122"/>
                <a:cs typeface="Courier New" pitchFamily="34" charset="-120"/>
              </a:rPr>
              <a:t>02</a:t>
            </a:r>
            <a:endParaRPr lang="en-US" sz="1125" dirty="0"/>
          </a:p>
        </p:txBody>
      </p:sp>
      <p:sp>
        <p:nvSpPr>
          <p:cNvPr id="39" name="Text 36"/>
          <p:cNvSpPr/>
          <p:nvPr/>
        </p:nvSpPr>
        <p:spPr>
          <a:xfrm>
            <a:off x="5295900" y="8958263"/>
            <a:ext cx="3644694" cy="279053"/>
          </a:xfrm>
          <a:prstGeom prst="rect">
            <a:avLst/>
          </a:prstGeom>
          <a:noFill/>
          <a:ln/>
        </p:spPr>
        <p:txBody>
          <a:bodyPr wrap="square" lIns="25400" tIns="25400" rIns="25400" bIns="25400" rtlCol="0" anchor="t">
            <a:normAutofit/>
          </a:bodyPr>
          <a:lstStyle/>
          <a:p>
            <a:pPr algn="l" indent="0" marL="0">
              <a:lnSpc>
                <a:spcPct val="115000"/>
              </a:lnSpc>
              <a:buNone/>
            </a:pPr>
            <a:r>
              <a:rPr lang="en-US" sz="1650" b="1" spc="-25" kern="0" dirty="0">
                <a:solidFill>
                  <a:srgbClr val="0F1419"/>
                </a:solidFill>
                <a:latin typeface="Arial" pitchFamily="34" charset="0"/>
                <a:ea typeface="Arial" pitchFamily="34" charset="-122"/>
                <a:cs typeface="Arial" pitchFamily="34" charset="-120"/>
              </a:rPr>
              <a:t>Seamless product.</a:t>
            </a:r>
            <a:endParaRPr lang="en-US" sz="1650" dirty="0"/>
          </a:p>
        </p:txBody>
      </p:sp>
      <p:sp>
        <p:nvSpPr>
          <p:cNvPr id="40" name="Text 37"/>
          <p:cNvSpPr/>
          <p:nvPr/>
        </p:nvSpPr>
        <p:spPr>
          <a:xfrm>
            <a:off x="5295900" y="9313515"/>
            <a:ext cx="3644694" cy="4953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2A3340"/>
                </a:solidFill>
                <a:latin typeface="Arial" pitchFamily="34" charset="0"/>
                <a:ea typeface="Arial" pitchFamily="34" charset="-122"/>
                <a:cs typeface="Arial" pitchFamily="34" charset="-120"/>
              </a:rPr>
              <a:t>~60s sandbox, AI handoff, push-to-deploy. Labs would have to match UX, not just ship features.</a:t>
            </a:r>
            <a:endParaRPr lang="en-US" sz="1200" dirty="0"/>
          </a:p>
        </p:txBody>
      </p:sp>
      <p:sp>
        <p:nvSpPr>
          <p:cNvPr id="41" name="Shape 38"/>
          <p:cNvSpPr/>
          <p:nvPr/>
        </p:nvSpPr>
        <p:spPr>
          <a:xfrm>
            <a:off x="9229725" y="8405813"/>
            <a:ext cx="3986213" cy="1817340"/>
          </a:xfrm>
          <a:prstGeom prst="roundRect">
            <a:avLst>
              <a:gd name="adj" fmla="val 6289"/>
            </a:avLst>
          </a:prstGeom>
          <a:solidFill>
            <a:srgbClr val="FFFFFF"/>
          </a:solidFill>
          <a:ln w="14288">
            <a:solidFill>
              <a:srgbClr val="DDE5EC"/>
            </a:solidFill>
            <a:prstDash val="solid"/>
          </a:ln>
          <a:effectLst>
            <a:outerShdw sx="100000" sy="100000" kx="0" ky="0" algn="bl" rotWithShape="0" blurRad="28575" dist="9525" dir="5400000">
              <a:srgbClr val="0F1419">
                <a:alpha val="3000"/>
              </a:srgbClr>
            </a:outerShdw>
          </a:effectLst>
        </p:spPr>
      </p:sp>
      <p:sp>
        <p:nvSpPr>
          <p:cNvPr id="42" name="Text 39"/>
          <p:cNvSpPr/>
          <p:nvPr/>
        </p:nvSpPr>
        <p:spPr>
          <a:xfrm>
            <a:off x="9453563" y="8629650"/>
            <a:ext cx="3644694"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135" kern="0" dirty="0">
                <a:solidFill>
                  <a:srgbClr val="5B47F0"/>
                </a:solidFill>
                <a:latin typeface="Courier New" pitchFamily="34" charset="0"/>
                <a:ea typeface="Courier New" pitchFamily="34" charset="-122"/>
                <a:cs typeface="Courier New" pitchFamily="34" charset="-120"/>
              </a:rPr>
              <a:t>03</a:t>
            </a:r>
            <a:endParaRPr lang="en-US" sz="1125" dirty="0"/>
          </a:p>
        </p:txBody>
      </p:sp>
      <p:sp>
        <p:nvSpPr>
          <p:cNvPr id="43" name="Text 40"/>
          <p:cNvSpPr/>
          <p:nvPr/>
        </p:nvSpPr>
        <p:spPr>
          <a:xfrm>
            <a:off x="9453563" y="8958263"/>
            <a:ext cx="3644694" cy="279053"/>
          </a:xfrm>
          <a:prstGeom prst="rect">
            <a:avLst/>
          </a:prstGeom>
          <a:noFill/>
          <a:ln/>
        </p:spPr>
        <p:txBody>
          <a:bodyPr wrap="square" lIns="25400" tIns="25400" rIns="25400" bIns="25400" rtlCol="0" anchor="t">
            <a:normAutofit/>
          </a:bodyPr>
          <a:lstStyle/>
          <a:p>
            <a:pPr algn="l" indent="0" marL="0">
              <a:lnSpc>
                <a:spcPct val="115000"/>
              </a:lnSpc>
              <a:buNone/>
            </a:pPr>
            <a:r>
              <a:rPr lang="en-US" sz="1650" b="1" spc="-25" kern="0" dirty="0">
                <a:solidFill>
                  <a:srgbClr val="0F1419"/>
                </a:solidFill>
                <a:latin typeface="Arial" pitchFamily="34" charset="0"/>
                <a:ea typeface="Arial" pitchFamily="34" charset="-122"/>
                <a:cs typeface="Arial" pitchFamily="34" charset="-120"/>
              </a:rPr>
              <a:t>Brand vocabulary.</a:t>
            </a:r>
            <a:endParaRPr lang="en-US" sz="1650" dirty="0"/>
          </a:p>
        </p:txBody>
      </p:sp>
      <p:sp>
        <p:nvSpPr>
          <p:cNvPr id="44" name="Text 41"/>
          <p:cNvSpPr/>
          <p:nvPr/>
        </p:nvSpPr>
        <p:spPr>
          <a:xfrm>
            <a:off x="9453563" y="9313515"/>
            <a:ext cx="3644694" cy="7239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2A3340"/>
                </a:solidFill>
                <a:latin typeface="Arial" pitchFamily="34" charset="0"/>
                <a:ea typeface="Arial" pitchFamily="34" charset="-122"/>
                <a:cs typeface="Arial" pitchFamily="34" charset="-120"/>
              </a:rPr>
              <a:t>Build "the production substrate" into the AI-tool community lexicon. Labs consider acquiring, not building.</a:t>
            </a:r>
            <a:endParaRPr lang="en-US" sz="1200" dirty="0"/>
          </a:p>
        </p:txBody>
      </p:sp>
      <p:sp>
        <p:nvSpPr>
          <p:cNvPr id="45" name="Shape 42"/>
          <p:cNvSpPr/>
          <p:nvPr/>
        </p:nvSpPr>
        <p:spPr>
          <a:xfrm>
            <a:off x="13387388" y="8405813"/>
            <a:ext cx="3986213" cy="1817340"/>
          </a:xfrm>
          <a:prstGeom prst="roundRect">
            <a:avLst>
              <a:gd name="adj" fmla="val 6289"/>
            </a:avLst>
          </a:prstGeom>
          <a:solidFill>
            <a:srgbClr val="FFFFFF"/>
          </a:solidFill>
          <a:ln w="14288">
            <a:solidFill>
              <a:srgbClr val="DDE5EC"/>
            </a:solidFill>
            <a:prstDash val="solid"/>
          </a:ln>
          <a:effectLst>
            <a:outerShdw sx="100000" sy="100000" kx="0" ky="0" algn="bl" rotWithShape="0" blurRad="28575" dist="9525" dir="5400000">
              <a:srgbClr val="0F1419">
                <a:alpha val="3000"/>
              </a:srgbClr>
            </a:outerShdw>
          </a:effectLst>
        </p:spPr>
      </p:sp>
      <p:sp>
        <p:nvSpPr>
          <p:cNvPr id="46" name="Text 43"/>
          <p:cNvSpPr/>
          <p:nvPr/>
        </p:nvSpPr>
        <p:spPr>
          <a:xfrm>
            <a:off x="13611225" y="8629650"/>
            <a:ext cx="3644694"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135" kern="0" dirty="0">
                <a:solidFill>
                  <a:srgbClr val="5B47F0"/>
                </a:solidFill>
                <a:latin typeface="Courier New" pitchFamily="34" charset="0"/>
                <a:ea typeface="Courier New" pitchFamily="34" charset="-122"/>
                <a:cs typeface="Courier New" pitchFamily="34" charset="-120"/>
              </a:rPr>
              <a:t>04</a:t>
            </a:r>
            <a:endParaRPr lang="en-US" sz="1125" dirty="0"/>
          </a:p>
        </p:txBody>
      </p:sp>
      <p:sp>
        <p:nvSpPr>
          <p:cNvPr id="47" name="Text 44"/>
          <p:cNvSpPr/>
          <p:nvPr/>
        </p:nvSpPr>
        <p:spPr>
          <a:xfrm>
            <a:off x="13611225" y="8958263"/>
            <a:ext cx="3644694" cy="279053"/>
          </a:xfrm>
          <a:prstGeom prst="rect">
            <a:avLst/>
          </a:prstGeom>
          <a:noFill/>
          <a:ln/>
        </p:spPr>
        <p:txBody>
          <a:bodyPr wrap="square" lIns="25400" tIns="25400" rIns="25400" bIns="25400" rtlCol="0" anchor="t">
            <a:normAutofit/>
          </a:bodyPr>
          <a:lstStyle/>
          <a:p>
            <a:pPr algn="l" indent="0" marL="0">
              <a:lnSpc>
                <a:spcPct val="115000"/>
              </a:lnSpc>
              <a:buNone/>
            </a:pPr>
            <a:r>
              <a:rPr lang="en-US" sz="1650" b="1" spc="-25" kern="0" dirty="0">
                <a:solidFill>
                  <a:srgbClr val="0F1419"/>
                </a:solidFill>
                <a:latin typeface="Arial" pitchFamily="34" charset="0"/>
                <a:ea typeface="Arial" pitchFamily="34" charset="-122"/>
                <a:cs typeface="Arial" pitchFamily="34" charset="-120"/>
              </a:rPr>
              <a:t>Built to acquire.</a:t>
            </a:r>
            <a:endParaRPr lang="en-US" sz="1650" dirty="0"/>
          </a:p>
        </p:txBody>
      </p:sp>
      <p:sp>
        <p:nvSpPr>
          <p:cNvPr id="48" name="Text 45"/>
          <p:cNvSpPr/>
          <p:nvPr/>
        </p:nvSpPr>
        <p:spPr>
          <a:xfrm>
            <a:off x="13611225" y="9313515"/>
            <a:ext cx="3644694" cy="4953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2A3340"/>
                </a:solidFill>
                <a:latin typeface="Arial" pitchFamily="34" charset="0"/>
                <a:ea typeface="Arial" pitchFamily="34" charset="-122"/>
                <a:cs typeface="Arial" pitchFamily="34" charset="-120"/>
              </a:rPr>
              <a:t>Clean architecture, no platform lock-in, owns no customer-AI relationship. Drop-in for any lab.</a:t>
            </a:r>
            <a:endParaRPr lang="en-US" sz="1200" dirty="0"/>
          </a:p>
        </p:txBody>
      </p:sp>
      <p:sp>
        <p:nvSpPr>
          <p:cNvPr id="49" name="Text 46"/>
          <p:cNvSpPr/>
          <p:nvPr/>
        </p:nvSpPr>
        <p:spPr>
          <a:xfrm>
            <a:off x="914400" y="10489853"/>
            <a:ext cx="16952976" cy="397148"/>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0F1419"/>
                </a:solidFill>
                <a:latin typeface="Arial" pitchFamily="34" charset="0"/>
                <a:ea typeface="Arial" pitchFamily="34" charset="-122"/>
                <a:cs typeface="Arial" pitchFamily="34" charset="-120"/>
              </a:rPr>
              <a:t>If a lab enters in months 6–12, the most likely outcome is </a:t>
            </a:r>
            <a:pPr algn="l" indent="0" marL="0">
              <a:lnSpc>
                <a:spcPct val="145000"/>
              </a:lnSpc>
              <a:buNone/>
            </a:pPr>
            <a:r>
              <a:rPr lang="en-US" sz="1950" dirty="0">
                <a:solidFill>
                  <a:srgbClr val="5B47F0"/>
                </a:solidFill>
                <a:latin typeface="Arial" pitchFamily="34" charset="0"/>
                <a:ea typeface="Arial" pitchFamily="34" charset="-122"/>
                <a:cs typeface="Arial" pitchFamily="34" charset="-120"/>
              </a:rPr>
              <a:t>an acquisition conversation — not extinction.</a:t>
            </a:r>
            <a:endParaRPr lang="en-US" sz="1950" dirty="0"/>
          </a:p>
        </p:txBody>
      </p:sp>
      <p:sp>
        <p:nvSpPr>
          <p:cNvPr id="50" name="Shape 47"/>
          <p:cNvSpPr/>
          <p:nvPr/>
        </p:nvSpPr>
        <p:spPr>
          <a:xfrm>
            <a:off x="914400" y="11096551"/>
            <a:ext cx="16459200" cy="9525"/>
          </a:xfrm>
          <a:prstGeom prst="rect">
            <a:avLst/>
          </a:prstGeom>
          <a:solidFill>
            <a:srgbClr val="DDE5EC"/>
          </a:solidFill>
          <a:ln/>
        </p:spPr>
      </p:sp>
      <p:sp>
        <p:nvSpPr>
          <p:cNvPr id="51" name="Text 48"/>
          <p:cNvSpPr/>
          <p:nvPr/>
        </p:nvSpPr>
        <p:spPr>
          <a:xfrm>
            <a:off x="914400" y="11341819"/>
            <a:ext cx="4533256"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113" kern="0" dirty="0">
                <a:solidFill>
                  <a:srgbClr val="6E7785"/>
                </a:solidFill>
                <a:latin typeface="Courier New" pitchFamily="34" charset="0"/>
                <a:ea typeface="Courier New" pitchFamily="34" charset="-122"/>
                <a:cs typeface="Courier New" pitchFamily="34" charset="-120"/>
              </a:rPr>
              <a:t>HATCHIK · INVESTOR &amp; PARTNER DECK · MAY 2026</a:t>
            </a:r>
            <a:endParaRPr lang="en-US" sz="1125" dirty="0"/>
          </a:p>
        </p:txBody>
      </p:sp>
      <p:sp>
        <p:nvSpPr>
          <p:cNvPr id="52" name="Text 49"/>
          <p:cNvSpPr/>
          <p:nvPr/>
        </p:nvSpPr>
        <p:spPr>
          <a:xfrm>
            <a:off x="16690851" y="11334676"/>
            <a:ext cx="758949"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spc="48" kern="0" dirty="0">
                <a:solidFill>
                  <a:srgbClr val="0F1419"/>
                </a:solidFill>
                <a:latin typeface="Courier New" pitchFamily="34" charset="0"/>
                <a:ea typeface="Courier New" pitchFamily="34" charset="-122"/>
                <a:cs typeface="Courier New" pitchFamily="34" charset="-120"/>
              </a:rPr>
              <a:t>24 / 31</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5B47F0">
              <a:alpha val="4000"/>
            </a:srgbClr>
          </a:solidFill>
          <a:ln/>
        </p:spPr>
      </p:sp>
      <p:sp>
        <p:nvSpPr>
          <p:cNvPr id="3" name="Shape 1"/>
          <p:cNvSpPr/>
          <p:nvPr/>
        </p:nvSpPr>
        <p:spPr>
          <a:xfrm>
            <a:off x="914400" y="1009650"/>
            <a:ext cx="16459200" cy="9525"/>
          </a:xfrm>
          <a:prstGeom prst="rect">
            <a:avLst/>
          </a:prstGeom>
          <a:solidFill>
            <a:srgbClr val="DDE5EC"/>
          </a:solidFill>
          <a:ln/>
        </p:spPr>
      </p:sp>
      <p:pic>
        <p:nvPicPr>
          <p:cNvPr id="4" name="Image 0" descr="preencoded.png">    </p:cNvPr>
          <p:cNvPicPr>
            <a:picLocks noChangeAspect="1"/>
          </p:cNvPicPr>
          <p:nvPr/>
        </p:nvPicPr>
        <p:blipFill>
          <a:blip r:embed="rId1"/>
          <a:stretch>
            <a:fillRect/>
          </a:stretch>
        </p:blipFill>
        <p:spPr>
          <a:xfrm>
            <a:off x="914400" y="571500"/>
            <a:ext cx="209550" cy="209550"/>
          </a:xfrm>
          <a:prstGeom prst="rect">
            <a:avLst/>
          </a:prstGeom>
        </p:spPr>
      </p:pic>
      <p:sp>
        <p:nvSpPr>
          <p:cNvPr id="5" name="Text 2"/>
          <p:cNvSpPr/>
          <p:nvPr/>
        </p:nvSpPr>
        <p:spPr>
          <a:xfrm>
            <a:off x="1219200" y="533400"/>
            <a:ext cx="745108"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spc="-37" kern="0" dirty="0">
                <a:solidFill>
                  <a:srgbClr val="0F1419"/>
                </a:solidFill>
                <a:latin typeface="Arial" pitchFamily="34" charset="0"/>
                <a:ea typeface="Arial" pitchFamily="34" charset="-122"/>
                <a:cs typeface="Arial" pitchFamily="34" charset="-120"/>
              </a:rPr>
              <a:t>hatchik</a:t>
            </a:r>
            <a:endParaRPr lang="en-US" sz="1500" dirty="0"/>
          </a:p>
        </p:txBody>
      </p:sp>
      <p:sp>
        <p:nvSpPr>
          <p:cNvPr id="6" name="Text 3"/>
          <p:cNvSpPr/>
          <p:nvPr/>
        </p:nvSpPr>
        <p:spPr>
          <a:xfrm>
            <a:off x="13738324" y="562421"/>
            <a:ext cx="3744334" cy="265733"/>
          </a:xfrm>
          <a:prstGeom prst="rect">
            <a:avLst/>
          </a:prstGeom>
          <a:noFill/>
          <a:ln/>
        </p:spPr>
        <p:txBody>
          <a:bodyPr wrap="square" lIns="25400" tIns="25400" rIns="25400" bIns="25400" rtlCol="0" anchor="t">
            <a:normAutofit/>
          </a:bodyPr>
          <a:lstStyle/>
          <a:p>
            <a:pPr algn="l" indent="0" marL="0">
              <a:lnSpc>
                <a:spcPct val="140000"/>
              </a:lnSpc>
              <a:buNone/>
            </a:pPr>
            <a:r>
              <a:rPr lang="en-US" sz="1200" spc="120" kern="0" dirty="0">
                <a:solidFill>
                  <a:srgbClr val="0F1419"/>
                </a:solidFill>
                <a:latin typeface="Courier New" pitchFamily="34" charset="0"/>
                <a:ea typeface="Courier New" pitchFamily="34" charset="-122"/>
                <a:cs typeface="Courier New" pitchFamily="34" charset="-120"/>
              </a:rPr>
              <a:t>25 </a:t>
            </a:r>
            <a:pPr algn="l" indent="0" marL="0">
              <a:lnSpc>
                <a:spcPct val="140000"/>
              </a:lnSpc>
              <a:buNone/>
            </a:pPr>
            <a:r>
              <a:rPr lang="en-US" sz="1200" spc="120" kern="0" dirty="0">
                <a:solidFill>
                  <a:srgbClr val="5B47F0"/>
                </a:solidFill>
                <a:latin typeface="Courier New" pitchFamily="34" charset="0"/>
                <a:ea typeface="Courier New" pitchFamily="34" charset="-122"/>
                <a:cs typeface="Courier New" pitchFamily="34" charset="-120"/>
              </a:rPr>
              <a:t>· </a:t>
            </a:r>
            <a:pPr algn="l" indent="0" marL="0">
              <a:lnSpc>
                <a:spcPct val="140000"/>
              </a:lnSpc>
              <a:buNone/>
            </a:pPr>
            <a:r>
              <a:rPr lang="en-US" sz="1200" spc="120" kern="0" dirty="0">
                <a:solidFill>
                  <a:srgbClr val="6E7785"/>
                </a:solidFill>
                <a:latin typeface="Courier New" pitchFamily="34" charset="0"/>
                <a:ea typeface="Courier New" pitchFamily="34" charset="-122"/>
                <a:cs typeface="Courier New" pitchFamily="34" charset="-120"/>
              </a:rPr>
              <a:t>APPENDIX · FULL RISKS REGISTER</a:t>
            </a:r>
            <a:endParaRPr lang="en-US" sz="1200" dirty="0"/>
          </a:p>
        </p:txBody>
      </p:sp>
      <p:sp>
        <p:nvSpPr>
          <p:cNvPr id="7" name="Text 4"/>
          <p:cNvSpPr/>
          <p:nvPr/>
        </p:nvSpPr>
        <p:spPr>
          <a:xfrm>
            <a:off x="914400" y="1438275"/>
            <a:ext cx="15893415" cy="533400"/>
          </a:xfrm>
          <a:prstGeom prst="rect">
            <a:avLst/>
          </a:prstGeom>
          <a:noFill/>
          <a:ln/>
        </p:spPr>
        <p:txBody>
          <a:bodyPr wrap="square" lIns="25400" tIns="25400" rIns="25400" bIns="25400" rtlCol="0" anchor="t">
            <a:normAutofit/>
          </a:bodyPr>
          <a:lstStyle/>
          <a:p>
            <a:pPr algn="l" indent="0" marL="0">
              <a:lnSpc>
                <a:spcPct val="100000"/>
              </a:lnSpc>
              <a:buNone/>
            </a:pPr>
            <a:r>
              <a:rPr lang="en-US" sz="3900" b="1" spc="-156" kern="0" dirty="0">
                <a:solidFill>
                  <a:srgbClr val="0F1419"/>
                </a:solidFill>
                <a:latin typeface="Arial" pitchFamily="34" charset="0"/>
                <a:ea typeface="Arial" pitchFamily="34" charset="-122"/>
                <a:cs typeface="Arial" pitchFamily="34" charset="-120"/>
              </a:rPr>
              <a:t>Six risks. </a:t>
            </a:r>
            <a:pPr algn="l" indent="0" marL="0">
              <a:lnSpc>
                <a:spcPct val="100000"/>
              </a:lnSpc>
              <a:buNone/>
            </a:pPr>
            <a:r>
              <a:rPr lang="en-US" sz="3900" b="1" spc="-156" kern="0" dirty="0">
                <a:solidFill>
                  <a:srgbClr val="5B47F0"/>
                </a:solidFill>
                <a:latin typeface="Arial" pitchFamily="34" charset="0"/>
                <a:ea typeface="Arial" pitchFamily="34" charset="-122"/>
                <a:cs typeface="Arial" pitchFamily="34" charset="-120"/>
              </a:rPr>
              <a:t>Stated honestly. Mitigations ready.</a:t>
            </a:r>
            <a:endParaRPr lang="en-US" sz="3900" dirty="0"/>
          </a:p>
        </p:txBody>
      </p:sp>
      <p:sp>
        <p:nvSpPr>
          <p:cNvPr id="8" name="Shape 5"/>
          <p:cNvSpPr/>
          <p:nvPr/>
        </p:nvSpPr>
        <p:spPr>
          <a:xfrm>
            <a:off x="914400" y="2276475"/>
            <a:ext cx="16459200" cy="952500"/>
          </a:xfrm>
          <a:prstGeom prst="roundRect">
            <a:avLst>
              <a:gd name="adj" fmla="val 14000"/>
            </a:avLst>
          </a:prstGeom>
          <a:solidFill>
            <a:srgbClr val="FFFFFF"/>
          </a:solidFill>
          <a:ln w="14288">
            <a:solidFill>
              <a:srgbClr val="DDE5EC"/>
            </a:solidFill>
            <a:prstDash val="solid"/>
          </a:ln>
          <a:effectLst>
            <a:outerShdw sx="100000" sy="100000" kx="0" ky="0" algn="bl" rotWithShape="0" blurRad="38100" dist="19050" dir="5400000">
              <a:srgbClr val="0F1419">
                <a:alpha val="4000"/>
              </a:srgbClr>
            </a:outerShdw>
          </a:effectLst>
        </p:spPr>
      </p:sp>
      <p:sp>
        <p:nvSpPr>
          <p:cNvPr id="9" name="Shape 6"/>
          <p:cNvSpPr/>
          <p:nvPr/>
        </p:nvSpPr>
        <p:spPr>
          <a:xfrm>
            <a:off x="1138238" y="2443163"/>
            <a:ext cx="1143000" cy="619125"/>
          </a:xfrm>
          <a:prstGeom prst="roundRect">
            <a:avLst>
              <a:gd name="adj" fmla="val 12308"/>
            </a:avLst>
          </a:prstGeom>
          <a:solidFill>
            <a:srgbClr val="EA6478"/>
          </a:solidFill>
          <a:ln/>
          <a:effectLst>
            <a:outerShdw sx="100000" sy="100000" kx="0" ky="0" algn="bl" rotWithShape="0" blurRad="76200" dist="19050" dir="5400000">
              <a:srgbClr val="E14B5E">
                <a:alpha val="35000"/>
              </a:srgbClr>
            </a:outerShdw>
          </a:effectLst>
        </p:spPr>
      </p:sp>
      <p:sp>
        <p:nvSpPr>
          <p:cNvPr id="10" name="Text 7"/>
          <p:cNvSpPr/>
          <p:nvPr/>
        </p:nvSpPr>
        <p:spPr>
          <a:xfrm>
            <a:off x="1214438" y="2538413"/>
            <a:ext cx="990600" cy="466725"/>
          </a:xfrm>
          <a:prstGeom prst="rect">
            <a:avLst/>
          </a:prstGeom>
          <a:noFill/>
          <a:ln/>
        </p:spPr>
        <p:txBody>
          <a:bodyPr wrap="square" lIns="25400" tIns="25400" rIns="25400" bIns="25400" rtlCol="0" anchor="t">
            <a:normAutofit/>
          </a:bodyPr>
          <a:lstStyle/>
          <a:p>
            <a:pPr algn="ctr" indent="0" marL="0">
              <a:lnSpc>
                <a:spcPct val="150000"/>
              </a:lnSpc>
              <a:buNone/>
            </a:pPr>
            <a:r>
              <a:rPr lang="en-US" sz="1125" spc="135" kern="0" dirty="0">
                <a:solidFill>
                  <a:srgbClr val="FFFFFF"/>
                </a:solidFill>
                <a:latin typeface="Courier New" pitchFamily="34" charset="0"/>
                <a:ea typeface="Courier New" pitchFamily="34" charset="-122"/>
                <a:cs typeface="Courier New" pitchFamily="34" charset="-120"/>
              </a:rPr>
              <a:t>HIGH · 01</a:t>
            </a:r>
            <a:endParaRPr lang="en-US" sz="1125" dirty="0"/>
          </a:p>
        </p:txBody>
      </p:sp>
      <p:sp>
        <p:nvSpPr>
          <p:cNvPr id="11" name="Text 8"/>
          <p:cNvSpPr/>
          <p:nvPr/>
        </p:nvSpPr>
        <p:spPr>
          <a:xfrm>
            <a:off x="2586038" y="2443163"/>
            <a:ext cx="7343346" cy="243780"/>
          </a:xfrm>
          <a:prstGeom prst="rect">
            <a:avLst/>
          </a:prstGeom>
          <a:noFill/>
          <a:ln/>
        </p:spPr>
        <p:txBody>
          <a:bodyPr wrap="square" lIns="25400" tIns="25400" rIns="25400" bIns="25400" rtlCol="0" anchor="t">
            <a:normAutofit/>
          </a:bodyPr>
          <a:lstStyle/>
          <a:p>
            <a:pPr algn="l" indent="0" marL="0">
              <a:lnSpc>
                <a:spcPct val="120000"/>
              </a:lnSpc>
              <a:buNone/>
            </a:pPr>
            <a:r>
              <a:rPr lang="en-US" sz="1350" b="1" spc="-20" kern="0" dirty="0">
                <a:solidFill>
                  <a:srgbClr val="0F1419"/>
                </a:solidFill>
                <a:latin typeface="Arial" pitchFamily="34" charset="0"/>
                <a:ea typeface="Arial" pitchFamily="34" charset="-122"/>
                <a:cs typeface="Arial" pitchFamily="34" charset="-120"/>
              </a:rPr>
              <a:t>Big-lab disruption (Anthropic / Cursor / OpenAI).</a:t>
            </a:r>
            <a:endParaRPr lang="en-US" sz="1350" dirty="0"/>
          </a:p>
        </p:txBody>
      </p:sp>
      <p:sp>
        <p:nvSpPr>
          <p:cNvPr id="12" name="Text 9"/>
          <p:cNvSpPr/>
          <p:nvPr/>
        </p:nvSpPr>
        <p:spPr>
          <a:xfrm>
            <a:off x="2586038" y="2744093"/>
            <a:ext cx="7343346" cy="223838"/>
          </a:xfrm>
          <a:prstGeom prst="rect">
            <a:avLst/>
          </a:prstGeom>
          <a:noFill/>
          <a:ln/>
        </p:spPr>
        <p:txBody>
          <a:bodyPr wrap="square" lIns="25400" tIns="25400" rIns="25400" bIns="25400" rtlCol="0" anchor="t">
            <a:normAutofit/>
          </a:bodyPr>
          <a:lstStyle/>
          <a:p>
            <a:pPr algn="l" indent="0" marL="0">
              <a:lnSpc>
                <a:spcPct val="150000"/>
              </a:lnSpc>
              <a:buNone/>
            </a:pPr>
            <a:r>
              <a:rPr lang="en-US" sz="975" dirty="0">
                <a:solidFill>
                  <a:srgbClr val="2A3340"/>
                </a:solidFill>
                <a:latin typeface="Arial" pitchFamily="34" charset="0"/>
                <a:ea typeface="Arial" pitchFamily="34" charset="-122"/>
                <a:cs typeface="Arial" pitchFamily="34" charset="-120"/>
              </a:rPr>
              <a:t>Major AI lab launches managed deployment in 6–18 months — wedge closes.</a:t>
            </a:r>
            <a:endParaRPr lang="en-US" sz="975" dirty="0"/>
          </a:p>
        </p:txBody>
      </p:sp>
      <p:sp>
        <p:nvSpPr>
          <p:cNvPr id="13" name="Text 10"/>
          <p:cNvSpPr/>
          <p:nvPr/>
        </p:nvSpPr>
        <p:spPr>
          <a:xfrm>
            <a:off x="10020300" y="2443163"/>
            <a:ext cx="7343346"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135" kern="0" dirty="0">
                <a:solidFill>
                  <a:srgbClr val="5B47F0"/>
                </a:solidFill>
                <a:latin typeface="Courier New" pitchFamily="34" charset="0"/>
                <a:ea typeface="Courier New" pitchFamily="34" charset="-122"/>
                <a:cs typeface="Courier New" pitchFamily="34" charset="-120"/>
              </a:rPr>
              <a:t>MITIGATION</a:t>
            </a:r>
            <a:endParaRPr lang="en-US" sz="1125" dirty="0"/>
          </a:p>
        </p:txBody>
      </p:sp>
      <p:sp>
        <p:nvSpPr>
          <p:cNvPr id="14" name="Text 11"/>
          <p:cNvSpPr/>
          <p:nvPr/>
        </p:nvSpPr>
        <p:spPr>
          <a:xfrm>
            <a:off x="10020300" y="2752725"/>
            <a:ext cx="7343346" cy="223838"/>
          </a:xfrm>
          <a:prstGeom prst="rect">
            <a:avLst/>
          </a:prstGeom>
          <a:noFill/>
          <a:ln/>
        </p:spPr>
        <p:txBody>
          <a:bodyPr wrap="square" lIns="25400" tIns="25400" rIns="25400" bIns="25400" rtlCol="0" anchor="t">
            <a:normAutofit/>
          </a:bodyPr>
          <a:lstStyle/>
          <a:p>
            <a:pPr algn="l" indent="0" marL="0">
              <a:lnSpc>
                <a:spcPct val="150000"/>
              </a:lnSpc>
              <a:buNone/>
            </a:pPr>
            <a:r>
              <a:rPr lang="en-US" sz="975" dirty="0">
                <a:solidFill>
                  <a:srgbClr val="2A3340"/>
                </a:solidFill>
                <a:latin typeface="Arial" pitchFamily="34" charset="0"/>
                <a:ea typeface="Arial" pitchFamily="34" charset="-122"/>
                <a:cs typeface="Arial" pitchFamily="34" charset="-120"/>
              </a:rPr>
              <a:t>Early share capture, brand vocabulary, acquirable architecture. Partnership outreach M0–4.</a:t>
            </a:r>
            <a:endParaRPr lang="en-US" sz="975" dirty="0"/>
          </a:p>
        </p:txBody>
      </p:sp>
      <p:sp>
        <p:nvSpPr>
          <p:cNvPr id="15" name="Shape 12"/>
          <p:cNvSpPr/>
          <p:nvPr/>
        </p:nvSpPr>
        <p:spPr>
          <a:xfrm>
            <a:off x="914400" y="3324225"/>
            <a:ext cx="16459200" cy="828675"/>
          </a:xfrm>
          <a:prstGeom prst="roundRect">
            <a:avLst>
              <a:gd name="adj" fmla="val 16092"/>
            </a:avLst>
          </a:prstGeom>
          <a:solidFill>
            <a:srgbClr val="FFFFFF"/>
          </a:solidFill>
          <a:ln w="14288">
            <a:solidFill>
              <a:srgbClr val="DDE5EC"/>
            </a:solidFill>
            <a:prstDash val="solid"/>
          </a:ln>
          <a:effectLst>
            <a:outerShdw sx="100000" sy="100000" kx="0" ky="0" algn="bl" rotWithShape="0" blurRad="38100" dist="19050" dir="5400000">
              <a:srgbClr val="0F1419">
                <a:alpha val="4000"/>
              </a:srgbClr>
            </a:outerShdw>
          </a:effectLst>
        </p:spPr>
      </p:sp>
      <p:sp>
        <p:nvSpPr>
          <p:cNvPr id="16" name="Shape 13"/>
          <p:cNvSpPr/>
          <p:nvPr/>
        </p:nvSpPr>
        <p:spPr>
          <a:xfrm>
            <a:off x="1138238" y="3490913"/>
            <a:ext cx="1143000" cy="404813"/>
          </a:xfrm>
          <a:prstGeom prst="roundRect">
            <a:avLst>
              <a:gd name="adj" fmla="val 18824"/>
            </a:avLst>
          </a:prstGeom>
          <a:solidFill>
            <a:srgbClr val="FFC25A"/>
          </a:solidFill>
          <a:ln/>
          <a:effectLst>
            <a:outerShdw sx="100000" sy="100000" kx="0" ky="0" algn="bl" rotWithShape="0" blurRad="76200" dist="19050" dir="5400000">
              <a:srgbClr val="F59E0B">
                <a:alpha val="30000"/>
              </a:srgbClr>
            </a:outerShdw>
          </a:effectLst>
        </p:spPr>
      </p:sp>
      <p:sp>
        <p:nvSpPr>
          <p:cNvPr id="17" name="Text 14"/>
          <p:cNvSpPr/>
          <p:nvPr/>
        </p:nvSpPr>
        <p:spPr>
          <a:xfrm>
            <a:off x="1214438" y="3586163"/>
            <a:ext cx="990600" cy="252412"/>
          </a:xfrm>
          <a:prstGeom prst="rect">
            <a:avLst/>
          </a:prstGeom>
          <a:noFill/>
          <a:ln/>
        </p:spPr>
        <p:txBody>
          <a:bodyPr wrap="square" lIns="25400" tIns="25400" rIns="25400" bIns="25400" rtlCol="0" anchor="t">
            <a:normAutofit/>
          </a:bodyPr>
          <a:lstStyle/>
          <a:p>
            <a:pPr algn="ctr" indent="0" marL="0">
              <a:lnSpc>
                <a:spcPct val="150000"/>
              </a:lnSpc>
              <a:buNone/>
            </a:pPr>
            <a:r>
              <a:rPr lang="en-US" sz="1125" spc="135" kern="0" dirty="0">
                <a:solidFill>
                  <a:srgbClr val="0F1419"/>
                </a:solidFill>
                <a:latin typeface="Courier New" pitchFamily="34" charset="0"/>
                <a:ea typeface="Courier New" pitchFamily="34" charset="-122"/>
                <a:cs typeface="Courier New" pitchFamily="34" charset="-120"/>
              </a:rPr>
              <a:t>MED · 02</a:t>
            </a:r>
            <a:endParaRPr lang="en-US" sz="1125" dirty="0"/>
          </a:p>
        </p:txBody>
      </p:sp>
      <p:sp>
        <p:nvSpPr>
          <p:cNvPr id="18" name="Text 15"/>
          <p:cNvSpPr/>
          <p:nvPr/>
        </p:nvSpPr>
        <p:spPr>
          <a:xfrm>
            <a:off x="2586038" y="3490913"/>
            <a:ext cx="7343346" cy="243780"/>
          </a:xfrm>
          <a:prstGeom prst="rect">
            <a:avLst/>
          </a:prstGeom>
          <a:noFill/>
          <a:ln/>
        </p:spPr>
        <p:txBody>
          <a:bodyPr wrap="square" lIns="25400" tIns="25400" rIns="25400" bIns="25400" rtlCol="0" anchor="t">
            <a:normAutofit/>
          </a:bodyPr>
          <a:lstStyle/>
          <a:p>
            <a:pPr algn="l" indent="0" marL="0">
              <a:lnSpc>
                <a:spcPct val="120000"/>
              </a:lnSpc>
              <a:buNone/>
            </a:pPr>
            <a:r>
              <a:rPr lang="en-US" sz="1350" b="1" spc="-20" kern="0" dirty="0">
                <a:solidFill>
                  <a:srgbClr val="0F1419"/>
                </a:solidFill>
                <a:latin typeface="Arial" pitchFamily="34" charset="0"/>
                <a:ea typeface="Arial" pitchFamily="34" charset="-122"/>
                <a:cs typeface="Arial" pitchFamily="34" charset="-120"/>
              </a:rPr>
              <a:t>Peak coincidence on shared sandbox host.</a:t>
            </a:r>
            <a:endParaRPr lang="en-US" sz="1350" dirty="0"/>
          </a:p>
        </p:txBody>
      </p:sp>
      <p:sp>
        <p:nvSpPr>
          <p:cNvPr id="19" name="Text 16"/>
          <p:cNvSpPr/>
          <p:nvPr/>
        </p:nvSpPr>
        <p:spPr>
          <a:xfrm>
            <a:off x="2586038" y="3791843"/>
            <a:ext cx="7343346" cy="223838"/>
          </a:xfrm>
          <a:prstGeom prst="rect">
            <a:avLst/>
          </a:prstGeom>
          <a:noFill/>
          <a:ln/>
        </p:spPr>
        <p:txBody>
          <a:bodyPr wrap="square" lIns="25400" tIns="25400" rIns="25400" bIns="25400" rtlCol="0" anchor="t">
            <a:normAutofit/>
          </a:bodyPr>
          <a:lstStyle/>
          <a:p>
            <a:pPr algn="l" indent="0" marL="0">
              <a:lnSpc>
                <a:spcPct val="150000"/>
              </a:lnSpc>
              <a:buNone/>
            </a:pPr>
            <a:r>
              <a:rPr lang="en-US" sz="975" dirty="0">
                <a:solidFill>
                  <a:srgbClr val="2A3340"/>
                </a:solidFill>
                <a:latin typeface="Arial" pitchFamily="34" charset="0"/>
                <a:ea typeface="Arial" pitchFamily="34" charset="-122"/>
                <a:cs typeface="Arial" pitchFamily="34" charset="-120"/>
              </a:rPr>
              <a:t>&gt;30% sandboxes warm simultaneously creates RAM/CPU contention on CAX31.</a:t>
            </a:r>
            <a:endParaRPr lang="en-US" sz="975" dirty="0"/>
          </a:p>
        </p:txBody>
      </p:sp>
      <p:sp>
        <p:nvSpPr>
          <p:cNvPr id="20" name="Text 17"/>
          <p:cNvSpPr/>
          <p:nvPr/>
        </p:nvSpPr>
        <p:spPr>
          <a:xfrm>
            <a:off x="10020300" y="3490913"/>
            <a:ext cx="7343346"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135" kern="0" dirty="0">
                <a:solidFill>
                  <a:srgbClr val="5B47F0"/>
                </a:solidFill>
                <a:latin typeface="Courier New" pitchFamily="34" charset="0"/>
                <a:ea typeface="Courier New" pitchFamily="34" charset="-122"/>
                <a:cs typeface="Courier New" pitchFamily="34" charset="-120"/>
              </a:rPr>
              <a:t>MITIGATION</a:t>
            </a:r>
            <a:endParaRPr lang="en-US" sz="1125" dirty="0"/>
          </a:p>
        </p:txBody>
      </p:sp>
      <p:sp>
        <p:nvSpPr>
          <p:cNvPr id="21" name="Text 18"/>
          <p:cNvSpPr/>
          <p:nvPr/>
        </p:nvSpPr>
        <p:spPr>
          <a:xfrm>
            <a:off x="10020300" y="3800475"/>
            <a:ext cx="7343346" cy="223838"/>
          </a:xfrm>
          <a:prstGeom prst="rect">
            <a:avLst/>
          </a:prstGeom>
          <a:noFill/>
          <a:ln/>
        </p:spPr>
        <p:txBody>
          <a:bodyPr wrap="square" lIns="25400" tIns="25400" rIns="25400" bIns="25400" rtlCol="0" anchor="t">
            <a:normAutofit/>
          </a:bodyPr>
          <a:lstStyle/>
          <a:p>
            <a:pPr algn="l" indent="0" marL="0">
              <a:lnSpc>
                <a:spcPct val="150000"/>
              </a:lnSpc>
              <a:buNone/>
            </a:pPr>
            <a:r>
              <a:rPr lang="en-US" sz="975" dirty="0">
                <a:solidFill>
                  <a:srgbClr val="2A3340"/>
                </a:solidFill>
                <a:latin typeface="Arial" pitchFamily="34" charset="0"/>
                <a:ea typeface="Arial" pitchFamily="34" charset="-122"/>
                <a:cs typeface="Arial" pitchFamily="34" charset="-120"/>
              </a:rPr>
              <a:t>Watermark at 35-warm-concurrent → auto-provision second CAX31 (+£11.30/mo).</a:t>
            </a:r>
            <a:endParaRPr lang="en-US" sz="975" dirty="0"/>
          </a:p>
        </p:txBody>
      </p:sp>
      <p:sp>
        <p:nvSpPr>
          <p:cNvPr id="22" name="Shape 19"/>
          <p:cNvSpPr/>
          <p:nvPr/>
        </p:nvSpPr>
        <p:spPr>
          <a:xfrm>
            <a:off x="914400" y="4248150"/>
            <a:ext cx="16459200" cy="828675"/>
          </a:xfrm>
          <a:prstGeom prst="roundRect">
            <a:avLst>
              <a:gd name="adj" fmla="val 16092"/>
            </a:avLst>
          </a:prstGeom>
          <a:solidFill>
            <a:srgbClr val="FFFFFF"/>
          </a:solidFill>
          <a:ln w="14288">
            <a:solidFill>
              <a:srgbClr val="DDE5EC"/>
            </a:solidFill>
            <a:prstDash val="solid"/>
          </a:ln>
          <a:effectLst>
            <a:outerShdw sx="100000" sy="100000" kx="0" ky="0" algn="bl" rotWithShape="0" blurRad="38100" dist="19050" dir="5400000">
              <a:srgbClr val="0F1419">
                <a:alpha val="4000"/>
              </a:srgbClr>
            </a:outerShdw>
          </a:effectLst>
        </p:spPr>
      </p:sp>
      <p:sp>
        <p:nvSpPr>
          <p:cNvPr id="23" name="Shape 20"/>
          <p:cNvSpPr/>
          <p:nvPr/>
        </p:nvSpPr>
        <p:spPr>
          <a:xfrm>
            <a:off x="1138238" y="4414838"/>
            <a:ext cx="1143000" cy="433388"/>
          </a:xfrm>
          <a:prstGeom prst="roundRect">
            <a:avLst>
              <a:gd name="adj" fmla="val 17582"/>
            </a:avLst>
          </a:prstGeom>
          <a:solidFill>
            <a:srgbClr val="EEF2F7"/>
          </a:solidFill>
          <a:ln w="14288">
            <a:solidFill>
              <a:srgbClr val="DDE5EC"/>
            </a:solidFill>
            <a:prstDash val="solid"/>
          </a:ln>
        </p:spPr>
      </p:sp>
      <p:sp>
        <p:nvSpPr>
          <p:cNvPr id="24" name="Text 21"/>
          <p:cNvSpPr/>
          <p:nvPr/>
        </p:nvSpPr>
        <p:spPr>
          <a:xfrm>
            <a:off x="1228725" y="4524375"/>
            <a:ext cx="962025" cy="252412"/>
          </a:xfrm>
          <a:prstGeom prst="rect">
            <a:avLst/>
          </a:prstGeom>
          <a:noFill/>
          <a:ln/>
        </p:spPr>
        <p:txBody>
          <a:bodyPr wrap="square" lIns="25400" tIns="25400" rIns="25400" bIns="25400" rtlCol="0" anchor="t">
            <a:normAutofit/>
          </a:bodyPr>
          <a:lstStyle/>
          <a:p>
            <a:pPr algn="ctr" indent="0" marL="0">
              <a:lnSpc>
                <a:spcPct val="150000"/>
              </a:lnSpc>
              <a:buNone/>
            </a:pPr>
            <a:r>
              <a:rPr lang="en-US" sz="1125" spc="135" kern="0" dirty="0">
                <a:solidFill>
                  <a:srgbClr val="2A3340"/>
                </a:solidFill>
                <a:latin typeface="Courier New" pitchFamily="34" charset="0"/>
                <a:ea typeface="Courier New" pitchFamily="34" charset="-122"/>
                <a:cs typeface="Courier New" pitchFamily="34" charset="-120"/>
              </a:rPr>
              <a:t>LOW · 03</a:t>
            </a:r>
            <a:endParaRPr lang="en-US" sz="1125" dirty="0"/>
          </a:p>
        </p:txBody>
      </p:sp>
      <p:sp>
        <p:nvSpPr>
          <p:cNvPr id="25" name="Text 22"/>
          <p:cNvSpPr/>
          <p:nvPr/>
        </p:nvSpPr>
        <p:spPr>
          <a:xfrm>
            <a:off x="2586038" y="4414838"/>
            <a:ext cx="7343346" cy="243780"/>
          </a:xfrm>
          <a:prstGeom prst="rect">
            <a:avLst/>
          </a:prstGeom>
          <a:noFill/>
          <a:ln/>
        </p:spPr>
        <p:txBody>
          <a:bodyPr wrap="square" lIns="25400" tIns="25400" rIns="25400" bIns="25400" rtlCol="0" anchor="t">
            <a:normAutofit/>
          </a:bodyPr>
          <a:lstStyle/>
          <a:p>
            <a:pPr algn="l" indent="0" marL="0">
              <a:lnSpc>
                <a:spcPct val="120000"/>
              </a:lnSpc>
              <a:buNone/>
            </a:pPr>
            <a:r>
              <a:rPr lang="en-US" sz="1350" b="1" spc="-20" kern="0" dirty="0">
                <a:solidFill>
                  <a:srgbClr val="0F1419"/>
                </a:solidFill>
                <a:latin typeface="Arial" pitchFamily="34" charset="0"/>
                <a:ea typeface="Arial" pitchFamily="34" charset="-122"/>
                <a:cs typeface="Arial" pitchFamily="34" charset="-120"/>
              </a:rPr>
              <a:t>Wake latency on idle-suspended sandboxes.</a:t>
            </a:r>
            <a:endParaRPr lang="en-US" sz="1350" dirty="0"/>
          </a:p>
        </p:txBody>
      </p:sp>
      <p:sp>
        <p:nvSpPr>
          <p:cNvPr id="26" name="Text 23"/>
          <p:cNvSpPr/>
          <p:nvPr/>
        </p:nvSpPr>
        <p:spPr>
          <a:xfrm>
            <a:off x="2586038" y="4715768"/>
            <a:ext cx="7343346" cy="223838"/>
          </a:xfrm>
          <a:prstGeom prst="rect">
            <a:avLst/>
          </a:prstGeom>
          <a:noFill/>
          <a:ln/>
        </p:spPr>
        <p:txBody>
          <a:bodyPr wrap="square" lIns="25400" tIns="25400" rIns="25400" bIns="25400" rtlCol="0" anchor="t">
            <a:normAutofit/>
          </a:bodyPr>
          <a:lstStyle/>
          <a:p>
            <a:pPr algn="l" indent="0" marL="0">
              <a:lnSpc>
                <a:spcPct val="150000"/>
              </a:lnSpc>
              <a:buNone/>
            </a:pPr>
            <a:r>
              <a:rPr lang="en-US" sz="975" dirty="0">
                <a:solidFill>
                  <a:srgbClr val="2A3340"/>
                </a:solidFill>
                <a:latin typeface="Arial" pitchFamily="34" charset="0"/>
                <a:ea typeface="Arial" pitchFamily="34" charset="-122"/>
                <a:cs typeface="Arial" pitchFamily="34" charset="-120"/>
              </a:rPr>
              <a:t>10–15s cold start after 2h+ idle could feel broken to first-time users.</a:t>
            </a:r>
            <a:endParaRPr lang="en-US" sz="975" dirty="0"/>
          </a:p>
        </p:txBody>
      </p:sp>
      <p:sp>
        <p:nvSpPr>
          <p:cNvPr id="27" name="Text 24"/>
          <p:cNvSpPr/>
          <p:nvPr/>
        </p:nvSpPr>
        <p:spPr>
          <a:xfrm>
            <a:off x="10020300" y="4414838"/>
            <a:ext cx="7343346"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135" kern="0" dirty="0">
                <a:solidFill>
                  <a:srgbClr val="5B47F0"/>
                </a:solidFill>
                <a:latin typeface="Courier New" pitchFamily="34" charset="0"/>
                <a:ea typeface="Courier New" pitchFamily="34" charset="-122"/>
                <a:cs typeface="Courier New" pitchFamily="34" charset="-120"/>
              </a:rPr>
              <a:t>MITIGATION</a:t>
            </a:r>
            <a:endParaRPr lang="en-US" sz="1125" dirty="0"/>
          </a:p>
        </p:txBody>
      </p:sp>
      <p:sp>
        <p:nvSpPr>
          <p:cNvPr id="28" name="Text 25"/>
          <p:cNvSpPr/>
          <p:nvPr/>
        </p:nvSpPr>
        <p:spPr>
          <a:xfrm>
            <a:off x="10020300" y="4724400"/>
            <a:ext cx="7343346" cy="223838"/>
          </a:xfrm>
          <a:prstGeom prst="rect">
            <a:avLst/>
          </a:prstGeom>
          <a:noFill/>
          <a:ln/>
        </p:spPr>
        <p:txBody>
          <a:bodyPr wrap="square" lIns="25400" tIns="25400" rIns="25400" bIns="25400" rtlCol="0" anchor="t">
            <a:normAutofit/>
          </a:bodyPr>
          <a:lstStyle/>
          <a:p>
            <a:pPr algn="l" indent="0" marL="0">
              <a:lnSpc>
                <a:spcPct val="150000"/>
              </a:lnSpc>
              <a:buNone/>
            </a:pPr>
            <a:r>
              <a:rPr lang="en-US" sz="975" dirty="0">
                <a:solidFill>
                  <a:srgbClr val="2A3340"/>
                </a:solidFill>
                <a:latin typeface="Arial" pitchFamily="34" charset="0"/>
                <a:ea typeface="Arial" pitchFamily="34" charset="-122"/>
                <a:cs typeface="Arial" pitchFamily="34" charset="-120"/>
              </a:rPr>
              <a:t>"Your sandbox is warming up…" splash. Acceptable for dev-env framing.</a:t>
            </a:r>
            <a:endParaRPr lang="en-US" sz="975" dirty="0"/>
          </a:p>
        </p:txBody>
      </p:sp>
      <p:sp>
        <p:nvSpPr>
          <p:cNvPr id="29" name="Shape 26"/>
          <p:cNvSpPr/>
          <p:nvPr/>
        </p:nvSpPr>
        <p:spPr>
          <a:xfrm>
            <a:off x="914400" y="5172075"/>
            <a:ext cx="16459200" cy="828675"/>
          </a:xfrm>
          <a:prstGeom prst="roundRect">
            <a:avLst>
              <a:gd name="adj" fmla="val 16092"/>
            </a:avLst>
          </a:prstGeom>
          <a:solidFill>
            <a:srgbClr val="FFFFFF"/>
          </a:solidFill>
          <a:ln w="14288">
            <a:solidFill>
              <a:srgbClr val="DDE5EC"/>
            </a:solidFill>
            <a:prstDash val="solid"/>
          </a:ln>
          <a:effectLst>
            <a:outerShdw sx="100000" sy="100000" kx="0" ky="0" algn="bl" rotWithShape="0" blurRad="38100" dist="19050" dir="5400000">
              <a:srgbClr val="0F1419">
                <a:alpha val="4000"/>
              </a:srgbClr>
            </a:outerShdw>
          </a:effectLst>
        </p:spPr>
      </p:sp>
      <p:sp>
        <p:nvSpPr>
          <p:cNvPr id="30" name="Shape 27"/>
          <p:cNvSpPr/>
          <p:nvPr/>
        </p:nvSpPr>
        <p:spPr>
          <a:xfrm>
            <a:off x="1138238" y="5338763"/>
            <a:ext cx="1143000" cy="433388"/>
          </a:xfrm>
          <a:prstGeom prst="roundRect">
            <a:avLst>
              <a:gd name="adj" fmla="val 17582"/>
            </a:avLst>
          </a:prstGeom>
          <a:solidFill>
            <a:srgbClr val="EEF2F7"/>
          </a:solidFill>
          <a:ln w="14288">
            <a:solidFill>
              <a:srgbClr val="DDE5EC"/>
            </a:solidFill>
            <a:prstDash val="solid"/>
          </a:ln>
        </p:spPr>
      </p:sp>
      <p:sp>
        <p:nvSpPr>
          <p:cNvPr id="31" name="Text 28"/>
          <p:cNvSpPr/>
          <p:nvPr/>
        </p:nvSpPr>
        <p:spPr>
          <a:xfrm>
            <a:off x="1228725" y="5448300"/>
            <a:ext cx="962025" cy="252412"/>
          </a:xfrm>
          <a:prstGeom prst="rect">
            <a:avLst/>
          </a:prstGeom>
          <a:noFill/>
          <a:ln/>
        </p:spPr>
        <p:txBody>
          <a:bodyPr wrap="square" lIns="25400" tIns="25400" rIns="25400" bIns="25400" rtlCol="0" anchor="t">
            <a:normAutofit/>
          </a:bodyPr>
          <a:lstStyle/>
          <a:p>
            <a:pPr algn="ctr" indent="0" marL="0">
              <a:lnSpc>
                <a:spcPct val="150000"/>
              </a:lnSpc>
              <a:buNone/>
            </a:pPr>
            <a:r>
              <a:rPr lang="en-US" sz="1125" spc="135" kern="0" dirty="0">
                <a:solidFill>
                  <a:srgbClr val="2A3340"/>
                </a:solidFill>
                <a:latin typeface="Courier New" pitchFamily="34" charset="0"/>
                <a:ea typeface="Courier New" pitchFamily="34" charset="-122"/>
                <a:cs typeface="Courier New" pitchFamily="34" charset="-120"/>
              </a:rPr>
              <a:t>LOW · 04</a:t>
            </a:r>
            <a:endParaRPr lang="en-US" sz="1125" dirty="0"/>
          </a:p>
        </p:txBody>
      </p:sp>
      <p:sp>
        <p:nvSpPr>
          <p:cNvPr id="32" name="Text 29"/>
          <p:cNvSpPr/>
          <p:nvPr/>
        </p:nvSpPr>
        <p:spPr>
          <a:xfrm>
            <a:off x="2586038" y="5338763"/>
            <a:ext cx="7343346" cy="243780"/>
          </a:xfrm>
          <a:prstGeom prst="rect">
            <a:avLst/>
          </a:prstGeom>
          <a:noFill/>
          <a:ln/>
        </p:spPr>
        <p:txBody>
          <a:bodyPr wrap="square" lIns="25400" tIns="25400" rIns="25400" bIns="25400" rtlCol="0" anchor="t">
            <a:normAutofit/>
          </a:bodyPr>
          <a:lstStyle/>
          <a:p>
            <a:pPr algn="l" indent="0" marL="0">
              <a:lnSpc>
                <a:spcPct val="120000"/>
              </a:lnSpc>
              <a:buNone/>
            </a:pPr>
            <a:r>
              <a:rPr lang="en-US" sz="1350" b="1" spc="-20" kern="0" dirty="0">
                <a:solidFill>
                  <a:srgbClr val="0F1419"/>
                </a:solidFill>
                <a:latin typeface="Arial" pitchFamily="34" charset="0"/>
                <a:ea typeface="Arial" pitchFamily="34" charset="-122"/>
                <a:cs typeface="Arial" pitchFamily="34" charset="-120"/>
              </a:rPr>
              <a:t>Marketing change-surface from Studio drop.</a:t>
            </a:r>
            <a:endParaRPr lang="en-US" sz="1350" dirty="0"/>
          </a:p>
        </p:txBody>
      </p:sp>
      <p:sp>
        <p:nvSpPr>
          <p:cNvPr id="33" name="Text 30"/>
          <p:cNvSpPr/>
          <p:nvPr/>
        </p:nvSpPr>
        <p:spPr>
          <a:xfrm>
            <a:off x="2586038" y="5639693"/>
            <a:ext cx="7343346" cy="223838"/>
          </a:xfrm>
          <a:prstGeom prst="rect">
            <a:avLst/>
          </a:prstGeom>
          <a:noFill/>
          <a:ln/>
        </p:spPr>
        <p:txBody>
          <a:bodyPr wrap="square" lIns="25400" tIns="25400" rIns="25400" bIns="25400" rtlCol="0" anchor="t">
            <a:normAutofit/>
          </a:bodyPr>
          <a:lstStyle/>
          <a:p>
            <a:pPr algn="l" indent="0" marL="0">
              <a:lnSpc>
                <a:spcPct val="150000"/>
              </a:lnSpc>
              <a:buNone/>
            </a:pPr>
            <a:r>
              <a:rPr lang="en-US" sz="975" dirty="0">
                <a:solidFill>
                  <a:srgbClr val="2A3340"/>
                </a:solidFill>
                <a:latin typeface="Arial" pitchFamily="34" charset="0"/>
                <a:ea typeface="Arial" pitchFamily="34" charset="-122"/>
                <a:cs typeface="Arial" pitchFamily="34" charset="-120"/>
              </a:rPr>
              <a:t>Comparison rails on "Studio in your sandbox" need to come off sandbox copy.</a:t>
            </a:r>
            <a:endParaRPr lang="en-US" sz="975" dirty="0"/>
          </a:p>
        </p:txBody>
      </p:sp>
      <p:sp>
        <p:nvSpPr>
          <p:cNvPr id="34" name="Text 31"/>
          <p:cNvSpPr/>
          <p:nvPr/>
        </p:nvSpPr>
        <p:spPr>
          <a:xfrm>
            <a:off x="10020300" y="5338763"/>
            <a:ext cx="7343346"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135" kern="0" dirty="0">
                <a:solidFill>
                  <a:srgbClr val="5B47F0"/>
                </a:solidFill>
                <a:latin typeface="Courier New" pitchFamily="34" charset="0"/>
                <a:ea typeface="Courier New" pitchFamily="34" charset="-122"/>
                <a:cs typeface="Courier New" pitchFamily="34" charset="-120"/>
              </a:rPr>
              <a:t>MITIGATION</a:t>
            </a:r>
            <a:endParaRPr lang="en-US" sz="1125" dirty="0"/>
          </a:p>
        </p:txBody>
      </p:sp>
      <p:sp>
        <p:nvSpPr>
          <p:cNvPr id="35" name="Text 32"/>
          <p:cNvSpPr/>
          <p:nvPr/>
        </p:nvSpPr>
        <p:spPr>
          <a:xfrm>
            <a:off x="10020300" y="5648325"/>
            <a:ext cx="7343346" cy="223838"/>
          </a:xfrm>
          <a:prstGeom prst="rect">
            <a:avLst/>
          </a:prstGeom>
          <a:noFill/>
          <a:ln/>
        </p:spPr>
        <p:txBody>
          <a:bodyPr wrap="square" lIns="25400" tIns="25400" rIns="25400" bIns="25400" rtlCol="0" anchor="t">
            <a:normAutofit/>
          </a:bodyPr>
          <a:lstStyle/>
          <a:p>
            <a:pPr algn="l" indent="0" marL="0">
              <a:lnSpc>
                <a:spcPct val="150000"/>
              </a:lnSpc>
              <a:buNone/>
            </a:pPr>
            <a:r>
              <a:rPr lang="en-US" sz="975" dirty="0">
                <a:solidFill>
                  <a:srgbClr val="2A3340"/>
                </a:solidFill>
                <a:latin typeface="Arial" pitchFamily="34" charset="0"/>
                <a:ea typeface="Arial" pitchFamily="34" charset="-122"/>
                <a:cs typeface="Arial" pitchFamily="34" charset="-120"/>
              </a:rPr>
              <a:t>Already actioned across index, docs, install, account. Studio link removed.</a:t>
            </a:r>
            <a:endParaRPr lang="en-US" sz="975" dirty="0"/>
          </a:p>
        </p:txBody>
      </p:sp>
      <p:sp>
        <p:nvSpPr>
          <p:cNvPr id="36" name="Shape 33"/>
          <p:cNvSpPr/>
          <p:nvPr/>
        </p:nvSpPr>
        <p:spPr>
          <a:xfrm>
            <a:off x="914400" y="6096000"/>
            <a:ext cx="16459200" cy="828675"/>
          </a:xfrm>
          <a:prstGeom prst="roundRect">
            <a:avLst>
              <a:gd name="adj" fmla="val 16092"/>
            </a:avLst>
          </a:prstGeom>
          <a:solidFill>
            <a:srgbClr val="FFFFFF"/>
          </a:solidFill>
          <a:ln w="14288">
            <a:solidFill>
              <a:srgbClr val="DDE5EC"/>
            </a:solidFill>
            <a:prstDash val="solid"/>
          </a:ln>
          <a:effectLst>
            <a:outerShdw sx="100000" sy="100000" kx="0" ky="0" algn="bl" rotWithShape="0" blurRad="38100" dist="19050" dir="5400000">
              <a:srgbClr val="0F1419">
                <a:alpha val="4000"/>
              </a:srgbClr>
            </a:outerShdw>
          </a:effectLst>
        </p:spPr>
      </p:sp>
      <p:sp>
        <p:nvSpPr>
          <p:cNvPr id="37" name="Shape 34"/>
          <p:cNvSpPr/>
          <p:nvPr/>
        </p:nvSpPr>
        <p:spPr>
          <a:xfrm>
            <a:off x="1138238" y="6262688"/>
            <a:ext cx="1143000" cy="433388"/>
          </a:xfrm>
          <a:prstGeom prst="roundRect">
            <a:avLst>
              <a:gd name="adj" fmla="val 17582"/>
            </a:avLst>
          </a:prstGeom>
          <a:solidFill>
            <a:srgbClr val="EEF2F7"/>
          </a:solidFill>
          <a:ln w="14288">
            <a:solidFill>
              <a:srgbClr val="DDE5EC"/>
            </a:solidFill>
            <a:prstDash val="solid"/>
          </a:ln>
        </p:spPr>
      </p:sp>
      <p:sp>
        <p:nvSpPr>
          <p:cNvPr id="38" name="Text 35"/>
          <p:cNvSpPr/>
          <p:nvPr/>
        </p:nvSpPr>
        <p:spPr>
          <a:xfrm>
            <a:off x="1228725" y="6372225"/>
            <a:ext cx="962025" cy="252412"/>
          </a:xfrm>
          <a:prstGeom prst="rect">
            <a:avLst/>
          </a:prstGeom>
          <a:noFill/>
          <a:ln/>
        </p:spPr>
        <p:txBody>
          <a:bodyPr wrap="square" lIns="25400" tIns="25400" rIns="25400" bIns="25400" rtlCol="0" anchor="t">
            <a:normAutofit/>
          </a:bodyPr>
          <a:lstStyle/>
          <a:p>
            <a:pPr algn="ctr" indent="0" marL="0">
              <a:lnSpc>
                <a:spcPct val="150000"/>
              </a:lnSpc>
              <a:buNone/>
            </a:pPr>
            <a:r>
              <a:rPr lang="en-US" sz="1125" spc="135" kern="0" dirty="0">
                <a:solidFill>
                  <a:srgbClr val="2A3340"/>
                </a:solidFill>
                <a:latin typeface="Courier New" pitchFamily="34" charset="0"/>
                <a:ea typeface="Courier New" pitchFamily="34" charset="-122"/>
                <a:cs typeface="Courier New" pitchFamily="34" charset="-120"/>
              </a:rPr>
              <a:t>LOW · 05</a:t>
            </a:r>
            <a:endParaRPr lang="en-US" sz="1125" dirty="0"/>
          </a:p>
        </p:txBody>
      </p:sp>
      <p:sp>
        <p:nvSpPr>
          <p:cNvPr id="39" name="Text 36"/>
          <p:cNvSpPr/>
          <p:nvPr/>
        </p:nvSpPr>
        <p:spPr>
          <a:xfrm>
            <a:off x="2586038" y="6262688"/>
            <a:ext cx="7343346" cy="243780"/>
          </a:xfrm>
          <a:prstGeom prst="rect">
            <a:avLst/>
          </a:prstGeom>
          <a:noFill/>
          <a:ln/>
        </p:spPr>
        <p:txBody>
          <a:bodyPr wrap="square" lIns="25400" tIns="25400" rIns="25400" bIns="25400" rtlCol="0" anchor="t">
            <a:normAutofit/>
          </a:bodyPr>
          <a:lstStyle/>
          <a:p>
            <a:pPr algn="l" indent="0" marL="0">
              <a:lnSpc>
                <a:spcPct val="120000"/>
              </a:lnSpc>
              <a:buNone/>
            </a:pPr>
            <a:r>
              <a:rPr lang="en-US" sz="1350" b="1" spc="-20" kern="0" dirty="0">
                <a:solidFill>
                  <a:srgbClr val="0F1419"/>
                </a:solidFill>
                <a:latin typeface="Arial" pitchFamily="34" charset="0"/>
                <a:ea typeface="Arial" pitchFamily="34" charset="-122"/>
                <a:cs typeface="Arial" pitchFamily="34" charset="-120"/>
              </a:rPr>
              <a:t>Existing sandbox tenants on old density.</a:t>
            </a:r>
            <a:endParaRPr lang="en-US" sz="1350" dirty="0"/>
          </a:p>
        </p:txBody>
      </p:sp>
      <p:sp>
        <p:nvSpPr>
          <p:cNvPr id="40" name="Text 37"/>
          <p:cNvSpPr/>
          <p:nvPr/>
        </p:nvSpPr>
        <p:spPr>
          <a:xfrm>
            <a:off x="2586038" y="6563618"/>
            <a:ext cx="7343346" cy="223838"/>
          </a:xfrm>
          <a:prstGeom prst="rect">
            <a:avLst/>
          </a:prstGeom>
          <a:noFill/>
          <a:ln/>
        </p:spPr>
        <p:txBody>
          <a:bodyPr wrap="square" lIns="25400" tIns="25400" rIns="25400" bIns="25400" rtlCol="0" anchor="t">
            <a:normAutofit/>
          </a:bodyPr>
          <a:lstStyle/>
          <a:p>
            <a:pPr algn="l" indent="0" marL="0">
              <a:lnSpc>
                <a:spcPct val="150000"/>
              </a:lnSpc>
              <a:buNone/>
            </a:pPr>
            <a:r>
              <a:rPr lang="en-US" sz="975" dirty="0">
                <a:solidFill>
                  <a:srgbClr val="2A3340"/>
                </a:solidFill>
                <a:latin typeface="Arial" pitchFamily="34" charset="0"/>
                <a:ea typeface="Arial" pitchFamily="34" charset="-122"/>
                <a:cs typeface="Arial" pitchFamily="34" charset="-120"/>
              </a:rPr>
              <a:t>~13 existing sandboxes on CAX21 with Studio. Density gains apply only to new provisions.</a:t>
            </a:r>
            <a:endParaRPr lang="en-US" sz="975" dirty="0"/>
          </a:p>
        </p:txBody>
      </p:sp>
      <p:sp>
        <p:nvSpPr>
          <p:cNvPr id="41" name="Text 38"/>
          <p:cNvSpPr/>
          <p:nvPr/>
        </p:nvSpPr>
        <p:spPr>
          <a:xfrm>
            <a:off x="10020300" y="6262688"/>
            <a:ext cx="7343346"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135" kern="0" dirty="0">
                <a:solidFill>
                  <a:srgbClr val="5B47F0"/>
                </a:solidFill>
                <a:latin typeface="Courier New" pitchFamily="34" charset="0"/>
                <a:ea typeface="Courier New" pitchFamily="34" charset="-122"/>
                <a:cs typeface="Courier New" pitchFamily="34" charset="-120"/>
              </a:rPr>
              <a:t>MITIGATION</a:t>
            </a:r>
            <a:endParaRPr lang="en-US" sz="1125" dirty="0"/>
          </a:p>
        </p:txBody>
      </p:sp>
      <p:sp>
        <p:nvSpPr>
          <p:cNvPr id="42" name="Text 39"/>
          <p:cNvSpPr/>
          <p:nvPr/>
        </p:nvSpPr>
        <p:spPr>
          <a:xfrm>
            <a:off x="10020300" y="6572250"/>
            <a:ext cx="7343346" cy="223838"/>
          </a:xfrm>
          <a:prstGeom prst="rect">
            <a:avLst/>
          </a:prstGeom>
          <a:noFill/>
          <a:ln/>
        </p:spPr>
        <p:txBody>
          <a:bodyPr wrap="square" lIns="25400" tIns="25400" rIns="25400" bIns="25400" rtlCol="0" anchor="t">
            <a:normAutofit/>
          </a:bodyPr>
          <a:lstStyle/>
          <a:p>
            <a:pPr algn="l" indent="0" marL="0">
              <a:lnSpc>
                <a:spcPct val="150000"/>
              </a:lnSpc>
              <a:buNone/>
            </a:pPr>
            <a:r>
              <a:rPr lang="en-US" sz="975" dirty="0">
                <a:solidFill>
                  <a:srgbClr val="2A3340"/>
                </a:solidFill>
                <a:latin typeface="Arial" pitchFamily="34" charset="0"/>
                <a:ea typeface="Arial" pitchFamily="34" charset="-122"/>
                <a:cs typeface="Arial" pitchFamily="34" charset="-120"/>
              </a:rPr>
              <a:t>No churn-by-migration. Leave existing tenants. Future "migrate fleet to CAX31" op.</a:t>
            </a:r>
            <a:endParaRPr lang="en-US" sz="975" dirty="0"/>
          </a:p>
        </p:txBody>
      </p:sp>
      <p:sp>
        <p:nvSpPr>
          <p:cNvPr id="43" name="Shape 40"/>
          <p:cNvSpPr/>
          <p:nvPr/>
        </p:nvSpPr>
        <p:spPr>
          <a:xfrm>
            <a:off x="914400" y="7019925"/>
            <a:ext cx="16459200" cy="828675"/>
          </a:xfrm>
          <a:prstGeom prst="roundRect">
            <a:avLst>
              <a:gd name="adj" fmla="val 16092"/>
            </a:avLst>
          </a:prstGeom>
          <a:solidFill>
            <a:srgbClr val="FFFFFF"/>
          </a:solidFill>
          <a:ln w="14288">
            <a:solidFill>
              <a:srgbClr val="DDE5EC"/>
            </a:solidFill>
            <a:prstDash val="solid"/>
          </a:ln>
          <a:effectLst>
            <a:outerShdw sx="100000" sy="100000" kx="0" ky="0" algn="bl" rotWithShape="0" blurRad="38100" dist="19050" dir="5400000">
              <a:srgbClr val="0F1419">
                <a:alpha val="4000"/>
              </a:srgbClr>
            </a:outerShdw>
          </a:effectLst>
        </p:spPr>
      </p:sp>
      <p:sp>
        <p:nvSpPr>
          <p:cNvPr id="44" name="Shape 41"/>
          <p:cNvSpPr/>
          <p:nvPr/>
        </p:nvSpPr>
        <p:spPr>
          <a:xfrm>
            <a:off x="1138238" y="7186613"/>
            <a:ext cx="1143000" cy="433388"/>
          </a:xfrm>
          <a:prstGeom prst="roundRect">
            <a:avLst>
              <a:gd name="adj" fmla="val 17582"/>
            </a:avLst>
          </a:prstGeom>
          <a:solidFill>
            <a:srgbClr val="EEF2F7"/>
          </a:solidFill>
          <a:ln w="14288">
            <a:solidFill>
              <a:srgbClr val="DDE5EC"/>
            </a:solidFill>
            <a:prstDash val="solid"/>
          </a:ln>
        </p:spPr>
      </p:sp>
      <p:sp>
        <p:nvSpPr>
          <p:cNvPr id="45" name="Text 42"/>
          <p:cNvSpPr/>
          <p:nvPr/>
        </p:nvSpPr>
        <p:spPr>
          <a:xfrm>
            <a:off x="1228725" y="7296150"/>
            <a:ext cx="962025" cy="252412"/>
          </a:xfrm>
          <a:prstGeom prst="rect">
            <a:avLst/>
          </a:prstGeom>
          <a:noFill/>
          <a:ln/>
        </p:spPr>
        <p:txBody>
          <a:bodyPr wrap="square" lIns="25400" tIns="25400" rIns="25400" bIns="25400" rtlCol="0" anchor="t">
            <a:normAutofit/>
          </a:bodyPr>
          <a:lstStyle/>
          <a:p>
            <a:pPr algn="ctr" indent="0" marL="0">
              <a:lnSpc>
                <a:spcPct val="150000"/>
              </a:lnSpc>
              <a:buNone/>
            </a:pPr>
            <a:r>
              <a:rPr lang="en-US" sz="1125" spc="135" kern="0" dirty="0">
                <a:solidFill>
                  <a:srgbClr val="2A3340"/>
                </a:solidFill>
                <a:latin typeface="Courier New" pitchFamily="34" charset="0"/>
                <a:ea typeface="Courier New" pitchFamily="34" charset="-122"/>
                <a:cs typeface="Courier New" pitchFamily="34" charset="-120"/>
              </a:rPr>
              <a:t>LOW · 06</a:t>
            </a:r>
            <a:endParaRPr lang="en-US" sz="1125" dirty="0"/>
          </a:p>
        </p:txBody>
      </p:sp>
      <p:sp>
        <p:nvSpPr>
          <p:cNvPr id="46" name="Text 43"/>
          <p:cNvSpPr/>
          <p:nvPr/>
        </p:nvSpPr>
        <p:spPr>
          <a:xfrm>
            <a:off x="2586038" y="7186613"/>
            <a:ext cx="7343346" cy="243780"/>
          </a:xfrm>
          <a:prstGeom prst="rect">
            <a:avLst/>
          </a:prstGeom>
          <a:noFill/>
          <a:ln/>
        </p:spPr>
        <p:txBody>
          <a:bodyPr wrap="square" lIns="25400" tIns="25400" rIns="25400" bIns="25400" rtlCol="0" anchor="t">
            <a:normAutofit/>
          </a:bodyPr>
          <a:lstStyle/>
          <a:p>
            <a:pPr algn="l" indent="0" marL="0">
              <a:lnSpc>
                <a:spcPct val="120000"/>
              </a:lnSpc>
              <a:buNone/>
            </a:pPr>
            <a:r>
              <a:rPr lang="en-US" sz="1350" b="1" spc="-20" kern="0" dirty="0">
                <a:solidFill>
                  <a:srgbClr val="0F1419"/>
                </a:solidFill>
                <a:latin typeface="Arial" pitchFamily="34" charset="0"/>
                <a:ea typeface="Arial" pitchFamily="34" charset="-122"/>
                <a:cs typeface="Arial" pitchFamily="34" charset="-120"/>
              </a:rPr>
              <a:t>Snapshot rail loss for sandbox.</a:t>
            </a:r>
            <a:endParaRPr lang="en-US" sz="1350" dirty="0"/>
          </a:p>
        </p:txBody>
      </p:sp>
      <p:sp>
        <p:nvSpPr>
          <p:cNvPr id="47" name="Text 44"/>
          <p:cNvSpPr/>
          <p:nvPr/>
        </p:nvSpPr>
        <p:spPr>
          <a:xfrm>
            <a:off x="2586038" y="7487543"/>
            <a:ext cx="7343346" cy="223838"/>
          </a:xfrm>
          <a:prstGeom prst="rect">
            <a:avLst/>
          </a:prstGeom>
          <a:noFill/>
          <a:ln/>
        </p:spPr>
        <p:txBody>
          <a:bodyPr wrap="square" lIns="25400" tIns="25400" rIns="25400" bIns="25400" rtlCol="0" anchor="t">
            <a:normAutofit/>
          </a:bodyPr>
          <a:lstStyle/>
          <a:p>
            <a:pPr algn="l" indent="0" marL="0">
              <a:lnSpc>
                <a:spcPct val="150000"/>
              </a:lnSpc>
              <a:buNone/>
            </a:pPr>
            <a:r>
              <a:rPr lang="en-US" sz="975" dirty="0">
                <a:solidFill>
                  <a:srgbClr val="2A3340"/>
                </a:solidFill>
                <a:latin typeface="Arial" pitchFamily="34" charset="0"/>
                <a:ea typeface="Arial" pitchFamily="34" charset="-122"/>
                <a:cs typeface="Arial" pitchFamily="34" charset="-120"/>
              </a:rPr>
              <a:t>Sandbox customers can't click-to-snapshot via Studio anymore.</a:t>
            </a:r>
            <a:endParaRPr lang="en-US" sz="975" dirty="0"/>
          </a:p>
        </p:txBody>
      </p:sp>
      <p:sp>
        <p:nvSpPr>
          <p:cNvPr id="48" name="Text 45"/>
          <p:cNvSpPr/>
          <p:nvPr/>
        </p:nvSpPr>
        <p:spPr>
          <a:xfrm>
            <a:off x="10020300" y="7186613"/>
            <a:ext cx="7343346"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135" kern="0" dirty="0">
                <a:solidFill>
                  <a:srgbClr val="5B47F0"/>
                </a:solidFill>
                <a:latin typeface="Courier New" pitchFamily="34" charset="0"/>
                <a:ea typeface="Courier New" pitchFamily="34" charset="-122"/>
                <a:cs typeface="Courier New" pitchFamily="34" charset="-120"/>
              </a:rPr>
              <a:t>MITIGATION</a:t>
            </a:r>
            <a:endParaRPr lang="en-US" sz="1125" dirty="0"/>
          </a:p>
        </p:txBody>
      </p:sp>
      <p:sp>
        <p:nvSpPr>
          <p:cNvPr id="49" name="Text 46"/>
          <p:cNvSpPr/>
          <p:nvPr/>
        </p:nvSpPr>
        <p:spPr>
          <a:xfrm>
            <a:off x="10020300" y="7496175"/>
            <a:ext cx="7343346" cy="223838"/>
          </a:xfrm>
          <a:prstGeom prst="rect">
            <a:avLst/>
          </a:prstGeom>
          <a:noFill/>
          <a:ln/>
        </p:spPr>
        <p:txBody>
          <a:bodyPr wrap="square" lIns="25400" tIns="25400" rIns="25400" bIns="25400" rtlCol="0" anchor="t">
            <a:normAutofit/>
          </a:bodyPr>
          <a:lstStyle/>
          <a:p>
            <a:pPr algn="l" indent="0" marL="0">
              <a:lnSpc>
                <a:spcPct val="150000"/>
              </a:lnSpc>
              <a:buNone/>
            </a:pPr>
            <a:r>
              <a:rPr lang="en-US" sz="975" dirty="0">
                <a:solidFill>
                  <a:srgbClr val="2A3340"/>
                </a:solidFill>
                <a:latin typeface="Arial" pitchFamily="34" charset="0"/>
                <a:ea typeface="Arial" pitchFamily="34" charset="-122"/>
                <a:cs typeface="Arial" pitchFamily="34" charset="-120"/>
              </a:rPr>
              <a:t>AI tool can trigger pg_dump via redeploy webhook OR /api/tenants/&lt;slug&gt;/snapshot.</a:t>
            </a:r>
            <a:endParaRPr lang="en-US" sz="975" dirty="0"/>
          </a:p>
        </p:txBody>
      </p:sp>
      <p:sp>
        <p:nvSpPr>
          <p:cNvPr id="50" name="Shape 47"/>
          <p:cNvSpPr/>
          <p:nvPr/>
        </p:nvSpPr>
        <p:spPr>
          <a:xfrm>
            <a:off x="914400" y="9286875"/>
            <a:ext cx="16459200" cy="9525"/>
          </a:xfrm>
          <a:prstGeom prst="rect">
            <a:avLst/>
          </a:prstGeom>
          <a:solidFill>
            <a:srgbClr val="DDE5EC"/>
          </a:solidFill>
          <a:ln/>
        </p:spPr>
      </p:sp>
      <p:sp>
        <p:nvSpPr>
          <p:cNvPr id="51" name="Text 48"/>
          <p:cNvSpPr/>
          <p:nvPr/>
        </p:nvSpPr>
        <p:spPr>
          <a:xfrm>
            <a:off x="914400" y="9532144"/>
            <a:ext cx="4533256"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113" kern="0" dirty="0">
                <a:solidFill>
                  <a:srgbClr val="6E7785"/>
                </a:solidFill>
                <a:latin typeface="Courier New" pitchFamily="34" charset="0"/>
                <a:ea typeface="Courier New" pitchFamily="34" charset="-122"/>
                <a:cs typeface="Courier New" pitchFamily="34" charset="-120"/>
              </a:rPr>
              <a:t>HATCHIK · INVESTOR &amp; PARTNER DECK · MAY 2026</a:t>
            </a:r>
            <a:endParaRPr lang="en-US" sz="1125" dirty="0"/>
          </a:p>
        </p:txBody>
      </p:sp>
      <p:sp>
        <p:nvSpPr>
          <p:cNvPr id="52" name="Text 49"/>
          <p:cNvSpPr/>
          <p:nvPr/>
        </p:nvSpPr>
        <p:spPr>
          <a:xfrm>
            <a:off x="16690851" y="9525000"/>
            <a:ext cx="758949"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spc="48" kern="0" dirty="0">
                <a:solidFill>
                  <a:srgbClr val="0F1419"/>
                </a:solidFill>
                <a:latin typeface="Courier New" pitchFamily="34" charset="0"/>
                <a:ea typeface="Courier New" pitchFamily="34" charset="-122"/>
                <a:cs typeface="Courier New" pitchFamily="34" charset="-120"/>
              </a:rPr>
              <a:t>25 / 31</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5B47F0">
              <a:alpha val="4000"/>
            </a:srgbClr>
          </a:solidFill>
          <a:ln/>
        </p:spPr>
      </p:sp>
      <p:sp>
        <p:nvSpPr>
          <p:cNvPr id="3" name="Shape 1"/>
          <p:cNvSpPr/>
          <p:nvPr/>
        </p:nvSpPr>
        <p:spPr>
          <a:xfrm>
            <a:off x="914400" y="1009650"/>
            <a:ext cx="16459200" cy="9525"/>
          </a:xfrm>
          <a:prstGeom prst="rect">
            <a:avLst/>
          </a:prstGeom>
          <a:solidFill>
            <a:srgbClr val="DDE5EC"/>
          </a:solidFill>
          <a:ln/>
        </p:spPr>
      </p:sp>
      <p:pic>
        <p:nvPicPr>
          <p:cNvPr id="4" name="Image 0" descr="preencoded.png">    </p:cNvPr>
          <p:cNvPicPr>
            <a:picLocks noChangeAspect="1"/>
          </p:cNvPicPr>
          <p:nvPr/>
        </p:nvPicPr>
        <p:blipFill>
          <a:blip r:embed="rId1"/>
          <a:stretch>
            <a:fillRect/>
          </a:stretch>
        </p:blipFill>
        <p:spPr>
          <a:xfrm>
            <a:off x="914400" y="571500"/>
            <a:ext cx="209550" cy="209550"/>
          </a:xfrm>
          <a:prstGeom prst="rect">
            <a:avLst/>
          </a:prstGeom>
        </p:spPr>
      </p:pic>
      <p:sp>
        <p:nvSpPr>
          <p:cNvPr id="5" name="Text 2"/>
          <p:cNvSpPr/>
          <p:nvPr/>
        </p:nvSpPr>
        <p:spPr>
          <a:xfrm>
            <a:off x="1219200" y="533400"/>
            <a:ext cx="745108"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spc="-37" kern="0" dirty="0">
                <a:solidFill>
                  <a:srgbClr val="0F1419"/>
                </a:solidFill>
                <a:latin typeface="Arial" pitchFamily="34" charset="0"/>
                <a:ea typeface="Arial" pitchFamily="34" charset="-122"/>
                <a:cs typeface="Arial" pitchFamily="34" charset="-120"/>
              </a:rPr>
              <a:t>hatchik</a:t>
            </a:r>
            <a:endParaRPr lang="en-US" sz="1500" dirty="0"/>
          </a:p>
        </p:txBody>
      </p:sp>
      <p:sp>
        <p:nvSpPr>
          <p:cNvPr id="6" name="Text 3"/>
          <p:cNvSpPr/>
          <p:nvPr/>
        </p:nvSpPr>
        <p:spPr>
          <a:xfrm>
            <a:off x="14485144" y="562421"/>
            <a:ext cx="2975110" cy="265733"/>
          </a:xfrm>
          <a:prstGeom prst="rect">
            <a:avLst/>
          </a:prstGeom>
          <a:noFill/>
          <a:ln/>
        </p:spPr>
        <p:txBody>
          <a:bodyPr wrap="square" lIns="25400" tIns="25400" rIns="25400" bIns="25400" rtlCol="0" anchor="t">
            <a:normAutofit/>
          </a:bodyPr>
          <a:lstStyle/>
          <a:p>
            <a:pPr algn="l" indent="0" marL="0">
              <a:lnSpc>
                <a:spcPct val="140000"/>
              </a:lnSpc>
              <a:buNone/>
            </a:pPr>
            <a:r>
              <a:rPr lang="en-US" sz="1200" spc="120" kern="0" dirty="0">
                <a:solidFill>
                  <a:srgbClr val="0F1419"/>
                </a:solidFill>
                <a:latin typeface="Courier New" pitchFamily="34" charset="0"/>
                <a:ea typeface="Courier New" pitchFamily="34" charset="-122"/>
                <a:cs typeface="Courier New" pitchFamily="34" charset="-120"/>
              </a:rPr>
              <a:t>26 </a:t>
            </a:r>
            <a:pPr algn="l" indent="0" marL="0">
              <a:lnSpc>
                <a:spcPct val="140000"/>
              </a:lnSpc>
              <a:buNone/>
            </a:pPr>
            <a:r>
              <a:rPr lang="en-US" sz="1200" spc="120" kern="0" dirty="0">
                <a:solidFill>
                  <a:srgbClr val="5B47F0"/>
                </a:solidFill>
                <a:latin typeface="Courier New" pitchFamily="34" charset="0"/>
                <a:ea typeface="Courier New" pitchFamily="34" charset="-122"/>
                <a:cs typeface="Courier New" pitchFamily="34" charset="-120"/>
              </a:rPr>
              <a:t>· </a:t>
            </a:r>
            <a:pPr algn="l" indent="0" marL="0">
              <a:lnSpc>
                <a:spcPct val="140000"/>
              </a:lnSpc>
              <a:buNone/>
            </a:pPr>
            <a:r>
              <a:rPr lang="en-US" sz="1200" spc="120" kern="0" dirty="0">
                <a:solidFill>
                  <a:srgbClr val="6E7785"/>
                </a:solidFill>
                <a:latin typeface="Courier New" pitchFamily="34" charset="0"/>
                <a:ea typeface="Courier New" pitchFamily="34" charset="-122"/>
                <a:cs typeface="Courier New" pitchFamily="34" charset="-120"/>
              </a:rPr>
              <a:t>APPENDIX · MRR BUILD-UP</a:t>
            </a:r>
            <a:endParaRPr lang="en-US" sz="1200" dirty="0"/>
          </a:p>
        </p:txBody>
      </p:sp>
      <p:sp>
        <p:nvSpPr>
          <p:cNvPr id="7" name="Text 4"/>
          <p:cNvSpPr/>
          <p:nvPr/>
        </p:nvSpPr>
        <p:spPr>
          <a:xfrm>
            <a:off x="914400" y="1438275"/>
            <a:ext cx="15893415" cy="533400"/>
          </a:xfrm>
          <a:prstGeom prst="rect">
            <a:avLst/>
          </a:prstGeom>
          <a:noFill/>
          <a:ln/>
        </p:spPr>
        <p:txBody>
          <a:bodyPr wrap="square" lIns="25400" tIns="25400" rIns="25400" bIns="25400" rtlCol="0" anchor="t">
            <a:normAutofit/>
          </a:bodyPr>
          <a:lstStyle/>
          <a:p>
            <a:pPr algn="l" indent="0" marL="0">
              <a:lnSpc>
                <a:spcPct val="100000"/>
              </a:lnSpc>
              <a:buNone/>
            </a:pPr>
            <a:r>
              <a:rPr lang="en-US" sz="3900" b="1" spc="-156" kern="0" dirty="0">
                <a:solidFill>
                  <a:srgbClr val="0F1419"/>
                </a:solidFill>
                <a:latin typeface="Arial" pitchFamily="34" charset="0"/>
                <a:ea typeface="Arial" pitchFamily="34" charset="-122"/>
                <a:cs typeface="Arial" pitchFamily="34" charset="-120"/>
              </a:rPr>
              <a:t>How we get to </a:t>
            </a:r>
            <a:pPr algn="l" indent="0" marL="0">
              <a:lnSpc>
                <a:spcPct val="100000"/>
              </a:lnSpc>
              <a:buNone/>
            </a:pPr>
            <a:r>
              <a:rPr lang="en-US" sz="3900" b="1" spc="-156" kern="0" dirty="0">
                <a:solidFill>
                  <a:srgbClr val="5B47F0"/>
                </a:solidFill>
                <a:latin typeface="Arial" pitchFamily="34" charset="0"/>
                <a:ea typeface="Arial" pitchFamily="34" charset="-122"/>
                <a:cs typeface="Arial" pitchFamily="34" charset="-120"/>
              </a:rPr>
              <a:t>£135K base / £380K upside </a:t>
            </a:r>
            <a:pPr algn="l" indent="0" marL="0">
              <a:lnSpc>
                <a:spcPct val="100000"/>
              </a:lnSpc>
              <a:buNone/>
            </a:pPr>
            <a:r>
              <a:rPr lang="en-US" sz="3900" b="1" spc="-156" kern="0" dirty="0">
                <a:solidFill>
                  <a:srgbClr val="0F1419"/>
                </a:solidFill>
                <a:latin typeface="Arial" pitchFamily="34" charset="0"/>
                <a:ea typeface="Arial" pitchFamily="34" charset="-122"/>
                <a:cs typeface="Arial" pitchFamily="34" charset="-120"/>
              </a:rPr>
              <a:t>at M18.</a:t>
            </a:r>
            <a:endParaRPr lang="en-US" sz="3900" dirty="0"/>
          </a:p>
        </p:txBody>
      </p:sp>
      <p:sp>
        <p:nvSpPr>
          <p:cNvPr id="8" name="Text 5"/>
          <p:cNvSpPr/>
          <p:nvPr/>
        </p:nvSpPr>
        <p:spPr>
          <a:xfrm>
            <a:off x="914400" y="2200275"/>
            <a:ext cx="12950190"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dirty="0">
                <a:solidFill>
                  <a:srgbClr val="2A3340"/>
                </a:solidFill>
                <a:latin typeface="Arial" pitchFamily="34" charset="0"/>
                <a:ea typeface="Arial" pitchFamily="34" charset="-122"/>
                <a:cs typeface="Arial" pitchFamily="34" charset="-120"/>
              </a:rPr>
              <a:t>Cohort × paid-conversion × ARPU × retention. Pessimistic / mid / sprint anchored on AI_COGS_SENSITIVITY.xlsx.</a:t>
            </a:r>
            <a:endParaRPr lang="en-US" sz="1500" dirty="0"/>
          </a:p>
        </p:txBody>
      </p:sp>
      <p:sp>
        <p:nvSpPr>
          <p:cNvPr id="9" name="Shape 6"/>
          <p:cNvSpPr/>
          <p:nvPr/>
        </p:nvSpPr>
        <p:spPr>
          <a:xfrm>
            <a:off x="914400" y="2781300"/>
            <a:ext cx="8134350" cy="6867525"/>
          </a:xfrm>
          <a:prstGeom prst="roundRect">
            <a:avLst>
              <a:gd name="adj" fmla="val 2219"/>
            </a:avLst>
          </a:prstGeom>
          <a:solidFill>
            <a:srgbClr val="FFFFFF"/>
          </a:solidFill>
          <a:ln w="14288">
            <a:solidFill>
              <a:srgbClr val="DDE5EC"/>
            </a:solidFill>
            <a:prstDash val="solid"/>
          </a:ln>
          <a:effectLst>
            <a:outerShdw sx="100000" sy="100000" kx="0" ky="0" algn="bl" rotWithShape="0" blurRad="133350" dist="38100" dir="5400000">
              <a:srgbClr val="0F1419">
                <a:alpha val="6000"/>
              </a:srgbClr>
            </a:outerShdw>
          </a:effectLst>
        </p:spPr>
      </p:sp>
      <p:sp>
        <p:nvSpPr>
          <p:cNvPr id="10" name="Text 7"/>
          <p:cNvSpPr/>
          <p:nvPr/>
        </p:nvSpPr>
        <p:spPr>
          <a:xfrm>
            <a:off x="1214438" y="3081338"/>
            <a:ext cx="7760303" cy="466725"/>
          </a:xfrm>
          <a:prstGeom prst="rect">
            <a:avLst/>
          </a:prstGeom>
          <a:noFill/>
          <a:ln/>
        </p:spPr>
        <p:txBody>
          <a:bodyPr wrap="square" lIns="25400" tIns="25400" rIns="25400" bIns="25400" rtlCol="0" anchor="t">
            <a:normAutofit/>
          </a:bodyPr>
          <a:lstStyle/>
          <a:p>
            <a:pPr algn="l" indent="0" marL="0">
              <a:lnSpc>
                <a:spcPct val="150000"/>
              </a:lnSpc>
              <a:buNone/>
            </a:pPr>
            <a:r>
              <a:rPr lang="en-US" sz="2250" b="1" spc="-56" kern="0" dirty="0">
                <a:solidFill>
                  <a:srgbClr val="0F1419"/>
                </a:solidFill>
                <a:latin typeface="Arial" pitchFamily="34" charset="0"/>
                <a:ea typeface="Arial" pitchFamily="34" charset="-122"/>
                <a:cs typeface="Arial" pitchFamily="34" charset="-120"/>
              </a:rPr>
              <a:t>Sprint base build-up</a:t>
            </a:r>
            <a:endParaRPr lang="en-US" sz="2250" dirty="0"/>
          </a:p>
        </p:txBody>
      </p:sp>
      <p:sp>
        <p:nvSpPr>
          <p:cNvPr id="11" name="Text 8"/>
          <p:cNvSpPr/>
          <p:nvPr/>
        </p:nvSpPr>
        <p:spPr>
          <a:xfrm>
            <a:off x="1214438" y="3548063"/>
            <a:ext cx="7760303" cy="223838"/>
          </a:xfrm>
          <a:prstGeom prst="rect">
            <a:avLst/>
          </a:prstGeom>
          <a:noFill/>
          <a:ln/>
        </p:spPr>
        <p:txBody>
          <a:bodyPr wrap="square" lIns="25400" tIns="25400" rIns="25400" bIns="25400" rtlCol="0" anchor="t">
            <a:normAutofit/>
          </a:bodyPr>
          <a:lstStyle/>
          <a:p>
            <a:pPr algn="l" indent="0" marL="0">
              <a:lnSpc>
                <a:spcPct val="150000"/>
              </a:lnSpc>
              <a:buNone/>
            </a:pPr>
            <a:r>
              <a:rPr lang="en-US" sz="975" spc="117" kern="0" dirty="0">
                <a:solidFill>
                  <a:srgbClr val="6E7785"/>
                </a:solidFill>
                <a:latin typeface="Courier New" pitchFamily="34" charset="0"/>
                <a:ea typeface="Courier New" pitchFamily="34" charset="-122"/>
                <a:cs typeface="Courier New" pitchFamily="34" charset="-120"/>
              </a:rPr>
              <a:t>MONTH 18 · TARGET ~£135K MRR</a:t>
            </a:r>
            <a:endParaRPr lang="en-US" sz="975" dirty="0"/>
          </a:p>
        </p:txBody>
      </p:sp>
      <p:sp>
        <p:nvSpPr>
          <p:cNvPr id="12" name="Text 9"/>
          <p:cNvSpPr/>
          <p:nvPr/>
        </p:nvSpPr>
        <p:spPr>
          <a:xfrm>
            <a:off x="1214438" y="4038600"/>
            <a:ext cx="2372990" cy="295275"/>
          </a:xfrm>
          <a:prstGeom prst="rect">
            <a:avLst/>
          </a:prstGeom>
          <a:noFill/>
          <a:ln/>
        </p:spPr>
        <p:txBody>
          <a:bodyPr wrap="square" lIns="25400" tIns="25400" rIns="25400" bIns="25400" rtlCol="0" anchor="t">
            <a:normAutofit/>
          </a:bodyPr>
          <a:lstStyle/>
          <a:p>
            <a:pPr algn="l" indent="0" marL="0">
              <a:lnSpc>
                <a:spcPct val="150000"/>
              </a:lnSpc>
              <a:buNone/>
            </a:pPr>
            <a:r>
              <a:rPr lang="en-US" sz="1350" dirty="0">
                <a:solidFill>
                  <a:srgbClr val="0F1419"/>
                </a:solidFill>
                <a:latin typeface="Arial" pitchFamily="34" charset="0"/>
                <a:ea typeface="Arial" pitchFamily="34" charset="-122"/>
                <a:cs typeface="Arial" pitchFamily="34" charset="-120"/>
              </a:rPr>
              <a:t>Sandbox signups (cumulative)</a:t>
            </a:r>
            <a:endParaRPr lang="en-US" sz="1350" dirty="0"/>
          </a:p>
        </p:txBody>
      </p:sp>
      <p:sp>
        <p:nvSpPr>
          <p:cNvPr id="13" name="Text 10"/>
          <p:cNvSpPr/>
          <p:nvPr/>
        </p:nvSpPr>
        <p:spPr>
          <a:xfrm>
            <a:off x="8382893" y="4071938"/>
            <a:ext cx="442020"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0F1419"/>
                </a:solidFill>
                <a:latin typeface="Courier New" pitchFamily="34" charset="0"/>
                <a:ea typeface="Courier New" pitchFamily="34" charset="-122"/>
                <a:cs typeface="Courier New" pitchFamily="34" charset="-120"/>
              </a:rPr>
              <a:t>~30K</a:t>
            </a:r>
            <a:endParaRPr lang="en-US" sz="1200" dirty="0"/>
          </a:p>
        </p:txBody>
      </p:sp>
      <p:sp>
        <p:nvSpPr>
          <p:cNvPr id="14" name="Shape 11"/>
          <p:cNvSpPr/>
          <p:nvPr/>
        </p:nvSpPr>
        <p:spPr>
          <a:xfrm>
            <a:off x="1214438" y="4414838"/>
            <a:ext cx="7534275" cy="9525"/>
          </a:xfrm>
          <a:prstGeom prst="rect">
            <a:avLst/>
          </a:prstGeom>
          <a:solidFill>
            <a:srgbClr val="DDE5EC"/>
          </a:solidFill>
          <a:ln/>
        </p:spPr>
      </p:sp>
      <p:sp>
        <p:nvSpPr>
          <p:cNvPr id="15" name="Text 12"/>
          <p:cNvSpPr/>
          <p:nvPr/>
        </p:nvSpPr>
        <p:spPr>
          <a:xfrm>
            <a:off x="1214438" y="4538663"/>
            <a:ext cx="2436614" cy="295275"/>
          </a:xfrm>
          <a:prstGeom prst="rect">
            <a:avLst/>
          </a:prstGeom>
          <a:noFill/>
          <a:ln/>
        </p:spPr>
        <p:txBody>
          <a:bodyPr wrap="square" lIns="25400" tIns="25400" rIns="25400" bIns="25400" rtlCol="0" anchor="t">
            <a:normAutofit/>
          </a:bodyPr>
          <a:lstStyle/>
          <a:p>
            <a:pPr algn="l" indent="0" marL="0">
              <a:lnSpc>
                <a:spcPct val="150000"/>
              </a:lnSpc>
              <a:buNone/>
            </a:pPr>
            <a:r>
              <a:rPr lang="en-US" sz="1350" dirty="0">
                <a:solidFill>
                  <a:srgbClr val="0F1419"/>
                </a:solidFill>
                <a:latin typeface="Arial" pitchFamily="34" charset="0"/>
                <a:ea typeface="Arial" pitchFamily="34" charset="-122"/>
                <a:cs typeface="Arial" pitchFamily="34" charset="-120"/>
              </a:rPr>
              <a:t>Sandbox → Launch (5% conv.)</a:t>
            </a:r>
            <a:endParaRPr lang="en-US" sz="1350" dirty="0"/>
          </a:p>
        </p:txBody>
      </p:sp>
      <p:sp>
        <p:nvSpPr>
          <p:cNvPr id="16" name="Text 13"/>
          <p:cNvSpPr/>
          <p:nvPr/>
        </p:nvSpPr>
        <p:spPr>
          <a:xfrm>
            <a:off x="8199983" y="4572000"/>
            <a:ext cx="624929"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0F1419"/>
                </a:solidFill>
                <a:latin typeface="Courier New" pitchFamily="34" charset="0"/>
                <a:ea typeface="Courier New" pitchFamily="34" charset="-122"/>
                <a:cs typeface="Courier New" pitchFamily="34" charset="-120"/>
              </a:rPr>
              <a:t>~1,500</a:t>
            </a:r>
            <a:endParaRPr lang="en-US" sz="1200" dirty="0"/>
          </a:p>
        </p:txBody>
      </p:sp>
      <p:sp>
        <p:nvSpPr>
          <p:cNvPr id="17" name="Shape 14"/>
          <p:cNvSpPr/>
          <p:nvPr/>
        </p:nvSpPr>
        <p:spPr>
          <a:xfrm>
            <a:off x="1214438" y="4914900"/>
            <a:ext cx="7534275" cy="9525"/>
          </a:xfrm>
          <a:prstGeom prst="rect">
            <a:avLst/>
          </a:prstGeom>
          <a:solidFill>
            <a:srgbClr val="DDE5EC"/>
          </a:solidFill>
          <a:ln/>
        </p:spPr>
      </p:sp>
      <p:sp>
        <p:nvSpPr>
          <p:cNvPr id="18" name="Text 15"/>
          <p:cNvSpPr/>
          <p:nvPr/>
        </p:nvSpPr>
        <p:spPr>
          <a:xfrm>
            <a:off x="1214438" y="5038725"/>
            <a:ext cx="2063130" cy="295275"/>
          </a:xfrm>
          <a:prstGeom prst="rect">
            <a:avLst/>
          </a:prstGeom>
          <a:noFill/>
          <a:ln/>
        </p:spPr>
        <p:txBody>
          <a:bodyPr wrap="square" lIns="25400" tIns="25400" rIns="25400" bIns="25400" rtlCol="0" anchor="t">
            <a:normAutofit/>
          </a:bodyPr>
          <a:lstStyle/>
          <a:p>
            <a:pPr algn="l" indent="0" marL="0">
              <a:lnSpc>
                <a:spcPct val="150000"/>
              </a:lnSpc>
              <a:buNone/>
            </a:pPr>
            <a:r>
              <a:rPr lang="en-US" sz="1350" dirty="0">
                <a:solidFill>
                  <a:srgbClr val="0F1419"/>
                </a:solidFill>
                <a:latin typeface="Arial" pitchFamily="34" charset="0"/>
                <a:ea typeface="Arial" pitchFamily="34" charset="-122"/>
                <a:cs typeface="Arial" pitchFamily="34" charset="-120"/>
              </a:rPr>
              <a:t>Launch → Growth (~12%)</a:t>
            </a:r>
            <a:endParaRPr lang="en-US" sz="1350" dirty="0"/>
          </a:p>
        </p:txBody>
      </p:sp>
      <p:sp>
        <p:nvSpPr>
          <p:cNvPr id="19" name="Text 16"/>
          <p:cNvSpPr/>
          <p:nvPr/>
        </p:nvSpPr>
        <p:spPr>
          <a:xfrm>
            <a:off x="8382893" y="5072063"/>
            <a:ext cx="442020"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0F1419"/>
                </a:solidFill>
                <a:latin typeface="Courier New" pitchFamily="34" charset="0"/>
                <a:ea typeface="Courier New" pitchFamily="34" charset="-122"/>
                <a:cs typeface="Courier New" pitchFamily="34" charset="-120"/>
              </a:rPr>
              <a:t>~180</a:t>
            </a:r>
            <a:endParaRPr lang="en-US" sz="1200" dirty="0"/>
          </a:p>
        </p:txBody>
      </p:sp>
      <p:sp>
        <p:nvSpPr>
          <p:cNvPr id="20" name="Shape 17"/>
          <p:cNvSpPr/>
          <p:nvPr/>
        </p:nvSpPr>
        <p:spPr>
          <a:xfrm>
            <a:off x="1214438" y="5414963"/>
            <a:ext cx="7534275" cy="9525"/>
          </a:xfrm>
          <a:prstGeom prst="rect">
            <a:avLst/>
          </a:prstGeom>
          <a:solidFill>
            <a:srgbClr val="DDE5EC"/>
          </a:solidFill>
          <a:ln/>
        </p:spPr>
      </p:sp>
      <p:sp>
        <p:nvSpPr>
          <p:cNvPr id="21" name="Text 18"/>
          <p:cNvSpPr/>
          <p:nvPr/>
        </p:nvSpPr>
        <p:spPr>
          <a:xfrm>
            <a:off x="1214438" y="5538788"/>
            <a:ext cx="2091705" cy="295275"/>
          </a:xfrm>
          <a:prstGeom prst="rect">
            <a:avLst/>
          </a:prstGeom>
          <a:noFill/>
          <a:ln/>
        </p:spPr>
        <p:txBody>
          <a:bodyPr wrap="square" lIns="25400" tIns="25400" rIns="25400" bIns="25400" rtlCol="0" anchor="t">
            <a:normAutofit/>
          </a:bodyPr>
          <a:lstStyle/>
          <a:p>
            <a:pPr algn="l" indent="0" marL="0">
              <a:lnSpc>
                <a:spcPct val="150000"/>
              </a:lnSpc>
              <a:buNone/>
            </a:pPr>
            <a:r>
              <a:rPr lang="en-US" sz="1350" dirty="0">
                <a:solidFill>
                  <a:srgbClr val="0F1419"/>
                </a:solidFill>
                <a:latin typeface="Arial" pitchFamily="34" charset="0"/>
                <a:ea typeface="Arial" pitchFamily="34" charset="-122"/>
                <a:cs typeface="Arial" pitchFamily="34" charset="-120"/>
              </a:rPr>
              <a:t>Active after ~3%/mo churn</a:t>
            </a:r>
            <a:endParaRPr lang="en-US" sz="1350" dirty="0"/>
          </a:p>
        </p:txBody>
      </p:sp>
      <p:sp>
        <p:nvSpPr>
          <p:cNvPr id="22" name="Text 19"/>
          <p:cNvSpPr/>
          <p:nvPr/>
        </p:nvSpPr>
        <p:spPr>
          <a:xfrm>
            <a:off x="7376889" y="5572125"/>
            <a:ext cx="1448023"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0F1419"/>
                </a:solidFill>
                <a:latin typeface="Courier New" pitchFamily="34" charset="0"/>
                <a:ea typeface="Courier New" pitchFamily="34" charset="-122"/>
                <a:cs typeface="Courier New" pitchFamily="34" charset="-120"/>
              </a:rPr>
              <a:t>~620 L · ~130 G</a:t>
            </a:r>
            <a:endParaRPr lang="en-US" sz="1200" dirty="0"/>
          </a:p>
        </p:txBody>
      </p:sp>
      <p:sp>
        <p:nvSpPr>
          <p:cNvPr id="23" name="Shape 20"/>
          <p:cNvSpPr/>
          <p:nvPr/>
        </p:nvSpPr>
        <p:spPr>
          <a:xfrm>
            <a:off x="1214438" y="5915025"/>
            <a:ext cx="7534275" cy="9525"/>
          </a:xfrm>
          <a:prstGeom prst="rect">
            <a:avLst/>
          </a:prstGeom>
          <a:solidFill>
            <a:srgbClr val="DDE5EC"/>
          </a:solidFill>
          <a:ln/>
        </p:spPr>
      </p:sp>
      <p:sp>
        <p:nvSpPr>
          <p:cNvPr id="24" name="Text 21"/>
          <p:cNvSpPr/>
          <p:nvPr/>
        </p:nvSpPr>
        <p:spPr>
          <a:xfrm>
            <a:off x="1214438" y="6038850"/>
            <a:ext cx="1682576" cy="295275"/>
          </a:xfrm>
          <a:prstGeom prst="rect">
            <a:avLst/>
          </a:prstGeom>
          <a:noFill/>
          <a:ln/>
        </p:spPr>
        <p:txBody>
          <a:bodyPr wrap="square" lIns="25400" tIns="25400" rIns="25400" bIns="25400" rtlCol="0" anchor="t">
            <a:normAutofit/>
          </a:bodyPr>
          <a:lstStyle/>
          <a:p>
            <a:pPr algn="l" indent="0" marL="0">
              <a:lnSpc>
                <a:spcPct val="150000"/>
              </a:lnSpc>
              <a:buNone/>
            </a:pPr>
            <a:r>
              <a:rPr lang="en-US" sz="1350" dirty="0">
                <a:solidFill>
                  <a:srgbClr val="0F1419"/>
                </a:solidFill>
                <a:latin typeface="Arial" pitchFamily="34" charset="0"/>
                <a:ea typeface="Arial" pitchFamily="34" charset="-122"/>
                <a:cs typeface="Arial" pitchFamily="34" charset="-120"/>
              </a:rPr>
              <a:t>Launch sub × £15.80</a:t>
            </a:r>
            <a:endParaRPr lang="en-US" sz="1350" dirty="0"/>
          </a:p>
        </p:txBody>
      </p:sp>
      <p:sp>
        <p:nvSpPr>
          <p:cNvPr id="25" name="Text 22"/>
          <p:cNvSpPr/>
          <p:nvPr/>
        </p:nvSpPr>
        <p:spPr>
          <a:xfrm>
            <a:off x="8017073" y="6072188"/>
            <a:ext cx="807839"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0F1419"/>
                </a:solidFill>
                <a:latin typeface="Courier New" pitchFamily="34" charset="0"/>
                <a:ea typeface="Courier New" pitchFamily="34" charset="-122"/>
                <a:cs typeface="Courier New" pitchFamily="34" charset="-120"/>
              </a:rPr>
              <a:t>£9.8K/mo</a:t>
            </a:r>
            <a:endParaRPr lang="en-US" sz="1200" dirty="0"/>
          </a:p>
        </p:txBody>
      </p:sp>
      <p:sp>
        <p:nvSpPr>
          <p:cNvPr id="26" name="Shape 23"/>
          <p:cNvSpPr/>
          <p:nvPr/>
        </p:nvSpPr>
        <p:spPr>
          <a:xfrm>
            <a:off x="1214438" y="6415088"/>
            <a:ext cx="7534275" cy="9525"/>
          </a:xfrm>
          <a:prstGeom prst="rect">
            <a:avLst/>
          </a:prstGeom>
          <a:solidFill>
            <a:srgbClr val="DDE5EC"/>
          </a:solidFill>
          <a:ln/>
        </p:spPr>
      </p:sp>
      <p:sp>
        <p:nvSpPr>
          <p:cNvPr id="27" name="Text 24"/>
          <p:cNvSpPr/>
          <p:nvPr/>
        </p:nvSpPr>
        <p:spPr>
          <a:xfrm>
            <a:off x="1214438" y="6538913"/>
            <a:ext cx="1434331" cy="295275"/>
          </a:xfrm>
          <a:prstGeom prst="rect">
            <a:avLst/>
          </a:prstGeom>
          <a:noFill/>
          <a:ln/>
        </p:spPr>
        <p:txBody>
          <a:bodyPr wrap="square" lIns="25400" tIns="25400" rIns="25400" bIns="25400" rtlCol="0" anchor="t">
            <a:normAutofit/>
          </a:bodyPr>
          <a:lstStyle/>
          <a:p>
            <a:pPr algn="l" indent="0" marL="0">
              <a:lnSpc>
                <a:spcPct val="150000"/>
              </a:lnSpc>
              <a:buNone/>
            </a:pPr>
            <a:r>
              <a:rPr lang="en-US" sz="1350" dirty="0">
                <a:solidFill>
                  <a:srgbClr val="0F1419"/>
                </a:solidFill>
                <a:latin typeface="Arial" pitchFamily="34" charset="0"/>
                <a:ea typeface="Arial" pitchFamily="34" charset="-122"/>
                <a:cs typeface="Arial" pitchFamily="34" charset="-120"/>
              </a:rPr>
              <a:t>Growth sub × £39</a:t>
            </a:r>
            <a:endParaRPr lang="en-US" sz="1350" dirty="0"/>
          </a:p>
        </p:txBody>
      </p:sp>
      <p:sp>
        <p:nvSpPr>
          <p:cNvPr id="28" name="Text 25"/>
          <p:cNvSpPr/>
          <p:nvPr/>
        </p:nvSpPr>
        <p:spPr>
          <a:xfrm>
            <a:off x="8017073" y="6572250"/>
            <a:ext cx="807839"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0F1419"/>
                </a:solidFill>
                <a:latin typeface="Courier New" pitchFamily="34" charset="0"/>
                <a:ea typeface="Courier New" pitchFamily="34" charset="-122"/>
                <a:cs typeface="Courier New" pitchFamily="34" charset="-120"/>
              </a:rPr>
              <a:t>£5.1K/mo</a:t>
            </a:r>
            <a:endParaRPr lang="en-US" sz="1200" dirty="0"/>
          </a:p>
        </p:txBody>
      </p:sp>
      <p:sp>
        <p:nvSpPr>
          <p:cNvPr id="29" name="Shape 26"/>
          <p:cNvSpPr/>
          <p:nvPr/>
        </p:nvSpPr>
        <p:spPr>
          <a:xfrm>
            <a:off x="1214438" y="6915150"/>
            <a:ext cx="7534275" cy="9525"/>
          </a:xfrm>
          <a:prstGeom prst="rect">
            <a:avLst/>
          </a:prstGeom>
          <a:solidFill>
            <a:srgbClr val="DDE5EC"/>
          </a:solidFill>
          <a:ln/>
        </p:spPr>
      </p:sp>
      <p:sp>
        <p:nvSpPr>
          <p:cNvPr id="30" name="Text 27"/>
          <p:cNvSpPr/>
          <p:nvPr/>
        </p:nvSpPr>
        <p:spPr>
          <a:xfrm>
            <a:off x="1214438" y="7038975"/>
            <a:ext cx="1324719" cy="295275"/>
          </a:xfrm>
          <a:prstGeom prst="rect">
            <a:avLst/>
          </a:prstGeom>
          <a:noFill/>
          <a:ln/>
        </p:spPr>
        <p:txBody>
          <a:bodyPr wrap="square" lIns="25400" tIns="25400" rIns="25400" bIns="25400" rtlCol="0" anchor="t">
            <a:normAutofit/>
          </a:bodyPr>
          <a:lstStyle/>
          <a:p>
            <a:pPr algn="l" indent="0" marL="0">
              <a:lnSpc>
                <a:spcPct val="150000"/>
              </a:lnSpc>
              <a:buNone/>
            </a:pPr>
            <a:r>
              <a:rPr lang="en-US" sz="1350" dirty="0">
                <a:solidFill>
                  <a:srgbClr val="0F1419"/>
                </a:solidFill>
                <a:latin typeface="Arial" pitchFamily="34" charset="0"/>
                <a:ea typeface="Arial" pitchFamily="34" charset="-122"/>
                <a:cs typeface="Arial" pitchFamily="34" charset="-120"/>
              </a:rPr>
              <a:t>Setup amortised</a:t>
            </a:r>
            <a:endParaRPr lang="en-US" sz="1350" dirty="0"/>
          </a:p>
        </p:txBody>
      </p:sp>
      <p:sp>
        <p:nvSpPr>
          <p:cNvPr id="31" name="Text 28"/>
          <p:cNvSpPr/>
          <p:nvPr/>
        </p:nvSpPr>
        <p:spPr>
          <a:xfrm>
            <a:off x="8108528" y="7072313"/>
            <a:ext cx="716384"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0F1419"/>
                </a:solidFill>
                <a:latin typeface="Courier New" pitchFamily="34" charset="0"/>
                <a:ea typeface="Courier New" pitchFamily="34" charset="-122"/>
                <a:cs typeface="Courier New" pitchFamily="34" charset="-120"/>
              </a:rPr>
              <a:t>~£3K/mo</a:t>
            </a:r>
            <a:endParaRPr lang="en-US" sz="1200" dirty="0"/>
          </a:p>
        </p:txBody>
      </p:sp>
      <p:sp>
        <p:nvSpPr>
          <p:cNvPr id="32" name="Shape 29"/>
          <p:cNvSpPr/>
          <p:nvPr/>
        </p:nvSpPr>
        <p:spPr>
          <a:xfrm>
            <a:off x="1214438" y="7415213"/>
            <a:ext cx="7534275" cy="9525"/>
          </a:xfrm>
          <a:prstGeom prst="rect">
            <a:avLst/>
          </a:prstGeom>
          <a:solidFill>
            <a:srgbClr val="DDE5EC"/>
          </a:solidFill>
          <a:ln/>
        </p:spPr>
      </p:sp>
      <p:sp>
        <p:nvSpPr>
          <p:cNvPr id="33" name="Text 30"/>
          <p:cNvSpPr/>
          <p:nvPr/>
        </p:nvSpPr>
        <p:spPr>
          <a:xfrm>
            <a:off x="1214438" y="7539037"/>
            <a:ext cx="1200969" cy="295275"/>
          </a:xfrm>
          <a:prstGeom prst="rect">
            <a:avLst/>
          </a:prstGeom>
          <a:noFill/>
          <a:ln/>
        </p:spPr>
        <p:txBody>
          <a:bodyPr wrap="square" lIns="25400" tIns="25400" rIns="25400" bIns="25400" rtlCol="0" anchor="t">
            <a:normAutofit/>
          </a:bodyPr>
          <a:lstStyle/>
          <a:p>
            <a:pPr algn="l" indent="0" marL="0">
              <a:lnSpc>
                <a:spcPct val="150000"/>
              </a:lnSpc>
              <a:buNone/>
            </a:pPr>
            <a:r>
              <a:rPr lang="en-US" sz="1350" dirty="0">
                <a:solidFill>
                  <a:srgbClr val="0F1419"/>
                </a:solidFill>
                <a:latin typeface="Arial" pitchFamily="34" charset="0"/>
                <a:ea typeface="Arial" pitchFamily="34" charset="-122"/>
                <a:cs typeface="Arial" pitchFamily="34" charset="-120"/>
              </a:rPr>
              <a:t>Token overage</a:t>
            </a:r>
            <a:endParaRPr lang="en-US" sz="1350" dirty="0"/>
          </a:p>
        </p:txBody>
      </p:sp>
      <p:sp>
        <p:nvSpPr>
          <p:cNvPr id="34" name="Text 31"/>
          <p:cNvSpPr/>
          <p:nvPr/>
        </p:nvSpPr>
        <p:spPr>
          <a:xfrm>
            <a:off x="7925619" y="7572375"/>
            <a:ext cx="899294"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0F1419"/>
                </a:solidFill>
                <a:latin typeface="Courier New" pitchFamily="34" charset="0"/>
                <a:ea typeface="Courier New" pitchFamily="34" charset="-122"/>
                <a:cs typeface="Courier New" pitchFamily="34" charset="-120"/>
              </a:rPr>
              <a:t>~£0.4K/mo</a:t>
            </a:r>
            <a:endParaRPr lang="en-US" sz="1200" dirty="0"/>
          </a:p>
        </p:txBody>
      </p:sp>
      <p:sp>
        <p:nvSpPr>
          <p:cNvPr id="35" name="Shape 32"/>
          <p:cNvSpPr/>
          <p:nvPr/>
        </p:nvSpPr>
        <p:spPr>
          <a:xfrm>
            <a:off x="1214438" y="7915275"/>
            <a:ext cx="7534275" cy="9525"/>
          </a:xfrm>
          <a:prstGeom prst="rect">
            <a:avLst/>
          </a:prstGeom>
          <a:solidFill>
            <a:srgbClr val="DDE5EC"/>
          </a:solidFill>
          <a:ln/>
        </p:spPr>
      </p:sp>
      <p:sp>
        <p:nvSpPr>
          <p:cNvPr id="36" name="Text 33"/>
          <p:cNvSpPr/>
          <p:nvPr/>
        </p:nvSpPr>
        <p:spPr>
          <a:xfrm>
            <a:off x="1214438" y="8039100"/>
            <a:ext cx="1569169" cy="295275"/>
          </a:xfrm>
          <a:prstGeom prst="rect">
            <a:avLst/>
          </a:prstGeom>
          <a:noFill/>
          <a:ln/>
        </p:spPr>
        <p:txBody>
          <a:bodyPr wrap="square" lIns="25400" tIns="25400" rIns="25400" bIns="25400" rtlCol="0" anchor="t">
            <a:normAutofit/>
          </a:bodyPr>
          <a:lstStyle/>
          <a:p>
            <a:pPr algn="l" indent="0" marL="0">
              <a:lnSpc>
                <a:spcPct val="150000"/>
              </a:lnSpc>
              <a:buNone/>
            </a:pPr>
            <a:r>
              <a:rPr lang="en-US" sz="1350" dirty="0">
                <a:solidFill>
                  <a:srgbClr val="0F1419"/>
                </a:solidFill>
                <a:latin typeface="Arial" pitchFamily="34" charset="0"/>
                <a:ea typeface="Arial" pitchFamily="34" charset="-122"/>
                <a:cs typeface="Arial" pitchFamily="34" charset="-120"/>
              </a:rPr>
              <a:t>AI-tool affiliate (5%)</a:t>
            </a:r>
            <a:endParaRPr lang="en-US" sz="1350" dirty="0"/>
          </a:p>
        </p:txBody>
      </p:sp>
      <p:sp>
        <p:nvSpPr>
          <p:cNvPr id="37" name="Text 34"/>
          <p:cNvSpPr/>
          <p:nvPr/>
        </p:nvSpPr>
        <p:spPr>
          <a:xfrm>
            <a:off x="7834164" y="8072438"/>
            <a:ext cx="990749"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0F1419"/>
                </a:solidFill>
                <a:latin typeface="Courier New" pitchFamily="34" charset="0"/>
                <a:ea typeface="Courier New" pitchFamily="34" charset="-122"/>
                <a:cs typeface="Courier New" pitchFamily="34" charset="-120"/>
              </a:rPr>
              <a:t>~£0.08K/mo</a:t>
            </a:r>
            <a:endParaRPr lang="en-US" sz="1200" dirty="0"/>
          </a:p>
        </p:txBody>
      </p:sp>
      <p:sp>
        <p:nvSpPr>
          <p:cNvPr id="38" name="Shape 35"/>
          <p:cNvSpPr/>
          <p:nvPr/>
        </p:nvSpPr>
        <p:spPr>
          <a:xfrm>
            <a:off x="1214438" y="8510588"/>
            <a:ext cx="7534275" cy="19050"/>
          </a:xfrm>
          <a:prstGeom prst="rect">
            <a:avLst/>
          </a:prstGeom>
          <a:solidFill>
            <a:srgbClr val="5B47F0"/>
          </a:solidFill>
          <a:ln/>
        </p:spPr>
      </p:sp>
      <p:sp>
        <p:nvSpPr>
          <p:cNvPr id="39" name="Text 36"/>
          <p:cNvSpPr/>
          <p:nvPr/>
        </p:nvSpPr>
        <p:spPr>
          <a:xfrm>
            <a:off x="1214438" y="9043988"/>
            <a:ext cx="1235422" cy="223838"/>
          </a:xfrm>
          <a:prstGeom prst="rect">
            <a:avLst/>
          </a:prstGeom>
          <a:noFill/>
          <a:ln/>
        </p:spPr>
        <p:txBody>
          <a:bodyPr wrap="square" lIns="25400" tIns="25400" rIns="25400" bIns="25400" rtlCol="0" anchor="t">
            <a:normAutofit/>
          </a:bodyPr>
          <a:lstStyle/>
          <a:p>
            <a:pPr algn="l" indent="0" marL="0">
              <a:lnSpc>
                <a:spcPct val="150000"/>
              </a:lnSpc>
              <a:buNone/>
            </a:pPr>
            <a:r>
              <a:rPr lang="en-US" sz="975" spc="117" kern="0" dirty="0">
                <a:solidFill>
                  <a:srgbClr val="6E7785"/>
                </a:solidFill>
                <a:latin typeface="Courier New" pitchFamily="34" charset="0"/>
                <a:ea typeface="Courier New" pitchFamily="34" charset="-122"/>
                <a:cs typeface="Courier New" pitchFamily="34" charset="-120"/>
              </a:rPr>
              <a:t>M18 BASE CASE</a:t>
            </a:r>
            <a:endParaRPr lang="en-US" sz="975" dirty="0"/>
          </a:p>
        </p:txBody>
      </p:sp>
      <p:sp>
        <p:nvSpPr>
          <p:cNvPr id="40" name="Text 37"/>
          <p:cNvSpPr/>
          <p:nvPr/>
        </p:nvSpPr>
        <p:spPr>
          <a:xfrm>
            <a:off x="7172251" y="8662988"/>
            <a:ext cx="1652662" cy="723900"/>
          </a:xfrm>
          <a:prstGeom prst="rect">
            <a:avLst/>
          </a:prstGeom>
          <a:noFill/>
          <a:ln/>
        </p:spPr>
        <p:txBody>
          <a:bodyPr wrap="square" lIns="25400" tIns="25400" rIns="25400" bIns="25400" rtlCol="0" anchor="t">
            <a:normAutofit/>
          </a:bodyPr>
          <a:lstStyle/>
          <a:p>
            <a:pPr algn="l" indent="0" marL="0">
              <a:lnSpc>
                <a:spcPct val="150000"/>
              </a:lnSpc>
              <a:buNone/>
            </a:pPr>
            <a:r>
              <a:rPr lang="en-US" sz="3600" b="1" spc="-108" kern="0" dirty="0">
                <a:solidFill>
                  <a:srgbClr val="5B47F0"/>
                </a:solidFill>
                <a:latin typeface="Arial" pitchFamily="34" charset="0"/>
                <a:ea typeface="Arial" pitchFamily="34" charset="-122"/>
                <a:cs typeface="Arial" pitchFamily="34" charset="-120"/>
              </a:rPr>
              <a:t>~£135K</a:t>
            </a:r>
            <a:endParaRPr lang="en-US" sz="3600" dirty="0"/>
          </a:p>
        </p:txBody>
      </p:sp>
      <p:sp>
        <p:nvSpPr>
          <p:cNvPr id="41" name="Shape 38"/>
          <p:cNvSpPr/>
          <p:nvPr/>
        </p:nvSpPr>
        <p:spPr>
          <a:xfrm>
            <a:off x="9239250" y="2781300"/>
            <a:ext cx="8134350" cy="6867525"/>
          </a:xfrm>
          <a:prstGeom prst="roundRect">
            <a:avLst>
              <a:gd name="adj" fmla="val 2219"/>
            </a:avLst>
          </a:prstGeom>
          <a:solidFill>
            <a:srgbClr val="161D2A"/>
          </a:solidFill>
          <a:ln w="14288">
            <a:solidFill>
              <a:srgbClr val="232C3D"/>
            </a:solidFill>
            <a:prstDash val="solid"/>
          </a:ln>
          <a:effectLst>
            <a:outerShdw sx="100000" sy="100000" kx="0" ky="0" algn="bl" rotWithShape="0" blurRad="133350" dist="38100" dir="5400000">
              <a:srgbClr val="000000">
                <a:alpha val="25000"/>
              </a:srgbClr>
            </a:outerShdw>
          </a:effectLst>
        </p:spPr>
      </p:sp>
      <p:sp>
        <p:nvSpPr>
          <p:cNvPr id="42" name="Text 39"/>
          <p:cNvSpPr/>
          <p:nvPr/>
        </p:nvSpPr>
        <p:spPr>
          <a:xfrm>
            <a:off x="9539288" y="3081338"/>
            <a:ext cx="7760303" cy="466725"/>
          </a:xfrm>
          <a:prstGeom prst="rect">
            <a:avLst/>
          </a:prstGeom>
          <a:noFill/>
          <a:ln/>
        </p:spPr>
        <p:txBody>
          <a:bodyPr wrap="square" lIns="25400" tIns="25400" rIns="25400" bIns="25400" rtlCol="0" anchor="t">
            <a:normAutofit/>
          </a:bodyPr>
          <a:lstStyle/>
          <a:p>
            <a:pPr algn="l" indent="0" marL="0">
              <a:lnSpc>
                <a:spcPct val="150000"/>
              </a:lnSpc>
              <a:buNone/>
            </a:pPr>
            <a:r>
              <a:rPr lang="en-US" sz="2250" b="1" spc="-56" kern="0" dirty="0">
                <a:solidFill>
                  <a:srgbClr val="F7FAFC"/>
                </a:solidFill>
                <a:latin typeface="Arial" pitchFamily="34" charset="0"/>
                <a:ea typeface="Arial" pitchFamily="34" charset="-122"/>
                <a:cs typeface="Arial" pitchFamily="34" charset="-120"/>
              </a:rPr>
              <a:t>Sprint upside</a:t>
            </a:r>
            <a:endParaRPr lang="en-US" sz="2250" dirty="0"/>
          </a:p>
        </p:txBody>
      </p:sp>
      <p:sp>
        <p:nvSpPr>
          <p:cNvPr id="43" name="Text 40"/>
          <p:cNvSpPr/>
          <p:nvPr/>
        </p:nvSpPr>
        <p:spPr>
          <a:xfrm>
            <a:off x="9539288" y="3548063"/>
            <a:ext cx="7760303" cy="223838"/>
          </a:xfrm>
          <a:prstGeom prst="rect">
            <a:avLst/>
          </a:prstGeom>
          <a:noFill/>
          <a:ln/>
        </p:spPr>
        <p:txBody>
          <a:bodyPr wrap="square" lIns="25400" tIns="25400" rIns="25400" bIns="25400" rtlCol="0" anchor="t">
            <a:normAutofit/>
          </a:bodyPr>
          <a:lstStyle/>
          <a:p>
            <a:pPr algn="l" indent="0" marL="0">
              <a:lnSpc>
                <a:spcPct val="150000"/>
              </a:lnSpc>
              <a:buNone/>
            </a:pPr>
            <a:r>
              <a:rPr lang="en-US" sz="975" spc="117" kern="0" dirty="0">
                <a:solidFill>
                  <a:srgbClr val="F7FAFC">
                    <a:alpha val="55000"/>
                  </a:srgbClr>
                </a:solidFill>
                <a:latin typeface="Courier New" pitchFamily="34" charset="0"/>
                <a:ea typeface="Courier New" pitchFamily="34" charset="-122"/>
                <a:cs typeface="Courier New" pitchFamily="34" charset="-120"/>
              </a:rPr>
              <a:t>MONTH 18 · TARGET ~£380K MRR</a:t>
            </a:r>
            <a:endParaRPr lang="en-US" sz="975" dirty="0"/>
          </a:p>
        </p:txBody>
      </p:sp>
      <p:sp>
        <p:nvSpPr>
          <p:cNvPr id="44" name="Text 41"/>
          <p:cNvSpPr/>
          <p:nvPr/>
        </p:nvSpPr>
        <p:spPr>
          <a:xfrm>
            <a:off x="9539288" y="4038600"/>
            <a:ext cx="2049066" cy="295275"/>
          </a:xfrm>
          <a:prstGeom prst="rect">
            <a:avLst/>
          </a:prstGeom>
          <a:noFill/>
          <a:ln/>
        </p:spPr>
        <p:txBody>
          <a:bodyPr wrap="square" lIns="25400" tIns="25400" rIns="25400" bIns="25400" rtlCol="0" anchor="t">
            <a:normAutofit/>
          </a:bodyPr>
          <a:lstStyle/>
          <a:p>
            <a:pPr algn="l" indent="0" marL="0">
              <a:lnSpc>
                <a:spcPct val="150000"/>
              </a:lnSpc>
              <a:buNone/>
            </a:pPr>
            <a:r>
              <a:rPr lang="en-US" sz="1350" dirty="0">
                <a:solidFill>
                  <a:srgbClr val="F7FAFC">
                    <a:alpha val="78000"/>
                  </a:srgbClr>
                </a:solidFill>
                <a:latin typeface="Arial" pitchFamily="34" charset="0"/>
                <a:ea typeface="Arial" pitchFamily="34" charset="-122"/>
                <a:cs typeface="Arial" pitchFamily="34" charset="-120"/>
              </a:rPr>
              <a:t>Sandbox signups (paid lit)</a:t>
            </a:r>
            <a:endParaRPr lang="en-US" sz="1350" dirty="0"/>
          </a:p>
        </p:txBody>
      </p:sp>
      <p:sp>
        <p:nvSpPr>
          <p:cNvPr id="45" name="Text 42"/>
          <p:cNvSpPr/>
          <p:nvPr/>
        </p:nvSpPr>
        <p:spPr>
          <a:xfrm>
            <a:off x="16707743" y="4071938"/>
            <a:ext cx="442020"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F7FAFC"/>
                </a:solidFill>
                <a:latin typeface="Courier New" pitchFamily="34" charset="0"/>
                <a:ea typeface="Courier New" pitchFamily="34" charset="-122"/>
                <a:cs typeface="Courier New" pitchFamily="34" charset="-120"/>
              </a:rPr>
              <a:t>~80K</a:t>
            </a:r>
            <a:endParaRPr lang="en-US" sz="1200" dirty="0"/>
          </a:p>
        </p:txBody>
      </p:sp>
      <p:sp>
        <p:nvSpPr>
          <p:cNvPr id="46" name="Shape 43"/>
          <p:cNvSpPr/>
          <p:nvPr/>
        </p:nvSpPr>
        <p:spPr>
          <a:xfrm>
            <a:off x="9539288" y="4414838"/>
            <a:ext cx="7534275" cy="9525"/>
          </a:xfrm>
          <a:prstGeom prst="rect">
            <a:avLst/>
          </a:prstGeom>
          <a:solidFill>
            <a:srgbClr val="F7FAFC">
              <a:alpha val="10000"/>
            </a:srgbClr>
          </a:solidFill>
          <a:ln/>
        </p:spPr>
      </p:sp>
      <p:sp>
        <p:nvSpPr>
          <p:cNvPr id="47" name="Text 44"/>
          <p:cNvSpPr/>
          <p:nvPr/>
        </p:nvSpPr>
        <p:spPr>
          <a:xfrm>
            <a:off x="9539288" y="4538663"/>
            <a:ext cx="1696417" cy="295275"/>
          </a:xfrm>
          <a:prstGeom prst="rect">
            <a:avLst/>
          </a:prstGeom>
          <a:noFill/>
          <a:ln/>
        </p:spPr>
        <p:txBody>
          <a:bodyPr wrap="square" lIns="25400" tIns="25400" rIns="25400" bIns="25400" rtlCol="0" anchor="t">
            <a:normAutofit/>
          </a:bodyPr>
          <a:lstStyle/>
          <a:p>
            <a:pPr algn="l" indent="0" marL="0">
              <a:lnSpc>
                <a:spcPct val="150000"/>
              </a:lnSpc>
              <a:buNone/>
            </a:pPr>
            <a:r>
              <a:rPr lang="en-US" sz="1350" dirty="0">
                <a:solidFill>
                  <a:srgbClr val="F7FAFC">
                    <a:alpha val="78000"/>
                  </a:srgbClr>
                </a:solidFill>
                <a:latin typeface="Arial" pitchFamily="34" charset="0"/>
                <a:ea typeface="Arial" pitchFamily="34" charset="-122"/>
                <a:cs typeface="Arial" pitchFamily="34" charset="-120"/>
              </a:rPr>
              <a:t>Conversion holds 5%</a:t>
            </a:r>
            <a:endParaRPr lang="en-US" sz="1350" dirty="0"/>
          </a:p>
        </p:txBody>
      </p:sp>
      <p:sp>
        <p:nvSpPr>
          <p:cNvPr id="48" name="Text 45"/>
          <p:cNvSpPr/>
          <p:nvPr/>
        </p:nvSpPr>
        <p:spPr>
          <a:xfrm>
            <a:off x="16524833" y="4572000"/>
            <a:ext cx="624929"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F7FAFC"/>
                </a:solidFill>
                <a:latin typeface="Courier New" pitchFamily="34" charset="0"/>
                <a:ea typeface="Courier New" pitchFamily="34" charset="-122"/>
                <a:cs typeface="Courier New" pitchFamily="34" charset="-120"/>
              </a:rPr>
              <a:t>~4,000</a:t>
            </a:r>
            <a:endParaRPr lang="en-US" sz="1200" dirty="0"/>
          </a:p>
        </p:txBody>
      </p:sp>
      <p:sp>
        <p:nvSpPr>
          <p:cNvPr id="49" name="Shape 46"/>
          <p:cNvSpPr/>
          <p:nvPr/>
        </p:nvSpPr>
        <p:spPr>
          <a:xfrm>
            <a:off x="9539288" y="4914900"/>
            <a:ext cx="7534275" cy="9525"/>
          </a:xfrm>
          <a:prstGeom prst="rect">
            <a:avLst/>
          </a:prstGeom>
          <a:solidFill>
            <a:srgbClr val="F7FAFC">
              <a:alpha val="10000"/>
            </a:srgbClr>
          </a:solidFill>
          <a:ln/>
        </p:spPr>
      </p:sp>
      <p:sp>
        <p:nvSpPr>
          <p:cNvPr id="50" name="Text 47"/>
          <p:cNvSpPr/>
          <p:nvPr/>
        </p:nvSpPr>
        <p:spPr>
          <a:xfrm>
            <a:off x="9539288" y="5038725"/>
            <a:ext cx="2391817" cy="295275"/>
          </a:xfrm>
          <a:prstGeom prst="rect">
            <a:avLst/>
          </a:prstGeom>
          <a:noFill/>
          <a:ln/>
        </p:spPr>
        <p:txBody>
          <a:bodyPr wrap="square" lIns="25400" tIns="25400" rIns="25400" bIns="25400" rtlCol="0" anchor="t">
            <a:normAutofit/>
          </a:bodyPr>
          <a:lstStyle/>
          <a:p>
            <a:pPr algn="l" indent="0" marL="0">
              <a:lnSpc>
                <a:spcPct val="150000"/>
              </a:lnSpc>
              <a:buNone/>
            </a:pPr>
            <a:r>
              <a:rPr lang="en-US" sz="1350" dirty="0">
                <a:solidFill>
                  <a:srgbClr val="F7FAFC">
                    <a:alpha val="78000"/>
                  </a:srgbClr>
                </a:solidFill>
                <a:latin typeface="Arial" pitchFamily="34" charset="0"/>
                <a:ea typeface="Arial" pitchFamily="34" charset="-122"/>
                <a:cs typeface="Arial" pitchFamily="34" charset="-120"/>
              </a:rPr>
              <a:t>Growth conversion lifts to 15%</a:t>
            </a:r>
            <a:endParaRPr lang="en-US" sz="1350" dirty="0"/>
          </a:p>
        </p:txBody>
      </p:sp>
      <p:sp>
        <p:nvSpPr>
          <p:cNvPr id="51" name="Text 48"/>
          <p:cNvSpPr/>
          <p:nvPr/>
        </p:nvSpPr>
        <p:spPr>
          <a:xfrm>
            <a:off x="16707743" y="5072063"/>
            <a:ext cx="442020"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F7FAFC"/>
                </a:solidFill>
                <a:latin typeface="Courier New" pitchFamily="34" charset="0"/>
                <a:ea typeface="Courier New" pitchFamily="34" charset="-122"/>
                <a:cs typeface="Courier New" pitchFamily="34" charset="-120"/>
              </a:rPr>
              <a:t>~600</a:t>
            </a:r>
            <a:endParaRPr lang="en-US" sz="1200" dirty="0"/>
          </a:p>
        </p:txBody>
      </p:sp>
      <p:sp>
        <p:nvSpPr>
          <p:cNvPr id="52" name="Shape 49"/>
          <p:cNvSpPr/>
          <p:nvPr/>
        </p:nvSpPr>
        <p:spPr>
          <a:xfrm>
            <a:off x="9539288" y="5414963"/>
            <a:ext cx="7534275" cy="9525"/>
          </a:xfrm>
          <a:prstGeom prst="rect">
            <a:avLst/>
          </a:prstGeom>
          <a:solidFill>
            <a:srgbClr val="F7FAFC">
              <a:alpha val="10000"/>
            </a:srgbClr>
          </a:solidFill>
          <a:ln/>
        </p:spPr>
      </p:sp>
      <p:sp>
        <p:nvSpPr>
          <p:cNvPr id="53" name="Text 50"/>
          <p:cNvSpPr/>
          <p:nvPr/>
        </p:nvSpPr>
        <p:spPr>
          <a:xfrm>
            <a:off x="9539288" y="5538788"/>
            <a:ext cx="1410295" cy="295275"/>
          </a:xfrm>
          <a:prstGeom prst="rect">
            <a:avLst/>
          </a:prstGeom>
          <a:noFill/>
          <a:ln/>
        </p:spPr>
        <p:txBody>
          <a:bodyPr wrap="square" lIns="25400" tIns="25400" rIns="25400" bIns="25400" rtlCol="0" anchor="t">
            <a:normAutofit/>
          </a:bodyPr>
          <a:lstStyle/>
          <a:p>
            <a:pPr algn="l" indent="0" marL="0">
              <a:lnSpc>
                <a:spcPct val="150000"/>
              </a:lnSpc>
              <a:buNone/>
            </a:pPr>
            <a:r>
              <a:rPr lang="en-US" sz="1350" dirty="0">
                <a:solidFill>
                  <a:srgbClr val="F7FAFC">
                    <a:alpha val="78000"/>
                  </a:srgbClr>
                </a:solidFill>
                <a:latin typeface="Arial" pitchFamily="34" charset="0"/>
                <a:ea typeface="Arial" pitchFamily="34" charset="-122"/>
                <a:cs typeface="Arial" pitchFamily="34" charset="-120"/>
              </a:rPr>
              <a:t>Active after churn</a:t>
            </a:r>
            <a:endParaRPr lang="en-US" sz="1350" dirty="0"/>
          </a:p>
        </p:txBody>
      </p:sp>
      <p:sp>
        <p:nvSpPr>
          <p:cNvPr id="54" name="Text 51"/>
          <p:cNvSpPr/>
          <p:nvPr/>
        </p:nvSpPr>
        <p:spPr>
          <a:xfrm>
            <a:off x="15518829" y="5572125"/>
            <a:ext cx="1630933"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F7FAFC"/>
                </a:solidFill>
                <a:latin typeface="Courier New" pitchFamily="34" charset="0"/>
                <a:ea typeface="Courier New" pitchFamily="34" charset="-122"/>
                <a:cs typeface="Courier New" pitchFamily="34" charset="-120"/>
              </a:rPr>
              <a:t>~1,700 L · ~430 G</a:t>
            </a:r>
            <a:endParaRPr lang="en-US" sz="1200" dirty="0"/>
          </a:p>
        </p:txBody>
      </p:sp>
      <p:sp>
        <p:nvSpPr>
          <p:cNvPr id="55" name="Shape 52"/>
          <p:cNvSpPr/>
          <p:nvPr/>
        </p:nvSpPr>
        <p:spPr>
          <a:xfrm>
            <a:off x="9539288" y="5915025"/>
            <a:ext cx="7534275" cy="9525"/>
          </a:xfrm>
          <a:prstGeom prst="rect">
            <a:avLst/>
          </a:prstGeom>
          <a:solidFill>
            <a:srgbClr val="F7FAFC">
              <a:alpha val="10000"/>
            </a:srgbClr>
          </a:solidFill>
          <a:ln/>
        </p:spPr>
      </p:sp>
      <p:sp>
        <p:nvSpPr>
          <p:cNvPr id="56" name="Text 53"/>
          <p:cNvSpPr/>
          <p:nvPr/>
        </p:nvSpPr>
        <p:spPr>
          <a:xfrm>
            <a:off x="9539288" y="6038850"/>
            <a:ext cx="2120652" cy="295275"/>
          </a:xfrm>
          <a:prstGeom prst="rect">
            <a:avLst/>
          </a:prstGeom>
          <a:noFill/>
          <a:ln/>
        </p:spPr>
        <p:txBody>
          <a:bodyPr wrap="square" lIns="25400" tIns="25400" rIns="25400" bIns="25400" rtlCol="0" anchor="t">
            <a:normAutofit/>
          </a:bodyPr>
          <a:lstStyle/>
          <a:p>
            <a:pPr algn="l" indent="0" marL="0">
              <a:lnSpc>
                <a:spcPct val="150000"/>
              </a:lnSpc>
              <a:buNone/>
            </a:pPr>
            <a:r>
              <a:rPr lang="en-US" sz="1350" dirty="0">
                <a:solidFill>
                  <a:srgbClr val="F7FAFC">
                    <a:alpha val="78000"/>
                  </a:srgbClr>
                </a:solidFill>
                <a:latin typeface="Arial" pitchFamily="34" charset="0"/>
                <a:ea typeface="Arial" pitchFamily="34" charset="-122"/>
                <a:cs typeface="Arial" pitchFamily="34" charset="-120"/>
              </a:rPr>
              <a:t>Launch sub MRR × £15.80</a:t>
            </a:r>
            <a:endParaRPr lang="en-US" sz="1350" dirty="0"/>
          </a:p>
        </p:txBody>
      </p:sp>
      <p:sp>
        <p:nvSpPr>
          <p:cNvPr id="57" name="Text 54"/>
          <p:cNvSpPr/>
          <p:nvPr/>
        </p:nvSpPr>
        <p:spPr>
          <a:xfrm>
            <a:off x="16433378" y="6072188"/>
            <a:ext cx="716384"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F7FAFC"/>
                </a:solidFill>
                <a:latin typeface="Courier New" pitchFamily="34" charset="0"/>
                <a:ea typeface="Courier New" pitchFamily="34" charset="-122"/>
                <a:cs typeface="Courier New" pitchFamily="34" charset="-120"/>
              </a:rPr>
              <a:t>£27K/mo</a:t>
            </a:r>
            <a:endParaRPr lang="en-US" sz="1200" dirty="0"/>
          </a:p>
        </p:txBody>
      </p:sp>
      <p:sp>
        <p:nvSpPr>
          <p:cNvPr id="58" name="Shape 55"/>
          <p:cNvSpPr/>
          <p:nvPr/>
        </p:nvSpPr>
        <p:spPr>
          <a:xfrm>
            <a:off x="9539288" y="6415088"/>
            <a:ext cx="7534275" cy="9525"/>
          </a:xfrm>
          <a:prstGeom prst="rect">
            <a:avLst/>
          </a:prstGeom>
          <a:solidFill>
            <a:srgbClr val="F7FAFC">
              <a:alpha val="10000"/>
            </a:srgbClr>
          </a:solidFill>
          <a:ln/>
        </p:spPr>
      </p:sp>
      <p:sp>
        <p:nvSpPr>
          <p:cNvPr id="59" name="Text 56"/>
          <p:cNvSpPr/>
          <p:nvPr/>
        </p:nvSpPr>
        <p:spPr>
          <a:xfrm>
            <a:off x="9539288" y="6538913"/>
            <a:ext cx="1872407" cy="295275"/>
          </a:xfrm>
          <a:prstGeom prst="rect">
            <a:avLst/>
          </a:prstGeom>
          <a:noFill/>
          <a:ln/>
        </p:spPr>
        <p:txBody>
          <a:bodyPr wrap="square" lIns="25400" tIns="25400" rIns="25400" bIns="25400" rtlCol="0" anchor="t">
            <a:normAutofit/>
          </a:bodyPr>
          <a:lstStyle/>
          <a:p>
            <a:pPr algn="l" indent="0" marL="0">
              <a:lnSpc>
                <a:spcPct val="150000"/>
              </a:lnSpc>
              <a:buNone/>
            </a:pPr>
            <a:r>
              <a:rPr lang="en-US" sz="1350" dirty="0">
                <a:solidFill>
                  <a:srgbClr val="F7FAFC">
                    <a:alpha val="78000"/>
                  </a:srgbClr>
                </a:solidFill>
                <a:latin typeface="Arial" pitchFamily="34" charset="0"/>
                <a:ea typeface="Arial" pitchFamily="34" charset="-122"/>
                <a:cs typeface="Arial" pitchFamily="34" charset="-120"/>
              </a:rPr>
              <a:t>Growth sub MRR × £39</a:t>
            </a:r>
            <a:endParaRPr lang="en-US" sz="1350" dirty="0"/>
          </a:p>
        </p:txBody>
      </p:sp>
      <p:sp>
        <p:nvSpPr>
          <p:cNvPr id="60" name="Text 57"/>
          <p:cNvSpPr/>
          <p:nvPr/>
        </p:nvSpPr>
        <p:spPr>
          <a:xfrm>
            <a:off x="16250469" y="6572250"/>
            <a:ext cx="899294"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F7FAFC"/>
                </a:solidFill>
                <a:latin typeface="Courier New" pitchFamily="34" charset="0"/>
                <a:ea typeface="Courier New" pitchFamily="34" charset="-122"/>
                <a:cs typeface="Courier New" pitchFamily="34" charset="-120"/>
              </a:rPr>
              <a:t>£16.8K/mo</a:t>
            </a:r>
            <a:endParaRPr lang="en-US" sz="1200" dirty="0"/>
          </a:p>
        </p:txBody>
      </p:sp>
      <p:sp>
        <p:nvSpPr>
          <p:cNvPr id="61" name="Shape 58"/>
          <p:cNvSpPr/>
          <p:nvPr/>
        </p:nvSpPr>
        <p:spPr>
          <a:xfrm>
            <a:off x="9539288" y="6915150"/>
            <a:ext cx="7534275" cy="9525"/>
          </a:xfrm>
          <a:prstGeom prst="rect">
            <a:avLst/>
          </a:prstGeom>
          <a:solidFill>
            <a:srgbClr val="F7FAFC">
              <a:alpha val="10000"/>
            </a:srgbClr>
          </a:solidFill>
          <a:ln/>
        </p:spPr>
      </p:sp>
      <p:sp>
        <p:nvSpPr>
          <p:cNvPr id="62" name="Text 59"/>
          <p:cNvSpPr/>
          <p:nvPr/>
        </p:nvSpPr>
        <p:spPr>
          <a:xfrm>
            <a:off x="9539288" y="7038975"/>
            <a:ext cx="1324719" cy="295275"/>
          </a:xfrm>
          <a:prstGeom prst="rect">
            <a:avLst/>
          </a:prstGeom>
          <a:noFill/>
          <a:ln/>
        </p:spPr>
        <p:txBody>
          <a:bodyPr wrap="square" lIns="25400" tIns="25400" rIns="25400" bIns="25400" rtlCol="0" anchor="t">
            <a:normAutofit/>
          </a:bodyPr>
          <a:lstStyle/>
          <a:p>
            <a:pPr algn="l" indent="0" marL="0">
              <a:lnSpc>
                <a:spcPct val="150000"/>
              </a:lnSpc>
              <a:buNone/>
            </a:pPr>
            <a:r>
              <a:rPr lang="en-US" sz="1350" dirty="0">
                <a:solidFill>
                  <a:srgbClr val="F7FAFC">
                    <a:alpha val="78000"/>
                  </a:srgbClr>
                </a:solidFill>
                <a:latin typeface="Arial" pitchFamily="34" charset="0"/>
                <a:ea typeface="Arial" pitchFamily="34" charset="-122"/>
                <a:cs typeface="Arial" pitchFamily="34" charset="-120"/>
              </a:rPr>
              <a:t>Setup amortised</a:t>
            </a:r>
            <a:endParaRPr lang="en-US" sz="1350" dirty="0"/>
          </a:p>
        </p:txBody>
      </p:sp>
      <p:sp>
        <p:nvSpPr>
          <p:cNvPr id="63" name="Text 60"/>
          <p:cNvSpPr/>
          <p:nvPr/>
        </p:nvSpPr>
        <p:spPr>
          <a:xfrm>
            <a:off x="16341923" y="7072313"/>
            <a:ext cx="807839"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F7FAFC"/>
                </a:solidFill>
                <a:latin typeface="Courier New" pitchFamily="34" charset="0"/>
                <a:ea typeface="Courier New" pitchFamily="34" charset="-122"/>
                <a:cs typeface="Courier New" pitchFamily="34" charset="-120"/>
              </a:rPr>
              <a:t>~£20K/mo</a:t>
            </a:r>
            <a:endParaRPr lang="en-US" sz="1200" dirty="0"/>
          </a:p>
        </p:txBody>
      </p:sp>
      <p:sp>
        <p:nvSpPr>
          <p:cNvPr id="64" name="Shape 61"/>
          <p:cNvSpPr/>
          <p:nvPr/>
        </p:nvSpPr>
        <p:spPr>
          <a:xfrm>
            <a:off x="9539288" y="7415213"/>
            <a:ext cx="7534275" cy="9525"/>
          </a:xfrm>
          <a:prstGeom prst="rect">
            <a:avLst/>
          </a:prstGeom>
          <a:solidFill>
            <a:srgbClr val="F7FAFC">
              <a:alpha val="10000"/>
            </a:srgbClr>
          </a:solidFill>
          <a:ln/>
        </p:spPr>
      </p:sp>
      <p:sp>
        <p:nvSpPr>
          <p:cNvPr id="65" name="Text 62"/>
          <p:cNvSpPr/>
          <p:nvPr/>
        </p:nvSpPr>
        <p:spPr>
          <a:xfrm>
            <a:off x="9539288" y="7539037"/>
            <a:ext cx="1469380" cy="295275"/>
          </a:xfrm>
          <a:prstGeom prst="rect">
            <a:avLst/>
          </a:prstGeom>
          <a:noFill/>
          <a:ln/>
        </p:spPr>
        <p:txBody>
          <a:bodyPr wrap="square" lIns="25400" tIns="25400" rIns="25400" bIns="25400" rtlCol="0" anchor="t">
            <a:normAutofit/>
          </a:bodyPr>
          <a:lstStyle/>
          <a:p>
            <a:pPr algn="l" indent="0" marL="0">
              <a:lnSpc>
                <a:spcPct val="150000"/>
              </a:lnSpc>
              <a:buNone/>
            </a:pPr>
            <a:r>
              <a:rPr lang="en-US" sz="1350" dirty="0">
                <a:solidFill>
                  <a:srgbClr val="F7FAFC">
                    <a:alpha val="78000"/>
                  </a:srgbClr>
                </a:solidFill>
                <a:latin typeface="Arial" pitchFamily="34" charset="0"/>
                <a:ea typeface="Arial" pitchFamily="34" charset="-122"/>
                <a:cs typeface="Arial" pitchFamily="34" charset="-120"/>
              </a:rPr>
              <a:t>Overage + affiliate</a:t>
            </a:r>
            <a:endParaRPr lang="en-US" sz="1350" dirty="0"/>
          </a:p>
        </p:txBody>
      </p:sp>
      <p:sp>
        <p:nvSpPr>
          <p:cNvPr id="66" name="Text 63"/>
          <p:cNvSpPr/>
          <p:nvPr/>
        </p:nvSpPr>
        <p:spPr>
          <a:xfrm>
            <a:off x="16433378" y="7572375"/>
            <a:ext cx="716384"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F7FAFC"/>
                </a:solidFill>
                <a:latin typeface="Courier New" pitchFamily="34" charset="0"/>
                <a:ea typeface="Courier New" pitchFamily="34" charset="-122"/>
                <a:cs typeface="Courier New" pitchFamily="34" charset="-120"/>
              </a:rPr>
              <a:t>~£2K/mo</a:t>
            </a:r>
            <a:endParaRPr lang="en-US" sz="1200" dirty="0"/>
          </a:p>
        </p:txBody>
      </p:sp>
      <p:sp>
        <p:nvSpPr>
          <p:cNvPr id="67" name="Shape 64"/>
          <p:cNvSpPr/>
          <p:nvPr/>
        </p:nvSpPr>
        <p:spPr>
          <a:xfrm>
            <a:off x="9539288" y="7915275"/>
            <a:ext cx="7534275" cy="9525"/>
          </a:xfrm>
          <a:prstGeom prst="rect">
            <a:avLst/>
          </a:prstGeom>
          <a:solidFill>
            <a:srgbClr val="F7FAFC">
              <a:alpha val="10000"/>
            </a:srgbClr>
          </a:solidFill>
          <a:ln/>
        </p:spPr>
      </p:sp>
      <p:sp>
        <p:nvSpPr>
          <p:cNvPr id="68" name="Text 65"/>
          <p:cNvSpPr/>
          <p:nvPr/>
        </p:nvSpPr>
        <p:spPr>
          <a:xfrm>
            <a:off x="9539288" y="8039100"/>
            <a:ext cx="1791593" cy="295275"/>
          </a:xfrm>
          <a:prstGeom prst="rect">
            <a:avLst/>
          </a:prstGeom>
          <a:noFill/>
          <a:ln/>
        </p:spPr>
        <p:txBody>
          <a:bodyPr wrap="square" lIns="25400" tIns="25400" rIns="25400" bIns="25400" rtlCol="0" anchor="t">
            <a:normAutofit/>
          </a:bodyPr>
          <a:lstStyle/>
          <a:p>
            <a:pPr algn="l" indent="0" marL="0">
              <a:lnSpc>
                <a:spcPct val="150000"/>
              </a:lnSpc>
              <a:buNone/>
            </a:pPr>
            <a:r>
              <a:rPr lang="en-US" sz="1350" dirty="0">
                <a:solidFill>
                  <a:srgbClr val="F7FAFC">
                    <a:alpha val="78000"/>
                  </a:srgbClr>
                </a:solidFill>
                <a:latin typeface="Arial" pitchFamily="34" charset="0"/>
                <a:ea typeface="Arial" pitchFamily="34" charset="-122"/>
                <a:cs typeface="Arial" pitchFamily="34" charset="-120"/>
              </a:rPr>
              <a:t>Multi-region headroom</a:t>
            </a:r>
            <a:endParaRPr lang="en-US" sz="1350" dirty="0"/>
          </a:p>
        </p:txBody>
      </p:sp>
      <p:sp>
        <p:nvSpPr>
          <p:cNvPr id="69" name="Text 66"/>
          <p:cNvSpPr/>
          <p:nvPr/>
        </p:nvSpPr>
        <p:spPr>
          <a:xfrm>
            <a:off x="16707743" y="8072438"/>
            <a:ext cx="442020"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F7FAFC"/>
                </a:solidFill>
                <a:latin typeface="Courier New" pitchFamily="34" charset="0"/>
                <a:ea typeface="Courier New" pitchFamily="34" charset="-122"/>
                <a:cs typeface="Courier New" pitchFamily="34" charset="-120"/>
              </a:rPr>
              <a:t>~£4K</a:t>
            </a:r>
            <a:endParaRPr lang="en-US" sz="1200" dirty="0"/>
          </a:p>
        </p:txBody>
      </p:sp>
      <p:sp>
        <p:nvSpPr>
          <p:cNvPr id="70" name="Shape 67"/>
          <p:cNvSpPr/>
          <p:nvPr/>
        </p:nvSpPr>
        <p:spPr>
          <a:xfrm>
            <a:off x="9539288" y="8510588"/>
            <a:ext cx="7534275" cy="19050"/>
          </a:xfrm>
          <a:prstGeom prst="rect">
            <a:avLst/>
          </a:prstGeom>
          <a:solidFill>
            <a:srgbClr val="C8C0F8"/>
          </a:solidFill>
          <a:ln/>
        </p:spPr>
      </p:sp>
      <p:sp>
        <p:nvSpPr>
          <p:cNvPr id="71" name="Text 68"/>
          <p:cNvSpPr/>
          <p:nvPr/>
        </p:nvSpPr>
        <p:spPr>
          <a:xfrm>
            <a:off x="9539288" y="9043988"/>
            <a:ext cx="967904" cy="223838"/>
          </a:xfrm>
          <a:prstGeom prst="rect">
            <a:avLst/>
          </a:prstGeom>
          <a:noFill/>
          <a:ln/>
        </p:spPr>
        <p:txBody>
          <a:bodyPr wrap="square" lIns="25400" tIns="25400" rIns="25400" bIns="25400" rtlCol="0" anchor="t">
            <a:normAutofit/>
          </a:bodyPr>
          <a:lstStyle/>
          <a:p>
            <a:pPr algn="l" indent="0" marL="0">
              <a:lnSpc>
                <a:spcPct val="150000"/>
              </a:lnSpc>
              <a:buNone/>
            </a:pPr>
            <a:r>
              <a:rPr lang="en-US" sz="975" spc="117" kern="0" dirty="0">
                <a:solidFill>
                  <a:srgbClr val="F7FAFC">
                    <a:alpha val="50000"/>
                  </a:srgbClr>
                </a:solidFill>
                <a:latin typeface="Courier New" pitchFamily="34" charset="0"/>
                <a:ea typeface="Courier New" pitchFamily="34" charset="-122"/>
                <a:cs typeface="Courier New" pitchFamily="34" charset="-120"/>
              </a:rPr>
              <a:t>M18 UPSIDE</a:t>
            </a:r>
            <a:endParaRPr lang="en-US" sz="975" dirty="0"/>
          </a:p>
        </p:txBody>
      </p:sp>
      <p:sp>
        <p:nvSpPr>
          <p:cNvPr id="72" name="Text 69"/>
          <p:cNvSpPr/>
          <p:nvPr/>
        </p:nvSpPr>
        <p:spPr>
          <a:xfrm>
            <a:off x="15388679" y="8662988"/>
            <a:ext cx="1761083" cy="723900"/>
          </a:xfrm>
          <a:prstGeom prst="rect">
            <a:avLst/>
          </a:prstGeom>
          <a:noFill/>
          <a:ln/>
        </p:spPr>
        <p:txBody>
          <a:bodyPr wrap="square" lIns="25400" tIns="25400" rIns="25400" bIns="25400" rtlCol="0" anchor="t">
            <a:normAutofit/>
          </a:bodyPr>
          <a:lstStyle/>
          <a:p>
            <a:pPr algn="l" indent="0" marL="0">
              <a:lnSpc>
                <a:spcPct val="150000"/>
              </a:lnSpc>
              <a:buNone/>
            </a:pPr>
            <a:r>
              <a:rPr lang="en-US" sz="3600" b="1" spc="-108" kern="0" dirty="0">
                <a:solidFill>
                  <a:srgbClr val="C8C0F8"/>
                </a:solidFill>
                <a:latin typeface="Arial" pitchFamily="34" charset="0"/>
                <a:ea typeface="Arial" pitchFamily="34" charset="-122"/>
                <a:cs typeface="Arial" pitchFamily="34" charset="-120"/>
              </a:rPr>
              <a:t>~£380K</a:t>
            </a:r>
            <a:endParaRPr lang="en-US" sz="3600" dirty="0"/>
          </a:p>
        </p:txBody>
      </p:sp>
      <p:sp>
        <p:nvSpPr>
          <p:cNvPr id="73" name="Text 70"/>
          <p:cNvSpPr/>
          <p:nvPr/>
        </p:nvSpPr>
        <p:spPr>
          <a:xfrm>
            <a:off x="914400" y="9858375"/>
            <a:ext cx="16952976" cy="274290"/>
          </a:xfrm>
          <a:prstGeom prst="rect">
            <a:avLst/>
          </a:prstGeom>
          <a:noFill/>
          <a:ln/>
        </p:spPr>
        <p:txBody>
          <a:bodyPr wrap="square" lIns="25400" tIns="25400" rIns="25400" bIns="25400" rtlCol="0" anchor="t">
            <a:normAutofit/>
          </a:bodyPr>
          <a:lstStyle/>
          <a:p>
            <a:pPr algn="l" indent="0" marL="0">
              <a:lnSpc>
                <a:spcPct val="155000"/>
              </a:lnSpc>
              <a:buNone/>
            </a:pPr>
            <a:r>
              <a:rPr lang="en-US" sz="1200" spc="48" kern="0" dirty="0">
                <a:solidFill>
                  <a:srgbClr val="6E7785"/>
                </a:solidFill>
                <a:latin typeface="Courier New" pitchFamily="34" charset="0"/>
                <a:ea typeface="Courier New" pitchFamily="34" charset="-122"/>
                <a:cs typeface="Courier New" pitchFamily="34" charset="-120"/>
              </a:rPr>
              <a:t>Pessimistic case (3% conv., 5% churn) lands ~£60K M18. Sprint base = 5% conv. / 3% churn. Sprint upside adds paid-acquisition lift on top.</a:t>
            </a:r>
            <a:endParaRPr lang="en-US" sz="1200" dirty="0"/>
          </a:p>
        </p:txBody>
      </p:sp>
      <p:sp>
        <p:nvSpPr>
          <p:cNvPr id="74" name="Shape 71"/>
          <p:cNvSpPr/>
          <p:nvPr/>
        </p:nvSpPr>
        <p:spPr>
          <a:xfrm>
            <a:off x="914400" y="10246965"/>
            <a:ext cx="16459200" cy="9525"/>
          </a:xfrm>
          <a:prstGeom prst="rect">
            <a:avLst/>
          </a:prstGeom>
          <a:solidFill>
            <a:srgbClr val="DDE5EC"/>
          </a:solidFill>
          <a:ln/>
        </p:spPr>
      </p:sp>
      <p:sp>
        <p:nvSpPr>
          <p:cNvPr id="75" name="Text 72"/>
          <p:cNvSpPr/>
          <p:nvPr/>
        </p:nvSpPr>
        <p:spPr>
          <a:xfrm>
            <a:off x="914400" y="10492234"/>
            <a:ext cx="4533256"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113" kern="0" dirty="0">
                <a:solidFill>
                  <a:srgbClr val="6E7785"/>
                </a:solidFill>
                <a:latin typeface="Courier New" pitchFamily="34" charset="0"/>
                <a:ea typeface="Courier New" pitchFamily="34" charset="-122"/>
                <a:cs typeface="Courier New" pitchFamily="34" charset="-120"/>
              </a:rPr>
              <a:t>HATCHIK · INVESTOR &amp; PARTNER DECK · MAY 2026</a:t>
            </a:r>
            <a:endParaRPr lang="en-US" sz="1125" dirty="0"/>
          </a:p>
        </p:txBody>
      </p:sp>
      <p:sp>
        <p:nvSpPr>
          <p:cNvPr id="76" name="Text 73"/>
          <p:cNvSpPr/>
          <p:nvPr/>
        </p:nvSpPr>
        <p:spPr>
          <a:xfrm>
            <a:off x="16690851" y="10485090"/>
            <a:ext cx="758949"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spc="48" kern="0" dirty="0">
                <a:solidFill>
                  <a:srgbClr val="0F1419"/>
                </a:solidFill>
                <a:latin typeface="Courier New" pitchFamily="34" charset="0"/>
                <a:ea typeface="Courier New" pitchFamily="34" charset="-122"/>
                <a:cs typeface="Courier New" pitchFamily="34" charset="-120"/>
              </a:rPr>
              <a:t>26 / 31</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5B47F0">
              <a:alpha val="4000"/>
            </a:srgbClr>
          </a:solidFill>
          <a:ln/>
        </p:spPr>
      </p:sp>
      <p:sp>
        <p:nvSpPr>
          <p:cNvPr id="3" name="Shape 1"/>
          <p:cNvSpPr/>
          <p:nvPr/>
        </p:nvSpPr>
        <p:spPr>
          <a:xfrm>
            <a:off x="914400" y="1009650"/>
            <a:ext cx="16459200" cy="9525"/>
          </a:xfrm>
          <a:prstGeom prst="rect">
            <a:avLst/>
          </a:prstGeom>
          <a:solidFill>
            <a:srgbClr val="DDE5EC"/>
          </a:solidFill>
          <a:ln/>
        </p:spPr>
      </p:sp>
      <p:pic>
        <p:nvPicPr>
          <p:cNvPr id="4" name="Image 0" descr="preencoded.png">    </p:cNvPr>
          <p:cNvPicPr>
            <a:picLocks noChangeAspect="1"/>
          </p:cNvPicPr>
          <p:nvPr/>
        </p:nvPicPr>
        <p:blipFill>
          <a:blip r:embed="rId1"/>
          <a:stretch>
            <a:fillRect/>
          </a:stretch>
        </p:blipFill>
        <p:spPr>
          <a:xfrm>
            <a:off x="914400" y="571500"/>
            <a:ext cx="209550" cy="209550"/>
          </a:xfrm>
          <a:prstGeom prst="rect">
            <a:avLst/>
          </a:prstGeom>
        </p:spPr>
      </p:pic>
      <p:sp>
        <p:nvSpPr>
          <p:cNvPr id="5" name="Text 2"/>
          <p:cNvSpPr/>
          <p:nvPr/>
        </p:nvSpPr>
        <p:spPr>
          <a:xfrm>
            <a:off x="1219200" y="533400"/>
            <a:ext cx="745108"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spc="-37" kern="0" dirty="0">
                <a:solidFill>
                  <a:srgbClr val="0F1419"/>
                </a:solidFill>
                <a:latin typeface="Arial" pitchFamily="34" charset="0"/>
                <a:ea typeface="Arial" pitchFamily="34" charset="-122"/>
                <a:cs typeface="Arial" pitchFamily="34" charset="-120"/>
              </a:rPr>
              <a:t>hatchik</a:t>
            </a:r>
            <a:endParaRPr lang="en-US" sz="1500" dirty="0"/>
          </a:p>
        </p:txBody>
      </p:sp>
      <p:sp>
        <p:nvSpPr>
          <p:cNvPr id="6" name="Text 3"/>
          <p:cNvSpPr/>
          <p:nvPr/>
        </p:nvSpPr>
        <p:spPr>
          <a:xfrm>
            <a:off x="14485144" y="562421"/>
            <a:ext cx="2975110" cy="265733"/>
          </a:xfrm>
          <a:prstGeom prst="rect">
            <a:avLst/>
          </a:prstGeom>
          <a:noFill/>
          <a:ln/>
        </p:spPr>
        <p:txBody>
          <a:bodyPr wrap="square" lIns="25400" tIns="25400" rIns="25400" bIns="25400" rtlCol="0" anchor="t">
            <a:normAutofit/>
          </a:bodyPr>
          <a:lstStyle/>
          <a:p>
            <a:pPr algn="l" indent="0" marL="0">
              <a:lnSpc>
                <a:spcPct val="140000"/>
              </a:lnSpc>
              <a:buNone/>
            </a:pPr>
            <a:r>
              <a:rPr lang="en-US" sz="1200" spc="120" kern="0" dirty="0">
                <a:solidFill>
                  <a:srgbClr val="0F1419"/>
                </a:solidFill>
                <a:latin typeface="Courier New" pitchFamily="34" charset="0"/>
                <a:ea typeface="Courier New" pitchFamily="34" charset="-122"/>
                <a:cs typeface="Courier New" pitchFamily="34" charset="-120"/>
              </a:rPr>
              <a:t>27 </a:t>
            </a:r>
            <a:pPr algn="l" indent="0" marL="0">
              <a:lnSpc>
                <a:spcPct val="140000"/>
              </a:lnSpc>
              <a:buNone/>
            </a:pPr>
            <a:r>
              <a:rPr lang="en-US" sz="1200" spc="120" kern="0" dirty="0">
                <a:solidFill>
                  <a:srgbClr val="5B47F0"/>
                </a:solidFill>
                <a:latin typeface="Courier New" pitchFamily="34" charset="0"/>
                <a:ea typeface="Courier New" pitchFamily="34" charset="-122"/>
                <a:cs typeface="Courier New" pitchFamily="34" charset="-120"/>
              </a:rPr>
              <a:t>· </a:t>
            </a:r>
            <a:pPr algn="l" indent="0" marL="0">
              <a:lnSpc>
                <a:spcPct val="140000"/>
              </a:lnSpc>
              <a:buNone/>
            </a:pPr>
            <a:r>
              <a:rPr lang="en-US" sz="1200" spc="120" kern="0" dirty="0">
                <a:solidFill>
                  <a:srgbClr val="6E7785"/>
                </a:solidFill>
                <a:latin typeface="Courier New" pitchFamily="34" charset="0"/>
                <a:ea typeface="Courier New" pitchFamily="34" charset="-122"/>
                <a:cs typeface="Courier New" pitchFamily="34" charset="-120"/>
              </a:rPr>
              <a:t>APPENDIX · USE OF FUNDS</a:t>
            </a:r>
            <a:endParaRPr lang="en-US" sz="1200" dirty="0"/>
          </a:p>
        </p:txBody>
      </p:sp>
      <p:sp>
        <p:nvSpPr>
          <p:cNvPr id="7" name="Text 4"/>
          <p:cNvSpPr/>
          <p:nvPr/>
        </p:nvSpPr>
        <p:spPr>
          <a:xfrm>
            <a:off x="914400" y="1438275"/>
            <a:ext cx="15893415" cy="533400"/>
          </a:xfrm>
          <a:prstGeom prst="rect">
            <a:avLst/>
          </a:prstGeom>
          <a:noFill/>
          <a:ln/>
        </p:spPr>
        <p:txBody>
          <a:bodyPr wrap="square" lIns="25400" tIns="25400" rIns="25400" bIns="25400" rtlCol="0" anchor="t">
            <a:normAutofit/>
          </a:bodyPr>
          <a:lstStyle/>
          <a:p>
            <a:pPr algn="l" indent="0" marL="0">
              <a:lnSpc>
                <a:spcPct val="100000"/>
              </a:lnSpc>
              <a:buNone/>
            </a:pPr>
            <a:r>
              <a:rPr lang="en-US" sz="3900" b="1" spc="-156" kern="0" dirty="0">
                <a:solidFill>
                  <a:srgbClr val="0F1419"/>
                </a:solidFill>
                <a:latin typeface="Arial" pitchFamily="34" charset="0"/>
                <a:ea typeface="Arial" pitchFamily="34" charset="-122"/>
                <a:cs typeface="Arial" pitchFamily="34" charset="-120"/>
              </a:rPr>
              <a:t>How the raise is spent. </a:t>
            </a:r>
            <a:pPr algn="l" indent="0" marL="0">
              <a:lnSpc>
                <a:spcPct val="100000"/>
              </a:lnSpc>
              <a:buNone/>
            </a:pPr>
            <a:r>
              <a:rPr lang="en-US" sz="3900" b="1" spc="-156" kern="0" dirty="0">
                <a:solidFill>
                  <a:srgbClr val="5B47F0"/>
                </a:solidFill>
                <a:latin typeface="Arial" pitchFamily="34" charset="0"/>
                <a:ea typeface="Arial" pitchFamily="34" charset="-122"/>
                <a:cs typeface="Arial" pitchFamily="34" charset="-120"/>
              </a:rPr>
              <a:t>By line item.</a:t>
            </a:r>
            <a:endParaRPr lang="en-US" sz="3900" dirty="0"/>
          </a:p>
        </p:txBody>
      </p:sp>
      <p:sp>
        <p:nvSpPr>
          <p:cNvPr id="8" name="Text 5"/>
          <p:cNvSpPr/>
          <p:nvPr/>
        </p:nvSpPr>
        <p:spPr>
          <a:xfrm>
            <a:off x="914400" y="2200275"/>
            <a:ext cx="12950190"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dirty="0">
                <a:solidFill>
                  <a:srgbClr val="2A3340"/>
                </a:solidFill>
                <a:latin typeface="Arial" pitchFamily="34" charset="0"/>
                <a:ea typeface="Arial" pitchFamily="34" charset="-122"/>
                <a:cs typeface="Arial" pitchFamily="34" charset="-120"/>
              </a:rPr>
              <a:t>Modelled at the £700K midpoint of the £500K–£1M range. Scales linearly above and below.</a:t>
            </a:r>
            <a:endParaRPr lang="en-US" sz="1500" dirty="0"/>
          </a:p>
        </p:txBody>
      </p:sp>
      <p:sp>
        <p:nvSpPr>
          <p:cNvPr id="9" name="Shape 6"/>
          <p:cNvSpPr/>
          <p:nvPr/>
        </p:nvSpPr>
        <p:spPr>
          <a:xfrm>
            <a:off x="914400" y="2819400"/>
            <a:ext cx="16459200" cy="2457450"/>
          </a:xfrm>
          <a:prstGeom prst="roundRect">
            <a:avLst>
              <a:gd name="adj" fmla="val 4651"/>
            </a:avLst>
          </a:prstGeom>
          <a:solidFill>
            <a:srgbClr val="FFFFFF"/>
          </a:solidFill>
          <a:ln w="14288">
            <a:solidFill>
              <a:srgbClr val="DDE5EC"/>
            </a:solidFill>
            <a:prstDash val="solid"/>
          </a:ln>
          <a:effectLst>
            <a:outerShdw sx="100000" sy="100000" kx="0" ky="0" algn="bl" rotWithShape="0" blurRad="28575" dist="9525" dir="5400000">
              <a:srgbClr val="0F1419">
                <a:alpha val="4000"/>
              </a:srgbClr>
            </a:outerShdw>
          </a:effectLst>
        </p:spPr>
      </p:sp>
      <p:sp>
        <p:nvSpPr>
          <p:cNvPr id="10" name="Text 7"/>
          <p:cNvSpPr/>
          <p:nvPr/>
        </p:nvSpPr>
        <p:spPr>
          <a:xfrm>
            <a:off x="1176338" y="3043238"/>
            <a:ext cx="1736675" cy="289545"/>
          </a:xfrm>
          <a:prstGeom prst="rect">
            <a:avLst/>
          </a:prstGeom>
          <a:noFill/>
          <a:ln/>
        </p:spPr>
        <p:txBody>
          <a:bodyPr wrap="square" lIns="25400" tIns="25400" rIns="25400" bIns="25400" rtlCol="0" anchor="t">
            <a:normAutofit/>
          </a:bodyPr>
          <a:lstStyle/>
          <a:p>
            <a:pPr algn="l" indent="0" marL="0">
              <a:lnSpc>
                <a:spcPct val="110000"/>
              </a:lnSpc>
              <a:buNone/>
            </a:pPr>
            <a:r>
              <a:rPr lang="en-US" sz="1800" b="1" spc="-36" kern="0" dirty="0">
                <a:solidFill>
                  <a:srgbClr val="0F1419"/>
                </a:solidFill>
                <a:latin typeface="Arial" pitchFamily="34" charset="0"/>
                <a:ea typeface="Arial" pitchFamily="34" charset="-122"/>
                <a:cs typeface="Arial" pitchFamily="34" charset="-120"/>
              </a:rPr>
              <a:t>Paid acquisition</a:t>
            </a:r>
            <a:endParaRPr lang="en-US" sz="1800" dirty="0"/>
          </a:p>
        </p:txBody>
      </p:sp>
      <p:sp>
        <p:nvSpPr>
          <p:cNvPr id="11" name="Text 8"/>
          <p:cNvSpPr/>
          <p:nvPr/>
        </p:nvSpPr>
        <p:spPr>
          <a:xfrm>
            <a:off x="16038537" y="3081338"/>
            <a:ext cx="1149325" cy="280988"/>
          </a:xfrm>
          <a:prstGeom prst="rect">
            <a:avLst/>
          </a:prstGeom>
          <a:noFill/>
          <a:ln/>
        </p:spPr>
        <p:txBody>
          <a:bodyPr wrap="square" lIns="25400" tIns="25400" rIns="25400" bIns="25400" rtlCol="0" anchor="t">
            <a:normAutofit/>
          </a:bodyPr>
          <a:lstStyle/>
          <a:p>
            <a:pPr algn="l" indent="0" marL="0">
              <a:lnSpc>
                <a:spcPct val="150000"/>
              </a:lnSpc>
              <a:buNone/>
            </a:pPr>
            <a:r>
              <a:rPr lang="en-US" sz="1200" b="1" spc="48" kern="0" dirty="0">
                <a:solidFill>
                  <a:srgbClr val="0F1419"/>
                </a:solidFill>
                <a:latin typeface="Courier New" pitchFamily="34" charset="0"/>
                <a:ea typeface="Courier New" pitchFamily="34" charset="-122"/>
                <a:cs typeface="Courier New" pitchFamily="34" charset="-120"/>
              </a:rPr>
              <a:t>60% </a:t>
            </a:r>
            <a:pPr algn="l" indent="0" marL="0">
              <a:lnSpc>
                <a:spcPct val="150000"/>
              </a:lnSpc>
              <a:buNone/>
            </a:pPr>
            <a:r>
              <a:rPr lang="en-US" sz="1200" spc="48" kern="0" dirty="0">
                <a:solidFill>
                  <a:srgbClr val="0F1419"/>
                </a:solidFill>
                <a:latin typeface="Courier New" pitchFamily="34" charset="0"/>
                <a:ea typeface="Courier New" pitchFamily="34" charset="-122"/>
                <a:cs typeface="Courier New" pitchFamily="34" charset="-120"/>
              </a:rPr>
              <a:t>· £420K</a:t>
            </a:r>
            <a:endParaRPr lang="en-US" sz="1200" dirty="0"/>
          </a:p>
        </p:txBody>
      </p:sp>
      <p:sp>
        <p:nvSpPr>
          <p:cNvPr id="12" name="Shape 9"/>
          <p:cNvSpPr/>
          <p:nvPr/>
        </p:nvSpPr>
        <p:spPr>
          <a:xfrm>
            <a:off x="1176338" y="3457575"/>
            <a:ext cx="15935325" cy="95250"/>
          </a:xfrm>
          <a:prstGeom prst="roundRect">
            <a:avLst>
              <a:gd name="adj" fmla="val 50000"/>
            </a:avLst>
          </a:prstGeom>
          <a:solidFill>
            <a:srgbClr val="DDE5EC"/>
          </a:solidFill>
          <a:ln/>
        </p:spPr>
      </p:sp>
      <p:sp>
        <p:nvSpPr>
          <p:cNvPr id="13" name="Shape 10"/>
          <p:cNvSpPr/>
          <p:nvPr/>
        </p:nvSpPr>
        <p:spPr>
          <a:xfrm>
            <a:off x="1176338" y="3457575"/>
            <a:ext cx="9561165" cy="95250"/>
          </a:xfrm>
          <a:prstGeom prst="roundRect">
            <a:avLst>
              <a:gd name="adj" fmla="val 50000"/>
            </a:avLst>
          </a:prstGeom>
          <a:solidFill>
            <a:srgbClr val="6E5BF5"/>
          </a:solidFill>
          <a:ln/>
        </p:spPr>
      </p:sp>
      <p:sp>
        <p:nvSpPr>
          <p:cNvPr id="14" name="Text 11"/>
          <p:cNvSpPr/>
          <p:nvPr/>
        </p:nvSpPr>
        <p:spPr>
          <a:xfrm>
            <a:off x="1176338" y="3771900"/>
            <a:ext cx="3133078" cy="280988"/>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2A3340"/>
                </a:solidFill>
                <a:latin typeface="Arial" pitchFamily="34" charset="0"/>
                <a:ea typeface="Arial" pitchFamily="34" charset="-122"/>
                <a:cs typeface="Arial" pitchFamily="34" charset="-120"/>
              </a:rPr>
              <a:t>Creator sponsorships (Theo, Fireship-adj.)</a:t>
            </a:r>
            <a:endParaRPr lang="en-US" sz="1275" dirty="0"/>
          </a:p>
        </p:txBody>
      </p:sp>
      <p:sp>
        <p:nvSpPr>
          <p:cNvPr id="15" name="Text 12"/>
          <p:cNvSpPr/>
          <p:nvPr/>
        </p:nvSpPr>
        <p:spPr>
          <a:xfrm>
            <a:off x="8553376" y="3795713"/>
            <a:ext cx="533474"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0F1419"/>
                </a:solidFill>
                <a:latin typeface="Courier New" pitchFamily="34" charset="0"/>
                <a:ea typeface="Courier New" pitchFamily="34" charset="-122"/>
                <a:cs typeface="Courier New" pitchFamily="34" charset="-120"/>
              </a:rPr>
              <a:t>£180K</a:t>
            </a:r>
            <a:endParaRPr lang="en-US" sz="1200" dirty="0"/>
          </a:p>
        </p:txBody>
      </p:sp>
      <p:sp>
        <p:nvSpPr>
          <p:cNvPr id="16" name="Text 13"/>
          <p:cNvSpPr/>
          <p:nvPr/>
        </p:nvSpPr>
        <p:spPr>
          <a:xfrm>
            <a:off x="9277350" y="3771900"/>
            <a:ext cx="2664079" cy="280988"/>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2A3340"/>
                </a:solidFill>
                <a:latin typeface="Arial" pitchFamily="34" charset="0"/>
                <a:ea typeface="Arial" pitchFamily="34" charset="-122"/>
                <a:cs typeface="Arial" pitchFamily="34" charset="-120"/>
              </a:rPr>
              <a:t>Retargeted paid (Meta, X, YouTube)</a:t>
            </a:r>
            <a:endParaRPr lang="en-US" sz="1275" dirty="0"/>
          </a:p>
        </p:txBody>
      </p:sp>
      <p:sp>
        <p:nvSpPr>
          <p:cNvPr id="17" name="Text 14"/>
          <p:cNvSpPr/>
          <p:nvPr/>
        </p:nvSpPr>
        <p:spPr>
          <a:xfrm>
            <a:off x="16654388" y="3795713"/>
            <a:ext cx="533474"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0F1419"/>
                </a:solidFill>
                <a:latin typeface="Courier New" pitchFamily="34" charset="0"/>
                <a:ea typeface="Courier New" pitchFamily="34" charset="-122"/>
                <a:cs typeface="Courier New" pitchFamily="34" charset="-120"/>
              </a:rPr>
              <a:t>£140K</a:t>
            </a:r>
            <a:endParaRPr lang="en-US" sz="1200" dirty="0"/>
          </a:p>
        </p:txBody>
      </p:sp>
      <p:sp>
        <p:nvSpPr>
          <p:cNvPr id="18" name="Shape 15"/>
          <p:cNvSpPr/>
          <p:nvPr/>
        </p:nvSpPr>
        <p:spPr>
          <a:xfrm>
            <a:off x="1176338" y="4148137"/>
            <a:ext cx="7834313" cy="9525"/>
          </a:xfrm>
          <a:prstGeom prst="rect">
            <a:avLst/>
          </a:prstGeom>
          <a:solidFill>
            <a:srgbClr val="DDE5EC"/>
          </a:solidFill>
          <a:ln/>
        </p:spPr>
      </p:sp>
      <p:sp>
        <p:nvSpPr>
          <p:cNvPr id="19" name="Text 16"/>
          <p:cNvSpPr/>
          <p:nvPr/>
        </p:nvSpPr>
        <p:spPr>
          <a:xfrm>
            <a:off x="1176338" y="4243388"/>
            <a:ext cx="2743408" cy="280988"/>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2A3340"/>
                </a:solidFill>
                <a:latin typeface="Arial" pitchFamily="34" charset="0"/>
                <a:ea typeface="Arial" pitchFamily="34" charset="-122"/>
                <a:cs typeface="Arial" pitchFamily="34" charset="-120"/>
              </a:rPr>
              <a:t>Newsletter sponsorships (TLDR, HN)</a:t>
            </a:r>
            <a:endParaRPr lang="en-US" sz="1275" dirty="0"/>
          </a:p>
        </p:txBody>
      </p:sp>
      <p:sp>
        <p:nvSpPr>
          <p:cNvPr id="20" name="Text 17"/>
          <p:cNvSpPr/>
          <p:nvPr/>
        </p:nvSpPr>
        <p:spPr>
          <a:xfrm>
            <a:off x="8644830" y="4267200"/>
            <a:ext cx="442020"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0F1419"/>
                </a:solidFill>
                <a:latin typeface="Courier New" pitchFamily="34" charset="0"/>
                <a:ea typeface="Courier New" pitchFamily="34" charset="-122"/>
                <a:cs typeface="Courier New" pitchFamily="34" charset="-120"/>
              </a:rPr>
              <a:t>£50K</a:t>
            </a:r>
            <a:endParaRPr lang="en-US" sz="1200" dirty="0"/>
          </a:p>
        </p:txBody>
      </p:sp>
      <p:sp>
        <p:nvSpPr>
          <p:cNvPr id="21" name="Shape 18"/>
          <p:cNvSpPr/>
          <p:nvPr/>
        </p:nvSpPr>
        <p:spPr>
          <a:xfrm>
            <a:off x="9277350" y="4148137"/>
            <a:ext cx="7834313" cy="9525"/>
          </a:xfrm>
          <a:prstGeom prst="rect">
            <a:avLst/>
          </a:prstGeom>
          <a:solidFill>
            <a:srgbClr val="DDE5EC"/>
          </a:solidFill>
          <a:ln/>
        </p:spPr>
      </p:sp>
      <p:sp>
        <p:nvSpPr>
          <p:cNvPr id="22" name="Text 19"/>
          <p:cNvSpPr/>
          <p:nvPr/>
        </p:nvSpPr>
        <p:spPr>
          <a:xfrm>
            <a:off x="9277350" y="4243388"/>
            <a:ext cx="2502024" cy="280988"/>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2A3340"/>
                </a:solidFill>
                <a:latin typeface="Arial" pitchFamily="34" charset="0"/>
                <a:ea typeface="Arial" pitchFamily="34" charset="-122"/>
                <a:cs typeface="Arial" pitchFamily="34" charset="-120"/>
              </a:rPr>
              <a:t>Conference + indie-hacker events</a:t>
            </a:r>
            <a:endParaRPr lang="en-US" sz="1275" dirty="0"/>
          </a:p>
        </p:txBody>
      </p:sp>
      <p:sp>
        <p:nvSpPr>
          <p:cNvPr id="23" name="Text 20"/>
          <p:cNvSpPr/>
          <p:nvPr/>
        </p:nvSpPr>
        <p:spPr>
          <a:xfrm>
            <a:off x="16745843" y="4267200"/>
            <a:ext cx="442020"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0F1419"/>
                </a:solidFill>
                <a:latin typeface="Courier New" pitchFamily="34" charset="0"/>
                <a:ea typeface="Courier New" pitchFamily="34" charset="-122"/>
                <a:cs typeface="Courier New" pitchFamily="34" charset="-120"/>
              </a:rPr>
              <a:t>£30K</a:t>
            </a:r>
            <a:endParaRPr lang="en-US" sz="1200" dirty="0"/>
          </a:p>
        </p:txBody>
      </p:sp>
      <p:sp>
        <p:nvSpPr>
          <p:cNvPr id="24" name="Shape 21"/>
          <p:cNvSpPr/>
          <p:nvPr/>
        </p:nvSpPr>
        <p:spPr>
          <a:xfrm>
            <a:off x="1176338" y="4619625"/>
            <a:ext cx="7834313" cy="9525"/>
          </a:xfrm>
          <a:prstGeom prst="rect">
            <a:avLst/>
          </a:prstGeom>
          <a:solidFill>
            <a:srgbClr val="DDE5EC"/>
          </a:solidFill>
          <a:ln/>
        </p:spPr>
      </p:sp>
      <p:sp>
        <p:nvSpPr>
          <p:cNvPr id="25" name="Text 22"/>
          <p:cNvSpPr/>
          <p:nvPr/>
        </p:nvSpPr>
        <p:spPr>
          <a:xfrm>
            <a:off x="1176338" y="4714875"/>
            <a:ext cx="1972270" cy="280988"/>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2A3340"/>
                </a:solidFill>
                <a:latin typeface="Arial" pitchFamily="34" charset="0"/>
                <a:ea typeface="Arial" pitchFamily="34" charset="-122"/>
                <a:cs typeface="Arial" pitchFamily="34" charset="-120"/>
              </a:rPr>
              <a:t>Affiliate / referral bootstrap</a:t>
            </a:r>
            <a:endParaRPr lang="en-US" sz="1275" dirty="0"/>
          </a:p>
        </p:txBody>
      </p:sp>
      <p:sp>
        <p:nvSpPr>
          <p:cNvPr id="26" name="Text 23"/>
          <p:cNvSpPr/>
          <p:nvPr/>
        </p:nvSpPr>
        <p:spPr>
          <a:xfrm>
            <a:off x="8644830" y="4738688"/>
            <a:ext cx="442020"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0F1419"/>
                </a:solidFill>
                <a:latin typeface="Courier New" pitchFamily="34" charset="0"/>
                <a:ea typeface="Courier New" pitchFamily="34" charset="-122"/>
                <a:cs typeface="Courier New" pitchFamily="34" charset="-120"/>
              </a:rPr>
              <a:t>£20K</a:t>
            </a:r>
            <a:endParaRPr lang="en-US" sz="1200" dirty="0"/>
          </a:p>
        </p:txBody>
      </p:sp>
      <p:sp>
        <p:nvSpPr>
          <p:cNvPr id="27" name="Shape 24"/>
          <p:cNvSpPr/>
          <p:nvPr/>
        </p:nvSpPr>
        <p:spPr>
          <a:xfrm>
            <a:off x="914400" y="5429250"/>
            <a:ext cx="16459200" cy="1985963"/>
          </a:xfrm>
          <a:prstGeom prst="roundRect">
            <a:avLst>
              <a:gd name="adj" fmla="val 5755"/>
            </a:avLst>
          </a:prstGeom>
          <a:solidFill>
            <a:srgbClr val="FFFFFF"/>
          </a:solidFill>
          <a:ln w="14288">
            <a:solidFill>
              <a:srgbClr val="DDE5EC"/>
            </a:solidFill>
            <a:prstDash val="solid"/>
          </a:ln>
          <a:effectLst>
            <a:outerShdw sx="100000" sy="100000" kx="0" ky="0" algn="bl" rotWithShape="0" blurRad="28575" dist="9525" dir="5400000">
              <a:srgbClr val="0F1419">
                <a:alpha val="4000"/>
              </a:srgbClr>
            </a:outerShdw>
          </a:effectLst>
        </p:spPr>
      </p:sp>
      <p:sp>
        <p:nvSpPr>
          <p:cNvPr id="28" name="Text 25"/>
          <p:cNvSpPr/>
          <p:nvPr/>
        </p:nvSpPr>
        <p:spPr>
          <a:xfrm>
            <a:off x="1176338" y="5653088"/>
            <a:ext cx="2443609" cy="289545"/>
          </a:xfrm>
          <a:prstGeom prst="rect">
            <a:avLst/>
          </a:prstGeom>
          <a:noFill/>
          <a:ln/>
        </p:spPr>
        <p:txBody>
          <a:bodyPr wrap="square" lIns="25400" tIns="25400" rIns="25400" bIns="25400" rtlCol="0" anchor="t">
            <a:normAutofit/>
          </a:bodyPr>
          <a:lstStyle/>
          <a:p>
            <a:pPr algn="l" indent="0" marL="0">
              <a:lnSpc>
                <a:spcPct val="110000"/>
              </a:lnSpc>
              <a:buNone/>
            </a:pPr>
            <a:r>
              <a:rPr lang="en-US" sz="1800" b="1" spc="-36" kern="0" dirty="0">
                <a:solidFill>
                  <a:srgbClr val="0F1419"/>
                </a:solidFill>
                <a:latin typeface="Arial" pitchFamily="34" charset="0"/>
                <a:ea typeface="Arial" pitchFamily="34" charset="-122"/>
                <a:cs typeface="Arial" pitchFamily="34" charset="-120"/>
              </a:rPr>
              <a:t>First hires · 12-mo burn</a:t>
            </a:r>
            <a:endParaRPr lang="en-US" sz="1800" dirty="0"/>
          </a:p>
        </p:txBody>
      </p:sp>
      <p:sp>
        <p:nvSpPr>
          <p:cNvPr id="29" name="Text 26"/>
          <p:cNvSpPr/>
          <p:nvPr/>
        </p:nvSpPr>
        <p:spPr>
          <a:xfrm>
            <a:off x="16038537" y="5691188"/>
            <a:ext cx="1149325" cy="280988"/>
          </a:xfrm>
          <a:prstGeom prst="rect">
            <a:avLst/>
          </a:prstGeom>
          <a:noFill/>
          <a:ln/>
        </p:spPr>
        <p:txBody>
          <a:bodyPr wrap="square" lIns="25400" tIns="25400" rIns="25400" bIns="25400" rtlCol="0" anchor="t">
            <a:normAutofit/>
          </a:bodyPr>
          <a:lstStyle/>
          <a:p>
            <a:pPr algn="l" indent="0" marL="0">
              <a:lnSpc>
                <a:spcPct val="150000"/>
              </a:lnSpc>
              <a:buNone/>
            </a:pPr>
            <a:r>
              <a:rPr lang="en-US" sz="1200" b="1" spc="48" kern="0" dirty="0">
                <a:solidFill>
                  <a:srgbClr val="0F1419"/>
                </a:solidFill>
                <a:latin typeface="Courier New" pitchFamily="34" charset="0"/>
                <a:ea typeface="Courier New" pitchFamily="34" charset="-122"/>
                <a:cs typeface="Courier New" pitchFamily="34" charset="-120"/>
              </a:rPr>
              <a:t>25% </a:t>
            </a:r>
            <a:pPr algn="l" indent="0" marL="0">
              <a:lnSpc>
                <a:spcPct val="150000"/>
              </a:lnSpc>
              <a:buNone/>
            </a:pPr>
            <a:r>
              <a:rPr lang="en-US" sz="1200" spc="48" kern="0" dirty="0">
                <a:solidFill>
                  <a:srgbClr val="0F1419"/>
                </a:solidFill>
                <a:latin typeface="Courier New" pitchFamily="34" charset="0"/>
                <a:ea typeface="Courier New" pitchFamily="34" charset="-122"/>
                <a:cs typeface="Courier New" pitchFamily="34" charset="-120"/>
              </a:rPr>
              <a:t>· £175K</a:t>
            </a:r>
            <a:endParaRPr lang="en-US" sz="1200" dirty="0"/>
          </a:p>
        </p:txBody>
      </p:sp>
      <p:sp>
        <p:nvSpPr>
          <p:cNvPr id="30" name="Shape 27"/>
          <p:cNvSpPr/>
          <p:nvPr/>
        </p:nvSpPr>
        <p:spPr>
          <a:xfrm>
            <a:off x="1176338" y="6067425"/>
            <a:ext cx="15935325" cy="95250"/>
          </a:xfrm>
          <a:prstGeom prst="roundRect">
            <a:avLst>
              <a:gd name="adj" fmla="val 50000"/>
            </a:avLst>
          </a:prstGeom>
          <a:solidFill>
            <a:srgbClr val="DDE5EC"/>
          </a:solidFill>
          <a:ln/>
        </p:spPr>
      </p:sp>
      <p:sp>
        <p:nvSpPr>
          <p:cNvPr id="31" name="Shape 28"/>
          <p:cNvSpPr/>
          <p:nvPr/>
        </p:nvSpPr>
        <p:spPr>
          <a:xfrm>
            <a:off x="1176338" y="6067425"/>
            <a:ext cx="3983831" cy="95250"/>
          </a:xfrm>
          <a:prstGeom prst="roundRect">
            <a:avLst>
              <a:gd name="adj" fmla="val 50000"/>
            </a:avLst>
          </a:prstGeom>
          <a:solidFill>
            <a:srgbClr val="0F1419"/>
          </a:solidFill>
          <a:ln/>
        </p:spPr>
      </p:sp>
      <p:sp>
        <p:nvSpPr>
          <p:cNvPr id="32" name="Text 29"/>
          <p:cNvSpPr/>
          <p:nvPr/>
        </p:nvSpPr>
        <p:spPr>
          <a:xfrm>
            <a:off x="1176338" y="6381750"/>
            <a:ext cx="3068695" cy="280988"/>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2A3340"/>
                </a:solidFill>
                <a:latin typeface="Arial" pitchFamily="34" charset="0"/>
                <a:ea typeface="Arial" pitchFamily="34" charset="-122"/>
                <a:cs typeface="Arial" pitchFamily="34" charset="-120"/>
              </a:rPr>
              <a:t>Engineer #1 — substrate, regions, mobile</a:t>
            </a:r>
            <a:endParaRPr lang="en-US" sz="1275" dirty="0"/>
          </a:p>
        </p:txBody>
      </p:sp>
      <p:sp>
        <p:nvSpPr>
          <p:cNvPr id="33" name="Text 30"/>
          <p:cNvSpPr/>
          <p:nvPr/>
        </p:nvSpPr>
        <p:spPr>
          <a:xfrm>
            <a:off x="8644830" y="6405563"/>
            <a:ext cx="442020"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0F1419"/>
                </a:solidFill>
                <a:latin typeface="Courier New" pitchFamily="34" charset="0"/>
                <a:ea typeface="Courier New" pitchFamily="34" charset="-122"/>
                <a:cs typeface="Courier New" pitchFamily="34" charset="-120"/>
              </a:rPr>
              <a:t>£95K</a:t>
            </a:r>
            <a:endParaRPr lang="en-US" sz="1200" dirty="0"/>
          </a:p>
        </p:txBody>
      </p:sp>
      <p:sp>
        <p:nvSpPr>
          <p:cNvPr id="34" name="Text 31"/>
          <p:cNvSpPr/>
          <p:nvPr/>
        </p:nvSpPr>
        <p:spPr>
          <a:xfrm>
            <a:off x="9277350" y="6381750"/>
            <a:ext cx="3133078" cy="280988"/>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2A3340"/>
                </a:solidFill>
                <a:latin typeface="Arial" pitchFamily="34" charset="0"/>
                <a:ea typeface="Arial" pitchFamily="34" charset="-122"/>
                <a:cs typeface="Arial" pitchFamily="34" charset="-120"/>
              </a:rPr>
              <a:t>Marketer #1 — content + creator + comms</a:t>
            </a:r>
            <a:endParaRPr lang="en-US" sz="1275" dirty="0"/>
          </a:p>
        </p:txBody>
      </p:sp>
      <p:sp>
        <p:nvSpPr>
          <p:cNvPr id="35" name="Text 32"/>
          <p:cNvSpPr/>
          <p:nvPr/>
        </p:nvSpPr>
        <p:spPr>
          <a:xfrm>
            <a:off x="16745843" y="6405563"/>
            <a:ext cx="442020"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0F1419"/>
                </a:solidFill>
                <a:latin typeface="Courier New" pitchFamily="34" charset="0"/>
                <a:ea typeface="Courier New" pitchFamily="34" charset="-122"/>
                <a:cs typeface="Courier New" pitchFamily="34" charset="-120"/>
              </a:rPr>
              <a:t>£65K</a:t>
            </a:r>
            <a:endParaRPr lang="en-US" sz="1200" dirty="0"/>
          </a:p>
        </p:txBody>
      </p:sp>
      <p:sp>
        <p:nvSpPr>
          <p:cNvPr id="36" name="Shape 33"/>
          <p:cNvSpPr/>
          <p:nvPr/>
        </p:nvSpPr>
        <p:spPr>
          <a:xfrm>
            <a:off x="1176338" y="6757988"/>
            <a:ext cx="7834313" cy="9525"/>
          </a:xfrm>
          <a:prstGeom prst="rect">
            <a:avLst/>
          </a:prstGeom>
          <a:solidFill>
            <a:srgbClr val="DDE5EC"/>
          </a:solidFill>
          <a:ln/>
        </p:spPr>
      </p:sp>
      <p:sp>
        <p:nvSpPr>
          <p:cNvPr id="37" name="Text 34"/>
          <p:cNvSpPr/>
          <p:nvPr/>
        </p:nvSpPr>
        <p:spPr>
          <a:xfrm>
            <a:off x="1176338" y="6853238"/>
            <a:ext cx="3059574" cy="280988"/>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2A3340"/>
                </a:solidFill>
                <a:latin typeface="Arial" pitchFamily="34" charset="0"/>
                <a:ea typeface="Arial" pitchFamily="34" charset="-122"/>
                <a:cs typeface="Arial" pitchFamily="34" charset="-120"/>
              </a:rPr>
              <a:t>Contractor budget (design, devops, legal)</a:t>
            </a:r>
            <a:endParaRPr lang="en-US" sz="1275" dirty="0"/>
          </a:p>
        </p:txBody>
      </p:sp>
      <p:sp>
        <p:nvSpPr>
          <p:cNvPr id="38" name="Text 35"/>
          <p:cNvSpPr/>
          <p:nvPr/>
        </p:nvSpPr>
        <p:spPr>
          <a:xfrm>
            <a:off x="8644830" y="6877050"/>
            <a:ext cx="442020"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0F1419"/>
                </a:solidFill>
                <a:latin typeface="Courier New" pitchFamily="34" charset="0"/>
                <a:ea typeface="Courier New" pitchFamily="34" charset="-122"/>
                <a:cs typeface="Courier New" pitchFamily="34" charset="-120"/>
              </a:rPr>
              <a:t>£15K</a:t>
            </a:r>
            <a:endParaRPr lang="en-US" sz="1200" dirty="0"/>
          </a:p>
        </p:txBody>
      </p:sp>
      <p:sp>
        <p:nvSpPr>
          <p:cNvPr id="39" name="Shape 36"/>
          <p:cNvSpPr/>
          <p:nvPr/>
        </p:nvSpPr>
        <p:spPr>
          <a:xfrm>
            <a:off x="914400" y="7567612"/>
            <a:ext cx="16459200" cy="2457450"/>
          </a:xfrm>
          <a:prstGeom prst="roundRect">
            <a:avLst>
              <a:gd name="adj" fmla="val 4651"/>
            </a:avLst>
          </a:prstGeom>
          <a:solidFill>
            <a:srgbClr val="FFFFFF"/>
          </a:solidFill>
          <a:ln w="14288">
            <a:solidFill>
              <a:srgbClr val="DDE5EC"/>
            </a:solidFill>
            <a:prstDash val="solid"/>
          </a:ln>
          <a:effectLst>
            <a:outerShdw sx="100000" sy="100000" kx="0" ky="0" algn="bl" rotWithShape="0" blurRad="28575" dist="9525" dir="5400000">
              <a:srgbClr val="0F1419">
                <a:alpha val="4000"/>
              </a:srgbClr>
            </a:outerShdw>
          </a:effectLst>
        </p:spPr>
      </p:sp>
      <p:sp>
        <p:nvSpPr>
          <p:cNvPr id="40" name="Text 37"/>
          <p:cNvSpPr/>
          <p:nvPr/>
        </p:nvSpPr>
        <p:spPr>
          <a:xfrm>
            <a:off x="1176338" y="7791450"/>
            <a:ext cx="3122961" cy="289545"/>
          </a:xfrm>
          <a:prstGeom prst="rect">
            <a:avLst/>
          </a:prstGeom>
          <a:noFill/>
          <a:ln/>
        </p:spPr>
        <p:txBody>
          <a:bodyPr wrap="square" lIns="25400" tIns="25400" rIns="25400" bIns="25400" rtlCol="0" anchor="t">
            <a:normAutofit/>
          </a:bodyPr>
          <a:lstStyle/>
          <a:p>
            <a:pPr algn="l" indent="0" marL="0">
              <a:lnSpc>
                <a:spcPct val="110000"/>
              </a:lnSpc>
              <a:buNone/>
            </a:pPr>
            <a:r>
              <a:rPr lang="en-US" sz="1800" b="1" spc="-36" kern="0" dirty="0">
                <a:solidFill>
                  <a:srgbClr val="0F1419"/>
                </a:solidFill>
                <a:latin typeface="Arial" pitchFamily="34" charset="0"/>
                <a:ea typeface="Arial" pitchFamily="34" charset="-122"/>
                <a:cs typeface="Arial" pitchFamily="34" charset="-120"/>
              </a:rPr>
              <a:t>Infrastructure + partnerships</a:t>
            </a:r>
            <a:endParaRPr lang="en-US" sz="1800" dirty="0"/>
          </a:p>
        </p:txBody>
      </p:sp>
      <p:sp>
        <p:nvSpPr>
          <p:cNvPr id="41" name="Text 38"/>
          <p:cNvSpPr/>
          <p:nvPr/>
        </p:nvSpPr>
        <p:spPr>
          <a:xfrm>
            <a:off x="16038537" y="7829550"/>
            <a:ext cx="1149325" cy="280988"/>
          </a:xfrm>
          <a:prstGeom prst="rect">
            <a:avLst/>
          </a:prstGeom>
          <a:noFill/>
          <a:ln/>
        </p:spPr>
        <p:txBody>
          <a:bodyPr wrap="square" lIns="25400" tIns="25400" rIns="25400" bIns="25400" rtlCol="0" anchor="t">
            <a:normAutofit/>
          </a:bodyPr>
          <a:lstStyle/>
          <a:p>
            <a:pPr algn="l" indent="0" marL="0">
              <a:lnSpc>
                <a:spcPct val="150000"/>
              </a:lnSpc>
              <a:buNone/>
            </a:pPr>
            <a:r>
              <a:rPr lang="en-US" sz="1200" b="1" spc="48" kern="0" dirty="0">
                <a:solidFill>
                  <a:srgbClr val="0F1419"/>
                </a:solidFill>
                <a:latin typeface="Courier New" pitchFamily="34" charset="0"/>
                <a:ea typeface="Courier New" pitchFamily="34" charset="-122"/>
                <a:cs typeface="Courier New" pitchFamily="34" charset="-120"/>
              </a:rPr>
              <a:t>15% </a:t>
            </a:r>
            <a:pPr algn="l" indent="0" marL="0">
              <a:lnSpc>
                <a:spcPct val="150000"/>
              </a:lnSpc>
              <a:buNone/>
            </a:pPr>
            <a:r>
              <a:rPr lang="en-US" sz="1200" spc="48" kern="0" dirty="0">
                <a:solidFill>
                  <a:srgbClr val="0F1419"/>
                </a:solidFill>
                <a:latin typeface="Courier New" pitchFamily="34" charset="0"/>
                <a:ea typeface="Courier New" pitchFamily="34" charset="-122"/>
                <a:cs typeface="Courier New" pitchFamily="34" charset="-120"/>
              </a:rPr>
              <a:t>· £105K</a:t>
            </a:r>
            <a:endParaRPr lang="en-US" sz="1200" dirty="0"/>
          </a:p>
        </p:txBody>
      </p:sp>
      <p:sp>
        <p:nvSpPr>
          <p:cNvPr id="42" name="Shape 39"/>
          <p:cNvSpPr/>
          <p:nvPr/>
        </p:nvSpPr>
        <p:spPr>
          <a:xfrm>
            <a:off x="1176338" y="8205788"/>
            <a:ext cx="15935325" cy="95250"/>
          </a:xfrm>
          <a:prstGeom prst="roundRect">
            <a:avLst>
              <a:gd name="adj" fmla="val 50000"/>
            </a:avLst>
          </a:prstGeom>
          <a:solidFill>
            <a:srgbClr val="DDE5EC"/>
          </a:solidFill>
          <a:ln/>
        </p:spPr>
      </p:sp>
      <p:sp>
        <p:nvSpPr>
          <p:cNvPr id="43" name="Shape 40"/>
          <p:cNvSpPr/>
          <p:nvPr/>
        </p:nvSpPr>
        <p:spPr>
          <a:xfrm>
            <a:off x="1176338" y="8205788"/>
            <a:ext cx="2390254" cy="95250"/>
          </a:xfrm>
          <a:prstGeom prst="roundRect">
            <a:avLst>
              <a:gd name="adj" fmla="val 50000"/>
            </a:avLst>
          </a:prstGeom>
          <a:solidFill>
            <a:srgbClr val="C8C0F8"/>
          </a:solidFill>
          <a:ln/>
        </p:spPr>
      </p:sp>
      <p:sp>
        <p:nvSpPr>
          <p:cNvPr id="44" name="Text 41"/>
          <p:cNvSpPr/>
          <p:nvPr/>
        </p:nvSpPr>
        <p:spPr>
          <a:xfrm>
            <a:off x="1176338" y="8520113"/>
            <a:ext cx="3210491" cy="280988"/>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2A3340"/>
                </a:solidFill>
                <a:latin typeface="Arial" pitchFamily="34" charset="0"/>
                <a:ea typeface="Arial" pitchFamily="34" charset="-122"/>
                <a:cs typeface="Arial" pitchFamily="34" charset="-120"/>
              </a:rPr>
              <a:t>Second region (Hetzner SG / AWS Sydney)</a:t>
            </a:r>
            <a:endParaRPr lang="en-US" sz="1275" dirty="0"/>
          </a:p>
        </p:txBody>
      </p:sp>
      <p:sp>
        <p:nvSpPr>
          <p:cNvPr id="45" name="Text 42"/>
          <p:cNvSpPr/>
          <p:nvPr/>
        </p:nvSpPr>
        <p:spPr>
          <a:xfrm>
            <a:off x="8644830" y="8543925"/>
            <a:ext cx="442020"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0F1419"/>
                </a:solidFill>
                <a:latin typeface="Courier New" pitchFamily="34" charset="0"/>
                <a:ea typeface="Courier New" pitchFamily="34" charset="-122"/>
                <a:cs typeface="Courier New" pitchFamily="34" charset="-120"/>
              </a:rPr>
              <a:t>£25K</a:t>
            </a:r>
            <a:endParaRPr lang="en-US" sz="1200" dirty="0"/>
          </a:p>
        </p:txBody>
      </p:sp>
      <p:sp>
        <p:nvSpPr>
          <p:cNvPr id="46" name="Text 43"/>
          <p:cNvSpPr/>
          <p:nvPr/>
        </p:nvSpPr>
        <p:spPr>
          <a:xfrm>
            <a:off x="9277350" y="8520113"/>
            <a:ext cx="3094372" cy="280988"/>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2A3340"/>
                </a:solidFill>
                <a:latin typeface="Arial" pitchFamily="34" charset="0"/>
                <a:ea typeface="Arial" pitchFamily="34" charset="-122"/>
                <a:cs typeface="Arial" pitchFamily="34" charset="-120"/>
              </a:rPr>
              <a:t>Abuse + scaling (DDoS, WAF, monitoring)</a:t>
            </a:r>
            <a:endParaRPr lang="en-US" sz="1275" dirty="0"/>
          </a:p>
        </p:txBody>
      </p:sp>
      <p:sp>
        <p:nvSpPr>
          <p:cNvPr id="47" name="Text 44"/>
          <p:cNvSpPr/>
          <p:nvPr/>
        </p:nvSpPr>
        <p:spPr>
          <a:xfrm>
            <a:off x="16745843" y="8543925"/>
            <a:ext cx="442020"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0F1419"/>
                </a:solidFill>
                <a:latin typeface="Courier New" pitchFamily="34" charset="0"/>
                <a:ea typeface="Courier New" pitchFamily="34" charset="-122"/>
                <a:cs typeface="Courier New" pitchFamily="34" charset="-120"/>
              </a:rPr>
              <a:t>£20K</a:t>
            </a:r>
            <a:endParaRPr lang="en-US" sz="1200" dirty="0"/>
          </a:p>
        </p:txBody>
      </p:sp>
      <p:sp>
        <p:nvSpPr>
          <p:cNvPr id="48" name="Shape 45"/>
          <p:cNvSpPr/>
          <p:nvPr/>
        </p:nvSpPr>
        <p:spPr>
          <a:xfrm>
            <a:off x="1176338" y="8896350"/>
            <a:ext cx="7834313" cy="9525"/>
          </a:xfrm>
          <a:prstGeom prst="rect">
            <a:avLst/>
          </a:prstGeom>
          <a:solidFill>
            <a:srgbClr val="DDE5EC"/>
          </a:solidFill>
          <a:ln/>
        </p:spPr>
      </p:sp>
      <p:sp>
        <p:nvSpPr>
          <p:cNvPr id="49" name="Text 46"/>
          <p:cNvSpPr/>
          <p:nvPr/>
        </p:nvSpPr>
        <p:spPr>
          <a:xfrm>
            <a:off x="1176338" y="8991600"/>
            <a:ext cx="3976573" cy="280988"/>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2A3340"/>
                </a:solidFill>
                <a:latin typeface="Arial" pitchFamily="34" charset="0"/>
                <a:ea typeface="Arial" pitchFamily="34" charset="-122"/>
                <a:cs typeface="Arial" pitchFamily="34" charset="-120"/>
              </a:rPr>
              <a:t>Partnership integration (Anthropic / Cursor / Windsurf)</a:t>
            </a:r>
            <a:endParaRPr lang="en-US" sz="1275" dirty="0"/>
          </a:p>
        </p:txBody>
      </p:sp>
      <p:sp>
        <p:nvSpPr>
          <p:cNvPr id="50" name="Text 47"/>
          <p:cNvSpPr/>
          <p:nvPr/>
        </p:nvSpPr>
        <p:spPr>
          <a:xfrm>
            <a:off x="8644830" y="9015413"/>
            <a:ext cx="442020"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0F1419"/>
                </a:solidFill>
                <a:latin typeface="Courier New" pitchFamily="34" charset="0"/>
                <a:ea typeface="Courier New" pitchFamily="34" charset="-122"/>
                <a:cs typeface="Courier New" pitchFamily="34" charset="-120"/>
              </a:rPr>
              <a:t>£25K</a:t>
            </a:r>
            <a:endParaRPr lang="en-US" sz="1200" dirty="0"/>
          </a:p>
        </p:txBody>
      </p:sp>
      <p:sp>
        <p:nvSpPr>
          <p:cNvPr id="51" name="Shape 48"/>
          <p:cNvSpPr/>
          <p:nvPr/>
        </p:nvSpPr>
        <p:spPr>
          <a:xfrm>
            <a:off x="9277350" y="8896350"/>
            <a:ext cx="7834313" cy="9525"/>
          </a:xfrm>
          <a:prstGeom prst="rect">
            <a:avLst/>
          </a:prstGeom>
          <a:solidFill>
            <a:srgbClr val="DDE5EC"/>
          </a:solidFill>
          <a:ln/>
        </p:spPr>
      </p:sp>
      <p:sp>
        <p:nvSpPr>
          <p:cNvPr id="52" name="Text 49"/>
          <p:cNvSpPr/>
          <p:nvPr/>
        </p:nvSpPr>
        <p:spPr>
          <a:xfrm>
            <a:off x="9277350" y="8991600"/>
            <a:ext cx="3133308" cy="280988"/>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2A3340"/>
                </a:solidFill>
                <a:latin typeface="Arial" pitchFamily="34" charset="0"/>
                <a:ea typeface="Arial" pitchFamily="34" charset="-122"/>
                <a:cs typeface="Arial" pitchFamily="34" charset="-120"/>
              </a:rPr>
              <a:t>Wholesale negotiations (AI, VPS, mailbox)</a:t>
            </a:r>
            <a:endParaRPr lang="en-US" sz="1275" dirty="0"/>
          </a:p>
        </p:txBody>
      </p:sp>
      <p:sp>
        <p:nvSpPr>
          <p:cNvPr id="53" name="Text 50"/>
          <p:cNvSpPr/>
          <p:nvPr/>
        </p:nvSpPr>
        <p:spPr>
          <a:xfrm>
            <a:off x="16745843" y="9015413"/>
            <a:ext cx="442020"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0F1419"/>
                </a:solidFill>
                <a:latin typeface="Courier New" pitchFamily="34" charset="0"/>
                <a:ea typeface="Courier New" pitchFamily="34" charset="-122"/>
                <a:cs typeface="Courier New" pitchFamily="34" charset="-120"/>
              </a:rPr>
              <a:t>£15K</a:t>
            </a:r>
            <a:endParaRPr lang="en-US" sz="1200" dirty="0"/>
          </a:p>
        </p:txBody>
      </p:sp>
      <p:sp>
        <p:nvSpPr>
          <p:cNvPr id="54" name="Shape 51"/>
          <p:cNvSpPr/>
          <p:nvPr/>
        </p:nvSpPr>
        <p:spPr>
          <a:xfrm>
            <a:off x="1176338" y="9367838"/>
            <a:ext cx="7834313" cy="9525"/>
          </a:xfrm>
          <a:prstGeom prst="rect">
            <a:avLst/>
          </a:prstGeom>
          <a:solidFill>
            <a:srgbClr val="DDE5EC"/>
          </a:solidFill>
          <a:ln/>
        </p:spPr>
      </p:sp>
      <p:sp>
        <p:nvSpPr>
          <p:cNvPr id="55" name="Text 52"/>
          <p:cNvSpPr/>
          <p:nvPr/>
        </p:nvSpPr>
        <p:spPr>
          <a:xfrm>
            <a:off x="1176338" y="9463088"/>
            <a:ext cx="2447851" cy="280988"/>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2A3340"/>
                </a:solidFill>
                <a:latin typeface="Arial" pitchFamily="34" charset="0"/>
                <a:ea typeface="Arial" pitchFamily="34" charset="-122"/>
                <a:cs typeface="Arial" pitchFamily="34" charset="-120"/>
              </a:rPr>
              <a:t>Compliance / SOC 2 prep + legal</a:t>
            </a:r>
            <a:endParaRPr lang="en-US" sz="1275" dirty="0"/>
          </a:p>
        </p:txBody>
      </p:sp>
      <p:sp>
        <p:nvSpPr>
          <p:cNvPr id="56" name="Text 53"/>
          <p:cNvSpPr/>
          <p:nvPr/>
        </p:nvSpPr>
        <p:spPr>
          <a:xfrm>
            <a:off x="8644830" y="9486900"/>
            <a:ext cx="442020"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0F1419"/>
                </a:solidFill>
                <a:latin typeface="Courier New" pitchFamily="34" charset="0"/>
                <a:ea typeface="Courier New" pitchFamily="34" charset="-122"/>
                <a:cs typeface="Courier New" pitchFamily="34" charset="-120"/>
              </a:rPr>
              <a:t>£20K</a:t>
            </a:r>
            <a:endParaRPr lang="en-US" sz="1200" dirty="0"/>
          </a:p>
        </p:txBody>
      </p:sp>
      <p:sp>
        <p:nvSpPr>
          <p:cNvPr id="57" name="Shape 54"/>
          <p:cNvSpPr/>
          <p:nvPr/>
        </p:nvSpPr>
        <p:spPr>
          <a:xfrm>
            <a:off x="914400" y="10234613"/>
            <a:ext cx="16459200" cy="614363"/>
          </a:xfrm>
          <a:prstGeom prst="roundRect">
            <a:avLst>
              <a:gd name="adj" fmla="val 18605"/>
            </a:avLst>
          </a:prstGeom>
          <a:solidFill>
            <a:srgbClr val="EEEBFD"/>
          </a:solidFill>
          <a:ln w="14288">
            <a:solidFill>
              <a:srgbClr val="C8C0F8"/>
            </a:solidFill>
            <a:prstDash val="solid"/>
          </a:ln>
          <a:effectLst>
            <a:outerShdw sx="100000" sy="100000" kx="0" ky="0" algn="bl" rotWithShape="0" blurRad="28575" dist="9525" dir="5400000">
              <a:srgbClr val="5B47F0">
                <a:alpha val="6000"/>
              </a:srgbClr>
            </a:outerShdw>
          </a:effectLst>
        </p:spPr>
      </p:sp>
      <p:sp>
        <p:nvSpPr>
          <p:cNvPr id="58" name="Shape 55"/>
          <p:cNvSpPr/>
          <p:nvPr/>
        </p:nvSpPr>
        <p:spPr>
          <a:xfrm>
            <a:off x="1138238" y="10425113"/>
            <a:ext cx="906884" cy="233362"/>
          </a:xfrm>
          <a:prstGeom prst="roundRect">
            <a:avLst>
              <a:gd name="adj" fmla="val 16327"/>
            </a:avLst>
          </a:prstGeom>
          <a:solidFill>
            <a:srgbClr val="5B47F0"/>
          </a:solidFill>
          <a:ln/>
        </p:spPr>
      </p:sp>
      <p:sp>
        <p:nvSpPr>
          <p:cNvPr id="59" name="Text 56"/>
          <p:cNvSpPr/>
          <p:nvPr/>
        </p:nvSpPr>
        <p:spPr>
          <a:xfrm>
            <a:off x="1214438" y="10463212"/>
            <a:ext cx="830684" cy="195263"/>
          </a:xfrm>
          <a:prstGeom prst="rect">
            <a:avLst/>
          </a:prstGeom>
          <a:noFill/>
          <a:ln/>
        </p:spPr>
        <p:txBody>
          <a:bodyPr wrap="square" lIns="25400" tIns="25400" rIns="25400" bIns="25400" rtlCol="0" anchor="t">
            <a:normAutofit/>
          </a:bodyPr>
          <a:lstStyle/>
          <a:p>
            <a:pPr algn="l" indent="0" marL="0">
              <a:lnSpc>
                <a:spcPct val="150000"/>
              </a:lnSpc>
              <a:buNone/>
            </a:pPr>
            <a:r>
              <a:rPr lang="en-US" sz="825" spc="99" kern="0" dirty="0">
                <a:solidFill>
                  <a:srgbClr val="FFFFFF"/>
                </a:solidFill>
                <a:latin typeface="Courier New" pitchFamily="34" charset="0"/>
                <a:ea typeface="Courier New" pitchFamily="34" charset="-122"/>
                <a:cs typeface="Courier New" pitchFamily="34" charset="-120"/>
              </a:rPr>
              <a:t>DISCIPLINE</a:t>
            </a:r>
            <a:endParaRPr lang="en-US" sz="825" dirty="0"/>
          </a:p>
        </p:txBody>
      </p:sp>
      <p:sp>
        <p:nvSpPr>
          <p:cNvPr id="60" name="Text 57"/>
          <p:cNvSpPr/>
          <p:nvPr/>
        </p:nvSpPr>
        <p:spPr>
          <a:xfrm>
            <a:off x="2178472" y="10448925"/>
            <a:ext cx="8914446" cy="219075"/>
          </a:xfrm>
          <a:prstGeom prst="rect">
            <a:avLst/>
          </a:prstGeom>
          <a:noFill/>
          <a:ln/>
        </p:spPr>
        <p:txBody>
          <a:bodyPr wrap="square" lIns="0" tIns="0" rIns="0" bIns="0" rtlCol="0" anchor="t">
            <a:normAutofit/>
          </a:bodyPr>
          <a:lstStyle/>
          <a:p>
            <a:pPr algn="l" indent="0" marL="0">
              <a:lnSpc>
                <a:spcPct val="150000"/>
              </a:lnSpc>
              <a:buNone/>
            </a:pPr>
            <a:r>
              <a:rPr lang="en-US" sz="1275" dirty="0">
                <a:solidFill>
                  <a:srgbClr val="4231CC"/>
                </a:solidFill>
                <a:latin typeface="Arial" pitchFamily="34" charset="0"/>
                <a:ea typeface="Arial" pitchFamily="34" charset="-122"/>
                <a:cs typeface="Arial" pitchFamily="34" charset="-120"/>
              </a:rPr>
              <a:t>Month-by-month spend gate. If conversion + churn miss validation by signup #100, paid spend pauses pending repricing.</a:t>
            </a:r>
            <a:endParaRPr lang="en-US" sz="1275" dirty="0"/>
          </a:p>
        </p:txBody>
      </p:sp>
      <p:sp>
        <p:nvSpPr>
          <p:cNvPr id="61" name="Shape 58"/>
          <p:cNvSpPr/>
          <p:nvPr/>
        </p:nvSpPr>
        <p:spPr>
          <a:xfrm>
            <a:off x="914400" y="10848975"/>
            <a:ext cx="16459200" cy="9525"/>
          </a:xfrm>
          <a:prstGeom prst="rect">
            <a:avLst/>
          </a:prstGeom>
          <a:solidFill>
            <a:srgbClr val="DDE5EC"/>
          </a:solidFill>
          <a:ln/>
        </p:spPr>
      </p:sp>
      <p:sp>
        <p:nvSpPr>
          <p:cNvPr id="62" name="Text 59"/>
          <p:cNvSpPr/>
          <p:nvPr/>
        </p:nvSpPr>
        <p:spPr>
          <a:xfrm>
            <a:off x="914400" y="11094244"/>
            <a:ext cx="4533256"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113" kern="0" dirty="0">
                <a:solidFill>
                  <a:srgbClr val="6E7785"/>
                </a:solidFill>
                <a:latin typeface="Courier New" pitchFamily="34" charset="0"/>
                <a:ea typeface="Courier New" pitchFamily="34" charset="-122"/>
                <a:cs typeface="Courier New" pitchFamily="34" charset="-120"/>
              </a:rPr>
              <a:t>HATCHIK · INVESTOR &amp; PARTNER DECK · MAY 2026</a:t>
            </a:r>
            <a:endParaRPr lang="en-US" sz="1125" dirty="0"/>
          </a:p>
        </p:txBody>
      </p:sp>
      <p:sp>
        <p:nvSpPr>
          <p:cNvPr id="63" name="Text 60"/>
          <p:cNvSpPr/>
          <p:nvPr/>
        </p:nvSpPr>
        <p:spPr>
          <a:xfrm>
            <a:off x="16690851" y="11087100"/>
            <a:ext cx="758949"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spc="48" kern="0" dirty="0">
                <a:solidFill>
                  <a:srgbClr val="0F1419"/>
                </a:solidFill>
                <a:latin typeface="Courier New" pitchFamily="34" charset="0"/>
                <a:ea typeface="Courier New" pitchFamily="34" charset="-122"/>
                <a:cs typeface="Courier New" pitchFamily="34" charset="-120"/>
              </a:rPr>
              <a:t>27 / 31</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5B47F0">
              <a:alpha val="4000"/>
            </a:srgbClr>
          </a:solidFill>
          <a:ln/>
        </p:spPr>
      </p:sp>
      <p:sp>
        <p:nvSpPr>
          <p:cNvPr id="3" name="Shape 1"/>
          <p:cNvSpPr/>
          <p:nvPr/>
        </p:nvSpPr>
        <p:spPr>
          <a:xfrm>
            <a:off x="914400" y="1009650"/>
            <a:ext cx="16459200" cy="9525"/>
          </a:xfrm>
          <a:prstGeom prst="rect">
            <a:avLst/>
          </a:prstGeom>
          <a:solidFill>
            <a:srgbClr val="DDE5EC"/>
          </a:solidFill>
          <a:ln/>
        </p:spPr>
      </p:sp>
      <p:pic>
        <p:nvPicPr>
          <p:cNvPr id="4" name="Image 0" descr="preencoded.png">    </p:cNvPr>
          <p:cNvPicPr>
            <a:picLocks noChangeAspect="1"/>
          </p:cNvPicPr>
          <p:nvPr/>
        </p:nvPicPr>
        <p:blipFill>
          <a:blip r:embed="rId1"/>
          <a:stretch>
            <a:fillRect/>
          </a:stretch>
        </p:blipFill>
        <p:spPr>
          <a:xfrm>
            <a:off x="914400" y="571500"/>
            <a:ext cx="209550" cy="209550"/>
          </a:xfrm>
          <a:prstGeom prst="rect">
            <a:avLst/>
          </a:prstGeom>
        </p:spPr>
      </p:pic>
      <p:sp>
        <p:nvSpPr>
          <p:cNvPr id="5" name="Text 2"/>
          <p:cNvSpPr/>
          <p:nvPr/>
        </p:nvSpPr>
        <p:spPr>
          <a:xfrm>
            <a:off x="1219200" y="533400"/>
            <a:ext cx="745108"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spc="-37" kern="0" dirty="0">
                <a:solidFill>
                  <a:srgbClr val="0F1419"/>
                </a:solidFill>
                <a:latin typeface="Arial" pitchFamily="34" charset="0"/>
                <a:ea typeface="Arial" pitchFamily="34" charset="-122"/>
                <a:cs typeface="Arial" pitchFamily="34" charset="-120"/>
              </a:rPr>
              <a:t>hatchik</a:t>
            </a:r>
            <a:endParaRPr lang="en-US" sz="1500" dirty="0"/>
          </a:p>
        </p:txBody>
      </p:sp>
      <p:sp>
        <p:nvSpPr>
          <p:cNvPr id="6" name="Text 3"/>
          <p:cNvSpPr/>
          <p:nvPr/>
        </p:nvSpPr>
        <p:spPr>
          <a:xfrm>
            <a:off x="14165089" y="562421"/>
            <a:ext cx="3304766" cy="265733"/>
          </a:xfrm>
          <a:prstGeom prst="rect">
            <a:avLst/>
          </a:prstGeom>
          <a:noFill/>
          <a:ln/>
        </p:spPr>
        <p:txBody>
          <a:bodyPr wrap="square" lIns="25400" tIns="25400" rIns="25400" bIns="25400" rtlCol="0" anchor="t">
            <a:normAutofit/>
          </a:bodyPr>
          <a:lstStyle/>
          <a:p>
            <a:pPr algn="l" indent="0" marL="0">
              <a:lnSpc>
                <a:spcPct val="140000"/>
              </a:lnSpc>
              <a:buNone/>
            </a:pPr>
            <a:r>
              <a:rPr lang="en-US" sz="1200" spc="120" kern="0" dirty="0">
                <a:solidFill>
                  <a:srgbClr val="0F1419"/>
                </a:solidFill>
                <a:latin typeface="Courier New" pitchFamily="34" charset="0"/>
                <a:ea typeface="Courier New" pitchFamily="34" charset="-122"/>
                <a:cs typeface="Courier New" pitchFamily="34" charset="-120"/>
              </a:rPr>
              <a:t>28 </a:t>
            </a:r>
            <a:pPr algn="l" indent="0" marL="0">
              <a:lnSpc>
                <a:spcPct val="140000"/>
              </a:lnSpc>
              <a:buNone/>
            </a:pPr>
            <a:r>
              <a:rPr lang="en-US" sz="1200" spc="120" kern="0" dirty="0">
                <a:solidFill>
                  <a:srgbClr val="5B47F0"/>
                </a:solidFill>
                <a:latin typeface="Courier New" pitchFamily="34" charset="0"/>
                <a:ea typeface="Courier New" pitchFamily="34" charset="-122"/>
                <a:cs typeface="Courier New" pitchFamily="34" charset="-120"/>
              </a:rPr>
              <a:t>· </a:t>
            </a:r>
            <a:pPr algn="l" indent="0" marL="0">
              <a:lnSpc>
                <a:spcPct val="140000"/>
              </a:lnSpc>
              <a:buNone/>
            </a:pPr>
            <a:r>
              <a:rPr lang="en-US" sz="1200" spc="120" kern="0" dirty="0">
                <a:solidFill>
                  <a:srgbClr val="6E7785"/>
                </a:solidFill>
                <a:latin typeface="Courier New" pitchFamily="34" charset="0"/>
                <a:ea typeface="Courier New" pitchFamily="34" charset="-122"/>
                <a:cs typeface="Courier New" pitchFamily="34" charset="-120"/>
              </a:rPr>
              <a:t>APPENDIX · ORGANIC + MOATS</a:t>
            </a:r>
            <a:endParaRPr lang="en-US" sz="1200" dirty="0"/>
          </a:p>
        </p:txBody>
      </p:sp>
      <p:sp>
        <p:nvSpPr>
          <p:cNvPr id="7" name="Text 4"/>
          <p:cNvSpPr/>
          <p:nvPr/>
        </p:nvSpPr>
        <p:spPr>
          <a:xfrm>
            <a:off x="914400" y="1438275"/>
            <a:ext cx="15893415" cy="533400"/>
          </a:xfrm>
          <a:prstGeom prst="rect">
            <a:avLst/>
          </a:prstGeom>
          <a:noFill/>
          <a:ln/>
        </p:spPr>
        <p:txBody>
          <a:bodyPr wrap="square" lIns="25400" tIns="25400" rIns="25400" bIns="25400" rtlCol="0" anchor="t">
            <a:normAutofit/>
          </a:bodyPr>
          <a:lstStyle/>
          <a:p>
            <a:pPr algn="l" indent="0" marL="0">
              <a:lnSpc>
                <a:spcPct val="100000"/>
              </a:lnSpc>
              <a:buNone/>
            </a:pPr>
            <a:r>
              <a:rPr lang="en-US" sz="3900" b="1" spc="-156" kern="0" dirty="0">
                <a:solidFill>
                  <a:srgbClr val="0F1419"/>
                </a:solidFill>
                <a:latin typeface="Arial" pitchFamily="34" charset="0"/>
                <a:ea typeface="Arial" pitchFamily="34" charset="-122"/>
                <a:cs typeface="Arial" pitchFamily="34" charset="-120"/>
              </a:rPr>
              <a:t>Grow without paid. </a:t>
            </a:r>
            <a:pPr algn="l" indent="0" marL="0">
              <a:lnSpc>
                <a:spcPct val="100000"/>
              </a:lnSpc>
              <a:buNone/>
            </a:pPr>
            <a:r>
              <a:rPr lang="en-US" sz="3900" b="1" spc="-156" kern="0" dirty="0">
                <a:solidFill>
                  <a:srgbClr val="5B47F0"/>
                </a:solidFill>
                <a:latin typeface="Arial" pitchFamily="34" charset="0"/>
                <a:ea typeface="Arial" pitchFamily="34" charset="-122"/>
                <a:cs typeface="Arial" pitchFamily="34" charset="-120"/>
              </a:rPr>
              <a:t>Then hold ground after.</a:t>
            </a:r>
            <a:endParaRPr lang="en-US" sz="3900" dirty="0"/>
          </a:p>
        </p:txBody>
      </p:sp>
      <p:sp>
        <p:nvSpPr>
          <p:cNvPr id="8" name="Text 5"/>
          <p:cNvSpPr/>
          <p:nvPr/>
        </p:nvSpPr>
        <p:spPr>
          <a:xfrm>
            <a:off x="914400" y="2276475"/>
            <a:ext cx="6867525"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spc="144" kern="0" dirty="0">
                <a:solidFill>
                  <a:srgbClr val="6E7785"/>
                </a:solidFill>
                <a:latin typeface="Courier New" pitchFamily="34" charset="0"/>
                <a:ea typeface="Courier New" pitchFamily="34" charset="-122"/>
                <a:cs typeface="Courier New" pitchFamily="34" charset="-120"/>
              </a:rPr>
              <a:t>ORGANIC GROWTH · £0 PAID</a:t>
            </a:r>
            <a:endParaRPr lang="en-US" sz="1200" dirty="0"/>
          </a:p>
        </p:txBody>
      </p:sp>
      <p:sp>
        <p:nvSpPr>
          <p:cNvPr id="9" name="Shape 6"/>
          <p:cNvSpPr/>
          <p:nvPr/>
        </p:nvSpPr>
        <p:spPr>
          <a:xfrm>
            <a:off x="914400" y="2657475"/>
            <a:ext cx="6667500" cy="790575"/>
          </a:xfrm>
          <a:prstGeom prst="roundRect">
            <a:avLst>
              <a:gd name="adj" fmla="val 19277"/>
            </a:avLst>
          </a:prstGeom>
          <a:solidFill>
            <a:srgbClr val="FFFFFF"/>
          </a:solidFill>
          <a:ln w="14288">
            <a:solidFill>
              <a:srgbClr val="DDE5EC"/>
            </a:solidFill>
            <a:prstDash val="solid"/>
          </a:ln>
          <a:effectLst>
            <a:outerShdw sx="100000" sy="100000" kx="0" ky="0" algn="bl" rotWithShape="0" blurRad="38100" dist="19050" dir="5400000">
              <a:srgbClr val="0F1419">
                <a:alpha val="4000"/>
              </a:srgbClr>
            </a:outerShdw>
          </a:effectLst>
        </p:spPr>
      </p:sp>
      <p:sp>
        <p:nvSpPr>
          <p:cNvPr id="10" name="Text 7"/>
          <p:cNvSpPr/>
          <p:nvPr/>
        </p:nvSpPr>
        <p:spPr>
          <a:xfrm>
            <a:off x="1119188" y="2824163"/>
            <a:ext cx="6445663"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113" kern="0" dirty="0">
                <a:solidFill>
                  <a:srgbClr val="6E7785"/>
                </a:solidFill>
                <a:latin typeface="Courier New" pitchFamily="34" charset="0"/>
                <a:ea typeface="Courier New" pitchFamily="34" charset="-122"/>
                <a:cs typeface="Courier New" pitchFamily="34" charset="-120"/>
              </a:rPr>
              <a:t>M 0–3</a:t>
            </a:r>
            <a:endParaRPr lang="en-US" sz="1125" dirty="0"/>
          </a:p>
        </p:txBody>
      </p:sp>
      <p:sp>
        <p:nvSpPr>
          <p:cNvPr id="11" name="Text 8"/>
          <p:cNvSpPr/>
          <p:nvPr/>
        </p:nvSpPr>
        <p:spPr>
          <a:xfrm>
            <a:off x="1119188" y="3076575"/>
            <a:ext cx="6445663" cy="242888"/>
          </a:xfrm>
          <a:prstGeom prst="rect">
            <a:avLst/>
          </a:prstGeom>
          <a:noFill/>
          <a:ln/>
        </p:spPr>
        <p:txBody>
          <a:bodyPr wrap="square" lIns="25400" tIns="25400" rIns="25400" bIns="25400" rtlCol="0" anchor="t">
            <a:normAutofit/>
          </a:bodyPr>
          <a:lstStyle/>
          <a:p>
            <a:pPr algn="l" indent="0" marL="0">
              <a:lnSpc>
                <a:spcPct val="150000"/>
              </a:lnSpc>
              <a:buNone/>
            </a:pPr>
            <a:r>
              <a:rPr lang="en-US" sz="1050" b="1" dirty="0">
                <a:solidFill>
                  <a:srgbClr val="0F1419"/>
                </a:solidFill>
                <a:latin typeface="Arial" pitchFamily="34" charset="0"/>
                <a:ea typeface="Arial" pitchFamily="34" charset="-122"/>
                <a:cs typeface="Arial" pitchFamily="34" charset="-120"/>
              </a:rPr>
              <a:t>Build in public </a:t>
            </a:r>
            <a:pPr algn="l" indent="0" marL="0">
              <a:lnSpc>
                <a:spcPct val="150000"/>
              </a:lnSpc>
              <a:buNone/>
            </a:pPr>
            <a:r>
              <a:rPr lang="en-US" sz="1050" dirty="0">
                <a:solidFill>
                  <a:srgbClr val="2A3340"/>
                </a:solidFill>
                <a:latin typeface="Arial" pitchFamily="34" charset="0"/>
                <a:ea typeface="Arial" pitchFamily="34" charset="-122"/>
                <a:cs typeface="Arial" pitchFamily="34" charset="-120"/>
              </a:rPr>
              <a:t>on X + indie-hacker forums. Free distribution.</a:t>
            </a:r>
            <a:endParaRPr lang="en-US" sz="1050" dirty="0"/>
          </a:p>
        </p:txBody>
      </p:sp>
      <p:sp>
        <p:nvSpPr>
          <p:cNvPr id="12" name="Shape 9"/>
          <p:cNvSpPr/>
          <p:nvPr/>
        </p:nvSpPr>
        <p:spPr>
          <a:xfrm>
            <a:off x="914400" y="3543300"/>
            <a:ext cx="6667500" cy="790575"/>
          </a:xfrm>
          <a:prstGeom prst="roundRect">
            <a:avLst>
              <a:gd name="adj" fmla="val 19277"/>
            </a:avLst>
          </a:prstGeom>
          <a:solidFill>
            <a:srgbClr val="FFFFFF"/>
          </a:solidFill>
          <a:ln w="14288">
            <a:solidFill>
              <a:srgbClr val="DDE5EC"/>
            </a:solidFill>
            <a:prstDash val="solid"/>
          </a:ln>
          <a:effectLst>
            <a:outerShdw sx="100000" sy="100000" kx="0" ky="0" algn="bl" rotWithShape="0" blurRad="38100" dist="19050" dir="5400000">
              <a:srgbClr val="0F1419">
                <a:alpha val="4000"/>
              </a:srgbClr>
            </a:outerShdw>
          </a:effectLst>
        </p:spPr>
      </p:sp>
      <p:sp>
        <p:nvSpPr>
          <p:cNvPr id="13" name="Text 10"/>
          <p:cNvSpPr/>
          <p:nvPr/>
        </p:nvSpPr>
        <p:spPr>
          <a:xfrm>
            <a:off x="1119188" y="3709988"/>
            <a:ext cx="6445663"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113" kern="0" dirty="0">
                <a:solidFill>
                  <a:srgbClr val="6E7785"/>
                </a:solidFill>
                <a:latin typeface="Courier New" pitchFamily="34" charset="0"/>
                <a:ea typeface="Courier New" pitchFamily="34" charset="-122"/>
                <a:cs typeface="Courier New" pitchFamily="34" charset="-120"/>
              </a:rPr>
              <a:t>M 3–6</a:t>
            </a:r>
            <a:endParaRPr lang="en-US" sz="1125" dirty="0"/>
          </a:p>
        </p:txBody>
      </p:sp>
      <p:sp>
        <p:nvSpPr>
          <p:cNvPr id="14" name="Text 11"/>
          <p:cNvSpPr/>
          <p:nvPr/>
        </p:nvSpPr>
        <p:spPr>
          <a:xfrm>
            <a:off x="1119188" y="3962400"/>
            <a:ext cx="6445663" cy="242888"/>
          </a:xfrm>
          <a:prstGeom prst="rect">
            <a:avLst/>
          </a:prstGeom>
          <a:noFill/>
          <a:ln/>
        </p:spPr>
        <p:txBody>
          <a:bodyPr wrap="square" lIns="25400" tIns="25400" rIns="25400" bIns="25400" rtlCol="0" anchor="t">
            <a:normAutofit/>
          </a:bodyPr>
          <a:lstStyle/>
          <a:p>
            <a:pPr algn="l" indent="0" marL="0">
              <a:lnSpc>
                <a:spcPct val="150000"/>
              </a:lnSpc>
              <a:buNone/>
            </a:pPr>
            <a:r>
              <a:rPr lang="en-US" sz="1050" b="1" dirty="0">
                <a:solidFill>
                  <a:srgbClr val="0F1419"/>
                </a:solidFill>
                <a:latin typeface="Arial" pitchFamily="34" charset="0"/>
                <a:ea typeface="Arial" pitchFamily="34" charset="-122"/>
                <a:cs typeface="Arial" pitchFamily="34" charset="-120"/>
              </a:rPr>
              <a:t>Long-form </a:t>
            </a:r>
            <a:pPr algn="l" indent="0" marL="0">
              <a:lnSpc>
                <a:spcPct val="150000"/>
              </a:lnSpc>
              <a:buNone/>
            </a:pPr>
            <a:r>
              <a:rPr lang="en-US" sz="1050" dirty="0">
                <a:solidFill>
                  <a:srgbClr val="2A3340"/>
                </a:solidFill>
                <a:latin typeface="Arial" pitchFamily="34" charset="0"/>
                <a:ea typeface="Arial" pitchFamily="34" charset="-122"/>
                <a:cs typeface="Arial" pitchFamily="34" charset="-120"/>
              </a:rPr>
              <a:t>docs, YouTube how-tos. Founder time + £200/mo tools.</a:t>
            </a:r>
            <a:endParaRPr lang="en-US" sz="1050" dirty="0"/>
          </a:p>
        </p:txBody>
      </p:sp>
      <p:sp>
        <p:nvSpPr>
          <p:cNvPr id="15" name="Shape 12"/>
          <p:cNvSpPr/>
          <p:nvPr/>
        </p:nvSpPr>
        <p:spPr>
          <a:xfrm>
            <a:off x="914400" y="4429125"/>
            <a:ext cx="6667500" cy="790575"/>
          </a:xfrm>
          <a:prstGeom prst="roundRect">
            <a:avLst>
              <a:gd name="adj" fmla="val 19277"/>
            </a:avLst>
          </a:prstGeom>
          <a:solidFill>
            <a:srgbClr val="FFFFFF"/>
          </a:solidFill>
          <a:ln w="14288">
            <a:solidFill>
              <a:srgbClr val="DDE5EC"/>
            </a:solidFill>
            <a:prstDash val="solid"/>
          </a:ln>
          <a:effectLst>
            <a:outerShdw sx="100000" sy="100000" kx="0" ky="0" algn="bl" rotWithShape="0" blurRad="38100" dist="19050" dir="5400000">
              <a:srgbClr val="0F1419">
                <a:alpha val="4000"/>
              </a:srgbClr>
            </a:outerShdw>
          </a:effectLst>
        </p:spPr>
      </p:sp>
      <p:sp>
        <p:nvSpPr>
          <p:cNvPr id="16" name="Text 13"/>
          <p:cNvSpPr/>
          <p:nvPr/>
        </p:nvSpPr>
        <p:spPr>
          <a:xfrm>
            <a:off x="1119188" y="4595813"/>
            <a:ext cx="6445663"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113" kern="0" dirty="0">
                <a:solidFill>
                  <a:srgbClr val="6E7785"/>
                </a:solidFill>
                <a:latin typeface="Courier New" pitchFamily="34" charset="0"/>
                <a:ea typeface="Courier New" pitchFamily="34" charset="-122"/>
                <a:cs typeface="Courier New" pitchFamily="34" charset="-120"/>
              </a:rPr>
              <a:t>M 6–9</a:t>
            </a:r>
            <a:endParaRPr lang="en-US" sz="1125" dirty="0"/>
          </a:p>
        </p:txBody>
      </p:sp>
      <p:sp>
        <p:nvSpPr>
          <p:cNvPr id="17" name="Text 14"/>
          <p:cNvSpPr/>
          <p:nvPr/>
        </p:nvSpPr>
        <p:spPr>
          <a:xfrm>
            <a:off x="1119188" y="4848225"/>
            <a:ext cx="6445663" cy="242888"/>
          </a:xfrm>
          <a:prstGeom prst="rect">
            <a:avLst/>
          </a:prstGeom>
          <a:noFill/>
          <a:ln/>
        </p:spPr>
        <p:txBody>
          <a:bodyPr wrap="square" lIns="25400" tIns="25400" rIns="25400" bIns="25400" rtlCol="0" anchor="t">
            <a:normAutofit/>
          </a:bodyPr>
          <a:lstStyle/>
          <a:p>
            <a:pPr algn="l" indent="0" marL="0">
              <a:lnSpc>
                <a:spcPct val="150000"/>
              </a:lnSpc>
              <a:buNone/>
            </a:pPr>
            <a:r>
              <a:rPr lang="en-US" sz="1050" b="1" dirty="0">
                <a:solidFill>
                  <a:srgbClr val="0F1419"/>
                </a:solidFill>
                <a:latin typeface="Arial" pitchFamily="34" charset="0"/>
                <a:ea typeface="Arial" pitchFamily="34" charset="-122"/>
                <a:cs typeface="Arial" pitchFamily="34" charset="-120"/>
              </a:rPr>
              <a:t>OSS integration template. </a:t>
            </a:r>
            <a:pPr algn="l" indent="0" marL="0">
              <a:lnSpc>
                <a:spcPct val="150000"/>
              </a:lnSpc>
              <a:buNone/>
            </a:pPr>
            <a:r>
              <a:rPr lang="en-US" sz="1050" dirty="0">
                <a:solidFill>
                  <a:srgbClr val="2A3340"/>
                </a:solidFill>
                <a:latin typeface="Arial" pitchFamily="34" charset="0"/>
                <a:ea typeface="Arial" pitchFamily="34" charset="-122"/>
                <a:cs typeface="Arial" pitchFamily="34" charset="-120"/>
              </a:rPr>
              <a:t>GitHub stars = trust + backlinks. £0.</a:t>
            </a:r>
            <a:endParaRPr lang="en-US" sz="1050" dirty="0"/>
          </a:p>
        </p:txBody>
      </p:sp>
      <p:sp>
        <p:nvSpPr>
          <p:cNvPr id="18" name="Shape 15"/>
          <p:cNvSpPr/>
          <p:nvPr/>
        </p:nvSpPr>
        <p:spPr>
          <a:xfrm>
            <a:off x="914400" y="5314950"/>
            <a:ext cx="6667500" cy="790575"/>
          </a:xfrm>
          <a:prstGeom prst="roundRect">
            <a:avLst>
              <a:gd name="adj" fmla="val 19277"/>
            </a:avLst>
          </a:prstGeom>
          <a:solidFill>
            <a:srgbClr val="FFFFFF"/>
          </a:solidFill>
          <a:ln w="14288">
            <a:solidFill>
              <a:srgbClr val="DDE5EC"/>
            </a:solidFill>
            <a:prstDash val="solid"/>
          </a:ln>
          <a:effectLst>
            <a:outerShdw sx="100000" sy="100000" kx="0" ky="0" algn="bl" rotWithShape="0" blurRad="38100" dist="19050" dir="5400000">
              <a:srgbClr val="0F1419">
                <a:alpha val="4000"/>
              </a:srgbClr>
            </a:outerShdw>
          </a:effectLst>
        </p:spPr>
      </p:sp>
      <p:sp>
        <p:nvSpPr>
          <p:cNvPr id="19" name="Text 16"/>
          <p:cNvSpPr/>
          <p:nvPr/>
        </p:nvSpPr>
        <p:spPr>
          <a:xfrm>
            <a:off x="1119188" y="5481638"/>
            <a:ext cx="6445663"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113" kern="0" dirty="0">
                <a:solidFill>
                  <a:srgbClr val="6E7785"/>
                </a:solidFill>
                <a:latin typeface="Courier New" pitchFamily="34" charset="0"/>
                <a:ea typeface="Courier New" pitchFamily="34" charset="-122"/>
                <a:cs typeface="Courier New" pitchFamily="34" charset="-120"/>
              </a:rPr>
              <a:t>M 9–12</a:t>
            </a:r>
            <a:endParaRPr lang="en-US" sz="1125" dirty="0"/>
          </a:p>
        </p:txBody>
      </p:sp>
      <p:sp>
        <p:nvSpPr>
          <p:cNvPr id="20" name="Text 17"/>
          <p:cNvSpPr/>
          <p:nvPr/>
        </p:nvSpPr>
        <p:spPr>
          <a:xfrm>
            <a:off x="1119188" y="5734050"/>
            <a:ext cx="6445663" cy="242888"/>
          </a:xfrm>
          <a:prstGeom prst="rect">
            <a:avLst/>
          </a:prstGeom>
          <a:noFill/>
          <a:ln/>
        </p:spPr>
        <p:txBody>
          <a:bodyPr wrap="square" lIns="25400" tIns="25400" rIns="25400" bIns="25400" rtlCol="0" anchor="t">
            <a:normAutofit/>
          </a:bodyPr>
          <a:lstStyle/>
          <a:p>
            <a:pPr algn="l" indent="0" marL="0">
              <a:lnSpc>
                <a:spcPct val="150000"/>
              </a:lnSpc>
              <a:buNone/>
            </a:pPr>
            <a:r>
              <a:rPr lang="en-US" sz="1050" b="1" dirty="0">
                <a:solidFill>
                  <a:srgbClr val="0F1419"/>
                </a:solidFill>
                <a:latin typeface="Arial" pitchFamily="34" charset="0"/>
                <a:ea typeface="Arial" pitchFamily="34" charset="-122"/>
                <a:cs typeface="Arial" pitchFamily="34" charset="-120"/>
              </a:rPr>
              <a:t>Reddit + Discord </a:t>
            </a:r>
            <a:pPr algn="l" indent="0" marL="0">
              <a:lnSpc>
                <a:spcPct val="150000"/>
              </a:lnSpc>
              <a:buNone/>
            </a:pPr>
            <a:r>
              <a:rPr lang="en-US" sz="1050" dirty="0">
                <a:solidFill>
                  <a:srgbClr val="2A3340"/>
                </a:solidFill>
                <a:latin typeface="Arial" pitchFamily="34" charset="0"/>
                <a:ea typeface="Arial" pitchFamily="34" charset="-122"/>
                <a:cs typeface="Arial" pitchFamily="34" charset="-120"/>
              </a:rPr>
              <a:t>communities. r/cursor, r/ClaudeAI. 4 hrs/week.</a:t>
            </a:r>
            <a:endParaRPr lang="en-US" sz="1050" dirty="0"/>
          </a:p>
        </p:txBody>
      </p:sp>
      <p:sp>
        <p:nvSpPr>
          <p:cNvPr id="21" name="Shape 18"/>
          <p:cNvSpPr/>
          <p:nvPr/>
        </p:nvSpPr>
        <p:spPr>
          <a:xfrm>
            <a:off x="914400" y="6200775"/>
            <a:ext cx="6667500" cy="790575"/>
          </a:xfrm>
          <a:prstGeom prst="roundRect">
            <a:avLst>
              <a:gd name="adj" fmla="val 19277"/>
            </a:avLst>
          </a:prstGeom>
          <a:solidFill>
            <a:srgbClr val="FFFFFF"/>
          </a:solidFill>
          <a:ln w="14288">
            <a:solidFill>
              <a:srgbClr val="DDE5EC"/>
            </a:solidFill>
            <a:prstDash val="solid"/>
          </a:ln>
          <a:effectLst>
            <a:outerShdw sx="100000" sy="100000" kx="0" ky="0" algn="bl" rotWithShape="0" blurRad="38100" dist="19050" dir="5400000">
              <a:srgbClr val="0F1419">
                <a:alpha val="4000"/>
              </a:srgbClr>
            </a:outerShdw>
          </a:effectLst>
        </p:spPr>
      </p:sp>
      <p:sp>
        <p:nvSpPr>
          <p:cNvPr id="22" name="Text 19"/>
          <p:cNvSpPr/>
          <p:nvPr/>
        </p:nvSpPr>
        <p:spPr>
          <a:xfrm>
            <a:off x="1119188" y="6367463"/>
            <a:ext cx="6445663"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113" kern="0" dirty="0">
                <a:solidFill>
                  <a:srgbClr val="6E7785"/>
                </a:solidFill>
                <a:latin typeface="Courier New" pitchFamily="34" charset="0"/>
                <a:ea typeface="Courier New" pitchFamily="34" charset="-122"/>
                <a:cs typeface="Courier New" pitchFamily="34" charset="-120"/>
              </a:rPr>
              <a:t>M 12+</a:t>
            </a:r>
            <a:endParaRPr lang="en-US" sz="1125" dirty="0"/>
          </a:p>
        </p:txBody>
      </p:sp>
      <p:sp>
        <p:nvSpPr>
          <p:cNvPr id="23" name="Text 20"/>
          <p:cNvSpPr/>
          <p:nvPr/>
        </p:nvSpPr>
        <p:spPr>
          <a:xfrm>
            <a:off x="1119188" y="6619875"/>
            <a:ext cx="6445663" cy="242888"/>
          </a:xfrm>
          <a:prstGeom prst="rect">
            <a:avLst/>
          </a:prstGeom>
          <a:noFill/>
          <a:ln/>
        </p:spPr>
        <p:txBody>
          <a:bodyPr wrap="square" lIns="25400" tIns="25400" rIns="25400" bIns="25400" rtlCol="0" anchor="t">
            <a:normAutofit/>
          </a:bodyPr>
          <a:lstStyle/>
          <a:p>
            <a:pPr algn="l" indent="0" marL="0">
              <a:lnSpc>
                <a:spcPct val="150000"/>
              </a:lnSpc>
              <a:buNone/>
            </a:pPr>
            <a:r>
              <a:rPr lang="en-US" sz="1050" b="1" dirty="0">
                <a:solidFill>
                  <a:srgbClr val="0F1419"/>
                </a:solidFill>
                <a:latin typeface="Arial" pitchFamily="34" charset="0"/>
                <a:ea typeface="Arial" pitchFamily="34" charset="-122"/>
                <a:cs typeface="Arial" pitchFamily="34" charset="-120"/>
              </a:rPr>
              <a:t>Customer-led case studies </a:t>
            </a:r>
            <a:pPr algn="l" indent="0" marL="0">
              <a:lnSpc>
                <a:spcPct val="150000"/>
              </a:lnSpc>
              <a:buNone/>
            </a:pPr>
            <a:r>
              <a:rPr lang="en-US" sz="1050" dirty="0">
                <a:solidFill>
                  <a:srgbClr val="2A3340"/>
                </a:solidFill>
                <a:latin typeface="Arial" pitchFamily="34" charset="0"/>
                <a:ea typeface="Arial" pitchFamily="34" charset="-122"/>
                <a:cs typeface="Arial" pitchFamily="34" charset="-120"/>
              </a:rPr>
              <a:t>+ weekly revenue posts. Free.</a:t>
            </a:r>
            <a:endParaRPr lang="en-US" sz="1050" dirty="0"/>
          </a:p>
        </p:txBody>
      </p:sp>
      <p:sp>
        <p:nvSpPr>
          <p:cNvPr id="24" name="Text 21"/>
          <p:cNvSpPr/>
          <p:nvPr/>
        </p:nvSpPr>
        <p:spPr>
          <a:xfrm>
            <a:off x="8039100" y="2276475"/>
            <a:ext cx="9614535"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spc="144" kern="0" dirty="0">
                <a:solidFill>
                  <a:srgbClr val="5B47F0"/>
                </a:solidFill>
                <a:latin typeface="Courier New" pitchFamily="34" charset="0"/>
                <a:ea typeface="Courier New" pitchFamily="34" charset="-122"/>
                <a:cs typeface="Courier New" pitchFamily="34" charset="-120"/>
              </a:rPr>
              <a:t>MOATS · COMPOUNDING DEFENCES</a:t>
            </a:r>
            <a:endParaRPr lang="en-US" sz="1200" dirty="0"/>
          </a:p>
        </p:txBody>
      </p:sp>
      <p:sp>
        <p:nvSpPr>
          <p:cNvPr id="25" name="Shape 22"/>
          <p:cNvSpPr/>
          <p:nvPr/>
        </p:nvSpPr>
        <p:spPr>
          <a:xfrm>
            <a:off x="8039100" y="2657475"/>
            <a:ext cx="4619625" cy="1588740"/>
          </a:xfrm>
          <a:prstGeom prst="roundRect">
            <a:avLst>
              <a:gd name="adj" fmla="val 7194"/>
            </a:avLst>
          </a:prstGeom>
          <a:solidFill>
            <a:srgbClr val="FFFFFF"/>
          </a:solidFill>
          <a:ln w="14288">
            <a:solidFill>
              <a:srgbClr val="DDE5EC"/>
            </a:solidFill>
            <a:prstDash val="solid"/>
          </a:ln>
          <a:effectLst>
            <a:outerShdw sx="100000" sy="100000" kx="0" ky="0" algn="bl" rotWithShape="0" blurRad="28575" dist="9525" dir="5400000">
              <a:srgbClr val="0F1419">
                <a:alpha val="3000"/>
              </a:srgbClr>
            </a:outerShdw>
          </a:effectLst>
        </p:spPr>
      </p:sp>
      <p:sp>
        <p:nvSpPr>
          <p:cNvPr id="26" name="Text 23"/>
          <p:cNvSpPr/>
          <p:nvPr/>
        </p:nvSpPr>
        <p:spPr>
          <a:xfrm>
            <a:off x="8262938" y="2881313"/>
            <a:ext cx="4297109"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135" kern="0" dirty="0">
                <a:solidFill>
                  <a:srgbClr val="5B47F0"/>
                </a:solidFill>
                <a:latin typeface="Courier New" pitchFamily="34" charset="0"/>
                <a:ea typeface="Courier New" pitchFamily="34" charset="-122"/>
                <a:cs typeface="Courier New" pitchFamily="34" charset="-120"/>
              </a:rPr>
              <a:t>01</a:t>
            </a:r>
            <a:endParaRPr lang="en-US" sz="1125" dirty="0"/>
          </a:p>
        </p:txBody>
      </p:sp>
      <p:sp>
        <p:nvSpPr>
          <p:cNvPr id="27" name="Text 24"/>
          <p:cNvSpPr/>
          <p:nvPr/>
        </p:nvSpPr>
        <p:spPr>
          <a:xfrm>
            <a:off x="8262938" y="3209925"/>
            <a:ext cx="4297109" cy="279053"/>
          </a:xfrm>
          <a:prstGeom prst="rect">
            <a:avLst/>
          </a:prstGeom>
          <a:noFill/>
          <a:ln/>
        </p:spPr>
        <p:txBody>
          <a:bodyPr wrap="square" lIns="25400" tIns="25400" rIns="25400" bIns="25400" rtlCol="0" anchor="t">
            <a:normAutofit/>
          </a:bodyPr>
          <a:lstStyle/>
          <a:p>
            <a:pPr algn="l" indent="0" marL="0">
              <a:lnSpc>
                <a:spcPct val="115000"/>
              </a:lnSpc>
              <a:buNone/>
            </a:pPr>
            <a:r>
              <a:rPr lang="en-US" sz="1650" b="1" spc="-25" kern="0" dirty="0">
                <a:solidFill>
                  <a:srgbClr val="0F1419"/>
                </a:solidFill>
                <a:latin typeface="Arial" pitchFamily="34" charset="0"/>
                <a:ea typeface="Arial" pitchFamily="34" charset="-122"/>
                <a:cs typeface="Arial" pitchFamily="34" charset="-120"/>
              </a:rPr>
              <a:t>Wholesale AI contracts.</a:t>
            </a:r>
            <a:endParaRPr lang="en-US" sz="1650" dirty="0"/>
          </a:p>
        </p:txBody>
      </p:sp>
      <p:sp>
        <p:nvSpPr>
          <p:cNvPr id="28" name="Text 25"/>
          <p:cNvSpPr/>
          <p:nvPr/>
        </p:nvSpPr>
        <p:spPr>
          <a:xfrm>
            <a:off x="8262938" y="3565178"/>
            <a:ext cx="4297109" cy="4953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2A3340"/>
                </a:solidFill>
                <a:latin typeface="Arial" pitchFamily="34" charset="0"/>
                <a:ea typeface="Arial" pitchFamily="34" charset="-122"/>
                <a:cs typeface="Arial" pitchFamily="34" charset="-120"/>
              </a:rPr>
              <a:t>Enterprise rates with Anthropic / OpenAI at 5K customers. 10–20% off list = direct margin uplift.</a:t>
            </a:r>
            <a:endParaRPr lang="en-US" sz="1200" dirty="0"/>
          </a:p>
        </p:txBody>
      </p:sp>
      <p:sp>
        <p:nvSpPr>
          <p:cNvPr id="29" name="Shape 26"/>
          <p:cNvSpPr/>
          <p:nvPr/>
        </p:nvSpPr>
        <p:spPr>
          <a:xfrm>
            <a:off x="12753975" y="2657475"/>
            <a:ext cx="4619625" cy="1588740"/>
          </a:xfrm>
          <a:prstGeom prst="roundRect">
            <a:avLst>
              <a:gd name="adj" fmla="val 7194"/>
            </a:avLst>
          </a:prstGeom>
          <a:solidFill>
            <a:srgbClr val="FFFFFF"/>
          </a:solidFill>
          <a:ln w="14288">
            <a:solidFill>
              <a:srgbClr val="DDE5EC"/>
            </a:solidFill>
            <a:prstDash val="solid"/>
          </a:ln>
          <a:effectLst>
            <a:outerShdw sx="100000" sy="100000" kx="0" ky="0" algn="bl" rotWithShape="0" blurRad="28575" dist="9525" dir="5400000">
              <a:srgbClr val="0F1419">
                <a:alpha val="3000"/>
              </a:srgbClr>
            </a:outerShdw>
          </a:effectLst>
        </p:spPr>
      </p:sp>
      <p:sp>
        <p:nvSpPr>
          <p:cNvPr id="30" name="Text 27"/>
          <p:cNvSpPr/>
          <p:nvPr/>
        </p:nvSpPr>
        <p:spPr>
          <a:xfrm>
            <a:off x="12977813" y="2881313"/>
            <a:ext cx="4297109"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135" kern="0" dirty="0">
                <a:solidFill>
                  <a:srgbClr val="5B47F0"/>
                </a:solidFill>
                <a:latin typeface="Courier New" pitchFamily="34" charset="0"/>
                <a:ea typeface="Courier New" pitchFamily="34" charset="-122"/>
                <a:cs typeface="Courier New" pitchFamily="34" charset="-120"/>
              </a:rPr>
              <a:t>02</a:t>
            </a:r>
            <a:endParaRPr lang="en-US" sz="1125" dirty="0"/>
          </a:p>
        </p:txBody>
      </p:sp>
      <p:sp>
        <p:nvSpPr>
          <p:cNvPr id="31" name="Text 28"/>
          <p:cNvSpPr/>
          <p:nvPr/>
        </p:nvSpPr>
        <p:spPr>
          <a:xfrm>
            <a:off x="12977813" y="3209925"/>
            <a:ext cx="4297109" cy="279053"/>
          </a:xfrm>
          <a:prstGeom prst="rect">
            <a:avLst/>
          </a:prstGeom>
          <a:noFill/>
          <a:ln/>
        </p:spPr>
        <p:txBody>
          <a:bodyPr wrap="square" lIns="25400" tIns="25400" rIns="25400" bIns="25400" rtlCol="0" anchor="t">
            <a:normAutofit/>
          </a:bodyPr>
          <a:lstStyle/>
          <a:p>
            <a:pPr algn="l" indent="0" marL="0">
              <a:lnSpc>
                <a:spcPct val="115000"/>
              </a:lnSpc>
              <a:buNone/>
            </a:pPr>
            <a:r>
              <a:rPr lang="en-US" sz="1650" b="1" spc="-25" kern="0" dirty="0">
                <a:solidFill>
                  <a:srgbClr val="0F1419"/>
                </a:solidFill>
                <a:latin typeface="Arial" pitchFamily="34" charset="0"/>
                <a:ea typeface="Arial" pitchFamily="34" charset="-122"/>
                <a:cs typeface="Arial" pitchFamily="34" charset="-120"/>
              </a:rPr>
              <a:t>VPS + mailbox bulk.</a:t>
            </a:r>
            <a:endParaRPr lang="en-US" sz="1650" dirty="0"/>
          </a:p>
        </p:txBody>
      </p:sp>
      <p:sp>
        <p:nvSpPr>
          <p:cNvPr id="32" name="Text 29"/>
          <p:cNvSpPr/>
          <p:nvPr/>
        </p:nvSpPr>
        <p:spPr>
          <a:xfrm>
            <a:off x="12977813" y="3565178"/>
            <a:ext cx="4297109" cy="4953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2A3340"/>
                </a:solidFill>
                <a:latin typeface="Arial" pitchFamily="34" charset="0"/>
                <a:ea typeface="Arial" pitchFamily="34" charset="-122"/>
                <a:cs typeface="Arial" pitchFamily="34" charset="-120"/>
              </a:rPr>
              <a:t>Hetzner / Infomaniak account-manager pricing. £1–2/customer/mo savings competitors don't see.</a:t>
            </a:r>
            <a:endParaRPr lang="en-US" sz="1200" dirty="0"/>
          </a:p>
        </p:txBody>
      </p:sp>
      <p:sp>
        <p:nvSpPr>
          <p:cNvPr id="33" name="Shape 30"/>
          <p:cNvSpPr/>
          <p:nvPr/>
        </p:nvSpPr>
        <p:spPr>
          <a:xfrm>
            <a:off x="8039100" y="4341465"/>
            <a:ext cx="4619625" cy="1588740"/>
          </a:xfrm>
          <a:prstGeom prst="roundRect">
            <a:avLst>
              <a:gd name="adj" fmla="val 7194"/>
            </a:avLst>
          </a:prstGeom>
          <a:solidFill>
            <a:srgbClr val="FFFFFF"/>
          </a:solidFill>
          <a:ln w="14288">
            <a:solidFill>
              <a:srgbClr val="DDE5EC"/>
            </a:solidFill>
            <a:prstDash val="solid"/>
          </a:ln>
          <a:effectLst>
            <a:outerShdw sx="100000" sy="100000" kx="0" ky="0" algn="bl" rotWithShape="0" blurRad="28575" dist="9525" dir="5400000">
              <a:srgbClr val="0F1419">
                <a:alpha val="3000"/>
              </a:srgbClr>
            </a:outerShdw>
          </a:effectLst>
        </p:spPr>
      </p:sp>
      <p:sp>
        <p:nvSpPr>
          <p:cNvPr id="34" name="Text 31"/>
          <p:cNvSpPr/>
          <p:nvPr/>
        </p:nvSpPr>
        <p:spPr>
          <a:xfrm>
            <a:off x="8262938" y="4565303"/>
            <a:ext cx="4297109"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135" kern="0" dirty="0">
                <a:solidFill>
                  <a:srgbClr val="5B47F0"/>
                </a:solidFill>
                <a:latin typeface="Courier New" pitchFamily="34" charset="0"/>
                <a:ea typeface="Courier New" pitchFamily="34" charset="-122"/>
                <a:cs typeface="Courier New" pitchFamily="34" charset="-120"/>
              </a:rPr>
              <a:t>03</a:t>
            </a:r>
            <a:endParaRPr lang="en-US" sz="1125" dirty="0"/>
          </a:p>
        </p:txBody>
      </p:sp>
      <p:sp>
        <p:nvSpPr>
          <p:cNvPr id="35" name="Text 32"/>
          <p:cNvSpPr/>
          <p:nvPr/>
        </p:nvSpPr>
        <p:spPr>
          <a:xfrm>
            <a:off x="8262938" y="4893915"/>
            <a:ext cx="4297109" cy="279053"/>
          </a:xfrm>
          <a:prstGeom prst="rect">
            <a:avLst/>
          </a:prstGeom>
          <a:noFill/>
          <a:ln/>
        </p:spPr>
        <p:txBody>
          <a:bodyPr wrap="square" lIns="25400" tIns="25400" rIns="25400" bIns="25400" rtlCol="0" anchor="t">
            <a:normAutofit/>
          </a:bodyPr>
          <a:lstStyle/>
          <a:p>
            <a:pPr algn="l" indent="0" marL="0">
              <a:lnSpc>
                <a:spcPct val="115000"/>
              </a:lnSpc>
              <a:buNone/>
            </a:pPr>
            <a:r>
              <a:rPr lang="en-US" sz="1650" b="1" spc="-25" kern="0" dirty="0">
                <a:solidFill>
                  <a:srgbClr val="0F1419"/>
                </a:solidFill>
                <a:latin typeface="Arial" pitchFamily="34" charset="0"/>
                <a:ea typeface="Arial" pitchFamily="34" charset="-122"/>
                <a:cs typeface="Arial" pitchFamily="34" charset="-120"/>
              </a:rPr>
              <a:t>Template library.</a:t>
            </a:r>
            <a:endParaRPr lang="en-US" sz="1650" dirty="0"/>
          </a:p>
        </p:txBody>
      </p:sp>
      <p:sp>
        <p:nvSpPr>
          <p:cNvPr id="36" name="Text 33"/>
          <p:cNvSpPr/>
          <p:nvPr/>
        </p:nvSpPr>
        <p:spPr>
          <a:xfrm>
            <a:off x="8262938" y="5249168"/>
            <a:ext cx="4297109" cy="4953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2A3340"/>
                </a:solidFill>
                <a:latin typeface="Arial" pitchFamily="34" charset="0"/>
                <a:ea typeface="Arial" pitchFamily="34" charset="-122"/>
                <a:cs typeface="Arial" pitchFamily="34" charset="-120"/>
              </a:rPr>
              <a:t>20+ ready-to-run templates (POS, booking, course). Each = tutorial + SEO page + switching cost.</a:t>
            </a:r>
            <a:endParaRPr lang="en-US" sz="1200" dirty="0"/>
          </a:p>
        </p:txBody>
      </p:sp>
      <p:sp>
        <p:nvSpPr>
          <p:cNvPr id="37" name="Shape 34"/>
          <p:cNvSpPr/>
          <p:nvPr/>
        </p:nvSpPr>
        <p:spPr>
          <a:xfrm>
            <a:off x="12753975" y="4341465"/>
            <a:ext cx="4619625" cy="1588740"/>
          </a:xfrm>
          <a:prstGeom prst="roundRect">
            <a:avLst>
              <a:gd name="adj" fmla="val 7194"/>
            </a:avLst>
          </a:prstGeom>
          <a:solidFill>
            <a:srgbClr val="FFFFFF"/>
          </a:solidFill>
          <a:ln w="14288">
            <a:solidFill>
              <a:srgbClr val="DDE5EC"/>
            </a:solidFill>
            <a:prstDash val="solid"/>
          </a:ln>
          <a:effectLst>
            <a:outerShdw sx="100000" sy="100000" kx="0" ky="0" algn="bl" rotWithShape="0" blurRad="28575" dist="9525" dir="5400000">
              <a:srgbClr val="0F1419">
                <a:alpha val="3000"/>
              </a:srgbClr>
            </a:outerShdw>
          </a:effectLst>
        </p:spPr>
      </p:sp>
      <p:sp>
        <p:nvSpPr>
          <p:cNvPr id="38" name="Text 35"/>
          <p:cNvSpPr/>
          <p:nvPr/>
        </p:nvSpPr>
        <p:spPr>
          <a:xfrm>
            <a:off x="12977813" y="4565303"/>
            <a:ext cx="4297109"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135" kern="0" dirty="0">
                <a:solidFill>
                  <a:srgbClr val="5B47F0"/>
                </a:solidFill>
                <a:latin typeface="Courier New" pitchFamily="34" charset="0"/>
                <a:ea typeface="Courier New" pitchFamily="34" charset="-122"/>
                <a:cs typeface="Courier New" pitchFamily="34" charset="-120"/>
              </a:rPr>
              <a:t>04</a:t>
            </a:r>
            <a:endParaRPr lang="en-US" sz="1125" dirty="0"/>
          </a:p>
        </p:txBody>
      </p:sp>
      <p:sp>
        <p:nvSpPr>
          <p:cNvPr id="39" name="Text 36"/>
          <p:cNvSpPr/>
          <p:nvPr/>
        </p:nvSpPr>
        <p:spPr>
          <a:xfrm>
            <a:off x="12977813" y="4893915"/>
            <a:ext cx="4297109" cy="279053"/>
          </a:xfrm>
          <a:prstGeom prst="rect">
            <a:avLst/>
          </a:prstGeom>
          <a:noFill/>
          <a:ln/>
        </p:spPr>
        <p:txBody>
          <a:bodyPr wrap="square" lIns="25400" tIns="25400" rIns="25400" bIns="25400" rtlCol="0" anchor="t">
            <a:normAutofit/>
          </a:bodyPr>
          <a:lstStyle/>
          <a:p>
            <a:pPr algn="l" indent="0" marL="0">
              <a:lnSpc>
                <a:spcPct val="115000"/>
              </a:lnSpc>
              <a:buNone/>
            </a:pPr>
            <a:r>
              <a:rPr lang="en-US" sz="1650" b="1" spc="-25" kern="0" dirty="0">
                <a:solidFill>
                  <a:srgbClr val="0F1419"/>
                </a:solidFill>
                <a:latin typeface="Arial" pitchFamily="34" charset="0"/>
                <a:ea typeface="Arial" pitchFamily="34" charset="-122"/>
                <a:cs typeface="Arial" pitchFamily="34" charset="-120"/>
              </a:rPr>
              <a:t>BYO-AI brand.</a:t>
            </a:r>
            <a:endParaRPr lang="en-US" sz="1650" dirty="0"/>
          </a:p>
        </p:txBody>
      </p:sp>
      <p:sp>
        <p:nvSpPr>
          <p:cNvPr id="40" name="Text 37"/>
          <p:cNvSpPr/>
          <p:nvPr/>
        </p:nvSpPr>
        <p:spPr>
          <a:xfrm>
            <a:off x="12977813" y="5249168"/>
            <a:ext cx="4297109" cy="4953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2A3340"/>
                </a:solidFill>
                <a:latin typeface="Arial" pitchFamily="34" charset="0"/>
                <a:ea typeface="Arial" pitchFamily="34" charset="-122"/>
                <a:cs typeface="Arial" pitchFamily="34" charset="-120"/>
              </a:rPr>
              <a:t>"Production substrate for AI-built SaaS" in the community lexicon. Hard for a lab to re-train every user.</a:t>
            </a:r>
            <a:endParaRPr lang="en-US" sz="1200" dirty="0"/>
          </a:p>
        </p:txBody>
      </p:sp>
      <p:sp>
        <p:nvSpPr>
          <p:cNvPr id="41" name="Shape 38"/>
          <p:cNvSpPr/>
          <p:nvPr/>
        </p:nvSpPr>
        <p:spPr>
          <a:xfrm>
            <a:off x="8039100" y="6025455"/>
            <a:ext cx="4619625" cy="1588740"/>
          </a:xfrm>
          <a:prstGeom prst="roundRect">
            <a:avLst>
              <a:gd name="adj" fmla="val 7194"/>
            </a:avLst>
          </a:prstGeom>
          <a:solidFill>
            <a:srgbClr val="FFFFFF"/>
          </a:solidFill>
          <a:ln w="14288">
            <a:solidFill>
              <a:srgbClr val="DDE5EC"/>
            </a:solidFill>
            <a:prstDash val="solid"/>
          </a:ln>
          <a:effectLst>
            <a:outerShdw sx="100000" sy="100000" kx="0" ky="0" algn="bl" rotWithShape="0" blurRad="28575" dist="9525" dir="5400000">
              <a:srgbClr val="0F1419">
                <a:alpha val="3000"/>
              </a:srgbClr>
            </a:outerShdw>
          </a:effectLst>
        </p:spPr>
      </p:sp>
      <p:sp>
        <p:nvSpPr>
          <p:cNvPr id="42" name="Text 39"/>
          <p:cNvSpPr/>
          <p:nvPr/>
        </p:nvSpPr>
        <p:spPr>
          <a:xfrm>
            <a:off x="8262938" y="6249293"/>
            <a:ext cx="4297109"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135" kern="0" dirty="0">
                <a:solidFill>
                  <a:srgbClr val="5B47F0"/>
                </a:solidFill>
                <a:latin typeface="Courier New" pitchFamily="34" charset="0"/>
                <a:ea typeface="Courier New" pitchFamily="34" charset="-122"/>
                <a:cs typeface="Courier New" pitchFamily="34" charset="-120"/>
              </a:rPr>
              <a:t>05</a:t>
            </a:r>
            <a:endParaRPr lang="en-US" sz="1125" dirty="0"/>
          </a:p>
        </p:txBody>
      </p:sp>
      <p:sp>
        <p:nvSpPr>
          <p:cNvPr id="43" name="Text 40"/>
          <p:cNvSpPr/>
          <p:nvPr/>
        </p:nvSpPr>
        <p:spPr>
          <a:xfrm>
            <a:off x="8262938" y="6577905"/>
            <a:ext cx="4297109" cy="279053"/>
          </a:xfrm>
          <a:prstGeom prst="rect">
            <a:avLst/>
          </a:prstGeom>
          <a:noFill/>
          <a:ln/>
        </p:spPr>
        <p:txBody>
          <a:bodyPr wrap="square" lIns="25400" tIns="25400" rIns="25400" bIns="25400" rtlCol="0" anchor="t">
            <a:normAutofit/>
          </a:bodyPr>
          <a:lstStyle/>
          <a:p>
            <a:pPr algn="l" indent="0" marL="0">
              <a:lnSpc>
                <a:spcPct val="115000"/>
              </a:lnSpc>
              <a:buNone/>
            </a:pPr>
            <a:r>
              <a:rPr lang="en-US" sz="1650" b="1" spc="-25" kern="0" dirty="0">
                <a:solidFill>
                  <a:srgbClr val="0F1419"/>
                </a:solidFill>
                <a:latin typeface="Arial" pitchFamily="34" charset="0"/>
                <a:ea typeface="Arial" pitchFamily="34" charset="-122"/>
                <a:cs typeface="Arial" pitchFamily="34" charset="-120"/>
              </a:rPr>
              <a:t>OSS self-host edition.</a:t>
            </a:r>
            <a:endParaRPr lang="en-US" sz="1650" dirty="0"/>
          </a:p>
        </p:txBody>
      </p:sp>
      <p:sp>
        <p:nvSpPr>
          <p:cNvPr id="44" name="Text 41"/>
          <p:cNvSpPr/>
          <p:nvPr/>
        </p:nvSpPr>
        <p:spPr>
          <a:xfrm>
            <a:off x="8262938" y="6933158"/>
            <a:ext cx="4297109" cy="4953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2A3340"/>
                </a:solidFill>
                <a:latin typeface="Arial" pitchFamily="34" charset="0"/>
                <a:ea typeface="Arial" pitchFamily="34" charset="-122"/>
                <a:cs typeface="Arial" pitchFamily="34" charset="-120"/>
              </a:rPr>
              <a:t>BSL → Apache. Strips switching-cost concern. We sell managed + support on top.</a:t>
            </a:r>
            <a:endParaRPr lang="en-US" sz="1200" dirty="0"/>
          </a:p>
        </p:txBody>
      </p:sp>
      <p:sp>
        <p:nvSpPr>
          <p:cNvPr id="45" name="Shape 42"/>
          <p:cNvSpPr/>
          <p:nvPr/>
        </p:nvSpPr>
        <p:spPr>
          <a:xfrm>
            <a:off x="12753975" y="6025455"/>
            <a:ext cx="4619625" cy="1588740"/>
          </a:xfrm>
          <a:prstGeom prst="roundRect">
            <a:avLst>
              <a:gd name="adj" fmla="val 7194"/>
            </a:avLst>
          </a:prstGeom>
          <a:solidFill>
            <a:srgbClr val="FFFFFF"/>
          </a:solidFill>
          <a:ln w="14288">
            <a:solidFill>
              <a:srgbClr val="DDE5EC"/>
            </a:solidFill>
            <a:prstDash val="solid"/>
          </a:ln>
          <a:effectLst>
            <a:outerShdw sx="100000" sy="100000" kx="0" ky="0" algn="bl" rotWithShape="0" blurRad="28575" dist="9525" dir="5400000">
              <a:srgbClr val="0F1419">
                <a:alpha val="3000"/>
              </a:srgbClr>
            </a:outerShdw>
          </a:effectLst>
        </p:spPr>
      </p:sp>
      <p:sp>
        <p:nvSpPr>
          <p:cNvPr id="46" name="Text 43"/>
          <p:cNvSpPr/>
          <p:nvPr/>
        </p:nvSpPr>
        <p:spPr>
          <a:xfrm>
            <a:off x="12977813" y="6249293"/>
            <a:ext cx="4297109"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135" kern="0" dirty="0">
                <a:solidFill>
                  <a:srgbClr val="5B47F0"/>
                </a:solidFill>
                <a:latin typeface="Courier New" pitchFamily="34" charset="0"/>
                <a:ea typeface="Courier New" pitchFamily="34" charset="-122"/>
                <a:cs typeface="Courier New" pitchFamily="34" charset="-120"/>
              </a:rPr>
              <a:t>06</a:t>
            </a:r>
            <a:endParaRPr lang="en-US" sz="1125" dirty="0"/>
          </a:p>
        </p:txBody>
      </p:sp>
      <p:sp>
        <p:nvSpPr>
          <p:cNvPr id="47" name="Text 44"/>
          <p:cNvSpPr/>
          <p:nvPr/>
        </p:nvSpPr>
        <p:spPr>
          <a:xfrm>
            <a:off x="12977813" y="6577905"/>
            <a:ext cx="4297109" cy="279053"/>
          </a:xfrm>
          <a:prstGeom prst="rect">
            <a:avLst/>
          </a:prstGeom>
          <a:noFill/>
          <a:ln/>
        </p:spPr>
        <p:txBody>
          <a:bodyPr wrap="square" lIns="25400" tIns="25400" rIns="25400" bIns="25400" rtlCol="0" anchor="t">
            <a:normAutofit/>
          </a:bodyPr>
          <a:lstStyle/>
          <a:p>
            <a:pPr algn="l" indent="0" marL="0">
              <a:lnSpc>
                <a:spcPct val="115000"/>
              </a:lnSpc>
              <a:buNone/>
            </a:pPr>
            <a:r>
              <a:rPr lang="en-US" sz="1650" b="1" spc="-25" kern="0" dirty="0">
                <a:solidFill>
                  <a:srgbClr val="0F1419"/>
                </a:solidFill>
                <a:latin typeface="Arial" pitchFamily="34" charset="0"/>
                <a:ea typeface="Arial" pitchFamily="34" charset="-122"/>
                <a:cs typeface="Arial" pitchFamily="34" charset="-120"/>
              </a:rPr>
              <a:t>Founder-led retention.</a:t>
            </a:r>
            <a:endParaRPr lang="en-US" sz="1650" dirty="0"/>
          </a:p>
        </p:txBody>
      </p:sp>
      <p:sp>
        <p:nvSpPr>
          <p:cNvPr id="48" name="Text 45"/>
          <p:cNvSpPr/>
          <p:nvPr/>
        </p:nvSpPr>
        <p:spPr>
          <a:xfrm>
            <a:off x="12977813" y="6933158"/>
            <a:ext cx="4297109" cy="4953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2A3340"/>
                </a:solidFill>
                <a:latin typeface="Arial" pitchFamily="34" charset="0"/>
                <a:ea typeface="Arial" pitchFamily="34" charset="-122"/>
                <a:cs typeface="Arial" pitchFamily="34" charset="-120"/>
              </a:rPr>
              <a:t>First 500 customers know the founder personally. Cannot be replicated by a corporate product team.</a:t>
            </a:r>
            <a:endParaRPr lang="en-US" sz="1200" dirty="0"/>
          </a:p>
        </p:txBody>
      </p:sp>
      <p:sp>
        <p:nvSpPr>
          <p:cNvPr id="49" name="Text 46"/>
          <p:cNvSpPr/>
          <p:nvPr/>
        </p:nvSpPr>
        <p:spPr>
          <a:xfrm>
            <a:off x="914400" y="7823746"/>
            <a:ext cx="16952976" cy="274290"/>
          </a:xfrm>
          <a:prstGeom prst="rect">
            <a:avLst/>
          </a:prstGeom>
          <a:noFill/>
          <a:ln/>
        </p:spPr>
        <p:txBody>
          <a:bodyPr wrap="square" lIns="25400" tIns="25400" rIns="25400" bIns="25400" rtlCol="0" anchor="t">
            <a:normAutofit/>
          </a:bodyPr>
          <a:lstStyle/>
          <a:p>
            <a:pPr algn="l" indent="0" marL="0">
              <a:lnSpc>
                <a:spcPct val="155000"/>
              </a:lnSpc>
              <a:buNone/>
            </a:pPr>
            <a:r>
              <a:rPr lang="en-US" sz="1200" spc="48" kern="0" dirty="0">
                <a:solidFill>
                  <a:srgbClr val="6E7785"/>
                </a:solidFill>
                <a:latin typeface="Courier New" pitchFamily="34" charset="0"/>
                <a:ea typeface="Courier New" pitchFamily="34" charset="-122"/>
                <a:cs typeface="Courier New" pitchFamily="34" charset="-120"/>
              </a:rPr>
              <a:t>Y1: Engineer + Marketer (raise path). Y2: 2–3 hires only if MRR clears £200K. Default = founder-led indefinitely.</a:t>
            </a:r>
            <a:endParaRPr lang="en-US" sz="1200" dirty="0"/>
          </a:p>
        </p:txBody>
      </p:sp>
      <p:sp>
        <p:nvSpPr>
          <p:cNvPr id="50" name="Shape 47"/>
          <p:cNvSpPr/>
          <p:nvPr/>
        </p:nvSpPr>
        <p:spPr>
          <a:xfrm>
            <a:off x="914400" y="9286875"/>
            <a:ext cx="16459200" cy="9525"/>
          </a:xfrm>
          <a:prstGeom prst="rect">
            <a:avLst/>
          </a:prstGeom>
          <a:solidFill>
            <a:srgbClr val="DDE5EC"/>
          </a:solidFill>
          <a:ln/>
        </p:spPr>
      </p:sp>
      <p:sp>
        <p:nvSpPr>
          <p:cNvPr id="51" name="Text 48"/>
          <p:cNvSpPr/>
          <p:nvPr/>
        </p:nvSpPr>
        <p:spPr>
          <a:xfrm>
            <a:off x="914400" y="9532144"/>
            <a:ext cx="4533256"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113" kern="0" dirty="0">
                <a:solidFill>
                  <a:srgbClr val="6E7785"/>
                </a:solidFill>
                <a:latin typeface="Courier New" pitchFamily="34" charset="0"/>
                <a:ea typeface="Courier New" pitchFamily="34" charset="-122"/>
                <a:cs typeface="Courier New" pitchFamily="34" charset="-120"/>
              </a:rPr>
              <a:t>HATCHIK · INVESTOR &amp; PARTNER DECK · MAY 2026</a:t>
            </a:r>
            <a:endParaRPr lang="en-US" sz="1125" dirty="0"/>
          </a:p>
        </p:txBody>
      </p:sp>
      <p:sp>
        <p:nvSpPr>
          <p:cNvPr id="52" name="Text 49"/>
          <p:cNvSpPr/>
          <p:nvPr/>
        </p:nvSpPr>
        <p:spPr>
          <a:xfrm>
            <a:off x="16690851" y="9525000"/>
            <a:ext cx="758949"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spc="48" kern="0" dirty="0">
                <a:solidFill>
                  <a:srgbClr val="0F1419"/>
                </a:solidFill>
                <a:latin typeface="Courier New" pitchFamily="34" charset="0"/>
                <a:ea typeface="Courier New" pitchFamily="34" charset="-122"/>
                <a:cs typeface="Courier New" pitchFamily="34" charset="-120"/>
              </a:rPr>
              <a:t>28 / 31</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5B47F0">
              <a:alpha val="4000"/>
            </a:srgbClr>
          </a:solidFill>
          <a:ln/>
        </p:spPr>
      </p:sp>
      <p:sp>
        <p:nvSpPr>
          <p:cNvPr id="3" name="Shape 1"/>
          <p:cNvSpPr/>
          <p:nvPr/>
        </p:nvSpPr>
        <p:spPr>
          <a:xfrm>
            <a:off x="914400" y="1009650"/>
            <a:ext cx="16459200" cy="9525"/>
          </a:xfrm>
          <a:prstGeom prst="rect">
            <a:avLst/>
          </a:prstGeom>
          <a:solidFill>
            <a:srgbClr val="DDE5EC"/>
          </a:solidFill>
          <a:ln/>
        </p:spPr>
      </p:sp>
      <p:pic>
        <p:nvPicPr>
          <p:cNvPr id="4" name="Image 0" descr="preencoded.png">    </p:cNvPr>
          <p:cNvPicPr>
            <a:picLocks noChangeAspect="1"/>
          </p:cNvPicPr>
          <p:nvPr/>
        </p:nvPicPr>
        <p:blipFill>
          <a:blip r:embed="rId1"/>
          <a:stretch>
            <a:fillRect/>
          </a:stretch>
        </p:blipFill>
        <p:spPr>
          <a:xfrm>
            <a:off x="914400" y="571500"/>
            <a:ext cx="209550" cy="209550"/>
          </a:xfrm>
          <a:prstGeom prst="rect">
            <a:avLst/>
          </a:prstGeom>
        </p:spPr>
      </p:pic>
      <p:sp>
        <p:nvSpPr>
          <p:cNvPr id="5" name="Text 2"/>
          <p:cNvSpPr/>
          <p:nvPr/>
        </p:nvSpPr>
        <p:spPr>
          <a:xfrm>
            <a:off x="1219200" y="533400"/>
            <a:ext cx="745108"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spc="-37" kern="0" dirty="0">
                <a:solidFill>
                  <a:srgbClr val="0F1419"/>
                </a:solidFill>
                <a:latin typeface="Arial" pitchFamily="34" charset="0"/>
                <a:ea typeface="Arial" pitchFamily="34" charset="-122"/>
                <a:cs typeface="Arial" pitchFamily="34" charset="-120"/>
              </a:rPr>
              <a:t>hatchik</a:t>
            </a:r>
            <a:endParaRPr lang="en-US" sz="1500" dirty="0"/>
          </a:p>
        </p:txBody>
      </p:sp>
      <p:sp>
        <p:nvSpPr>
          <p:cNvPr id="6" name="Text 3"/>
          <p:cNvSpPr/>
          <p:nvPr/>
        </p:nvSpPr>
        <p:spPr>
          <a:xfrm>
            <a:off x="13738324" y="562421"/>
            <a:ext cx="3744334" cy="265733"/>
          </a:xfrm>
          <a:prstGeom prst="rect">
            <a:avLst/>
          </a:prstGeom>
          <a:noFill/>
          <a:ln/>
        </p:spPr>
        <p:txBody>
          <a:bodyPr wrap="square" lIns="25400" tIns="25400" rIns="25400" bIns="25400" rtlCol="0" anchor="t">
            <a:normAutofit/>
          </a:bodyPr>
          <a:lstStyle/>
          <a:p>
            <a:pPr algn="l" indent="0" marL="0">
              <a:lnSpc>
                <a:spcPct val="140000"/>
              </a:lnSpc>
              <a:buNone/>
            </a:pPr>
            <a:r>
              <a:rPr lang="en-US" sz="1200" spc="120" kern="0" dirty="0">
                <a:solidFill>
                  <a:srgbClr val="0F1419"/>
                </a:solidFill>
                <a:latin typeface="Courier New" pitchFamily="34" charset="0"/>
                <a:ea typeface="Courier New" pitchFamily="34" charset="-122"/>
                <a:cs typeface="Courier New" pitchFamily="34" charset="-120"/>
              </a:rPr>
              <a:t>29 </a:t>
            </a:r>
            <a:pPr algn="l" indent="0" marL="0">
              <a:lnSpc>
                <a:spcPct val="140000"/>
              </a:lnSpc>
              <a:buNone/>
            </a:pPr>
            <a:r>
              <a:rPr lang="en-US" sz="1200" spc="120" kern="0" dirty="0">
                <a:solidFill>
                  <a:srgbClr val="5B47F0"/>
                </a:solidFill>
                <a:latin typeface="Courier New" pitchFamily="34" charset="0"/>
                <a:ea typeface="Courier New" pitchFamily="34" charset="-122"/>
                <a:cs typeface="Courier New" pitchFamily="34" charset="-120"/>
              </a:rPr>
              <a:t>· </a:t>
            </a:r>
            <a:pPr algn="l" indent="0" marL="0">
              <a:lnSpc>
                <a:spcPct val="140000"/>
              </a:lnSpc>
              <a:buNone/>
            </a:pPr>
            <a:r>
              <a:rPr lang="en-US" sz="1200" spc="120" kern="0" dirty="0">
                <a:solidFill>
                  <a:srgbClr val="6E7785"/>
                </a:solidFill>
                <a:latin typeface="Courier New" pitchFamily="34" charset="0"/>
                <a:ea typeface="Courier New" pitchFamily="34" charset="-122"/>
                <a:cs typeface="Courier New" pitchFamily="34" charset="-120"/>
              </a:rPr>
              <a:t>APPENDIX · CAPACITY MANAGEMENT</a:t>
            </a:r>
            <a:endParaRPr lang="en-US" sz="1200" dirty="0"/>
          </a:p>
        </p:txBody>
      </p:sp>
      <p:sp>
        <p:nvSpPr>
          <p:cNvPr id="7" name="Text 4"/>
          <p:cNvSpPr/>
          <p:nvPr/>
        </p:nvSpPr>
        <p:spPr>
          <a:xfrm>
            <a:off x="914400" y="1438275"/>
            <a:ext cx="15893415" cy="533400"/>
          </a:xfrm>
          <a:prstGeom prst="rect">
            <a:avLst/>
          </a:prstGeom>
          <a:noFill/>
          <a:ln/>
        </p:spPr>
        <p:txBody>
          <a:bodyPr wrap="square" lIns="25400" tIns="25400" rIns="25400" bIns="25400" rtlCol="0" anchor="t">
            <a:normAutofit/>
          </a:bodyPr>
          <a:lstStyle/>
          <a:p>
            <a:pPr algn="l" indent="0" marL="0">
              <a:lnSpc>
                <a:spcPct val="100000"/>
              </a:lnSpc>
              <a:buNone/>
            </a:pPr>
            <a:r>
              <a:rPr lang="en-US" sz="3900" b="1" spc="-156" kern="0" dirty="0">
                <a:solidFill>
                  <a:srgbClr val="0F1419"/>
                </a:solidFill>
                <a:latin typeface="Arial" pitchFamily="34" charset="0"/>
                <a:ea typeface="Arial" pitchFamily="34" charset="-122"/>
                <a:cs typeface="Arial" pitchFamily="34" charset="-120"/>
              </a:rPr>
              <a:t>Two tiers. </a:t>
            </a:r>
            <a:pPr algn="l" indent="0" marL="0">
              <a:lnSpc>
                <a:spcPct val="100000"/>
              </a:lnSpc>
              <a:buNone/>
            </a:pPr>
            <a:r>
              <a:rPr lang="en-US" sz="3900" b="1" spc="-156" kern="0" dirty="0">
                <a:solidFill>
                  <a:srgbClr val="5B47F0"/>
                </a:solidFill>
                <a:latin typeface="Arial" pitchFamily="34" charset="0"/>
                <a:ea typeface="Arial" pitchFamily="34" charset="-122"/>
                <a:cs typeface="Arial" pitchFamily="34" charset="-120"/>
              </a:rPr>
              <a:t>Two density strategies.</a:t>
            </a:r>
            <a:endParaRPr lang="en-US" sz="3900" dirty="0"/>
          </a:p>
        </p:txBody>
      </p:sp>
      <p:sp>
        <p:nvSpPr>
          <p:cNvPr id="8" name="Text 5"/>
          <p:cNvSpPr/>
          <p:nvPr/>
        </p:nvSpPr>
        <p:spPr>
          <a:xfrm>
            <a:off x="914400" y="2200275"/>
            <a:ext cx="12950190" cy="562868"/>
          </a:xfrm>
          <a:prstGeom prst="rect">
            <a:avLst/>
          </a:prstGeom>
          <a:noFill/>
          <a:ln/>
        </p:spPr>
        <p:txBody>
          <a:bodyPr wrap="square" lIns="25400" tIns="25400" rIns="25400" bIns="25400" rtlCol="0" anchor="t">
            <a:normAutofit/>
          </a:bodyPr>
          <a:lstStyle/>
          <a:p>
            <a:pPr algn="l" indent="0" marL="0">
              <a:lnSpc>
                <a:spcPct val="145000"/>
              </a:lnSpc>
              <a:buNone/>
            </a:pPr>
            <a:r>
              <a:rPr lang="en-US" sz="1425" dirty="0">
                <a:solidFill>
                  <a:srgbClr val="2A3340"/>
                </a:solidFill>
                <a:latin typeface="Arial" pitchFamily="34" charset="0"/>
                <a:ea typeface="Arial" pitchFamily="34" charset="-122"/>
                <a:cs typeface="Arial" pitchFamily="34" charset="-120"/>
              </a:rPr>
              <a:t>Sandbox runs hot and cheap on a single CAX31 via overcommit + idle-suspend. Launch runs warm on CAX41 with bin-packing. Both have explicit watermarks that trigger horizontal scale before contention bites.</a:t>
            </a:r>
            <a:endParaRPr lang="en-US" sz="1425" dirty="0"/>
          </a:p>
        </p:txBody>
      </p:sp>
      <p:sp>
        <p:nvSpPr>
          <p:cNvPr id="9" name="Shape 6"/>
          <p:cNvSpPr/>
          <p:nvPr/>
        </p:nvSpPr>
        <p:spPr>
          <a:xfrm>
            <a:off x="914400" y="3029843"/>
            <a:ext cx="8134350" cy="3747120"/>
          </a:xfrm>
          <a:prstGeom prst="roundRect">
            <a:avLst>
              <a:gd name="adj" fmla="val 4067"/>
            </a:avLst>
          </a:prstGeom>
          <a:solidFill>
            <a:srgbClr val="FFFFFF"/>
          </a:solidFill>
          <a:ln w="14288">
            <a:solidFill>
              <a:srgbClr val="DDE5EC"/>
            </a:solidFill>
            <a:prstDash val="solid"/>
          </a:ln>
          <a:effectLst>
            <a:outerShdw sx="100000" sy="100000" kx="0" ky="0" algn="bl" rotWithShape="0" blurRad="38100" dist="19050" dir="5400000">
              <a:srgbClr val="0F1419">
                <a:alpha val="4000"/>
              </a:srgbClr>
            </a:outerShdw>
          </a:effectLst>
        </p:spPr>
      </p:sp>
      <p:sp>
        <p:nvSpPr>
          <p:cNvPr id="10" name="Text 7"/>
          <p:cNvSpPr/>
          <p:nvPr/>
        </p:nvSpPr>
        <p:spPr>
          <a:xfrm>
            <a:off x="1195388" y="3310830"/>
            <a:ext cx="7799546"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113" kern="0" dirty="0">
                <a:solidFill>
                  <a:srgbClr val="6E7785"/>
                </a:solidFill>
                <a:latin typeface="Courier New" pitchFamily="34" charset="0"/>
                <a:ea typeface="Courier New" pitchFamily="34" charset="-122"/>
                <a:cs typeface="Courier New" pitchFamily="34" charset="-120"/>
              </a:rPr>
              <a:t>SANDBOX TIER · CAX31 · £0.30/MO</a:t>
            </a:r>
            <a:endParaRPr lang="en-US" sz="1125" dirty="0"/>
          </a:p>
        </p:txBody>
      </p:sp>
      <p:sp>
        <p:nvSpPr>
          <p:cNvPr id="11" name="Text 8"/>
          <p:cNvSpPr/>
          <p:nvPr/>
        </p:nvSpPr>
        <p:spPr>
          <a:xfrm>
            <a:off x="1195388" y="3658493"/>
            <a:ext cx="7799546" cy="322883"/>
          </a:xfrm>
          <a:prstGeom prst="rect">
            <a:avLst/>
          </a:prstGeom>
          <a:noFill/>
          <a:ln/>
        </p:spPr>
        <p:txBody>
          <a:bodyPr wrap="square" lIns="25400" tIns="25400" rIns="25400" bIns="25400" rtlCol="0" anchor="t">
            <a:normAutofit/>
          </a:bodyPr>
          <a:lstStyle/>
          <a:p>
            <a:pPr algn="l" indent="0" marL="0">
              <a:lnSpc>
                <a:spcPct val="115000"/>
              </a:lnSpc>
              <a:buNone/>
            </a:pPr>
            <a:r>
              <a:rPr lang="en-US" sz="1950" b="1" spc="-39" kern="0" dirty="0">
                <a:solidFill>
                  <a:srgbClr val="0F1419"/>
                </a:solidFill>
                <a:latin typeface="Arial" pitchFamily="34" charset="0"/>
                <a:ea typeface="Arial" pitchFamily="34" charset="-122"/>
                <a:cs typeface="Arial" pitchFamily="34" charset="-120"/>
              </a:rPr>
              <a:t>Target ~45 tenants / host.</a:t>
            </a:r>
            <a:endParaRPr lang="en-US" sz="1950" dirty="0"/>
          </a:p>
        </p:txBody>
      </p:sp>
      <p:sp>
        <p:nvSpPr>
          <p:cNvPr id="12" name="Shape 9"/>
          <p:cNvSpPr/>
          <p:nvPr/>
        </p:nvSpPr>
        <p:spPr>
          <a:xfrm>
            <a:off x="1195388" y="4133776"/>
            <a:ext cx="7572375" cy="9525"/>
          </a:xfrm>
          <a:prstGeom prst="rect">
            <a:avLst/>
          </a:prstGeom>
          <a:solidFill>
            <a:srgbClr val="DDE5EC"/>
          </a:solidFill>
          <a:ln/>
        </p:spPr>
      </p:sp>
      <p:sp>
        <p:nvSpPr>
          <p:cNvPr id="13" name="Text 10"/>
          <p:cNvSpPr/>
          <p:nvPr/>
        </p:nvSpPr>
        <p:spPr>
          <a:xfrm>
            <a:off x="1195388" y="4219501"/>
            <a:ext cx="1790700" cy="238125"/>
          </a:xfrm>
          <a:prstGeom prst="rect">
            <a:avLst/>
          </a:prstGeom>
          <a:noFill/>
          <a:ln/>
        </p:spPr>
        <p:txBody>
          <a:bodyPr wrap="square" lIns="25400" tIns="25400" rIns="25400" bIns="25400" rtlCol="0" anchor="t">
            <a:normAutofit/>
          </a:bodyPr>
          <a:lstStyle/>
          <a:p>
            <a:pPr algn="l" indent="0" marL="0">
              <a:lnSpc>
                <a:spcPct val="150000"/>
              </a:lnSpc>
              <a:buNone/>
            </a:pPr>
            <a:r>
              <a:rPr lang="en-US" sz="825" spc="66" kern="0" dirty="0">
                <a:solidFill>
                  <a:srgbClr val="6E7785"/>
                </a:solidFill>
                <a:latin typeface="Courier New" pitchFamily="34" charset="0"/>
                <a:ea typeface="Courier New" pitchFamily="34" charset="-122"/>
                <a:cs typeface="Courier New" pitchFamily="34" charset="-120"/>
              </a:rPr>
              <a:t>DROP STUDIO</a:t>
            </a:r>
            <a:endParaRPr lang="en-US" sz="825" dirty="0"/>
          </a:p>
        </p:txBody>
      </p:sp>
      <p:sp>
        <p:nvSpPr>
          <p:cNvPr id="14" name="Text 11"/>
          <p:cNvSpPr/>
          <p:nvPr/>
        </p:nvSpPr>
        <p:spPr>
          <a:xfrm>
            <a:off x="2909888" y="4219501"/>
            <a:ext cx="6033611" cy="238125"/>
          </a:xfrm>
          <a:prstGeom prst="rect">
            <a:avLst/>
          </a:prstGeom>
          <a:noFill/>
          <a:ln/>
        </p:spPr>
        <p:txBody>
          <a:bodyPr wrap="square" lIns="25400" tIns="25400" rIns="25400" bIns="25400" rtlCol="0" anchor="t">
            <a:normAutofit/>
          </a:bodyPr>
          <a:lstStyle/>
          <a:p>
            <a:pPr algn="l" indent="0" marL="0">
              <a:lnSpc>
                <a:spcPct val="150000"/>
              </a:lnSpc>
              <a:buNone/>
            </a:pPr>
            <a:r>
              <a:rPr lang="en-US" sz="1050" dirty="0">
                <a:solidFill>
                  <a:srgbClr val="2A3340"/>
                </a:solidFill>
                <a:latin typeface="Arial" pitchFamily="34" charset="0"/>
                <a:ea typeface="Arial" pitchFamily="34" charset="-122"/>
                <a:cs typeface="Arial" pitchFamily="34" charset="-120"/>
              </a:rPr>
              <a:t>Saves ~400 MB RAM + ~300 MB disk/tenant.</a:t>
            </a:r>
            <a:endParaRPr lang="en-US" sz="1050" dirty="0"/>
          </a:p>
        </p:txBody>
      </p:sp>
      <p:sp>
        <p:nvSpPr>
          <p:cNvPr id="15" name="Shape 12"/>
          <p:cNvSpPr/>
          <p:nvPr/>
        </p:nvSpPr>
        <p:spPr>
          <a:xfrm>
            <a:off x="1195388" y="4533826"/>
            <a:ext cx="7572375" cy="9525"/>
          </a:xfrm>
          <a:prstGeom prst="rect">
            <a:avLst/>
          </a:prstGeom>
          <a:solidFill>
            <a:srgbClr val="DDE5EC"/>
          </a:solidFill>
          <a:ln/>
        </p:spPr>
      </p:sp>
      <p:sp>
        <p:nvSpPr>
          <p:cNvPr id="16" name="Text 13"/>
          <p:cNvSpPr/>
          <p:nvPr/>
        </p:nvSpPr>
        <p:spPr>
          <a:xfrm>
            <a:off x="1195388" y="4619551"/>
            <a:ext cx="1790700" cy="238125"/>
          </a:xfrm>
          <a:prstGeom prst="rect">
            <a:avLst/>
          </a:prstGeom>
          <a:noFill/>
          <a:ln/>
        </p:spPr>
        <p:txBody>
          <a:bodyPr wrap="square" lIns="25400" tIns="25400" rIns="25400" bIns="25400" rtlCol="0" anchor="t">
            <a:normAutofit/>
          </a:bodyPr>
          <a:lstStyle/>
          <a:p>
            <a:pPr algn="l" indent="0" marL="0">
              <a:lnSpc>
                <a:spcPct val="150000"/>
              </a:lnSpc>
              <a:buNone/>
            </a:pPr>
            <a:r>
              <a:rPr lang="en-US" sz="825" spc="66" kern="0" dirty="0">
                <a:solidFill>
                  <a:srgbClr val="6E7785"/>
                </a:solidFill>
                <a:latin typeface="Courier New" pitchFamily="34" charset="0"/>
                <a:ea typeface="Courier New" pitchFamily="34" charset="-122"/>
                <a:cs typeface="Courier New" pitchFamily="34" charset="-120"/>
              </a:rPr>
              <a:t>MEMORY OVERCOMMIT</a:t>
            </a:r>
            <a:endParaRPr lang="en-US" sz="825" dirty="0"/>
          </a:p>
        </p:txBody>
      </p:sp>
      <p:sp>
        <p:nvSpPr>
          <p:cNvPr id="17" name="Text 14"/>
          <p:cNvSpPr/>
          <p:nvPr/>
        </p:nvSpPr>
        <p:spPr>
          <a:xfrm>
            <a:off x="2909888" y="4619551"/>
            <a:ext cx="6033611" cy="238125"/>
          </a:xfrm>
          <a:prstGeom prst="rect">
            <a:avLst/>
          </a:prstGeom>
          <a:noFill/>
          <a:ln/>
        </p:spPr>
        <p:txBody>
          <a:bodyPr wrap="square" lIns="25400" tIns="25400" rIns="25400" bIns="25400" rtlCol="0" anchor="t">
            <a:normAutofit/>
          </a:bodyPr>
          <a:lstStyle/>
          <a:p>
            <a:pPr algn="l" indent="0" marL="0">
              <a:lnSpc>
                <a:spcPct val="150000"/>
              </a:lnSpc>
              <a:buNone/>
            </a:pPr>
            <a:r>
              <a:rPr lang="en-US" sz="1050" dirty="0">
                <a:solidFill>
                  <a:srgbClr val="2A3340"/>
                </a:solidFill>
                <a:latin typeface="Arial" pitchFamily="34" charset="0"/>
                <a:ea typeface="Arial" pitchFamily="34" charset="-122"/>
                <a:cs typeface="Arial" pitchFamily="34" charset="-120"/>
              </a:rPr>
              <a:t>vm.overcommit_memory=1 + 16 GB swap. 1.5× density.</a:t>
            </a:r>
            <a:endParaRPr lang="en-US" sz="1050" dirty="0"/>
          </a:p>
        </p:txBody>
      </p:sp>
      <p:sp>
        <p:nvSpPr>
          <p:cNvPr id="18" name="Shape 15"/>
          <p:cNvSpPr/>
          <p:nvPr/>
        </p:nvSpPr>
        <p:spPr>
          <a:xfrm>
            <a:off x="1195388" y="4933876"/>
            <a:ext cx="7572375" cy="9525"/>
          </a:xfrm>
          <a:prstGeom prst="rect">
            <a:avLst/>
          </a:prstGeom>
          <a:solidFill>
            <a:srgbClr val="DDE5EC"/>
          </a:solidFill>
          <a:ln/>
        </p:spPr>
      </p:sp>
      <p:sp>
        <p:nvSpPr>
          <p:cNvPr id="19" name="Text 16"/>
          <p:cNvSpPr/>
          <p:nvPr/>
        </p:nvSpPr>
        <p:spPr>
          <a:xfrm>
            <a:off x="1195388" y="5019601"/>
            <a:ext cx="1790700" cy="238125"/>
          </a:xfrm>
          <a:prstGeom prst="rect">
            <a:avLst/>
          </a:prstGeom>
          <a:noFill/>
          <a:ln/>
        </p:spPr>
        <p:txBody>
          <a:bodyPr wrap="square" lIns="25400" tIns="25400" rIns="25400" bIns="25400" rtlCol="0" anchor="t">
            <a:normAutofit/>
          </a:bodyPr>
          <a:lstStyle/>
          <a:p>
            <a:pPr algn="l" indent="0" marL="0">
              <a:lnSpc>
                <a:spcPct val="150000"/>
              </a:lnSpc>
              <a:buNone/>
            </a:pPr>
            <a:r>
              <a:rPr lang="en-US" sz="825" spc="66" kern="0" dirty="0">
                <a:solidFill>
                  <a:srgbClr val="6E7785"/>
                </a:solidFill>
                <a:latin typeface="Courier New" pitchFamily="34" charset="0"/>
                <a:ea typeface="Courier New" pitchFamily="34" charset="-122"/>
                <a:cs typeface="Courier New" pitchFamily="34" charset="-120"/>
              </a:rPr>
              <a:t>2H IDLE-SUSPEND</a:t>
            </a:r>
            <a:endParaRPr lang="en-US" sz="825" dirty="0"/>
          </a:p>
        </p:txBody>
      </p:sp>
      <p:sp>
        <p:nvSpPr>
          <p:cNvPr id="20" name="Text 17"/>
          <p:cNvSpPr/>
          <p:nvPr/>
        </p:nvSpPr>
        <p:spPr>
          <a:xfrm>
            <a:off x="2909888" y="5019601"/>
            <a:ext cx="6033611" cy="238125"/>
          </a:xfrm>
          <a:prstGeom prst="rect">
            <a:avLst/>
          </a:prstGeom>
          <a:noFill/>
          <a:ln/>
        </p:spPr>
        <p:txBody>
          <a:bodyPr wrap="square" lIns="25400" tIns="25400" rIns="25400" bIns="25400" rtlCol="0" anchor="t">
            <a:normAutofit/>
          </a:bodyPr>
          <a:lstStyle/>
          <a:p>
            <a:pPr algn="l" indent="0" marL="0">
              <a:lnSpc>
                <a:spcPct val="150000"/>
              </a:lnSpc>
              <a:buNone/>
            </a:pPr>
            <a:r>
              <a:rPr lang="en-US" sz="1050" dirty="0">
                <a:solidFill>
                  <a:srgbClr val="2A3340"/>
                </a:solidFill>
                <a:latin typeface="Arial" pitchFamily="34" charset="0"/>
                <a:ea typeface="Arial" pitchFamily="34" charset="-122"/>
                <a:cs typeface="Arial" pitchFamily="34" charset="-120"/>
              </a:rPr>
              <a:t>docker compose stop. Wake on request (~10–15s).</a:t>
            </a:r>
            <a:endParaRPr lang="en-US" sz="1050" dirty="0"/>
          </a:p>
        </p:txBody>
      </p:sp>
      <p:sp>
        <p:nvSpPr>
          <p:cNvPr id="21" name="Shape 18"/>
          <p:cNvSpPr/>
          <p:nvPr/>
        </p:nvSpPr>
        <p:spPr>
          <a:xfrm>
            <a:off x="1195388" y="5333926"/>
            <a:ext cx="7572375" cy="9525"/>
          </a:xfrm>
          <a:prstGeom prst="rect">
            <a:avLst/>
          </a:prstGeom>
          <a:solidFill>
            <a:srgbClr val="DDE5EC"/>
          </a:solidFill>
          <a:ln/>
        </p:spPr>
      </p:sp>
      <p:sp>
        <p:nvSpPr>
          <p:cNvPr id="22" name="Text 19"/>
          <p:cNvSpPr/>
          <p:nvPr/>
        </p:nvSpPr>
        <p:spPr>
          <a:xfrm>
            <a:off x="1195388" y="5419651"/>
            <a:ext cx="1790700" cy="238125"/>
          </a:xfrm>
          <a:prstGeom prst="rect">
            <a:avLst/>
          </a:prstGeom>
          <a:noFill/>
          <a:ln/>
        </p:spPr>
        <p:txBody>
          <a:bodyPr wrap="square" lIns="25400" tIns="25400" rIns="25400" bIns="25400" rtlCol="0" anchor="t">
            <a:normAutofit/>
          </a:bodyPr>
          <a:lstStyle/>
          <a:p>
            <a:pPr algn="l" indent="0" marL="0">
              <a:lnSpc>
                <a:spcPct val="150000"/>
              </a:lnSpc>
              <a:buNone/>
            </a:pPr>
            <a:r>
              <a:rPr lang="en-US" sz="825" spc="66" kern="0" dirty="0">
                <a:solidFill>
                  <a:srgbClr val="6E7785"/>
                </a:solidFill>
                <a:latin typeface="Courier New" pitchFamily="34" charset="0"/>
                <a:ea typeface="Courier New" pitchFamily="34" charset="-122"/>
                <a:cs typeface="Courier New" pitchFamily="34" charset="-120"/>
              </a:rPr>
              <a:t>30-DAY ARCHIVE</a:t>
            </a:r>
            <a:endParaRPr lang="en-US" sz="825" dirty="0"/>
          </a:p>
        </p:txBody>
      </p:sp>
      <p:sp>
        <p:nvSpPr>
          <p:cNvPr id="23" name="Text 20"/>
          <p:cNvSpPr/>
          <p:nvPr/>
        </p:nvSpPr>
        <p:spPr>
          <a:xfrm>
            <a:off x="2909888" y="5419651"/>
            <a:ext cx="6033611" cy="238125"/>
          </a:xfrm>
          <a:prstGeom prst="rect">
            <a:avLst/>
          </a:prstGeom>
          <a:noFill/>
          <a:ln/>
        </p:spPr>
        <p:txBody>
          <a:bodyPr wrap="square" lIns="25400" tIns="25400" rIns="25400" bIns="25400" rtlCol="0" anchor="t">
            <a:normAutofit/>
          </a:bodyPr>
          <a:lstStyle/>
          <a:p>
            <a:pPr algn="l" indent="0" marL="0">
              <a:lnSpc>
                <a:spcPct val="150000"/>
              </a:lnSpc>
              <a:buNone/>
            </a:pPr>
            <a:r>
              <a:rPr lang="en-US" sz="1050" dirty="0">
                <a:solidFill>
                  <a:srgbClr val="2A3340"/>
                </a:solidFill>
                <a:latin typeface="Arial" pitchFamily="34" charset="0"/>
                <a:ea typeface="Arial" pitchFamily="34" charset="-122"/>
                <a:cs typeface="Arial" pitchFamily="34" charset="-120"/>
              </a:rPr>
              <a:t>Snapshot + 7-day grace before deletion.</a:t>
            </a:r>
            <a:endParaRPr lang="en-US" sz="1050" dirty="0"/>
          </a:p>
        </p:txBody>
      </p:sp>
      <p:sp>
        <p:nvSpPr>
          <p:cNvPr id="24" name="Shape 21"/>
          <p:cNvSpPr/>
          <p:nvPr/>
        </p:nvSpPr>
        <p:spPr>
          <a:xfrm>
            <a:off x="1195388" y="5733976"/>
            <a:ext cx="7572375" cy="9525"/>
          </a:xfrm>
          <a:prstGeom prst="rect">
            <a:avLst/>
          </a:prstGeom>
          <a:solidFill>
            <a:srgbClr val="DDE5EC"/>
          </a:solidFill>
          <a:ln/>
        </p:spPr>
      </p:sp>
      <p:sp>
        <p:nvSpPr>
          <p:cNvPr id="25" name="Text 22"/>
          <p:cNvSpPr/>
          <p:nvPr/>
        </p:nvSpPr>
        <p:spPr>
          <a:xfrm>
            <a:off x="1195388" y="5819701"/>
            <a:ext cx="1790700" cy="238125"/>
          </a:xfrm>
          <a:prstGeom prst="rect">
            <a:avLst/>
          </a:prstGeom>
          <a:noFill/>
          <a:ln/>
        </p:spPr>
        <p:txBody>
          <a:bodyPr wrap="square" lIns="25400" tIns="25400" rIns="25400" bIns="25400" rtlCol="0" anchor="t">
            <a:normAutofit/>
          </a:bodyPr>
          <a:lstStyle/>
          <a:p>
            <a:pPr algn="l" indent="0" marL="0">
              <a:lnSpc>
                <a:spcPct val="150000"/>
              </a:lnSpc>
              <a:buNone/>
            </a:pPr>
            <a:r>
              <a:rPr lang="en-US" sz="825" spc="66" kern="0" dirty="0">
                <a:solidFill>
                  <a:srgbClr val="6E7785"/>
                </a:solidFill>
                <a:latin typeface="Courier New" pitchFamily="34" charset="0"/>
                <a:ea typeface="Courier New" pitchFamily="34" charset="-122"/>
                <a:cs typeface="Courier New" pitchFamily="34" charset="-120"/>
              </a:rPr>
              <a:t>PRESSURE WATCHDOG</a:t>
            </a:r>
            <a:endParaRPr lang="en-US" sz="825" dirty="0"/>
          </a:p>
        </p:txBody>
      </p:sp>
      <p:sp>
        <p:nvSpPr>
          <p:cNvPr id="26" name="Text 23"/>
          <p:cNvSpPr/>
          <p:nvPr/>
        </p:nvSpPr>
        <p:spPr>
          <a:xfrm>
            <a:off x="2909888" y="5819701"/>
            <a:ext cx="6033611" cy="238125"/>
          </a:xfrm>
          <a:prstGeom prst="rect">
            <a:avLst/>
          </a:prstGeom>
          <a:noFill/>
          <a:ln/>
        </p:spPr>
        <p:txBody>
          <a:bodyPr wrap="square" lIns="25400" tIns="25400" rIns="25400" bIns="25400" rtlCol="0" anchor="t">
            <a:normAutofit/>
          </a:bodyPr>
          <a:lstStyle/>
          <a:p>
            <a:pPr algn="l" indent="0" marL="0">
              <a:lnSpc>
                <a:spcPct val="150000"/>
              </a:lnSpc>
              <a:buNone/>
            </a:pPr>
            <a:r>
              <a:rPr lang="en-US" sz="1050" dirty="0">
                <a:solidFill>
                  <a:srgbClr val="2A3340"/>
                </a:solidFill>
                <a:latin typeface="Arial" pitchFamily="34" charset="0"/>
                <a:ea typeface="Arial" pitchFamily="34" charset="-122"/>
                <a:cs typeface="Arial" pitchFamily="34" charset="-120"/>
              </a:rPr>
              <a:t>systemd reads /proc/pressure/memory. Alert at avg10 &gt; 20.</a:t>
            </a:r>
            <a:endParaRPr lang="en-US" sz="1050" dirty="0"/>
          </a:p>
        </p:txBody>
      </p:sp>
      <p:sp>
        <p:nvSpPr>
          <p:cNvPr id="27" name="Shape 24"/>
          <p:cNvSpPr/>
          <p:nvPr/>
        </p:nvSpPr>
        <p:spPr>
          <a:xfrm>
            <a:off x="1195388" y="6134026"/>
            <a:ext cx="7572375" cy="9525"/>
          </a:xfrm>
          <a:prstGeom prst="rect">
            <a:avLst/>
          </a:prstGeom>
          <a:solidFill>
            <a:srgbClr val="DDE5EC"/>
          </a:solidFill>
          <a:ln/>
        </p:spPr>
      </p:sp>
      <p:sp>
        <p:nvSpPr>
          <p:cNvPr id="28" name="Text 25"/>
          <p:cNvSpPr/>
          <p:nvPr/>
        </p:nvSpPr>
        <p:spPr>
          <a:xfrm>
            <a:off x="1195388" y="6219751"/>
            <a:ext cx="1790700" cy="238125"/>
          </a:xfrm>
          <a:prstGeom prst="rect">
            <a:avLst/>
          </a:prstGeom>
          <a:noFill/>
          <a:ln/>
        </p:spPr>
        <p:txBody>
          <a:bodyPr wrap="square" lIns="25400" tIns="25400" rIns="25400" bIns="25400" rtlCol="0" anchor="t">
            <a:normAutofit/>
          </a:bodyPr>
          <a:lstStyle/>
          <a:p>
            <a:pPr algn="l" indent="0" marL="0">
              <a:lnSpc>
                <a:spcPct val="150000"/>
              </a:lnSpc>
              <a:buNone/>
            </a:pPr>
            <a:r>
              <a:rPr lang="en-US" sz="825" spc="66" kern="0" dirty="0">
                <a:solidFill>
                  <a:srgbClr val="5B47F0"/>
                </a:solidFill>
                <a:latin typeface="Courier New" pitchFamily="34" charset="0"/>
                <a:ea typeface="Courier New" pitchFamily="34" charset="-122"/>
                <a:cs typeface="Courier New" pitchFamily="34" charset="-120"/>
              </a:rPr>
              <a:t>AUTO-SCALE</a:t>
            </a:r>
            <a:endParaRPr lang="en-US" sz="825" dirty="0"/>
          </a:p>
        </p:txBody>
      </p:sp>
      <p:sp>
        <p:nvSpPr>
          <p:cNvPr id="29" name="Text 26"/>
          <p:cNvSpPr/>
          <p:nvPr/>
        </p:nvSpPr>
        <p:spPr>
          <a:xfrm>
            <a:off x="2909888" y="6219751"/>
            <a:ext cx="6033611" cy="238125"/>
          </a:xfrm>
          <a:prstGeom prst="rect">
            <a:avLst/>
          </a:prstGeom>
          <a:noFill/>
          <a:ln/>
        </p:spPr>
        <p:txBody>
          <a:bodyPr wrap="square" lIns="25400" tIns="25400" rIns="25400" bIns="25400" rtlCol="0" anchor="t">
            <a:normAutofit/>
          </a:bodyPr>
          <a:lstStyle/>
          <a:p>
            <a:pPr algn="l" indent="0" marL="0">
              <a:lnSpc>
                <a:spcPct val="150000"/>
              </a:lnSpc>
              <a:buNone/>
            </a:pPr>
            <a:r>
              <a:rPr lang="en-US" sz="1050" dirty="0">
                <a:solidFill>
                  <a:srgbClr val="0F1419"/>
                </a:solidFill>
                <a:latin typeface="Arial" pitchFamily="34" charset="0"/>
                <a:ea typeface="Arial" pitchFamily="34" charset="-122"/>
                <a:cs typeface="Arial" pitchFamily="34" charset="-120"/>
              </a:rPr>
              <a:t>35-warm-concurrent → operator provisions 2nd CAX31 (+£11.30/mo).</a:t>
            </a:r>
            <a:endParaRPr lang="en-US" sz="1050" dirty="0"/>
          </a:p>
        </p:txBody>
      </p:sp>
      <p:sp>
        <p:nvSpPr>
          <p:cNvPr id="30" name="Shape 27"/>
          <p:cNvSpPr/>
          <p:nvPr/>
        </p:nvSpPr>
        <p:spPr>
          <a:xfrm>
            <a:off x="9239250" y="3029843"/>
            <a:ext cx="8134350" cy="3747120"/>
          </a:xfrm>
          <a:prstGeom prst="roundRect">
            <a:avLst>
              <a:gd name="adj" fmla="val 4067"/>
            </a:avLst>
          </a:prstGeom>
          <a:solidFill>
            <a:srgbClr val="161D2A"/>
          </a:solidFill>
          <a:ln w="14288">
            <a:solidFill>
              <a:srgbClr val="232C3D"/>
            </a:solidFill>
            <a:prstDash val="solid"/>
          </a:ln>
          <a:effectLst>
            <a:outerShdw sx="100000" sy="100000" kx="0" ky="0" algn="bl" rotWithShape="0" blurRad="57150" dist="19050" dir="5400000">
              <a:srgbClr val="000000">
                <a:alpha val="45000"/>
              </a:srgbClr>
            </a:outerShdw>
          </a:effectLst>
        </p:spPr>
      </p:sp>
      <p:sp>
        <p:nvSpPr>
          <p:cNvPr id="31" name="Text 28"/>
          <p:cNvSpPr/>
          <p:nvPr/>
        </p:nvSpPr>
        <p:spPr>
          <a:xfrm>
            <a:off x="9520238" y="3310830"/>
            <a:ext cx="7799546"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113" kern="0" dirty="0">
                <a:solidFill>
                  <a:srgbClr val="C8C0F8"/>
                </a:solidFill>
                <a:latin typeface="Courier New" pitchFamily="34" charset="0"/>
                <a:ea typeface="Courier New" pitchFamily="34" charset="-122"/>
                <a:cs typeface="Courier New" pitchFamily="34" charset="-120"/>
              </a:rPr>
              <a:t>LAUNCH TIER · CAX41 · BIN-PACKED</a:t>
            </a:r>
            <a:endParaRPr lang="en-US" sz="1125" dirty="0"/>
          </a:p>
        </p:txBody>
      </p:sp>
      <p:sp>
        <p:nvSpPr>
          <p:cNvPr id="32" name="Text 29"/>
          <p:cNvSpPr/>
          <p:nvPr/>
        </p:nvSpPr>
        <p:spPr>
          <a:xfrm>
            <a:off x="9520238" y="3658493"/>
            <a:ext cx="7799546" cy="322883"/>
          </a:xfrm>
          <a:prstGeom prst="rect">
            <a:avLst/>
          </a:prstGeom>
          <a:noFill/>
          <a:ln/>
        </p:spPr>
        <p:txBody>
          <a:bodyPr wrap="square" lIns="25400" tIns="25400" rIns="25400" bIns="25400" rtlCol="0" anchor="t">
            <a:normAutofit/>
          </a:bodyPr>
          <a:lstStyle/>
          <a:p>
            <a:pPr algn="l" indent="0" marL="0">
              <a:lnSpc>
                <a:spcPct val="115000"/>
              </a:lnSpc>
              <a:buNone/>
            </a:pPr>
            <a:r>
              <a:rPr lang="en-US" sz="1950" b="1" spc="-39" kern="0" dirty="0">
                <a:solidFill>
                  <a:srgbClr val="F7FAFC"/>
                </a:solidFill>
                <a:latin typeface="Arial" pitchFamily="34" charset="0"/>
                <a:ea typeface="Arial" pitchFamily="34" charset="-122"/>
                <a:cs typeface="Arial" pitchFamily="34" charset="-120"/>
              </a:rPr>
              <a:t>Target ~25 tenants / host.</a:t>
            </a:r>
            <a:endParaRPr lang="en-US" sz="1950" dirty="0"/>
          </a:p>
        </p:txBody>
      </p:sp>
      <p:sp>
        <p:nvSpPr>
          <p:cNvPr id="33" name="Shape 30"/>
          <p:cNvSpPr/>
          <p:nvPr/>
        </p:nvSpPr>
        <p:spPr>
          <a:xfrm>
            <a:off x="9520238" y="4133776"/>
            <a:ext cx="7572375" cy="9525"/>
          </a:xfrm>
          <a:prstGeom prst="rect">
            <a:avLst/>
          </a:prstGeom>
          <a:solidFill>
            <a:srgbClr val="F7FAFC">
              <a:alpha val="12000"/>
            </a:srgbClr>
          </a:solidFill>
          <a:ln/>
        </p:spPr>
      </p:sp>
      <p:sp>
        <p:nvSpPr>
          <p:cNvPr id="34" name="Text 31"/>
          <p:cNvSpPr/>
          <p:nvPr/>
        </p:nvSpPr>
        <p:spPr>
          <a:xfrm>
            <a:off x="9520238" y="4219501"/>
            <a:ext cx="1790700" cy="238125"/>
          </a:xfrm>
          <a:prstGeom prst="rect">
            <a:avLst/>
          </a:prstGeom>
          <a:noFill/>
          <a:ln/>
        </p:spPr>
        <p:txBody>
          <a:bodyPr wrap="square" lIns="25400" tIns="25400" rIns="25400" bIns="25400" rtlCol="0" anchor="t">
            <a:normAutofit/>
          </a:bodyPr>
          <a:lstStyle/>
          <a:p>
            <a:pPr algn="l" indent="0" marL="0">
              <a:lnSpc>
                <a:spcPct val="150000"/>
              </a:lnSpc>
              <a:buNone/>
            </a:pPr>
            <a:r>
              <a:rPr lang="en-US" sz="825" spc="66" kern="0" dirty="0">
                <a:solidFill>
                  <a:srgbClr val="F7FAFC">
                    <a:alpha val="50000"/>
                  </a:srgbClr>
                </a:solidFill>
                <a:latin typeface="Courier New" pitchFamily="34" charset="0"/>
                <a:ea typeface="Courier New" pitchFamily="34" charset="-122"/>
                <a:cs typeface="Courier New" pitchFamily="34" charset="-120"/>
              </a:rPr>
              <a:t>SHARED CAX41</a:t>
            </a:r>
            <a:endParaRPr lang="en-US" sz="825" dirty="0"/>
          </a:p>
        </p:txBody>
      </p:sp>
      <p:sp>
        <p:nvSpPr>
          <p:cNvPr id="35" name="Text 32"/>
          <p:cNvSpPr/>
          <p:nvPr/>
        </p:nvSpPr>
        <p:spPr>
          <a:xfrm>
            <a:off x="11234738" y="4219501"/>
            <a:ext cx="6033611" cy="238125"/>
          </a:xfrm>
          <a:prstGeom prst="rect">
            <a:avLst/>
          </a:prstGeom>
          <a:noFill/>
          <a:ln/>
        </p:spPr>
        <p:txBody>
          <a:bodyPr wrap="square" lIns="25400" tIns="25400" rIns="25400" bIns="25400" rtlCol="0" anchor="t">
            <a:normAutofit/>
          </a:bodyPr>
          <a:lstStyle/>
          <a:p>
            <a:pPr algn="l" indent="0" marL="0">
              <a:lnSpc>
                <a:spcPct val="150000"/>
              </a:lnSpc>
              <a:buNone/>
            </a:pPr>
            <a:r>
              <a:rPr lang="en-US" sz="1050" dirty="0">
                <a:solidFill>
                  <a:srgbClr val="F7FAFC">
                    <a:alpha val="78000"/>
                  </a:srgbClr>
                </a:solidFill>
                <a:latin typeface="Arial" pitchFamily="34" charset="0"/>
                <a:ea typeface="Arial" pitchFamily="34" charset="-122"/>
                <a:cs typeface="Arial" pitchFamily="34" charset="-120"/>
              </a:rPr>
              <a:t>Per-tenant compose stack on isolated Docker network.</a:t>
            </a:r>
            <a:endParaRPr lang="en-US" sz="1050" dirty="0"/>
          </a:p>
        </p:txBody>
      </p:sp>
      <p:sp>
        <p:nvSpPr>
          <p:cNvPr id="36" name="Shape 33"/>
          <p:cNvSpPr/>
          <p:nvPr/>
        </p:nvSpPr>
        <p:spPr>
          <a:xfrm>
            <a:off x="9520238" y="4533826"/>
            <a:ext cx="7572375" cy="9525"/>
          </a:xfrm>
          <a:prstGeom prst="rect">
            <a:avLst/>
          </a:prstGeom>
          <a:solidFill>
            <a:srgbClr val="F7FAFC">
              <a:alpha val="12000"/>
            </a:srgbClr>
          </a:solidFill>
          <a:ln/>
        </p:spPr>
      </p:sp>
      <p:sp>
        <p:nvSpPr>
          <p:cNvPr id="37" name="Text 34"/>
          <p:cNvSpPr/>
          <p:nvPr/>
        </p:nvSpPr>
        <p:spPr>
          <a:xfrm>
            <a:off x="9520238" y="4619551"/>
            <a:ext cx="1790700" cy="238125"/>
          </a:xfrm>
          <a:prstGeom prst="rect">
            <a:avLst/>
          </a:prstGeom>
          <a:noFill/>
          <a:ln/>
        </p:spPr>
        <p:txBody>
          <a:bodyPr wrap="square" lIns="25400" tIns="25400" rIns="25400" bIns="25400" rtlCol="0" anchor="t">
            <a:normAutofit/>
          </a:bodyPr>
          <a:lstStyle/>
          <a:p>
            <a:pPr algn="l" indent="0" marL="0">
              <a:lnSpc>
                <a:spcPct val="150000"/>
              </a:lnSpc>
              <a:buNone/>
            </a:pPr>
            <a:r>
              <a:rPr lang="en-US" sz="825" spc="66" kern="0" dirty="0">
                <a:solidFill>
                  <a:srgbClr val="F7FAFC">
                    <a:alpha val="50000"/>
                  </a:srgbClr>
                </a:solidFill>
                <a:latin typeface="Courier New" pitchFamily="34" charset="0"/>
                <a:ea typeface="Courier New" pitchFamily="34" charset="-122"/>
                <a:cs typeface="Courier New" pitchFamily="34" charset="-120"/>
              </a:rPr>
              <a:t>BIN-PACKING</a:t>
            </a:r>
            <a:endParaRPr lang="en-US" sz="825" dirty="0"/>
          </a:p>
        </p:txBody>
      </p:sp>
      <p:sp>
        <p:nvSpPr>
          <p:cNvPr id="38" name="Text 35"/>
          <p:cNvSpPr/>
          <p:nvPr/>
        </p:nvSpPr>
        <p:spPr>
          <a:xfrm>
            <a:off x="11234738" y="4619551"/>
            <a:ext cx="6033611" cy="238125"/>
          </a:xfrm>
          <a:prstGeom prst="rect">
            <a:avLst/>
          </a:prstGeom>
          <a:noFill/>
          <a:ln/>
        </p:spPr>
        <p:txBody>
          <a:bodyPr wrap="square" lIns="25400" tIns="25400" rIns="25400" bIns="25400" rtlCol="0" anchor="t">
            <a:normAutofit/>
          </a:bodyPr>
          <a:lstStyle/>
          <a:p>
            <a:pPr algn="l" indent="0" marL="0">
              <a:lnSpc>
                <a:spcPct val="150000"/>
              </a:lnSpc>
              <a:buNone/>
            </a:pPr>
            <a:r>
              <a:rPr lang="en-US" sz="1050" dirty="0">
                <a:solidFill>
                  <a:srgbClr val="F7FAFC">
                    <a:alpha val="78000"/>
                  </a:srgbClr>
                </a:solidFill>
                <a:latin typeface="Arial" pitchFamily="34" charset="0"/>
                <a:ea typeface="Arial" pitchFamily="34" charset="-122"/>
                <a:cs typeface="Arial" pitchFamily="34" charset="-120"/>
              </a:rPr>
              <a:t>promote.py picks first host with capacity; provisions new CAX41 if full.</a:t>
            </a:r>
            <a:endParaRPr lang="en-US" sz="1050" dirty="0"/>
          </a:p>
        </p:txBody>
      </p:sp>
      <p:sp>
        <p:nvSpPr>
          <p:cNvPr id="39" name="Shape 36"/>
          <p:cNvSpPr/>
          <p:nvPr/>
        </p:nvSpPr>
        <p:spPr>
          <a:xfrm>
            <a:off x="9520238" y="4933876"/>
            <a:ext cx="7572375" cy="9525"/>
          </a:xfrm>
          <a:prstGeom prst="rect">
            <a:avLst/>
          </a:prstGeom>
          <a:solidFill>
            <a:srgbClr val="F7FAFC">
              <a:alpha val="12000"/>
            </a:srgbClr>
          </a:solidFill>
          <a:ln/>
        </p:spPr>
      </p:sp>
      <p:sp>
        <p:nvSpPr>
          <p:cNvPr id="40" name="Text 37"/>
          <p:cNvSpPr/>
          <p:nvPr/>
        </p:nvSpPr>
        <p:spPr>
          <a:xfrm>
            <a:off x="9520238" y="5019601"/>
            <a:ext cx="1790700" cy="238125"/>
          </a:xfrm>
          <a:prstGeom prst="rect">
            <a:avLst/>
          </a:prstGeom>
          <a:noFill/>
          <a:ln/>
        </p:spPr>
        <p:txBody>
          <a:bodyPr wrap="square" lIns="25400" tIns="25400" rIns="25400" bIns="25400" rtlCol="0" anchor="t">
            <a:normAutofit/>
          </a:bodyPr>
          <a:lstStyle/>
          <a:p>
            <a:pPr algn="l" indent="0" marL="0">
              <a:lnSpc>
                <a:spcPct val="150000"/>
              </a:lnSpc>
              <a:buNone/>
            </a:pPr>
            <a:r>
              <a:rPr lang="en-US" sz="825" spc="66" kern="0" dirty="0">
                <a:solidFill>
                  <a:srgbClr val="F7FAFC">
                    <a:alpha val="50000"/>
                  </a:srgbClr>
                </a:solidFill>
                <a:latin typeface="Courier New" pitchFamily="34" charset="0"/>
                <a:ea typeface="Courier New" pitchFamily="34" charset="-122"/>
                <a:cs typeface="Courier New" pitchFamily="34" charset="-120"/>
              </a:rPr>
              <a:t>PORT ALLOCATION</a:t>
            </a:r>
            <a:endParaRPr lang="en-US" sz="825" dirty="0"/>
          </a:p>
        </p:txBody>
      </p:sp>
      <p:sp>
        <p:nvSpPr>
          <p:cNvPr id="41" name="Text 38"/>
          <p:cNvSpPr/>
          <p:nvPr/>
        </p:nvSpPr>
        <p:spPr>
          <a:xfrm>
            <a:off x="11234738" y="5019601"/>
            <a:ext cx="6033611" cy="238125"/>
          </a:xfrm>
          <a:prstGeom prst="rect">
            <a:avLst/>
          </a:prstGeom>
          <a:noFill/>
          <a:ln/>
        </p:spPr>
        <p:txBody>
          <a:bodyPr wrap="square" lIns="25400" tIns="25400" rIns="25400" bIns="25400" rtlCol="0" anchor="t">
            <a:normAutofit/>
          </a:bodyPr>
          <a:lstStyle/>
          <a:p>
            <a:pPr algn="l" indent="0" marL="0">
              <a:lnSpc>
                <a:spcPct val="150000"/>
              </a:lnSpc>
              <a:buNone/>
            </a:pPr>
            <a:r>
              <a:rPr lang="en-US" sz="1050" dirty="0">
                <a:solidFill>
                  <a:srgbClr val="F7FAFC">
                    <a:alpha val="78000"/>
                  </a:srgbClr>
                </a:solidFill>
                <a:latin typeface="Arial" pitchFamily="34" charset="0"/>
                <a:ea typeface="Arial" pitchFamily="34" charset="-122"/>
                <a:cs typeface="Arial" pitchFamily="34" charset="-120"/>
              </a:rPr>
              <a:t>Each tenant gets port slice; Caddy routes domain → range.</a:t>
            </a:r>
            <a:endParaRPr lang="en-US" sz="1050" dirty="0"/>
          </a:p>
        </p:txBody>
      </p:sp>
      <p:sp>
        <p:nvSpPr>
          <p:cNvPr id="42" name="Shape 39"/>
          <p:cNvSpPr/>
          <p:nvPr/>
        </p:nvSpPr>
        <p:spPr>
          <a:xfrm>
            <a:off x="9520238" y="5333926"/>
            <a:ext cx="7572375" cy="9525"/>
          </a:xfrm>
          <a:prstGeom prst="rect">
            <a:avLst/>
          </a:prstGeom>
          <a:solidFill>
            <a:srgbClr val="F7FAFC">
              <a:alpha val="12000"/>
            </a:srgbClr>
          </a:solidFill>
          <a:ln/>
        </p:spPr>
      </p:sp>
      <p:sp>
        <p:nvSpPr>
          <p:cNvPr id="43" name="Text 40"/>
          <p:cNvSpPr/>
          <p:nvPr/>
        </p:nvSpPr>
        <p:spPr>
          <a:xfrm>
            <a:off x="9520238" y="5419651"/>
            <a:ext cx="1790700" cy="238125"/>
          </a:xfrm>
          <a:prstGeom prst="rect">
            <a:avLst/>
          </a:prstGeom>
          <a:noFill/>
          <a:ln/>
        </p:spPr>
        <p:txBody>
          <a:bodyPr wrap="square" lIns="25400" tIns="25400" rIns="25400" bIns="25400" rtlCol="0" anchor="t">
            <a:normAutofit/>
          </a:bodyPr>
          <a:lstStyle/>
          <a:p>
            <a:pPr algn="l" indent="0" marL="0">
              <a:lnSpc>
                <a:spcPct val="150000"/>
              </a:lnSpc>
              <a:buNone/>
            </a:pPr>
            <a:r>
              <a:rPr lang="en-US" sz="825" spc="66" kern="0" dirty="0">
                <a:solidFill>
                  <a:srgbClr val="F7FAFC">
                    <a:alpha val="50000"/>
                  </a:srgbClr>
                </a:solidFill>
                <a:latin typeface="Courier New" pitchFamily="34" charset="0"/>
                <a:ea typeface="Courier New" pitchFamily="34" charset="-122"/>
                <a:cs typeface="Courier New" pitchFamily="34" charset="-120"/>
              </a:rPr>
              <a:t>STUDIO + MAILBOXES</a:t>
            </a:r>
            <a:endParaRPr lang="en-US" sz="825" dirty="0"/>
          </a:p>
        </p:txBody>
      </p:sp>
      <p:sp>
        <p:nvSpPr>
          <p:cNvPr id="44" name="Text 41"/>
          <p:cNvSpPr/>
          <p:nvPr/>
        </p:nvSpPr>
        <p:spPr>
          <a:xfrm>
            <a:off x="11234738" y="5419651"/>
            <a:ext cx="6033611" cy="238125"/>
          </a:xfrm>
          <a:prstGeom prst="rect">
            <a:avLst/>
          </a:prstGeom>
          <a:noFill/>
          <a:ln/>
        </p:spPr>
        <p:txBody>
          <a:bodyPr wrap="square" lIns="25400" tIns="25400" rIns="25400" bIns="25400" rtlCol="0" anchor="t">
            <a:normAutofit/>
          </a:bodyPr>
          <a:lstStyle/>
          <a:p>
            <a:pPr algn="l" indent="0" marL="0">
              <a:lnSpc>
                <a:spcPct val="150000"/>
              </a:lnSpc>
              <a:buNone/>
            </a:pPr>
            <a:r>
              <a:rPr lang="en-US" sz="1050" dirty="0">
                <a:solidFill>
                  <a:srgbClr val="F7FAFC">
                    <a:alpha val="78000"/>
                  </a:srgbClr>
                </a:solidFill>
                <a:latin typeface="Arial" pitchFamily="34" charset="0"/>
                <a:ea typeface="Arial" pitchFamily="34" charset="-122"/>
                <a:cs typeface="Arial" pitchFamily="34" charset="-120"/>
              </a:rPr>
              <a:t>Per-tenant Supabase Studio. 3 mailboxes via launch profile.</a:t>
            </a:r>
            <a:endParaRPr lang="en-US" sz="1050" dirty="0"/>
          </a:p>
        </p:txBody>
      </p:sp>
      <p:sp>
        <p:nvSpPr>
          <p:cNvPr id="45" name="Shape 42"/>
          <p:cNvSpPr/>
          <p:nvPr/>
        </p:nvSpPr>
        <p:spPr>
          <a:xfrm>
            <a:off x="9520238" y="5733976"/>
            <a:ext cx="7572375" cy="9525"/>
          </a:xfrm>
          <a:prstGeom prst="rect">
            <a:avLst/>
          </a:prstGeom>
          <a:solidFill>
            <a:srgbClr val="F7FAFC">
              <a:alpha val="12000"/>
            </a:srgbClr>
          </a:solidFill>
          <a:ln/>
        </p:spPr>
      </p:sp>
      <p:sp>
        <p:nvSpPr>
          <p:cNvPr id="46" name="Text 43"/>
          <p:cNvSpPr/>
          <p:nvPr/>
        </p:nvSpPr>
        <p:spPr>
          <a:xfrm>
            <a:off x="9520238" y="5819701"/>
            <a:ext cx="1790700" cy="238125"/>
          </a:xfrm>
          <a:prstGeom prst="rect">
            <a:avLst/>
          </a:prstGeom>
          <a:noFill/>
          <a:ln/>
        </p:spPr>
        <p:txBody>
          <a:bodyPr wrap="square" lIns="25400" tIns="25400" rIns="25400" bIns="25400" rtlCol="0" anchor="t">
            <a:normAutofit/>
          </a:bodyPr>
          <a:lstStyle/>
          <a:p>
            <a:pPr algn="l" indent="0" marL="0">
              <a:lnSpc>
                <a:spcPct val="150000"/>
              </a:lnSpc>
              <a:buNone/>
            </a:pPr>
            <a:r>
              <a:rPr lang="en-US" sz="825" spc="66" kern="0" dirty="0">
                <a:solidFill>
                  <a:srgbClr val="F7FAFC">
                    <a:alpha val="50000"/>
                  </a:srgbClr>
                </a:solidFill>
                <a:latin typeface="Courier New" pitchFamily="34" charset="0"/>
                <a:ea typeface="Courier New" pitchFamily="34" charset="-122"/>
                <a:cs typeface="Courier New" pitchFamily="34" charset="-120"/>
              </a:rPr>
              <a:t>GROWTH MIGRATION</a:t>
            </a:r>
            <a:endParaRPr lang="en-US" sz="825" dirty="0"/>
          </a:p>
        </p:txBody>
      </p:sp>
      <p:sp>
        <p:nvSpPr>
          <p:cNvPr id="47" name="Text 44"/>
          <p:cNvSpPr/>
          <p:nvPr/>
        </p:nvSpPr>
        <p:spPr>
          <a:xfrm>
            <a:off x="11234738" y="5819701"/>
            <a:ext cx="6033611" cy="238125"/>
          </a:xfrm>
          <a:prstGeom prst="rect">
            <a:avLst/>
          </a:prstGeom>
          <a:noFill/>
          <a:ln/>
        </p:spPr>
        <p:txBody>
          <a:bodyPr wrap="square" lIns="25400" tIns="25400" rIns="25400" bIns="25400" rtlCol="0" anchor="t">
            <a:normAutofit/>
          </a:bodyPr>
          <a:lstStyle/>
          <a:p>
            <a:pPr algn="l" indent="0" marL="0">
              <a:lnSpc>
                <a:spcPct val="150000"/>
              </a:lnSpc>
              <a:buNone/>
            </a:pPr>
            <a:r>
              <a:rPr lang="en-US" sz="1050" dirty="0">
                <a:solidFill>
                  <a:srgbClr val="F7FAFC">
                    <a:alpha val="78000"/>
                  </a:srgbClr>
                </a:solidFill>
                <a:latin typeface="Arial" pitchFamily="34" charset="0"/>
                <a:ea typeface="Arial" pitchFamily="34" charset="-122"/>
                <a:cs typeface="Arial" pitchFamily="34" charset="-120"/>
              </a:rPr>
              <a:t>15th end-user signup → fresh CAX31 dedicated VPS.</a:t>
            </a:r>
            <a:endParaRPr lang="en-US" sz="1050" dirty="0"/>
          </a:p>
        </p:txBody>
      </p:sp>
      <p:sp>
        <p:nvSpPr>
          <p:cNvPr id="48" name="Shape 45"/>
          <p:cNvSpPr/>
          <p:nvPr/>
        </p:nvSpPr>
        <p:spPr>
          <a:xfrm>
            <a:off x="9520238" y="6134026"/>
            <a:ext cx="7572375" cy="9525"/>
          </a:xfrm>
          <a:prstGeom prst="rect">
            <a:avLst/>
          </a:prstGeom>
          <a:solidFill>
            <a:srgbClr val="F7FAFC">
              <a:alpha val="12000"/>
            </a:srgbClr>
          </a:solidFill>
          <a:ln/>
        </p:spPr>
      </p:sp>
      <p:sp>
        <p:nvSpPr>
          <p:cNvPr id="49" name="Text 46"/>
          <p:cNvSpPr/>
          <p:nvPr/>
        </p:nvSpPr>
        <p:spPr>
          <a:xfrm>
            <a:off x="9520238" y="6219751"/>
            <a:ext cx="1790700" cy="238125"/>
          </a:xfrm>
          <a:prstGeom prst="rect">
            <a:avLst/>
          </a:prstGeom>
          <a:noFill/>
          <a:ln/>
        </p:spPr>
        <p:txBody>
          <a:bodyPr wrap="square" lIns="25400" tIns="25400" rIns="25400" bIns="25400" rtlCol="0" anchor="t">
            <a:normAutofit/>
          </a:bodyPr>
          <a:lstStyle/>
          <a:p>
            <a:pPr algn="l" indent="0" marL="0">
              <a:lnSpc>
                <a:spcPct val="150000"/>
              </a:lnSpc>
              <a:buNone/>
            </a:pPr>
            <a:r>
              <a:rPr lang="en-US" sz="825" spc="66" kern="0" dirty="0">
                <a:solidFill>
                  <a:srgbClr val="C8C0F8"/>
                </a:solidFill>
                <a:latin typeface="Courier New" pitchFamily="34" charset="0"/>
                <a:ea typeface="Courier New" pitchFamily="34" charset="-122"/>
                <a:cs typeface="Courier New" pitchFamily="34" charset="-120"/>
              </a:rPr>
              <a:t>AUTO-SCALE</a:t>
            </a:r>
            <a:endParaRPr lang="en-US" sz="825" dirty="0"/>
          </a:p>
        </p:txBody>
      </p:sp>
      <p:sp>
        <p:nvSpPr>
          <p:cNvPr id="50" name="Text 47"/>
          <p:cNvSpPr/>
          <p:nvPr/>
        </p:nvSpPr>
        <p:spPr>
          <a:xfrm>
            <a:off x="11234738" y="6219751"/>
            <a:ext cx="6033611" cy="238125"/>
          </a:xfrm>
          <a:prstGeom prst="rect">
            <a:avLst/>
          </a:prstGeom>
          <a:noFill/>
          <a:ln/>
        </p:spPr>
        <p:txBody>
          <a:bodyPr wrap="square" lIns="25400" tIns="25400" rIns="25400" bIns="25400" rtlCol="0" anchor="t">
            <a:normAutofit/>
          </a:bodyPr>
          <a:lstStyle/>
          <a:p>
            <a:pPr algn="l" indent="0" marL="0">
              <a:lnSpc>
                <a:spcPct val="150000"/>
              </a:lnSpc>
              <a:buNone/>
            </a:pPr>
            <a:r>
              <a:rPr lang="en-US" sz="1050" dirty="0">
                <a:solidFill>
                  <a:srgbClr val="F7FAFC"/>
                </a:solidFill>
                <a:latin typeface="Arial" pitchFamily="34" charset="0"/>
                <a:ea typeface="Arial" pitchFamily="34" charset="-122"/>
                <a:cs typeface="Arial" pitchFamily="34" charset="-120"/>
              </a:rPr>
              <a:t>22-tenants-per-host → cordon, route new promotes to next CAX41.</a:t>
            </a:r>
            <a:endParaRPr lang="en-US" sz="1050" dirty="0"/>
          </a:p>
        </p:txBody>
      </p:sp>
      <p:sp>
        <p:nvSpPr>
          <p:cNvPr id="51" name="Text 48"/>
          <p:cNvSpPr/>
          <p:nvPr/>
        </p:nvSpPr>
        <p:spPr>
          <a:xfrm>
            <a:off x="914400" y="6986513"/>
            <a:ext cx="16952976" cy="274290"/>
          </a:xfrm>
          <a:prstGeom prst="rect">
            <a:avLst/>
          </a:prstGeom>
          <a:noFill/>
          <a:ln/>
        </p:spPr>
        <p:txBody>
          <a:bodyPr wrap="square" lIns="25400" tIns="25400" rIns="25400" bIns="25400" rtlCol="0" anchor="t">
            <a:normAutofit/>
          </a:bodyPr>
          <a:lstStyle/>
          <a:p>
            <a:pPr algn="l" indent="0" marL="0">
              <a:lnSpc>
                <a:spcPct val="155000"/>
              </a:lnSpc>
              <a:buNone/>
            </a:pPr>
            <a:r>
              <a:rPr lang="en-US" sz="1200" spc="48" kern="0" dirty="0">
                <a:solidFill>
                  <a:srgbClr val="6E7785"/>
                </a:solidFill>
                <a:latin typeface="Courier New" pitchFamily="34" charset="0"/>
                <a:ea typeface="Courier New" pitchFamily="34" charset="-122"/>
                <a:cs typeface="Courier New" pitchFamily="34" charset="-120"/>
              </a:rPr>
              <a:t>Observability: Cloudflare DDoS + caching · Hetzner snapshots nightly · per-tenant Caddy logs · pg_dump → B2 on Growth · status.hatchik.com.</a:t>
            </a:r>
            <a:endParaRPr lang="en-US" sz="1200" dirty="0"/>
          </a:p>
        </p:txBody>
      </p:sp>
      <p:sp>
        <p:nvSpPr>
          <p:cNvPr id="52" name="Shape 49"/>
          <p:cNvSpPr/>
          <p:nvPr/>
        </p:nvSpPr>
        <p:spPr>
          <a:xfrm>
            <a:off x="914400" y="9286875"/>
            <a:ext cx="16459200" cy="9525"/>
          </a:xfrm>
          <a:prstGeom prst="rect">
            <a:avLst/>
          </a:prstGeom>
          <a:solidFill>
            <a:srgbClr val="DDE5EC"/>
          </a:solidFill>
          <a:ln/>
        </p:spPr>
      </p:sp>
      <p:sp>
        <p:nvSpPr>
          <p:cNvPr id="53" name="Text 50"/>
          <p:cNvSpPr/>
          <p:nvPr/>
        </p:nvSpPr>
        <p:spPr>
          <a:xfrm>
            <a:off x="914400" y="9532144"/>
            <a:ext cx="4533256"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113" kern="0" dirty="0">
                <a:solidFill>
                  <a:srgbClr val="6E7785"/>
                </a:solidFill>
                <a:latin typeface="Courier New" pitchFamily="34" charset="0"/>
                <a:ea typeface="Courier New" pitchFamily="34" charset="-122"/>
                <a:cs typeface="Courier New" pitchFamily="34" charset="-120"/>
              </a:rPr>
              <a:t>HATCHIK · INVESTOR &amp; PARTNER DECK · MAY 2026</a:t>
            </a:r>
            <a:endParaRPr lang="en-US" sz="1125" dirty="0"/>
          </a:p>
        </p:txBody>
      </p:sp>
      <p:sp>
        <p:nvSpPr>
          <p:cNvPr id="54" name="Text 51"/>
          <p:cNvSpPr/>
          <p:nvPr/>
        </p:nvSpPr>
        <p:spPr>
          <a:xfrm>
            <a:off x="16690851" y="9525000"/>
            <a:ext cx="758949"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spc="48" kern="0" dirty="0">
                <a:solidFill>
                  <a:srgbClr val="0F1419"/>
                </a:solidFill>
                <a:latin typeface="Courier New" pitchFamily="34" charset="0"/>
                <a:ea typeface="Courier New" pitchFamily="34" charset="-122"/>
                <a:cs typeface="Courier New" pitchFamily="34" charset="-120"/>
              </a:rPr>
              <a:t>29 / 31</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5B47F0">
              <a:alpha val="4000"/>
            </a:srgbClr>
          </a:solidFill>
          <a:ln/>
        </p:spPr>
      </p:sp>
      <p:sp>
        <p:nvSpPr>
          <p:cNvPr id="3" name="Shape 1"/>
          <p:cNvSpPr/>
          <p:nvPr/>
        </p:nvSpPr>
        <p:spPr>
          <a:xfrm>
            <a:off x="914400" y="1009650"/>
            <a:ext cx="16459200" cy="9525"/>
          </a:xfrm>
          <a:prstGeom prst="rect">
            <a:avLst/>
          </a:prstGeom>
          <a:solidFill>
            <a:srgbClr val="DDE5EC"/>
          </a:solidFill>
          <a:ln/>
        </p:spPr>
      </p:sp>
      <p:pic>
        <p:nvPicPr>
          <p:cNvPr id="4" name="Image 0" descr="preencoded.png">    </p:cNvPr>
          <p:cNvPicPr>
            <a:picLocks noChangeAspect="1"/>
          </p:cNvPicPr>
          <p:nvPr/>
        </p:nvPicPr>
        <p:blipFill>
          <a:blip r:embed="rId1"/>
          <a:stretch>
            <a:fillRect/>
          </a:stretch>
        </p:blipFill>
        <p:spPr>
          <a:xfrm>
            <a:off x="914400" y="571500"/>
            <a:ext cx="209550" cy="209550"/>
          </a:xfrm>
          <a:prstGeom prst="rect">
            <a:avLst/>
          </a:prstGeom>
        </p:spPr>
      </p:pic>
      <p:sp>
        <p:nvSpPr>
          <p:cNvPr id="5" name="Text 2"/>
          <p:cNvSpPr/>
          <p:nvPr/>
        </p:nvSpPr>
        <p:spPr>
          <a:xfrm>
            <a:off x="1219200" y="533400"/>
            <a:ext cx="745108"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spc="-37" kern="0" dirty="0">
                <a:solidFill>
                  <a:srgbClr val="0F1419"/>
                </a:solidFill>
                <a:latin typeface="Arial" pitchFamily="34" charset="0"/>
                <a:ea typeface="Arial" pitchFamily="34" charset="-122"/>
                <a:cs typeface="Arial" pitchFamily="34" charset="-120"/>
              </a:rPr>
              <a:t>hatchik</a:t>
            </a:r>
            <a:endParaRPr lang="en-US" sz="1500" dirty="0"/>
          </a:p>
        </p:txBody>
      </p:sp>
      <p:sp>
        <p:nvSpPr>
          <p:cNvPr id="6" name="Text 3"/>
          <p:cNvSpPr/>
          <p:nvPr/>
        </p:nvSpPr>
        <p:spPr>
          <a:xfrm>
            <a:off x="15232038" y="562421"/>
            <a:ext cx="2217762" cy="265733"/>
          </a:xfrm>
          <a:prstGeom prst="rect">
            <a:avLst/>
          </a:prstGeom>
          <a:noFill/>
          <a:ln/>
        </p:spPr>
        <p:txBody>
          <a:bodyPr wrap="square" lIns="25400" tIns="25400" rIns="25400" bIns="25400" rtlCol="0" anchor="t">
            <a:normAutofit/>
          </a:bodyPr>
          <a:lstStyle/>
          <a:p>
            <a:pPr algn="l" indent="0" marL="0">
              <a:lnSpc>
                <a:spcPct val="140000"/>
              </a:lnSpc>
              <a:buNone/>
            </a:pPr>
            <a:r>
              <a:rPr lang="en-US" sz="1200" spc="120" kern="0" dirty="0">
                <a:solidFill>
                  <a:srgbClr val="0F1419"/>
                </a:solidFill>
                <a:latin typeface="Courier New" pitchFamily="34" charset="0"/>
                <a:ea typeface="Courier New" pitchFamily="34" charset="-122"/>
                <a:cs typeface="Courier New" pitchFamily="34" charset="-120"/>
              </a:rPr>
              <a:t>30 </a:t>
            </a:r>
            <a:pPr algn="l" indent="0" marL="0">
              <a:lnSpc>
                <a:spcPct val="140000"/>
              </a:lnSpc>
              <a:buNone/>
            </a:pPr>
            <a:r>
              <a:rPr lang="en-US" sz="1200" spc="120" kern="0" dirty="0">
                <a:solidFill>
                  <a:srgbClr val="5B47F0"/>
                </a:solidFill>
                <a:latin typeface="Courier New" pitchFamily="34" charset="0"/>
                <a:ea typeface="Courier New" pitchFamily="34" charset="-122"/>
                <a:cs typeface="Courier New" pitchFamily="34" charset="-120"/>
              </a:rPr>
              <a:t>· </a:t>
            </a:r>
            <a:pPr algn="l" indent="0" marL="0">
              <a:lnSpc>
                <a:spcPct val="140000"/>
              </a:lnSpc>
              <a:buNone/>
            </a:pPr>
            <a:r>
              <a:rPr lang="en-US" sz="1200" spc="120" kern="0" dirty="0">
                <a:solidFill>
                  <a:srgbClr val="6E7785"/>
                </a:solidFill>
                <a:latin typeface="Courier New" pitchFamily="34" charset="0"/>
                <a:ea typeface="Courier New" pitchFamily="34" charset="-122"/>
                <a:cs typeface="Courier New" pitchFamily="34" charset="-120"/>
              </a:rPr>
              <a:t>APPENDIX · ETHOS</a:t>
            </a:r>
            <a:endParaRPr lang="en-US" sz="1200" dirty="0"/>
          </a:p>
        </p:txBody>
      </p:sp>
      <p:sp>
        <p:nvSpPr>
          <p:cNvPr id="7" name="Text 4"/>
          <p:cNvSpPr/>
          <p:nvPr/>
        </p:nvSpPr>
        <p:spPr>
          <a:xfrm>
            <a:off x="914400" y="1438275"/>
            <a:ext cx="15893415" cy="723900"/>
          </a:xfrm>
          <a:prstGeom prst="rect">
            <a:avLst/>
          </a:prstGeom>
          <a:noFill/>
          <a:ln/>
        </p:spPr>
        <p:txBody>
          <a:bodyPr wrap="square" lIns="25400" tIns="25400" rIns="25400" bIns="25400" rtlCol="0" anchor="t">
            <a:normAutofit/>
          </a:bodyPr>
          <a:lstStyle/>
          <a:p>
            <a:pPr algn="l" indent="0" marL="0">
              <a:lnSpc>
                <a:spcPct val="100000"/>
              </a:lnSpc>
              <a:buNone/>
            </a:pPr>
            <a:r>
              <a:rPr lang="en-US" sz="5400" b="1" spc="-216" kern="0" dirty="0">
                <a:solidFill>
                  <a:srgbClr val="0F1419"/>
                </a:solidFill>
                <a:latin typeface="Arial" pitchFamily="34" charset="0"/>
                <a:ea typeface="Arial" pitchFamily="34" charset="-122"/>
                <a:cs typeface="Arial" pitchFamily="34" charset="-120"/>
              </a:rPr>
              <a:t>Customer trust as moat. </a:t>
            </a:r>
            <a:pPr algn="l" indent="0" marL="0">
              <a:lnSpc>
                <a:spcPct val="100000"/>
              </a:lnSpc>
              <a:buNone/>
            </a:pPr>
            <a:r>
              <a:rPr lang="en-US" sz="5400" b="1" spc="-216" kern="0" dirty="0">
                <a:solidFill>
                  <a:srgbClr val="5B47F0"/>
                </a:solidFill>
                <a:latin typeface="Arial" pitchFamily="34" charset="0"/>
                <a:ea typeface="Arial" pitchFamily="34" charset="-122"/>
                <a:cs typeface="Arial" pitchFamily="34" charset="-120"/>
              </a:rPr>
              <a:t>AI agents as scale.</a:t>
            </a:r>
            <a:endParaRPr lang="en-US" sz="5400" dirty="0"/>
          </a:p>
        </p:txBody>
      </p:sp>
      <p:sp>
        <p:nvSpPr>
          <p:cNvPr id="8" name="Text 5"/>
          <p:cNvSpPr/>
          <p:nvPr/>
        </p:nvSpPr>
        <p:spPr>
          <a:xfrm>
            <a:off x="914400" y="2390775"/>
            <a:ext cx="12950190" cy="756196"/>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2A3340"/>
                </a:solidFill>
                <a:latin typeface="Arial" pitchFamily="34" charset="0"/>
                <a:ea typeface="Arial" pitchFamily="34" charset="-122"/>
                <a:cs typeface="Arial" pitchFamily="34" charset="-120"/>
              </a:rPr>
              <a:t>No platform lock-in. Code stays on the customer's GitHub. Substrate goes open-source. Support, onboarding, moderation — agent-led where possible, founder-led only where it matters.</a:t>
            </a:r>
            <a:endParaRPr lang="en-US" sz="1950" dirty="0"/>
          </a:p>
        </p:txBody>
      </p:sp>
      <p:sp>
        <p:nvSpPr>
          <p:cNvPr id="9" name="Shape 6"/>
          <p:cNvSpPr/>
          <p:nvPr/>
        </p:nvSpPr>
        <p:spPr>
          <a:xfrm>
            <a:off x="914400" y="3718471"/>
            <a:ext cx="304800" cy="304800"/>
          </a:xfrm>
          <a:prstGeom prst="ellipse">
            <a:avLst/>
          </a:prstGeom>
          <a:solidFill>
            <a:srgbClr val="5B47F0"/>
          </a:solidFill>
          <a:ln w="23813">
            <a:solidFill>
              <a:srgbClr val="5B47F0"/>
            </a:solidFill>
            <a:prstDash val="solid"/>
          </a:ln>
          <a:effectLst>
            <a:outerShdw sx="100000" sy="100000" kx="0" ky="0" algn="bl" rotWithShape="0" blurRad="101600" dist="50800" dir="16200000">
              <a:srgbClr val="F7FAFC">
                <a:alpha val="100000"/>
              </a:srgbClr>
            </a:outerShdw>
          </a:effectLst>
        </p:spPr>
      </p:sp>
      <p:sp>
        <p:nvSpPr>
          <p:cNvPr id="10" name="Text 7"/>
          <p:cNvSpPr/>
          <p:nvPr/>
        </p:nvSpPr>
        <p:spPr>
          <a:xfrm>
            <a:off x="914400" y="4213771"/>
            <a:ext cx="4105799" cy="223838"/>
          </a:xfrm>
          <a:prstGeom prst="rect">
            <a:avLst/>
          </a:prstGeom>
          <a:noFill/>
          <a:ln/>
        </p:spPr>
        <p:txBody>
          <a:bodyPr wrap="square" lIns="25400" tIns="25400" rIns="25400" bIns="25400" rtlCol="0" anchor="t">
            <a:normAutofit/>
          </a:bodyPr>
          <a:lstStyle/>
          <a:p>
            <a:pPr algn="l" indent="0" marL="0">
              <a:lnSpc>
                <a:spcPct val="150000"/>
              </a:lnSpc>
              <a:buNone/>
            </a:pPr>
            <a:r>
              <a:rPr lang="en-US" sz="975" spc="98" kern="0" dirty="0">
                <a:solidFill>
                  <a:srgbClr val="5B47F0"/>
                </a:solidFill>
                <a:latin typeface="Courier New" pitchFamily="34" charset="0"/>
                <a:ea typeface="Courier New" pitchFamily="34" charset="-122"/>
                <a:cs typeface="Courier New" pitchFamily="34" charset="-120"/>
              </a:rPr>
              <a:t>MONTHS 0–3</a:t>
            </a:r>
            <a:endParaRPr lang="en-US" sz="975" dirty="0"/>
          </a:p>
        </p:txBody>
      </p:sp>
      <p:sp>
        <p:nvSpPr>
          <p:cNvPr id="11" name="Text 8"/>
          <p:cNvSpPr/>
          <p:nvPr/>
        </p:nvSpPr>
        <p:spPr>
          <a:xfrm>
            <a:off x="914400" y="4475708"/>
            <a:ext cx="4105799" cy="279053"/>
          </a:xfrm>
          <a:prstGeom prst="rect">
            <a:avLst/>
          </a:prstGeom>
          <a:noFill/>
          <a:ln/>
        </p:spPr>
        <p:txBody>
          <a:bodyPr wrap="square" lIns="25400" tIns="25400" rIns="25400" bIns="25400" rtlCol="0" anchor="t">
            <a:normAutofit/>
          </a:bodyPr>
          <a:lstStyle/>
          <a:p>
            <a:pPr algn="l" indent="0" marL="0">
              <a:lnSpc>
                <a:spcPct val="115000"/>
              </a:lnSpc>
              <a:buNone/>
            </a:pPr>
            <a:r>
              <a:rPr lang="en-US" sz="1650" b="1" spc="-25" kern="0" dirty="0">
                <a:solidFill>
                  <a:srgbClr val="0F1419"/>
                </a:solidFill>
                <a:latin typeface="Arial" pitchFamily="34" charset="0"/>
                <a:ea typeface="Arial" pitchFamily="34" charset="-122"/>
                <a:cs typeface="Arial" pitchFamily="34" charset="-120"/>
              </a:rPr>
              <a:t>Foundations.</a:t>
            </a:r>
            <a:endParaRPr lang="en-US" sz="1650" dirty="0"/>
          </a:p>
        </p:txBody>
      </p:sp>
      <p:sp>
        <p:nvSpPr>
          <p:cNvPr id="12" name="Text 9"/>
          <p:cNvSpPr/>
          <p:nvPr/>
        </p:nvSpPr>
        <p:spPr>
          <a:xfrm>
            <a:off x="914400" y="4811911"/>
            <a:ext cx="4105799" cy="7239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2A3340"/>
                </a:solidFill>
                <a:latin typeface="Arial" pitchFamily="34" charset="0"/>
                <a:ea typeface="Arial" pitchFamily="34" charset="-122"/>
                <a:cs typeface="Arial" pitchFamily="34" charset="-120"/>
              </a:rPr>
              <a:t>Public GitHub, open Discord, AI handoff. Substrate repo public (BSL 1.1 → Apache 2.0). Discord read-only with AI triage. Customer-owned repo from day one.</a:t>
            </a:r>
            <a:endParaRPr lang="en-US" sz="1200" dirty="0"/>
          </a:p>
        </p:txBody>
      </p:sp>
      <p:sp>
        <p:nvSpPr>
          <p:cNvPr id="13" name="Shape 10"/>
          <p:cNvSpPr/>
          <p:nvPr/>
        </p:nvSpPr>
        <p:spPr>
          <a:xfrm>
            <a:off x="5072063" y="3718471"/>
            <a:ext cx="304800" cy="304800"/>
          </a:xfrm>
          <a:prstGeom prst="ellipse">
            <a:avLst/>
          </a:prstGeom>
          <a:solidFill>
            <a:srgbClr val="F7FAFC"/>
          </a:solidFill>
          <a:ln w="23813">
            <a:solidFill>
              <a:srgbClr val="C5D0DC"/>
            </a:solidFill>
            <a:prstDash val="solid"/>
          </a:ln>
          <a:effectLst>
            <a:outerShdw sx="100000" sy="100000" kx="0" ky="0" algn="bl" rotWithShape="0" blurRad="101600" dist="50800" dir="16200000">
              <a:srgbClr val="F7FAFC">
                <a:alpha val="100000"/>
              </a:srgbClr>
            </a:outerShdw>
          </a:effectLst>
        </p:spPr>
      </p:sp>
      <p:sp>
        <p:nvSpPr>
          <p:cNvPr id="14" name="Text 11"/>
          <p:cNvSpPr/>
          <p:nvPr/>
        </p:nvSpPr>
        <p:spPr>
          <a:xfrm>
            <a:off x="5072063" y="4213771"/>
            <a:ext cx="4105799" cy="223838"/>
          </a:xfrm>
          <a:prstGeom prst="rect">
            <a:avLst/>
          </a:prstGeom>
          <a:noFill/>
          <a:ln/>
        </p:spPr>
        <p:txBody>
          <a:bodyPr wrap="square" lIns="25400" tIns="25400" rIns="25400" bIns="25400" rtlCol="0" anchor="t">
            <a:normAutofit/>
          </a:bodyPr>
          <a:lstStyle/>
          <a:p>
            <a:pPr algn="l" indent="0" marL="0">
              <a:lnSpc>
                <a:spcPct val="150000"/>
              </a:lnSpc>
              <a:buNone/>
            </a:pPr>
            <a:r>
              <a:rPr lang="en-US" sz="975" spc="98" kern="0" dirty="0">
                <a:solidFill>
                  <a:srgbClr val="6E7785"/>
                </a:solidFill>
                <a:latin typeface="Courier New" pitchFamily="34" charset="0"/>
                <a:ea typeface="Courier New" pitchFamily="34" charset="-122"/>
                <a:cs typeface="Courier New" pitchFamily="34" charset="-120"/>
              </a:rPr>
              <a:t>MONTHS 3–6</a:t>
            </a:r>
            <a:endParaRPr lang="en-US" sz="975" dirty="0"/>
          </a:p>
        </p:txBody>
      </p:sp>
      <p:sp>
        <p:nvSpPr>
          <p:cNvPr id="15" name="Text 12"/>
          <p:cNvSpPr/>
          <p:nvPr/>
        </p:nvSpPr>
        <p:spPr>
          <a:xfrm>
            <a:off x="5072063" y="4475708"/>
            <a:ext cx="4105799" cy="279053"/>
          </a:xfrm>
          <a:prstGeom prst="rect">
            <a:avLst/>
          </a:prstGeom>
          <a:noFill/>
          <a:ln/>
        </p:spPr>
        <p:txBody>
          <a:bodyPr wrap="square" lIns="25400" tIns="25400" rIns="25400" bIns="25400" rtlCol="0" anchor="t">
            <a:normAutofit/>
          </a:bodyPr>
          <a:lstStyle/>
          <a:p>
            <a:pPr algn="l" indent="0" marL="0">
              <a:lnSpc>
                <a:spcPct val="115000"/>
              </a:lnSpc>
              <a:buNone/>
            </a:pPr>
            <a:r>
              <a:rPr lang="en-US" sz="1650" b="1" spc="-25" kern="0" dirty="0">
                <a:solidFill>
                  <a:srgbClr val="0F1419"/>
                </a:solidFill>
                <a:latin typeface="Arial" pitchFamily="34" charset="0"/>
                <a:ea typeface="Arial" pitchFamily="34" charset="-122"/>
                <a:cs typeface="Arial" pitchFamily="34" charset="-120"/>
              </a:rPr>
              <a:t>Agent-led support.</a:t>
            </a:r>
            <a:endParaRPr lang="en-US" sz="1650" dirty="0"/>
          </a:p>
        </p:txBody>
      </p:sp>
      <p:sp>
        <p:nvSpPr>
          <p:cNvPr id="16" name="Text 13"/>
          <p:cNvSpPr/>
          <p:nvPr/>
        </p:nvSpPr>
        <p:spPr>
          <a:xfrm>
            <a:off x="5072063" y="4811911"/>
            <a:ext cx="4105799" cy="9525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2A3340"/>
                </a:solidFill>
                <a:latin typeface="Arial" pitchFamily="34" charset="0"/>
                <a:ea typeface="Arial" pitchFamily="34" charset="-122"/>
                <a:cs typeface="Arial" pitchFamily="34" charset="-120"/>
              </a:rPr>
              <a:t>Single agent reads AI_CONTEXT, repo snapshots, FAQ, runbooks. Answers in Discord, GitHub Discussions, in-product help widget. Resolves ~70% of L1; rest get same-day human reply.</a:t>
            </a:r>
            <a:endParaRPr lang="en-US" sz="1200" dirty="0"/>
          </a:p>
        </p:txBody>
      </p:sp>
      <p:sp>
        <p:nvSpPr>
          <p:cNvPr id="17" name="Shape 14"/>
          <p:cNvSpPr/>
          <p:nvPr/>
        </p:nvSpPr>
        <p:spPr>
          <a:xfrm>
            <a:off x="9229725" y="3718471"/>
            <a:ext cx="304800" cy="304800"/>
          </a:xfrm>
          <a:prstGeom prst="ellipse">
            <a:avLst/>
          </a:prstGeom>
          <a:solidFill>
            <a:srgbClr val="F7FAFC"/>
          </a:solidFill>
          <a:ln w="23813">
            <a:solidFill>
              <a:srgbClr val="C5D0DC"/>
            </a:solidFill>
            <a:prstDash val="solid"/>
          </a:ln>
          <a:effectLst>
            <a:outerShdw sx="100000" sy="100000" kx="0" ky="0" algn="bl" rotWithShape="0" blurRad="101600" dist="50800" dir="16200000">
              <a:srgbClr val="F7FAFC">
                <a:alpha val="100000"/>
              </a:srgbClr>
            </a:outerShdw>
          </a:effectLst>
        </p:spPr>
      </p:sp>
      <p:sp>
        <p:nvSpPr>
          <p:cNvPr id="18" name="Text 15"/>
          <p:cNvSpPr/>
          <p:nvPr/>
        </p:nvSpPr>
        <p:spPr>
          <a:xfrm>
            <a:off x="9229725" y="4213771"/>
            <a:ext cx="4105799" cy="223838"/>
          </a:xfrm>
          <a:prstGeom prst="rect">
            <a:avLst/>
          </a:prstGeom>
          <a:noFill/>
          <a:ln/>
        </p:spPr>
        <p:txBody>
          <a:bodyPr wrap="square" lIns="25400" tIns="25400" rIns="25400" bIns="25400" rtlCol="0" anchor="t">
            <a:normAutofit/>
          </a:bodyPr>
          <a:lstStyle/>
          <a:p>
            <a:pPr algn="l" indent="0" marL="0">
              <a:lnSpc>
                <a:spcPct val="150000"/>
              </a:lnSpc>
              <a:buNone/>
            </a:pPr>
            <a:r>
              <a:rPr lang="en-US" sz="975" spc="98" kern="0" dirty="0">
                <a:solidFill>
                  <a:srgbClr val="6E7785"/>
                </a:solidFill>
                <a:latin typeface="Courier New" pitchFamily="34" charset="0"/>
                <a:ea typeface="Courier New" pitchFamily="34" charset="-122"/>
                <a:cs typeface="Courier New" pitchFamily="34" charset="-120"/>
              </a:rPr>
              <a:t>MONTHS 6–12</a:t>
            </a:r>
            <a:endParaRPr lang="en-US" sz="975" dirty="0"/>
          </a:p>
        </p:txBody>
      </p:sp>
      <p:sp>
        <p:nvSpPr>
          <p:cNvPr id="19" name="Text 16"/>
          <p:cNvSpPr/>
          <p:nvPr/>
        </p:nvSpPr>
        <p:spPr>
          <a:xfrm>
            <a:off x="9229725" y="4475708"/>
            <a:ext cx="4105799" cy="279053"/>
          </a:xfrm>
          <a:prstGeom prst="rect">
            <a:avLst/>
          </a:prstGeom>
          <a:noFill/>
          <a:ln/>
        </p:spPr>
        <p:txBody>
          <a:bodyPr wrap="square" lIns="25400" tIns="25400" rIns="25400" bIns="25400" rtlCol="0" anchor="t">
            <a:normAutofit/>
          </a:bodyPr>
          <a:lstStyle/>
          <a:p>
            <a:pPr algn="l" indent="0" marL="0">
              <a:lnSpc>
                <a:spcPct val="115000"/>
              </a:lnSpc>
              <a:buNone/>
            </a:pPr>
            <a:r>
              <a:rPr lang="en-US" sz="1650" b="1" spc="-25" kern="0" dirty="0">
                <a:solidFill>
                  <a:srgbClr val="0F1419"/>
                </a:solidFill>
                <a:latin typeface="Arial" pitchFamily="34" charset="0"/>
                <a:ea typeface="Arial" pitchFamily="34" charset="-122"/>
                <a:cs typeface="Arial" pitchFamily="34" charset="-120"/>
              </a:rPr>
              <a:t>OSS + community.</a:t>
            </a:r>
            <a:endParaRPr lang="en-US" sz="1650" dirty="0"/>
          </a:p>
        </p:txBody>
      </p:sp>
      <p:sp>
        <p:nvSpPr>
          <p:cNvPr id="20" name="Text 17"/>
          <p:cNvSpPr/>
          <p:nvPr/>
        </p:nvSpPr>
        <p:spPr>
          <a:xfrm>
            <a:off x="9229725" y="4811911"/>
            <a:ext cx="4105799" cy="9525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2A3340"/>
                </a:solidFill>
                <a:latin typeface="Arial" pitchFamily="34" charset="0"/>
                <a:ea typeface="Arial" pitchFamily="34" charset="-122"/>
                <a:cs typeface="Arial" pitchFamily="34" charset="-120"/>
              </a:rPr>
              <a:t>Self-host OSS edition ships. Strips switching-cost concern, drives top-of-funnel. Community-elected features via RFC. Weekly customer-MRR posts on X — customer-led, AI-assisted.</a:t>
            </a:r>
            <a:endParaRPr lang="en-US" sz="1200" dirty="0"/>
          </a:p>
        </p:txBody>
      </p:sp>
      <p:sp>
        <p:nvSpPr>
          <p:cNvPr id="21" name="Shape 18"/>
          <p:cNvSpPr/>
          <p:nvPr/>
        </p:nvSpPr>
        <p:spPr>
          <a:xfrm>
            <a:off x="13387388" y="3718471"/>
            <a:ext cx="304800" cy="304800"/>
          </a:xfrm>
          <a:prstGeom prst="ellipse">
            <a:avLst/>
          </a:prstGeom>
          <a:solidFill>
            <a:srgbClr val="F7FAFC"/>
          </a:solidFill>
          <a:ln w="23813">
            <a:solidFill>
              <a:srgbClr val="C5D0DC"/>
            </a:solidFill>
            <a:prstDash val="solid"/>
          </a:ln>
          <a:effectLst>
            <a:outerShdw sx="100000" sy="100000" kx="0" ky="0" algn="bl" rotWithShape="0" blurRad="101600" dist="50800" dir="16200000">
              <a:srgbClr val="F7FAFC">
                <a:alpha val="100000"/>
              </a:srgbClr>
            </a:outerShdw>
          </a:effectLst>
        </p:spPr>
      </p:sp>
      <p:sp>
        <p:nvSpPr>
          <p:cNvPr id="22" name="Text 19"/>
          <p:cNvSpPr/>
          <p:nvPr/>
        </p:nvSpPr>
        <p:spPr>
          <a:xfrm>
            <a:off x="13387388" y="4213771"/>
            <a:ext cx="4105799" cy="223838"/>
          </a:xfrm>
          <a:prstGeom prst="rect">
            <a:avLst/>
          </a:prstGeom>
          <a:noFill/>
          <a:ln/>
        </p:spPr>
        <p:txBody>
          <a:bodyPr wrap="square" lIns="25400" tIns="25400" rIns="25400" bIns="25400" rtlCol="0" anchor="t">
            <a:normAutofit/>
          </a:bodyPr>
          <a:lstStyle/>
          <a:p>
            <a:pPr algn="l" indent="0" marL="0">
              <a:lnSpc>
                <a:spcPct val="150000"/>
              </a:lnSpc>
              <a:buNone/>
            </a:pPr>
            <a:r>
              <a:rPr lang="en-US" sz="975" spc="98" kern="0" dirty="0">
                <a:solidFill>
                  <a:srgbClr val="6E7785"/>
                </a:solidFill>
                <a:latin typeface="Courier New" pitchFamily="34" charset="0"/>
                <a:ea typeface="Courier New" pitchFamily="34" charset="-122"/>
                <a:cs typeface="Courier New" pitchFamily="34" charset="-120"/>
              </a:rPr>
              <a:t>MONTHS 12+</a:t>
            </a:r>
            <a:endParaRPr lang="en-US" sz="975" dirty="0"/>
          </a:p>
        </p:txBody>
      </p:sp>
      <p:sp>
        <p:nvSpPr>
          <p:cNvPr id="23" name="Text 20"/>
          <p:cNvSpPr/>
          <p:nvPr/>
        </p:nvSpPr>
        <p:spPr>
          <a:xfrm>
            <a:off x="13387388" y="4475708"/>
            <a:ext cx="4105799" cy="279053"/>
          </a:xfrm>
          <a:prstGeom prst="rect">
            <a:avLst/>
          </a:prstGeom>
          <a:noFill/>
          <a:ln/>
        </p:spPr>
        <p:txBody>
          <a:bodyPr wrap="square" lIns="25400" tIns="25400" rIns="25400" bIns="25400" rtlCol="0" anchor="t">
            <a:normAutofit/>
          </a:bodyPr>
          <a:lstStyle/>
          <a:p>
            <a:pPr algn="l" indent="0" marL="0">
              <a:lnSpc>
                <a:spcPct val="115000"/>
              </a:lnSpc>
              <a:buNone/>
            </a:pPr>
            <a:r>
              <a:rPr lang="en-US" sz="1650" b="1" spc="-25" kern="0" dirty="0">
                <a:solidFill>
                  <a:srgbClr val="0F1419"/>
                </a:solidFill>
                <a:latin typeface="Arial" pitchFamily="34" charset="0"/>
                <a:ea typeface="Arial" pitchFamily="34" charset="-122"/>
                <a:cs typeface="Arial" pitchFamily="34" charset="-120"/>
              </a:rPr>
              <a:t>Community governance.</a:t>
            </a:r>
            <a:endParaRPr lang="en-US" sz="1650" dirty="0"/>
          </a:p>
        </p:txBody>
      </p:sp>
      <p:sp>
        <p:nvSpPr>
          <p:cNvPr id="24" name="Text 21"/>
          <p:cNvSpPr/>
          <p:nvPr/>
        </p:nvSpPr>
        <p:spPr>
          <a:xfrm>
            <a:off x="13387388" y="4811911"/>
            <a:ext cx="4105799" cy="7239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2A3340"/>
                </a:solidFill>
                <a:latin typeface="Arial" pitchFamily="34" charset="0"/>
                <a:ea typeface="Arial" pitchFamily="34" charset="-122"/>
                <a:cs typeface="Arial" pitchFamily="34" charset="-120"/>
              </a:rPr>
              <a:t>Quarterly customer roadmap voting. 5-paying-founder advisory board, rotating. AI moderation in Discord/forums. Founder time on product, not policing.</a:t>
            </a:r>
            <a:endParaRPr lang="en-US" sz="1200" dirty="0"/>
          </a:p>
        </p:txBody>
      </p:sp>
      <p:sp>
        <p:nvSpPr>
          <p:cNvPr id="25" name="Text 22"/>
          <p:cNvSpPr/>
          <p:nvPr/>
        </p:nvSpPr>
        <p:spPr>
          <a:xfrm>
            <a:off x="914400" y="6183511"/>
            <a:ext cx="16952976" cy="397148"/>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0F1419"/>
                </a:solidFill>
                <a:latin typeface="Arial" pitchFamily="34" charset="0"/>
                <a:ea typeface="Arial" pitchFamily="34" charset="-122"/>
                <a:cs typeface="Arial" pitchFamily="34" charset="-120"/>
              </a:rPr>
              <a:t>The raise funds the tooling, </a:t>
            </a:r>
            <a:pPr algn="l" indent="0" marL="0">
              <a:lnSpc>
                <a:spcPct val="145000"/>
              </a:lnSpc>
              <a:buNone/>
            </a:pPr>
            <a:r>
              <a:rPr lang="en-US" sz="1950" dirty="0">
                <a:solidFill>
                  <a:srgbClr val="5B47F0"/>
                </a:solidFill>
                <a:latin typeface="Arial" pitchFamily="34" charset="0"/>
                <a:ea typeface="Arial" pitchFamily="34" charset="-122"/>
                <a:cs typeface="Arial" pitchFamily="34" charset="-120"/>
              </a:rPr>
              <a:t>not the toil. </a:t>
            </a:r>
            <a:pPr algn="l" indent="0" marL="0">
              <a:lnSpc>
                <a:spcPct val="145000"/>
              </a:lnSpc>
              <a:buNone/>
            </a:pPr>
            <a:r>
              <a:rPr lang="en-US" sz="1950" dirty="0">
                <a:solidFill>
                  <a:srgbClr val="0F1419"/>
                </a:solidFill>
                <a:latin typeface="Arial" pitchFamily="34" charset="0"/>
                <a:ea typeface="Arial" pitchFamily="34" charset="-122"/>
                <a:cs typeface="Arial" pitchFamily="34" charset="-120"/>
              </a:rPr>
              <a:t>Without it: same direction, ~3× slower; community fewer agents, more founder hours.</a:t>
            </a:r>
            <a:endParaRPr lang="en-US" sz="1950" dirty="0"/>
          </a:p>
        </p:txBody>
      </p:sp>
      <p:sp>
        <p:nvSpPr>
          <p:cNvPr id="26" name="Shape 23"/>
          <p:cNvSpPr/>
          <p:nvPr/>
        </p:nvSpPr>
        <p:spPr>
          <a:xfrm>
            <a:off x="914400" y="9286875"/>
            <a:ext cx="16459200" cy="9525"/>
          </a:xfrm>
          <a:prstGeom prst="rect">
            <a:avLst/>
          </a:prstGeom>
          <a:solidFill>
            <a:srgbClr val="DDE5EC"/>
          </a:solidFill>
          <a:ln/>
        </p:spPr>
      </p:sp>
      <p:sp>
        <p:nvSpPr>
          <p:cNvPr id="27" name="Text 24"/>
          <p:cNvSpPr/>
          <p:nvPr/>
        </p:nvSpPr>
        <p:spPr>
          <a:xfrm>
            <a:off x="914400" y="9532144"/>
            <a:ext cx="4533256"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113" kern="0" dirty="0">
                <a:solidFill>
                  <a:srgbClr val="6E7785"/>
                </a:solidFill>
                <a:latin typeface="Courier New" pitchFamily="34" charset="0"/>
                <a:ea typeface="Courier New" pitchFamily="34" charset="-122"/>
                <a:cs typeface="Courier New" pitchFamily="34" charset="-120"/>
              </a:rPr>
              <a:t>HATCHIK · INVESTOR &amp; PARTNER DECK · MAY 2026</a:t>
            </a:r>
            <a:endParaRPr lang="en-US" sz="1125" dirty="0"/>
          </a:p>
        </p:txBody>
      </p:sp>
      <p:sp>
        <p:nvSpPr>
          <p:cNvPr id="28" name="Text 25"/>
          <p:cNvSpPr/>
          <p:nvPr/>
        </p:nvSpPr>
        <p:spPr>
          <a:xfrm>
            <a:off x="16690851" y="9525000"/>
            <a:ext cx="758949"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spc="48" kern="0" dirty="0">
                <a:solidFill>
                  <a:srgbClr val="0F1419"/>
                </a:solidFill>
                <a:latin typeface="Courier New" pitchFamily="34" charset="0"/>
                <a:ea typeface="Courier New" pitchFamily="34" charset="-122"/>
                <a:cs typeface="Courier New" pitchFamily="34" charset="-120"/>
              </a:rPr>
              <a:t>30 / 31</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5B47F0">
              <a:alpha val="4000"/>
            </a:srgbClr>
          </a:solidFill>
          <a:ln/>
        </p:spPr>
      </p:sp>
      <p:sp>
        <p:nvSpPr>
          <p:cNvPr id="3" name="Shape 1"/>
          <p:cNvSpPr/>
          <p:nvPr/>
        </p:nvSpPr>
        <p:spPr>
          <a:xfrm>
            <a:off x="914400" y="1009650"/>
            <a:ext cx="16459200" cy="9525"/>
          </a:xfrm>
          <a:prstGeom prst="rect">
            <a:avLst/>
          </a:prstGeom>
          <a:solidFill>
            <a:srgbClr val="DDE5EC"/>
          </a:solidFill>
          <a:ln/>
        </p:spPr>
      </p:sp>
      <p:pic>
        <p:nvPicPr>
          <p:cNvPr id="4" name="Image 0" descr="preencoded.png">    </p:cNvPr>
          <p:cNvPicPr>
            <a:picLocks noChangeAspect="1"/>
          </p:cNvPicPr>
          <p:nvPr/>
        </p:nvPicPr>
        <p:blipFill>
          <a:blip r:embed="rId1"/>
          <a:stretch>
            <a:fillRect/>
          </a:stretch>
        </p:blipFill>
        <p:spPr>
          <a:xfrm>
            <a:off x="914400" y="571500"/>
            <a:ext cx="209550" cy="209550"/>
          </a:xfrm>
          <a:prstGeom prst="rect">
            <a:avLst/>
          </a:prstGeom>
        </p:spPr>
      </p:pic>
      <p:sp>
        <p:nvSpPr>
          <p:cNvPr id="5" name="Text 2"/>
          <p:cNvSpPr/>
          <p:nvPr/>
        </p:nvSpPr>
        <p:spPr>
          <a:xfrm>
            <a:off x="1219200" y="533400"/>
            <a:ext cx="745108"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spc="-37" kern="0" dirty="0">
                <a:solidFill>
                  <a:srgbClr val="0F1419"/>
                </a:solidFill>
                <a:latin typeface="Arial" pitchFamily="34" charset="0"/>
                <a:ea typeface="Arial" pitchFamily="34" charset="-122"/>
                <a:cs typeface="Arial" pitchFamily="34" charset="-120"/>
              </a:rPr>
              <a:t>hatchik</a:t>
            </a:r>
            <a:endParaRPr lang="en-US" sz="1500" dirty="0"/>
          </a:p>
        </p:txBody>
      </p:sp>
      <p:sp>
        <p:nvSpPr>
          <p:cNvPr id="6" name="Text 3"/>
          <p:cNvSpPr/>
          <p:nvPr/>
        </p:nvSpPr>
        <p:spPr>
          <a:xfrm>
            <a:off x="13738324" y="562421"/>
            <a:ext cx="3744334" cy="265733"/>
          </a:xfrm>
          <a:prstGeom prst="rect">
            <a:avLst/>
          </a:prstGeom>
          <a:noFill/>
          <a:ln/>
        </p:spPr>
        <p:txBody>
          <a:bodyPr wrap="square" lIns="25400" tIns="25400" rIns="25400" bIns="25400" rtlCol="0" anchor="t">
            <a:normAutofit/>
          </a:bodyPr>
          <a:lstStyle/>
          <a:p>
            <a:pPr algn="l" indent="0" marL="0">
              <a:lnSpc>
                <a:spcPct val="140000"/>
              </a:lnSpc>
              <a:buNone/>
            </a:pPr>
            <a:r>
              <a:rPr lang="en-US" sz="1200" spc="120" kern="0" dirty="0">
                <a:solidFill>
                  <a:srgbClr val="0F1419"/>
                </a:solidFill>
                <a:latin typeface="Courier New" pitchFamily="34" charset="0"/>
                <a:ea typeface="Courier New" pitchFamily="34" charset="-122"/>
                <a:cs typeface="Courier New" pitchFamily="34" charset="-120"/>
              </a:rPr>
              <a:t>31 </a:t>
            </a:r>
            <a:pPr algn="l" indent="0" marL="0">
              <a:lnSpc>
                <a:spcPct val="140000"/>
              </a:lnSpc>
              <a:buNone/>
            </a:pPr>
            <a:r>
              <a:rPr lang="en-US" sz="1200" spc="120" kern="0" dirty="0">
                <a:solidFill>
                  <a:srgbClr val="5B47F0"/>
                </a:solidFill>
                <a:latin typeface="Courier New" pitchFamily="34" charset="0"/>
                <a:ea typeface="Courier New" pitchFamily="34" charset="-122"/>
                <a:cs typeface="Courier New" pitchFamily="34" charset="-120"/>
              </a:rPr>
              <a:t>· </a:t>
            </a:r>
            <a:pPr algn="l" indent="0" marL="0">
              <a:lnSpc>
                <a:spcPct val="140000"/>
              </a:lnSpc>
              <a:buNone/>
            </a:pPr>
            <a:r>
              <a:rPr lang="en-US" sz="1200" spc="120" kern="0" dirty="0">
                <a:solidFill>
                  <a:srgbClr val="6E7785"/>
                </a:solidFill>
                <a:latin typeface="Courier New" pitchFamily="34" charset="0"/>
                <a:ea typeface="Courier New" pitchFamily="34" charset="-122"/>
                <a:cs typeface="Courier New" pitchFamily="34" charset="-120"/>
              </a:rPr>
              <a:t>APPENDIX · STRATEGIC OFFERINGS</a:t>
            </a:r>
            <a:endParaRPr lang="en-US" sz="1200" dirty="0"/>
          </a:p>
        </p:txBody>
      </p:sp>
      <p:sp>
        <p:nvSpPr>
          <p:cNvPr id="7" name="Text 4"/>
          <p:cNvSpPr/>
          <p:nvPr/>
        </p:nvSpPr>
        <p:spPr>
          <a:xfrm>
            <a:off x="914400" y="1438275"/>
            <a:ext cx="15893415" cy="533400"/>
          </a:xfrm>
          <a:prstGeom prst="rect">
            <a:avLst/>
          </a:prstGeom>
          <a:noFill/>
          <a:ln/>
        </p:spPr>
        <p:txBody>
          <a:bodyPr wrap="square" lIns="25400" tIns="25400" rIns="25400" bIns="25400" rtlCol="0" anchor="t">
            <a:normAutofit/>
          </a:bodyPr>
          <a:lstStyle/>
          <a:p>
            <a:pPr algn="l" indent="0" marL="0">
              <a:lnSpc>
                <a:spcPct val="100000"/>
              </a:lnSpc>
              <a:buNone/>
            </a:pPr>
            <a:r>
              <a:rPr lang="en-US" sz="3900" b="1" spc="-156" kern="0" dirty="0">
                <a:solidFill>
                  <a:srgbClr val="0F1419"/>
                </a:solidFill>
                <a:latin typeface="Arial" pitchFamily="34" charset="0"/>
                <a:ea typeface="Arial" pitchFamily="34" charset="-122"/>
                <a:cs typeface="Arial" pitchFamily="34" charset="-120"/>
              </a:rPr>
              <a:t>Prototype today. </a:t>
            </a:r>
            <a:pPr algn="l" indent="0" marL="0">
              <a:lnSpc>
                <a:spcPct val="100000"/>
              </a:lnSpc>
              <a:buNone/>
            </a:pPr>
            <a:r>
              <a:rPr lang="en-US" sz="3900" b="1" spc="-156" kern="0" dirty="0">
                <a:solidFill>
                  <a:srgbClr val="5B47F0"/>
                </a:solidFill>
                <a:latin typeface="Arial" pitchFamily="34" charset="0"/>
                <a:ea typeface="Arial" pitchFamily="34" charset="-122"/>
                <a:cs typeface="Arial" pitchFamily="34" charset="-120"/>
              </a:rPr>
              <a:t>Product tomorrow. </a:t>
            </a:r>
            <a:pPr algn="l" indent="0" marL="0">
              <a:lnSpc>
                <a:spcPct val="100000"/>
              </a:lnSpc>
              <a:buNone/>
            </a:pPr>
            <a:r>
              <a:rPr lang="en-US" sz="3900" b="1" spc="-156" kern="0" dirty="0">
                <a:solidFill>
                  <a:srgbClr val="0F1419"/>
                </a:solidFill>
                <a:latin typeface="Arial" pitchFamily="34" charset="0"/>
                <a:ea typeface="Arial" pitchFamily="34" charset="-122"/>
                <a:cs typeface="Arial" pitchFamily="34" charset="-120"/>
              </a:rPr>
              <a:t>Business after.</a:t>
            </a:r>
            <a:endParaRPr lang="en-US" sz="3900" dirty="0"/>
          </a:p>
        </p:txBody>
      </p:sp>
      <p:sp>
        <p:nvSpPr>
          <p:cNvPr id="8" name="Text 5"/>
          <p:cNvSpPr/>
          <p:nvPr/>
        </p:nvSpPr>
        <p:spPr>
          <a:xfrm>
            <a:off x="914400" y="2200275"/>
            <a:ext cx="12950190"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dirty="0">
                <a:solidFill>
                  <a:srgbClr val="2A3340"/>
                </a:solidFill>
                <a:latin typeface="Arial" pitchFamily="34" charset="0"/>
                <a:ea typeface="Arial" pitchFamily="34" charset="-122"/>
                <a:cs typeface="Arial" pitchFamily="34" charset="-120"/>
              </a:rPr>
              <a:t>Hatchik moves down the founder's value chain. Each step compounds the relationship; each step opens a new revenue line.</a:t>
            </a:r>
            <a:endParaRPr lang="en-US" sz="1500" dirty="0"/>
          </a:p>
        </p:txBody>
      </p:sp>
      <p:sp>
        <p:nvSpPr>
          <p:cNvPr id="9" name="Shape 6"/>
          <p:cNvSpPr/>
          <p:nvPr/>
        </p:nvSpPr>
        <p:spPr>
          <a:xfrm>
            <a:off x="914400" y="2819400"/>
            <a:ext cx="16459200" cy="1543943"/>
          </a:xfrm>
          <a:prstGeom prst="roundRect">
            <a:avLst>
              <a:gd name="adj" fmla="val 8637"/>
            </a:avLst>
          </a:prstGeom>
          <a:ln w="14288">
            <a:solidFill>
              <a:srgbClr val="C5D0DC"/>
            </a:solidFill>
            <a:prstDash val="dash"/>
          </a:ln>
        </p:spPr>
      </p:sp>
      <p:sp>
        <p:nvSpPr>
          <p:cNvPr id="10" name="Text 7"/>
          <p:cNvSpPr/>
          <p:nvPr/>
        </p:nvSpPr>
        <p:spPr>
          <a:xfrm>
            <a:off x="1195388" y="3418061"/>
            <a:ext cx="1409700" cy="384721"/>
          </a:xfrm>
          <a:prstGeom prst="rect">
            <a:avLst/>
          </a:prstGeom>
          <a:noFill/>
          <a:ln/>
        </p:spPr>
        <p:txBody>
          <a:bodyPr wrap="square" lIns="25400" tIns="25400" rIns="25400" bIns="25400" rtlCol="0" anchor="t">
            <a:normAutofit/>
          </a:bodyPr>
          <a:lstStyle/>
          <a:p>
            <a:pPr algn="l" indent="0" marL="0">
              <a:lnSpc>
                <a:spcPct val="140000"/>
              </a:lnSpc>
              <a:buNone/>
            </a:pPr>
            <a:r>
              <a:rPr lang="en-US" sz="975" spc="117" kern="0" dirty="0">
                <a:solidFill>
                  <a:srgbClr val="6E7785"/>
                </a:solidFill>
                <a:latin typeface="Courier New" pitchFamily="34" charset="0"/>
                <a:ea typeface="Courier New" pitchFamily="34" charset="-122"/>
                <a:cs typeface="Courier New" pitchFamily="34" charset="-120"/>
              </a:rPr>
              <a:t>YESTERDAY (NOT US)</a:t>
            </a:r>
            <a:endParaRPr lang="en-US" sz="975" dirty="0"/>
          </a:p>
        </p:txBody>
      </p:sp>
      <p:sp>
        <p:nvSpPr>
          <p:cNvPr id="11" name="Text 8"/>
          <p:cNvSpPr/>
          <p:nvPr/>
        </p:nvSpPr>
        <p:spPr>
          <a:xfrm>
            <a:off x="2776538" y="3062288"/>
            <a:ext cx="7245239" cy="300930"/>
          </a:xfrm>
          <a:prstGeom prst="rect">
            <a:avLst/>
          </a:prstGeom>
          <a:noFill/>
          <a:ln/>
        </p:spPr>
        <p:txBody>
          <a:bodyPr wrap="square" lIns="25400" tIns="25400" rIns="25400" bIns="25400" rtlCol="0" anchor="t">
            <a:normAutofit/>
          </a:bodyPr>
          <a:lstStyle/>
          <a:p>
            <a:pPr algn="l" indent="0" marL="0">
              <a:lnSpc>
                <a:spcPct val="115000"/>
              </a:lnSpc>
              <a:buNone/>
            </a:pPr>
            <a:r>
              <a:rPr lang="en-US" sz="1800" b="1" spc="-36" kern="0" dirty="0">
                <a:solidFill>
                  <a:srgbClr val="0F1419"/>
                </a:solidFill>
                <a:latin typeface="Arial" pitchFamily="34" charset="0"/>
                <a:ea typeface="Arial" pitchFamily="34" charset="-122"/>
                <a:cs typeface="Arial" pitchFamily="34" charset="-120"/>
              </a:rPr>
              <a:t>Idea → Prototype.</a:t>
            </a:r>
            <a:endParaRPr lang="en-US" sz="1800" dirty="0"/>
          </a:p>
        </p:txBody>
      </p:sp>
      <p:sp>
        <p:nvSpPr>
          <p:cNvPr id="12" name="Text 9"/>
          <p:cNvSpPr/>
          <p:nvPr/>
        </p:nvSpPr>
        <p:spPr>
          <a:xfrm>
            <a:off x="2776538" y="3363218"/>
            <a:ext cx="7245239" cy="223838"/>
          </a:xfrm>
          <a:prstGeom prst="rect">
            <a:avLst/>
          </a:prstGeom>
          <a:noFill/>
          <a:ln/>
        </p:spPr>
        <p:txBody>
          <a:bodyPr wrap="square" lIns="25400" tIns="25400" rIns="25400" bIns="25400" rtlCol="0" anchor="t">
            <a:normAutofit/>
          </a:bodyPr>
          <a:lstStyle/>
          <a:p>
            <a:pPr algn="l" indent="0" marL="0">
              <a:lnSpc>
                <a:spcPct val="150000"/>
              </a:lnSpc>
              <a:buNone/>
            </a:pPr>
            <a:r>
              <a:rPr lang="en-US" sz="975" spc="39" kern="0" dirty="0">
                <a:solidFill>
                  <a:srgbClr val="6E7785"/>
                </a:solidFill>
                <a:latin typeface="Courier New" pitchFamily="34" charset="0"/>
                <a:ea typeface="Courier New" pitchFamily="34" charset="-122"/>
                <a:cs typeface="Courier New" pitchFamily="34" charset="-120"/>
              </a:rPr>
              <a:t>Cursor · Lovable · Bolt · Claude Code</a:t>
            </a:r>
            <a:endParaRPr lang="en-US" sz="975" dirty="0"/>
          </a:p>
        </p:txBody>
      </p:sp>
      <p:sp>
        <p:nvSpPr>
          <p:cNvPr id="13" name="Text 10"/>
          <p:cNvSpPr/>
          <p:nvPr/>
        </p:nvSpPr>
        <p:spPr>
          <a:xfrm>
            <a:off x="2776538" y="3606105"/>
            <a:ext cx="7245239" cy="552450"/>
          </a:xfrm>
          <a:prstGeom prst="rect">
            <a:avLst/>
          </a:prstGeom>
          <a:noFill/>
          <a:ln/>
        </p:spPr>
        <p:txBody>
          <a:bodyPr wrap="square" lIns="25400" tIns="25400" rIns="25400" bIns="25400" rtlCol="0" anchor="t">
            <a:normAutofit/>
          </a:bodyPr>
          <a:lstStyle/>
          <a:p>
            <a:pPr algn="l" indent="0" marL="0">
              <a:lnSpc>
                <a:spcPct val="150000"/>
              </a:lnSpc>
              <a:buNone/>
            </a:pPr>
            <a:r>
              <a:rPr lang="en-US" sz="1350" dirty="0">
                <a:solidFill>
                  <a:srgbClr val="2A3340"/>
                </a:solidFill>
                <a:latin typeface="Arial" pitchFamily="34" charset="0"/>
                <a:ea typeface="Arial" pitchFamily="34" charset="-122"/>
                <a:cs typeface="Arial" pitchFamily="34" charset="-120"/>
              </a:rPr>
              <a:t>Non-technical founder uses AI to ship a working-looking prototype. The category that put a fire under this whole space.</a:t>
            </a:r>
            <a:endParaRPr lang="en-US" sz="1350" dirty="0"/>
          </a:p>
        </p:txBody>
      </p:sp>
      <p:sp>
        <p:nvSpPr>
          <p:cNvPr id="14" name="Text 11"/>
          <p:cNvSpPr/>
          <p:nvPr/>
        </p:nvSpPr>
        <p:spPr>
          <a:xfrm>
            <a:off x="10058400" y="3484215"/>
            <a:ext cx="7245239"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dirty="0">
                <a:solidFill>
                  <a:srgbClr val="2A3340"/>
                </a:solidFill>
                <a:latin typeface="Arial" pitchFamily="34" charset="0"/>
                <a:ea typeface="Arial" pitchFamily="34" charset="-122"/>
                <a:cs typeface="Arial" pitchFamily="34" charset="-120"/>
              </a:rPr>
              <a:t>We meet you </a:t>
            </a:r>
            <a:pPr algn="l" indent="0" marL="0">
              <a:lnSpc>
                <a:spcPct val="150000"/>
              </a:lnSpc>
              <a:buNone/>
            </a:pPr>
            <a:r>
              <a:rPr lang="en-US" sz="1125" b="1" dirty="0">
                <a:solidFill>
                  <a:srgbClr val="0F1419"/>
                </a:solidFill>
                <a:latin typeface="Arial" pitchFamily="34" charset="0"/>
                <a:ea typeface="Arial" pitchFamily="34" charset="-122"/>
                <a:cs typeface="Arial" pitchFamily="34" charset="-120"/>
              </a:rPr>
              <a:t>after </a:t>
            </a:r>
            <a:pPr algn="l" indent="0" marL="0">
              <a:lnSpc>
                <a:spcPct val="150000"/>
              </a:lnSpc>
              <a:buNone/>
            </a:pPr>
            <a:r>
              <a:rPr lang="en-US" sz="1125" dirty="0">
                <a:solidFill>
                  <a:srgbClr val="2A3340"/>
                </a:solidFill>
                <a:latin typeface="Arial" pitchFamily="34" charset="0"/>
                <a:ea typeface="Arial" pitchFamily="34" charset="-122"/>
                <a:cs typeface="Arial" pitchFamily="34" charset="-120"/>
              </a:rPr>
              <a:t>this step — when the prototype hits the infrastructure wall.</a:t>
            </a:r>
            <a:endParaRPr lang="en-US" sz="1125" dirty="0"/>
          </a:p>
        </p:txBody>
      </p:sp>
      <p:sp>
        <p:nvSpPr>
          <p:cNvPr id="15" name="Shape 12"/>
          <p:cNvSpPr/>
          <p:nvPr/>
        </p:nvSpPr>
        <p:spPr>
          <a:xfrm>
            <a:off x="914400" y="4496693"/>
            <a:ext cx="16459200" cy="1543943"/>
          </a:xfrm>
          <a:prstGeom prst="roundRect">
            <a:avLst>
              <a:gd name="adj" fmla="val 8637"/>
            </a:avLst>
          </a:prstGeom>
          <a:solidFill>
            <a:srgbClr val="161D2A"/>
          </a:solidFill>
          <a:ln w="14288">
            <a:solidFill>
              <a:srgbClr val="232C3D"/>
            </a:solidFill>
            <a:prstDash val="solid"/>
          </a:ln>
          <a:effectLst>
            <a:outerShdw sx="100000" sy="100000" kx="0" ky="0" algn="bl" rotWithShape="0" blurRad="133350" dist="38100" dir="5400000">
              <a:srgbClr val="000000">
                <a:alpha val="25000"/>
              </a:srgbClr>
            </a:outerShdw>
          </a:effectLst>
        </p:spPr>
      </p:sp>
      <p:sp>
        <p:nvSpPr>
          <p:cNvPr id="16" name="Text 13"/>
          <p:cNvSpPr/>
          <p:nvPr/>
        </p:nvSpPr>
        <p:spPr>
          <a:xfrm>
            <a:off x="1195388" y="5095354"/>
            <a:ext cx="1409700" cy="384721"/>
          </a:xfrm>
          <a:prstGeom prst="rect">
            <a:avLst/>
          </a:prstGeom>
          <a:noFill/>
          <a:ln/>
        </p:spPr>
        <p:txBody>
          <a:bodyPr wrap="square" lIns="25400" tIns="25400" rIns="25400" bIns="25400" rtlCol="0" anchor="t">
            <a:normAutofit/>
          </a:bodyPr>
          <a:lstStyle/>
          <a:p>
            <a:pPr algn="l" indent="0" marL="0">
              <a:lnSpc>
                <a:spcPct val="140000"/>
              </a:lnSpc>
              <a:buNone/>
            </a:pPr>
            <a:r>
              <a:rPr lang="en-US" sz="975" spc="117" kern="0" dirty="0">
                <a:solidFill>
                  <a:srgbClr val="C8C0F8"/>
                </a:solidFill>
                <a:latin typeface="Courier New" pitchFamily="34" charset="0"/>
                <a:ea typeface="Courier New" pitchFamily="34" charset="-122"/>
                <a:cs typeface="Courier New" pitchFamily="34" charset="-120"/>
              </a:rPr>
              <a:t>TODAY (LIVE)</a:t>
            </a:r>
            <a:endParaRPr lang="en-US" sz="975" dirty="0"/>
          </a:p>
        </p:txBody>
      </p:sp>
      <p:sp>
        <p:nvSpPr>
          <p:cNvPr id="17" name="Text 14"/>
          <p:cNvSpPr/>
          <p:nvPr/>
        </p:nvSpPr>
        <p:spPr>
          <a:xfrm>
            <a:off x="2776538" y="4739580"/>
            <a:ext cx="7245239" cy="300930"/>
          </a:xfrm>
          <a:prstGeom prst="rect">
            <a:avLst/>
          </a:prstGeom>
          <a:noFill/>
          <a:ln/>
        </p:spPr>
        <p:txBody>
          <a:bodyPr wrap="square" lIns="25400" tIns="25400" rIns="25400" bIns="25400" rtlCol="0" anchor="t">
            <a:normAutofit/>
          </a:bodyPr>
          <a:lstStyle/>
          <a:p>
            <a:pPr algn="l" indent="0" marL="0">
              <a:lnSpc>
                <a:spcPct val="115000"/>
              </a:lnSpc>
              <a:buNone/>
            </a:pPr>
            <a:r>
              <a:rPr lang="en-US" sz="1800" b="1" spc="-36" kern="0" dirty="0">
                <a:solidFill>
                  <a:srgbClr val="F7FAFC"/>
                </a:solidFill>
                <a:latin typeface="Arial" pitchFamily="34" charset="0"/>
                <a:ea typeface="Arial" pitchFamily="34" charset="-122"/>
                <a:cs typeface="Arial" pitchFamily="34" charset="-120"/>
              </a:rPr>
              <a:t>Prototype → Sellable product.</a:t>
            </a:r>
            <a:endParaRPr lang="en-US" sz="1800" dirty="0"/>
          </a:p>
        </p:txBody>
      </p:sp>
      <p:sp>
        <p:nvSpPr>
          <p:cNvPr id="18" name="Text 15"/>
          <p:cNvSpPr/>
          <p:nvPr/>
        </p:nvSpPr>
        <p:spPr>
          <a:xfrm>
            <a:off x="2776538" y="5040511"/>
            <a:ext cx="7245239" cy="223838"/>
          </a:xfrm>
          <a:prstGeom prst="rect">
            <a:avLst/>
          </a:prstGeom>
          <a:noFill/>
          <a:ln/>
        </p:spPr>
        <p:txBody>
          <a:bodyPr wrap="square" lIns="25400" tIns="25400" rIns="25400" bIns="25400" rtlCol="0" anchor="t">
            <a:normAutofit/>
          </a:bodyPr>
          <a:lstStyle/>
          <a:p>
            <a:pPr algn="l" indent="0" marL="0">
              <a:lnSpc>
                <a:spcPct val="150000"/>
              </a:lnSpc>
              <a:buNone/>
            </a:pPr>
            <a:r>
              <a:rPr lang="en-US" sz="975" spc="39" kern="0" dirty="0">
                <a:solidFill>
                  <a:srgbClr val="F7FAFC">
                    <a:alpha val="55000"/>
                  </a:srgbClr>
                </a:solidFill>
                <a:latin typeface="Courier New" pitchFamily="34" charset="0"/>
                <a:ea typeface="Courier New" pitchFamily="34" charset="-122"/>
                <a:cs typeface="Courier New" pitchFamily="34" charset="-120"/>
              </a:rPr>
              <a:t>Hatchik substrate</a:t>
            </a:r>
            <a:endParaRPr lang="en-US" sz="975" dirty="0"/>
          </a:p>
        </p:txBody>
      </p:sp>
      <p:sp>
        <p:nvSpPr>
          <p:cNvPr id="19" name="Text 16"/>
          <p:cNvSpPr/>
          <p:nvPr/>
        </p:nvSpPr>
        <p:spPr>
          <a:xfrm>
            <a:off x="2776538" y="5283398"/>
            <a:ext cx="7245239" cy="552450"/>
          </a:xfrm>
          <a:prstGeom prst="rect">
            <a:avLst/>
          </a:prstGeom>
          <a:noFill/>
          <a:ln/>
        </p:spPr>
        <p:txBody>
          <a:bodyPr wrap="square" lIns="25400" tIns="25400" rIns="25400" bIns="25400" rtlCol="0" anchor="t">
            <a:normAutofit/>
          </a:bodyPr>
          <a:lstStyle/>
          <a:p>
            <a:pPr algn="l" indent="0" marL="0">
              <a:lnSpc>
                <a:spcPct val="150000"/>
              </a:lnSpc>
              <a:buNone/>
            </a:pPr>
            <a:r>
              <a:rPr lang="en-US" sz="1350" dirty="0">
                <a:solidFill>
                  <a:srgbClr val="F7FAFC">
                    <a:alpha val="78000"/>
                  </a:srgbClr>
                </a:solidFill>
                <a:latin typeface="Arial" pitchFamily="34" charset="0"/>
                <a:ea typeface="Arial" pitchFamily="34" charset="-122"/>
                <a:cs typeface="Arial" pitchFamily="34" charset="-120"/>
              </a:rPr>
              <a:t>Auth, Postgres, payments, mail, mobile, MoR billing, GitHub repo. Day-one SaaS. Customer signs up, pays, gets receipts, ships mobile.</a:t>
            </a:r>
            <a:endParaRPr lang="en-US" sz="1350" dirty="0"/>
          </a:p>
        </p:txBody>
      </p:sp>
      <p:sp>
        <p:nvSpPr>
          <p:cNvPr id="20" name="Text 17"/>
          <p:cNvSpPr/>
          <p:nvPr/>
        </p:nvSpPr>
        <p:spPr>
          <a:xfrm>
            <a:off x="10058400" y="5175796"/>
            <a:ext cx="7245239" cy="223838"/>
          </a:xfrm>
          <a:prstGeom prst="rect">
            <a:avLst/>
          </a:prstGeom>
          <a:noFill/>
          <a:ln/>
        </p:spPr>
        <p:txBody>
          <a:bodyPr wrap="square" lIns="25400" tIns="25400" rIns="25400" bIns="25400" rtlCol="0" anchor="t">
            <a:normAutofit/>
          </a:bodyPr>
          <a:lstStyle/>
          <a:p>
            <a:pPr algn="l" indent="0" marL="0">
              <a:lnSpc>
                <a:spcPct val="150000"/>
              </a:lnSpc>
              <a:buNone/>
            </a:pPr>
            <a:r>
              <a:rPr lang="en-US" sz="975" spc="78" kern="0" dirty="0">
                <a:solidFill>
                  <a:srgbClr val="C8C0F8"/>
                </a:solidFill>
                <a:latin typeface="Courier New" pitchFamily="34" charset="0"/>
                <a:ea typeface="Courier New" pitchFamily="34" charset="-122"/>
                <a:cs typeface="Courier New" pitchFamily="34" charset="-120"/>
              </a:rPr>
              <a:t>LAUNCH £14/MO · GROWTH £39/MO</a:t>
            </a:r>
            <a:endParaRPr lang="en-US" sz="975" dirty="0"/>
          </a:p>
        </p:txBody>
      </p:sp>
      <p:sp>
        <p:nvSpPr>
          <p:cNvPr id="21" name="Shape 18"/>
          <p:cNvSpPr/>
          <p:nvPr/>
        </p:nvSpPr>
        <p:spPr>
          <a:xfrm>
            <a:off x="914400" y="6173986"/>
            <a:ext cx="16459200" cy="1543943"/>
          </a:xfrm>
          <a:prstGeom prst="roundRect">
            <a:avLst>
              <a:gd name="adj" fmla="val 8637"/>
            </a:avLst>
          </a:prstGeom>
          <a:ln w="14288">
            <a:solidFill>
              <a:srgbClr val="C5D0DC"/>
            </a:solidFill>
            <a:prstDash val="dash"/>
          </a:ln>
        </p:spPr>
      </p:sp>
      <p:sp>
        <p:nvSpPr>
          <p:cNvPr id="22" name="Text 19"/>
          <p:cNvSpPr/>
          <p:nvPr/>
        </p:nvSpPr>
        <p:spPr>
          <a:xfrm>
            <a:off x="1195388" y="6772647"/>
            <a:ext cx="1409700" cy="384721"/>
          </a:xfrm>
          <a:prstGeom prst="rect">
            <a:avLst/>
          </a:prstGeom>
          <a:noFill/>
          <a:ln/>
        </p:spPr>
        <p:txBody>
          <a:bodyPr wrap="square" lIns="25400" tIns="25400" rIns="25400" bIns="25400" rtlCol="0" anchor="t">
            <a:normAutofit/>
          </a:bodyPr>
          <a:lstStyle/>
          <a:p>
            <a:pPr algn="l" indent="0" marL="0">
              <a:lnSpc>
                <a:spcPct val="140000"/>
              </a:lnSpc>
              <a:buNone/>
            </a:pPr>
            <a:r>
              <a:rPr lang="en-US" sz="975" spc="117" kern="0" dirty="0">
                <a:solidFill>
                  <a:srgbClr val="5B47F0"/>
                </a:solidFill>
                <a:latin typeface="Courier New" pitchFamily="34" charset="0"/>
                <a:ea typeface="Courier New" pitchFamily="34" charset="-122"/>
                <a:cs typeface="Courier New" pitchFamily="34" charset="-120"/>
              </a:rPr>
              <a:t>TOMORROW (Y2 WATCHLIST)</a:t>
            </a:r>
            <a:endParaRPr lang="en-US" sz="975" dirty="0"/>
          </a:p>
        </p:txBody>
      </p:sp>
      <p:sp>
        <p:nvSpPr>
          <p:cNvPr id="23" name="Text 20"/>
          <p:cNvSpPr/>
          <p:nvPr/>
        </p:nvSpPr>
        <p:spPr>
          <a:xfrm>
            <a:off x="2776538" y="6416873"/>
            <a:ext cx="7245239" cy="300930"/>
          </a:xfrm>
          <a:prstGeom prst="rect">
            <a:avLst/>
          </a:prstGeom>
          <a:noFill/>
          <a:ln/>
        </p:spPr>
        <p:txBody>
          <a:bodyPr wrap="square" lIns="25400" tIns="25400" rIns="25400" bIns="25400" rtlCol="0" anchor="t">
            <a:normAutofit/>
          </a:bodyPr>
          <a:lstStyle/>
          <a:p>
            <a:pPr algn="l" indent="0" marL="0">
              <a:lnSpc>
                <a:spcPct val="115000"/>
              </a:lnSpc>
              <a:buNone/>
            </a:pPr>
            <a:r>
              <a:rPr lang="en-US" sz="1800" b="1" spc="-36" kern="0" dirty="0">
                <a:solidFill>
                  <a:srgbClr val="0F1419"/>
                </a:solidFill>
                <a:latin typeface="Arial" pitchFamily="34" charset="0"/>
                <a:ea typeface="Arial" pitchFamily="34" charset="-122"/>
                <a:cs typeface="Arial" pitchFamily="34" charset="-120"/>
              </a:rPr>
              <a:t>Product → Real business.</a:t>
            </a:r>
            <a:endParaRPr lang="en-US" sz="1800" dirty="0"/>
          </a:p>
        </p:txBody>
      </p:sp>
      <p:sp>
        <p:nvSpPr>
          <p:cNvPr id="24" name="Text 21"/>
          <p:cNvSpPr/>
          <p:nvPr/>
        </p:nvSpPr>
        <p:spPr>
          <a:xfrm>
            <a:off x="2776538" y="6717804"/>
            <a:ext cx="7245239" cy="223838"/>
          </a:xfrm>
          <a:prstGeom prst="rect">
            <a:avLst/>
          </a:prstGeom>
          <a:noFill/>
          <a:ln/>
        </p:spPr>
        <p:txBody>
          <a:bodyPr wrap="square" lIns="25400" tIns="25400" rIns="25400" bIns="25400" rtlCol="0" anchor="t">
            <a:normAutofit/>
          </a:bodyPr>
          <a:lstStyle/>
          <a:p>
            <a:pPr algn="l" indent="0" marL="0">
              <a:lnSpc>
                <a:spcPct val="150000"/>
              </a:lnSpc>
              <a:buNone/>
            </a:pPr>
            <a:r>
              <a:rPr lang="en-US" sz="975" spc="39" kern="0" dirty="0">
                <a:solidFill>
                  <a:srgbClr val="6E7785"/>
                </a:solidFill>
                <a:latin typeface="Courier New" pitchFamily="34" charset="0"/>
                <a:ea typeface="Courier New" pitchFamily="34" charset="-122"/>
                <a:cs typeface="Courier New" pitchFamily="34" charset="-120"/>
              </a:rPr>
              <a:t>Hatchik+ end-user services</a:t>
            </a:r>
            <a:endParaRPr lang="en-US" sz="975" dirty="0"/>
          </a:p>
        </p:txBody>
      </p:sp>
      <p:sp>
        <p:nvSpPr>
          <p:cNvPr id="25" name="Text 22"/>
          <p:cNvSpPr/>
          <p:nvPr/>
        </p:nvSpPr>
        <p:spPr>
          <a:xfrm>
            <a:off x="2776538" y="6960691"/>
            <a:ext cx="7245239" cy="552450"/>
          </a:xfrm>
          <a:prstGeom prst="rect">
            <a:avLst/>
          </a:prstGeom>
          <a:noFill/>
          <a:ln/>
        </p:spPr>
        <p:txBody>
          <a:bodyPr wrap="square" lIns="25400" tIns="25400" rIns="25400" bIns="25400" rtlCol="0" anchor="t">
            <a:normAutofit/>
          </a:bodyPr>
          <a:lstStyle/>
          <a:p>
            <a:pPr algn="l" indent="0" marL="0">
              <a:lnSpc>
                <a:spcPct val="150000"/>
              </a:lnSpc>
              <a:buNone/>
            </a:pPr>
            <a:r>
              <a:rPr lang="en-US" sz="1350" dirty="0">
                <a:solidFill>
                  <a:srgbClr val="2A3340"/>
                </a:solidFill>
                <a:latin typeface="Arial" pitchFamily="34" charset="0"/>
                <a:ea typeface="Arial" pitchFamily="34" charset="-122"/>
                <a:cs typeface="Arial" pitchFamily="34" charset="-120"/>
              </a:rPr>
              <a:t>White-labeled AI agents and growth services the customer offers to THEIR end users — built on the substrate already running.</a:t>
            </a:r>
            <a:endParaRPr lang="en-US" sz="1350" dirty="0"/>
          </a:p>
        </p:txBody>
      </p:sp>
      <p:sp>
        <p:nvSpPr>
          <p:cNvPr id="26" name="Text 23"/>
          <p:cNvSpPr/>
          <p:nvPr/>
        </p:nvSpPr>
        <p:spPr>
          <a:xfrm>
            <a:off x="10058400" y="6838801"/>
            <a:ext cx="7245239"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dirty="0">
                <a:solidFill>
                  <a:srgbClr val="2A3340"/>
                </a:solidFill>
                <a:latin typeface="Arial" pitchFamily="34" charset="0"/>
                <a:ea typeface="Arial" pitchFamily="34" charset="-122"/>
                <a:cs typeface="Arial" pitchFamily="34" charset="-120"/>
              </a:rPr>
              <a:t>New revenue lines on top of subscription. Per-service or % of revenue.</a:t>
            </a:r>
            <a:endParaRPr lang="en-US" sz="1125" dirty="0"/>
          </a:p>
        </p:txBody>
      </p:sp>
      <p:sp>
        <p:nvSpPr>
          <p:cNvPr id="27" name="Text 24"/>
          <p:cNvSpPr/>
          <p:nvPr/>
        </p:nvSpPr>
        <p:spPr>
          <a:xfrm>
            <a:off x="914400" y="8046541"/>
            <a:ext cx="5199621" cy="214313"/>
          </a:xfrm>
          <a:prstGeom prst="rect">
            <a:avLst/>
          </a:prstGeom>
          <a:noFill/>
          <a:ln/>
        </p:spPr>
        <p:txBody>
          <a:bodyPr wrap="square" lIns="25400" tIns="25400" rIns="25400" bIns="25400" rtlCol="0" anchor="t">
            <a:normAutofit/>
          </a:bodyPr>
          <a:lstStyle/>
          <a:p>
            <a:pPr algn="l" indent="0" marL="0">
              <a:lnSpc>
                <a:spcPct val="150000"/>
              </a:lnSpc>
              <a:buNone/>
            </a:pPr>
            <a:r>
              <a:rPr lang="en-US" sz="1200" spc="144" kern="0" dirty="0">
                <a:solidFill>
                  <a:srgbClr val="6E7785"/>
                </a:solidFill>
                <a:latin typeface="Courier New" pitchFamily="34" charset="0"/>
                <a:ea typeface="Courier New" pitchFamily="34" charset="-122"/>
                <a:cs typeface="Courier New" pitchFamily="34" charset="-120"/>
              </a:rPr>
              <a:t>END-USER SERVICES WE'LL BUILD ON THE SUBSTRATE</a:t>
            </a:r>
            <a:endParaRPr lang="en-US" sz="1200" dirty="0"/>
          </a:p>
        </p:txBody>
      </p:sp>
      <p:sp>
        <p:nvSpPr>
          <p:cNvPr id="28" name="Shape 25"/>
          <p:cNvSpPr/>
          <p:nvPr/>
        </p:nvSpPr>
        <p:spPr>
          <a:xfrm>
            <a:off x="914400" y="8375154"/>
            <a:ext cx="2629272" cy="295275"/>
          </a:xfrm>
          <a:prstGeom prst="roundRect">
            <a:avLst>
              <a:gd name="adj" fmla="val 22581"/>
            </a:avLst>
          </a:prstGeom>
          <a:solidFill>
            <a:srgbClr val="EEEBFD"/>
          </a:solidFill>
          <a:ln w="14288">
            <a:solidFill>
              <a:srgbClr val="C8C0F8"/>
            </a:solidFill>
            <a:prstDash val="solid"/>
          </a:ln>
        </p:spPr>
      </p:sp>
      <p:sp>
        <p:nvSpPr>
          <p:cNvPr id="29" name="Text 26"/>
          <p:cNvSpPr/>
          <p:nvPr/>
        </p:nvSpPr>
        <p:spPr>
          <a:xfrm>
            <a:off x="1062038" y="8456116"/>
            <a:ext cx="2412875" cy="171450"/>
          </a:xfrm>
          <a:prstGeom prst="rect">
            <a:avLst/>
          </a:prstGeom>
          <a:noFill/>
          <a:ln/>
        </p:spPr>
        <p:txBody>
          <a:bodyPr wrap="square" lIns="25400" tIns="25400" rIns="25400" bIns="25400" rtlCol="0" anchor="ctr">
            <a:normAutofit/>
          </a:bodyPr>
          <a:lstStyle/>
          <a:p>
            <a:pPr algn="l" indent="0" marL="0">
              <a:lnSpc>
                <a:spcPct val="100000"/>
              </a:lnSpc>
              <a:buNone/>
            </a:pPr>
            <a:r>
              <a:rPr lang="en-US" sz="1050" spc="105" kern="0" dirty="0">
                <a:solidFill>
                  <a:srgbClr val="4231CC"/>
                </a:solidFill>
                <a:latin typeface="Courier New" pitchFamily="34" charset="0"/>
                <a:ea typeface="Courier New" pitchFamily="34" charset="-122"/>
                <a:cs typeface="Courier New" pitchFamily="34" charset="-120"/>
              </a:rPr>
              <a:t>AI CUSTOMER-SUPPORT AGENT</a:t>
            </a:r>
            <a:endParaRPr lang="en-US" sz="1050" dirty="0"/>
          </a:p>
        </p:txBody>
      </p:sp>
      <p:sp>
        <p:nvSpPr>
          <p:cNvPr id="30" name="Shape 27"/>
          <p:cNvSpPr/>
          <p:nvPr/>
        </p:nvSpPr>
        <p:spPr>
          <a:xfrm>
            <a:off x="3619872" y="8375154"/>
            <a:ext cx="2722587" cy="295275"/>
          </a:xfrm>
          <a:prstGeom prst="roundRect">
            <a:avLst>
              <a:gd name="adj" fmla="val 22581"/>
            </a:avLst>
          </a:prstGeom>
          <a:solidFill>
            <a:srgbClr val="EEEBFD"/>
          </a:solidFill>
          <a:ln w="14288">
            <a:solidFill>
              <a:srgbClr val="C8C0F8"/>
            </a:solidFill>
            <a:prstDash val="solid"/>
          </a:ln>
        </p:spPr>
      </p:sp>
      <p:sp>
        <p:nvSpPr>
          <p:cNvPr id="31" name="Text 28"/>
          <p:cNvSpPr/>
          <p:nvPr/>
        </p:nvSpPr>
        <p:spPr>
          <a:xfrm>
            <a:off x="3767510" y="8456116"/>
            <a:ext cx="2508990" cy="171450"/>
          </a:xfrm>
          <a:prstGeom prst="rect">
            <a:avLst/>
          </a:prstGeom>
          <a:noFill/>
          <a:ln/>
        </p:spPr>
        <p:txBody>
          <a:bodyPr wrap="square" lIns="25400" tIns="25400" rIns="25400" bIns="25400" rtlCol="0" anchor="ctr">
            <a:normAutofit/>
          </a:bodyPr>
          <a:lstStyle/>
          <a:p>
            <a:pPr algn="l" indent="0" marL="0">
              <a:lnSpc>
                <a:spcPct val="100000"/>
              </a:lnSpc>
              <a:buNone/>
            </a:pPr>
            <a:r>
              <a:rPr lang="en-US" sz="1050" spc="105" kern="0" dirty="0">
                <a:solidFill>
                  <a:srgbClr val="4231CC"/>
                </a:solidFill>
                <a:latin typeface="Courier New" pitchFamily="34" charset="0"/>
                <a:ea typeface="Courier New" pitchFamily="34" charset="-122"/>
                <a:cs typeface="Courier New" pitchFamily="34" charset="-120"/>
              </a:rPr>
              <a:t>MARKETING + BRANDING AGENT</a:t>
            </a:r>
            <a:endParaRPr lang="en-US" sz="1050" dirty="0"/>
          </a:p>
        </p:txBody>
      </p:sp>
      <p:sp>
        <p:nvSpPr>
          <p:cNvPr id="32" name="Shape 29"/>
          <p:cNvSpPr/>
          <p:nvPr/>
        </p:nvSpPr>
        <p:spPr>
          <a:xfrm>
            <a:off x="6418659" y="8375154"/>
            <a:ext cx="2815977" cy="295275"/>
          </a:xfrm>
          <a:prstGeom prst="roundRect">
            <a:avLst>
              <a:gd name="adj" fmla="val 22581"/>
            </a:avLst>
          </a:prstGeom>
          <a:solidFill>
            <a:srgbClr val="EEEBFD"/>
          </a:solidFill>
          <a:ln w="14288">
            <a:solidFill>
              <a:srgbClr val="C8C0F8"/>
            </a:solidFill>
            <a:prstDash val="solid"/>
          </a:ln>
        </p:spPr>
      </p:sp>
      <p:sp>
        <p:nvSpPr>
          <p:cNvPr id="33" name="Text 30"/>
          <p:cNvSpPr/>
          <p:nvPr/>
        </p:nvSpPr>
        <p:spPr>
          <a:xfrm>
            <a:off x="6566297" y="8456116"/>
            <a:ext cx="2605181" cy="171450"/>
          </a:xfrm>
          <a:prstGeom prst="rect">
            <a:avLst/>
          </a:prstGeom>
          <a:noFill/>
          <a:ln/>
        </p:spPr>
        <p:txBody>
          <a:bodyPr wrap="square" lIns="25400" tIns="25400" rIns="25400" bIns="25400" rtlCol="0" anchor="ctr">
            <a:normAutofit/>
          </a:bodyPr>
          <a:lstStyle/>
          <a:p>
            <a:pPr algn="l" indent="0" marL="0">
              <a:lnSpc>
                <a:spcPct val="100000"/>
              </a:lnSpc>
              <a:buNone/>
            </a:pPr>
            <a:r>
              <a:rPr lang="en-US" sz="1050" spc="105" kern="0" dirty="0">
                <a:solidFill>
                  <a:srgbClr val="4231CC"/>
                </a:solidFill>
                <a:latin typeface="Courier New" pitchFamily="34" charset="0"/>
                <a:ea typeface="Courier New" pitchFamily="34" charset="-122"/>
                <a:cs typeface="Courier New" pitchFamily="34" charset="-120"/>
              </a:rPr>
              <a:t>FUNDING / INCUBATOR NETWORK</a:t>
            </a:r>
            <a:endParaRPr lang="en-US" sz="1050" dirty="0"/>
          </a:p>
        </p:txBody>
      </p:sp>
      <p:sp>
        <p:nvSpPr>
          <p:cNvPr id="34" name="Shape 31"/>
          <p:cNvSpPr/>
          <p:nvPr/>
        </p:nvSpPr>
        <p:spPr>
          <a:xfrm>
            <a:off x="9310836" y="8375154"/>
            <a:ext cx="3562871" cy="295275"/>
          </a:xfrm>
          <a:prstGeom prst="roundRect">
            <a:avLst>
              <a:gd name="adj" fmla="val 22581"/>
            </a:avLst>
          </a:prstGeom>
          <a:solidFill>
            <a:srgbClr val="EEEBFD"/>
          </a:solidFill>
          <a:ln w="14288">
            <a:solidFill>
              <a:srgbClr val="C8C0F8"/>
            </a:solidFill>
            <a:prstDash val="solid"/>
          </a:ln>
        </p:spPr>
      </p:sp>
      <p:sp>
        <p:nvSpPr>
          <p:cNvPr id="35" name="Text 32"/>
          <p:cNvSpPr/>
          <p:nvPr/>
        </p:nvSpPr>
        <p:spPr>
          <a:xfrm>
            <a:off x="9458474" y="8456116"/>
            <a:ext cx="3374482" cy="171450"/>
          </a:xfrm>
          <a:prstGeom prst="rect">
            <a:avLst/>
          </a:prstGeom>
          <a:noFill/>
          <a:ln/>
        </p:spPr>
        <p:txBody>
          <a:bodyPr wrap="square" lIns="25400" tIns="25400" rIns="25400" bIns="25400" rtlCol="0" anchor="ctr">
            <a:normAutofit/>
          </a:bodyPr>
          <a:lstStyle/>
          <a:p>
            <a:pPr algn="l" indent="0" marL="0">
              <a:lnSpc>
                <a:spcPct val="100000"/>
              </a:lnSpc>
              <a:buNone/>
            </a:pPr>
            <a:r>
              <a:rPr lang="en-US" sz="1050" spc="105" kern="0" dirty="0">
                <a:solidFill>
                  <a:srgbClr val="4231CC"/>
                </a:solidFill>
                <a:latin typeface="Courier New" pitchFamily="34" charset="0"/>
                <a:ea typeface="Courier New" pitchFamily="34" charset="-122"/>
                <a:cs typeface="Courier New" pitchFamily="34" charset="-120"/>
              </a:rPr>
              <a:t>OPS AGENT (ONBOARDING, FINANCE, HR)</a:t>
            </a:r>
            <a:endParaRPr lang="en-US" sz="1050" dirty="0"/>
          </a:p>
        </p:txBody>
      </p:sp>
      <p:sp>
        <p:nvSpPr>
          <p:cNvPr id="36" name="Shape 33"/>
          <p:cNvSpPr/>
          <p:nvPr/>
        </p:nvSpPr>
        <p:spPr>
          <a:xfrm>
            <a:off x="12949907" y="8375154"/>
            <a:ext cx="2069083" cy="295275"/>
          </a:xfrm>
          <a:prstGeom prst="roundRect">
            <a:avLst>
              <a:gd name="adj" fmla="val 22581"/>
            </a:avLst>
          </a:prstGeom>
          <a:solidFill>
            <a:srgbClr val="EEEBFD"/>
          </a:solidFill>
          <a:ln w="14288">
            <a:solidFill>
              <a:srgbClr val="C8C0F8"/>
            </a:solidFill>
            <a:prstDash val="solid"/>
          </a:ln>
        </p:spPr>
      </p:sp>
      <p:sp>
        <p:nvSpPr>
          <p:cNvPr id="37" name="Text 34"/>
          <p:cNvSpPr/>
          <p:nvPr/>
        </p:nvSpPr>
        <p:spPr>
          <a:xfrm>
            <a:off x="13097545" y="8456116"/>
            <a:ext cx="1850008" cy="171450"/>
          </a:xfrm>
          <a:prstGeom prst="rect">
            <a:avLst/>
          </a:prstGeom>
          <a:noFill/>
          <a:ln/>
        </p:spPr>
        <p:txBody>
          <a:bodyPr wrap="square" lIns="25400" tIns="25400" rIns="25400" bIns="25400" rtlCol="0" anchor="ctr">
            <a:normAutofit/>
          </a:bodyPr>
          <a:lstStyle/>
          <a:p>
            <a:pPr algn="l" indent="0" marL="0">
              <a:lnSpc>
                <a:spcPct val="100000"/>
              </a:lnSpc>
              <a:buNone/>
            </a:pPr>
            <a:r>
              <a:rPr lang="en-US" sz="1050" spc="105" kern="0" dirty="0">
                <a:solidFill>
                  <a:srgbClr val="4231CC"/>
                </a:solidFill>
                <a:latin typeface="Courier New" pitchFamily="34" charset="0"/>
                <a:ea typeface="Courier New" pitchFamily="34" charset="-122"/>
                <a:cs typeface="Courier New" pitchFamily="34" charset="-120"/>
              </a:rPr>
              <a:t>COMPLIANCE-IN-A-BOX</a:t>
            </a:r>
            <a:endParaRPr lang="en-US" sz="1050" dirty="0"/>
          </a:p>
        </p:txBody>
      </p:sp>
      <p:sp>
        <p:nvSpPr>
          <p:cNvPr id="38" name="Shape 35"/>
          <p:cNvSpPr/>
          <p:nvPr/>
        </p:nvSpPr>
        <p:spPr>
          <a:xfrm>
            <a:off x="914400" y="8746629"/>
            <a:ext cx="2442567" cy="295275"/>
          </a:xfrm>
          <a:prstGeom prst="roundRect">
            <a:avLst>
              <a:gd name="adj" fmla="val 22581"/>
            </a:avLst>
          </a:prstGeom>
          <a:solidFill>
            <a:srgbClr val="EEEBFD"/>
          </a:solidFill>
          <a:ln w="14288">
            <a:solidFill>
              <a:srgbClr val="C8C0F8"/>
            </a:solidFill>
            <a:prstDash val="solid"/>
          </a:ln>
        </p:spPr>
      </p:sp>
      <p:sp>
        <p:nvSpPr>
          <p:cNvPr id="39" name="Text 36"/>
          <p:cNvSpPr/>
          <p:nvPr/>
        </p:nvSpPr>
        <p:spPr>
          <a:xfrm>
            <a:off x="1062038" y="8827591"/>
            <a:ext cx="2223492" cy="171450"/>
          </a:xfrm>
          <a:prstGeom prst="rect">
            <a:avLst/>
          </a:prstGeom>
          <a:noFill/>
          <a:ln/>
        </p:spPr>
        <p:txBody>
          <a:bodyPr wrap="square" lIns="25400" tIns="25400" rIns="25400" bIns="25400" rtlCol="0" anchor="ctr">
            <a:normAutofit/>
          </a:bodyPr>
          <a:lstStyle/>
          <a:p>
            <a:pPr algn="l" indent="0" marL="0">
              <a:lnSpc>
                <a:spcPct val="100000"/>
              </a:lnSpc>
              <a:buNone/>
            </a:pPr>
            <a:r>
              <a:rPr lang="en-US" sz="1050" spc="105" kern="0" dirty="0">
                <a:solidFill>
                  <a:srgbClr val="4231CC"/>
                </a:solidFill>
                <a:latin typeface="Courier New" pitchFamily="34" charset="0"/>
                <a:ea typeface="Courier New" pitchFamily="34" charset="-122"/>
                <a:cs typeface="Courier New" pitchFamily="34" charset="-120"/>
              </a:rPr>
              <a:t>HOSTED GROWTH ANALYTICS</a:t>
            </a:r>
            <a:endParaRPr lang="en-US" sz="1050" dirty="0"/>
          </a:p>
        </p:txBody>
      </p:sp>
      <p:sp>
        <p:nvSpPr>
          <p:cNvPr id="40" name="Shape 37"/>
          <p:cNvSpPr/>
          <p:nvPr/>
        </p:nvSpPr>
        <p:spPr>
          <a:xfrm>
            <a:off x="914400" y="9286875"/>
            <a:ext cx="16459200" cy="9525"/>
          </a:xfrm>
          <a:prstGeom prst="rect">
            <a:avLst/>
          </a:prstGeom>
          <a:solidFill>
            <a:srgbClr val="DDE5EC"/>
          </a:solidFill>
          <a:ln/>
        </p:spPr>
      </p:sp>
      <p:sp>
        <p:nvSpPr>
          <p:cNvPr id="41" name="Text 38"/>
          <p:cNvSpPr/>
          <p:nvPr/>
        </p:nvSpPr>
        <p:spPr>
          <a:xfrm>
            <a:off x="914400" y="9532144"/>
            <a:ext cx="4533256"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113" kern="0" dirty="0">
                <a:solidFill>
                  <a:srgbClr val="6E7785"/>
                </a:solidFill>
                <a:latin typeface="Courier New" pitchFamily="34" charset="0"/>
                <a:ea typeface="Courier New" pitchFamily="34" charset="-122"/>
                <a:cs typeface="Courier New" pitchFamily="34" charset="-120"/>
              </a:rPr>
              <a:t>HATCHIK · INVESTOR &amp; PARTNER DECK · MAY 2026</a:t>
            </a:r>
            <a:endParaRPr lang="en-US" sz="1125" dirty="0"/>
          </a:p>
        </p:txBody>
      </p:sp>
      <p:sp>
        <p:nvSpPr>
          <p:cNvPr id="42" name="Text 39"/>
          <p:cNvSpPr/>
          <p:nvPr/>
        </p:nvSpPr>
        <p:spPr>
          <a:xfrm>
            <a:off x="16690851" y="9525000"/>
            <a:ext cx="758949"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spc="48" kern="0" dirty="0">
                <a:solidFill>
                  <a:srgbClr val="0F1419"/>
                </a:solidFill>
                <a:latin typeface="Courier New" pitchFamily="34" charset="0"/>
                <a:ea typeface="Courier New" pitchFamily="34" charset="-122"/>
                <a:cs typeface="Courier New" pitchFamily="34" charset="-120"/>
              </a:rPr>
              <a:t>31 / 31</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2026-05-15T05:49:36Z</dcterms:created>
  <dcterms:modified xsi:type="dcterms:W3CDTF">2026-05-15T05:49:36Z</dcterms:modified>
</cp:coreProperties>
</file>