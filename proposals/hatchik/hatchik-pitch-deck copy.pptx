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Sprint base</c:v>
                </c:pt>
              </c:strCache>
            </c:strRef>
          </c:tx>
          <c:spPr>
            <a:solidFill>
              <a:srgbClr val="4F46E5">
                <a:alpha val="100000"/>
              </a:srgbClr>
            </a:solidFill>
            <a:ln w="38100" cap="flat">
              <a:solidFill>
                <a:srgbClr val="4F46E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4F46E5"/>
              </a:solidFill>
              <a:ln w="9525" cap="flat">
                <a:solidFill>
                  <a:srgbClr val="4F46E5"/>
                </a:solidFill>
                <a:prstDash val="solid"/>
                <a:round/>
              </a:ln>
              <a:effectLst/>
            </c:spPr>
          </c:marker>
          <c:cat>
            <c:multiLvlStrRef>
              <c:f>Sheet1!$A$2:$A$9</c:f>
              <c:multiLvlStrCache>
                <c:ptCount val="8"/>
                <c:lvl>
                  <c:pt idx="0">
                    <c:v>M0</c:v>
                  </c:pt>
                  <c:pt idx="1">
                    <c:v>M2</c:v>
                  </c:pt>
                  <c:pt idx="2">
                    <c:v>M4</c:v>
                  </c:pt>
                  <c:pt idx="3">
                    <c:v>M6</c:v>
                  </c:pt>
                  <c:pt idx="4">
                    <c:v>M9</c:v>
                  </c:pt>
                  <c:pt idx="5">
                    <c:v>M12</c:v>
                  </c:pt>
                  <c:pt idx="6">
                    <c:v>M15</c:v>
                  </c:pt>
                  <c:pt idx="7">
                    <c:v>M18</c:v>
                  </c:pt>
                </c:lvl>
              </c:multiLvlStrCache>
            </c:multiLvlStrRef>
          </c:cat>
          <c:val>
            <c:numRef>
              <c:f>Sheet1!$B$2:$B$9</c:f>
              <c:numCache>
                <c:formatCode>General</c:formatCode>
                <c:ptCount val="8"/>
                <c:pt idx="0">
                  <c:v>0</c:v>
                </c:pt>
                <c:pt idx="1">
                  <c:v>4</c:v>
                </c:pt>
                <c:pt idx="2">
                  <c:v>14</c:v>
                </c:pt>
                <c:pt idx="3">
                  <c:v>35</c:v>
                </c:pt>
                <c:pt idx="4">
                  <c:v>60</c:v>
                </c:pt>
                <c:pt idx="5">
                  <c:v>90</c:v>
                </c:pt>
                <c:pt idx="6">
                  <c:v>115</c:v>
                </c:pt>
                <c:pt idx="7">
                  <c:v>135</c:v>
                </c:pt>
              </c:numCache>
            </c:numRef>
          </c:val>
          <c:smooth val="0"/>
        </c:ser>
        <c:ser>
          <c:idx val="1"/>
          <c:order val="1"/>
          <c:tx>
            <c:strRef>
              <c:f>Sheet1!$C$1</c:f>
              <c:strCache>
                <c:ptCount val="1"/>
                <c:pt idx="0">
                  <c:v>Sprint upside</c:v>
                </c:pt>
              </c:strCache>
            </c:strRef>
          </c:tx>
          <c:spPr>
            <a:solidFill>
              <a:srgbClr val="F59E0B">
                <a:alpha val="100000"/>
              </a:srgbClr>
            </a:solidFill>
            <a:ln w="38100" cap="flat">
              <a:solidFill>
                <a:srgbClr val="F59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F59E0B"/>
              </a:solidFill>
              <a:ln w="9525" cap="flat">
                <a:solidFill>
                  <a:srgbClr val="F59E0B"/>
                </a:solidFill>
                <a:prstDash val="solid"/>
                <a:round/>
              </a:ln>
              <a:effectLst/>
            </c:spPr>
          </c:marker>
          <c:cat>
            <c:multiLvlStrRef>
              <c:f>Sheet1!$A$2:$A$9</c:f>
              <c:multiLvlStrCache>
                <c:ptCount val="8"/>
                <c:lvl>
                  <c:pt idx="0">
                    <c:v>M0</c:v>
                  </c:pt>
                  <c:pt idx="1">
                    <c:v>M2</c:v>
                  </c:pt>
                  <c:pt idx="2">
                    <c:v>M4</c:v>
                  </c:pt>
                  <c:pt idx="3">
                    <c:v>M6</c:v>
                  </c:pt>
                  <c:pt idx="4">
                    <c:v>M9</c:v>
                  </c:pt>
                  <c:pt idx="5">
                    <c:v>M12</c:v>
                  </c:pt>
                  <c:pt idx="6">
                    <c:v>M15</c:v>
                  </c:pt>
                  <c:pt idx="7">
                    <c:v>M18</c:v>
                  </c:pt>
                </c:lvl>
              </c:multiLvlStrCache>
            </c:multiLvlStrRef>
          </c:cat>
          <c:val>
            <c:numRef>
              <c:f>Sheet1!$C$2:$C$9</c:f>
              <c:numCache>
                <c:formatCode>General</c:formatCode>
                <c:ptCount val="8"/>
                <c:pt idx="0">
                  <c:v>0</c:v>
                </c:pt>
                <c:pt idx="1">
                  <c:v>8</c:v>
                </c:pt>
                <c:pt idx="2">
                  <c:v>30</c:v>
                </c:pt>
                <c:pt idx="3">
                  <c:v>80</c:v>
                </c:pt>
                <c:pt idx="4">
                  <c:v>150</c:v>
                </c:pt>
                <c:pt idx="5">
                  <c:v>240</c:v>
                </c:pt>
                <c:pt idx="6">
                  <c:v>320</c:v>
                </c:pt>
                <c:pt idx="7">
                  <c:v>380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64748B"/>
                    </a:solidFill>
                    <a:latin typeface="JetBrains Mono"/>
                  </a:defRPr>
                </a:pPr>
                <a:r>
                  <a:rPr sz="900" b="0" i="0" u="none" strike="noStrike">
                    <a:solidFill>
                      <a:srgbClr val="64748B"/>
                    </a:solidFill>
                    <a:latin typeface="JetBrains Mono"/>
                  </a:rPr>
                  <a:t>Months from launch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JetBrains Mono"/>
              </a:defRPr>
            </a:pPr>
            <a:endParaRPr lang="en-US"/>
          </a:p>
        </c:txPr>
        <c:crossAx val="2094734552"/>
        <c:crosses val="autoZero"/>
        <c:auto val="1"/>
        <c:lblAlgn val="ctr"/>
        <c:noMultiLvlLbl val="1"/>
      </c:catAx>
      <c:valAx>
        <c:axId val="2094734552"/>
        <c:scaling>
          <c:orientation val="minMax"/>
          <c:max val="400"/>
          <c:min val="0"/>
        </c:scaling>
        <c:delete val="0"/>
        <c:axPos val="l"/>
        <c:majorGridlines>
          <c:spPr>
            <a:ln w="12700" cap="flat">
              <a:solidFill>
                <a:srgbClr val="888888"/>
              </a:solidFill>
              <a:prstDash val="solid"/>
              <a:round/>
            </a:ln>
          </c:spPr>
        </c:majorGridlines>
        <c:title>
          <c:tx>
            <c:rich>
              <a:bodyPr/>
              <a:lstStyle/>
              <a:p>
                <a:pPr>
                  <a:defRPr sz="900" b="0" i="0" u="none" strike="noStrike">
                    <a:solidFill>
                      <a:srgbClr val="64748B"/>
                    </a:solidFill>
                    <a:latin typeface="JetBrains Mono"/>
                  </a:defRPr>
                </a:pPr>
                <a:r>
                  <a:rPr sz="900" b="0" i="0" u="none" strike="noStrike">
                    <a:solidFill>
                      <a:srgbClr val="64748B"/>
                    </a:solidFill>
                    <a:latin typeface="JetBrains Mono"/>
                  </a:rPr>
                  <a:t>MRR (£K)</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JetBrains Mono"/>
              </a:defRPr>
            </a:pPr>
            <a:endParaRPr lang="en-US"/>
          </a:p>
        </c:txPr>
        <c:crossAx val="2094734554"/>
        <c:crosses val="autoZero"/>
        <c:crossBetween val="between"/>
        <c:majorUnit val="50"/>
      </c:valAx>
      <c:spPr>
        <a:solidFill>
          <a:srgbClr val="FFFFFF"/>
        </a:solidFill>
        <a:ln w="9525" cap="flat">
          <a:solidFill>
            <a:srgbClr val="E2E8F0"/>
          </a:solidFill>
        </a:ln>
        <a:effectLst/>
      </c:spPr>
    </c:plotArea>
    <c:legend>
      <c:legendPos val="b"/>
      <c:overlay val="0"/>
      <c:txPr>
        <a:bodyPr/>
        <a:lstStyle/>
        <a:p>
          <a:pPr>
            <a:defRPr sz="1100">
              <a:solidFill>
                <a:srgbClr val="1E293B"/>
              </a:solidFill>
              <a:latin typeface="DM Sans"/>
              <a:cs typeface="DM Sans"/>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4F46E5"/>
          </a:solidFill>
          <a:ln w="12700">
            <a:solidFill>
              <a:srgbClr val="333333"/>
            </a:solidFill>
            <a:prstDash val="solid"/>
          </a:ln>
        </p:spPr>
      </p:sp>
      <p:sp>
        <p:nvSpPr>
          <p:cNvPr id="3" name="Shape 1"/>
          <p:cNvSpPr/>
          <p:nvPr/>
        </p:nvSpPr>
        <p:spPr>
          <a:xfrm>
            <a:off x="0" y="91440"/>
            <a:ext cx="12191695" cy="36576"/>
          </a:xfrm>
          <a:prstGeom prst="rect">
            <a:avLst/>
          </a:prstGeom>
          <a:solidFill>
            <a:srgbClr val="F59E0B"/>
          </a:solidFill>
          <a:ln w="12700">
            <a:solidFill>
              <a:srgbClr val="333333"/>
            </a:solidFill>
            <a:prstDash val="solid"/>
          </a:ln>
        </p:spPr>
      </p:sp>
      <p:sp>
        <p:nvSpPr>
          <p:cNvPr id="4" name="Text 2"/>
          <p:cNvSpPr/>
          <p:nvPr/>
        </p:nvSpPr>
        <p:spPr>
          <a:xfrm>
            <a:off x="502920" y="1097280"/>
            <a:ext cx="10972800" cy="1280160"/>
          </a:xfrm>
          <a:prstGeom prst="rect">
            <a:avLst/>
          </a:prstGeom>
          <a:noFill/>
          <a:ln/>
        </p:spPr>
        <p:txBody>
          <a:bodyPr wrap="square" rtlCol="0" anchor="ctr"/>
          <a:lstStyle/>
          <a:p>
            <a:pPr indent="0" marL="0">
              <a:buNone/>
            </a:pPr>
            <a:r>
              <a:rPr lang="en-US" sz="9600" b="1" spc="-200" kern="0" dirty="0">
                <a:solidFill>
                  <a:srgbClr val="FFFFFF"/>
                </a:solidFill>
                <a:latin typeface="DM Sans" pitchFamily="34" charset="0"/>
                <a:ea typeface="DM Sans" pitchFamily="34" charset="-122"/>
                <a:cs typeface="DM Sans" pitchFamily="34" charset="-120"/>
              </a:rPr>
              <a:t>Hatchik</a:t>
            </a:r>
            <a:endParaRPr lang="en-US" sz="9600" dirty="0"/>
          </a:p>
        </p:txBody>
      </p:sp>
      <p:sp>
        <p:nvSpPr>
          <p:cNvPr id="5" name="Text 3"/>
          <p:cNvSpPr/>
          <p:nvPr/>
        </p:nvSpPr>
        <p:spPr>
          <a:xfrm>
            <a:off x="502920" y="2377440"/>
            <a:ext cx="10972800" cy="365760"/>
          </a:xfrm>
          <a:prstGeom prst="rect">
            <a:avLst/>
          </a:prstGeom>
          <a:noFill/>
          <a:ln/>
        </p:spPr>
        <p:txBody>
          <a:bodyPr wrap="square" rtlCol="0" anchor="ctr"/>
          <a:lstStyle/>
          <a:p>
            <a:pPr indent="0" marL="0">
              <a:buNone/>
            </a:pPr>
            <a:r>
              <a:rPr lang="en-US" sz="1200" b="1" spc="800" kern="0" dirty="0">
                <a:solidFill>
                  <a:srgbClr val="F59E0B"/>
                </a:solidFill>
                <a:latin typeface="JetBrains Mono" pitchFamily="34" charset="0"/>
                <a:ea typeface="JetBrains Mono" pitchFamily="34" charset="-122"/>
                <a:cs typeface="JetBrains Mono" pitchFamily="34" charset="-120"/>
              </a:rPr>
              <a:t>THE PRODUCTION SUBSTRATE FOR AI-BUILT SAAS</a:t>
            </a:r>
            <a:endParaRPr lang="en-US" sz="1200" dirty="0"/>
          </a:p>
        </p:txBody>
      </p:sp>
      <p:sp>
        <p:nvSpPr>
          <p:cNvPr id="6" name="Text 4"/>
          <p:cNvSpPr/>
          <p:nvPr/>
        </p:nvSpPr>
        <p:spPr>
          <a:xfrm>
            <a:off x="502920" y="3017520"/>
            <a:ext cx="10058400" cy="1097280"/>
          </a:xfrm>
          <a:prstGeom prst="rect">
            <a:avLst/>
          </a:prstGeom>
          <a:noFill/>
          <a:ln/>
        </p:spPr>
        <p:txBody>
          <a:bodyPr wrap="square" rtlCol="0" anchor="ctr"/>
          <a:lstStyle/>
          <a:p>
            <a:pPr indent="0" marL="0">
              <a:lnSpc>
                <a:spcPct val="130000"/>
              </a:lnSpc>
              <a:buNone/>
            </a:pPr>
            <a:r>
              <a:rPr lang="en-US" sz="2400" i="1" dirty="0">
                <a:solidFill>
                  <a:srgbClr val="FFFFFF"/>
                </a:solidFill>
                <a:latin typeface="DM Sans" pitchFamily="34" charset="0"/>
                <a:ea typeface="DM Sans" pitchFamily="34" charset="-122"/>
                <a:cs typeface="DM Sans" pitchFamily="34" charset="-120"/>
              </a:rPr>
              <a:t>The production substrate your AI coder builds on — no platform, no lock-in, no demos.</a:t>
            </a:r>
            <a:endParaRPr lang="en-US" sz="2400" dirty="0"/>
          </a:p>
        </p:txBody>
      </p:sp>
      <p:sp>
        <p:nvSpPr>
          <p:cNvPr id="7" name="Shape 5"/>
          <p:cNvSpPr/>
          <p:nvPr/>
        </p:nvSpPr>
        <p:spPr>
          <a:xfrm>
            <a:off x="502920" y="4754880"/>
            <a:ext cx="3657600" cy="18288"/>
          </a:xfrm>
          <a:prstGeom prst="rect">
            <a:avLst/>
          </a:prstGeom>
          <a:solidFill>
            <a:srgbClr val="4F46E5"/>
          </a:solidFill>
          <a:ln w="12700">
            <a:solidFill>
              <a:srgbClr val="333333"/>
            </a:solidFill>
            <a:prstDash val="solid"/>
          </a:ln>
        </p:spPr>
      </p:sp>
      <p:sp>
        <p:nvSpPr>
          <p:cNvPr id="8" name="Text 6"/>
          <p:cNvSpPr/>
          <p:nvPr/>
        </p:nvSpPr>
        <p:spPr>
          <a:xfrm>
            <a:off x="502920" y="4892040"/>
            <a:ext cx="7315200" cy="1371600"/>
          </a:xfrm>
          <a:prstGeom prst="rect">
            <a:avLst/>
          </a:prstGeom>
          <a:noFill/>
          <a:ln/>
        </p:spPr>
        <p:txBody>
          <a:bodyPr wrap="square" rtlCol="0" anchor="t"/>
          <a:lstStyle/>
          <a:p>
            <a:pPr indent="0" marL="0">
              <a:lnSpc>
                <a:spcPct val="140000"/>
              </a:lnSpc>
              <a:buNone/>
            </a:pPr>
            <a:r>
              <a:rPr lang="en-US" sz="1400" b="1" dirty="0">
                <a:solidFill>
                  <a:srgbClr val="FFFFFF"/>
                </a:solidFill>
                <a:latin typeface="DM Sans" pitchFamily="34" charset="0"/>
                <a:ea typeface="DM Sans" pitchFamily="34" charset="-122"/>
                <a:cs typeface="DM Sans" pitchFamily="34" charset="-120"/>
              </a:rPr>
              <a:t>Farhan Irshad</a:t>
            </a:r>
            <a:pPr indent="0" marL="0">
              <a:lnSpc>
                <a:spcPct val="140000"/>
              </a:lnSpc>
              <a:buNone/>
            </a:pPr>
            <a:endParaRPr lang="en-US" sz="1400" dirty="0"/>
          </a:p>
          <a:p>
            <a:pPr indent="0" marL="0">
              <a:lnSpc>
                <a:spcPct val="140000"/>
              </a:lnSpc>
              <a:buNone/>
            </a:pPr>
            <a:r>
              <a:rPr lang="en-US" sz="1100" dirty="0">
                <a:solidFill>
                  <a:srgbClr val="94A3B8"/>
                </a:solidFill>
                <a:latin typeface="DM Sans" pitchFamily="34" charset="0"/>
                <a:ea typeface="DM Sans" pitchFamily="34" charset="-122"/>
                <a:cs typeface="DM Sans" pitchFamily="34" charset="-120"/>
              </a:rPr>
              <a:t>Founder  ·  Operating entity: Omani-registered company</a:t>
            </a:r>
            <a:endParaRPr lang="en-US" sz="1400" dirty="0"/>
          </a:p>
          <a:p>
            <a:pPr indent="0" marL="0">
              <a:lnSpc>
                <a:spcPct val="140000"/>
              </a:lnSpc>
              <a:buNone/>
            </a:pPr>
            <a:endParaRPr lang="en-US" sz="1400" dirty="0"/>
          </a:p>
          <a:p>
            <a:pPr indent="0" marL="0">
              <a:lnSpc>
                <a:spcPct val="140000"/>
              </a:lnSpc>
              <a:buNone/>
            </a:pPr>
            <a:r>
              <a:rPr lang="en-US" sz="1000" dirty="0">
                <a:solidFill>
                  <a:srgbClr val="F59E0B"/>
                </a:solidFill>
                <a:latin typeface="JetBrains Mono" pitchFamily="34" charset="0"/>
                <a:ea typeface="JetBrains Mono" pitchFamily="34" charset="-122"/>
                <a:cs typeface="JetBrains Mono" pitchFamily="34" charset="-120"/>
              </a:rPr>
              <a:t>May 2026  ·  hatchik.com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02  ·  THE PROBLEM</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AI builds the prototype. Then they hit a wall.</a:t>
            </a:r>
            <a:endParaRPr lang="en-US" sz="3000" dirty="0"/>
          </a:p>
        </p:txBody>
      </p:sp>
      <p:sp>
        <p:nvSpPr>
          <p:cNvPr id="4" name="Text 2"/>
          <p:cNvSpPr/>
          <p:nvPr/>
        </p:nvSpPr>
        <p:spPr>
          <a:xfrm>
            <a:off x="502920" y="1417320"/>
            <a:ext cx="11155680" cy="822960"/>
          </a:xfrm>
          <a:prstGeom prst="rect">
            <a:avLst/>
          </a:prstGeom>
          <a:noFill/>
          <a:ln/>
        </p:spPr>
        <p:txBody>
          <a:bodyPr wrap="square" rtlCol="0" anchor="ctr"/>
          <a:lstStyle/>
          <a:p>
            <a:pPr indent="0" marL="0">
              <a:buNone/>
            </a:pPr>
            <a:r>
              <a:rPr lang="en-US" sz="1400" dirty="0">
                <a:solidFill>
                  <a:srgbClr val="334155"/>
                </a:solidFill>
                <a:latin typeface="DM Sans" pitchFamily="34" charset="0"/>
                <a:ea typeface="DM Sans" pitchFamily="34" charset="-122"/>
                <a:cs typeface="DM Sans" pitchFamily="34" charset="-120"/>
              </a:rPr>
              <a:t>Non-technical founders are using AI coding tools to ship working prototypes. Then they get stuck on the infrastructure step — auth, payments, mailboxes, mobile, a real database — and the project quietly dies between "looks working" and "a real business."</a:t>
            </a:r>
            <a:endParaRPr lang="en-US" sz="1400" dirty="0"/>
          </a:p>
        </p:txBody>
      </p:sp>
      <p:sp>
        <p:nvSpPr>
          <p:cNvPr id="5" name="Shape 3"/>
          <p:cNvSpPr/>
          <p:nvPr/>
        </p:nvSpPr>
        <p:spPr>
          <a:xfrm>
            <a:off x="502920" y="2606040"/>
            <a:ext cx="3611880" cy="2971800"/>
          </a:xfrm>
          <a:prstGeom prst="roundRect">
            <a:avLst>
              <a:gd name="adj" fmla="val 2462"/>
            </a:avLst>
          </a:prstGeom>
          <a:solidFill>
            <a:srgbClr val="FFFFFF"/>
          </a:solidFill>
          <a:ln w="9525">
            <a:solidFill>
              <a:srgbClr val="E2E8F0"/>
            </a:solidFill>
            <a:prstDash val="solid"/>
          </a:ln>
        </p:spPr>
      </p:sp>
      <p:sp>
        <p:nvSpPr>
          <p:cNvPr id="6" name="Shape 4"/>
          <p:cNvSpPr/>
          <p:nvPr/>
        </p:nvSpPr>
        <p:spPr>
          <a:xfrm>
            <a:off x="502920" y="2606040"/>
            <a:ext cx="3611880" cy="54864"/>
          </a:xfrm>
          <a:prstGeom prst="rect">
            <a:avLst/>
          </a:prstGeom>
          <a:solidFill>
            <a:srgbClr val="F59E0B"/>
          </a:solidFill>
          <a:ln w="12700">
            <a:solidFill>
              <a:srgbClr val="F59E0B"/>
            </a:solidFill>
            <a:prstDash val="solid"/>
          </a:ln>
        </p:spPr>
      </p:sp>
      <p:sp>
        <p:nvSpPr>
          <p:cNvPr id="7" name="Text 5"/>
          <p:cNvSpPr/>
          <p:nvPr/>
        </p:nvSpPr>
        <p:spPr>
          <a:xfrm>
            <a:off x="777240" y="2834640"/>
            <a:ext cx="3154680" cy="256032"/>
          </a:xfrm>
          <a:prstGeom prst="rect">
            <a:avLst/>
          </a:prstGeom>
          <a:noFill/>
          <a:ln/>
        </p:spPr>
        <p:txBody>
          <a:bodyPr wrap="square" rtlCol="0" anchor="ctr"/>
          <a:lstStyle/>
          <a:p>
            <a:pPr indent="0" marL="0">
              <a:buNone/>
            </a:pPr>
            <a:r>
              <a:rPr lang="en-US" sz="900" b="1" spc="400" kern="0" dirty="0">
                <a:solidFill>
                  <a:srgbClr val="B45309"/>
                </a:solidFill>
                <a:latin typeface="JetBrains Mono" pitchFamily="34" charset="0"/>
                <a:ea typeface="JetBrains Mono" pitchFamily="34" charset="-122"/>
                <a:cs typeface="JetBrains Mono" pitchFamily="34" charset="-120"/>
              </a:rPr>
              <a:t>PERSONAL TRAINER</a:t>
            </a:r>
            <a:endParaRPr lang="en-US" sz="900" dirty="0"/>
          </a:p>
        </p:txBody>
      </p:sp>
      <p:sp>
        <p:nvSpPr>
          <p:cNvPr id="8" name="Text 6"/>
          <p:cNvSpPr/>
          <p:nvPr/>
        </p:nvSpPr>
        <p:spPr>
          <a:xfrm>
            <a:off x="777240" y="3154680"/>
            <a:ext cx="3154680" cy="594360"/>
          </a:xfrm>
          <a:prstGeom prst="rect">
            <a:avLst/>
          </a:prstGeom>
          <a:noFill/>
          <a:ln/>
        </p:spPr>
        <p:txBody>
          <a:bodyPr wrap="square" rtlCol="0" anchor="ctr"/>
          <a:lstStyle/>
          <a:p>
            <a:pPr indent="0" marL="0">
              <a:lnSpc>
                <a:spcPct val="115000"/>
              </a:lnSpc>
              <a:buNone/>
            </a:pPr>
            <a:r>
              <a:rPr lang="en-US" sz="1700" b="1" dirty="0">
                <a:solidFill>
                  <a:srgbClr val="0F172A"/>
                </a:solidFill>
                <a:latin typeface="DM Sans" pitchFamily="34" charset="0"/>
                <a:ea typeface="DM Sans" pitchFamily="34" charset="-122"/>
                <a:cs typeface="DM Sans" pitchFamily="34" charset="-120"/>
              </a:rPr>
              <a:t>Meal-prep app for PT clients</a:t>
            </a:r>
            <a:endParaRPr lang="en-US" sz="1700" dirty="0"/>
          </a:p>
        </p:txBody>
      </p:sp>
      <p:sp>
        <p:nvSpPr>
          <p:cNvPr id="9" name="Text 7"/>
          <p:cNvSpPr/>
          <p:nvPr/>
        </p:nvSpPr>
        <p:spPr>
          <a:xfrm>
            <a:off x="777240" y="3977640"/>
            <a:ext cx="3154680" cy="219456"/>
          </a:xfrm>
          <a:prstGeom prst="rect">
            <a:avLst/>
          </a:prstGeom>
          <a:noFill/>
          <a:ln/>
        </p:spPr>
        <p:txBody>
          <a:bodyPr wrap="square" rtlCol="0" anchor="ctr"/>
          <a:lstStyle/>
          <a:p>
            <a:pPr indent="0" marL="0">
              <a:buNone/>
            </a:pPr>
            <a:r>
              <a:rPr lang="en-US" sz="800" b="1" spc="300" kern="0" dirty="0">
                <a:solidFill>
                  <a:srgbClr val="64748B"/>
                </a:solidFill>
                <a:latin typeface="JetBrains Mono" pitchFamily="34" charset="0"/>
                <a:ea typeface="JetBrains Mono" pitchFamily="34" charset="-122"/>
                <a:cs typeface="JetBrains Mono" pitchFamily="34" charset="-120"/>
              </a:rPr>
              <a:t>WHERE THEY PLATEAU</a:t>
            </a:r>
            <a:endParaRPr lang="en-US" sz="800" dirty="0"/>
          </a:p>
        </p:txBody>
      </p:sp>
      <p:sp>
        <p:nvSpPr>
          <p:cNvPr id="10" name="Text 8"/>
          <p:cNvSpPr/>
          <p:nvPr/>
        </p:nvSpPr>
        <p:spPr>
          <a:xfrm>
            <a:off x="777240" y="4251960"/>
            <a:ext cx="3154680" cy="1143000"/>
          </a:xfrm>
          <a:prstGeom prst="rect">
            <a:avLst/>
          </a:prstGeom>
          <a:noFill/>
          <a:ln/>
        </p:spPr>
        <p:txBody>
          <a:bodyPr wrap="square" rtlCol="0" anchor="ctr"/>
          <a:lstStyle/>
          <a:p>
            <a:pPr indent="0" marL="0">
              <a:lnSpc>
                <a:spcPct val="135000"/>
              </a:lnSpc>
              <a:buNone/>
            </a:pPr>
            <a:r>
              <a:rPr lang="en-US" sz="1200" dirty="0">
                <a:solidFill>
                  <a:srgbClr val="334155"/>
                </a:solidFill>
                <a:latin typeface="DM Sans" pitchFamily="34" charset="0"/>
                <a:ea typeface="DM Sans" pitchFamily="34" charset="-122"/>
                <a:cs typeface="DM Sans" pitchFamily="34" charset="-120"/>
              </a:rPr>
              <a:t>Prototype generates meal plans. Cannot bill clients, cannot send weekly emails, cannot ship a mobile build.</a:t>
            </a:r>
            <a:endParaRPr lang="en-US" sz="1200" dirty="0"/>
          </a:p>
        </p:txBody>
      </p:sp>
      <p:sp>
        <p:nvSpPr>
          <p:cNvPr id="11" name="Shape 9"/>
          <p:cNvSpPr/>
          <p:nvPr/>
        </p:nvSpPr>
        <p:spPr>
          <a:xfrm>
            <a:off x="4297680" y="2606040"/>
            <a:ext cx="3611880" cy="2971800"/>
          </a:xfrm>
          <a:prstGeom prst="roundRect">
            <a:avLst>
              <a:gd name="adj" fmla="val 2462"/>
            </a:avLst>
          </a:prstGeom>
          <a:solidFill>
            <a:srgbClr val="FFFFFF"/>
          </a:solidFill>
          <a:ln w="9525">
            <a:solidFill>
              <a:srgbClr val="E2E8F0"/>
            </a:solidFill>
            <a:prstDash val="solid"/>
          </a:ln>
        </p:spPr>
      </p:sp>
      <p:sp>
        <p:nvSpPr>
          <p:cNvPr id="12" name="Shape 10"/>
          <p:cNvSpPr/>
          <p:nvPr/>
        </p:nvSpPr>
        <p:spPr>
          <a:xfrm>
            <a:off x="4297680" y="2606040"/>
            <a:ext cx="3611880" cy="54864"/>
          </a:xfrm>
          <a:prstGeom prst="rect">
            <a:avLst/>
          </a:prstGeom>
          <a:solidFill>
            <a:srgbClr val="F59E0B"/>
          </a:solidFill>
          <a:ln w="12700">
            <a:solidFill>
              <a:srgbClr val="F59E0B"/>
            </a:solidFill>
            <a:prstDash val="solid"/>
          </a:ln>
        </p:spPr>
      </p:sp>
      <p:sp>
        <p:nvSpPr>
          <p:cNvPr id="13" name="Text 11"/>
          <p:cNvSpPr/>
          <p:nvPr/>
        </p:nvSpPr>
        <p:spPr>
          <a:xfrm>
            <a:off x="4572000" y="2834640"/>
            <a:ext cx="3154680" cy="256032"/>
          </a:xfrm>
          <a:prstGeom prst="rect">
            <a:avLst/>
          </a:prstGeom>
          <a:noFill/>
          <a:ln/>
        </p:spPr>
        <p:txBody>
          <a:bodyPr wrap="square" rtlCol="0" anchor="ctr"/>
          <a:lstStyle/>
          <a:p>
            <a:pPr indent="0" marL="0">
              <a:buNone/>
            </a:pPr>
            <a:r>
              <a:rPr lang="en-US" sz="900" b="1" spc="400" kern="0" dirty="0">
                <a:solidFill>
                  <a:srgbClr val="B45309"/>
                </a:solidFill>
                <a:latin typeface="JetBrains Mono" pitchFamily="34" charset="0"/>
                <a:ea typeface="JetBrains Mono" pitchFamily="34" charset="-122"/>
                <a:cs typeface="JetBrains Mono" pitchFamily="34" charset="-120"/>
              </a:rPr>
              <a:t>CONSULTANT</a:t>
            </a:r>
            <a:endParaRPr lang="en-US" sz="900" dirty="0"/>
          </a:p>
        </p:txBody>
      </p:sp>
      <p:sp>
        <p:nvSpPr>
          <p:cNvPr id="14" name="Text 12"/>
          <p:cNvSpPr/>
          <p:nvPr/>
        </p:nvSpPr>
        <p:spPr>
          <a:xfrm>
            <a:off x="4572000" y="3154680"/>
            <a:ext cx="3154680" cy="594360"/>
          </a:xfrm>
          <a:prstGeom prst="rect">
            <a:avLst/>
          </a:prstGeom>
          <a:noFill/>
          <a:ln/>
        </p:spPr>
        <p:txBody>
          <a:bodyPr wrap="square" rtlCol="0" anchor="ctr"/>
          <a:lstStyle/>
          <a:p>
            <a:pPr indent="0" marL="0">
              <a:lnSpc>
                <a:spcPct val="115000"/>
              </a:lnSpc>
              <a:buNone/>
            </a:pPr>
            <a:r>
              <a:rPr lang="en-US" sz="1700" b="1" dirty="0">
                <a:solidFill>
                  <a:srgbClr val="0F172A"/>
                </a:solidFill>
                <a:latin typeface="DM Sans" pitchFamily="34" charset="0"/>
                <a:ea typeface="DM Sans" pitchFamily="34" charset="-122"/>
                <a:cs typeface="DM Sans" pitchFamily="34" charset="-120"/>
              </a:rPr>
              <a:t>Interactive framework demo</a:t>
            </a:r>
            <a:endParaRPr lang="en-US" sz="1700" dirty="0"/>
          </a:p>
        </p:txBody>
      </p:sp>
      <p:sp>
        <p:nvSpPr>
          <p:cNvPr id="15" name="Text 13"/>
          <p:cNvSpPr/>
          <p:nvPr/>
        </p:nvSpPr>
        <p:spPr>
          <a:xfrm>
            <a:off x="4572000" y="3977640"/>
            <a:ext cx="3154680" cy="219456"/>
          </a:xfrm>
          <a:prstGeom prst="rect">
            <a:avLst/>
          </a:prstGeom>
          <a:noFill/>
          <a:ln/>
        </p:spPr>
        <p:txBody>
          <a:bodyPr wrap="square" rtlCol="0" anchor="ctr"/>
          <a:lstStyle/>
          <a:p>
            <a:pPr indent="0" marL="0">
              <a:buNone/>
            </a:pPr>
            <a:r>
              <a:rPr lang="en-US" sz="800" b="1" spc="300" kern="0" dirty="0">
                <a:solidFill>
                  <a:srgbClr val="64748B"/>
                </a:solidFill>
                <a:latin typeface="JetBrains Mono" pitchFamily="34" charset="0"/>
                <a:ea typeface="JetBrains Mono" pitchFamily="34" charset="-122"/>
                <a:cs typeface="JetBrains Mono" pitchFamily="34" charset="-120"/>
              </a:rPr>
              <a:t>WHERE THEY PLATEAU</a:t>
            </a:r>
            <a:endParaRPr lang="en-US" sz="800" dirty="0"/>
          </a:p>
        </p:txBody>
      </p:sp>
      <p:sp>
        <p:nvSpPr>
          <p:cNvPr id="16" name="Text 14"/>
          <p:cNvSpPr/>
          <p:nvPr/>
        </p:nvSpPr>
        <p:spPr>
          <a:xfrm>
            <a:off x="4572000" y="4251960"/>
            <a:ext cx="3154680" cy="1143000"/>
          </a:xfrm>
          <a:prstGeom prst="rect">
            <a:avLst/>
          </a:prstGeom>
          <a:noFill/>
          <a:ln/>
        </p:spPr>
        <p:txBody>
          <a:bodyPr wrap="square" rtlCol="0" anchor="ctr"/>
          <a:lstStyle/>
          <a:p>
            <a:pPr indent="0" marL="0">
              <a:lnSpc>
                <a:spcPct val="135000"/>
              </a:lnSpc>
              <a:buNone/>
            </a:pPr>
            <a:r>
              <a:rPr lang="en-US" sz="1200" dirty="0">
                <a:solidFill>
                  <a:srgbClr val="334155"/>
                </a:solidFill>
                <a:latin typeface="DM Sans" pitchFamily="34" charset="0"/>
                <a:ea typeface="DM Sans" pitchFamily="34" charset="-122"/>
                <a:cs typeface="DM Sans" pitchFamily="34" charset="-120"/>
              </a:rPr>
              <a:t>Slick interaction. No login, no usage limits, no way to charge enterprise prospects the £5K it’s worth.</a:t>
            </a:r>
            <a:endParaRPr lang="en-US" sz="1200" dirty="0"/>
          </a:p>
        </p:txBody>
      </p:sp>
      <p:sp>
        <p:nvSpPr>
          <p:cNvPr id="17" name="Shape 15"/>
          <p:cNvSpPr/>
          <p:nvPr/>
        </p:nvSpPr>
        <p:spPr>
          <a:xfrm>
            <a:off x="8092440" y="2606040"/>
            <a:ext cx="3611880" cy="2971800"/>
          </a:xfrm>
          <a:prstGeom prst="roundRect">
            <a:avLst>
              <a:gd name="adj" fmla="val 2462"/>
            </a:avLst>
          </a:prstGeom>
          <a:solidFill>
            <a:srgbClr val="FFFFFF"/>
          </a:solidFill>
          <a:ln w="9525">
            <a:solidFill>
              <a:srgbClr val="E2E8F0"/>
            </a:solidFill>
            <a:prstDash val="solid"/>
          </a:ln>
        </p:spPr>
      </p:sp>
      <p:sp>
        <p:nvSpPr>
          <p:cNvPr id="18" name="Shape 16"/>
          <p:cNvSpPr/>
          <p:nvPr/>
        </p:nvSpPr>
        <p:spPr>
          <a:xfrm>
            <a:off x="8092440" y="2606040"/>
            <a:ext cx="3611880" cy="54864"/>
          </a:xfrm>
          <a:prstGeom prst="rect">
            <a:avLst/>
          </a:prstGeom>
          <a:solidFill>
            <a:srgbClr val="F59E0B"/>
          </a:solidFill>
          <a:ln w="12700">
            <a:solidFill>
              <a:srgbClr val="F59E0B"/>
            </a:solidFill>
            <a:prstDash val="solid"/>
          </a:ln>
        </p:spPr>
      </p:sp>
      <p:sp>
        <p:nvSpPr>
          <p:cNvPr id="19" name="Text 17"/>
          <p:cNvSpPr/>
          <p:nvPr/>
        </p:nvSpPr>
        <p:spPr>
          <a:xfrm>
            <a:off x="8366760" y="2834640"/>
            <a:ext cx="3154680" cy="256032"/>
          </a:xfrm>
          <a:prstGeom prst="rect">
            <a:avLst/>
          </a:prstGeom>
          <a:noFill/>
          <a:ln/>
        </p:spPr>
        <p:txBody>
          <a:bodyPr wrap="square" rtlCol="0" anchor="ctr"/>
          <a:lstStyle/>
          <a:p>
            <a:pPr indent="0" marL="0">
              <a:buNone/>
            </a:pPr>
            <a:r>
              <a:rPr lang="en-US" sz="900" b="1" spc="400" kern="0" dirty="0">
                <a:solidFill>
                  <a:srgbClr val="B45309"/>
                </a:solidFill>
                <a:latin typeface="JetBrains Mono" pitchFamily="34" charset="0"/>
                <a:ea typeface="JetBrains Mono" pitchFamily="34" charset="-122"/>
                <a:cs typeface="JetBrains Mono" pitchFamily="34" charset="-120"/>
              </a:rPr>
              <a:t>DESIGNER</a:t>
            </a:r>
            <a:endParaRPr lang="en-US" sz="900" dirty="0"/>
          </a:p>
        </p:txBody>
      </p:sp>
      <p:sp>
        <p:nvSpPr>
          <p:cNvPr id="20" name="Text 18"/>
          <p:cNvSpPr/>
          <p:nvPr/>
        </p:nvSpPr>
        <p:spPr>
          <a:xfrm>
            <a:off x="8366760" y="3154680"/>
            <a:ext cx="3154680" cy="594360"/>
          </a:xfrm>
          <a:prstGeom prst="rect">
            <a:avLst/>
          </a:prstGeom>
          <a:noFill/>
          <a:ln/>
        </p:spPr>
        <p:txBody>
          <a:bodyPr wrap="square" rtlCol="0" anchor="ctr"/>
          <a:lstStyle/>
          <a:p>
            <a:pPr indent="0" marL="0">
              <a:lnSpc>
                <a:spcPct val="115000"/>
              </a:lnSpc>
              <a:buNone/>
            </a:pPr>
            <a:r>
              <a:rPr lang="en-US" sz="1700" b="1" dirty="0">
                <a:solidFill>
                  <a:srgbClr val="0F172A"/>
                </a:solidFill>
                <a:latin typeface="DM Sans" pitchFamily="34" charset="0"/>
                <a:ea typeface="DM Sans" pitchFamily="34" charset="-122"/>
                <a:cs typeface="DM Sans" pitchFamily="34" charset="-120"/>
              </a:rPr>
              <a:t>The tool they always wanted</a:t>
            </a:r>
            <a:endParaRPr lang="en-US" sz="1700" dirty="0"/>
          </a:p>
        </p:txBody>
      </p:sp>
      <p:sp>
        <p:nvSpPr>
          <p:cNvPr id="21" name="Text 19"/>
          <p:cNvSpPr/>
          <p:nvPr/>
        </p:nvSpPr>
        <p:spPr>
          <a:xfrm>
            <a:off x="8366760" y="3977640"/>
            <a:ext cx="3154680" cy="219456"/>
          </a:xfrm>
          <a:prstGeom prst="rect">
            <a:avLst/>
          </a:prstGeom>
          <a:noFill/>
          <a:ln/>
        </p:spPr>
        <p:txBody>
          <a:bodyPr wrap="square" rtlCol="0" anchor="ctr"/>
          <a:lstStyle/>
          <a:p>
            <a:pPr indent="0" marL="0">
              <a:buNone/>
            </a:pPr>
            <a:r>
              <a:rPr lang="en-US" sz="800" b="1" spc="300" kern="0" dirty="0">
                <a:solidFill>
                  <a:srgbClr val="64748B"/>
                </a:solidFill>
                <a:latin typeface="JetBrains Mono" pitchFamily="34" charset="0"/>
                <a:ea typeface="JetBrains Mono" pitchFamily="34" charset="-122"/>
                <a:cs typeface="JetBrains Mono" pitchFamily="34" charset="-120"/>
              </a:rPr>
              <a:t>WHERE THEY PLATEAU</a:t>
            </a:r>
            <a:endParaRPr lang="en-US" sz="800" dirty="0"/>
          </a:p>
        </p:txBody>
      </p:sp>
      <p:sp>
        <p:nvSpPr>
          <p:cNvPr id="22" name="Text 20"/>
          <p:cNvSpPr/>
          <p:nvPr/>
        </p:nvSpPr>
        <p:spPr>
          <a:xfrm>
            <a:off x="8366760" y="4251960"/>
            <a:ext cx="3154680" cy="1143000"/>
          </a:xfrm>
          <a:prstGeom prst="rect">
            <a:avLst/>
          </a:prstGeom>
          <a:noFill/>
          <a:ln/>
        </p:spPr>
        <p:txBody>
          <a:bodyPr wrap="square" rtlCol="0" anchor="ctr"/>
          <a:lstStyle/>
          <a:p>
            <a:pPr indent="0" marL="0">
              <a:lnSpc>
                <a:spcPct val="135000"/>
              </a:lnSpc>
              <a:buNone/>
            </a:pPr>
            <a:r>
              <a:rPr lang="en-US" sz="1200" dirty="0">
                <a:solidFill>
                  <a:srgbClr val="334155"/>
                </a:solidFill>
                <a:latin typeface="DM Sans" pitchFamily="34" charset="0"/>
                <a:ea typeface="DM Sans" pitchFamily="34" charset="-122"/>
                <a:cs typeface="DM Sans" pitchFamily="34" charset="-120"/>
              </a:rPr>
              <a:t>Lovely UI. No real database, no auth, no signed mobile build to show on a phone in a room.</a:t>
            </a:r>
            <a:endParaRPr lang="en-US" sz="1200" dirty="0"/>
          </a:p>
        </p:txBody>
      </p:sp>
      <p:sp>
        <p:nvSpPr>
          <p:cNvPr id="23" name="Text 21"/>
          <p:cNvSpPr/>
          <p:nvPr/>
        </p:nvSpPr>
        <p:spPr>
          <a:xfrm>
            <a:off x="502920" y="5852160"/>
            <a:ext cx="10972800" cy="365760"/>
          </a:xfrm>
          <a:prstGeom prst="rect">
            <a:avLst/>
          </a:prstGeom>
          <a:noFill/>
          <a:ln/>
        </p:spPr>
        <p:txBody>
          <a:bodyPr wrap="square" rtlCol="0" anchor="ctr"/>
          <a:lstStyle/>
          <a:p>
            <a:pPr algn="ctr" indent="0" marL="0">
              <a:buNone/>
            </a:pPr>
            <a:r>
              <a:rPr lang="en-US" sz="1300" i="1" dirty="0">
                <a:solidFill>
                  <a:srgbClr val="1E293B"/>
                </a:solidFill>
                <a:latin typeface="DM Sans" pitchFamily="34" charset="0"/>
                <a:ea typeface="DM Sans" pitchFamily="34" charset="-122"/>
                <a:cs typeface="DM Sans" pitchFamily="34" charset="-120"/>
              </a:rPr>
              <a:t>Every persona above ships a working-looking thing. None of them ship a business.</a:t>
            </a:r>
            <a:endParaRPr lang="en-US" sz="1300" dirty="0"/>
          </a:p>
        </p:txBody>
      </p:sp>
      <p:sp>
        <p:nvSpPr>
          <p:cNvPr id="24" name="Text 22"/>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25" name="Text 23"/>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03  ·  THE SOLUTION</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We give the AI tool a real SaaS to build on.</a:t>
            </a:r>
            <a:endParaRPr lang="en-US" sz="3000" dirty="0"/>
          </a:p>
        </p:txBody>
      </p:sp>
      <p:sp>
        <p:nvSpPr>
          <p:cNvPr id="4" name="Text 2"/>
          <p:cNvSpPr/>
          <p:nvPr/>
        </p:nvSpPr>
        <p:spPr>
          <a:xfrm>
            <a:off x="502920" y="1417320"/>
            <a:ext cx="11155680" cy="868680"/>
          </a:xfrm>
          <a:prstGeom prst="rect">
            <a:avLst/>
          </a:prstGeom>
          <a:noFill/>
          <a:ln/>
        </p:spPr>
        <p:txBody>
          <a:bodyPr wrap="square" rtlCol="0" anchor="ctr"/>
          <a:lstStyle/>
          <a:p>
            <a:pPr indent="0" marL="0">
              <a:buNone/>
            </a:pPr>
            <a:r>
              <a:rPr lang="en-US" sz="1400" dirty="0">
                <a:solidFill>
                  <a:srgbClr val="334155"/>
                </a:solidFill>
                <a:latin typeface="DM Sans" pitchFamily="34" charset="0"/>
                <a:ea typeface="DM Sans" pitchFamily="34" charset="-122"/>
                <a:cs typeface="DM Sans" pitchFamily="34" charset="-120"/>
              </a:rPr>
              <a:t>Customer signs up. In ~60 seconds they have a sandbox at &lt;slug&gt;.hatchik.com with auth, Postgres, payments, mail, mobile and a GitHub repo all wired. Their AI tool reads the AI_CONTEXT.md handoff file, knows the layout, pushes changes into the repo. We redeploy in ~30 seconds.</a:t>
            </a:r>
            <a:endParaRPr lang="en-US" sz="1400" dirty="0"/>
          </a:p>
        </p:txBody>
      </p:sp>
      <p:sp>
        <p:nvSpPr>
          <p:cNvPr id="5" name="Shape 3"/>
          <p:cNvSpPr/>
          <p:nvPr/>
        </p:nvSpPr>
        <p:spPr>
          <a:xfrm>
            <a:off x="502920" y="2834640"/>
            <a:ext cx="2606040" cy="2057400"/>
          </a:xfrm>
          <a:prstGeom prst="roundRect">
            <a:avLst>
              <a:gd name="adj" fmla="val 3556"/>
            </a:avLst>
          </a:prstGeom>
          <a:solidFill>
            <a:srgbClr val="FFFFFF"/>
          </a:solidFill>
          <a:ln w="9525">
            <a:solidFill>
              <a:srgbClr val="E2E8F0"/>
            </a:solidFill>
            <a:prstDash val="solid"/>
          </a:ln>
        </p:spPr>
      </p:sp>
      <p:sp>
        <p:nvSpPr>
          <p:cNvPr id="6" name="Shape 4"/>
          <p:cNvSpPr/>
          <p:nvPr/>
        </p:nvSpPr>
        <p:spPr>
          <a:xfrm>
            <a:off x="777240" y="3108960"/>
            <a:ext cx="548640" cy="548640"/>
          </a:xfrm>
          <a:prstGeom prst="ellipse">
            <a:avLst/>
          </a:prstGeom>
          <a:solidFill>
            <a:srgbClr val="4F46E5"/>
          </a:solidFill>
          <a:ln w="12700">
            <a:solidFill>
              <a:srgbClr val="4F46E5"/>
            </a:solidFill>
            <a:prstDash val="solid"/>
          </a:ln>
        </p:spPr>
      </p:sp>
      <p:sp>
        <p:nvSpPr>
          <p:cNvPr id="7" name="Text 5"/>
          <p:cNvSpPr/>
          <p:nvPr/>
        </p:nvSpPr>
        <p:spPr>
          <a:xfrm>
            <a:off x="777240" y="3108960"/>
            <a:ext cx="548640" cy="548640"/>
          </a:xfrm>
          <a:prstGeom prst="rect">
            <a:avLst/>
          </a:prstGeom>
          <a:noFill/>
          <a:ln/>
        </p:spPr>
        <p:txBody>
          <a:bodyPr wrap="square" rtlCol="0" anchor="ctr"/>
          <a:lstStyle/>
          <a:p>
            <a:pPr algn="ctr" indent="0" marL="0">
              <a:buNone/>
            </a:pPr>
            <a:r>
              <a:rPr lang="en-US" sz="2200" b="1" dirty="0">
                <a:solidFill>
                  <a:srgbClr val="FFFFFF"/>
                </a:solidFill>
                <a:latin typeface="DM Sans" pitchFamily="34" charset="0"/>
                <a:ea typeface="DM Sans" pitchFamily="34" charset="-122"/>
                <a:cs typeface="DM Sans" pitchFamily="34" charset="-120"/>
              </a:rPr>
              <a:t>1</a:t>
            </a:r>
            <a:endParaRPr lang="en-US" sz="2200" dirty="0"/>
          </a:p>
        </p:txBody>
      </p:sp>
      <p:sp>
        <p:nvSpPr>
          <p:cNvPr id="8" name="Text 6"/>
          <p:cNvSpPr/>
          <p:nvPr/>
        </p:nvSpPr>
        <p:spPr>
          <a:xfrm>
            <a:off x="1463040" y="3154680"/>
            <a:ext cx="1463040" cy="502920"/>
          </a:xfrm>
          <a:prstGeom prst="rect">
            <a:avLst/>
          </a:prstGeom>
          <a:noFill/>
          <a:ln/>
        </p:spPr>
        <p:txBody>
          <a:bodyPr wrap="square" rtlCol="0" anchor="ctr"/>
          <a:lstStyle/>
          <a:p>
            <a:pPr indent="0" marL="0">
              <a:lnSpc>
                <a:spcPct val="115000"/>
              </a:lnSpc>
              <a:buNone/>
            </a:pPr>
            <a:r>
              <a:rPr lang="en-US" sz="1400" b="1" dirty="0">
                <a:solidFill>
                  <a:srgbClr val="0F172A"/>
                </a:solidFill>
                <a:latin typeface="DM Sans" pitchFamily="34" charset="0"/>
                <a:ea typeface="DM Sans" pitchFamily="34" charset="-122"/>
                <a:cs typeface="DM Sans" pitchFamily="34" charset="-120"/>
              </a:rPr>
              <a:t>Sign up wizard</a:t>
            </a:r>
            <a:endParaRPr lang="en-US" sz="1400" dirty="0"/>
          </a:p>
        </p:txBody>
      </p:sp>
      <p:sp>
        <p:nvSpPr>
          <p:cNvPr id="9" name="Text 7"/>
          <p:cNvSpPr/>
          <p:nvPr/>
        </p:nvSpPr>
        <p:spPr>
          <a:xfrm>
            <a:off x="777240" y="3931920"/>
            <a:ext cx="2057400" cy="777240"/>
          </a:xfrm>
          <a:prstGeom prst="rect">
            <a:avLst/>
          </a:prstGeom>
          <a:noFill/>
          <a:ln/>
        </p:spPr>
        <p:txBody>
          <a:bodyPr wrap="square" rtlCol="0" anchor="ctr"/>
          <a:lstStyle/>
          <a:p>
            <a:pPr indent="0" marL="0">
              <a:lnSpc>
                <a:spcPct val="130000"/>
              </a:lnSpc>
              <a:buNone/>
            </a:pPr>
            <a:r>
              <a:rPr lang="en-US" sz="1100" dirty="0">
                <a:solidFill>
                  <a:srgbClr val="334155"/>
                </a:solidFill>
                <a:latin typeface="DM Sans" pitchFamily="34" charset="0"/>
                <a:ea typeface="DM Sans" pitchFamily="34" charset="-122"/>
                <a:cs typeface="DM Sans" pitchFamily="34" charset="-120"/>
              </a:rPr>
              <a:t>Email + product idea + tier</a:t>
            </a:r>
            <a:endParaRPr lang="en-US" sz="1100" dirty="0"/>
          </a:p>
        </p:txBody>
      </p:sp>
      <p:sp>
        <p:nvSpPr>
          <p:cNvPr id="10" name="Text 8"/>
          <p:cNvSpPr/>
          <p:nvPr/>
        </p:nvSpPr>
        <p:spPr>
          <a:xfrm>
            <a:off x="3145536" y="3657600"/>
            <a:ext cx="228600" cy="502920"/>
          </a:xfrm>
          <a:prstGeom prst="rect">
            <a:avLst/>
          </a:prstGeom>
          <a:noFill/>
          <a:ln/>
        </p:spPr>
        <p:txBody>
          <a:bodyPr wrap="square" rtlCol="0" anchor="ctr"/>
          <a:lstStyle/>
          <a:p>
            <a:pPr algn="ctr" indent="0" marL="0">
              <a:buNone/>
            </a:pPr>
            <a:r>
              <a:rPr lang="en-US" sz="2400" dirty="0">
                <a:solidFill>
                  <a:srgbClr val="94A3B8"/>
                </a:solidFill>
                <a:latin typeface="DM Sans" pitchFamily="34" charset="0"/>
                <a:ea typeface="DM Sans" pitchFamily="34" charset="-122"/>
                <a:cs typeface="DM Sans" pitchFamily="34" charset="-120"/>
              </a:rPr>
              <a:t>›</a:t>
            </a:r>
            <a:endParaRPr lang="en-US" sz="2400" dirty="0"/>
          </a:p>
        </p:txBody>
      </p:sp>
      <p:sp>
        <p:nvSpPr>
          <p:cNvPr id="11" name="Shape 9"/>
          <p:cNvSpPr/>
          <p:nvPr/>
        </p:nvSpPr>
        <p:spPr>
          <a:xfrm>
            <a:off x="3383280" y="2834640"/>
            <a:ext cx="2606040" cy="2057400"/>
          </a:xfrm>
          <a:prstGeom prst="roundRect">
            <a:avLst>
              <a:gd name="adj" fmla="val 3556"/>
            </a:avLst>
          </a:prstGeom>
          <a:solidFill>
            <a:srgbClr val="FFFFFF"/>
          </a:solidFill>
          <a:ln w="9525">
            <a:solidFill>
              <a:srgbClr val="E2E8F0"/>
            </a:solidFill>
            <a:prstDash val="solid"/>
          </a:ln>
        </p:spPr>
      </p:sp>
      <p:sp>
        <p:nvSpPr>
          <p:cNvPr id="12" name="Shape 10"/>
          <p:cNvSpPr/>
          <p:nvPr/>
        </p:nvSpPr>
        <p:spPr>
          <a:xfrm>
            <a:off x="3657600" y="3108960"/>
            <a:ext cx="548640" cy="548640"/>
          </a:xfrm>
          <a:prstGeom prst="ellipse">
            <a:avLst/>
          </a:prstGeom>
          <a:solidFill>
            <a:srgbClr val="4F46E5"/>
          </a:solidFill>
          <a:ln w="12700">
            <a:solidFill>
              <a:srgbClr val="4F46E5"/>
            </a:solidFill>
            <a:prstDash val="solid"/>
          </a:ln>
        </p:spPr>
      </p:sp>
      <p:sp>
        <p:nvSpPr>
          <p:cNvPr id="13" name="Text 11"/>
          <p:cNvSpPr/>
          <p:nvPr/>
        </p:nvSpPr>
        <p:spPr>
          <a:xfrm>
            <a:off x="3657600" y="3108960"/>
            <a:ext cx="548640" cy="548640"/>
          </a:xfrm>
          <a:prstGeom prst="rect">
            <a:avLst/>
          </a:prstGeom>
          <a:noFill/>
          <a:ln/>
        </p:spPr>
        <p:txBody>
          <a:bodyPr wrap="square" rtlCol="0" anchor="ctr"/>
          <a:lstStyle/>
          <a:p>
            <a:pPr algn="ctr" indent="0" marL="0">
              <a:buNone/>
            </a:pPr>
            <a:r>
              <a:rPr lang="en-US" sz="2200" b="1" dirty="0">
                <a:solidFill>
                  <a:srgbClr val="FFFFFF"/>
                </a:solidFill>
                <a:latin typeface="DM Sans" pitchFamily="34" charset="0"/>
                <a:ea typeface="DM Sans" pitchFamily="34" charset="-122"/>
                <a:cs typeface="DM Sans" pitchFamily="34" charset="-120"/>
              </a:rPr>
              <a:t>2</a:t>
            </a:r>
            <a:endParaRPr lang="en-US" sz="2200" dirty="0"/>
          </a:p>
        </p:txBody>
      </p:sp>
      <p:sp>
        <p:nvSpPr>
          <p:cNvPr id="14" name="Text 12"/>
          <p:cNvSpPr/>
          <p:nvPr/>
        </p:nvSpPr>
        <p:spPr>
          <a:xfrm>
            <a:off x="4343400" y="3154680"/>
            <a:ext cx="1463040" cy="502920"/>
          </a:xfrm>
          <a:prstGeom prst="rect">
            <a:avLst/>
          </a:prstGeom>
          <a:noFill/>
          <a:ln/>
        </p:spPr>
        <p:txBody>
          <a:bodyPr wrap="square" rtlCol="0" anchor="ctr"/>
          <a:lstStyle/>
          <a:p>
            <a:pPr indent="0" marL="0">
              <a:lnSpc>
                <a:spcPct val="115000"/>
              </a:lnSpc>
              <a:buNone/>
            </a:pPr>
            <a:r>
              <a:rPr lang="en-US" sz="1400" b="1" dirty="0">
                <a:solidFill>
                  <a:srgbClr val="0F172A"/>
                </a:solidFill>
                <a:latin typeface="DM Sans" pitchFamily="34" charset="0"/>
                <a:ea typeface="DM Sans" pitchFamily="34" charset="-122"/>
                <a:cs typeface="DM Sans" pitchFamily="34" charset="-120"/>
              </a:rPr>
              <a:t>Sandbox provisioned</a:t>
            </a:r>
            <a:endParaRPr lang="en-US" sz="1400" dirty="0"/>
          </a:p>
        </p:txBody>
      </p:sp>
      <p:sp>
        <p:nvSpPr>
          <p:cNvPr id="15" name="Text 13"/>
          <p:cNvSpPr/>
          <p:nvPr/>
        </p:nvSpPr>
        <p:spPr>
          <a:xfrm>
            <a:off x="3657600" y="3931920"/>
            <a:ext cx="2057400" cy="777240"/>
          </a:xfrm>
          <a:prstGeom prst="rect">
            <a:avLst/>
          </a:prstGeom>
          <a:noFill/>
          <a:ln/>
        </p:spPr>
        <p:txBody>
          <a:bodyPr wrap="square" rtlCol="0" anchor="ctr"/>
          <a:lstStyle/>
          <a:p>
            <a:pPr indent="0" marL="0">
              <a:lnSpc>
                <a:spcPct val="130000"/>
              </a:lnSpc>
              <a:buNone/>
            </a:pPr>
            <a:r>
              <a:rPr lang="en-US" sz="1100" dirty="0">
                <a:solidFill>
                  <a:srgbClr val="334155"/>
                </a:solidFill>
                <a:latin typeface="DM Sans" pitchFamily="34" charset="0"/>
                <a:ea typeface="DM Sans" pitchFamily="34" charset="-122"/>
                <a:cs typeface="DM Sans" pitchFamily="34" charset="-120"/>
              </a:rPr>
              <a:t>~60s, 9 containers, wildcard TLS</a:t>
            </a:r>
            <a:endParaRPr lang="en-US" sz="1100" dirty="0"/>
          </a:p>
        </p:txBody>
      </p:sp>
      <p:sp>
        <p:nvSpPr>
          <p:cNvPr id="16" name="Text 14"/>
          <p:cNvSpPr/>
          <p:nvPr/>
        </p:nvSpPr>
        <p:spPr>
          <a:xfrm>
            <a:off x="6025896" y="3657600"/>
            <a:ext cx="228600" cy="502920"/>
          </a:xfrm>
          <a:prstGeom prst="rect">
            <a:avLst/>
          </a:prstGeom>
          <a:noFill/>
          <a:ln/>
        </p:spPr>
        <p:txBody>
          <a:bodyPr wrap="square" rtlCol="0" anchor="ctr"/>
          <a:lstStyle/>
          <a:p>
            <a:pPr algn="ctr" indent="0" marL="0">
              <a:buNone/>
            </a:pPr>
            <a:r>
              <a:rPr lang="en-US" sz="2400" dirty="0">
                <a:solidFill>
                  <a:srgbClr val="94A3B8"/>
                </a:solidFill>
                <a:latin typeface="DM Sans" pitchFamily="34" charset="0"/>
                <a:ea typeface="DM Sans" pitchFamily="34" charset="-122"/>
                <a:cs typeface="DM Sans" pitchFamily="34" charset="-120"/>
              </a:rPr>
              <a:t>›</a:t>
            </a:r>
            <a:endParaRPr lang="en-US" sz="2400" dirty="0"/>
          </a:p>
        </p:txBody>
      </p:sp>
      <p:sp>
        <p:nvSpPr>
          <p:cNvPr id="17" name="Shape 15"/>
          <p:cNvSpPr/>
          <p:nvPr/>
        </p:nvSpPr>
        <p:spPr>
          <a:xfrm>
            <a:off x="6263640" y="2834640"/>
            <a:ext cx="2606040" cy="2057400"/>
          </a:xfrm>
          <a:prstGeom prst="roundRect">
            <a:avLst>
              <a:gd name="adj" fmla="val 3556"/>
            </a:avLst>
          </a:prstGeom>
          <a:solidFill>
            <a:srgbClr val="FFFFFF"/>
          </a:solidFill>
          <a:ln w="9525">
            <a:solidFill>
              <a:srgbClr val="E2E8F0"/>
            </a:solidFill>
            <a:prstDash val="solid"/>
          </a:ln>
        </p:spPr>
      </p:sp>
      <p:sp>
        <p:nvSpPr>
          <p:cNvPr id="18" name="Shape 16"/>
          <p:cNvSpPr/>
          <p:nvPr/>
        </p:nvSpPr>
        <p:spPr>
          <a:xfrm>
            <a:off x="6537960" y="3108960"/>
            <a:ext cx="548640" cy="548640"/>
          </a:xfrm>
          <a:prstGeom prst="ellipse">
            <a:avLst/>
          </a:prstGeom>
          <a:solidFill>
            <a:srgbClr val="4F46E5"/>
          </a:solidFill>
          <a:ln w="12700">
            <a:solidFill>
              <a:srgbClr val="4F46E5"/>
            </a:solidFill>
            <a:prstDash val="solid"/>
          </a:ln>
        </p:spPr>
      </p:sp>
      <p:sp>
        <p:nvSpPr>
          <p:cNvPr id="19" name="Text 17"/>
          <p:cNvSpPr/>
          <p:nvPr/>
        </p:nvSpPr>
        <p:spPr>
          <a:xfrm>
            <a:off x="6537960" y="3108960"/>
            <a:ext cx="548640" cy="548640"/>
          </a:xfrm>
          <a:prstGeom prst="rect">
            <a:avLst/>
          </a:prstGeom>
          <a:noFill/>
          <a:ln/>
        </p:spPr>
        <p:txBody>
          <a:bodyPr wrap="square" rtlCol="0" anchor="ctr"/>
          <a:lstStyle/>
          <a:p>
            <a:pPr algn="ctr" indent="0" marL="0">
              <a:buNone/>
            </a:pPr>
            <a:r>
              <a:rPr lang="en-US" sz="2200" b="1" dirty="0">
                <a:solidFill>
                  <a:srgbClr val="FFFFFF"/>
                </a:solidFill>
                <a:latin typeface="DM Sans" pitchFamily="34" charset="0"/>
                <a:ea typeface="DM Sans" pitchFamily="34" charset="-122"/>
                <a:cs typeface="DM Sans" pitchFamily="34" charset="-120"/>
              </a:rPr>
              <a:t>3</a:t>
            </a:r>
            <a:endParaRPr lang="en-US" sz="2200" dirty="0"/>
          </a:p>
        </p:txBody>
      </p:sp>
      <p:sp>
        <p:nvSpPr>
          <p:cNvPr id="20" name="Text 18"/>
          <p:cNvSpPr/>
          <p:nvPr/>
        </p:nvSpPr>
        <p:spPr>
          <a:xfrm>
            <a:off x="7223760" y="3154680"/>
            <a:ext cx="1463040" cy="502920"/>
          </a:xfrm>
          <a:prstGeom prst="rect">
            <a:avLst/>
          </a:prstGeom>
          <a:noFill/>
          <a:ln/>
        </p:spPr>
        <p:txBody>
          <a:bodyPr wrap="square" rtlCol="0" anchor="ctr"/>
          <a:lstStyle/>
          <a:p>
            <a:pPr indent="0" marL="0">
              <a:lnSpc>
                <a:spcPct val="115000"/>
              </a:lnSpc>
              <a:buNone/>
            </a:pPr>
            <a:r>
              <a:rPr lang="en-US" sz="1400" b="1" dirty="0">
                <a:solidFill>
                  <a:srgbClr val="0F172A"/>
                </a:solidFill>
                <a:latin typeface="DM Sans" pitchFamily="34" charset="0"/>
                <a:ea typeface="DM Sans" pitchFamily="34" charset="-122"/>
                <a:cs typeface="DM Sans" pitchFamily="34" charset="-120"/>
              </a:rPr>
              <a:t>AI reads handoff</a:t>
            </a:r>
            <a:endParaRPr lang="en-US" sz="1400" dirty="0"/>
          </a:p>
        </p:txBody>
      </p:sp>
      <p:sp>
        <p:nvSpPr>
          <p:cNvPr id="21" name="Text 19"/>
          <p:cNvSpPr/>
          <p:nvPr/>
        </p:nvSpPr>
        <p:spPr>
          <a:xfrm>
            <a:off x="6537960" y="3931920"/>
            <a:ext cx="2057400" cy="777240"/>
          </a:xfrm>
          <a:prstGeom prst="rect">
            <a:avLst/>
          </a:prstGeom>
          <a:noFill/>
          <a:ln/>
        </p:spPr>
        <p:txBody>
          <a:bodyPr wrap="square" rtlCol="0" anchor="ctr"/>
          <a:lstStyle/>
          <a:p>
            <a:pPr indent="0" marL="0">
              <a:lnSpc>
                <a:spcPct val="130000"/>
              </a:lnSpc>
              <a:buNone/>
            </a:pPr>
            <a:r>
              <a:rPr lang="en-US" sz="1100" dirty="0">
                <a:solidFill>
                  <a:srgbClr val="334155"/>
                </a:solidFill>
                <a:latin typeface="DM Sans" pitchFamily="34" charset="0"/>
                <a:ea typeface="DM Sans" pitchFamily="34" charset="-122"/>
                <a:cs typeface="DM Sans" pitchFamily="34" charset="-120"/>
              </a:rPr>
              <a:t>AI_CONTEXT.md — pushes to repo</a:t>
            </a:r>
            <a:endParaRPr lang="en-US" sz="1100" dirty="0"/>
          </a:p>
        </p:txBody>
      </p:sp>
      <p:sp>
        <p:nvSpPr>
          <p:cNvPr id="22" name="Text 20"/>
          <p:cNvSpPr/>
          <p:nvPr/>
        </p:nvSpPr>
        <p:spPr>
          <a:xfrm>
            <a:off x="8906256" y="3657600"/>
            <a:ext cx="228600" cy="502920"/>
          </a:xfrm>
          <a:prstGeom prst="rect">
            <a:avLst/>
          </a:prstGeom>
          <a:noFill/>
          <a:ln/>
        </p:spPr>
        <p:txBody>
          <a:bodyPr wrap="square" rtlCol="0" anchor="ctr"/>
          <a:lstStyle/>
          <a:p>
            <a:pPr algn="ctr" indent="0" marL="0">
              <a:buNone/>
            </a:pPr>
            <a:r>
              <a:rPr lang="en-US" sz="2400" dirty="0">
                <a:solidFill>
                  <a:srgbClr val="94A3B8"/>
                </a:solidFill>
                <a:latin typeface="DM Sans" pitchFamily="34" charset="0"/>
                <a:ea typeface="DM Sans" pitchFamily="34" charset="-122"/>
                <a:cs typeface="DM Sans" pitchFamily="34" charset="-120"/>
              </a:rPr>
              <a:t>›</a:t>
            </a:r>
            <a:endParaRPr lang="en-US" sz="2400" dirty="0"/>
          </a:p>
        </p:txBody>
      </p:sp>
      <p:sp>
        <p:nvSpPr>
          <p:cNvPr id="23" name="Shape 21"/>
          <p:cNvSpPr/>
          <p:nvPr/>
        </p:nvSpPr>
        <p:spPr>
          <a:xfrm>
            <a:off x="9144000" y="2834640"/>
            <a:ext cx="2606040" cy="2057400"/>
          </a:xfrm>
          <a:prstGeom prst="roundRect">
            <a:avLst>
              <a:gd name="adj" fmla="val 3556"/>
            </a:avLst>
          </a:prstGeom>
          <a:solidFill>
            <a:srgbClr val="FFFFFF"/>
          </a:solidFill>
          <a:ln w="9525">
            <a:solidFill>
              <a:srgbClr val="E2E8F0"/>
            </a:solidFill>
            <a:prstDash val="solid"/>
          </a:ln>
        </p:spPr>
      </p:sp>
      <p:sp>
        <p:nvSpPr>
          <p:cNvPr id="24" name="Shape 22"/>
          <p:cNvSpPr/>
          <p:nvPr/>
        </p:nvSpPr>
        <p:spPr>
          <a:xfrm>
            <a:off x="9418320" y="3108960"/>
            <a:ext cx="548640" cy="548640"/>
          </a:xfrm>
          <a:prstGeom prst="ellipse">
            <a:avLst/>
          </a:prstGeom>
          <a:solidFill>
            <a:srgbClr val="4F46E5"/>
          </a:solidFill>
          <a:ln w="12700">
            <a:solidFill>
              <a:srgbClr val="4F46E5"/>
            </a:solidFill>
            <a:prstDash val="solid"/>
          </a:ln>
        </p:spPr>
      </p:sp>
      <p:sp>
        <p:nvSpPr>
          <p:cNvPr id="25" name="Text 23"/>
          <p:cNvSpPr/>
          <p:nvPr/>
        </p:nvSpPr>
        <p:spPr>
          <a:xfrm>
            <a:off x="9418320" y="3108960"/>
            <a:ext cx="548640" cy="548640"/>
          </a:xfrm>
          <a:prstGeom prst="rect">
            <a:avLst/>
          </a:prstGeom>
          <a:noFill/>
          <a:ln/>
        </p:spPr>
        <p:txBody>
          <a:bodyPr wrap="square" rtlCol="0" anchor="ctr"/>
          <a:lstStyle/>
          <a:p>
            <a:pPr algn="ctr" indent="0" marL="0">
              <a:buNone/>
            </a:pPr>
            <a:r>
              <a:rPr lang="en-US" sz="2200" b="1" dirty="0">
                <a:solidFill>
                  <a:srgbClr val="FFFFFF"/>
                </a:solidFill>
                <a:latin typeface="DM Sans" pitchFamily="34" charset="0"/>
                <a:ea typeface="DM Sans" pitchFamily="34" charset="-122"/>
                <a:cs typeface="DM Sans" pitchFamily="34" charset="-120"/>
              </a:rPr>
              <a:t>4</a:t>
            </a:r>
            <a:endParaRPr lang="en-US" sz="2200" dirty="0"/>
          </a:p>
        </p:txBody>
      </p:sp>
      <p:sp>
        <p:nvSpPr>
          <p:cNvPr id="26" name="Text 24"/>
          <p:cNvSpPr/>
          <p:nvPr/>
        </p:nvSpPr>
        <p:spPr>
          <a:xfrm>
            <a:off x="10104120" y="3154680"/>
            <a:ext cx="1463040" cy="502920"/>
          </a:xfrm>
          <a:prstGeom prst="rect">
            <a:avLst/>
          </a:prstGeom>
          <a:noFill/>
          <a:ln/>
        </p:spPr>
        <p:txBody>
          <a:bodyPr wrap="square" rtlCol="0" anchor="ctr"/>
          <a:lstStyle/>
          <a:p>
            <a:pPr indent="0" marL="0">
              <a:lnSpc>
                <a:spcPct val="115000"/>
              </a:lnSpc>
              <a:buNone/>
            </a:pPr>
            <a:r>
              <a:rPr lang="en-US" sz="1400" b="1" dirty="0">
                <a:solidFill>
                  <a:srgbClr val="0F172A"/>
                </a:solidFill>
                <a:latin typeface="DM Sans" pitchFamily="34" charset="0"/>
                <a:ea typeface="DM Sans" pitchFamily="34" charset="-122"/>
                <a:cs typeface="DM Sans" pitchFamily="34" charset="-120"/>
              </a:rPr>
              <a:t>Push-to-deploy</a:t>
            </a:r>
            <a:endParaRPr lang="en-US" sz="1400" dirty="0"/>
          </a:p>
        </p:txBody>
      </p:sp>
      <p:sp>
        <p:nvSpPr>
          <p:cNvPr id="27" name="Text 25"/>
          <p:cNvSpPr/>
          <p:nvPr/>
        </p:nvSpPr>
        <p:spPr>
          <a:xfrm>
            <a:off x="9418320" y="3931920"/>
            <a:ext cx="2057400" cy="777240"/>
          </a:xfrm>
          <a:prstGeom prst="rect">
            <a:avLst/>
          </a:prstGeom>
          <a:noFill/>
          <a:ln/>
        </p:spPr>
        <p:txBody>
          <a:bodyPr wrap="square" rtlCol="0" anchor="ctr"/>
          <a:lstStyle/>
          <a:p>
            <a:pPr indent="0" marL="0">
              <a:lnSpc>
                <a:spcPct val="130000"/>
              </a:lnSpc>
              <a:buNone/>
            </a:pPr>
            <a:r>
              <a:rPr lang="en-US" sz="1100" dirty="0">
                <a:solidFill>
                  <a:srgbClr val="334155"/>
                </a:solidFill>
                <a:latin typeface="DM Sans" pitchFamily="34" charset="0"/>
                <a:ea typeface="DM Sans" pitchFamily="34" charset="-122"/>
                <a:cs typeface="DM Sans" pitchFamily="34" charset="-120"/>
              </a:rPr>
              <a:t>~30s redeploy via webhook</a:t>
            </a:r>
            <a:endParaRPr lang="en-US" sz="1100" dirty="0"/>
          </a:p>
        </p:txBody>
      </p:sp>
      <p:sp>
        <p:nvSpPr>
          <p:cNvPr id="28" name="Shape 26"/>
          <p:cNvSpPr/>
          <p:nvPr/>
        </p:nvSpPr>
        <p:spPr>
          <a:xfrm>
            <a:off x="502920" y="5212080"/>
            <a:ext cx="11155680" cy="777240"/>
          </a:xfrm>
          <a:prstGeom prst="roundRect">
            <a:avLst>
              <a:gd name="adj" fmla="val 9412"/>
            </a:avLst>
          </a:prstGeom>
          <a:solidFill>
            <a:srgbClr val="EEF2FF"/>
          </a:solidFill>
          <a:ln w="12700">
            <a:solidFill>
              <a:srgbClr val="4F46E5"/>
            </a:solidFill>
            <a:prstDash val="solid"/>
          </a:ln>
        </p:spPr>
      </p:sp>
      <p:sp>
        <p:nvSpPr>
          <p:cNvPr id="29" name="Text 27"/>
          <p:cNvSpPr/>
          <p:nvPr/>
        </p:nvSpPr>
        <p:spPr>
          <a:xfrm>
            <a:off x="868680" y="5212080"/>
            <a:ext cx="10424160" cy="777240"/>
          </a:xfrm>
          <a:prstGeom prst="rect">
            <a:avLst/>
          </a:prstGeom>
          <a:noFill/>
          <a:ln/>
        </p:spPr>
        <p:txBody>
          <a:bodyPr wrap="square" rtlCol="0" anchor="ctr"/>
          <a:lstStyle/>
          <a:p>
            <a:pPr algn="ctr" indent="0" marL="0">
              <a:buNone/>
            </a:pPr>
            <a:r>
              <a:rPr lang="en-US" sz="1400" b="1" dirty="0">
                <a:solidFill>
                  <a:srgbClr val="3730A3"/>
                </a:solidFill>
                <a:latin typeface="DM Sans" pitchFamily="34" charset="0"/>
                <a:ea typeface="DM Sans" pitchFamily="34" charset="-122"/>
                <a:cs typeface="DM Sans" pitchFamily="34" charset="-120"/>
              </a:rPr>
              <a:t>Customer goes from "looks working" to "real product" without learning infrastructure.</a:t>
            </a:r>
            <a:endParaRPr lang="en-US" sz="1400" dirty="0"/>
          </a:p>
        </p:txBody>
      </p:sp>
      <p:sp>
        <p:nvSpPr>
          <p:cNvPr id="30" name="Text 28"/>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31" name="Text 29"/>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04  ·  WHY NOW</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This isn’t 3-year SaaS. It’s a 12-18 month hype-cycle sprint.</a:t>
            </a:r>
            <a:endParaRPr lang="en-US" sz="3000" dirty="0"/>
          </a:p>
        </p:txBody>
      </p:sp>
      <p:sp>
        <p:nvSpPr>
          <p:cNvPr id="4" name="Shape 2"/>
          <p:cNvSpPr/>
          <p:nvPr/>
        </p:nvSpPr>
        <p:spPr>
          <a:xfrm>
            <a:off x="502920" y="2103120"/>
            <a:ext cx="3611880" cy="2514600"/>
          </a:xfrm>
          <a:prstGeom prst="roundRect">
            <a:avLst>
              <a:gd name="adj" fmla="val 2909"/>
            </a:avLst>
          </a:prstGeom>
          <a:solidFill>
            <a:srgbClr val="FFFFFF"/>
          </a:solidFill>
          <a:ln w="9525">
            <a:solidFill>
              <a:srgbClr val="E2E8F0"/>
            </a:solidFill>
            <a:prstDash val="solid"/>
          </a:ln>
        </p:spPr>
      </p:sp>
      <p:sp>
        <p:nvSpPr>
          <p:cNvPr id="5" name="Shape 3"/>
          <p:cNvSpPr/>
          <p:nvPr/>
        </p:nvSpPr>
        <p:spPr>
          <a:xfrm>
            <a:off x="502920" y="2103120"/>
            <a:ext cx="3611880" cy="54864"/>
          </a:xfrm>
          <a:prstGeom prst="rect">
            <a:avLst/>
          </a:prstGeom>
          <a:solidFill>
            <a:srgbClr val="4F46E5"/>
          </a:solidFill>
          <a:ln w="12700">
            <a:solidFill>
              <a:srgbClr val="4F46E5"/>
            </a:solidFill>
            <a:prstDash val="solid"/>
          </a:ln>
        </p:spPr>
      </p:sp>
      <p:sp>
        <p:nvSpPr>
          <p:cNvPr id="6" name="Text 4"/>
          <p:cNvSpPr/>
          <p:nvPr/>
        </p:nvSpPr>
        <p:spPr>
          <a:xfrm>
            <a:off x="777240" y="2377440"/>
            <a:ext cx="3154680" cy="256032"/>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CURSOR</a:t>
            </a:r>
            <a:endParaRPr lang="en-US" sz="900" dirty="0"/>
          </a:p>
        </p:txBody>
      </p:sp>
      <p:sp>
        <p:nvSpPr>
          <p:cNvPr id="7" name="Text 5"/>
          <p:cNvSpPr/>
          <p:nvPr/>
        </p:nvSpPr>
        <p:spPr>
          <a:xfrm>
            <a:off x="777240" y="2697480"/>
            <a:ext cx="3154680" cy="914400"/>
          </a:xfrm>
          <a:prstGeom prst="rect">
            <a:avLst/>
          </a:prstGeom>
          <a:noFill/>
          <a:ln/>
        </p:spPr>
        <p:txBody>
          <a:bodyPr wrap="square" rtlCol="0" anchor="ctr"/>
          <a:lstStyle/>
          <a:p>
            <a:pPr indent="0" marL="0">
              <a:buNone/>
            </a:pPr>
            <a:r>
              <a:rPr lang="en-US" sz="5600" b="1" dirty="0">
                <a:solidFill>
                  <a:srgbClr val="0F172A"/>
                </a:solidFill>
                <a:latin typeface="DM Sans" pitchFamily="34" charset="0"/>
                <a:ea typeface="DM Sans" pitchFamily="34" charset="-122"/>
                <a:cs typeface="DM Sans" pitchFamily="34" charset="-120"/>
              </a:rPr>
              <a:t>1M+</a:t>
            </a:r>
            <a:endParaRPr lang="en-US" sz="5600" dirty="0"/>
          </a:p>
        </p:txBody>
      </p:sp>
      <p:sp>
        <p:nvSpPr>
          <p:cNvPr id="8" name="Text 6"/>
          <p:cNvSpPr/>
          <p:nvPr/>
        </p:nvSpPr>
        <p:spPr>
          <a:xfrm>
            <a:off x="777240" y="3657600"/>
            <a:ext cx="3154680" cy="256032"/>
          </a:xfrm>
          <a:prstGeom prst="rect">
            <a:avLst/>
          </a:prstGeom>
          <a:noFill/>
          <a:ln/>
        </p:spPr>
        <p:txBody>
          <a:bodyPr wrap="square" rtlCol="0" anchor="ctr"/>
          <a:lstStyle/>
          <a:p>
            <a:pPr indent="0" marL="0">
              <a:buNone/>
            </a:pPr>
            <a:r>
              <a:rPr lang="en-US" sz="1100" i="1" dirty="0">
                <a:solidFill>
                  <a:srgbClr val="64748B"/>
                </a:solidFill>
                <a:latin typeface="DM Sans" pitchFamily="34" charset="0"/>
                <a:ea typeface="DM Sans" pitchFamily="34" charset="-122"/>
                <a:cs typeface="DM Sans" pitchFamily="34" charset="-120"/>
              </a:rPr>
              <a:t>paid users in ~24 months</a:t>
            </a:r>
            <a:endParaRPr lang="en-US" sz="1100" dirty="0"/>
          </a:p>
        </p:txBody>
      </p:sp>
      <p:sp>
        <p:nvSpPr>
          <p:cNvPr id="9" name="Text 7"/>
          <p:cNvSpPr/>
          <p:nvPr/>
        </p:nvSpPr>
        <p:spPr>
          <a:xfrm>
            <a:off x="777240" y="3977640"/>
            <a:ext cx="3154680" cy="594360"/>
          </a:xfrm>
          <a:prstGeom prst="rect">
            <a:avLst/>
          </a:prstGeom>
          <a:noFill/>
          <a:ln/>
        </p:spPr>
        <p:txBody>
          <a:bodyPr wrap="square" rtlCol="0" anchor="ctr"/>
          <a:lstStyle/>
          <a:p>
            <a:pPr indent="0" marL="0">
              <a:lnSpc>
                <a:spcPct val="135000"/>
              </a:lnSpc>
              <a:buNone/>
            </a:pPr>
            <a:r>
              <a:rPr lang="en-US" sz="1100" dirty="0">
                <a:solidFill>
                  <a:srgbClr val="334155"/>
                </a:solidFill>
                <a:latin typeface="DM Sans" pitchFamily="34" charset="0"/>
                <a:ea typeface="DM Sans" pitchFamily="34" charset="-122"/>
                <a:cs typeface="DM Sans" pitchFamily="34" charset="-120"/>
              </a:rPr>
              <a:t>~40–50%/month compounding through the hype peak.</a:t>
            </a:r>
            <a:endParaRPr lang="en-US" sz="1100" dirty="0"/>
          </a:p>
        </p:txBody>
      </p:sp>
      <p:sp>
        <p:nvSpPr>
          <p:cNvPr id="10" name="Shape 8"/>
          <p:cNvSpPr/>
          <p:nvPr/>
        </p:nvSpPr>
        <p:spPr>
          <a:xfrm>
            <a:off x="4297680" y="2103120"/>
            <a:ext cx="3611880" cy="2514600"/>
          </a:xfrm>
          <a:prstGeom prst="roundRect">
            <a:avLst>
              <a:gd name="adj" fmla="val 2909"/>
            </a:avLst>
          </a:prstGeom>
          <a:solidFill>
            <a:srgbClr val="FFFFFF"/>
          </a:solidFill>
          <a:ln w="9525">
            <a:solidFill>
              <a:srgbClr val="E2E8F0"/>
            </a:solidFill>
            <a:prstDash val="solid"/>
          </a:ln>
        </p:spPr>
      </p:sp>
      <p:sp>
        <p:nvSpPr>
          <p:cNvPr id="11" name="Shape 9"/>
          <p:cNvSpPr/>
          <p:nvPr/>
        </p:nvSpPr>
        <p:spPr>
          <a:xfrm>
            <a:off x="4297680" y="2103120"/>
            <a:ext cx="3611880" cy="54864"/>
          </a:xfrm>
          <a:prstGeom prst="rect">
            <a:avLst/>
          </a:prstGeom>
          <a:solidFill>
            <a:srgbClr val="4F46E5"/>
          </a:solidFill>
          <a:ln w="12700">
            <a:solidFill>
              <a:srgbClr val="4F46E5"/>
            </a:solidFill>
            <a:prstDash val="solid"/>
          </a:ln>
        </p:spPr>
      </p:sp>
      <p:sp>
        <p:nvSpPr>
          <p:cNvPr id="12" name="Text 10"/>
          <p:cNvSpPr/>
          <p:nvPr/>
        </p:nvSpPr>
        <p:spPr>
          <a:xfrm>
            <a:off x="4572000" y="2377440"/>
            <a:ext cx="3154680" cy="256032"/>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LOVABLE.DEV</a:t>
            </a:r>
            <a:endParaRPr lang="en-US" sz="900" dirty="0"/>
          </a:p>
        </p:txBody>
      </p:sp>
      <p:sp>
        <p:nvSpPr>
          <p:cNvPr id="13" name="Text 11"/>
          <p:cNvSpPr/>
          <p:nvPr/>
        </p:nvSpPr>
        <p:spPr>
          <a:xfrm>
            <a:off x="4572000" y="2697480"/>
            <a:ext cx="3154680" cy="914400"/>
          </a:xfrm>
          <a:prstGeom prst="rect">
            <a:avLst/>
          </a:prstGeom>
          <a:noFill/>
          <a:ln/>
        </p:spPr>
        <p:txBody>
          <a:bodyPr wrap="square" rtlCol="0" anchor="ctr"/>
          <a:lstStyle/>
          <a:p>
            <a:pPr indent="0" marL="0">
              <a:buNone/>
            </a:pPr>
            <a:r>
              <a:rPr lang="en-US" sz="5600" b="1" dirty="0">
                <a:solidFill>
                  <a:srgbClr val="0F172A"/>
                </a:solidFill>
                <a:latin typeface="DM Sans" pitchFamily="34" charset="0"/>
                <a:ea typeface="DM Sans" pitchFamily="34" charset="-122"/>
                <a:cs typeface="DM Sans" pitchFamily="34" charset="-120"/>
              </a:rPr>
              <a:t>$5M+</a:t>
            </a:r>
            <a:endParaRPr lang="en-US" sz="5600" dirty="0"/>
          </a:p>
        </p:txBody>
      </p:sp>
      <p:sp>
        <p:nvSpPr>
          <p:cNvPr id="14" name="Text 12"/>
          <p:cNvSpPr/>
          <p:nvPr/>
        </p:nvSpPr>
        <p:spPr>
          <a:xfrm>
            <a:off x="4572000" y="3657600"/>
            <a:ext cx="3154680" cy="256032"/>
          </a:xfrm>
          <a:prstGeom prst="rect">
            <a:avLst/>
          </a:prstGeom>
          <a:noFill/>
          <a:ln/>
        </p:spPr>
        <p:txBody>
          <a:bodyPr wrap="square" rtlCol="0" anchor="ctr"/>
          <a:lstStyle/>
          <a:p>
            <a:pPr indent="0" marL="0">
              <a:buNone/>
            </a:pPr>
            <a:r>
              <a:rPr lang="en-US" sz="1100" i="1" dirty="0">
                <a:solidFill>
                  <a:srgbClr val="64748B"/>
                </a:solidFill>
                <a:latin typeface="DM Sans" pitchFamily="34" charset="0"/>
                <a:ea typeface="DM Sans" pitchFamily="34" charset="-122"/>
                <a:cs typeface="DM Sans" pitchFamily="34" charset="-120"/>
              </a:rPr>
              <a:t>MRR in ~12 months</a:t>
            </a:r>
            <a:endParaRPr lang="en-US" sz="1100" dirty="0"/>
          </a:p>
        </p:txBody>
      </p:sp>
      <p:sp>
        <p:nvSpPr>
          <p:cNvPr id="15" name="Text 13"/>
          <p:cNvSpPr/>
          <p:nvPr/>
        </p:nvSpPr>
        <p:spPr>
          <a:xfrm>
            <a:off x="4572000" y="3977640"/>
            <a:ext cx="3154680" cy="594360"/>
          </a:xfrm>
          <a:prstGeom prst="rect">
            <a:avLst/>
          </a:prstGeom>
          <a:noFill/>
          <a:ln/>
        </p:spPr>
        <p:txBody>
          <a:bodyPr wrap="square" rtlCol="0" anchor="ctr"/>
          <a:lstStyle/>
          <a:p>
            <a:pPr indent="0" marL="0">
              <a:lnSpc>
                <a:spcPct val="135000"/>
              </a:lnSpc>
              <a:buNone/>
            </a:pPr>
            <a:r>
              <a:rPr lang="en-US" sz="1100" dirty="0">
                <a:solidFill>
                  <a:srgbClr val="334155"/>
                </a:solidFill>
                <a:latin typeface="DM Sans" pitchFamily="34" charset="0"/>
                <a:ea typeface="DM Sans" pitchFamily="34" charset="-122"/>
                <a:cs typeface="DM Sans" pitchFamily="34" charset="-120"/>
              </a:rPr>
              <a:t>~50K paying users from a standing start.</a:t>
            </a:r>
            <a:endParaRPr lang="en-US" sz="1100" dirty="0"/>
          </a:p>
        </p:txBody>
      </p:sp>
      <p:sp>
        <p:nvSpPr>
          <p:cNvPr id="16" name="Shape 14"/>
          <p:cNvSpPr/>
          <p:nvPr/>
        </p:nvSpPr>
        <p:spPr>
          <a:xfrm>
            <a:off x="8092440" y="2103120"/>
            <a:ext cx="3611880" cy="2514600"/>
          </a:xfrm>
          <a:prstGeom prst="roundRect">
            <a:avLst>
              <a:gd name="adj" fmla="val 2909"/>
            </a:avLst>
          </a:prstGeom>
          <a:solidFill>
            <a:srgbClr val="FFFFFF"/>
          </a:solidFill>
          <a:ln w="9525">
            <a:solidFill>
              <a:srgbClr val="E2E8F0"/>
            </a:solidFill>
            <a:prstDash val="solid"/>
          </a:ln>
        </p:spPr>
      </p:sp>
      <p:sp>
        <p:nvSpPr>
          <p:cNvPr id="17" name="Shape 15"/>
          <p:cNvSpPr/>
          <p:nvPr/>
        </p:nvSpPr>
        <p:spPr>
          <a:xfrm>
            <a:off x="8092440" y="2103120"/>
            <a:ext cx="3611880" cy="54864"/>
          </a:xfrm>
          <a:prstGeom prst="rect">
            <a:avLst/>
          </a:prstGeom>
          <a:solidFill>
            <a:srgbClr val="4F46E5"/>
          </a:solidFill>
          <a:ln w="12700">
            <a:solidFill>
              <a:srgbClr val="4F46E5"/>
            </a:solidFill>
            <a:prstDash val="solid"/>
          </a:ln>
        </p:spPr>
      </p:sp>
      <p:sp>
        <p:nvSpPr>
          <p:cNvPr id="18" name="Text 16"/>
          <p:cNvSpPr/>
          <p:nvPr/>
        </p:nvSpPr>
        <p:spPr>
          <a:xfrm>
            <a:off x="8366760" y="2377440"/>
            <a:ext cx="3154680" cy="256032"/>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BOLT.NEW</a:t>
            </a:r>
            <a:endParaRPr lang="en-US" sz="900" dirty="0"/>
          </a:p>
        </p:txBody>
      </p:sp>
      <p:sp>
        <p:nvSpPr>
          <p:cNvPr id="19" name="Text 17"/>
          <p:cNvSpPr/>
          <p:nvPr/>
        </p:nvSpPr>
        <p:spPr>
          <a:xfrm>
            <a:off x="8366760" y="2697480"/>
            <a:ext cx="3154680" cy="914400"/>
          </a:xfrm>
          <a:prstGeom prst="rect">
            <a:avLst/>
          </a:prstGeom>
          <a:noFill/>
          <a:ln/>
        </p:spPr>
        <p:txBody>
          <a:bodyPr wrap="square" rtlCol="0" anchor="ctr"/>
          <a:lstStyle/>
          <a:p>
            <a:pPr indent="0" marL="0">
              <a:buNone/>
            </a:pPr>
            <a:r>
              <a:rPr lang="en-US" sz="5600" b="1" dirty="0">
                <a:solidFill>
                  <a:srgbClr val="0F172A"/>
                </a:solidFill>
                <a:latin typeface="DM Sans" pitchFamily="34" charset="0"/>
                <a:ea typeface="DM Sans" pitchFamily="34" charset="-122"/>
                <a:cs typeface="DM Sans" pitchFamily="34" charset="-120"/>
              </a:rPr>
              <a:t>1M</a:t>
            </a:r>
            <a:endParaRPr lang="en-US" sz="5600" dirty="0"/>
          </a:p>
        </p:txBody>
      </p:sp>
      <p:sp>
        <p:nvSpPr>
          <p:cNvPr id="20" name="Text 18"/>
          <p:cNvSpPr/>
          <p:nvPr/>
        </p:nvSpPr>
        <p:spPr>
          <a:xfrm>
            <a:off x="8366760" y="3657600"/>
            <a:ext cx="3154680" cy="256032"/>
          </a:xfrm>
          <a:prstGeom prst="rect">
            <a:avLst/>
          </a:prstGeom>
          <a:noFill/>
          <a:ln/>
        </p:spPr>
        <p:txBody>
          <a:bodyPr wrap="square" rtlCol="0" anchor="ctr"/>
          <a:lstStyle/>
          <a:p>
            <a:pPr indent="0" marL="0">
              <a:buNone/>
            </a:pPr>
            <a:r>
              <a:rPr lang="en-US" sz="1100" i="1" dirty="0">
                <a:solidFill>
                  <a:srgbClr val="64748B"/>
                </a:solidFill>
                <a:latin typeface="DM Sans" pitchFamily="34" charset="0"/>
                <a:ea typeface="DM Sans" pitchFamily="34" charset="-122"/>
                <a:cs typeface="DM Sans" pitchFamily="34" charset="-120"/>
              </a:rPr>
              <a:t>users in &lt;12 months</a:t>
            </a:r>
            <a:endParaRPr lang="en-US" sz="1100" dirty="0"/>
          </a:p>
        </p:txBody>
      </p:sp>
      <p:sp>
        <p:nvSpPr>
          <p:cNvPr id="21" name="Text 19"/>
          <p:cNvSpPr/>
          <p:nvPr/>
        </p:nvSpPr>
        <p:spPr>
          <a:xfrm>
            <a:off x="8366760" y="3977640"/>
            <a:ext cx="3154680" cy="594360"/>
          </a:xfrm>
          <a:prstGeom prst="rect">
            <a:avLst/>
          </a:prstGeom>
          <a:noFill/>
          <a:ln/>
        </p:spPr>
        <p:txBody>
          <a:bodyPr wrap="square" rtlCol="0" anchor="ctr"/>
          <a:lstStyle/>
          <a:p>
            <a:pPr indent="0" marL="0">
              <a:lnSpc>
                <a:spcPct val="135000"/>
              </a:lnSpc>
              <a:buNone/>
            </a:pPr>
            <a:r>
              <a:rPr lang="en-US" sz="1100" dirty="0">
                <a:solidFill>
                  <a:srgbClr val="334155"/>
                </a:solidFill>
                <a:latin typeface="DM Sans" pitchFamily="34" charset="0"/>
                <a:ea typeface="DM Sans" pitchFamily="34" charset="-122"/>
                <a:cs typeface="DM Sans" pitchFamily="34" charset="-120"/>
              </a:rPr>
              <a:t>Peak weeks hit 4–5 figure signups per day.</a:t>
            </a:r>
            <a:endParaRPr lang="en-US" sz="1100" dirty="0"/>
          </a:p>
        </p:txBody>
      </p:sp>
      <p:sp>
        <p:nvSpPr>
          <p:cNvPr id="22" name="Shape 20"/>
          <p:cNvSpPr/>
          <p:nvPr/>
        </p:nvSpPr>
        <p:spPr>
          <a:xfrm>
            <a:off x="502920" y="4937760"/>
            <a:ext cx="11155680" cy="1188720"/>
          </a:xfrm>
          <a:prstGeom prst="roundRect">
            <a:avLst>
              <a:gd name="adj" fmla="val 6154"/>
            </a:avLst>
          </a:prstGeom>
          <a:solidFill>
            <a:srgbClr val="0F172A"/>
          </a:solidFill>
          <a:ln w="12700">
            <a:solidFill>
              <a:srgbClr val="0F172A"/>
            </a:solidFill>
            <a:prstDash val="solid"/>
          </a:ln>
        </p:spPr>
      </p:sp>
      <p:sp>
        <p:nvSpPr>
          <p:cNvPr id="23" name="Text 21"/>
          <p:cNvSpPr/>
          <p:nvPr/>
        </p:nvSpPr>
        <p:spPr>
          <a:xfrm>
            <a:off x="868680" y="5029200"/>
            <a:ext cx="10424160" cy="274320"/>
          </a:xfrm>
          <a:prstGeom prst="rect">
            <a:avLst/>
          </a:prstGeom>
          <a:noFill/>
          <a:ln/>
        </p:spPr>
        <p:txBody>
          <a:bodyPr wrap="square" rtlCol="0" anchor="ctr"/>
          <a:lstStyle/>
          <a:p>
            <a:pPr indent="0" marL="0">
              <a:buNone/>
            </a:pPr>
            <a:r>
              <a:rPr lang="en-US" sz="900" b="1" spc="500" kern="0" dirty="0">
                <a:solidFill>
                  <a:srgbClr val="F59E0B"/>
                </a:solidFill>
                <a:latin typeface="JetBrains Mono" pitchFamily="34" charset="0"/>
                <a:ea typeface="JetBrains Mono" pitchFamily="34" charset="-122"/>
                <a:cs typeface="JetBrains Mono" pitchFamily="34" charset="-120"/>
              </a:rPr>
              <a:t>THIS WINDOW IS NOW  ·  THE INFRASTRUCTURE LAYER IS UNOWNED</a:t>
            </a:r>
            <a:endParaRPr lang="en-US" sz="900" dirty="0"/>
          </a:p>
        </p:txBody>
      </p:sp>
      <p:sp>
        <p:nvSpPr>
          <p:cNvPr id="24" name="Text 22"/>
          <p:cNvSpPr/>
          <p:nvPr/>
        </p:nvSpPr>
        <p:spPr>
          <a:xfrm>
            <a:off x="868680" y="5349240"/>
            <a:ext cx="10424160" cy="777240"/>
          </a:xfrm>
          <a:prstGeom prst="rect">
            <a:avLst/>
          </a:prstGeom>
          <a:noFill/>
          <a:ln/>
        </p:spPr>
        <p:txBody>
          <a:bodyPr wrap="square" rtlCol="0" anchor="ctr"/>
          <a:lstStyle/>
          <a:p>
            <a:pPr indent="0" marL="0">
              <a:lnSpc>
                <a:spcPct val="135000"/>
              </a:lnSpc>
              <a:buNone/>
            </a:pPr>
            <a:r>
              <a:rPr lang="en-US" sz="1300" dirty="0">
                <a:solidFill>
                  <a:srgbClr val="FFFFFF"/>
                </a:solidFill>
                <a:latin typeface="DM Sans" pitchFamily="34" charset="0"/>
                <a:ea typeface="DM Sans" pitchFamily="34" charset="-122"/>
                <a:cs typeface="DM Sans" pitchFamily="34" charset="-120"/>
              </a:rPr>
              <a:t>AI coding tools are doing hyper-growth right now — not gradually, not eventually. Someone is going to own the production substrate every Cursor, Lovable and Bolt user graduates to. Founders who waited on Cursor’s 2023 curve are not catching it in 2026.</a:t>
            </a:r>
            <a:endParaRPr lang="en-US" sz="1300" dirty="0"/>
          </a:p>
        </p:txBody>
      </p:sp>
      <p:sp>
        <p:nvSpPr>
          <p:cNvPr id="25" name="Text 23"/>
          <p:cNvSpPr/>
          <p:nvPr/>
        </p:nvSpPr>
        <p:spPr>
          <a:xfrm>
            <a:off x="502920" y="6263640"/>
            <a:ext cx="10972800" cy="182880"/>
          </a:xfrm>
          <a:prstGeom prst="rect">
            <a:avLst/>
          </a:prstGeom>
          <a:noFill/>
          <a:ln/>
        </p:spPr>
        <p:txBody>
          <a:bodyPr wrap="square" rtlCol="0" anchor="ctr"/>
          <a:lstStyle/>
          <a:p>
            <a:pPr indent="0" marL="0">
              <a:buNone/>
            </a:pPr>
            <a:r>
              <a:rPr lang="en-US" sz="800" i="1" dirty="0">
                <a:solidFill>
                  <a:srgbClr val="94A3B8"/>
                </a:solidFill>
                <a:latin typeface="DM Sans" pitchFamily="34" charset="0"/>
                <a:ea typeface="DM Sans" pitchFamily="34" charset="-122"/>
                <a:cs typeface="DM Sans" pitchFamily="34" charset="-120"/>
              </a:rPr>
              <a:t>Sources: Cursor public statements 2024–2025; Lovable.dev / Anton Osika mid-2025; Bolt.new / StackBlitz 2024.</a:t>
            </a:r>
            <a:endParaRPr lang="en-US" sz="800" dirty="0"/>
          </a:p>
        </p:txBody>
      </p:sp>
      <p:sp>
        <p:nvSpPr>
          <p:cNvPr id="26" name="Text 24"/>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27" name="Text 25"/>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05  ·  PRODUCT FLOW</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Four steps. Real product live in a single sitting.</a:t>
            </a:r>
            <a:endParaRPr lang="en-US" sz="3000" dirty="0"/>
          </a:p>
        </p:txBody>
      </p:sp>
      <p:sp>
        <p:nvSpPr>
          <p:cNvPr id="4" name="Shape 2"/>
          <p:cNvSpPr/>
          <p:nvPr/>
        </p:nvSpPr>
        <p:spPr>
          <a:xfrm>
            <a:off x="502920" y="1874520"/>
            <a:ext cx="2697480" cy="4114800"/>
          </a:xfrm>
          <a:prstGeom prst="roundRect">
            <a:avLst>
              <a:gd name="adj" fmla="val 2712"/>
            </a:avLst>
          </a:prstGeom>
          <a:solidFill>
            <a:srgbClr val="FFFFFF"/>
          </a:solidFill>
          <a:ln w="9525">
            <a:solidFill>
              <a:srgbClr val="E2E8F0"/>
            </a:solidFill>
            <a:prstDash val="solid"/>
          </a:ln>
        </p:spPr>
      </p:sp>
      <p:sp>
        <p:nvSpPr>
          <p:cNvPr id="5" name="Shape 3"/>
          <p:cNvSpPr/>
          <p:nvPr/>
        </p:nvSpPr>
        <p:spPr>
          <a:xfrm>
            <a:off x="502920" y="1874520"/>
            <a:ext cx="2697480" cy="54864"/>
          </a:xfrm>
          <a:prstGeom prst="rect">
            <a:avLst/>
          </a:prstGeom>
          <a:solidFill>
            <a:srgbClr val="4F46E5"/>
          </a:solidFill>
          <a:ln w="12700">
            <a:solidFill>
              <a:srgbClr val="4F46E5"/>
            </a:solidFill>
            <a:prstDash val="solid"/>
          </a:ln>
        </p:spPr>
      </p:sp>
      <p:sp>
        <p:nvSpPr>
          <p:cNvPr id="6" name="Text 4"/>
          <p:cNvSpPr/>
          <p:nvPr/>
        </p:nvSpPr>
        <p:spPr>
          <a:xfrm>
            <a:off x="731520" y="2075688"/>
            <a:ext cx="914400" cy="292608"/>
          </a:xfrm>
          <a:prstGeom prst="rect">
            <a:avLst/>
          </a:prstGeom>
          <a:noFill/>
          <a:ln/>
        </p:spPr>
        <p:txBody>
          <a:bodyPr wrap="square" rtlCol="0" anchor="ctr"/>
          <a:lstStyle/>
          <a:p>
            <a:pPr indent="0" marL="0">
              <a:buNone/>
            </a:pPr>
            <a:r>
              <a:rPr lang="en-US" sz="1100" b="1" spc="400" kern="0" dirty="0">
                <a:solidFill>
                  <a:srgbClr val="3730A3"/>
                </a:solidFill>
                <a:latin typeface="JetBrains Mono" pitchFamily="34" charset="0"/>
                <a:ea typeface="JetBrains Mono" pitchFamily="34" charset="-122"/>
                <a:cs typeface="JetBrains Mono" pitchFamily="34" charset="-120"/>
              </a:rPr>
              <a:t>01</a:t>
            </a:r>
            <a:endParaRPr lang="en-US" sz="1100" dirty="0"/>
          </a:p>
        </p:txBody>
      </p:sp>
      <p:sp>
        <p:nvSpPr>
          <p:cNvPr id="7" name="Text 5"/>
          <p:cNvSpPr/>
          <p:nvPr/>
        </p:nvSpPr>
        <p:spPr>
          <a:xfrm>
            <a:off x="731520" y="2377440"/>
            <a:ext cx="2240280" cy="457200"/>
          </a:xfrm>
          <a:prstGeom prst="rect">
            <a:avLst/>
          </a:prstGeom>
          <a:noFill/>
          <a:ln/>
        </p:spPr>
        <p:txBody>
          <a:bodyPr wrap="square" rtlCol="0" anchor="ctr"/>
          <a:lstStyle/>
          <a:p>
            <a:pPr indent="0" marL="0">
              <a:lnSpc>
                <a:spcPct val="115000"/>
              </a:lnSpc>
              <a:buNone/>
            </a:pPr>
            <a:r>
              <a:rPr lang="en-US" sz="1400" b="1" dirty="0">
                <a:solidFill>
                  <a:srgbClr val="0F172A"/>
                </a:solidFill>
                <a:latin typeface="DM Sans" pitchFamily="34" charset="0"/>
                <a:ea typeface="DM Sans" pitchFamily="34" charset="-122"/>
                <a:cs typeface="DM Sans" pitchFamily="34" charset="-120"/>
              </a:rPr>
              <a:t>Wizard at /start</a:t>
            </a:r>
            <a:endParaRPr lang="en-US" sz="1400" dirty="0"/>
          </a:p>
        </p:txBody>
      </p:sp>
      <p:sp>
        <p:nvSpPr>
          <p:cNvPr id="8" name="Text 6"/>
          <p:cNvSpPr/>
          <p:nvPr/>
        </p:nvSpPr>
        <p:spPr>
          <a:xfrm>
            <a:off x="731520" y="2834640"/>
            <a:ext cx="2240280" cy="228600"/>
          </a:xfrm>
          <a:prstGeom prst="rect">
            <a:avLst/>
          </a:prstGeom>
          <a:noFill/>
          <a:ln/>
        </p:spPr>
        <p:txBody>
          <a:bodyPr wrap="square" rtlCol="0" anchor="ctr"/>
          <a:lstStyle/>
          <a:p>
            <a:pPr indent="0" marL="0">
              <a:buNone/>
            </a:pPr>
            <a:r>
              <a:rPr lang="en-US" sz="1000" i="1" dirty="0">
                <a:solidFill>
                  <a:srgbClr val="64748B"/>
                </a:solidFill>
                <a:latin typeface="DM Sans" pitchFamily="34" charset="0"/>
                <a:ea typeface="DM Sans" pitchFamily="34" charset="-122"/>
                <a:cs typeface="DM Sans" pitchFamily="34" charset="-120"/>
              </a:rPr>
              <a:t>60 seconds</a:t>
            </a:r>
            <a:endParaRPr lang="en-US" sz="1000" dirty="0"/>
          </a:p>
        </p:txBody>
      </p:sp>
      <p:sp>
        <p:nvSpPr>
          <p:cNvPr id="9" name="Shape 7"/>
          <p:cNvSpPr/>
          <p:nvPr/>
        </p:nvSpPr>
        <p:spPr>
          <a:xfrm>
            <a:off x="685800" y="3154680"/>
            <a:ext cx="2331720" cy="2651760"/>
          </a:xfrm>
          <a:prstGeom prst="roundRect">
            <a:avLst>
              <a:gd name="adj" fmla="val 1569"/>
            </a:avLst>
          </a:prstGeom>
          <a:solidFill>
            <a:srgbClr val="0F172A"/>
          </a:solidFill>
          <a:ln w="12700">
            <a:solidFill>
              <a:srgbClr val="0F172A"/>
            </a:solidFill>
            <a:prstDash val="solid"/>
          </a:ln>
        </p:spPr>
      </p:sp>
      <p:sp>
        <p:nvSpPr>
          <p:cNvPr id="10" name="Text 8"/>
          <p:cNvSpPr/>
          <p:nvPr/>
        </p:nvSpPr>
        <p:spPr>
          <a:xfrm>
            <a:off x="822960" y="3246120"/>
            <a:ext cx="2057400" cy="2468880"/>
          </a:xfrm>
          <a:prstGeom prst="rect">
            <a:avLst/>
          </a:prstGeom>
          <a:noFill/>
          <a:ln/>
        </p:spPr>
        <p:txBody>
          <a:bodyPr wrap="square" rtlCol="0" anchor="t"/>
          <a:lstStyle/>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product: PrepSheet — meals for PT clients</a:t>
            </a: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email:   alex@prep-pt.uk</a:t>
            </a: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plan:    Sandbox  (free, 30-day idle)</a:t>
            </a: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 Start building → ]</a:t>
            </a:r>
            <a:endParaRPr lang="en-US" sz="950" dirty="0"/>
          </a:p>
        </p:txBody>
      </p:sp>
      <p:sp>
        <p:nvSpPr>
          <p:cNvPr id="11" name="Shape 9"/>
          <p:cNvSpPr/>
          <p:nvPr/>
        </p:nvSpPr>
        <p:spPr>
          <a:xfrm>
            <a:off x="3346704" y="1874520"/>
            <a:ext cx="2697480" cy="4114800"/>
          </a:xfrm>
          <a:prstGeom prst="roundRect">
            <a:avLst>
              <a:gd name="adj" fmla="val 2712"/>
            </a:avLst>
          </a:prstGeom>
          <a:solidFill>
            <a:srgbClr val="FFFFFF"/>
          </a:solidFill>
          <a:ln w="9525">
            <a:solidFill>
              <a:srgbClr val="E2E8F0"/>
            </a:solidFill>
            <a:prstDash val="solid"/>
          </a:ln>
        </p:spPr>
      </p:sp>
      <p:sp>
        <p:nvSpPr>
          <p:cNvPr id="12" name="Shape 10"/>
          <p:cNvSpPr/>
          <p:nvPr/>
        </p:nvSpPr>
        <p:spPr>
          <a:xfrm>
            <a:off x="3346704" y="1874520"/>
            <a:ext cx="2697480" cy="54864"/>
          </a:xfrm>
          <a:prstGeom prst="rect">
            <a:avLst/>
          </a:prstGeom>
          <a:solidFill>
            <a:srgbClr val="4F46E5"/>
          </a:solidFill>
          <a:ln w="12700">
            <a:solidFill>
              <a:srgbClr val="4F46E5"/>
            </a:solidFill>
            <a:prstDash val="solid"/>
          </a:ln>
        </p:spPr>
      </p:sp>
      <p:sp>
        <p:nvSpPr>
          <p:cNvPr id="13" name="Text 11"/>
          <p:cNvSpPr/>
          <p:nvPr/>
        </p:nvSpPr>
        <p:spPr>
          <a:xfrm>
            <a:off x="3575304" y="2075688"/>
            <a:ext cx="914400" cy="292608"/>
          </a:xfrm>
          <a:prstGeom prst="rect">
            <a:avLst/>
          </a:prstGeom>
          <a:noFill/>
          <a:ln/>
        </p:spPr>
        <p:txBody>
          <a:bodyPr wrap="square" rtlCol="0" anchor="ctr"/>
          <a:lstStyle/>
          <a:p>
            <a:pPr indent="0" marL="0">
              <a:buNone/>
            </a:pPr>
            <a:r>
              <a:rPr lang="en-US" sz="1100" b="1" spc="400" kern="0" dirty="0">
                <a:solidFill>
                  <a:srgbClr val="3730A3"/>
                </a:solidFill>
                <a:latin typeface="JetBrains Mono" pitchFamily="34" charset="0"/>
                <a:ea typeface="JetBrains Mono" pitchFamily="34" charset="-122"/>
                <a:cs typeface="JetBrains Mono" pitchFamily="34" charset="-120"/>
              </a:rPr>
              <a:t>02</a:t>
            </a:r>
            <a:endParaRPr lang="en-US" sz="1100" dirty="0"/>
          </a:p>
        </p:txBody>
      </p:sp>
      <p:sp>
        <p:nvSpPr>
          <p:cNvPr id="14" name="Text 12"/>
          <p:cNvSpPr/>
          <p:nvPr/>
        </p:nvSpPr>
        <p:spPr>
          <a:xfrm>
            <a:off x="3575304" y="2377440"/>
            <a:ext cx="2240280" cy="457200"/>
          </a:xfrm>
          <a:prstGeom prst="rect">
            <a:avLst/>
          </a:prstGeom>
          <a:noFill/>
          <a:ln/>
        </p:spPr>
        <p:txBody>
          <a:bodyPr wrap="square" rtlCol="0" anchor="ctr"/>
          <a:lstStyle/>
          <a:p>
            <a:pPr indent="0" marL="0">
              <a:lnSpc>
                <a:spcPct val="115000"/>
              </a:lnSpc>
              <a:buNone/>
            </a:pPr>
            <a:r>
              <a:rPr lang="en-US" sz="1400" b="1" dirty="0">
                <a:solidFill>
                  <a:srgbClr val="0F172A"/>
                </a:solidFill>
                <a:latin typeface="DM Sans" pitchFamily="34" charset="0"/>
                <a:ea typeface="DM Sans" pitchFamily="34" charset="-122"/>
                <a:cs typeface="DM Sans" pitchFamily="34" charset="-120"/>
              </a:rPr>
              <a:t>Sandbox live</a:t>
            </a:r>
            <a:endParaRPr lang="en-US" sz="1400" dirty="0"/>
          </a:p>
        </p:txBody>
      </p:sp>
      <p:sp>
        <p:nvSpPr>
          <p:cNvPr id="15" name="Text 13"/>
          <p:cNvSpPr/>
          <p:nvPr/>
        </p:nvSpPr>
        <p:spPr>
          <a:xfrm>
            <a:off x="3575304" y="2834640"/>
            <a:ext cx="2240280" cy="228600"/>
          </a:xfrm>
          <a:prstGeom prst="rect">
            <a:avLst/>
          </a:prstGeom>
          <a:noFill/>
          <a:ln/>
        </p:spPr>
        <p:txBody>
          <a:bodyPr wrap="square" rtlCol="0" anchor="ctr"/>
          <a:lstStyle/>
          <a:p>
            <a:pPr indent="0" marL="0">
              <a:buNone/>
            </a:pPr>
            <a:r>
              <a:rPr lang="en-US" sz="1000" i="1" dirty="0">
                <a:solidFill>
                  <a:srgbClr val="64748B"/>
                </a:solidFill>
                <a:latin typeface="DM Sans" pitchFamily="34" charset="0"/>
                <a:ea typeface="DM Sans" pitchFamily="34" charset="-122"/>
                <a:cs typeface="DM Sans" pitchFamily="34" charset="-120"/>
              </a:rPr>
              <a:t>auto-provisioned</a:t>
            </a:r>
            <a:endParaRPr lang="en-US" sz="1000" dirty="0"/>
          </a:p>
        </p:txBody>
      </p:sp>
      <p:sp>
        <p:nvSpPr>
          <p:cNvPr id="16" name="Shape 14"/>
          <p:cNvSpPr/>
          <p:nvPr/>
        </p:nvSpPr>
        <p:spPr>
          <a:xfrm>
            <a:off x="3529584" y="3154680"/>
            <a:ext cx="2331720" cy="2651760"/>
          </a:xfrm>
          <a:prstGeom prst="roundRect">
            <a:avLst>
              <a:gd name="adj" fmla="val 1569"/>
            </a:avLst>
          </a:prstGeom>
          <a:solidFill>
            <a:srgbClr val="0F172A"/>
          </a:solidFill>
          <a:ln w="12700">
            <a:solidFill>
              <a:srgbClr val="0F172A"/>
            </a:solidFill>
            <a:prstDash val="solid"/>
          </a:ln>
        </p:spPr>
      </p:sp>
      <p:sp>
        <p:nvSpPr>
          <p:cNvPr id="17" name="Text 15"/>
          <p:cNvSpPr/>
          <p:nvPr/>
        </p:nvSpPr>
        <p:spPr>
          <a:xfrm>
            <a:off x="3666744" y="3246120"/>
            <a:ext cx="2057400" cy="2468880"/>
          </a:xfrm>
          <a:prstGeom prst="rect">
            <a:avLst/>
          </a:prstGeom>
          <a:noFill/>
          <a:ln/>
        </p:spPr>
        <p:txBody>
          <a:bodyPr wrap="square" rtlCol="0" anchor="t"/>
          <a:lstStyle/>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https://prepsheet.hatchik.com</a:t>
            </a:r>
            <a:endParaRPr lang="en-US" sz="950" dirty="0"/>
          </a:p>
          <a:p>
            <a:pPr indent="0" marL="0">
              <a:lnSpc>
                <a:spcPct val="145000"/>
              </a:lnSpc>
              <a:buNone/>
            </a:pP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PrepSheet — Meals for PT clients</a:t>
            </a:r>
            <a:endParaRPr lang="en-US" sz="950" dirty="0"/>
          </a:p>
          <a:p>
            <a:pPr indent="0" marL="0">
              <a:lnSpc>
                <a:spcPct val="145000"/>
              </a:lnSpc>
              <a:buNone/>
            </a:pP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9 containers up. Auth, Postgres, Storage,</a:t>
            </a: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Realtime, Stripe, Resend, Caddy + TLS.</a:t>
            </a:r>
            <a:endParaRPr lang="en-US" sz="950" dirty="0"/>
          </a:p>
        </p:txBody>
      </p:sp>
      <p:sp>
        <p:nvSpPr>
          <p:cNvPr id="18" name="Shape 16"/>
          <p:cNvSpPr/>
          <p:nvPr/>
        </p:nvSpPr>
        <p:spPr>
          <a:xfrm>
            <a:off x="6190488" y="1874520"/>
            <a:ext cx="2697480" cy="4114800"/>
          </a:xfrm>
          <a:prstGeom prst="roundRect">
            <a:avLst>
              <a:gd name="adj" fmla="val 2712"/>
            </a:avLst>
          </a:prstGeom>
          <a:solidFill>
            <a:srgbClr val="FFFFFF"/>
          </a:solidFill>
          <a:ln w="9525">
            <a:solidFill>
              <a:srgbClr val="E2E8F0"/>
            </a:solidFill>
            <a:prstDash val="solid"/>
          </a:ln>
        </p:spPr>
      </p:sp>
      <p:sp>
        <p:nvSpPr>
          <p:cNvPr id="19" name="Shape 17"/>
          <p:cNvSpPr/>
          <p:nvPr/>
        </p:nvSpPr>
        <p:spPr>
          <a:xfrm>
            <a:off x="6190488" y="1874520"/>
            <a:ext cx="2697480" cy="54864"/>
          </a:xfrm>
          <a:prstGeom prst="rect">
            <a:avLst/>
          </a:prstGeom>
          <a:solidFill>
            <a:srgbClr val="4F46E5"/>
          </a:solidFill>
          <a:ln w="12700">
            <a:solidFill>
              <a:srgbClr val="4F46E5"/>
            </a:solidFill>
            <a:prstDash val="solid"/>
          </a:ln>
        </p:spPr>
      </p:sp>
      <p:sp>
        <p:nvSpPr>
          <p:cNvPr id="20" name="Text 18"/>
          <p:cNvSpPr/>
          <p:nvPr/>
        </p:nvSpPr>
        <p:spPr>
          <a:xfrm>
            <a:off x="6419088" y="2075688"/>
            <a:ext cx="914400" cy="292608"/>
          </a:xfrm>
          <a:prstGeom prst="rect">
            <a:avLst/>
          </a:prstGeom>
          <a:noFill/>
          <a:ln/>
        </p:spPr>
        <p:txBody>
          <a:bodyPr wrap="square" rtlCol="0" anchor="ctr"/>
          <a:lstStyle/>
          <a:p>
            <a:pPr indent="0" marL="0">
              <a:buNone/>
            </a:pPr>
            <a:r>
              <a:rPr lang="en-US" sz="1100" b="1" spc="400" kern="0" dirty="0">
                <a:solidFill>
                  <a:srgbClr val="3730A3"/>
                </a:solidFill>
                <a:latin typeface="JetBrains Mono" pitchFamily="34" charset="0"/>
                <a:ea typeface="JetBrains Mono" pitchFamily="34" charset="-122"/>
                <a:cs typeface="JetBrains Mono" pitchFamily="34" charset="-120"/>
              </a:rPr>
              <a:t>03</a:t>
            </a:r>
            <a:endParaRPr lang="en-US" sz="1100" dirty="0"/>
          </a:p>
        </p:txBody>
      </p:sp>
      <p:sp>
        <p:nvSpPr>
          <p:cNvPr id="21" name="Text 19"/>
          <p:cNvSpPr/>
          <p:nvPr/>
        </p:nvSpPr>
        <p:spPr>
          <a:xfrm>
            <a:off x="6419088" y="2377440"/>
            <a:ext cx="2240280" cy="457200"/>
          </a:xfrm>
          <a:prstGeom prst="rect">
            <a:avLst/>
          </a:prstGeom>
          <a:noFill/>
          <a:ln/>
        </p:spPr>
        <p:txBody>
          <a:bodyPr wrap="square" rtlCol="0" anchor="ctr"/>
          <a:lstStyle/>
          <a:p>
            <a:pPr indent="0" marL="0">
              <a:lnSpc>
                <a:spcPct val="115000"/>
              </a:lnSpc>
              <a:buNone/>
            </a:pPr>
            <a:r>
              <a:rPr lang="en-US" sz="1400" b="1" dirty="0">
                <a:solidFill>
                  <a:srgbClr val="0F172A"/>
                </a:solidFill>
                <a:latin typeface="DM Sans" pitchFamily="34" charset="0"/>
                <a:ea typeface="DM Sans" pitchFamily="34" charset="-122"/>
                <a:cs typeface="DM Sans" pitchFamily="34" charset="-120"/>
              </a:rPr>
              <a:t>AI reads handoff</a:t>
            </a:r>
            <a:endParaRPr lang="en-US" sz="1400" dirty="0"/>
          </a:p>
        </p:txBody>
      </p:sp>
      <p:sp>
        <p:nvSpPr>
          <p:cNvPr id="22" name="Text 20"/>
          <p:cNvSpPr/>
          <p:nvPr/>
        </p:nvSpPr>
        <p:spPr>
          <a:xfrm>
            <a:off x="6419088" y="2834640"/>
            <a:ext cx="2240280" cy="228600"/>
          </a:xfrm>
          <a:prstGeom prst="rect">
            <a:avLst/>
          </a:prstGeom>
          <a:noFill/>
          <a:ln/>
        </p:spPr>
        <p:txBody>
          <a:bodyPr wrap="square" rtlCol="0" anchor="ctr"/>
          <a:lstStyle/>
          <a:p>
            <a:pPr indent="0" marL="0">
              <a:buNone/>
            </a:pPr>
            <a:r>
              <a:rPr lang="en-US" sz="1000" i="1" dirty="0">
                <a:solidFill>
                  <a:srgbClr val="64748B"/>
                </a:solidFill>
                <a:latin typeface="DM Sans" pitchFamily="34" charset="0"/>
                <a:ea typeface="DM Sans" pitchFamily="34" charset="-122"/>
                <a:cs typeface="DM Sans" pitchFamily="34" charset="-120"/>
              </a:rPr>
              <a:t>AI_CONTEXT.md</a:t>
            </a:r>
            <a:endParaRPr lang="en-US" sz="1000" dirty="0"/>
          </a:p>
        </p:txBody>
      </p:sp>
      <p:sp>
        <p:nvSpPr>
          <p:cNvPr id="23" name="Shape 21"/>
          <p:cNvSpPr/>
          <p:nvPr/>
        </p:nvSpPr>
        <p:spPr>
          <a:xfrm>
            <a:off x="6373368" y="3154680"/>
            <a:ext cx="2331720" cy="2651760"/>
          </a:xfrm>
          <a:prstGeom prst="roundRect">
            <a:avLst>
              <a:gd name="adj" fmla="val 1569"/>
            </a:avLst>
          </a:prstGeom>
          <a:solidFill>
            <a:srgbClr val="0F172A"/>
          </a:solidFill>
          <a:ln w="12700">
            <a:solidFill>
              <a:srgbClr val="0F172A"/>
            </a:solidFill>
            <a:prstDash val="solid"/>
          </a:ln>
        </p:spPr>
      </p:sp>
      <p:sp>
        <p:nvSpPr>
          <p:cNvPr id="24" name="Text 22"/>
          <p:cNvSpPr/>
          <p:nvPr/>
        </p:nvSpPr>
        <p:spPr>
          <a:xfrm>
            <a:off x="6510528" y="3246120"/>
            <a:ext cx="2057400" cy="2468880"/>
          </a:xfrm>
          <a:prstGeom prst="rect">
            <a:avLst/>
          </a:prstGeom>
          <a:noFill/>
          <a:ln/>
        </p:spPr>
        <p:txBody>
          <a:bodyPr wrap="square" rtlCol="0" anchor="t"/>
          <a:lstStyle/>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 claude code</a:t>
            </a: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  reading AI_CONTEXT.md…</a:t>
            </a: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&gt; edit apps/web/src/product/</a:t>
            </a: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&gt; git push</a:t>
            </a:r>
            <a:endParaRPr lang="en-US" sz="950" dirty="0"/>
          </a:p>
        </p:txBody>
      </p:sp>
      <p:sp>
        <p:nvSpPr>
          <p:cNvPr id="25" name="Shape 23"/>
          <p:cNvSpPr/>
          <p:nvPr/>
        </p:nvSpPr>
        <p:spPr>
          <a:xfrm>
            <a:off x="9034272" y="1874520"/>
            <a:ext cx="2697480" cy="4114800"/>
          </a:xfrm>
          <a:prstGeom prst="roundRect">
            <a:avLst>
              <a:gd name="adj" fmla="val 2712"/>
            </a:avLst>
          </a:prstGeom>
          <a:solidFill>
            <a:srgbClr val="FFFFFF"/>
          </a:solidFill>
          <a:ln w="9525">
            <a:solidFill>
              <a:srgbClr val="E2E8F0"/>
            </a:solidFill>
            <a:prstDash val="solid"/>
          </a:ln>
        </p:spPr>
      </p:sp>
      <p:sp>
        <p:nvSpPr>
          <p:cNvPr id="26" name="Shape 24"/>
          <p:cNvSpPr/>
          <p:nvPr/>
        </p:nvSpPr>
        <p:spPr>
          <a:xfrm>
            <a:off x="9034272" y="1874520"/>
            <a:ext cx="2697480" cy="54864"/>
          </a:xfrm>
          <a:prstGeom prst="rect">
            <a:avLst/>
          </a:prstGeom>
          <a:solidFill>
            <a:srgbClr val="4F46E5"/>
          </a:solidFill>
          <a:ln w="12700">
            <a:solidFill>
              <a:srgbClr val="4F46E5"/>
            </a:solidFill>
            <a:prstDash val="solid"/>
          </a:ln>
        </p:spPr>
      </p:sp>
      <p:sp>
        <p:nvSpPr>
          <p:cNvPr id="27" name="Text 25"/>
          <p:cNvSpPr/>
          <p:nvPr/>
        </p:nvSpPr>
        <p:spPr>
          <a:xfrm>
            <a:off x="9262872" y="2075688"/>
            <a:ext cx="914400" cy="292608"/>
          </a:xfrm>
          <a:prstGeom prst="rect">
            <a:avLst/>
          </a:prstGeom>
          <a:noFill/>
          <a:ln/>
        </p:spPr>
        <p:txBody>
          <a:bodyPr wrap="square" rtlCol="0" anchor="ctr"/>
          <a:lstStyle/>
          <a:p>
            <a:pPr indent="0" marL="0">
              <a:buNone/>
            </a:pPr>
            <a:r>
              <a:rPr lang="en-US" sz="1100" b="1" spc="400" kern="0" dirty="0">
                <a:solidFill>
                  <a:srgbClr val="3730A3"/>
                </a:solidFill>
                <a:latin typeface="JetBrains Mono" pitchFamily="34" charset="0"/>
                <a:ea typeface="JetBrains Mono" pitchFamily="34" charset="-122"/>
                <a:cs typeface="JetBrains Mono" pitchFamily="34" charset="-120"/>
              </a:rPr>
              <a:t>04</a:t>
            </a:r>
            <a:endParaRPr lang="en-US" sz="1100" dirty="0"/>
          </a:p>
        </p:txBody>
      </p:sp>
      <p:sp>
        <p:nvSpPr>
          <p:cNvPr id="28" name="Text 26"/>
          <p:cNvSpPr/>
          <p:nvPr/>
        </p:nvSpPr>
        <p:spPr>
          <a:xfrm>
            <a:off x="9262872" y="2377440"/>
            <a:ext cx="2240280" cy="457200"/>
          </a:xfrm>
          <a:prstGeom prst="rect">
            <a:avLst/>
          </a:prstGeom>
          <a:noFill/>
          <a:ln/>
        </p:spPr>
        <p:txBody>
          <a:bodyPr wrap="square" rtlCol="0" anchor="ctr"/>
          <a:lstStyle/>
          <a:p>
            <a:pPr indent="0" marL="0">
              <a:lnSpc>
                <a:spcPct val="115000"/>
              </a:lnSpc>
              <a:buNone/>
            </a:pPr>
            <a:r>
              <a:rPr lang="en-US" sz="1400" b="1" dirty="0">
                <a:solidFill>
                  <a:srgbClr val="0F172A"/>
                </a:solidFill>
                <a:latin typeface="DM Sans" pitchFamily="34" charset="0"/>
                <a:ea typeface="DM Sans" pitchFamily="34" charset="-122"/>
                <a:cs typeface="DM Sans" pitchFamily="34" charset="-120"/>
              </a:rPr>
              <a:t>Push to deploy</a:t>
            </a:r>
            <a:endParaRPr lang="en-US" sz="1400" dirty="0"/>
          </a:p>
        </p:txBody>
      </p:sp>
      <p:sp>
        <p:nvSpPr>
          <p:cNvPr id="29" name="Text 27"/>
          <p:cNvSpPr/>
          <p:nvPr/>
        </p:nvSpPr>
        <p:spPr>
          <a:xfrm>
            <a:off x="9262872" y="2834640"/>
            <a:ext cx="2240280" cy="228600"/>
          </a:xfrm>
          <a:prstGeom prst="rect">
            <a:avLst/>
          </a:prstGeom>
          <a:noFill/>
          <a:ln/>
        </p:spPr>
        <p:txBody>
          <a:bodyPr wrap="square" rtlCol="0" anchor="ctr"/>
          <a:lstStyle/>
          <a:p>
            <a:pPr indent="0" marL="0">
              <a:buNone/>
            </a:pPr>
            <a:r>
              <a:rPr lang="en-US" sz="1000" i="1" dirty="0">
                <a:solidFill>
                  <a:srgbClr val="64748B"/>
                </a:solidFill>
                <a:latin typeface="DM Sans" pitchFamily="34" charset="0"/>
                <a:ea typeface="DM Sans" pitchFamily="34" charset="-122"/>
                <a:cs typeface="DM Sans" pitchFamily="34" charset="-120"/>
              </a:rPr>
              <a:t>~30 seconds</a:t>
            </a:r>
            <a:endParaRPr lang="en-US" sz="1000" dirty="0"/>
          </a:p>
        </p:txBody>
      </p:sp>
      <p:sp>
        <p:nvSpPr>
          <p:cNvPr id="30" name="Shape 28"/>
          <p:cNvSpPr/>
          <p:nvPr/>
        </p:nvSpPr>
        <p:spPr>
          <a:xfrm>
            <a:off x="9217152" y="3154680"/>
            <a:ext cx="2331720" cy="2651760"/>
          </a:xfrm>
          <a:prstGeom prst="roundRect">
            <a:avLst>
              <a:gd name="adj" fmla="val 1569"/>
            </a:avLst>
          </a:prstGeom>
          <a:solidFill>
            <a:srgbClr val="0F172A"/>
          </a:solidFill>
          <a:ln w="12700">
            <a:solidFill>
              <a:srgbClr val="0F172A"/>
            </a:solidFill>
            <a:prstDash val="solid"/>
          </a:ln>
        </p:spPr>
      </p:sp>
      <p:sp>
        <p:nvSpPr>
          <p:cNvPr id="31" name="Text 29"/>
          <p:cNvSpPr/>
          <p:nvPr/>
        </p:nvSpPr>
        <p:spPr>
          <a:xfrm>
            <a:off x="9354312" y="3246120"/>
            <a:ext cx="2057400" cy="2468880"/>
          </a:xfrm>
          <a:prstGeom prst="rect">
            <a:avLst/>
          </a:prstGeom>
          <a:noFill/>
          <a:ln/>
        </p:spPr>
        <p:txBody>
          <a:bodyPr wrap="square" rtlCol="0" anchor="t"/>
          <a:lstStyle/>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webhook   received  sha=a12c4e1</a:t>
            </a: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docker    compose up -d  rebuilt 2/9</a:t>
            </a: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status    deployed_at: 2026-05-13T10:14</a:t>
            </a:r>
            <a:endParaRPr lang="en-US" sz="950" dirty="0"/>
          </a:p>
          <a:p>
            <a:pPr indent="0" marL="0">
              <a:lnSpc>
                <a:spcPct val="145000"/>
              </a:lnSpc>
              <a:buNone/>
            </a:pPr>
            <a:r>
              <a:rPr lang="en-US" sz="950" dirty="0">
                <a:solidFill>
                  <a:srgbClr val="EEF2FF"/>
                </a:solidFill>
                <a:latin typeface="JetBrains Mono" pitchFamily="34" charset="0"/>
                <a:ea typeface="JetBrains Mono" pitchFamily="34" charset="-122"/>
                <a:cs typeface="JetBrains Mono" pitchFamily="34" charset="-120"/>
              </a:rPr>
              <a:t>          → deployed</a:t>
            </a:r>
            <a:endParaRPr lang="en-US" sz="950" dirty="0"/>
          </a:p>
        </p:txBody>
      </p:sp>
      <p:sp>
        <p:nvSpPr>
          <p:cNvPr id="32" name="Text 30"/>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33" name="Text 31"/>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06  ·  WHAT’S WIRED</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Twelve production pieces. Day one. No DIY.</a:t>
            </a:r>
            <a:endParaRPr lang="en-US" sz="3000" dirty="0"/>
          </a:p>
        </p:txBody>
      </p:sp>
      <p:sp>
        <p:nvSpPr>
          <p:cNvPr id="4" name="Shape 2"/>
          <p:cNvSpPr/>
          <p:nvPr/>
        </p:nvSpPr>
        <p:spPr>
          <a:xfrm>
            <a:off x="502920" y="1965960"/>
            <a:ext cx="2697480" cy="1143000"/>
          </a:xfrm>
          <a:prstGeom prst="roundRect">
            <a:avLst>
              <a:gd name="adj" fmla="val 6400"/>
            </a:avLst>
          </a:prstGeom>
          <a:solidFill>
            <a:srgbClr val="FFFFFF"/>
          </a:solidFill>
          <a:ln w="9525">
            <a:solidFill>
              <a:srgbClr val="E2E8F0"/>
            </a:solidFill>
            <a:prstDash val="solid"/>
          </a:ln>
        </p:spPr>
      </p:sp>
      <p:sp>
        <p:nvSpPr>
          <p:cNvPr id="5" name="Shape 3"/>
          <p:cNvSpPr/>
          <p:nvPr/>
        </p:nvSpPr>
        <p:spPr>
          <a:xfrm>
            <a:off x="731520" y="2350008"/>
            <a:ext cx="365760" cy="365760"/>
          </a:xfrm>
          <a:prstGeom prst="ellipse">
            <a:avLst/>
          </a:prstGeom>
          <a:solidFill>
            <a:srgbClr val="EEF2FF"/>
          </a:solidFill>
          <a:ln w="12700">
            <a:solidFill>
              <a:srgbClr val="4F46E5"/>
            </a:solidFill>
            <a:prstDash val="solid"/>
          </a:ln>
        </p:spPr>
      </p:sp>
      <p:sp>
        <p:nvSpPr>
          <p:cNvPr id="6" name="Text 4"/>
          <p:cNvSpPr/>
          <p:nvPr/>
        </p:nvSpPr>
        <p:spPr>
          <a:xfrm>
            <a:off x="731520" y="235000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7" name="Text 5"/>
          <p:cNvSpPr/>
          <p:nvPr/>
        </p:nvSpPr>
        <p:spPr>
          <a:xfrm>
            <a:off x="1188720" y="214884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Auth</a:t>
            </a:r>
            <a:endParaRPr lang="en-US" sz="1300" dirty="0"/>
          </a:p>
        </p:txBody>
      </p:sp>
      <p:sp>
        <p:nvSpPr>
          <p:cNvPr id="8" name="Text 6"/>
          <p:cNvSpPr/>
          <p:nvPr/>
        </p:nvSpPr>
        <p:spPr>
          <a:xfrm>
            <a:off x="1188720" y="251460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Supabase, magic-link + JWT</a:t>
            </a:r>
            <a:endParaRPr lang="en-US" sz="1000" dirty="0"/>
          </a:p>
        </p:txBody>
      </p:sp>
      <p:sp>
        <p:nvSpPr>
          <p:cNvPr id="9" name="Shape 7"/>
          <p:cNvSpPr/>
          <p:nvPr/>
        </p:nvSpPr>
        <p:spPr>
          <a:xfrm>
            <a:off x="3383280" y="1965960"/>
            <a:ext cx="2697480" cy="1143000"/>
          </a:xfrm>
          <a:prstGeom prst="roundRect">
            <a:avLst>
              <a:gd name="adj" fmla="val 6400"/>
            </a:avLst>
          </a:prstGeom>
          <a:solidFill>
            <a:srgbClr val="FFFFFF"/>
          </a:solidFill>
          <a:ln w="9525">
            <a:solidFill>
              <a:srgbClr val="E2E8F0"/>
            </a:solidFill>
            <a:prstDash val="solid"/>
          </a:ln>
        </p:spPr>
      </p:sp>
      <p:sp>
        <p:nvSpPr>
          <p:cNvPr id="10" name="Shape 8"/>
          <p:cNvSpPr/>
          <p:nvPr/>
        </p:nvSpPr>
        <p:spPr>
          <a:xfrm>
            <a:off x="3611880" y="2350008"/>
            <a:ext cx="365760" cy="365760"/>
          </a:xfrm>
          <a:prstGeom prst="ellipse">
            <a:avLst/>
          </a:prstGeom>
          <a:solidFill>
            <a:srgbClr val="EEF2FF"/>
          </a:solidFill>
          <a:ln w="12700">
            <a:solidFill>
              <a:srgbClr val="4F46E5"/>
            </a:solidFill>
            <a:prstDash val="solid"/>
          </a:ln>
        </p:spPr>
      </p:sp>
      <p:sp>
        <p:nvSpPr>
          <p:cNvPr id="11" name="Text 9"/>
          <p:cNvSpPr/>
          <p:nvPr/>
        </p:nvSpPr>
        <p:spPr>
          <a:xfrm>
            <a:off x="3611880" y="235000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12" name="Text 10"/>
          <p:cNvSpPr/>
          <p:nvPr/>
        </p:nvSpPr>
        <p:spPr>
          <a:xfrm>
            <a:off x="4069080" y="214884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Postgres</a:t>
            </a:r>
            <a:endParaRPr lang="en-US" sz="1300" dirty="0"/>
          </a:p>
        </p:txBody>
      </p:sp>
      <p:sp>
        <p:nvSpPr>
          <p:cNvPr id="13" name="Text 11"/>
          <p:cNvSpPr/>
          <p:nvPr/>
        </p:nvSpPr>
        <p:spPr>
          <a:xfrm>
            <a:off x="4069080" y="251460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Supabase, RLS-scoped</a:t>
            </a:r>
            <a:endParaRPr lang="en-US" sz="1000" dirty="0"/>
          </a:p>
        </p:txBody>
      </p:sp>
      <p:sp>
        <p:nvSpPr>
          <p:cNvPr id="14" name="Shape 12"/>
          <p:cNvSpPr/>
          <p:nvPr/>
        </p:nvSpPr>
        <p:spPr>
          <a:xfrm>
            <a:off x="6263640" y="1965960"/>
            <a:ext cx="2697480" cy="1143000"/>
          </a:xfrm>
          <a:prstGeom prst="roundRect">
            <a:avLst>
              <a:gd name="adj" fmla="val 6400"/>
            </a:avLst>
          </a:prstGeom>
          <a:solidFill>
            <a:srgbClr val="FFFFFF"/>
          </a:solidFill>
          <a:ln w="9525">
            <a:solidFill>
              <a:srgbClr val="E2E8F0"/>
            </a:solidFill>
            <a:prstDash val="solid"/>
          </a:ln>
        </p:spPr>
      </p:sp>
      <p:sp>
        <p:nvSpPr>
          <p:cNvPr id="15" name="Shape 13"/>
          <p:cNvSpPr/>
          <p:nvPr/>
        </p:nvSpPr>
        <p:spPr>
          <a:xfrm>
            <a:off x="6492240" y="2350008"/>
            <a:ext cx="365760" cy="365760"/>
          </a:xfrm>
          <a:prstGeom prst="ellipse">
            <a:avLst/>
          </a:prstGeom>
          <a:solidFill>
            <a:srgbClr val="EEF2FF"/>
          </a:solidFill>
          <a:ln w="12700">
            <a:solidFill>
              <a:srgbClr val="4F46E5"/>
            </a:solidFill>
            <a:prstDash val="solid"/>
          </a:ln>
        </p:spPr>
      </p:sp>
      <p:sp>
        <p:nvSpPr>
          <p:cNvPr id="16" name="Text 14"/>
          <p:cNvSpPr/>
          <p:nvPr/>
        </p:nvSpPr>
        <p:spPr>
          <a:xfrm>
            <a:off x="6492240" y="235000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17" name="Text 15"/>
          <p:cNvSpPr/>
          <p:nvPr/>
        </p:nvSpPr>
        <p:spPr>
          <a:xfrm>
            <a:off x="6949440" y="214884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Storage</a:t>
            </a:r>
            <a:endParaRPr lang="en-US" sz="1300" dirty="0"/>
          </a:p>
        </p:txBody>
      </p:sp>
      <p:sp>
        <p:nvSpPr>
          <p:cNvPr id="18" name="Text 16"/>
          <p:cNvSpPr/>
          <p:nvPr/>
        </p:nvSpPr>
        <p:spPr>
          <a:xfrm>
            <a:off x="6949440" y="251460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Supabase Storage</a:t>
            </a:r>
            <a:endParaRPr lang="en-US" sz="1000" dirty="0"/>
          </a:p>
        </p:txBody>
      </p:sp>
      <p:sp>
        <p:nvSpPr>
          <p:cNvPr id="19" name="Shape 17"/>
          <p:cNvSpPr/>
          <p:nvPr/>
        </p:nvSpPr>
        <p:spPr>
          <a:xfrm>
            <a:off x="9144000" y="1965960"/>
            <a:ext cx="2697480" cy="1143000"/>
          </a:xfrm>
          <a:prstGeom prst="roundRect">
            <a:avLst>
              <a:gd name="adj" fmla="val 6400"/>
            </a:avLst>
          </a:prstGeom>
          <a:solidFill>
            <a:srgbClr val="FFFFFF"/>
          </a:solidFill>
          <a:ln w="9525">
            <a:solidFill>
              <a:srgbClr val="E2E8F0"/>
            </a:solidFill>
            <a:prstDash val="solid"/>
          </a:ln>
        </p:spPr>
      </p:sp>
      <p:sp>
        <p:nvSpPr>
          <p:cNvPr id="20" name="Shape 18"/>
          <p:cNvSpPr/>
          <p:nvPr/>
        </p:nvSpPr>
        <p:spPr>
          <a:xfrm>
            <a:off x="9372600" y="2350008"/>
            <a:ext cx="365760" cy="365760"/>
          </a:xfrm>
          <a:prstGeom prst="ellipse">
            <a:avLst/>
          </a:prstGeom>
          <a:solidFill>
            <a:srgbClr val="EEF2FF"/>
          </a:solidFill>
          <a:ln w="12700">
            <a:solidFill>
              <a:srgbClr val="4F46E5"/>
            </a:solidFill>
            <a:prstDash val="solid"/>
          </a:ln>
        </p:spPr>
      </p:sp>
      <p:sp>
        <p:nvSpPr>
          <p:cNvPr id="21" name="Text 19"/>
          <p:cNvSpPr/>
          <p:nvPr/>
        </p:nvSpPr>
        <p:spPr>
          <a:xfrm>
            <a:off x="9372600" y="235000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22" name="Text 20"/>
          <p:cNvSpPr/>
          <p:nvPr/>
        </p:nvSpPr>
        <p:spPr>
          <a:xfrm>
            <a:off x="9829800" y="214884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Realtime</a:t>
            </a:r>
            <a:endParaRPr lang="en-US" sz="1300" dirty="0"/>
          </a:p>
        </p:txBody>
      </p:sp>
      <p:sp>
        <p:nvSpPr>
          <p:cNvPr id="23" name="Text 21"/>
          <p:cNvSpPr/>
          <p:nvPr/>
        </p:nvSpPr>
        <p:spPr>
          <a:xfrm>
            <a:off x="9829800" y="251460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Postgres CDC channels</a:t>
            </a:r>
            <a:endParaRPr lang="en-US" sz="1000" dirty="0"/>
          </a:p>
        </p:txBody>
      </p:sp>
      <p:sp>
        <p:nvSpPr>
          <p:cNvPr id="24" name="Shape 22"/>
          <p:cNvSpPr/>
          <p:nvPr/>
        </p:nvSpPr>
        <p:spPr>
          <a:xfrm>
            <a:off x="502920" y="3291840"/>
            <a:ext cx="2697480" cy="1143000"/>
          </a:xfrm>
          <a:prstGeom prst="roundRect">
            <a:avLst>
              <a:gd name="adj" fmla="val 6400"/>
            </a:avLst>
          </a:prstGeom>
          <a:solidFill>
            <a:srgbClr val="FFFFFF"/>
          </a:solidFill>
          <a:ln w="9525">
            <a:solidFill>
              <a:srgbClr val="E2E8F0"/>
            </a:solidFill>
            <a:prstDash val="solid"/>
          </a:ln>
        </p:spPr>
      </p:sp>
      <p:sp>
        <p:nvSpPr>
          <p:cNvPr id="25" name="Shape 23"/>
          <p:cNvSpPr/>
          <p:nvPr/>
        </p:nvSpPr>
        <p:spPr>
          <a:xfrm>
            <a:off x="731520" y="3675888"/>
            <a:ext cx="365760" cy="365760"/>
          </a:xfrm>
          <a:prstGeom prst="ellipse">
            <a:avLst/>
          </a:prstGeom>
          <a:solidFill>
            <a:srgbClr val="EEF2FF"/>
          </a:solidFill>
          <a:ln w="12700">
            <a:solidFill>
              <a:srgbClr val="4F46E5"/>
            </a:solidFill>
            <a:prstDash val="solid"/>
          </a:ln>
        </p:spPr>
      </p:sp>
      <p:sp>
        <p:nvSpPr>
          <p:cNvPr id="26" name="Text 24"/>
          <p:cNvSpPr/>
          <p:nvPr/>
        </p:nvSpPr>
        <p:spPr>
          <a:xfrm>
            <a:off x="731520" y="367588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27" name="Text 25"/>
          <p:cNvSpPr/>
          <p:nvPr/>
        </p:nvSpPr>
        <p:spPr>
          <a:xfrm>
            <a:off x="1188720" y="347472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Stripe checkout</a:t>
            </a:r>
            <a:endParaRPr lang="en-US" sz="1300" dirty="0"/>
          </a:p>
        </p:txBody>
      </p:sp>
      <p:sp>
        <p:nvSpPr>
          <p:cNvPr id="28" name="Text 26"/>
          <p:cNvSpPr/>
          <p:nvPr/>
        </p:nvSpPr>
        <p:spPr>
          <a:xfrm>
            <a:off x="1188720" y="384048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Test + live keys</a:t>
            </a:r>
            <a:endParaRPr lang="en-US" sz="1000" dirty="0"/>
          </a:p>
        </p:txBody>
      </p:sp>
      <p:sp>
        <p:nvSpPr>
          <p:cNvPr id="29" name="Shape 27"/>
          <p:cNvSpPr/>
          <p:nvPr/>
        </p:nvSpPr>
        <p:spPr>
          <a:xfrm>
            <a:off x="3383280" y="3291840"/>
            <a:ext cx="2697480" cy="1143000"/>
          </a:xfrm>
          <a:prstGeom prst="roundRect">
            <a:avLst>
              <a:gd name="adj" fmla="val 6400"/>
            </a:avLst>
          </a:prstGeom>
          <a:solidFill>
            <a:srgbClr val="FFFFFF"/>
          </a:solidFill>
          <a:ln w="9525">
            <a:solidFill>
              <a:srgbClr val="E2E8F0"/>
            </a:solidFill>
            <a:prstDash val="solid"/>
          </a:ln>
        </p:spPr>
      </p:sp>
      <p:sp>
        <p:nvSpPr>
          <p:cNvPr id="30" name="Shape 28"/>
          <p:cNvSpPr/>
          <p:nvPr/>
        </p:nvSpPr>
        <p:spPr>
          <a:xfrm>
            <a:off x="3611880" y="3675888"/>
            <a:ext cx="365760" cy="365760"/>
          </a:xfrm>
          <a:prstGeom prst="ellipse">
            <a:avLst/>
          </a:prstGeom>
          <a:solidFill>
            <a:srgbClr val="EEF2FF"/>
          </a:solidFill>
          <a:ln w="12700">
            <a:solidFill>
              <a:srgbClr val="4F46E5"/>
            </a:solidFill>
            <a:prstDash val="solid"/>
          </a:ln>
        </p:spPr>
      </p:sp>
      <p:sp>
        <p:nvSpPr>
          <p:cNvPr id="31" name="Text 29"/>
          <p:cNvSpPr/>
          <p:nvPr/>
        </p:nvSpPr>
        <p:spPr>
          <a:xfrm>
            <a:off x="3611880" y="367588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32" name="Text 30"/>
          <p:cNvSpPr/>
          <p:nvPr/>
        </p:nvSpPr>
        <p:spPr>
          <a:xfrm>
            <a:off x="4069080" y="347472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Paddle MoR</a:t>
            </a:r>
            <a:endParaRPr lang="en-US" sz="1300" dirty="0"/>
          </a:p>
        </p:txBody>
      </p:sp>
      <p:sp>
        <p:nvSpPr>
          <p:cNvPr id="33" name="Text 31"/>
          <p:cNvSpPr/>
          <p:nvPr/>
        </p:nvSpPr>
        <p:spPr>
          <a:xfrm>
            <a:off x="4069080" y="384048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Global tax handled</a:t>
            </a:r>
            <a:endParaRPr lang="en-US" sz="1000" dirty="0"/>
          </a:p>
        </p:txBody>
      </p:sp>
      <p:sp>
        <p:nvSpPr>
          <p:cNvPr id="34" name="Shape 32"/>
          <p:cNvSpPr/>
          <p:nvPr/>
        </p:nvSpPr>
        <p:spPr>
          <a:xfrm>
            <a:off x="6263640" y="3291840"/>
            <a:ext cx="2697480" cy="1143000"/>
          </a:xfrm>
          <a:prstGeom prst="roundRect">
            <a:avLst>
              <a:gd name="adj" fmla="val 6400"/>
            </a:avLst>
          </a:prstGeom>
          <a:solidFill>
            <a:srgbClr val="FFFFFF"/>
          </a:solidFill>
          <a:ln w="9525">
            <a:solidFill>
              <a:srgbClr val="E2E8F0"/>
            </a:solidFill>
            <a:prstDash val="solid"/>
          </a:ln>
        </p:spPr>
      </p:sp>
      <p:sp>
        <p:nvSpPr>
          <p:cNvPr id="35" name="Shape 33"/>
          <p:cNvSpPr/>
          <p:nvPr/>
        </p:nvSpPr>
        <p:spPr>
          <a:xfrm>
            <a:off x="6492240" y="3675888"/>
            <a:ext cx="365760" cy="365760"/>
          </a:xfrm>
          <a:prstGeom prst="ellipse">
            <a:avLst/>
          </a:prstGeom>
          <a:solidFill>
            <a:srgbClr val="EEF2FF"/>
          </a:solidFill>
          <a:ln w="12700">
            <a:solidFill>
              <a:srgbClr val="4F46E5"/>
            </a:solidFill>
            <a:prstDash val="solid"/>
          </a:ln>
        </p:spPr>
      </p:sp>
      <p:sp>
        <p:nvSpPr>
          <p:cNvPr id="36" name="Text 34"/>
          <p:cNvSpPr/>
          <p:nvPr/>
        </p:nvSpPr>
        <p:spPr>
          <a:xfrm>
            <a:off x="6492240" y="367588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37" name="Text 35"/>
          <p:cNvSpPr/>
          <p:nvPr/>
        </p:nvSpPr>
        <p:spPr>
          <a:xfrm>
            <a:off x="6949440" y="347472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Resend mail</a:t>
            </a:r>
            <a:endParaRPr lang="en-US" sz="1300" dirty="0"/>
          </a:p>
        </p:txBody>
      </p:sp>
      <p:sp>
        <p:nvSpPr>
          <p:cNvPr id="38" name="Text 36"/>
          <p:cNvSpPr/>
          <p:nvPr/>
        </p:nvSpPr>
        <p:spPr>
          <a:xfrm>
            <a:off x="6949440" y="384048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Transactional + DKIM</a:t>
            </a:r>
            <a:endParaRPr lang="en-US" sz="1000" dirty="0"/>
          </a:p>
        </p:txBody>
      </p:sp>
      <p:sp>
        <p:nvSpPr>
          <p:cNvPr id="39" name="Shape 37"/>
          <p:cNvSpPr/>
          <p:nvPr/>
        </p:nvSpPr>
        <p:spPr>
          <a:xfrm>
            <a:off x="9144000" y="3291840"/>
            <a:ext cx="2697480" cy="1143000"/>
          </a:xfrm>
          <a:prstGeom prst="roundRect">
            <a:avLst>
              <a:gd name="adj" fmla="val 6400"/>
            </a:avLst>
          </a:prstGeom>
          <a:solidFill>
            <a:srgbClr val="FFFFFF"/>
          </a:solidFill>
          <a:ln w="9525">
            <a:solidFill>
              <a:srgbClr val="E2E8F0"/>
            </a:solidFill>
            <a:prstDash val="solid"/>
          </a:ln>
        </p:spPr>
      </p:sp>
      <p:sp>
        <p:nvSpPr>
          <p:cNvPr id="40" name="Shape 38"/>
          <p:cNvSpPr/>
          <p:nvPr/>
        </p:nvSpPr>
        <p:spPr>
          <a:xfrm>
            <a:off x="9372600" y="3675888"/>
            <a:ext cx="365760" cy="365760"/>
          </a:xfrm>
          <a:prstGeom prst="ellipse">
            <a:avLst/>
          </a:prstGeom>
          <a:solidFill>
            <a:srgbClr val="EEF2FF"/>
          </a:solidFill>
          <a:ln w="12700">
            <a:solidFill>
              <a:srgbClr val="4F46E5"/>
            </a:solidFill>
            <a:prstDash val="solid"/>
          </a:ln>
        </p:spPr>
      </p:sp>
      <p:sp>
        <p:nvSpPr>
          <p:cNvPr id="41" name="Text 39"/>
          <p:cNvSpPr/>
          <p:nvPr/>
        </p:nvSpPr>
        <p:spPr>
          <a:xfrm>
            <a:off x="9372600" y="367588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42" name="Text 40"/>
          <p:cNvSpPr/>
          <p:nvPr/>
        </p:nvSpPr>
        <p:spPr>
          <a:xfrm>
            <a:off x="9829800" y="347472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Mailboxes</a:t>
            </a:r>
            <a:endParaRPr lang="en-US" sz="1300" dirty="0"/>
          </a:p>
        </p:txBody>
      </p:sp>
      <p:sp>
        <p:nvSpPr>
          <p:cNvPr id="43" name="Text 41"/>
          <p:cNvSpPr/>
          <p:nvPr/>
        </p:nvSpPr>
        <p:spPr>
          <a:xfrm>
            <a:off x="9829800" y="384048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Infomaniak, Launch tier</a:t>
            </a:r>
            <a:endParaRPr lang="en-US" sz="1000" dirty="0"/>
          </a:p>
        </p:txBody>
      </p:sp>
      <p:sp>
        <p:nvSpPr>
          <p:cNvPr id="44" name="Shape 42"/>
          <p:cNvSpPr/>
          <p:nvPr/>
        </p:nvSpPr>
        <p:spPr>
          <a:xfrm>
            <a:off x="502920" y="4617720"/>
            <a:ext cx="2697480" cy="1143000"/>
          </a:xfrm>
          <a:prstGeom prst="roundRect">
            <a:avLst>
              <a:gd name="adj" fmla="val 6400"/>
            </a:avLst>
          </a:prstGeom>
          <a:solidFill>
            <a:srgbClr val="FFFFFF"/>
          </a:solidFill>
          <a:ln w="9525">
            <a:solidFill>
              <a:srgbClr val="E2E8F0"/>
            </a:solidFill>
            <a:prstDash val="solid"/>
          </a:ln>
        </p:spPr>
      </p:sp>
      <p:sp>
        <p:nvSpPr>
          <p:cNvPr id="45" name="Shape 43"/>
          <p:cNvSpPr/>
          <p:nvPr/>
        </p:nvSpPr>
        <p:spPr>
          <a:xfrm>
            <a:off x="731520" y="5001768"/>
            <a:ext cx="365760" cy="365760"/>
          </a:xfrm>
          <a:prstGeom prst="ellipse">
            <a:avLst/>
          </a:prstGeom>
          <a:solidFill>
            <a:srgbClr val="EEF2FF"/>
          </a:solidFill>
          <a:ln w="12700">
            <a:solidFill>
              <a:srgbClr val="4F46E5"/>
            </a:solidFill>
            <a:prstDash val="solid"/>
          </a:ln>
        </p:spPr>
      </p:sp>
      <p:sp>
        <p:nvSpPr>
          <p:cNvPr id="46" name="Text 44"/>
          <p:cNvSpPr/>
          <p:nvPr/>
        </p:nvSpPr>
        <p:spPr>
          <a:xfrm>
            <a:off x="731520" y="500176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47" name="Text 45"/>
          <p:cNvSpPr/>
          <p:nvPr/>
        </p:nvSpPr>
        <p:spPr>
          <a:xfrm>
            <a:off x="1188720" y="480060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Capacitor</a:t>
            </a:r>
            <a:endParaRPr lang="en-US" sz="1300" dirty="0"/>
          </a:p>
        </p:txBody>
      </p:sp>
      <p:sp>
        <p:nvSpPr>
          <p:cNvPr id="48" name="Text 46"/>
          <p:cNvSpPr/>
          <p:nvPr/>
        </p:nvSpPr>
        <p:spPr>
          <a:xfrm>
            <a:off x="1188720" y="516636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iOS IPA + Android APK</a:t>
            </a:r>
            <a:endParaRPr lang="en-US" sz="1000" dirty="0"/>
          </a:p>
        </p:txBody>
      </p:sp>
      <p:sp>
        <p:nvSpPr>
          <p:cNvPr id="49" name="Shape 47"/>
          <p:cNvSpPr/>
          <p:nvPr/>
        </p:nvSpPr>
        <p:spPr>
          <a:xfrm>
            <a:off x="3383280" y="4617720"/>
            <a:ext cx="2697480" cy="1143000"/>
          </a:xfrm>
          <a:prstGeom prst="roundRect">
            <a:avLst>
              <a:gd name="adj" fmla="val 6400"/>
            </a:avLst>
          </a:prstGeom>
          <a:solidFill>
            <a:srgbClr val="FFFFFF"/>
          </a:solidFill>
          <a:ln w="9525">
            <a:solidFill>
              <a:srgbClr val="E2E8F0"/>
            </a:solidFill>
            <a:prstDash val="solid"/>
          </a:ln>
        </p:spPr>
      </p:sp>
      <p:sp>
        <p:nvSpPr>
          <p:cNvPr id="50" name="Shape 48"/>
          <p:cNvSpPr/>
          <p:nvPr/>
        </p:nvSpPr>
        <p:spPr>
          <a:xfrm>
            <a:off x="3611880" y="5001768"/>
            <a:ext cx="365760" cy="365760"/>
          </a:xfrm>
          <a:prstGeom prst="ellipse">
            <a:avLst/>
          </a:prstGeom>
          <a:solidFill>
            <a:srgbClr val="EEF2FF"/>
          </a:solidFill>
          <a:ln w="12700">
            <a:solidFill>
              <a:srgbClr val="4F46E5"/>
            </a:solidFill>
            <a:prstDash val="solid"/>
          </a:ln>
        </p:spPr>
      </p:sp>
      <p:sp>
        <p:nvSpPr>
          <p:cNvPr id="51" name="Text 49"/>
          <p:cNvSpPr/>
          <p:nvPr/>
        </p:nvSpPr>
        <p:spPr>
          <a:xfrm>
            <a:off x="3611880" y="500176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52" name="Text 50"/>
          <p:cNvSpPr/>
          <p:nvPr/>
        </p:nvSpPr>
        <p:spPr>
          <a:xfrm>
            <a:off x="4069080" y="480060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GitHub repo</a:t>
            </a:r>
            <a:endParaRPr lang="en-US" sz="1300" dirty="0"/>
          </a:p>
        </p:txBody>
      </p:sp>
      <p:sp>
        <p:nvSpPr>
          <p:cNvPr id="53" name="Text 51"/>
          <p:cNvSpPr/>
          <p:nvPr/>
        </p:nvSpPr>
        <p:spPr>
          <a:xfrm>
            <a:off x="4069080" y="516636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Per-tenant, private</a:t>
            </a:r>
            <a:endParaRPr lang="en-US" sz="1000" dirty="0"/>
          </a:p>
        </p:txBody>
      </p:sp>
      <p:sp>
        <p:nvSpPr>
          <p:cNvPr id="54" name="Shape 52"/>
          <p:cNvSpPr/>
          <p:nvPr/>
        </p:nvSpPr>
        <p:spPr>
          <a:xfrm>
            <a:off x="6263640" y="4617720"/>
            <a:ext cx="2697480" cy="1143000"/>
          </a:xfrm>
          <a:prstGeom prst="roundRect">
            <a:avLst>
              <a:gd name="adj" fmla="val 6400"/>
            </a:avLst>
          </a:prstGeom>
          <a:solidFill>
            <a:srgbClr val="FFFFFF"/>
          </a:solidFill>
          <a:ln w="9525">
            <a:solidFill>
              <a:srgbClr val="E2E8F0"/>
            </a:solidFill>
            <a:prstDash val="solid"/>
          </a:ln>
        </p:spPr>
      </p:sp>
      <p:sp>
        <p:nvSpPr>
          <p:cNvPr id="55" name="Shape 53"/>
          <p:cNvSpPr/>
          <p:nvPr/>
        </p:nvSpPr>
        <p:spPr>
          <a:xfrm>
            <a:off x="6492240" y="5001768"/>
            <a:ext cx="365760" cy="365760"/>
          </a:xfrm>
          <a:prstGeom prst="ellipse">
            <a:avLst/>
          </a:prstGeom>
          <a:solidFill>
            <a:srgbClr val="EEF2FF"/>
          </a:solidFill>
          <a:ln w="12700">
            <a:solidFill>
              <a:srgbClr val="4F46E5"/>
            </a:solidFill>
            <a:prstDash val="solid"/>
          </a:ln>
        </p:spPr>
      </p:sp>
      <p:sp>
        <p:nvSpPr>
          <p:cNvPr id="56" name="Text 54"/>
          <p:cNvSpPr/>
          <p:nvPr/>
        </p:nvSpPr>
        <p:spPr>
          <a:xfrm>
            <a:off x="6492240" y="500176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57" name="Text 55"/>
          <p:cNvSpPr/>
          <p:nvPr/>
        </p:nvSpPr>
        <p:spPr>
          <a:xfrm>
            <a:off x="6949440" y="480060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Push-to-deploy</a:t>
            </a:r>
            <a:endParaRPr lang="en-US" sz="1300" dirty="0"/>
          </a:p>
        </p:txBody>
      </p:sp>
      <p:sp>
        <p:nvSpPr>
          <p:cNvPr id="58" name="Text 56"/>
          <p:cNvSpPr/>
          <p:nvPr/>
        </p:nvSpPr>
        <p:spPr>
          <a:xfrm>
            <a:off x="6949440" y="516636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Webhook + AI deploy token</a:t>
            </a:r>
            <a:endParaRPr lang="en-US" sz="1000" dirty="0"/>
          </a:p>
        </p:txBody>
      </p:sp>
      <p:sp>
        <p:nvSpPr>
          <p:cNvPr id="59" name="Shape 57"/>
          <p:cNvSpPr/>
          <p:nvPr/>
        </p:nvSpPr>
        <p:spPr>
          <a:xfrm>
            <a:off x="9144000" y="4617720"/>
            <a:ext cx="2697480" cy="1143000"/>
          </a:xfrm>
          <a:prstGeom prst="roundRect">
            <a:avLst>
              <a:gd name="adj" fmla="val 6400"/>
            </a:avLst>
          </a:prstGeom>
          <a:solidFill>
            <a:srgbClr val="FFFFFF"/>
          </a:solidFill>
          <a:ln w="9525">
            <a:solidFill>
              <a:srgbClr val="E2E8F0"/>
            </a:solidFill>
            <a:prstDash val="solid"/>
          </a:ln>
        </p:spPr>
      </p:sp>
      <p:sp>
        <p:nvSpPr>
          <p:cNvPr id="60" name="Shape 58"/>
          <p:cNvSpPr/>
          <p:nvPr/>
        </p:nvSpPr>
        <p:spPr>
          <a:xfrm>
            <a:off x="9372600" y="5001768"/>
            <a:ext cx="365760" cy="365760"/>
          </a:xfrm>
          <a:prstGeom prst="ellipse">
            <a:avLst/>
          </a:prstGeom>
          <a:solidFill>
            <a:srgbClr val="EEF2FF"/>
          </a:solidFill>
          <a:ln w="12700">
            <a:solidFill>
              <a:srgbClr val="4F46E5"/>
            </a:solidFill>
            <a:prstDash val="solid"/>
          </a:ln>
        </p:spPr>
      </p:sp>
      <p:sp>
        <p:nvSpPr>
          <p:cNvPr id="61" name="Text 59"/>
          <p:cNvSpPr/>
          <p:nvPr/>
        </p:nvSpPr>
        <p:spPr>
          <a:xfrm>
            <a:off x="9372600" y="5001768"/>
            <a:ext cx="365760" cy="365760"/>
          </a:xfrm>
          <a:prstGeom prst="rect">
            <a:avLst/>
          </a:prstGeom>
          <a:noFill/>
          <a:ln/>
        </p:spPr>
        <p:txBody>
          <a:bodyPr wrap="square" rtlCol="0" anchor="ctr"/>
          <a:lstStyle/>
          <a:p>
            <a:pPr algn="ctr" indent="0" marL="0">
              <a:buNone/>
            </a:pPr>
            <a:r>
              <a:rPr lang="en-US" sz="1400" b="1" dirty="0">
                <a:solidFill>
                  <a:srgbClr val="4F46E5"/>
                </a:solidFill>
                <a:latin typeface="DM Sans" pitchFamily="34" charset="0"/>
                <a:ea typeface="DM Sans" pitchFamily="34" charset="-122"/>
                <a:cs typeface="DM Sans" pitchFamily="34" charset="-120"/>
              </a:rPr>
              <a:t>✓</a:t>
            </a:r>
            <a:endParaRPr lang="en-US" sz="1400" dirty="0"/>
          </a:p>
        </p:txBody>
      </p:sp>
      <p:sp>
        <p:nvSpPr>
          <p:cNvPr id="62" name="Text 60"/>
          <p:cNvSpPr/>
          <p:nvPr/>
        </p:nvSpPr>
        <p:spPr>
          <a:xfrm>
            <a:off x="9829800" y="4800600"/>
            <a:ext cx="1828800" cy="38404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Status page</a:t>
            </a:r>
            <a:endParaRPr lang="en-US" sz="1300" dirty="0"/>
          </a:p>
        </p:txBody>
      </p:sp>
      <p:sp>
        <p:nvSpPr>
          <p:cNvPr id="63" name="Text 61"/>
          <p:cNvSpPr/>
          <p:nvPr/>
        </p:nvSpPr>
        <p:spPr>
          <a:xfrm>
            <a:off x="9829800" y="5166360"/>
            <a:ext cx="1828800" cy="502920"/>
          </a:xfrm>
          <a:prstGeom prst="rect">
            <a:avLst/>
          </a:prstGeom>
          <a:noFill/>
          <a:ln/>
        </p:spPr>
        <p:txBody>
          <a:bodyPr wrap="square" rtlCol="0" anchor="ctr"/>
          <a:lstStyle/>
          <a:p>
            <a:pPr indent="0" marL="0">
              <a:lnSpc>
                <a:spcPct val="125000"/>
              </a:lnSpc>
              <a:buNone/>
            </a:pPr>
            <a:r>
              <a:rPr lang="en-US" sz="1000" dirty="0">
                <a:solidFill>
                  <a:srgbClr val="64748B"/>
                </a:solidFill>
                <a:latin typeface="DM Sans" pitchFamily="34" charset="0"/>
                <a:ea typeface="DM Sans" pitchFamily="34" charset="-122"/>
                <a:cs typeface="DM Sans" pitchFamily="34" charset="-120"/>
              </a:rPr>
              <a:t>status.hatchik.com</a:t>
            </a:r>
            <a:endParaRPr lang="en-US" sz="1000" dirty="0"/>
          </a:p>
        </p:txBody>
      </p:sp>
      <p:sp>
        <p:nvSpPr>
          <p:cNvPr id="64" name="Text 62"/>
          <p:cNvSpPr/>
          <p:nvPr/>
        </p:nvSpPr>
        <p:spPr>
          <a:xfrm>
            <a:off x="502920" y="6080760"/>
            <a:ext cx="10972800" cy="274320"/>
          </a:xfrm>
          <a:prstGeom prst="rect">
            <a:avLst/>
          </a:prstGeom>
          <a:noFill/>
          <a:ln/>
        </p:spPr>
        <p:txBody>
          <a:bodyPr wrap="square" rtlCol="0" anchor="ctr"/>
          <a:lstStyle/>
          <a:p>
            <a:pPr algn="ctr" indent="0" marL="0">
              <a:buNone/>
            </a:pPr>
            <a:r>
              <a:rPr lang="en-US" sz="1000" i="1" dirty="0">
                <a:solidFill>
                  <a:srgbClr val="64748B"/>
                </a:solidFill>
                <a:latin typeface="DM Sans" pitchFamily="34" charset="0"/>
                <a:ea typeface="DM Sans" pitchFamily="34" charset="-122"/>
                <a:cs typeface="DM Sans" pitchFamily="34" charset="-120"/>
              </a:rPr>
              <a:t>Every tile is shipping today. Cross-referenced against FIRST_CUSTOMER_RUNBOOK.md.</a:t>
            </a:r>
            <a:endParaRPr lang="en-US" sz="1000" dirty="0"/>
          </a:p>
        </p:txBody>
      </p:sp>
      <p:sp>
        <p:nvSpPr>
          <p:cNvPr id="65" name="Text 63"/>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66" name="Text 64"/>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07  ·  MARKET</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TAM, SAM, SOM — sized from public AI-coder tool numbers.</a:t>
            </a:r>
            <a:endParaRPr lang="en-US" sz="3000" dirty="0"/>
          </a:p>
        </p:txBody>
      </p:sp>
      <p:sp>
        <p:nvSpPr>
          <p:cNvPr id="4" name="Shape 2"/>
          <p:cNvSpPr/>
          <p:nvPr/>
        </p:nvSpPr>
        <p:spPr>
          <a:xfrm>
            <a:off x="502920" y="2011680"/>
            <a:ext cx="3611880" cy="3840480"/>
          </a:xfrm>
          <a:prstGeom prst="roundRect">
            <a:avLst>
              <a:gd name="adj" fmla="val 2025"/>
            </a:avLst>
          </a:prstGeom>
          <a:solidFill>
            <a:srgbClr val="EEF2FF"/>
          </a:solidFill>
          <a:ln w="12700">
            <a:solidFill>
              <a:srgbClr val="4F46E5"/>
            </a:solidFill>
            <a:prstDash val="solid"/>
          </a:ln>
        </p:spPr>
      </p:sp>
      <p:sp>
        <p:nvSpPr>
          <p:cNvPr id="5" name="Text 3"/>
          <p:cNvSpPr/>
          <p:nvPr/>
        </p:nvSpPr>
        <p:spPr>
          <a:xfrm>
            <a:off x="777240" y="2286000"/>
            <a:ext cx="3154680" cy="292608"/>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TAM — total addressable</a:t>
            </a:r>
            <a:endParaRPr lang="en-US" sz="900" dirty="0"/>
          </a:p>
        </p:txBody>
      </p:sp>
      <p:sp>
        <p:nvSpPr>
          <p:cNvPr id="6" name="Text 4"/>
          <p:cNvSpPr/>
          <p:nvPr/>
        </p:nvSpPr>
        <p:spPr>
          <a:xfrm>
            <a:off x="777240" y="2788920"/>
            <a:ext cx="3154680" cy="1280160"/>
          </a:xfrm>
          <a:prstGeom prst="rect">
            <a:avLst/>
          </a:prstGeom>
          <a:noFill/>
          <a:ln/>
        </p:spPr>
        <p:txBody>
          <a:bodyPr wrap="square" rtlCol="0" anchor="ctr"/>
          <a:lstStyle/>
          <a:p>
            <a:pPr indent="0" marL="0">
              <a:buNone/>
            </a:pPr>
            <a:r>
              <a:rPr lang="en-US" sz="6400" b="1" dirty="0">
                <a:solidFill>
                  <a:srgbClr val="0F172A"/>
                </a:solidFill>
                <a:latin typeface="DM Sans" pitchFamily="34" charset="0"/>
                <a:ea typeface="DM Sans" pitchFamily="34" charset="-122"/>
                <a:cs typeface="DM Sans" pitchFamily="34" charset="-120"/>
              </a:rPr>
              <a:t>~310K</a:t>
            </a:r>
            <a:endParaRPr lang="en-US" sz="6400" dirty="0"/>
          </a:p>
        </p:txBody>
      </p:sp>
      <p:sp>
        <p:nvSpPr>
          <p:cNvPr id="7" name="Text 5"/>
          <p:cNvSpPr/>
          <p:nvPr/>
        </p:nvSpPr>
        <p:spPr>
          <a:xfrm>
            <a:off x="777240" y="4206240"/>
            <a:ext cx="315468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users globally  ·  £56M/yr today</a:t>
            </a:r>
            <a:endParaRPr lang="en-US" sz="1200" dirty="0"/>
          </a:p>
        </p:txBody>
      </p:sp>
      <p:sp>
        <p:nvSpPr>
          <p:cNvPr id="8" name="Text 6"/>
          <p:cNvSpPr/>
          <p:nvPr/>
        </p:nvSpPr>
        <p:spPr>
          <a:xfrm>
            <a:off x="777240" y="4709160"/>
            <a:ext cx="3154680" cy="100584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AI-coder ICP, blended £180 ARPU. 2027 projection: £200M+/yr.</a:t>
            </a:r>
            <a:endParaRPr lang="en-US" sz="1100" dirty="0"/>
          </a:p>
        </p:txBody>
      </p:sp>
      <p:sp>
        <p:nvSpPr>
          <p:cNvPr id="9" name="Shape 7"/>
          <p:cNvSpPr/>
          <p:nvPr/>
        </p:nvSpPr>
        <p:spPr>
          <a:xfrm>
            <a:off x="4297680" y="2011680"/>
            <a:ext cx="3611880" cy="3840480"/>
          </a:xfrm>
          <a:prstGeom prst="roundRect">
            <a:avLst>
              <a:gd name="adj" fmla="val 2025"/>
            </a:avLst>
          </a:prstGeom>
          <a:solidFill>
            <a:srgbClr val="FEF3C7"/>
          </a:solidFill>
          <a:ln w="12700">
            <a:solidFill>
              <a:srgbClr val="F59E0B"/>
            </a:solidFill>
            <a:prstDash val="solid"/>
          </a:ln>
        </p:spPr>
      </p:sp>
      <p:sp>
        <p:nvSpPr>
          <p:cNvPr id="10" name="Text 8"/>
          <p:cNvSpPr/>
          <p:nvPr/>
        </p:nvSpPr>
        <p:spPr>
          <a:xfrm>
            <a:off x="4572000" y="2286000"/>
            <a:ext cx="3154680" cy="292608"/>
          </a:xfrm>
          <a:prstGeom prst="rect">
            <a:avLst/>
          </a:prstGeom>
          <a:noFill/>
          <a:ln/>
        </p:spPr>
        <p:txBody>
          <a:bodyPr wrap="square" rtlCol="0" anchor="ctr"/>
          <a:lstStyle/>
          <a:p>
            <a:pPr indent="0" marL="0">
              <a:buNone/>
            </a:pPr>
            <a:r>
              <a:rPr lang="en-US" sz="900" b="1" spc="400" kern="0" dirty="0">
                <a:solidFill>
                  <a:srgbClr val="F59E0B"/>
                </a:solidFill>
                <a:latin typeface="JetBrains Mono" pitchFamily="34" charset="0"/>
                <a:ea typeface="JetBrains Mono" pitchFamily="34" charset="-122"/>
                <a:cs typeface="JetBrains Mono" pitchFamily="34" charset="-120"/>
              </a:rPr>
              <a:t>SAM — serviceable</a:t>
            </a:r>
            <a:endParaRPr lang="en-US" sz="900" dirty="0"/>
          </a:p>
        </p:txBody>
      </p:sp>
      <p:sp>
        <p:nvSpPr>
          <p:cNvPr id="11" name="Text 9"/>
          <p:cNvSpPr/>
          <p:nvPr/>
        </p:nvSpPr>
        <p:spPr>
          <a:xfrm>
            <a:off x="4572000" y="2788920"/>
            <a:ext cx="3154680" cy="1280160"/>
          </a:xfrm>
          <a:prstGeom prst="rect">
            <a:avLst/>
          </a:prstGeom>
          <a:noFill/>
          <a:ln/>
        </p:spPr>
        <p:txBody>
          <a:bodyPr wrap="square" rtlCol="0" anchor="ctr"/>
          <a:lstStyle/>
          <a:p>
            <a:pPr indent="0" marL="0">
              <a:buNone/>
            </a:pPr>
            <a:r>
              <a:rPr lang="en-US" sz="6400" b="1" dirty="0">
                <a:solidFill>
                  <a:srgbClr val="0F172A"/>
                </a:solidFill>
                <a:latin typeface="DM Sans" pitchFamily="34" charset="0"/>
                <a:ea typeface="DM Sans" pitchFamily="34" charset="-122"/>
                <a:cs typeface="DM Sans" pitchFamily="34" charset="-120"/>
              </a:rPr>
              <a:t>~190K</a:t>
            </a:r>
            <a:endParaRPr lang="en-US" sz="6400" dirty="0"/>
          </a:p>
        </p:txBody>
      </p:sp>
      <p:sp>
        <p:nvSpPr>
          <p:cNvPr id="12" name="Text 10"/>
          <p:cNvSpPr/>
          <p:nvPr/>
        </p:nvSpPr>
        <p:spPr>
          <a:xfrm>
            <a:off x="4572000" y="4206240"/>
            <a:ext cx="315468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users  ·  £34M/yr → £120M/yr by 2027</a:t>
            </a:r>
            <a:endParaRPr lang="en-US" sz="1200" dirty="0"/>
          </a:p>
        </p:txBody>
      </p:sp>
      <p:sp>
        <p:nvSpPr>
          <p:cNvPr id="13" name="Text 11"/>
          <p:cNvSpPr/>
          <p:nvPr/>
        </p:nvSpPr>
        <p:spPr>
          <a:xfrm>
            <a:off x="4572000" y="4709160"/>
            <a:ext cx="3154680" cy="100584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English-first, Paddle-eligible geo, &lt;200ms latency from Hetzner NBG1.</a:t>
            </a:r>
            <a:endParaRPr lang="en-US" sz="1100" dirty="0"/>
          </a:p>
        </p:txBody>
      </p:sp>
      <p:sp>
        <p:nvSpPr>
          <p:cNvPr id="14" name="Shape 12"/>
          <p:cNvSpPr/>
          <p:nvPr/>
        </p:nvSpPr>
        <p:spPr>
          <a:xfrm>
            <a:off x="8092440" y="2011680"/>
            <a:ext cx="3611880" cy="3840480"/>
          </a:xfrm>
          <a:prstGeom prst="roundRect">
            <a:avLst>
              <a:gd name="adj" fmla="val 2025"/>
            </a:avLst>
          </a:prstGeom>
          <a:solidFill>
            <a:srgbClr val="ECFDF5"/>
          </a:solidFill>
          <a:ln w="12700">
            <a:solidFill>
              <a:srgbClr val="10B981"/>
            </a:solidFill>
            <a:prstDash val="solid"/>
          </a:ln>
        </p:spPr>
      </p:sp>
      <p:sp>
        <p:nvSpPr>
          <p:cNvPr id="15" name="Text 13"/>
          <p:cNvSpPr/>
          <p:nvPr/>
        </p:nvSpPr>
        <p:spPr>
          <a:xfrm>
            <a:off x="8366760" y="2286000"/>
            <a:ext cx="3154680" cy="292608"/>
          </a:xfrm>
          <a:prstGeom prst="rect">
            <a:avLst/>
          </a:prstGeom>
          <a:noFill/>
          <a:ln/>
        </p:spPr>
        <p:txBody>
          <a:bodyPr wrap="square" rtlCol="0" anchor="ctr"/>
          <a:lstStyle/>
          <a:p>
            <a:pPr indent="0" marL="0">
              <a:buNone/>
            </a:pPr>
            <a:r>
              <a:rPr lang="en-US" sz="900" b="1" spc="400" kern="0" dirty="0">
                <a:solidFill>
                  <a:srgbClr val="10B981"/>
                </a:solidFill>
                <a:latin typeface="JetBrains Mono" pitchFamily="34" charset="0"/>
                <a:ea typeface="JetBrains Mono" pitchFamily="34" charset="-122"/>
                <a:cs typeface="JetBrains Mono" pitchFamily="34" charset="-120"/>
              </a:rPr>
              <a:t>SOM — 12-18 month sprint</a:t>
            </a:r>
            <a:endParaRPr lang="en-US" sz="900" dirty="0"/>
          </a:p>
        </p:txBody>
      </p:sp>
      <p:sp>
        <p:nvSpPr>
          <p:cNvPr id="16" name="Text 14"/>
          <p:cNvSpPr/>
          <p:nvPr/>
        </p:nvSpPr>
        <p:spPr>
          <a:xfrm>
            <a:off x="8366760" y="2788920"/>
            <a:ext cx="3154680" cy="1280160"/>
          </a:xfrm>
          <a:prstGeom prst="rect">
            <a:avLst/>
          </a:prstGeom>
          <a:noFill/>
          <a:ln/>
        </p:spPr>
        <p:txBody>
          <a:bodyPr wrap="square" rtlCol="0" anchor="ctr"/>
          <a:lstStyle/>
          <a:p>
            <a:pPr indent="0" marL="0">
              <a:buNone/>
            </a:pPr>
            <a:r>
              <a:rPr lang="en-US" sz="6400" b="1" dirty="0">
                <a:solidFill>
                  <a:srgbClr val="0F172A"/>
                </a:solidFill>
                <a:latin typeface="DM Sans" pitchFamily="34" charset="0"/>
                <a:ea typeface="DM Sans" pitchFamily="34" charset="-122"/>
                <a:cs typeface="DM Sans" pitchFamily="34" charset="-120"/>
              </a:rPr>
              <a:t>5–15K</a:t>
            </a:r>
            <a:endParaRPr lang="en-US" sz="6400" dirty="0"/>
          </a:p>
        </p:txBody>
      </p:sp>
      <p:sp>
        <p:nvSpPr>
          <p:cNvPr id="17" name="Text 15"/>
          <p:cNvSpPr/>
          <p:nvPr/>
        </p:nvSpPr>
        <p:spPr>
          <a:xfrm>
            <a:off x="8366760" y="4206240"/>
            <a:ext cx="315468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paying customers by month 18</a:t>
            </a:r>
            <a:endParaRPr lang="en-US" sz="1200" dirty="0"/>
          </a:p>
        </p:txBody>
      </p:sp>
      <p:sp>
        <p:nvSpPr>
          <p:cNvPr id="18" name="Text 16"/>
          <p:cNvSpPr/>
          <p:nvPr/>
        </p:nvSpPr>
        <p:spPr>
          <a:xfrm>
            <a:off x="8366760" y="4709160"/>
            <a:ext cx="3154680" cy="100584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Sprint base: ~5K paying by month 12. Sprint upside: ~15K paying by month 18.</a:t>
            </a:r>
            <a:endParaRPr lang="en-US" sz="1100" dirty="0"/>
          </a:p>
        </p:txBody>
      </p:sp>
      <p:sp>
        <p:nvSpPr>
          <p:cNvPr id="19" name="Text 17"/>
          <p:cNvSpPr/>
          <p:nvPr/>
        </p:nvSpPr>
        <p:spPr>
          <a:xfrm>
            <a:off x="502920" y="5989320"/>
            <a:ext cx="10972800" cy="182880"/>
          </a:xfrm>
          <a:prstGeom prst="rect">
            <a:avLst/>
          </a:prstGeom>
          <a:noFill/>
          <a:ln/>
        </p:spPr>
        <p:txBody>
          <a:bodyPr wrap="square" rtlCol="0" anchor="ctr"/>
          <a:lstStyle/>
          <a:p>
            <a:pPr indent="0" marL="0">
              <a:buNone/>
            </a:pPr>
            <a:r>
              <a:rPr lang="en-US" sz="900" i="1" dirty="0">
                <a:solidFill>
                  <a:srgbClr val="64748B"/>
                </a:solidFill>
                <a:latin typeface="DM Sans" pitchFamily="34" charset="0"/>
                <a:ea typeface="DM Sans" pitchFamily="34" charset="-122"/>
                <a:cs typeface="DM Sans" pitchFamily="34" charset="-120"/>
              </a:rPr>
              <a:t>SOM at acquisition is a different number than SOM at steady-state — see slide 15 landing zones.</a:t>
            </a:r>
            <a:endParaRPr lang="en-US" sz="900" dirty="0"/>
          </a:p>
        </p:txBody>
      </p:sp>
      <p:sp>
        <p:nvSpPr>
          <p:cNvPr id="20" name="Text 18"/>
          <p:cNvSpPr/>
          <p:nvPr/>
        </p:nvSpPr>
        <p:spPr>
          <a:xfrm>
            <a:off x="502920" y="6199632"/>
            <a:ext cx="10972800" cy="182880"/>
          </a:xfrm>
          <a:prstGeom prst="rect">
            <a:avLst/>
          </a:prstGeom>
          <a:noFill/>
          <a:ln/>
        </p:spPr>
        <p:txBody>
          <a:bodyPr wrap="square" rtlCol="0" anchor="ctr"/>
          <a:lstStyle/>
          <a:p>
            <a:pPr indent="0" marL="0">
              <a:buNone/>
            </a:pPr>
            <a:r>
              <a:rPr lang="en-US" sz="800" i="1" dirty="0">
                <a:solidFill>
                  <a:srgbClr val="94A3B8"/>
                </a:solidFill>
                <a:latin typeface="DM Sans" pitchFamily="34" charset="0"/>
                <a:ea typeface="DM Sans" pitchFamily="34" charset="-122"/>
                <a:cs typeface="DM Sans" pitchFamily="34" charset="-120"/>
              </a:rPr>
              <a:t>Sources: TAM/SAM from MARKETING_PLAN §2-3. Sprint scenarios anchored on Cursor / Lovable / Bolt curves.</a:t>
            </a:r>
            <a:endParaRPr lang="en-US" sz="800" dirty="0"/>
          </a:p>
        </p:txBody>
      </p:sp>
      <p:sp>
        <p:nvSpPr>
          <p:cNvPr id="21" name="Text 19"/>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22" name="Text 20"/>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08  ·  COMPETITIVE LANDSCAPE</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Hatchik vs AI builders vs infra players vs AI labs.</a:t>
            </a:r>
            <a:endParaRPr lang="en-US" sz="3000" dirty="0"/>
          </a:p>
        </p:txBody>
      </p:sp>
      <p:sp>
        <p:nvSpPr>
          <p:cNvPr id="4" name="Text 2"/>
          <p:cNvSpPr/>
          <p:nvPr/>
        </p:nvSpPr>
        <p:spPr>
          <a:xfrm>
            <a:off x="502920" y="1417320"/>
            <a:ext cx="11155680" cy="777240"/>
          </a:xfrm>
          <a:prstGeom prst="rect">
            <a:avLst/>
          </a:prstGeom>
          <a:noFill/>
          <a:ln/>
        </p:spPr>
        <p:txBody>
          <a:bodyPr wrap="square" rtlCol="0" anchor="ctr"/>
          <a:lstStyle/>
          <a:p>
            <a:pPr indent="0" marL="0">
              <a:buNone/>
            </a:pPr>
            <a:r>
              <a:rPr lang="en-US" sz="1400" dirty="0">
                <a:solidFill>
                  <a:srgbClr val="334155"/>
                </a:solidFill>
                <a:latin typeface="DM Sans" pitchFamily="34" charset="0"/>
                <a:ea typeface="DM Sans" pitchFamily="34" charset="-122"/>
                <a:cs typeface="DM Sans" pitchFamily="34" charset="-120"/>
              </a:rPr>
              <a:t>Two adjacent layers exist. AI builders own the chat-to-prototype loop; infra players own the deploy-runtime loop. No one owns the production-substrate-with-real-business-plumbing-already-wired layer that the AI coder customer needs.</a:t>
            </a:r>
            <a:endParaRPr lang="en-US" sz="1400" dirty="0"/>
          </a:p>
        </p:txBody>
      </p:sp>
      <p:sp>
        <p:nvSpPr>
          <p:cNvPr id="5" name="Shape 3"/>
          <p:cNvSpPr/>
          <p:nvPr/>
        </p:nvSpPr>
        <p:spPr>
          <a:xfrm>
            <a:off x="502920" y="2423160"/>
            <a:ext cx="5577840" cy="3657600"/>
          </a:xfrm>
          <a:prstGeom prst="roundRect">
            <a:avLst>
              <a:gd name="adj" fmla="val 2000"/>
            </a:avLst>
          </a:prstGeom>
          <a:solidFill>
            <a:srgbClr val="FEF3C7"/>
          </a:solidFill>
          <a:ln w="12700">
            <a:solidFill>
              <a:srgbClr val="F59E0B"/>
            </a:solidFill>
            <a:prstDash val="solid"/>
          </a:ln>
        </p:spPr>
      </p:sp>
      <p:sp>
        <p:nvSpPr>
          <p:cNvPr id="6" name="Text 4"/>
          <p:cNvSpPr/>
          <p:nvPr/>
        </p:nvSpPr>
        <p:spPr>
          <a:xfrm>
            <a:off x="777240" y="2651760"/>
            <a:ext cx="5120640" cy="274320"/>
          </a:xfrm>
          <a:prstGeom prst="rect">
            <a:avLst/>
          </a:prstGeom>
          <a:noFill/>
          <a:ln/>
        </p:spPr>
        <p:txBody>
          <a:bodyPr wrap="square" rtlCol="0" anchor="ctr"/>
          <a:lstStyle/>
          <a:p>
            <a:pPr indent="0" marL="0">
              <a:buNone/>
            </a:pPr>
            <a:r>
              <a:rPr lang="en-US" sz="900" b="1" spc="400" kern="0" dirty="0">
                <a:solidFill>
                  <a:srgbClr val="B45309"/>
                </a:solidFill>
                <a:latin typeface="JetBrains Mono" pitchFamily="34" charset="0"/>
                <a:ea typeface="JetBrains Mono" pitchFamily="34" charset="-122"/>
                <a:cs typeface="JetBrains Mono" pitchFamily="34" charset="-120"/>
              </a:rPr>
              <a:t>AI BUILDERS</a:t>
            </a:r>
            <a:endParaRPr lang="en-US" sz="900" dirty="0"/>
          </a:p>
        </p:txBody>
      </p:sp>
      <p:sp>
        <p:nvSpPr>
          <p:cNvPr id="7" name="Text 5"/>
          <p:cNvSpPr/>
          <p:nvPr/>
        </p:nvSpPr>
        <p:spPr>
          <a:xfrm>
            <a:off x="777240" y="2971800"/>
            <a:ext cx="5120640" cy="274320"/>
          </a:xfrm>
          <a:prstGeom prst="rect">
            <a:avLst/>
          </a:prstGeom>
          <a:noFill/>
          <a:ln/>
        </p:spPr>
        <p:txBody>
          <a:bodyPr wrap="square" rtlCol="0" anchor="ctr"/>
          <a:lstStyle/>
          <a:p>
            <a:pPr indent="0" marL="0">
              <a:buNone/>
            </a:pPr>
            <a:r>
              <a:rPr lang="en-US" sz="1200" b="1" dirty="0">
                <a:solidFill>
                  <a:srgbClr val="0F172A"/>
                </a:solidFill>
                <a:latin typeface="DM Sans" pitchFamily="34" charset="0"/>
                <a:ea typeface="DM Sans" pitchFamily="34" charset="-122"/>
                <a:cs typeface="DM Sans" pitchFamily="34" charset="-120"/>
              </a:rPr>
              <a:t>Lovable · Bolt · v0 · Replit Agent · Pi App Studio · Bubble</a:t>
            </a:r>
            <a:endParaRPr lang="en-US" sz="1200" dirty="0"/>
          </a:p>
        </p:txBody>
      </p:sp>
      <p:sp>
        <p:nvSpPr>
          <p:cNvPr id="8" name="Text 6"/>
          <p:cNvSpPr/>
          <p:nvPr/>
        </p:nvSpPr>
        <p:spPr>
          <a:xfrm>
            <a:off x="777240" y="3383280"/>
            <a:ext cx="5120640" cy="2560320"/>
          </a:xfrm>
          <a:prstGeom prst="rect">
            <a:avLst/>
          </a:prstGeom>
          <a:noFill/>
          <a:ln/>
        </p:spPr>
        <p:txBody>
          <a:bodyPr wrap="square" rtlCol="0" anchor="ctr"/>
          <a:lstStyle/>
          <a:p>
            <a:pPr marL="342900" indent="-342900">
              <a:lnSpc>
                <a:spcPct val="140000"/>
              </a:lnSpc>
              <a:spcAft>
                <a:spcPts val="600"/>
              </a:spcAft>
              <a:buSzPct val="100000"/>
              <a:buChar char="●"/>
            </a:pPr>
            <a:r>
              <a:rPr lang="en-US" sz="1100" dirty="0">
                <a:solidFill>
                  <a:srgbClr val="334155"/>
                </a:solidFill>
                <a:latin typeface="DM Sans" pitchFamily="34" charset="0"/>
                <a:ea typeface="DM Sans" pitchFamily="34" charset="-122"/>
                <a:cs typeface="DM Sans" pitchFamily="34" charset="-120"/>
              </a:rPr>
              <a:t>Their AI, their chat, their runtime — you don’t bring Cursor.</a:t>
            </a:r>
            <a:endParaRPr lang="en-US" sz="1100" dirty="0"/>
          </a:p>
          <a:p>
            <a:pPr marL="342900" indent="-342900">
              <a:lnSpc>
                <a:spcPct val="140000"/>
              </a:lnSpc>
              <a:spcAft>
                <a:spcPts val="600"/>
              </a:spcAft>
              <a:buSzPct val="100000"/>
              <a:buChar char="●"/>
            </a:pPr>
            <a:r>
              <a:rPr lang="en-US" sz="1100" dirty="0">
                <a:solidFill>
                  <a:srgbClr val="334155"/>
                </a:solidFill>
                <a:latin typeface="DM Sans" pitchFamily="34" charset="0"/>
                <a:ea typeface="DM Sans" pitchFamily="34" charset="-122"/>
                <a:cs typeface="DM Sans" pitchFamily="34" charset="-120"/>
              </a:rPr>
              <a:t>Code lives in their walled garden; export friction is real.</a:t>
            </a:r>
            <a:endParaRPr lang="en-US" sz="1100" dirty="0"/>
          </a:p>
          <a:p>
            <a:pPr marL="342900" indent="-342900">
              <a:lnSpc>
                <a:spcPct val="140000"/>
              </a:lnSpc>
              <a:spcAft>
                <a:spcPts val="600"/>
              </a:spcAft>
              <a:buSzPct val="100000"/>
              <a:buChar char="●"/>
            </a:pPr>
            <a:r>
              <a:rPr lang="en-US" sz="1100" dirty="0">
                <a:solidFill>
                  <a:srgbClr val="334155"/>
                </a:solidFill>
                <a:latin typeface="DM Sans" pitchFamily="34" charset="0"/>
                <a:ea typeface="DM Sans" pitchFamily="34" charset="-122"/>
                <a:cs typeface="DM Sans" pitchFamily="34" charset="-120"/>
              </a:rPr>
              <a:t>No auth/payments/mail wiring; "deploys" mean their hosted preview.</a:t>
            </a:r>
            <a:endParaRPr lang="en-US" sz="1100" dirty="0"/>
          </a:p>
          <a:p>
            <a:pPr marL="342900" indent="-342900">
              <a:lnSpc>
                <a:spcPct val="140000"/>
              </a:lnSpc>
              <a:spcAft>
                <a:spcPts val="600"/>
              </a:spcAft>
              <a:buSzPct val="100000"/>
              <a:buChar char="●"/>
            </a:pPr>
            <a:r>
              <a:rPr lang="en-US" sz="1100" dirty="0">
                <a:solidFill>
                  <a:srgbClr val="334155"/>
                </a:solidFill>
                <a:latin typeface="DM Sans" pitchFamily="34" charset="0"/>
                <a:ea typeface="DM Sans" pitchFamily="34" charset="-122"/>
                <a:cs typeface="DM Sans" pitchFamily="34" charset="-120"/>
              </a:rPr>
              <a:t>Where Hatchik wins: BYO AI tool, real GitHub repo, real production stack.</a:t>
            </a:r>
            <a:endParaRPr lang="en-US" sz="1100" dirty="0"/>
          </a:p>
        </p:txBody>
      </p:sp>
      <p:sp>
        <p:nvSpPr>
          <p:cNvPr id="9" name="Shape 7"/>
          <p:cNvSpPr/>
          <p:nvPr/>
        </p:nvSpPr>
        <p:spPr>
          <a:xfrm>
            <a:off x="6263640" y="2423160"/>
            <a:ext cx="5577840" cy="3657600"/>
          </a:xfrm>
          <a:prstGeom prst="roundRect">
            <a:avLst>
              <a:gd name="adj" fmla="val 2000"/>
            </a:avLst>
          </a:prstGeom>
          <a:solidFill>
            <a:srgbClr val="EEF2FF"/>
          </a:solidFill>
          <a:ln w="12700">
            <a:solidFill>
              <a:srgbClr val="4F46E5"/>
            </a:solidFill>
            <a:prstDash val="solid"/>
          </a:ln>
        </p:spPr>
      </p:sp>
      <p:sp>
        <p:nvSpPr>
          <p:cNvPr id="10" name="Text 8"/>
          <p:cNvSpPr/>
          <p:nvPr/>
        </p:nvSpPr>
        <p:spPr>
          <a:xfrm>
            <a:off x="6537960" y="2651760"/>
            <a:ext cx="5120640" cy="274320"/>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INFRA / DEPLOY PLAYERS</a:t>
            </a:r>
            <a:endParaRPr lang="en-US" sz="900" dirty="0"/>
          </a:p>
        </p:txBody>
      </p:sp>
      <p:sp>
        <p:nvSpPr>
          <p:cNvPr id="11" name="Text 9"/>
          <p:cNvSpPr/>
          <p:nvPr/>
        </p:nvSpPr>
        <p:spPr>
          <a:xfrm>
            <a:off x="6537960" y="2971800"/>
            <a:ext cx="5120640" cy="274320"/>
          </a:xfrm>
          <a:prstGeom prst="rect">
            <a:avLst/>
          </a:prstGeom>
          <a:noFill/>
          <a:ln/>
        </p:spPr>
        <p:txBody>
          <a:bodyPr wrap="square" rtlCol="0" anchor="ctr"/>
          <a:lstStyle/>
          <a:p>
            <a:pPr indent="0" marL="0">
              <a:buNone/>
            </a:pPr>
            <a:r>
              <a:rPr lang="en-US" sz="1200" b="1" dirty="0">
                <a:solidFill>
                  <a:srgbClr val="0F172A"/>
                </a:solidFill>
                <a:latin typeface="DM Sans" pitchFamily="34" charset="0"/>
                <a:ea typeface="DM Sans" pitchFamily="34" charset="-122"/>
                <a:cs typeface="DM Sans" pitchFamily="34" charset="-120"/>
              </a:rPr>
              <a:t>Vercel · Render · Railway · Fly.io · Heroku · DO App Platform</a:t>
            </a:r>
            <a:endParaRPr lang="en-US" sz="1200" dirty="0"/>
          </a:p>
        </p:txBody>
      </p:sp>
      <p:sp>
        <p:nvSpPr>
          <p:cNvPr id="12" name="Text 10"/>
          <p:cNvSpPr/>
          <p:nvPr/>
        </p:nvSpPr>
        <p:spPr>
          <a:xfrm>
            <a:off x="6537960" y="3383280"/>
            <a:ext cx="5120640" cy="2560320"/>
          </a:xfrm>
          <a:prstGeom prst="rect">
            <a:avLst/>
          </a:prstGeom>
          <a:noFill/>
          <a:ln/>
        </p:spPr>
        <p:txBody>
          <a:bodyPr wrap="square" rtlCol="0" anchor="ctr"/>
          <a:lstStyle/>
          <a:p>
            <a:pPr marL="342900" indent="-342900">
              <a:lnSpc>
                <a:spcPct val="140000"/>
              </a:lnSpc>
              <a:spcAft>
                <a:spcPts val="600"/>
              </a:spcAft>
              <a:buSzPct val="100000"/>
              <a:buChar char="●"/>
            </a:pPr>
            <a:r>
              <a:rPr lang="en-US" sz="1100" dirty="0">
                <a:solidFill>
                  <a:srgbClr val="334155"/>
                </a:solidFill>
                <a:latin typeface="DM Sans" pitchFamily="34" charset="0"/>
                <a:ea typeface="DM Sans" pitchFamily="34" charset="-122"/>
                <a:cs typeface="DM Sans" pitchFamily="34" charset="-120"/>
              </a:rPr>
              <a:t>Deploy your code, run your runtime — but auth, mail, payments, mobile are your problem.</a:t>
            </a:r>
            <a:endParaRPr lang="en-US" sz="1100" dirty="0"/>
          </a:p>
          <a:p>
            <a:pPr marL="342900" indent="-342900">
              <a:lnSpc>
                <a:spcPct val="140000"/>
              </a:lnSpc>
              <a:spcAft>
                <a:spcPts val="600"/>
              </a:spcAft>
              <a:buSzPct val="100000"/>
              <a:buChar char="●"/>
            </a:pPr>
            <a:r>
              <a:rPr lang="en-US" sz="1100" dirty="0">
                <a:solidFill>
                  <a:srgbClr val="334155"/>
                </a:solidFill>
                <a:latin typeface="DM Sans" pitchFamily="34" charset="0"/>
                <a:ea typeface="DM Sans" pitchFamily="34" charset="-122"/>
                <a:cs typeface="DM Sans" pitchFamily="34" charset="-120"/>
              </a:rPr>
              <a:t>Built for engineers. Non-tech founder cannot stitch a SaaS together here.</a:t>
            </a:r>
            <a:endParaRPr lang="en-US" sz="1100" dirty="0"/>
          </a:p>
          <a:p>
            <a:pPr marL="342900" indent="-342900">
              <a:lnSpc>
                <a:spcPct val="140000"/>
              </a:lnSpc>
              <a:spcAft>
                <a:spcPts val="600"/>
              </a:spcAft>
              <a:buSzPct val="100000"/>
              <a:buChar char="●"/>
            </a:pPr>
            <a:r>
              <a:rPr lang="en-US" sz="1100" dirty="0">
                <a:solidFill>
                  <a:srgbClr val="334155"/>
                </a:solidFill>
                <a:latin typeface="DM Sans" pitchFamily="34" charset="0"/>
                <a:ea typeface="DM Sans" pitchFamily="34" charset="-122"/>
                <a:cs typeface="DM Sans" pitchFamily="34" charset="-120"/>
              </a:rPr>
              <a:t>Pricing scales with usage; predictable monthly for a learner is hard.</a:t>
            </a:r>
            <a:endParaRPr lang="en-US" sz="1100" dirty="0"/>
          </a:p>
          <a:p>
            <a:pPr marL="342900" indent="-342900">
              <a:lnSpc>
                <a:spcPct val="140000"/>
              </a:lnSpc>
              <a:spcAft>
                <a:spcPts val="600"/>
              </a:spcAft>
              <a:buSzPct val="100000"/>
              <a:buChar char="●"/>
            </a:pPr>
            <a:r>
              <a:rPr lang="en-US" sz="1100" dirty="0">
                <a:solidFill>
                  <a:srgbClr val="334155"/>
                </a:solidFill>
                <a:latin typeface="DM Sans" pitchFamily="34" charset="0"/>
                <a:ea typeface="DM Sans" pitchFamily="34" charset="-122"/>
                <a:cs typeface="DM Sans" pitchFamily="34" charset="-120"/>
              </a:rPr>
              <a:t>Where Hatchik wins: substrate is pre-wired. Day-one SaaS, not day-one runtime.</a:t>
            </a:r>
            <a:endParaRPr lang="en-US" sz="1100" dirty="0"/>
          </a:p>
        </p:txBody>
      </p:sp>
      <p:sp>
        <p:nvSpPr>
          <p:cNvPr id="13" name="Text 11"/>
          <p:cNvSpPr/>
          <p:nvPr/>
        </p:nvSpPr>
        <p:spPr>
          <a:xfrm>
            <a:off x="502920" y="6263640"/>
            <a:ext cx="10972800" cy="182880"/>
          </a:xfrm>
          <a:prstGeom prst="rect">
            <a:avLst/>
          </a:prstGeom>
          <a:noFill/>
          <a:ln/>
        </p:spPr>
        <p:txBody>
          <a:bodyPr wrap="square" rtlCol="0" anchor="ctr"/>
          <a:lstStyle/>
          <a:p>
            <a:pPr algn="ctr" indent="0" marL="0">
              <a:buNone/>
            </a:pPr>
            <a:r>
              <a:rPr lang="en-US" sz="900" i="1" dirty="0">
                <a:solidFill>
                  <a:srgbClr val="64748B"/>
                </a:solidFill>
                <a:latin typeface="DM Sans" pitchFamily="34" charset="0"/>
                <a:ea typeface="DM Sans" pitchFamily="34" charset="-122"/>
                <a:cs typeface="DM Sans" pitchFamily="34" charset="-120"/>
              </a:rPr>
              <a:t>Full per-competitor matrix in appendix · Acquirer-risk analysis (Anthropic/Cursor going downstream) in appendix.</a:t>
            </a:r>
            <a:endParaRPr lang="en-US" sz="900" dirty="0"/>
          </a:p>
        </p:txBody>
      </p:sp>
      <p:sp>
        <p:nvSpPr>
          <p:cNvPr id="14" name="Text 12"/>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15" name="Text 13"/>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09  ·  WHERE WE WIN</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Three things no competitor combines.</a:t>
            </a:r>
            <a:endParaRPr lang="en-US" sz="3000" dirty="0"/>
          </a:p>
        </p:txBody>
      </p:sp>
      <p:sp>
        <p:nvSpPr>
          <p:cNvPr id="4" name="Shape 2"/>
          <p:cNvSpPr/>
          <p:nvPr/>
        </p:nvSpPr>
        <p:spPr>
          <a:xfrm>
            <a:off x="502920" y="2103120"/>
            <a:ext cx="3611880" cy="3931920"/>
          </a:xfrm>
          <a:prstGeom prst="roundRect">
            <a:avLst>
              <a:gd name="adj" fmla="val 2025"/>
            </a:avLst>
          </a:prstGeom>
          <a:solidFill>
            <a:srgbClr val="FFFFFF"/>
          </a:solidFill>
          <a:ln w="9525">
            <a:solidFill>
              <a:srgbClr val="E2E8F0"/>
            </a:solidFill>
            <a:prstDash val="solid"/>
          </a:ln>
        </p:spPr>
      </p:sp>
      <p:sp>
        <p:nvSpPr>
          <p:cNvPr id="5" name="Shape 3"/>
          <p:cNvSpPr/>
          <p:nvPr/>
        </p:nvSpPr>
        <p:spPr>
          <a:xfrm>
            <a:off x="502920" y="2103120"/>
            <a:ext cx="3611880" cy="54864"/>
          </a:xfrm>
          <a:prstGeom prst="rect">
            <a:avLst/>
          </a:prstGeom>
          <a:solidFill>
            <a:srgbClr val="4F46E5"/>
          </a:solidFill>
          <a:ln w="12700">
            <a:solidFill>
              <a:srgbClr val="4F46E5"/>
            </a:solidFill>
            <a:prstDash val="solid"/>
          </a:ln>
        </p:spPr>
      </p:sp>
      <p:sp>
        <p:nvSpPr>
          <p:cNvPr id="6" name="Text 4"/>
          <p:cNvSpPr/>
          <p:nvPr/>
        </p:nvSpPr>
        <p:spPr>
          <a:xfrm>
            <a:off x="777240" y="2423160"/>
            <a:ext cx="3154680" cy="274320"/>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WEDGE 01</a:t>
            </a:r>
            <a:endParaRPr lang="en-US" sz="900" dirty="0"/>
          </a:p>
        </p:txBody>
      </p:sp>
      <p:sp>
        <p:nvSpPr>
          <p:cNvPr id="7" name="Text 5"/>
          <p:cNvSpPr/>
          <p:nvPr/>
        </p:nvSpPr>
        <p:spPr>
          <a:xfrm>
            <a:off x="777240" y="2834640"/>
            <a:ext cx="3154680" cy="1371600"/>
          </a:xfrm>
          <a:prstGeom prst="rect">
            <a:avLst/>
          </a:prstGeom>
          <a:noFill/>
          <a:ln/>
        </p:spPr>
        <p:txBody>
          <a:bodyPr wrap="square" rtlCol="0" anchor="ctr"/>
          <a:lstStyle/>
          <a:p>
            <a:pPr indent="0" marL="0">
              <a:buNone/>
            </a:pPr>
            <a:r>
              <a:rPr lang="en-US" sz="8400" b="1" dirty="0">
                <a:solidFill>
                  <a:srgbClr val="EEF2FF"/>
                </a:solidFill>
                <a:latin typeface="DM Sans" pitchFamily="34" charset="0"/>
                <a:ea typeface="DM Sans" pitchFamily="34" charset="-122"/>
                <a:cs typeface="DM Sans" pitchFamily="34" charset="-120"/>
              </a:rPr>
              <a:t>01</a:t>
            </a:r>
            <a:endParaRPr lang="en-US" sz="8400" dirty="0"/>
          </a:p>
        </p:txBody>
      </p:sp>
      <p:sp>
        <p:nvSpPr>
          <p:cNvPr id="8" name="Text 6"/>
          <p:cNvSpPr/>
          <p:nvPr/>
        </p:nvSpPr>
        <p:spPr>
          <a:xfrm>
            <a:off x="777240" y="4297680"/>
            <a:ext cx="3154680" cy="731520"/>
          </a:xfrm>
          <a:prstGeom prst="rect">
            <a:avLst/>
          </a:prstGeom>
          <a:noFill/>
          <a:ln/>
        </p:spPr>
        <p:txBody>
          <a:bodyPr wrap="square" rtlCol="0" anchor="ctr"/>
          <a:lstStyle/>
          <a:p>
            <a:pPr indent="0" marL="0">
              <a:lnSpc>
                <a:spcPct val="115000"/>
              </a:lnSpc>
              <a:buNone/>
            </a:pPr>
            <a:r>
              <a:rPr lang="en-US" sz="1800" b="1" dirty="0">
                <a:solidFill>
                  <a:srgbClr val="0F172A"/>
                </a:solidFill>
                <a:latin typeface="DM Sans" pitchFamily="34" charset="0"/>
                <a:ea typeface="DM Sans" pitchFamily="34" charset="-122"/>
                <a:cs typeface="DM Sans" pitchFamily="34" charset="-120"/>
              </a:rPr>
              <a:t>Your AI tool, not ours.</a:t>
            </a:r>
            <a:endParaRPr lang="en-US" sz="1800" dirty="0"/>
          </a:p>
        </p:txBody>
      </p:sp>
      <p:sp>
        <p:nvSpPr>
          <p:cNvPr id="9" name="Text 7"/>
          <p:cNvSpPr/>
          <p:nvPr/>
        </p:nvSpPr>
        <p:spPr>
          <a:xfrm>
            <a:off x="777240" y="5029200"/>
            <a:ext cx="3154680" cy="96012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Every other AI builder ships its own chat. We plug into the one your customer already trusts — Claude Code, Cursor, Windsurf, Copilot. Zero context switching, zero retraining.</a:t>
            </a:r>
            <a:endParaRPr lang="en-US" sz="1100" dirty="0"/>
          </a:p>
        </p:txBody>
      </p:sp>
      <p:sp>
        <p:nvSpPr>
          <p:cNvPr id="10" name="Shape 8"/>
          <p:cNvSpPr/>
          <p:nvPr/>
        </p:nvSpPr>
        <p:spPr>
          <a:xfrm>
            <a:off x="4297680" y="2103120"/>
            <a:ext cx="3611880" cy="3931920"/>
          </a:xfrm>
          <a:prstGeom prst="roundRect">
            <a:avLst>
              <a:gd name="adj" fmla="val 2025"/>
            </a:avLst>
          </a:prstGeom>
          <a:solidFill>
            <a:srgbClr val="FFFFFF"/>
          </a:solidFill>
          <a:ln w="9525">
            <a:solidFill>
              <a:srgbClr val="E2E8F0"/>
            </a:solidFill>
            <a:prstDash val="solid"/>
          </a:ln>
        </p:spPr>
      </p:sp>
      <p:sp>
        <p:nvSpPr>
          <p:cNvPr id="11" name="Shape 9"/>
          <p:cNvSpPr/>
          <p:nvPr/>
        </p:nvSpPr>
        <p:spPr>
          <a:xfrm>
            <a:off x="4297680" y="2103120"/>
            <a:ext cx="3611880" cy="54864"/>
          </a:xfrm>
          <a:prstGeom prst="rect">
            <a:avLst/>
          </a:prstGeom>
          <a:solidFill>
            <a:srgbClr val="4F46E5"/>
          </a:solidFill>
          <a:ln w="12700">
            <a:solidFill>
              <a:srgbClr val="4F46E5"/>
            </a:solidFill>
            <a:prstDash val="solid"/>
          </a:ln>
        </p:spPr>
      </p:sp>
      <p:sp>
        <p:nvSpPr>
          <p:cNvPr id="12" name="Text 10"/>
          <p:cNvSpPr/>
          <p:nvPr/>
        </p:nvSpPr>
        <p:spPr>
          <a:xfrm>
            <a:off x="4572000" y="2423160"/>
            <a:ext cx="3154680" cy="274320"/>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WEDGE 02</a:t>
            </a:r>
            <a:endParaRPr lang="en-US" sz="900" dirty="0"/>
          </a:p>
        </p:txBody>
      </p:sp>
      <p:sp>
        <p:nvSpPr>
          <p:cNvPr id="13" name="Text 11"/>
          <p:cNvSpPr/>
          <p:nvPr/>
        </p:nvSpPr>
        <p:spPr>
          <a:xfrm>
            <a:off x="4572000" y="2834640"/>
            <a:ext cx="3154680" cy="1371600"/>
          </a:xfrm>
          <a:prstGeom prst="rect">
            <a:avLst/>
          </a:prstGeom>
          <a:noFill/>
          <a:ln/>
        </p:spPr>
        <p:txBody>
          <a:bodyPr wrap="square" rtlCol="0" anchor="ctr"/>
          <a:lstStyle/>
          <a:p>
            <a:pPr indent="0" marL="0">
              <a:buNone/>
            </a:pPr>
            <a:r>
              <a:rPr lang="en-US" sz="8400" b="1" dirty="0">
                <a:solidFill>
                  <a:srgbClr val="EEF2FF"/>
                </a:solidFill>
                <a:latin typeface="DM Sans" pitchFamily="34" charset="0"/>
                <a:ea typeface="DM Sans" pitchFamily="34" charset="-122"/>
                <a:cs typeface="DM Sans" pitchFamily="34" charset="-120"/>
              </a:rPr>
              <a:t>02</a:t>
            </a:r>
            <a:endParaRPr lang="en-US" sz="8400" dirty="0"/>
          </a:p>
        </p:txBody>
      </p:sp>
      <p:sp>
        <p:nvSpPr>
          <p:cNvPr id="14" name="Text 12"/>
          <p:cNvSpPr/>
          <p:nvPr/>
        </p:nvSpPr>
        <p:spPr>
          <a:xfrm>
            <a:off x="4572000" y="4297680"/>
            <a:ext cx="3154680" cy="731520"/>
          </a:xfrm>
          <a:prstGeom prst="rect">
            <a:avLst/>
          </a:prstGeom>
          <a:noFill/>
          <a:ln/>
        </p:spPr>
        <p:txBody>
          <a:bodyPr wrap="square" rtlCol="0" anchor="ctr"/>
          <a:lstStyle/>
          <a:p>
            <a:pPr indent="0" marL="0">
              <a:lnSpc>
                <a:spcPct val="115000"/>
              </a:lnSpc>
              <a:buNone/>
            </a:pPr>
            <a:r>
              <a:rPr lang="en-US" sz="1800" b="1" dirty="0">
                <a:solidFill>
                  <a:srgbClr val="0F172A"/>
                </a:solidFill>
                <a:latin typeface="DM Sans" pitchFamily="34" charset="0"/>
                <a:ea typeface="DM Sans" pitchFamily="34" charset="-122"/>
                <a:cs typeface="DM Sans" pitchFamily="34" charset="-120"/>
              </a:rPr>
              <a:t>Your code, your repo, your VPS.</a:t>
            </a:r>
            <a:endParaRPr lang="en-US" sz="1800" dirty="0"/>
          </a:p>
        </p:txBody>
      </p:sp>
      <p:sp>
        <p:nvSpPr>
          <p:cNvPr id="15" name="Text 13"/>
          <p:cNvSpPr/>
          <p:nvPr/>
        </p:nvSpPr>
        <p:spPr>
          <a:xfrm>
            <a:off x="4572000" y="5029200"/>
            <a:ext cx="3154680" cy="96012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Every tenant gets a private GitHub repo on day one. Want to leave? You already own everything. Exit cost is zero — which is exactly why our customers stay.</a:t>
            </a:r>
            <a:endParaRPr lang="en-US" sz="1100" dirty="0"/>
          </a:p>
        </p:txBody>
      </p:sp>
      <p:sp>
        <p:nvSpPr>
          <p:cNvPr id="16" name="Shape 14"/>
          <p:cNvSpPr/>
          <p:nvPr/>
        </p:nvSpPr>
        <p:spPr>
          <a:xfrm>
            <a:off x="8092440" y="2103120"/>
            <a:ext cx="3611880" cy="3931920"/>
          </a:xfrm>
          <a:prstGeom prst="roundRect">
            <a:avLst>
              <a:gd name="adj" fmla="val 2025"/>
            </a:avLst>
          </a:prstGeom>
          <a:solidFill>
            <a:srgbClr val="FFFFFF"/>
          </a:solidFill>
          <a:ln w="9525">
            <a:solidFill>
              <a:srgbClr val="E2E8F0"/>
            </a:solidFill>
            <a:prstDash val="solid"/>
          </a:ln>
        </p:spPr>
      </p:sp>
      <p:sp>
        <p:nvSpPr>
          <p:cNvPr id="17" name="Shape 15"/>
          <p:cNvSpPr/>
          <p:nvPr/>
        </p:nvSpPr>
        <p:spPr>
          <a:xfrm>
            <a:off x="8092440" y="2103120"/>
            <a:ext cx="3611880" cy="54864"/>
          </a:xfrm>
          <a:prstGeom prst="rect">
            <a:avLst/>
          </a:prstGeom>
          <a:solidFill>
            <a:srgbClr val="4F46E5"/>
          </a:solidFill>
          <a:ln w="12700">
            <a:solidFill>
              <a:srgbClr val="4F46E5"/>
            </a:solidFill>
            <a:prstDash val="solid"/>
          </a:ln>
        </p:spPr>
      </p:sp>
      <p:sp>
        <p:nvSpPr>
          <p:cNvPr id="18" name="Text 16"/>
          <p:cNvSpPr/>
          <p:nvPr/>
        </p:nvSpPr>
        <p:spPr>
          <a:xfrm>
            <a:off x="8366760" y="2423160"/>
            <a:ext cx="3154680" cy="274320"/>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WEDGE 03</a:t>
            </a:r>
            <a:endParaRPr lang="en-US" sz="900" dirty="0"/>
          </a:p>
        </p:txBody>
      </p:sp>
      <p:sp>
        <p:nvSpPr>
          <p:cNvPr id="19" name="Text 17"/>
          <p:cNvSpPr/>
          <p:nvPr/>
        </p:nvSpPr>
        <p:spPr>
          <a:xfrm>
            <a:off x="8366760" y="2834640"/>
            <a:ext cx="3154680" cy="1371600"/>
          </a:xfrm>
          <a:prstGeom prst="rect">
            <a:avLst/>
          </a:prstGeom>
          <a:noFill/>
          <a:ln/>
        </p:spPr>
        <p:txBody>
          <a:bodyPr wrap="square" rtlCol="0" anchor="ctr"/>
          <a:lstStyle/>
          <a:p>
            <a:pPr indent="0" marL="0">
              <a:buNone/>
            </a:pPr>
            <a:r>
              <a:rPr lang="en-US" sz="8400" b="1" dirty="0">
                <a:solidFill>
                  <a:srgbClr val="EEF2FF"/>
                </a:solidFill>
                <a:latin typeface="DM Sans" pitchFamily="34" charset="0"/>
                <a:ea typeface="DM Sans" pitchFamily="34" charset="-122"/>
                <a:cs typeface="DM Sans" pitchFamily="34" charset="-120"/>
              </a:rPr>
              <a:t>03</a:t>
            </a:r>
            <a:endParaRPr lang="en-US" sz="8400" dirty="0"/>
          </a:p>
        </p:txBody>
      </p:sp>
      <p:sp>
        <p:nvSpPr>
          <p:cNvPr id="20" name="Text 18"/>
          <p:cNvSpPr/>
          <p:nvPr/>
        </p:nvSpPr>
        <p:spPr>
          <a:xfrm>
            <a:off x="8366760" y="4297680"/>
            <a:ext cx="3154680" cy="731520"/>
          </a:xfrm>
          <a:prstGeom prst="rect">
            <a:avLst/>
          </a:prstGeom>
          <a:noFill/>
          <a:ln/>
        </p:spPr>
        <p:txBody>
          <a:bodyPr wrap="square" rtlCol="0" anchor="ctr"/>
          <a:lstStyle/>
          <a:p>
            <a:pPr indent="0" marL="0">
              <a:lnSpc>
                <a:spcPct val="115000"/>
              </a:lnSpc>
              <a:buNone/>
            </a:pPr>
            <a:r>
              <a:rPr lang="en-US" sz="1800" b="1" dirty="0">
                <a:solidFill>
                  <a:srgbClr val="0F172A"/>
                </a:solidFill>
                <a:latin typeface="DM Sans" pitchFamily="34" charset="0"/>
                <a:ea typeface="DM Sans" pitchFamily="34" charset="-122"/>
                <a:cs typeface="DM Sans" pitchFamily="34" charset="-120"/>
              </a:rPr>
              <a:t>Pre-wired production stack.</a:t>
            </a:r>
            <a:endParaRPr lang="en-US" sz="1800" dirty="0"/>
          </a:p>
        </p:txBody>
      </p:sp>
      <p:sp>
        <p:nvSpPr>
          <p:cNvPr id="21" name="Text 19"/>
          <p:cNvSpPr/>
          <p:nvPr/>
        </p:nvSpPr>
        <p:spPr>
          <a:xfrm>
            <a:off x="8366760" y="5029200"/>
            <a:ext cx="3154680" cy="96012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Auth, Postgres, payments, mail, mobile, MoR billing — all wired and live on day one. It’s a working SaaS the moment they sign up, not a sandbox to graduate from.</a:t>
            </a:r>
            <a:endParaRPr lang="en-US" sz="1100" dirty="0"/>
          </a:p>
        </p:txBody>
      </p:sp>
      <p:sp>
        <p:nvSpPr>
          <p:cNvPr id="22" name="Text 20"/>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23" name="Text 21"/>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10  ·  BUSINESS MODEL</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Three tiers. Paddle as MoR. Repriced for the hype window.</a:t>
            </a:r>
            <a:endParaRPr lang="en-US" sz="3000" dirty="0"/>
          </a:p>
        </p:txBody>
      </p:sp>
      <p:sp>
        <p:nvSpPr>
          <p:cNvPr id="4" name="Shape 2"/>
          <p:cNvSpPr/>
          <p:nvPr/>
        </p:nvSpPr>
        <p:spPr>
          <a:xfrm>
            <a:off x="502920" y="1691640"/>
            <a:ext cx="3611880" cy="3931920"/>
          </a:xfrm>
          <a:prstGeom prst="roundRect">
            <a:avLst>
              <a:gd name="adj" fmla="val 2532"/>
            </a:avLst>
          </a:prstGeom>
          <a:solidFill>
            <a:srgbClr val="F6F5F1"/>
          </a:solidFill>
          <a:ln w="9525">
            <a:solidFill>
              <a:srgbClr val="E2E8F0"/>
            </a:solidFill>
            <a:prstDash val="solid"/>
          </a:ln>
        </p:spPr>
      </p:sp>
      <p:sp>
        <p:nvSpPr>
          <p:cNvPr id="5" name="Text 3"/>
          <p:cNvSpPr/>
          <p:nvPr/>
        </p:nvSpPr>
        <p:spPr>
          <a:xfrm>
            <a:off x="777240" y="1920240"/>
            <a:ext cx="3154680" cy="256032"/>
          </a:xfrm>
          <a:prstGeom prst="rect">
            <a:avLst/>
          </a:prstGeom>
          <a:noFill/>
          <a:ln/>
        </p:spPr>
        <p:txBody>
          <a:bodyPr wrap="square" rtlCol="0" anchor="ctr"/>
          <a:lstStyle/>
          <a:p>
            <a:pPr indent="0" marL="0">
              <a:buNone/>
            </a:pPr>
            <a:r>
              <a:rPr lang="en-US" sz="900" b="1" spc="400" kern="0" dirty="0">
                <a:solidFill>
                  <a:srgbClr val="94A3B8"/>
                </a:solidFill>
                <a:latin typeface="JetBrains Mono" pitchFamily="34" charset="0"/>
                <a:ea typeface="JetBrains Mono" pitchFamily="34" charset="-122"/>
                <a:cs typeface="JetBrains Mono" pitchFamily="34" charset="-120"/>
              </a:rPr>
              <a:t>FREE  ·  EVALUATION</a:t>
            </a:r>
            <a:endParaRPr lang="en-US" sz="900" dirty="0"/>
          </a:p>
        </p:txBody>
      </p:sp>
      <p:sp>
        <p:nvSpPr>
          <p:cNvPr id="6" name="Text 4"/>
          <p:cNvSpPr/>
          <p:nvPr/>
        </p:nvSpPr>
        <p:spPr>
          <a:xfrm>
            <a:off x="777240" y="2194560"/>
            <a:ext cx="3154680" cy="457200"/>
          </a:xfrm>
          <a:prstGeom prst="rect">
            <a:avLst/>
          </a:prstGeom>
          <a:noFill/>
          <a:ln/>
        </p:spPr>
        <p:txBody>
          <a:bodyPr wrap="square" rtlCol="0" anchor="ctr"/>
          <a:lstStyle/>
          <a:p>
            <a:pPr indent="0" marL="0">
              <a:buNone/>
            </a:pPr>
            <a:r>
              <a:rPr lang="en-US" sz="2200" b="1" dirty="0">
                <a:solidFill>
                  <a:srgbClr val="0F172A"/>
                </a:solidFill>
                <a:latin typeface="DM Sans" pitchFamily="34" charset="0"/>
                <a:ea typeface="DM Sans" pitchFamily="34" charset="-122"/>
                <a:cs typeface="DM Sans" pitchFamily="34" charset="-120"/>
              </a:rPr>
              <a:t>Sandbox</a:t>
            </a:r>
            <a:endParaRPr lang="en-US" sz="2200" dirty="0"/>
          </a:p>
        </p:txBody>
      </p:sp>
      <p:sp>
        <p:nvSpPr>
          <p:cNvPr id="7" name="Text 5"/>
          <p:cNvSpPr/>
          <p:nvPr/>
        </p:nvSpPr>
        <p:spPr>
          <a:xfrm>
            <a:off x="777240" y="2651760"/>
            <a:ext cx="3154680" cy="868680"/>
          </a:xfrm>
          <a:prstGeom prst="rect">
            <a:avLst/>
          </a:prstGeom>
          <a:noFill/>
          <a:ln/>
        </p:spPr>
        <p:txBody>
          <a:bodyPr wrap="square" rtlCol="0" anchor="ctr"/>
          <a:lstStyle/>
          <a:p>
            <a:pPr indent="0" marL="0">
              <a:buNone/>
            </a:pPr>
            <a:r>
              <a:rPr lang="en-US" sz="4800" b="1" dirty="0">
                <a:solidFill>
                  <a:srgbClr val="0F172A"/>
                </a:solidFill>
                <a:latin typeface="DM Sans" pitchFamily="34" charset="0"/>
                <a:ea typeface="DM Sans" pitchFamily="34" charset="-122"/>
                <a:cs typeface="DM Sans" pitchFamily="34" charset="-120"/>
              </a:rPr>
              <a:t>£0</a:t>
            </a:r>
            <a:endParaRPr lang="en-US" sz="4800" dirty="0"/>
          </a:p>
        </p:txBody>
      </p:sp>
      <p:sp>
        <p:nvSpPr>
          <p:cNvPr id="8" name="Text 6"/>
          <p:cNvSpPr/>
          <p:nvPr/>
        </p:nvSpPr>
        <p:spPr>
          <a:xfrm>
            <a:off x="777240" y="3520440"/>
            <a:ext cx="3154680" cy="457200"/>
          </a:xfrm>
          <a:prstGeom prst="rect">
            <a:avLst/>
          </a:prstGeom>
          <a:noFill/>
          <a:ln/>
        </p:spPr>
        <p:txBody>
          <a:bodyPr wrap="square" rtlCol="0" anchor="ctr"/>
          <a:lstStyle/>
          <a:p>
            <a:pPr indent="0" marL="0">
              <a:lnSpc>
                <a:spcPct val="125000"/>
              </a:lnSpc>
              <a:buNone/>
            </a:pPr>
            <a:r>
              <a:rPr lang="en-US" sz="1000" i="1" dirty="0">
                <a:solidFill>
                  <a:srgbClr val="64748B"/>
                </a:solidFill>
                <a:latin typeface="DM Sans" pitchFamily="34" charset="0"/>
                <a:ea typeface="DM Sans" pitchFamily="34" charset="-122"/>
                <a:cs typeface="DM Sans" pitchFamily="34" charset="-120"/>
              </a:rPr>
              <a:t>30-day idle auto-archive</a:t>
            </a:r>
            <a:endParaRPr lang="en-US" sz="1000" dirty="0"/>
          </a:p>
        </p:txBody>
      </p:sp>
      <p:sp>
        <p:nvSpPr>
          <p:cNvPr id="9" name="Text 7"/>
          <p:cNvSpPr/>
          <p:nvPr/>
        </p:nvSpPr>
        <p:spPr>
          <a:xfrm>
            <a:off x="777240" y="4069080"/>
            <a:ext cx="3154680" cy="1481328"/>
          </a:xfrm>
          <a:prstGeom prst="rect">
            <a:avLst/>
          </a:prstGeom>
          <a:noFill/>
          <a:ln/>
        </p:spPr>
        <p:txBody>
          <a:bodyPr wrap="square" rtlCol="0" anchor="ctr"/>
          <a:lstStyle/>
          <a:p>
            <a:pPr marL="342900" indent="-342900">
              <a:lnSpc>
                <a:spcPct val="130000"/>
              </a:lnSpc>
              <a:spcAft>
                <a:spcPts val="200"/>
              </a:spcAft>
              <a:buSzPct val="100000"/>
              <a:buChar char="●"/>
            </a:pPr>
            <a:r>
              <a:rPr lang="en-US" sz="1000" dirty="0">
                <a:solidFill>
                  <a:srgbClr val="334155"/>
                </a:solidFill>
                <a:latin typeface="DM Sans" pitchFamily="34" charset="0"/>
                <a:ea typeface="DM Sans" pitchFamily="34" charset="-122"/>
                <a:cs typeface="DM Sans" pitchFamily="34" charset="-120"/>
              </a:rPr>
              <a:t>Sandbox at &lt;slug&gt;.hatchik.com</a:t>
            </a:r>
            <a:endParaRPr lang="en-US" sz="1000" dirty="0"/>
          </a:p>
          <a:p>
            <a:pPr marL="342900" indent="-342900">
              <a:lnSpc>
                <a:spcPct val="130000"/>
              </a:lnSpc>
              <a:spcAft>
                <a:spcPts val="200"/>
              </a:spcAft>
              <a:buSzPct val="100000"/>
              <a:buChar char="●"/>
            </a:pPr>
            <a:r>
              <a:rPr lang="en-US" sz="1000" dirty="0">
                <a:solidFill>
                  <a:srgbClr val="334155"/>
                </a:solidFill>
                <a:latin typeface="DM Sans" pitchFamily="34" charset="0"/>
                <a:ea typeface="DM Sans" pitchFamily="34" charset="-122"/>
                <a:cs typeface="DM Sans" pitchFamily="34" charset="-120"/>
              </a:rPr>
              <a:t>Shared host (Hetzner CAX31)</a:t>
            </a:r>
            <a:endParaRPr lang="en-US" sz="1000" dirty="0"/>
          </a:p>
          <a:p>
            <a:pPr marL="342900" indent="-342900">
              <a:lnSpc>
                <a:spcPct val="130000"/>
              </a:lnSpc>
              <a:spcAft>
                <a:spcPts val="200"/>
              </a:spcAft>
              <a:buSzPct val="100000"/>
              <a:buChar char="●"/>
            </a:pPr>
            <a:r>
              <a:rPr lang="en-US" sz="1000" dirty="0">
                <a:solidFill>
                  <a:srgbClr val="334155"/>
                </a:solidFill>
                <a:latin typeface="DM Sans" pitchFamily="34" charset="0"/>
                <a:ea typeface="DM Sans" pitchFamily="34" charset="-122"/>
                <a:cs typeface="DM Sans" pitchFamily="34" charset="-120"/>
              </a:rPr>
              <a:t>GitHub repo + AI handoff</a:t>
            </a:r>
            <a:endParaRPr lang="en-US" sz="1000" dirty="0"/>
          </a:p>
          <a:p>
            <a:pPr marL="342900" indent="-342900">
              <a:lnSpc>
                <a:spcPct val="130000"/>
              </a:lnSpc>
              <a:spcAft>
                <a:spcPts val="200"/>
              </a:spcAft>
              <a:buSzPct val="100000"/>
              <a:buChar char="●"/>
            </a:pPr>
            <a:r>
              <a:rPr lang="en-US" sz="1000" dirty="0">
                <a:solidFill>
                  <a:srgbClr val="334155"/>
                </a:solidFill>
                <a:latin typeface="DM Sans" pitchFamily="34" charset="0"/>
                <a:ea typeface="DM Sans" pitchFamily="34" charset="-122"/>
                <a:cs typeface="DM Sans" pitchFamily="34" charset="-120"/>
              </a:rPr>
              <a:t>Capped: one active per email</a:t>
            </a:r>
            <a:endParaRPr lang="en-US" sz="1000" dirty="0"/>
          </a:p>
        </p:txBody>
      </p:sp>
      <p:sp>
        <p:nvSpPr>
          <p:cNvPr id="10" name="Shape 8"/>
          <p:cNvSpPr/>
          <p:nvPr/>
        </p:nvSpPr>
        <p:spPr>
          <a:xfrm>
            <a:off x="4297680" y="1691640"/>
            <a:ext cx="3611880" cy="3931920"/>
          </a:xfrm>
          <a:prstGeom prst="roundRect">
            <a:avLst>
              <a:gd name="adj" fmla="val 2532"/>
            </a:avLst>
          </a:prstGeom>
          <a:solidFill>
            <a:srgbClr val="0F172A"/>
          </a:solidFill>
          <a:ln w="25400">
            <a:solidFill>
              <a:srgbClr val="F59E0B"/>
            </a:solidFill>
            <a:prstDash val="solid"/>
          </a:ln>
        </p:spPr>
      </p:sp>
      <p:sp>
        <p:nvSpPr>
          <p:cNvPr id="11" name="Text 9"/>
          <p:cNvSpPr/>
          <p:nvPr/>
        </p:nvSpPr>
        <p:spPr>
          <a:xfrm>
            <a:off x="4572000" y="1920240"/>
            <a:ext cx="3154680" cy="256032"/>
          </a:xfrm>
          <a:prstGeom prst="rect">
            <a:avLst/>
          </a:prstGeom>
          <a:noFill/>
          <a:ln/>
        </p:spPr>
        <p:txBody>
          <a:bodyPr wrap="square" rtlCol="0" anchor="ctr"/>
          <a:lstStyle/>
          <a:p>
            <a:pPr indent="0" marL="0">
              <a:buNone/>
            </a:pPr>
            <a:r>
              <a:rPr lang="en-US" sz="900" b="1" spc="400" kern="0" dirty="0">
                <a:solidFill>
                  <a:srgbClr val="F59E0B"/>
                </a:solidFill>
                <a:latin typeface="JetBrains Mono" pitchFamily="34" charset="0"/>
                <a:ea typeface="JetBrains Mono" pitchFamily="34" charset="-122"/>
                <a:cs typeface="JetBrains Mono" pitchFamily="34" charset="-120"/>
              </a:rPr>
              <a:t>PRODUCTION  ·  SOLO</a:t>
            </a:r>
            <a:endParaRPr lang="en-US" sz="900" dirty="0"/>
          </a:p>
        </p:txBody>
      </p:sp>
      <p:sp>
        <p:nvSpPr>
          <p:cNvPr id="12" name="Text 10"/>
          <p:cNvSpPr/>
          <p:nvPr/>
        </p:nvSpPr>
        <p:spPr>
          <a:xfrm>
            <a:off x="4572000" y="2194560"/>
            <a:ext cx="3154680" cy="457200"/>
          </a:xfrm>
          <a:prstGeom prst="rect">
            <a:avLst/>
          </a:prstGeom>
          <a:noFill/>
          <a:ln/>
        </p:spPr>
        <p:txBody>
          <a:bodyPr wrap="square" rtlCol="0" anchor="ctr"/>
          <a:lstStyle/>
          <a:p>
            <a:pPr indent="0" marL="0">
              <a:buNone/>
            </a:pPr>
            <a:r>
              <a:rPr lang="en-US" sz="2200" b="1" dirty="0">
                <a:solidFill>
                  <a:srgbClr val="FFFFFF"/>
                </a:solidFill>
                <a:latin typeface="DM Sans" pitchFamily="34" charset="0"/>
                <a:ea typeface="DM Sans" pitchFamily="34" charset="-122"/>
                <a:cs typeface="DM Sans" pitchFamily="34" charset="-120"/>
              </a:rPr>
              <a:t>Launch</a:t>
            </a:r>
            <a:endParaRPr lang="en-US" sz="2200" dirty="0"/>
          </a:p>
        </p:txBody>
      </p:sp>
      <p:sp>
        <p:nvSpPr>
          <p:cNvPr id="13" name="Text 11"/>
          <p:cNvSpPr/>
          <p:nvPr/>
        </p:nvSpPr>
        <p:spPr>
          <a:xfrm>
            <a:off x="4572000" y="2651760"/>
            <a:ext cx="3154680" cy="868680"/>
          </a:xfrm>
          <a:prstGeom prst="rect">
            <a:avLst/>
          </a:prstGeom>
          <a:noFill/>
          <a:ln/>
        </p:spPr>
        <p:txBody>
          <a:bodyPr wrap="square" rtlCol="0" anchor="ctr"/>
          <a:lstStyle/>
          <a:p>
            <a:pPr indent="0" marL="0">
              <a:buNone/>
            </a:pPr>
            <a:r>
              <a:rPr lang="en-US" sz="4800" b="1" dirty="0">
                <a:solidFill>
                  <a:srgbClr val="FFFFFF"/>
                </a:solidFill>
                <a:latin typeface="DM Sans" pitchFamily="34" charset="0"/>
                <a:ea typeface="DM Sans" pitchFamily="34" charset="-122"/>
                <a:cs typeface="DM Sans" pitchFamily="34" charset="-120"/>
              </a:rPr>
              <a:t>£89</a:t>
            </a:r>
            <a:endParaRPr lang="en-US" sz="4800" dirty="0"/>
          </a:p>
        </p:txBody>
      </p:sp>
      <p:sp>
        <p:nvSpPr>
          <p:cNvPr id="14" name="Text 12"/>
          <p:cNvSpPr/>
          <p:nvPr/>
        </p:nvSpPr>
        <p:spPr>
          <a:xfrm>
            <a:off x="4572000" y="3520440"/>
            <a:ext cx="3154680" cy="457200"/>
          </a:xfrm>
          <a:prstGeom prst="rect">
            <a:avLst/>
          </a:prstGeom>
          <a:noFill/>
          <a:ln/>
        </p:spPr>
        <p:txBody>
          <a:bodyPr wrap="square" rtlCol="0" anchor="ctr"/>
          <a:lstStyle/>
          <a:p>
            <a:pPr indent="0" marL="0">
              <a:lnSpc>
                <a:spcPct val="125000"/>
              </a:lnSpc>
              <a:buNone/>
            </a:pPr>
            <a:r>
              <a:rPr lang="en-US" sz="1000" i="1" dirty="0">
                <a:solidFill>
                  <a:srgbClr val="F59E0B"/>
                </a:solidFill>
                <a:latin typeface="DM Sans" pitchFamily="34" charset="0"/>
                <a:ea typeface="DM Sans" pitchFamily="34" charset="-122"/>
                <a:cs typeface="DM Sans" pitchFamily="34" charset="-120"/>
              </a:rPr>
              <a:t>setup, then £14/mo annual or £17/mo monthly</a:t>
            </a:r>
            <a:endParaRPr lang="en-US" sz="1000" dirty="0"/>
          </a:p>
        </p:txBody>
      </p:sp>
      <p:sp>
        <p:nvSpPr>
          <p:cNvPr id="15" name="Text 13"/>
          <p:cNvSpPr/>
          <p:nvPr/>
        </p:nvSpPr>
        <p:spPr>
          <a:xfrm>
            <a:off x="4572000" y="4069080"/>
            <a:ext cx="3154680" cy="1481328"/>
          </a:xfrm>
          <a:prstGeom prst="rect">
            <a:avLst/>
          </a:prstGeom>
          <a:noFill/>
          <a:ln/>
        </p:spPr>
        <p:txBody>
          <a:bodyPr wrap="square" rtlCol="0" anchor="ctr"/>
          <a:lstStyle/>
          <a:p>
            <a:pPr marL="342900" indent="-342900">
              <a:lnSpc>
                <a:spcPct val="130000"/>
              </a:lnSpc>
              <a:spcAft>
                <a:spcPts val="200"/>
              </a:spcAft>
              <a:buSzPct val="100000"/>
              <a:buChar char="●"/>
            </a:pPr>
            <a:r>
              <a:rPr lang="en-US" sz="1000" dirty="0">
                <a:solidFill>
                  <a:srgbClr val="EEF2FF"/>
                </a:solidFill>
                <a:latin typeface="DM Sans" pitchFamily="34" charset="0"/>
                <a:ea typeface="DM Sans" pitchFamily="34" charset="-122"/>
                <a:cs typeface="DM Sans" pitchFamily="34" charset="-120"/>
              </a:rPr>
              <a:t>Production hosting + domain + mailboxes</a:t>
            </a:r>
            <a:endParaRPr lang="en-US" sz="1000" dirty="0"/>
          </a:p>
          <a:p>
            <a:pPr marL="342900" indent="-342900">
              <a:lnSpc>
                <a:spcPct val="130000"/>
              </a:lnSpc>
              <a:spcAft>
                <a:spcPts val="200"/>
              </a:spcAft>
              <a:buSzPct val="100000"/>
              <a:buChar char="●"/>
            </a:pPr>
            <a:r>
              <a:rPr lang="en-US" sz="1000" dirty="0">
                <a:solidFill>
                  <a:srgbClr val="EEF2FF"/>
                </a:solidFill>
                <a:latin typeface="DM Sans" pitchFamily="34" charset="0"/>
                <a:ea typeface="DM Sans" pitchFamily="34" charset="-122"/>
                <a:cs typeface="DM Sans" pitchFamily="34" charset="-120"/>
              </a:rPr>
              <a:t>Shared host in customer region</a:t>
            </a:r>
            <a:endParaRPr lang="en-US" sz="1000" dirty="0"/>
          </a:p>
          <a:p>
            <a:pPr marL="342900" indent="-342900">
              <a:lnSpc>
                <a:spcPct val="130000"/>
              </a:lnSpc>
              <a:spcAft>
                <a:spcPts val="200"/>
              </a:spcAft>
              <a:buSzPct val="100000"/>
              <a:buChar char="●"/>
            </a:pPr>
            <a:r>
              <a:rPr lang="en-US" sz="1000" dirty="0">
                <a:solidFill>
                  <a:srgbClr val="EEF2FF"/>
                </a:solidFill>
                <a:latin typeface="DM Sans" pitchFamily="34" charset="0"/>
                <a:ea typeface="DM Sans" pitchFamily="34" charset="-122"/>
                <a:cs typeface="DM Sans" pitchFamily="34" charset="-120"/>
              </a:rPr>
              <a:t>3 mailboxes (Infomaniak)</a:t>
            </a:r>
            <a:endParaRPr lang="en-US" sz="1000" dirty="0"/>
          </a:p>
          <a:p>
            <a:pPr marL="342900" indent="-342900">
              <a:lnSpc>
                <a:spcPct val="130000"/>
              </a:lnSpc>
              <a:spcAft>
                <a:spcPts val="200"/>
              </a:spcAft>
              <a:buSzPct val="100000"/>
              <a:buChar char="●"/>
            </a:pPr>
            <a:r>
              <a:rPr lang="en-US" sz="1000" dirty="0">
                <a:solidFill>
                  <a:srgbClr val="EEF2FF"/>
                </a:solidFill>
                <a:latin typeface="DM Sans" pitchFamily="34" charset="0"/>
                <a:ea typeface="DM Sans" pitchFamily="34" charset="-122"/>
                <a:cs typeface="DM Sans" pitchFamily="34" charset="-120"/>
              </a:rPr>
              <a:t>BYO or registered domain</a:t>
            </a:r>
            <a:endParaRPr lang="en-US" sz="1000" dirty="0"/>
          </a:p>
          <a:p>
            <a:pPr marL="342900" indent="-342900">
              <a:lnSpc>
                <a:spcPct val="130000"/>
              </a:lnSpc>
              <a:spcAft>
                <a:spcPts val="200"/>
              </a:spcAft>
              <a:buSzPct val="100000"/>
              <a:buChar char="●"/>
            </a:pPr>
            <a:r>
              <a:rPr lang="en-US" sz="1000" dirty="0">
                <a:solidFill>
                  <a:srgbClr val="EEF2FF"/>
                </a:solidFill>
                <a:latin typeface="DM Sans" pitchFamily="34" charset="0"/>
                <a:ea typeface="DM Sans" pitchFamily="34" charset="-122"/>
                <a:cs typeface="DM Sans" pitchFamily="34" charset="-120"/>
              </a:rPr>
              <a:t>Push-to-deploy + mobile builds</a:t>
            </a:r>
            <a:endParaRPr lang="en-US" sz="1000" dirty="0"/>
          </a:p>
        </p:txBody>
      </p:sp>
      <p:sp>
        <p:nvSpPr>
          <p:cNvPr id="16" name="Shape 14"/>
          <p:cNvSpPr/>
          <p:nvPr/>
        </p:nvSpPr>
        <p:spPr>
          <a:xfrm>
            <a:off x="8092440" y="1691640"/>
            <a:ext cx="3611880" cy="3931920"/>
          </a:xfrm>
          <a:prstGeom prst="roundRect">
            <a:avLst>
              <a:gd name="adj" fmla="val 2532"/>
            </a:avLst>
          </a:prstGeom>
          <a:solidFill>
            <a:srgbClr val="F6F5F1"/>
          </a:solidFill>
          <a:ln w="9525">
            <a:solidFill>
              <a:srgbClr val="E2E8F0"/>
            </a:solidFill>
            <a:prstDash val="solid"/>
          </a:ln>
        </p:spPr>
      </p:sp>
      <p:sp>
        <p:nvSpPr>
          <p:cNvPr id="17" name="Text 15"/>
          <p:cNvSpPr/>
          <p:nvPr/>
        </p:nvSpPr>
        <p:spPr>
          <a:xfrm>
            <a:off x="8366760" y="1920240"/>
            <a:ext cx="3154680" cy="256032"/>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PRODUCTION  ·  SCALE</a:t>
            </a:r>
            <a:endParaRPr lang="en-US" sz="900" dirty="0"/>
          </a:p>
        </p:txBody>
      </p:sp>
      <p:sp>
        <p:nvSpPr>
          <p:cNvPr id="18" name="Text 16"/>
          <p:cNvSpPr/>
          <p:nvPr/>
        </p:nvSpPr>
        <p:spPr>
          <a:xfrm>
            <a:off x="8366760" y="2194560"/>
            <a:ext cx="3154680" cy="457200"/>
          </a:xfrm>
          <a:prstGeom prst="rect">
            <a:avLst/>
          </a:prstGeom>
          <a:noFill/>
          <a:ln/>
        </p:spPr>
        <p:txBody>
          <a:bodyPr wrap="square" rtlCol="0" anchor="ctr"/>
          <a:lstStyle/>
          <a:p>
            <a:pPr indent="0" marL="0">
              <a:buNone/>
            </a:pPr>
            <a:r>
              <a:rPr lang="en-US" sz="2200" b="1" dirty="0">
                <a:solidFill>
                  <a:srgbClr val="0F172A"/>
                </a:solidFill>
                <a:latin typeface="DM Sans" pitchFamily="34" charset="0"/>
                <a:ea typeface="DM Sans" pitchFamily="34" charset="-122"/>
                <a:cs typeface="DM Sans" pitchFamily="34" charset="-120"/>
              </a:rPr>
              <a:t>Growth</a:t>
            </a:r>
            <a:endParaRPr lang="en-US" sz="2200" dirty="0"/>
          </a:p>
        </p:txBody>
      </p:sp>
      <p:sp>
        <p:nvSpPr>
          <p:cNvPr id="19" name="Text 17"/>
          <p:cNvSpPr/>
          <p:nvPr/>
        </p:nvSpPr>
        <p:spPr>
          <a:xfrm>
            <a:off x="8366760" y="2651760"/>
            <a:ext cx="3154680" cy="868680"/>
          </a:xfrm>
          <a:prstGeom prst="rect">
            <a:avLst/>
          </a:prstGeom>
          <a:noFill/>
          <a:ln/>
        </p:spPr>
        <p:txBody>
          <a:bodyPr wrap="square" rtlCol="0" anchor="ctr"/>
          <a:lstStyle/>
          <a:p>
            <a:pPr indent="0" marL="0">
              <a:buNone/>
            </a:pPr>
            <a:r>
              <a:rPr lang="en-US" sz="4800" b="1" dirty="0">
                <a:solidFill>
                  <a:srgbClr val="0F172A"/>
                </a:solidFill>
                <a:latin typeface="DM Sans" pitchFamily="34" charset="0"/>
                <a:ea typeface="DM Sans" pitchFamily="34" charset="-122"/>
                <a:cs typeface="DM Sans" pitchFamily="34" charset="-120"/>
              </a:rPr>
              <a:t>£39</a:t>
            </a:r>
            <a:endParaRPr lang="en-US" sz="4800" dirty="0"/>
          </a:p>
        </p:txBody>
      </p:sp>
      <p:sp>
        <p:nvSpPr>
          <p:cNvPr id="20" name="Text 18"/>
          <p:cNvSpPr/>
          <p:nvPr/>
        </p:nvSpPr>
        <p:spPr>
          <a:xfrm>
            <a:off x="8366760" y="3520440"/>
            <a:ext cx="3154680" cy="457200"/>
          </a:xfrm>
          <a:prstGeom prst="rect">
            <a:avLst/>
          </a:prstGeom>
          <a:noFill/>
          <a:ln/>
        </p:spPr>
        <p:txBody>
          <a:bodyPr wrap="square" rtlCol="0" anchor="ctr"/>
          <a:lstStyle/>
          <a:p>
            <a:pPr indent="0" marL="0">
              <a:lnSpc>
                <a:spcPct val="125000"/>
              </a:lnSpc>
              <a:buNone/>
            </a:pPr>
            <a:r>
              <a:rPr lang="en-US" sz="1000" i="1" dirty="0">
                <a:solidFill>
                  <a:srgbClr val="64748B"/>
                </a:solidFill>
                <a:latin typeface="DM Sans" pitchFamily="34" charset="0"/>
                <a:ea typeface="DM Sans" pitchFamily="34" charset="-122"/>
                <a:cs typeface="DM Sans" pitchFamily="34" charset="-120"/>
              </a:rPr>
              <a:t>per month</a:t>
            </a:r>
            <a:endParaRPr lang="en-US" sz="1000" dirty="0"/>
          </a:p>
        </p:txBody>
      </p:sp>
      <p:sp>
        <p:nvSpPr>
          <p:cNvPr id="21" name="Text 19"/>
          <p:cNvSpPr/>
          <p:nvPr/>
        </p:nvSpPr>
        <p:spPr>
          <a:xfrm>
            <a:off x="8366760" y="4069080"/>
            <a:ext cx="3154680" cy="1481328"/>
          </a:xfrm>
          <a:prstGeom prst="rect">
            <a:avLst/>
          </a:prstGeom>
          <a:noFill/>
          <a:ln/>
        </p:spPr>
        <p:txBody>
          <a:bodyPr wrap="square" rtlCol="0" anchor="ctr"/>
          <a:lstStyle/>
          <a:p>
            <a:pPr marL="342900" indent="-342900">
              <a:lnSpc>
                <a:spcPct val="130000"/>
              </a:lnSpc>
              <a:spcAft>
                <a:spcPts val="200"/>
              </a:spcAft>
              <a:buSzPct val="100000"/>
              <a:buChar char="●"/>
            </a:pPr>
            <a:r>
              <a:rPr lang="en-US" sz="1000" dirty="0">
                <a:solidFill>
                  <a:srgbClr val="334155"/>
                </a:solidFill>
                <a:latin typeface="DM Sans" pitchFamily="34" charset="0"/>
                <a:ea typeface="DM Sans" pitchFamily="34" charset="-122"/>
                <a:cs typeface="DM Sans" pitchFamily="34" charset="-120"/>
              </a:rPr>
              <a:t>Dedicated VPS in your region</a:t>
            </a:r>
            <a:endParaRPr lang="en-US" sz="1000" dirty="0"/>
          </a:p>
          <a:p>
            <a:pPr marL="342900" indent="-342900">
              <a:lnSpc>
                <a:spcPct val="130000"/>
              </a:lnSpc>
              <a:spcAft>
                <a:spcPts val="200"/>
              </a:spcAft>
              <a:buSzPct val="100000"/>
              <a:buChar char="●"/>
            </a:pPr>
            <a:r>
              <a:rPr lang="en-US" sz="1000" dirty="0">
                <a:solidFill>
                  <a:srgbClr val="334155"/>
                </a:solidFill>
                <a:latin typeface="DM Sans" pitchFamily="34" charset="0"/>
                <a:ea typeface="DM Sans" pitchFamily="34" charset="-122"/>
                <a:cs typeface="DM Sans" pitchFamily="34" charset="-120"/>
              </a:rPr>
              <a:t>Priority redeploy queue</a:t>
            </a:r>
            <a:endParaRPr lang="en-US" sz="1000" dirty="0"/>
          </a:p>
          <a:p>
            <a:pPr marL="342900" indent="-342900">
              <a:lnSpc>
                <a:spcPct val="130000"/>
              </a:lnSpc>
              <a:spcAft>
                <a:spcPts val="200"/>
              </a:spcAft>
              <a:buSzPct val="100000"/>
              <a:buChar char="●"/>
            </a:pPr>
            <a:r>
              <a:rPr lang="en-US" sz="1000" dirty="0">
                <a:solidFill>
                  <a:srgbClr val="334155"/>
                </a:solidFill>
                <a:latin typeface="DM Sans" pitchFamily="34" charset="0"/>
                <a:ea typeface="DM Sans" pitchFamily="34" charset="-122"/>
                <a:cs typeface="DM Sans" pitchFamily="34" charset="-120"/>
              </a:rPr>
              <a:t>Cohort analytics access</a:t>
            </a:r>
            <a:endParaRPr lang="en-US" sz="1000" dirty="0"/>
          </a:p>
          <a:p>
            <a:pPr marL="342900" indent="-342900">
              <a:lnSpc>
                <a:spcPct val="130000"/>
              </a:lnSpc>
              <a:spcAft>
                <a:spcPts val="200"/>
              </a:spcAft>
              <a:buSzPct val="100000"/>
              <a:buChar char="●"/>
            </a:pPr>
            <a:r>
              <a:rPr lang="en-US" sz="1000" dirty="0">
                <a:solidFill>
                  <a:srgbClr val="334155"/>
                </a:solidFill>
                <a:latin typeface="DM Sans" pitchFamily="34" charset="0"/>
                <a:ea typeface="DM Sans" pitchFamily="34" charset="-122"/>
                <a:cs typeface="DM Sans" pitchFamily="34" charset="-120"/>
              </a:rPr>
              <a:t>10 mailboxes + Supabase Studio</a:t>
            </a:r>
            <a:endParaRPr lang="en-US" sz="1000" dirty="0"/>
          </a:p>
          <a:p>
            <a:pPr marL="342900" indent="-342900">
              <a:lnSpc>
                <a:spcPct val="130000"/>
              </a:lnSpc>
              <a:spcAft>
                <a:spcPts val="200"/>
              </a:spcAft>
              <a:buSzPct val="100000"/>
              <a:buChar char="●"/>
            </a:pPr>
            <a:r>
              <a:rPr lang="en-US" sz="1000" dirty="0">
                <a:solidFill>
                  <a:srgbClr val="334155"/>
                </a:solidFill>
                <a:latin typeface="DM Sans" pitchFamily="34" charset="0"/>
                <a:ea typeface="DM Sans" pitchFamily="34" charset="-122"/>
                <a:cs typeface="DM Sans" pitchFamily="34" charset="-120"/>
              </a:rPr>
              <a:t>Founder support window</a:t>
            </a:r>
            <a:endParaRPr lang="en-US" sz="1000" dirty="0"/>
          </a:p>
        </p:txBody>
      </p:sp>
      <p:sp>
        <p:nvSpPr>
          <p:cNvPr id="22" name="Shape 20"/>
          <p:cNvSpPr/>
          <p:nvPr/>
        </p:nvSpPr>
        <p:spPr>
          <a:xfrm>
            <a:off x="502920" y="5760720"/>
            <a:ext cx="11155680" cy="685800"/>
          </a:xfrm>
          <a:prstGeom prst="roundRect">
            <a:avLst>
              <a:gd name="adj" fmla="val 10667"/>
            </a:avLst>
          </a:prstGeom>
          <a:solidFill>
            <a:srgbClr val="EEF2FF"/>
          </a:solidFill>
          <a:ln w="9525">
            <a:solidFill>
              <a:srgbClr val="4F46E5"/>
            </a:solidFill>
            <a:prstDash val="solid"/>
          </a:ln>
        </p:spPr>
      </p:sp>
      <p:sp>
        <p:nvSpPr>
          <p:cNvPr id="23" name="Text 21"/>
          <p:cNvSpPr/>
          <p:nvPr/>
        </p:nvSpPr>
        <p:spPr>
          <a:xfrm>
            <a:off x="868680" y="5806440"/>
            <a:ext cx="10424160" cy="201168"/>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REPRICED + PASS-THROUGH OVERAGE</a:t>
            </a:r>
            <a:endParaRPr lang="en-US" sz="900" dirty="0"/>
          </a:p>
        </p:txBody>
      </p:sp>
      <p:sp>
        <p:nvSpPr>
          <p:cNvPr id="24" name="Text 22"/>
          <p:cNvSpPr/>
          <p:nvPr/>
        </p:nvSpPr>
        <p:spPr>
          <a:xfrm>
            <a:off x="868680" y="6007608"/>
            <a:ext cx="10424160" cy="411480"/>
          </a:xfrm>
          <a:prstGeom prst="rect">
            <a:avLst/>
          </a:prstGeom>
          <a:noFill/>
          <a:ln/>
        </p:spPr>
        <p:txBody>
          <a:bodyPr wrap="square" rtlCol="0" anchor="ctr"/>
          <a:lstStyle/>
          <a:p>
            <a:pPr indent="0" marL="0">
              <a:lnSpc>
                <a:spcPct val="125000"/>
              </a:lnSpc>
              <a:buNone/>
            </a:pPr>
            <a:r>
              <a:rPr lang="en-US" sz="900" dirty="0">
                <a:solidFill>
                  <a:srgbClr val="334155"/>
                </a:solidFill>
                <a:latin typeface="DM Sans" pitchFamily="34" charset="0"/>
                <a:ea typeface="DM Sans" pitchFamily="34" charset="-122"/>
                <a:cs typeface="DM Sans" pitchFamily="34" charset="-120"/>
              </a:rPr>
              <a:t>Pass-through overage (cost × 1.60 = 40% Hatchik net + Paddle pass-through). PAYG £5 top-up packs — no credit risk. Mid-range Launch £11.55/mo; Growth £31.74/mo; Sandbox cost £0.30/mo. Full sensitivity: AI_COGS_SENSITIVITY.xlsx.</a:t>
            </a:r>
            <a:endParaRPr lang="en-US" sz="900" dirty="0"/>
          </a:p>
        </p:txBody>
      </p:sp>
      <p:sp>
        <p:nvSpPr>
          <p:cNvPr id="25" name="Text 23"/>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26" name="Text 24"/>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11  ·  GO-TO-MARKET</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Sprint cadence. 3× heavier in months 2-6.</a:t>
            </a:r>
            <a:endParaRPr lang="en-US" sz="3000" dirty="0"/>
          </a:p>
        </p:txBody>
      </p:sp>
      <p:sp>
        <p:nvSpPr>
          <p:cNvPr id="4" name="Shape 2"/>
          <p:cNvSpPr/>
          <p:nvPr/>
        </p:nvSpPr>
        <p:spPr>
          <a:xfrm>
            <a:off x="502920" y="1783080"/>
            <a:ext cx="11155680" cy="914400"/>
          </a:xfrm>
          <a:prstGeom prst="roundRect">
            <a:avLst>
              <a:gd name="adj" fmla="val 8000"/>
            </a:avLst>
          </a:prstGeom>
          <a:solidFill>
            <a:srgbClr val="FFFFFF"/>
          </a:solidFill>
          <a:ln w="9525">
            <a:solidFill>
              <a:srgbClr val="E2E8F0"/>
            </a:solidFill>
            <a:prstDash val="solid"/>
          </a:ln>
        </p:spPr>
      </p:sp>
      <p:sp>
        <p:nvSpPr>
          <p:cNvPr id="5" name="Shape 3"/>
          <p:cNvSpPr/>
          <p:nvPr/>
        </p:nvSpPr>
        <p:spPr>
          <a:xfrm>
            <a:off x="502920" y="1783080"/>
            <a:ext cx="91440" cy="914400"/>
          </a:xfrm>
          <a:prstGeom prst="rect">
            <a:avLst/>
          </a:prstGeom>
          <a:solidFill>
            <a:srgbClr val="4F46E5"/>
          </a:solidFill>
          <a:ln w="12700">
            <a:solidFill>
              <a:srgbClr val="333333"/>
            </a:solidFill>
            <a:prstDash val="solid"/>
          </a:ln>
        </p:spPr>
      </p:sp>
      <p:sp>
        <p:nvSpPr>
          <p:cNvPr id="6" name="Text 4"/>
          <p:cNvSpPr/>
          <p:nvPr/>
        </p:nvSpPr>
        <p:spPr>
          <a:xfrm>
            <a:off x="777240" y="1892808"/>
            <a:ext cx="5029200" cy="228600"/>
          </a:xfrm>
          <a:prstGeom prst="rect">
            <a:avLst/>
          </a:prstGeom>
          <a:noFill/>
          <a:ln/>
        </p:spPr>
        <p:txBody>
          <a:bodyPr wrap="square" rtlCol="0" anchor="ctr"/>
          <a:lstStyle/>
          <a:p>
            <a:pPr indent="0" marL="0">
              <a:buNone/>
            </a:pPr>
            <a:r>
              <a:rPr lang="en-US" sz="850" b="1" spc="300" kern="0" dirty="0">
                <a:solidFill>
                  <a:srgbClr val="3730A3"/>
                </a:solidFill>
                <a:latin typeface="JetBrains Mono" pitchFamily="34" charset="0"/>
                <a:ea typeface="JetBrains Mono" pitchFamily="34" charset="-122"/>
                <a:cs typeface="JetBrains Mono" pitchFamily="34" charset="-120"/>
              </a:rPr>
              <a:t>MONTHS 0-2  ·  BETA + LAUNCH</a:t>
            </a:r>
            <a:endParaRPr lang="en-US" sz="850" dirty="0"/>
          </a:p>
        </p:txBody>
      </p:sp>
      <p:sp>
        <p:nvSpPr>
          <p:cNvPr id="7" name="Text 5"/>
          <p:cNvSpPr/>
          <p:nvPr/>
        </p:nvSpPr>
        <p:spPr>
          <a:xfrm>
            <a:off x="777240" y="2148840"/>
            <a:ext cx="5029200" cy="457200"/>
          </a:xfrm>
          <a:prstGeom prst="rect">
            <a:avLst/>
          </a:prstGeom>
          <a:noFill/>
          <a:ln/>
        </p:spPr>
        <p:txBody>
          <a:bodyPr wrap="square" rtlCol="0" anchor="ctr"/>
          <a:lstStyle/>
          <a:p>
            <a:pPr indent="0" marL="0">
              <a:buNone/>
            </a:pPr>
            <a:r>
              <a:rPr lang="en-US" sz="1500" b="1" dirty="0">
                <a:solidFill>
                  <a:srgbClr val="0F172A"/>
                </a:solidFill>
                <a:latin typeface="DM Sans" pitchFamily="34" charset="0"/>
                <a:ea typeface="DM Sans" pitchFamily="34" charset="-122"/>
                <a:cs typeface="DM Sans" pitchFamily="34" charset="-120"/>
              </a:rPr>
              <a:t>Founder-led, 100 friendly users</a:t>
            </a:r>
            <a:endParaRPr lang="en-US" sz="1500" dirty="0"/>
          </a:p>
        </p:txBody>
      </p:sp>
      <p:sp>
        <p:nvSpPr>
          <p:cNvPr id="8" name="Text 6"/>
          <p:cNvSpPr/>
          <p:nvPr/>
        </p:nvSpPr>
        <p:spPr>
          <a:xfrm>
            <a:off x="5897880" y="1920240"/>
            <a:ext cx="5577840" cy="731520"/>
          </a:xfrm>
          <a:prstGeom prst="rect">
            <a:avLst/>
          </a:prstGeom>
          <a:noFill/>
          <a:ln/>
        </p:spPr>
        <p:txBody>
          <a:bodyPr wrap="square" rtlCol="0" anchor="ctr"/>
          <a:lstStyle/>
          <a:p>
            <a:pPr indent="0" marL="0">
              <a:lnSpc>
                <a:spcPct val="130000"/>
              </a:lnSpc>
              <a:buNone/>
            </a:pPr>
            <a:r>
              <a:rPr lang="en-US" sz="1050" dirty="0">
                <a:solidFill>
                  <a:srgbClr val="334155"/>
                </a:solidFill>
                <a:latin typeface="DM Sans" pitchFamily="34" charset="0"/>
                <a:ea typeface="DM Sans" pitchFamily="34" charset="-122"/>
                <a:cs typeface="DM Sans" pitchFamily="34" charset="-120"/>
              </a:rPr>
              <a:t>Polished sandbox, pricing tested on first 50 paying. Tight feedback loop. No marketing spend yet.</a:t>
            </a:r>
            <a:endParaRPr lang="en-US" sz="1050" dirty="0"/>
          </a:p>
        </p:txBody>
      </p:sp>
      <p:sp>
        <p:nvSpPr>
          <p:cNvPr id="9" name="Shape 7"/>
          <p:cNvSpPr/>
          <p:nvPr/>
        </p:nvSpPr>
        <p:spPr>
          <a:xfrm>
            <a:off x="502920" y="2834640"/>
            <a:ext cx="11155680" cy="914400"/>
          </a:xfrm>
          <a:prstGeom prst="roundRect">
            <a:avLst>
              <a:gd name="adj" fmla="val 8000"/>
            </a:avLst>
          </a:prstGeom>
          <a:solidFill>
            <a:srgbClr val="FFFFFF"/>
          </a:solidFill>
          <a:ln w="9525">
            <a:solidFill>
              <a:srgbClr val="E2E8F0"/>
            </a:solidFill>
            <a:prstDash val="solid"/>
          </a:ln>
        </p:spPr>
      </p:sp>
      <p:sp>
        <p:nvSpPr>
          <p:cNvPr id="10" name="Shape 8"/>
          <p:cNvSpPr/>
          <p:nvPr/>
        </p:nvSpPr>
        <p:spPr>
          <a:xfrm>
            <a:off x="502920" y="2834640"/>
            <a:ext cx="91440" cy="914400"/>
          </a:xfrm>
          <a:prstGeom prst="rect">
            <a:avLst/>
          </a:prstGeom>
          <a:solidFill>
            <a:srgbClr val="F59E0B"/>
          </a:solidFill>
          <a:ln w="12700">
            <a:solidFill>
              <a:srgbClr val="333333"/>
            </a:solidFill>
            <a:prstDash val="solid"/>
          </a:ln>
        </p:spPr>
      </p:sp>
      <p:sp>
        <p:nvSpPr>
          <p:cNvPr id="11" name="Text 9"/>
          <p:cNvSpPr/>
          <p:nvPr/>
        </p:nvSpPr>
        <p:spPr>
          <a:xfrm>
            <a:off x="777240" y="2944368"/>
            <a:ext cx="5029200" cy="228600"/>
          </a:xfrm>
          <a:prstGeom prst="rect">
            <a:avLst/>
          </a:prstGeom>
          <a:noFill/>
          <a:ln/>
        </p:spPr>
        <p:txBody>
          <a:bodyPr wrap="square" rtlCol="0" anchor="ctr"/>
          <a:lstStyle/>
          <a:p>
            <a:pPr indent="0" marL="0">
              <a:buNone/>
            </a:pPr>
            <a:r>
              <a:rPr lang="en-US" sz="850" b="1" spc="300" kern="0" dirty="0">
                <a:solidFill>
                  <a:srgbClr val="B45309"/>
                </a:solidFill>
                <a:latin typeface="JetBrains Mono" pitchFamily="34" charset="0"/>
                <a:ea typeface="JetBrains Mono" pitchFamily="34" charset="-122"/>
                <a:cs typeface="JetBrains Mono" pitchFamily="34" charset="-120"/>
              </a:rPr>
              <a:t>MONTHS 2-4  ·  HYPE INJECTION</a:t>
            </a:r>
            <a:endParaRPr lang="en-US" sz="850" dirty="0"/>
          </a:p>
        </p:txBody>
      </p:sp>
      <p:sp>
        <p:nvSpPr>
          <p:cNvPr id="12" name="Text 10"/>
          <p:cNvSpPr/>
          <p:nvPr/>
        </p:nvSpPr>
        <p:spPr>
          <a:xfrm>
            <a:off x="777240" y="3200400"/>
            <a:ext cx="5029200" cy="457200"/>
          </a:xfrm>
          <a:prstGeom prst="rect">
            <a:avLst/>
          </a:prstGeom>
          <a:noFill/>
          <a:ln/>
        </p:spPr>
        <p:txBody>
          <a:bodyPr wrap="square" rtlCol="0" anchor="ctr"/>
          <a:lstStyle/>
          <a:p>
            <a:pPr indent="0" marL="0">
              <a:buNone/>
            </a:pPr>
            <a:r>
              <a:rPr lang="en-US" sz="1500" b="1" dirty="0">
                <a:solidFill>
                  <a:srgbClr val="0F172A"/>
                </a:solidFill>
                <a:latin typeface="DM Sans" pitchFamily="34" charset="0"/>
                <a:ea typeface="DM Sans" pitchFamily="34" charset="-122"/>
                <a:cs typeface="DM Sans" pitchFamily="34" charset="-120"/>
              </a:rPr>
              <a:t>Product Hunt + Show HN + 5× YouTube</a:t>
            </a:r>
            <a:endParaRPr lang="en-US" sz="1500" dirty="0"/>
          </a:p>
        </p:txBody>
      </p:sp>
      <p:sp>
        <p:nvSpPr>
          <p:cNvPr id="13" name="Text 11"/>
          <p:cNvSpPr/>
          <p:nvPr/>
        </p:nvSpPr>
        <p:spPr>
          <a:xfrm>
            <a:off x="5897880" y="2971800"/>
            <a:ext cx="5577840" cy="731520"/>
          </a:xfrm>
          <a:prstGeom prst="rect">
            <a:avLst/>
          </a:prstGeom>
          <a:noFill/>
          <a:ln/>
        </p:spPr>
        <p:txBody>
          <a:bodyPr wrap="square" rtlCol="0" anchor="ctr"/>
          <a:lstStyle/>
          <a:p>
            <a:pPr indent="0" marL="0">
              <a:lnSpc>
                <a:spcPct val="130000"/>
              </a:lnSpc>
              <a:buNone/>
            </a:pPr>
            <a:r>
              <a:rPr lang="en-US" sz="1050" dirty="0">
                <a:solidFill>
                  <a:srgbClr val="334155"/>
                </a:solidFill>
                <a:latin typeface="DM Sans" pitchFamily="34" charset="0"/>
                <a:ea typeface="DM Sans" pitchFamily="34" charset="-122"/>
                <a:cs typeface="DM Sans" pitchFamily="34" charset="-120"/>
              </a:rPr>
              <a:t>All four channels lit at once. Theo, Fireship-adjacents, indie-hacker channels. Target 5K signups, 250-500 paying.</a:t>
            </a:r>
            <a:endParaRPr lang="en-US" sz="1050" dirty="0"/>
          </a:p>
        </p:txBody>
      </p:sp>
      <p:sp>
        <p:nvSpPr>
          <p:cNvPr id="14" name="Shape 12"/>
          <p:cNvSpPr/>
          <p:nvPr/>
        </p:nvSpPr>
        <p:spPr>
          <a:xfrm>
            <a:off x="502920" y="3886200"/>
            <a:ext cx="11155680" cy="914400"/>
          </a:xfrm>
          <a:prstGeom prst="roundRect">
            <a:avLst>
              <a:gd name="adj" fmla="val 8000"/>
            </a:avLst>
          </a:prstGeom>
          <a:solidFill>
            <a:srgbClr val="FFFFFF"/>
          </a:solidFill>
          <a:ln w="9525">
            <a:solidFill>
              <a:srgbClr val="E2E8F0"/>
            </a:solidFill>
            <a:prstDash val="solid"/>
          </a:ln>
        </p:spPr>
      </p:sp>
      <p:sp>
        <p:nvSpPr>
          <p:cNvPr id="15" name="Shape 13"/>
          <p:cNvSpPr/>
          <p:nvPr/>
        </p:nvSpPr>
        <p:spPr>
          <a:xfrm>
            <a:off x="502920" y="3886200"/>
            <a:ext cx="91440" cy="914400"/>
          </a:xfrm>
          <a:prstGeom prst="rect">
            <a:avLst/>
          </a:prstGeom>
          <a:solidFill>
            <a:srgbClr val="4F46E5"/>
          </a:solidFill>
          <a:ln w="12700">
            <a:solidFill>
              <a:srgbClr val="333333"/>
            </a:solidFill>
            <a:prstDash val="solid"/>
          </a:ln>
        </p:spPr>
      </p:sp>
      <p:sp>
        <p:nvSpPr>
          <p:cNvPr id="16" name="Text 14"/>
          <p:cNvSpPr/>
          <p:nvPr/>
        </p:nvSpPr>
        <p:spPr>
          <a:xfrm>
            <a:off x="777240" y="3995928"/>
            <a:ext cx="5029200" cy="228600"/>
          </a:xfrm>
          <a:prstGeom prst="rect">
            <a:avLst/>
          </a:prstGeom>
          <a:noFill/>
          <a:ln/>
        </p:spPr>
        <p:txBody>
          <a:bodyPr wrap="square" rtlCol="0" anchor="ctr"/>
          <a:lstStyle/>
          <a:p>
            <a:pPr indent="0" marL="0">
              <a:buNone/>
            </a:pPr>
            <a:r>
              <a:rPr lang="en-US" sz="850" b="1" spc="300" kern="0" dirty="0">
                <a:solidFill>
                  <a:srgbClr val="3730A3"/>
                </a:solidFill>
                <a:latin typeface="JetBrains Mono" pitchFamily="34" charset="0"/>
                <a:ea typeface="JetBrains Mono" pitchFamily="34" charset="-122"/>
                <a:cs typeface="JetBrains Mono" pitchFamily="34" charset="-120"/>
              </a:rPr>
              <a:t>MONTHS 4-6  ·  COMPOUND</a:t>
            </a:r>
            <a:endParaRPr lang="en-US" sz="850" dirty="0"/>
          </a:p>
        </p:txBody>
      </p:sp>
      <p:sp>
        <p:nvSpPr>
          <p:cNvPr id="17" name="Text 15"/>
          <p:cNvSpPr/>
          <p:nvPr/>
        </p:nvSpPr>
        <p:spPr>
          <a:xfrm>
            <a:off x="777240" y="4251960"/>
            <a:ext cx="5029200" cy="457200"/>
          </a:xfrm>
          <a:prstGeom prst="rect">
            <a:avLst/>
          </a:prstGeom>
          <a:noFill/>
          <a:ln/>
        </p:spPr>
        <p:txBody>
          <a:bodyPr wrap="square" rtlCol="0" anchor="ctr"/>
          <a:lstStyle/>
          <a:p>
            <a:pPr indent="0" marL="0">
              <a:buNone/>
            </a:pPr>
            <a:r>
              <a:rPr lang="en-US" sz="1500" b="1" dirty="0">
                <a:solidFill>
                  <a:srgbClr val="0F172A"/>
                </a:solidFill>
                <a:latin typeface="DM Sans" pitchFamily="34" charset="0"/>
                <a:ea typeface="DM Sans" pitchFamily="34" charset="-122"/>
                <a:cs typeface="DM Sans" pitchFamily="34" charset="-120"/>
              </a:rPr>
              <a:t>Reddit + X build-in-public + newsletters</a:t>
            </a:r>
            <a:endParaRPr lang="en-US" sz="1500" dirty="0"/>
          </a:p>
        </p:txBody>
      </p:sp>
      <p:sp>
        <p:nvSpPr>
          <p:cNvPr id="18" name="Text 16"/>
          <p:cNvSpPr/>
          <p:nvPr/>
        </p:nvSpPr>
        <p:spPr>
          <a:xfrm>
            <a:off x="5897880" y="4023360"/>
            <a:ext cx="5577840" cy="731520"/>
          </a:xfrm>
          <a:prstGeom prst="rect">
            <a:avLst/>
          </a:prstGeom>
          <a:noFill/>
          <a:ln/>
        </p:spPr>
        <p:txBody>
          <a:bodyPr wrap="square" rtlCol="0" anchor="ctr"/>
          <a:lstStyle/>
          <a:p>
            <a:pPr indent="0" marL="0">
              <a:lnSpc>
                <a:spcPct val="130000"/>
              </a:lnSpc>
              <a:buNone/>
            </a:pPr>
            <a:r>
              <a:rPr lang="en-US" sz="1050" dirty="0">
                <a:solidFill>
                  <a:srgbClr val="334155"/>
                </a:solidFill>
                <a:latin typeface="DM Sans" pitchFamily="34" charset="0"/>
                <a:ea typeface="DM Sans" pitchFamily="34" charset="-122"/>
                <a:cs typeface="DM Sans" pitchFamily="34" charset="-120"/>
              </a:rPr>
              <a:t>r/ClaudeAI, r/cursor value content. Weekly MRR posts on X. First partnership signal. Target 15K signups, 1.5-2K paying.</a:t>
            </a:r>
            <a:endParaRPr lang="en-US" sz="1050" dirty="0"/>
          </a:p>
        </p:txBody>
      </p:sp>
      <p:sp>
        <p:nvSpPr>
          <p:cNvPr id="19" name="Shape 17"/>
          <p:cNvSpPr/>
          <p:nvPr/>
        </p:nvSpPr>
        <p:spPr>
          <a:xfrm>
            <a:off x="502920" y="4937760"/>
            <a:ext cx="11155680" cy="914400"/>
          </a:xfrm>
          <a:prstGeom prst="roundRect">
            <a:avLst>
              <a:gd name="adj" fmla="val 8000"/>
            </a:avLst>
          </a:prstGeom>
          <a:solidFill>
            <a:srgbClr val="FFFFFF"/>
          </a:solidFill>
          <a:ln w="9525">
            <a:solidFill>
              <a:srgbClr val="E2E8F0"/>
            </a:solidFill>
            <a:prstDash val="solid"/>
          </a:ln>
        </p:spPr>
      </p:sp>
      <p:sp>
        <p:nvSpPr>
          <p:cNvPr id="20" name="Shape 18"/>
          <p:cNvSpPr/>
          <p:nvPr/>
        </p:nvSpPr>
        <p:spPr>
          <a:xfrm>
            <a:off x="502920" y="4937760"/>
            <a:ext cx="91440" cy="914400"/>
          </a:xfrm>
          <a:prstGeom prst="rect">
            <a:avLst/>
          </a:prstGeom>
          <a:solidFill>
            <a:srgbClr val="4F46E5"/>
          </a:solidFill>
          <a:ln w="12700">
            <a:solidFill>
              <a:srgbClr val="333333"/>
            </a:solidFill>
            <a:prstDash val="solid"/>
          </a:ln>
        </p:spPr>
      </p:sp>
      <p:sp>
        <p:nvSpPr>
          <p:cNvPr id="21" name="Text 19"/>
          <p:cNvSpPr/>
          <p:nvPr/>
        </p:nvSpPr>
        <p:spPr>
          <a:xfrm>
            <a:off x="777240" y="5047488"/>
            <a:ext cx="5029200" cy="228600"/>
          </a:xfrm>
          <a:prstGeom prst="rect">
            <a:avLst/>
          </a:prstGeom>
          <a:noFill/>
          <a:ln/>
        </p:spPr>
        <p:txBody>
          <a:bodyPr wrap="square" rtlCol="0" anchor="ctr"/>
          <a:lstStyle/>
          <a:p>
            <a:pPr indent="0" marL="0">
              <a:buNone/>
            </a:pPr>
            <a:r>
              <a:rPr lang="en-US" sz="850" b="1" spc="300" kern="0" dirty="0">
                <a:solidFill>
                  <a:srgbClr val="3730A3"/>
                </a:solidFill>
                <a:latin typeface="JetBrains Mono" pitchFamily="34" charset="0"/>
                <a:ea typeface="JetBrains Mono" pitchFamily="34" charset="-122"/>
                <a:cs typeface="JetBrains Mono" pitchFamily="34" charset="-120"/>
              </a:rPr>
              <a:t>MONTHS 6-15  ·  DECIDE + CAPITALISE</a:t>
            </a:r>
            <a:endParaRPr lang="en-US" sz="850" dirty="0"/>
          </a:p>
        </p:txBody>
      </p:sp>
      <p:sp>
        <p:nvSpPr>
          <p:cNvPr id="22" name="Text 20"/>
          <p:cNvSpPr/>
          <p:nvPr/>
        </p:nvSpPr>
        <p:spPr>
          <a:xfrm>
            <a:off x="777240" y="5303520"/>
            <a:ext cx="5029200" cy="457200"/>
          </a:xfrm>
          <a:prstGeom prst="rect">
            <a:avLst/>
          </a:prstGeom>
          <a:noFill/>
          <a:ln/>
        </p:spPr>
        <p:txBody>
          <a:bodyPr wrap="square" rtlCol="0" anchor="ctr"/>
          <a:lstStyle/>
          <a:p>
            <a:pPr indent="0" marL="0">
              <a:buNone/>
            </a:pPr>
            <a:r>
              <a:rPr lang="en-US" sz="1500" b="1" dirty="0">
                <a:solidFill>
                  <a:srgbClr val="0F172A"/>
                </a:solidFill>
                <a:latin typeface="DM Sans" pitchFamily="34" charset="0"/>
                <a:ea typeface="DM Sans" pitchFamily="34" charset="-122"/>
                <a:cs typeface="DM Sans" pitchFamily="34" charset="-120"/>
              </a:rPr>
              <a:t>Raise, exit, or stay lean</a:t>
            </a:r>
            <a:endParaRPr lang="en-US" sz="1500" dirty="0"/>
          </a:p>
        </p:txBody>
      </p:sp>
      <p:sp>
        <p:nvSpPr>
          <p:cNvPr id="23" name="Text 21"/>
          <p:cNvSpPr/>
          <p:nvPr/>
        </p:nvSpPr>
        <p:spPr>
          <a:xfrm>
            <a:off x="5897880" y="5074920"/>
            <a:ext cx="5577840" cy="731520"/>
          </a:xfrm>
          <a:prstGeom prst="rect">
            <a:avLst/>
          </a:prstGeom>
          <a:noFill/>
          <a:ln/>
        </p:spPr>
        <p:txBody>
          <a:bodyPr wrap="square" rtlCol="0" anchor="ctr"/>
          <a:lstStyle/>
          <a:p>
            <a:pPr indent="0" marL="0">
              <a:lnSpc>
                <a:spcPct val="130000"/>
              </a:lnSpc>
              <a:buNone/>
            </a:pPr>
            <a:r>
              <a:rPr lang="en-US" sz="1050" dirty="0">
                <a:solidFill>
                  <a:srgbClr val="334155"/>
                </a:solidFill>
                <a:latin typeface="DM Sans" pitchFamily="34" charset="0"/>
                <a:ea typeface="DM Sans" pitchFamily="34" charset="-122"/>
                <a:cs typeface="DM Sans" pitchFamily="34" charset="-120"/>
              </a:rPr>
              <a:t>Month 6-9: pre-seed conversation, acquirer signalling, or run lean. Month 9-15: paid acquisition engine if numbers support it.</a:t>
            </a:r>
            <a:endParaRPr lang="en-US" sz="1050" dirty="0"/>
          </a:p>
        </p:txBody>
      </p:sp>
      <p:sp>
        <p:nvSpPr>
          <p:cNvPr id="24" name="Text 22"/>
          <p:cNvSpPr/>
          <p:nvPr/>
        </p:nvSpPr>
        <p:spPr>
          <a:xfrm>
            <a:off x="502920" y="6126480"/>
            <a:ext cx="10972800" cy="228600"/>
          </a:xfrm>
          <a:prstGeom prst="rect">
            <a:avLst/>
          </a:prstGeom>
          <a:noFill/>
          <a:ln/>
        </p:spPr>
        <p:txBody>
          <a:bodyPr wrap="square" rtlCol="0" anchor="ctr"/>
          <a:lstStyle/>
          <a:p>
            <a:pPr algn="ctr" indent="0" marL="0">
              <a:buNone/>
            </a:pPr>
            <a:r>
              <a:rPr lang="en-US" sz="1000" i="1" dirty="0">
                <a:solidFill>
                  <a:srgbClr val="64748B"/>
                </a:solidFill>
                <a:latin typeface="DM Sans" pitchFamily="34" charset="0"/>
                <a:ea typeface="DM Sans" pitchFamily="34" charset="-122"/>
                <a:cs typeface="DM Sans" pitchFamily="34" charset="-120"/>
              </a:rPr>
              <a:t>Four channels stay. Intensity is 3× heavier in months 2-6 than a steady-state launch. The window doesn’t reopen.</a:t>
            </a:r>
            <a:endParaRPr lang="en-US" sz="1000" dirty="0"/>
          </a:p>
        </p:txBody>
      </p:sp>
      <p:sp>
        <p:nvSpPr>
          <p:cNvPr id="25" name="Text 23"/>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26" name="Text 24"/>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12  ·  FUNNEL + ASSUMPTIONS</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Validate by signup #100. Decide raise-or-exit by month 6.</a:t>
            </a:r>
            <a:endParaRPr lang="en-US" sz="3000" dirty="0"/>
          </a:p>
        </p:txBody>
      </p:sp>
      <p:sp>
        <p:nvSpPr>
          <p:cNvPr id="4" name="Shape 2"/>
          <p:cNvSpPr/>
          <p:nvPr/>
        </p:nvSpPr>
        <p:spPr>
          <a:xfrm>
            <a:off x="502920" y="1874520"/>
            <a:ext cx="4572000" cy="3749040"/>
          </a:xfrm>
          <a:prstGeom prst="roundRect">
            <a:avLst>
              <a:gd name="adj" fmla="val 1951"/>
            </a:avLst>
          </a:prstGeom>
          <a:solidFill>
            <a:srgbClr val="FFFFFF"/>
          </a:solidFill>
          <a:ln w="9525">
            <a:solidFill>
              <a:srgbClr val="E2E8F0"/>
            </a:solidFill>
            <a:prstDash val="solid"/>
          </a:ln>
        </p:spPr>
      </p:sp>
      <p:sp>
        <p:nvSpPr>
          <p:cNvPr id="5" name="Text 3"/>
          <p:cNvSpPr/>
          <p:nvPr/>
        </p:nvSpPr>
        <p:spPr>
          <a:xfrm>
            <a:off x="777240" y="2103120"/>
            <a:ext cx="4114800" cy="274320"/>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FUNNEL</a:t>
            </a:r>
            <a:endParaRPr lang="en-US" sz="900" dirty="0"/>
          </a:p>
        </p:txBody>
      </p:sp>
      <p:sp>
        <p:nvSpPr>
          <p:cNvPr id="6" name="Shape 4"/>
          <p:cNvSpPr/>
          <p:nvPr/>
        </p:nvSpPr>
        <p:spPr>
          <a:xfrm>
            <a:off x="777240" y="2560320"/>
            <a:ext cx="3566160" cy="594360"/>
          </a:xfrm>
          <a:prstGeom prst="roundRect">
            <a:avLst>
              <a:gd name="adj" fmla="val 9231"/>
            </a:avLst>
          </a:prstGeom>
          <a:solidFill>
            <a:srgbClr val="4F46E5"/>
          </a:solidFill>
          <a:ln w="12700">
            <a:solidFill>
              <a:srgbClr val="4F46E5"/>
            </a:solidFill>
            <a:prstDash val="solid"/>
          </a:ln>
        </p:spPr>
      </p:sp>
      <p:sp>
        <p:nvSpPr>
          <p:cNvPr id="7" name="Text 5"/>
          <p:cNvSpPr/>
          <p:nvPr/>
        </p:nvSpPr>
        <p:spPr>
          <a:xfrm>
            <a:off x="777240" y="2560320"/>
            <a:ext cx="3566160" cy="594360"/>
          </a:xfrm>
          <a:prstGeom prst="rect">
            <a:avLst/>
          </a:prstGeom>
          <a:noFill/>
          <a:ln/>
        </p:spPr>
        <p:txBody>
          <a:bodyPr wrap="square" rtlCol="0" anchor="ctr"/>
          <a:lstStyle/>
          <a:p>
            <a:pPr algn="ctr" indent="0" marL="0">
              <a:buNone/>
            </a:pPr>
            <a:r>
              <a:rPr lang="en-US" sz="1600" b="1" dirty="0">
                <a:solidFill>
                  <a:srgbClr val="FFFFFF"/>
                </a:solidFill>
                <a:latin typeface="DM Sans" pitchFamily="34" charset="0"/>
                <a:ea typeface="DM Sans" pitchFamily="34" charset="-122"/>
                <a:cs typeface="DM Sans" pitchFamily="34" charset="-120"/>
              </a:rPr>
              <a:t>100%</a:t>
            </a:r>
            <a:endParaRPr lang="en-US" sz="1600" dirty="0"/>
          </a:p>
        </p:txBody>
      </p:sp>
      <p:sp>
        <p:nvSpPr>
          <p:cNvPr id="8" name="Text 6"/>
          <p:cNvSpPr/>
          <p:nvPr/>
        </p:nvSpPr>
        <p:spPr>
          <a:xfrm>
            <a:off x="777240" y="3182112"/>
            <a:ext cx="4114800" cy="201168"/>
          </a:xfrm>
          <a:prstGeom prst="rect">
            <a:avLst/>
          </a:prstGeom>
          <a:noFill/>
          <a:ln/>
        </p:spPr>
        <p:txBody>
          <a:bodyPr wrap="square" rtlCol="0" anchor="ctr"/>
          <a:lstStyle/>
          <a:p>
            <a:pPr indent="0" marL="0">
              <a:buNone/>
            </a:pPr>
            <a:r>
              <a:rPr lang="en-US" sz="1050" dirty="0">
                <a:solidFill>
                  <a:srgbClr val="334155"/>
                </a:solidFill>
                <a:latin typeface="DM Sans" pitchFamily="34" charset="0"/>
                <a:ea typeface="DM Sans" pitchFamily="34" charset="-122"/>
                <a:cs typeface="DM Sans" pitchFamily="34" charset="-120"/>
              </a:rPr>
              <a:t>Sandbox signups</a:t>
            </a:r>
            <a:endParaRPr lang="en-US" sz="1050" dirty="0"/>
          </a:p>
        </p:txBody>
      </p:sp>
      <p:sp>
        <p:nvSpPr>
          <p:cNvPr id="9" name="Shape 7"/>
          <p:cNvSpPr/>
          <p:nvPr/>
        </p:nvSpPr>
        <p:spPr>
          <a:xfrm>
            <a:off x="777240" y="3520440"/>
            <a:ext cx="1961388" cy="594360"/>
          </a:xfrm>
          <a:prstGeom prst="roundRect">
            <a:avLst>
              <a:gd name="adj" fmla="val 9231"/>
            </a:avLst>
          </a:prstGeom>
          <a:solidFill>
            <a:srgbClr val="F59E0B"/>
          </a:solidFill>
          <a:ln w="12700">
            <a:solidFill>
              <a:srgbClr val="F59E0B"/>
            </a:solidFill>
            <a:prstDash val="solid"/>
          </a:ln>
        </p:spPr>
      </p:sp>
      <p:sp>
        <p:nvSpPr>
          <p:cNvPr id="10" name="Text 8"/>
          <p:cNvSpPr/>
          <p:nvPr/>
        </p:nvSpPr>
        <p:spPr>
          <a:xfrm>
            <a:off x="777240" y="3520440"/>
            <a:ext cx="1961388" cy="594360"/>
          </a:xfrm>
          <a:prstGeom prst="rect">
            <a:avLst/>
          </a:prstGeom>
          <a:noFill/>
          <a:ln/>
        </p:spPr>
        <p:txBody>
          <a:bodyPr wrap="square" rtlCol="0" anchor="ctr"/>
          <a:lstStyle/>
          <a:p>
            <a:pPr algn="ctr" indent="0" marL="0">
              <a:buNone/>
            </a:pPr>
            <a:r>
              <a:rPr lang="en-US" sz="1600" b="1" dirty="0">
                <a:solidFill>
                  <a:srgbClr val="FFFFFF"/>
                </a:solidFill>
                <a:latin typeface="DM Sans" pitchFamily="34" charset="0"/>
                <a:ea typeface="DM Sans" pitchFamily="34" charset="-122"/>
                <a:cs typeface="DM Sans" pitchFamily="34" charset="-120"/>
              </a:rPr>
              <a:t>5%</a:t>
            </a:r>
            <a:endParaRPr lang="en-US" sz="1600" dirty="0"/>
          </a:p>
        </p:txBody>
      </p:sp>
      <p:sp>
        <p:nvSpPr>
          <p:cNvPr id="11" name="Text 9"/>
          <p:cNvSpPr/>
          <p:nvPr/>
        </p:nvSpPr>
        <p:spPr>
          <a:xfrm>
            <a:off x="777240" y="4142232"/>
            <a:ext cx="4114800" cy="201168"/>
          </a:xfrm>
          <a:prstGeom prst="rect">
            <a:avLst/>
          </a:prstGeom>
          <a:noFill/>
          <a:ln/>
        </p:spPr>
        <p:txBody>
          <a:bodyPr wrap="square" rtlCol="0" anchor="ctr"/>
          <a:lstStyle/>
          <a:p>
            <a:pPr indent="0" marL="0">
              <a:buNone/>
            </a:pPr>
            <a:r>
              <a:rPr lang="en-US" sz="1050" dirty="0">
                <a:solidFill>
                  <a:srgbClr val="334155"/>
                </a:solidFill>
                <a:latin typeface="DM Sans" pitchFamily="34" charset="0"/>
                <a:ea typeface="DM Sans" pitchFamily="34" charset="-122"/>
                <a:cs typeface="DM Sans" pitchFamily="34" charset="-120"/>
              </a:rPr>
              <a:t>Convert to Launch</a:t>
            </a:r>
            <a:endParaRPr lang="en-US" sz="1050" dirty="0"/>
          </a:p>
        </p:txBody>
      </p:sp>
      <p:sp>
        <p:nvSpPr>
          <p:cNvPr id="12" name="Shape 10"/>
          <p:cNvSpPr/>
          <p:nvPr/>
        </p:nvSpPr>
        <p:spPr>
          <a:xfrm>
            <a:off x="777240" y="4480560"/>
            <a:ext cx="713232" cy="594360"/>
          </a:xfrm>
          <a:prstGeom prst="roundRect">
            <a:avLst>
              <a:gd name="adj" fmla="val 9231"/>
            </a:avLst>
          </a:prstGeom>
          <a:solidFill>
            <a:srgbClr val="10B981"/>
          </a:solidFill>
          <a:ln w="12700">
            <a:solidFill>
              <a:srgbClr val="10B981"/>
            </a:solidFill>
            <a:prstDash val="solid"/>
          </a:ln>
        </p:spPr>
      </p:sp>
      <p:sp>
        <p:nvSpPr>
          <p:cNvPr id="13" name="Text 11"/>
          <p:cNvSpPr/>
          <p:nvPr/>
        </p:nvSpPr>
        <p:spPr>
          <a:xfrm>
            <a:off x="777240" y="4480560"/>
            <a:ext cx="713232" cy="594360"/>
          </a:xfrm>
          <a:prstGeom prst="rect">
            <a:avLst/>
          </a:prstGeom>
          <a:noFill/>
          <a:ln/>
        </p:spPr>
        <p:txBody>
          <a:bodyPr wrap="square" rtlCol="0" anchor="ctr"/>
          <a:lstStyle/>
          <a:p>
            <a:pPr algn="ctr" indent="0" marL="0">
              <a:buNone/>
            </a:pPr>
            <a:r>
              <a:rPr lang="en-US" sz="1600" b="1" dirty="0">
                <a:solidFill>
                  <a:srgbClr val="FFFFFF"/>
                </a:solidFill>
                <a:latin typeface="DM Sans" pitchFamily="34" charset="0"/>
                <a:ea typeface="DM Sans" pitchFamily="34" charset="-122"/>
                <a:cs typeface="DM Sans" pitchFamily="34" charset="-120"/>
              </a:rPr>
              <a:t>1%</a:t>
            </a:r>
            <a:endParaRPr lang="en-US" sz="1600" dirty="0"/>
          </a:p>
        </p:txBody>
      </p:sp>
      <p:sp>
        <p:nvSpPr>
          <p:cNvPr id="14" name="Text 12"/>
          <p:cNvSpPr/>
          <p:nvPr/>
        </p:nvSpPr>
        <p:spPr>
          <a:xfrm>
            <a:off x="777240" y="5102352"/>
            <a:ext cx="4114800" cy="201168"/>
          </a:xfrm>
          <a:prstGeom prst="rect">
            <a:avLst/>
          </a:prstGeom>
          <a:noFill/>
          <a:ln/>
        </p:spPr>
        <p:txBody>
          <a:bodyPr wrap="square" rtlCol="0" anchor="ctr"/>
          <a:lstStyle/>
          <a:p>
            <a:pPr indent="0" marL="0">
              <a:buNone/>
            </a:pPr>
            <a:r>
              <a:rPr lang="en-US" sz="1050" dirty="0">
                <a:solidFill>
                  <a:srgbClr val="334155"/>
                </a:solidFill>
                <a:latin typeface="DM Sans" pitchFamily="34" charset="0"/>
                <a:ea typeface="DM Sans" pitchFamily="34" charset="-122"/>
                <a:cs typeface="DM Sans" pitchFamily="34" charset="-120"/>
              </a:rPr>
              <a:t>Upgrade to Growth</a:t>
            </a:r>
            <a:endParaRPr lang="en-US" sz="1050" dirty="0"/>
          </a:p>
        </p:txBody>
      </p:sp>
      <p:sp>
        <p:nvSpPr>
          <p:cNvPr id="15" name="Shape 13"/>
          <p:cNvSpPr/>
          <p:nvPr/>
        </p:nvSpPr>
        <p:spPr>
          <a:xfrm>
            <a:off x="5257800" y="1874520"/>
            <a:ext cx="6400800" cy="3749040"/>
          </a:xfrm>
          <a:prstGeom prst="roundRect">
            <a:avLst>
              <a:gd name="adj" fmla="val 1951"/>
            </a:avLst>
          </a:prstGeom>
          <a:solidFill>
            <a:srgbClr val="FFFFFF"/>
          </a:solidFill>
          <a:ln w="9525">
            <a:solidFill>
              <a:srgbClr val="E2E8F0"/>
            </a:solidFill>
            <a:prstDash val="solid"/>
          </a:ln>
        </p:spPr>
      </p:sp>
      <p:sp>
        <p:nvSpPr>
          <p:cNvPr id="16" name="Text 14"/>
          <p:cNvSpPr/>
          <p:nvPr/>
        </p:nvSpPr>
        <p:spPr>
          <a:xfrm>
            <a:off x="5532120" y="2103120"/>
            <a:ext cx="5943600" cy="274320"/>
          </a:xfrm>
          <a:prstGeom prst="rect">
            <a:avLst/>
          </a:prstGeom>
          <a:noFill/>
          <a:ln/>
        </p:spPr>
        <p:txBody>
          <a:bodyPr wrap="square" rtlCol="0" anchor="ctr"/>
          <a:lstStyle/>
          <a:p>
            <a:pPr indent="0" marL="0">
              <a:buNone/>
            </a:pPr>
            <a:r>
              <a:rPr lang="en-US" sz="900" b="1" spc="400" kern="0" dirty="0">
                <a:solidFill>
                  <a:srgbClr val="B45309"/>
                </a:solidFill>
                <a:latin typeface="JetBrains Mono" pitchFamily="34" charset="0"/>
                <a:ea typeface="JetBrains Mono" pitchFamily="34" charset="-122"/>
                <a:cs typeface="JetBrains Mono" pitchFamily="34" charset="-120"/>
              </a:rPr>
              <a:t>VALIDATE BY #100  ·  DECIDE BY MONTH 6</a:t>
            </a:r>
            <a:endParaRPr lang="en-US" sz="900" dirty="0"/>
          </a:p>
        </p:txBody>
      </p:sp>
      <p:sp>
        <p:nvSpPr>
          <p:cNvPr id="17" name="Text 15"/>
          <p:cNvSpPr/>
          <p:nvPr/>
        </p:nvSpPr>
        <p:spPr>
          <a:xfrm>
            <a:off x="5532120" y="2560320"/>
            <a:ext cx="548640" cy="292608"/>
          </a:xfrm>
          <a:prstGeom prst="rect">
            <a:avLst/>
          </a:prstGeom>
          <a:noFill/>
          <a:ln/>
        </p:spPr>
        <p:txBody>
          <a:bodyPr wrap="square" rtlCol="0" anchor="ctr"/>
          <a:lstStyle/>
          <a:p>
            <a:pPr indent="0" marL="0">
              <a:buNone/>
            </a:pPr>
            <a:r>
              <a:rPr lang="en-US" sz="1400" b="1" dirty="0">
                <a:solidFill>
                  <a:srgbClr val="4F46E5"/>
                </a:solidFill>
                <a:latin typeface="JetBrains Mono" pitchFamily="34" charset="0"/>
                <a:ea typeface="JetBrains Mono" pitchFamily="34" charset="-122"/>
                <a:cs typeface="JetBrains Mono" pitchFamily="34" charset="-120"/>
              </a:rPr>
              <a:t>01</a:t>
            </a:r>
            <a:endParaRPr lang="en-US" sz="1400" dirty="0"/>
          </a:p>
        </p:txBody>
      </p:sp>
      <p:sp>
        <p:nvSpPr>
          <p:cNvPr id="18" name="Text 16"/>
          <p:cNvSpPr/>
          <p:nvPr/>
        </p:nvSpPr>
        <p:spPr>
          <a:xfrm>
            <a:off x="6035040" y="2560320"/>
            <a:ext cx="5486400" cy="274320"/>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Sandbox → Launch conversion</a:t>
            </a:r>
            <a:endParaRPr lang="en-US" sz="1300" dirty="0"/>
          </a:p>
        </p:txBody>
      </p:sp>
      <p:sp>
        <p:nvSpPr>
          <p:cNvPr id="19" name="Text 17"/>
          <p:cNvSpPr/>
          <p:nvPr/>
        </p:nvSpPr>
        <p:spPr>
          <a:xfrm>
            <a:off x="6035040" y="2834640"/>
            <a:ext cx="5486400" cy="274320"/>
          </a:xfrm>
          <a:prstGeom prst="rect">
            <a:avLst/>
          </a:prstGeom>
          <a:noFill/>
          <a:ln/>
        </p:spPr>
        <p:txBody>
          <a:bodyPr wrap="square" rtlCol="0" anchor="ctr"/>
          <a:lstStyle/>
          <a:p>
            <a:pPr indent="0" marL="0">
              <a:buNone/>
            </a:pPr>
            <a:r>
              <a:rPr lang="en-US" sz="1050" i="1" dirty="0">
                <a:solidFill>
                  <a:srgbClr val="64748B"/>
                </a:solidFill>
                <a:latin typeface="DM Sans" pitchFamily="34" charset="0"/>
                <a:ea typeface="DM Sans" pitchFamily="34" charset="-122"/>
                <a:cs typeface="DM Sans" pitchFamily="34" charset="-120"/>
              </a:rPr>
              <a:t>Assumed 5%  ·  industry 3–10%</a:t>
            </a:r>
            <a:endParaRPr lang="en-US" sz="1050" dirty="0"/>
          </a:p>
        </p:txBody>
      </p:sp>
      <p:sp>
        <p:nvSpPr>
          <p:cNvPr id="20" name="Text 18"/>
          <p:cNvSpPr/>
          <p:nvPr/>
        </p:nvSpPr>
        <p:spPr>
          <a:xfrm>
            <a:off x="5532120" y="3429000"/>
            <a:ext cx="548640" cy="292608"/>
          </a:xfrm>
          <a:prstGeom prst="rect">
            <a:avLst/>
          </a:prstGeom>
          <a:noFill/>
          <a:ln/>
        </p:spPr>
        <p:txBody>
          <a:bodyPr wrap="square" rtlCol="0" anchor="ctr"/>
          <a:lstStyle/>
          <a:p>
            <a:pPr indent="0" marL="0">
              <a:buNone/>
            </a:pPr>
            <a:r>
              <a:rPr lang="en-US" sz="1400" b="1" dirty="0">
                <a:solidFill>
                  <a:srgbClr val="4F46E5"/>
                </a:solidFill>
                <a:latin typeface="JetBrains Mono" pitchFamily="34" charset="0"/>
                <a:ea typeface="JetBrains Mono" pitchFamily="34" charset="-122"/>
                <a:cs typeface="JetBrains Mono" pitchFamily="34" charset="-120"/>
              </a:rPr>
              <a:t>02</a:t>
            </a:r>
            <a:endParaRPr lang="en-US" sz="1400" dirty="0"/>
          </a:p>
        </p:txBody>
      </p:sp>
      <p:sp>
        <p:nvSpPr>
          <p:cNvPr id="21" name="Text 19"/>
          <p:cNvSpPr/>
          <p:nvPr/>
        </p:nvSpPr>
        <p:spPr>
          <a:xfrm>
            <a:off x="6035040" y="3429000"/>
            <a:ext cx="5486400" cy="274320"/>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Launch monthly churn</a:t>
            </a:r>
            <a:endParaRPr lang="en-US" sz="1300" dirty="0"/>
          </a:p>
        </p:txBody>
      </p:sp>
      <p:sp>
        <p:nvSpPr>
          <p:cNvPr id="22" name="Text 20"/>
          <p:cNvSpPr/>
          <p:nvPr/>
        </p:nvSpPr>
        <p:spPr>
          <a:xfrm>
            <a:off x="6035040" y="3703320"/>
            <a:ext cx="5486400" cy="274320"/>
          </a:xfrm>
          <a:prstGeom prst="rect">
            <a:avLst/>
          </a:prstGeom>
          <a:noFill/>
          <a:ln/>
        </p:spPr>
        <p:txBody>
          <a:bodyPr wrap="square" rtlCol="0" anchor="ctr"/>
          <a:lstStyle/>
          <a:p>
            <a:pPr indent="0" marL="0">
              <a:buNone/>
            </a:pPr>
            <a:r>
              <a:rPr lang="en-US" sz="1050" i="1" dirty="0">
                <a:solidFill>
                  <a:srgbClr val="64748B"/>
                </a:solidFill>
                <a:latin typeface="DM Sans" pitchFamily="34" charset="0"/>
                <a:ea typeface="DM Sans" pitchFamily="34" charset="-122"/>
                <a:cs typeface="DM Sans" pitchFamily="34" charset="-120"/>
              </a:rPr>
              <a:t>Assumed ~3%/mo  ·  signal in 60-90 days</a:t>
            </a:r>
            <a:endParaRPr lang="en-US" sz="1050" dirty="0"/>
          </a:p>
        </p:txBody>
      </p:sp>
      <p:sp>
        <p:nvSpPr>
          <p:cNvPr id="23" name="Text 21"/>
          <p:cNvSpPr/>
          <p:nvPr/>
        </p:nvSpPr>
        <p:spPr>
          <a:xfrm>
            <a:off x="5532120" y="4297680"/>
            <a:ext cx="548640" cy="292608"/>
          </a:xfrm>
          <a:prstGeom prst="rect">
            <a:avLst/>
          </a:prstGeom>
          <a:noFill/>
          <a:ln/>
        </p:spPr>
        <p:txBody>
          <a:bodyPr wrap="square" rtlCol="0" anchor="ctr"/>
          <a:lstStyle/>
          <a:p>
            <a:pPr indent="0" marL="0">
              <a:buNone/>
            </a:pPr>
            <a:r>
              <a:rPr lang="en-US" sz="1400" b="1" dirty="0">
                <a:solidFill>
                  <a:srgbClr val="4F46E5"/>
                </a:solidFill>
                <a:latin typeface="JetBrains Mono" pitchFamily="34" charset="0"/>
                <a:ea typeface="JetBrains Mono" pitchFamily="34" charset="-122"/>
                <a:cs typeface="JetBrains Mono" pitchFamily="34" charset="-120"/>
              </a:rPr>
              <a:t>03</a:t>
            </a:r>
            <a:endParaRPr lang="en-US" sz="1400" dirty="0"/>
          </a:p>
        </p:txBody>
      </p:sp>
      <p:sp>
        <p:nvSpPr>
          <p:cNvPr id="24" name="Text 22"/>
          <p:cNvSpPr/>
          <p:nvPr/>
        </p:nvSpPr>
        <p:spPr>
          <a:xfrm>
            <a:off x="6035040" y="4297680"/>
            <a:ext cx="5486400" cy="274320"/>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Time to Launch → Growth</a:t>
            </a:r>
            <a:endParaRPr lang="en-US" sz="1300" dirty="0"/>
          </a:p>
        </p:txBody>
      </p:sp>
      <p:sp>
        <p:nvSpPr>
          <p:cNvPr id="25" name="Text 23"/>
          <p:cNvSpPr/>
          <p:nvPr/>
        </p:nvSpPr>
        <p:spPr>
          <a:xfrm>
            <a:off x="6035040" y="4572000"/>
            <a:ext cx="5486400" cy="274320"/>
          </a:xfrm>
          <a:prstGeom prst="rect">
            <a:avLst/>
          </a:prstGeom>
          <a:noFill/>
          <a:ln/>
        </p:spPr>
        <p:txBody>
          <a:bodyPr wrap="square" rtlCol="0" anchor="ctr"/>
          <a:lstStyle/>
          <a:p>
            <a:pPr indent="0" marL="0">
              <a:buNone/>
            </a:pPr>
            <a:r>
              <a:rPr lang="en-US" sz="1050" i="1" dirty="0">
                <a:solidFill>
                  <a:srgbClr val="64748B"/>
                </a:solidFill>
                <a:latin typeface="DM Sans" pitchFamily="34" charset="0"/>
                <a:ea typeface="DM Sans" pitchFamily="34" charset="-122"/>
                <a:cs typeface="DM Sans" pitchFamily="34" charset="-120"/>
              </a:rPr>
              <a:t>Assumed 6 months in sprint mode</a:t>
            </a:r>
            <a:endParaRPr lang="en-US" sz="1050" dirty="0"/>
          </a:p>
        </p:txBody>
      </p:sp>
      <p:sp>
        <p:nvSpPr>
          <p:cNvPr id="26" name="Shape 24"/>
          <p:cNvSpPr/>
          <p:nvPr/>
        </p:nvSpPr>
        <p:spPr>
          <a:xfrm>
            <a:off x="502920" y="5760720"/>
            <a:ext cx="3596640" cy="502920"/>
          </a:xfrm>
          <a:prstGeom prst="roundRect">
            <a:avLst>
              <a:gd name="adj" fmla="val 10909"/>
            </a:avLst>
          </a:prstGeom>
          <a:solidFill>
            <a:srgbClr val="EEF2FF"/>
          </a:solidFill>
          <a:ln w="9525">
            <a:solidFill>
              <a:srgbClr val="4F46E5"/>
            </a:solidFill>
            <a:prstDash val="solid"/>
          </a:ln>
        </p:spPr>
      </p:sp>
      <p:sp>
        <p:nvSpPr>
          <p:cNvPr id="27" name="Text 25"/>
          <p:cNvSpPr/>
          <p:nvPr/>
        </p:nvSpPr>
        <p:spPr>
          <a:xfrm>
            <a:off x="777240" y="5760720"/>
            <a:ext cx="2337816" cy="502920"/>
          </a:xfrm>
          <a:prstGeom prst="rect">
            <a:avLst/>
          </a:prstGeom>
          <a:noFill/>
          <a:ln/>
        </p:spPr>
        <p:txBody>
          <a:bodyPr wrap="square" rtlCol="0" anchor="ctr"/>
          <a:lstStyle/>
          <a:p>
            <a:pPr indent="0" marL="0">
              <a:buNone/>
            </a:pPr>
            <a:r>
              <a:rPr lang="en-US" sz="1050" dirty="0">
                <a:solidFill>
                  <a:srgbClr val="334155"/>
                </a:solidFill>
                <a:latin typeface="DM Sans" pitchFamily="34" charset="0"/>
                <a:ea typeface="DM Sans" pitchFamily="34" charset="-122"/>
                <a:cs typeface="DM Sans" pitchFamily="34" charset="-120"/>
              </a:rPr>
              <a:t>Blended LTV (repriced)</a:t>
            </a:r>
            <a:endParaRPr lang="en-US" sz="1050" dirty="0"/>
          </a:p>
        </p:txBody>
      </p:sp>
      <p:sp>
        <p:nvSpPr>
          <p:cNvPr id="28" name="Text 26"/>
          <p:cNvSpPr/>
          <p:nvPr/>
        </p:nvSpPr>
        <p:spPr>
          <a:xfrm>
            <a:off x="777240" y="5760720"/>
            <a:ext cx="3048000" cy="502920"/>
          </a:xfrm>
          <a:prstGeom prst="rect">
            <a:avLst/>
          </a:prstGeom>
          <a:noFill/>
          <a:ln/>
        </p:spPr>
        <p:txBody>
          <a:bodyPr wrap="square" rtlCol="0" anchor="ctr"/>
          <a:lstStyle/>
          <a:p>
            <a:pPr algn="r" indent="0" marL="0">
              <a:buNone/>
            </a:pPr>
            <a:r>
              <a:rPr lang="en-US" sz="1500" b="1" dirty="0">
                <a:solidFill>
                  <a:srgbClr val="3730A3"/>
                </a:solidFill>
                <a:latin typeface="DM Sans" pitchFamily="34" charset="0"/>
                <a:ea typeface="DM Sans" pitchFamily="34" charset="-122"/>
                <a:cs typeface="DM Sans" pitchFamily="34" charset="-120"/>
              </a:rPr>
              <a:t>£520</a:t>
            </a:r>
            <a:endParaRPr lang="en-US" sz="1500" dirty="0"/>
          </a:p>
        </p:txBody>
      </p:sp>
      <p:sp>
        <p:nvSpPr>
          <p:cNvPr id="29" name="Shape 27"/>
          <p:cNvSpPr/>
          <p:nvPr/>
        </p:nvSpPr>
        <p:spPr>
          <a:xfrm>
            <a:off x="4282440" y="5760720"/>
            <a:ext cx="3596640" cy="502920"/>
          </a:xfrm>
          <a:prstGeom prst="roundRect">
            <a:avLst>
              <a:gd name="adj" fmla="val 10909"/>
            </a:avLst>
          </a:prstGeom>
          <a:solidFill>
            <a:srgbClr val="EEF2FF"/>
          </a:solidFill>
          <a:ln w="9525">
            <a:solidFill>
              <a:srgbClr val="4F46E5"/>
            </a:solidFill>
            <a:prstDash val="solid"/>
          </a:ln>
        </p:spPr>
      </p:sp>
      <p:sp>
        <p:nvSpPr>
          <p:cNvPr id="30" name="Text 28"/>
          <p:cNvSpPr/>
          <p:nvPr/>
        </p:nvSpPr>
        <p:spPr>
          <a:xfrm>
            <a:off x="4556760" y="5760720"/>
            <a:ext cx="2337816" cy="502920"/>
          </a:xfrm>
          <a:prstGeom prst="rect">
            <a:avLst/>
          </a:prstGeom>
          <a:noFill/>
          <a:ln/>
        </p:spPr>
        <p:txBody>
          <a:bodyPr wrap="square" rtlCol="0" anchor="ctr"/>
          <a:lstStyle/>
          <a:p>
            <a:pPr indent="0" marL="0">
              <a:buNone/>
            </a:pPr>
            <a:r>
              <a:rPr lang="en-US" sz="1050" dirty="0">
                <a:solidFill>
                  <a:srgbClr val="334155"/>
                </a:solidFill>
                <a:latin typeface="DM Sans" pitchFamily="34" charset="0"/>
                <a:ea typeface="DM Sans" pitchFamily="34" charset="-122"/>
                <a:cs typeface="DM Sans" pitchFamily="34" charset="-120"/>
              </a:rPr>
              <a:t>CAC ceiling (3:1)</a:t>
            </a:r>
            <a:endParaRPr lang="en-US" sz="1050" dirty="0"/>
          </a:p>
        </p:txBody>
      </p:sp>
      <p:sp>
        <p:nvSpPr>
          <p:cNvPr id="31" name="Text 29"/>
          <p:cNvSpPr/>
          <p:nvPr/>
        </p:nvSpPr>
        <p:spPr>
          <a:xfrm>
            <a:off x="4556760" y="5760720"/>
            <a:ext cx="3048000" cy="502920"/>
          </a:xfrm>
          <a:prstGeom prst="rect">
            <a:avLst/>
          </a:prstGeom>
          <a:noFill/>
          <a:ln/>
        </p:spPr>
        <p:txBody>
          <a:bodyPr wrap="square" rtlCol="0" anchor="ctr"/>
          <a:lstStyle/>
          <a:p>
            <a:pPr algn="r" indent="0" marL="0">
              <a:buNone/>
            </a:pPr>
            <a:r>
              <a:rPr lang="en-US" sz="1500" b="1" dirty="0">
                <a:solidFill>
                  <a:srgbClr val="3730A3"/>
                </a:solidFill>
                <a:latin typeface="DM Sans" pitchFamily="34" charset="0"/>
                <a:ea typeface="DM Sans" pitchFamily="34" charset="-122"/>
                <a:cs typeface="DM Sans" pitchFamily="34" charset="-120"/>
              </a:rPr>
              <a:t>£175</a:t>
            </a:r>
            <a:endParaRPr lang="en-US" sz="1500" dirty="0"/>
          </a:p>
        </p:txBody>
      </p:sp>
      <p:sp>
        <p:nvSpPr>
          <p:cNvPr id="32" name="Shape 30"/>
          <p:cNvSpPr/>
          <p:nvPr/>
        </p:nvSpPr>
        <p:spPr>
          <a:xfrm>
            <a:off x="8061960" y="5760720"/>
            <a:ext cx="3596640" cy="502920"/>
          </a:xfrm>
          <a:prstGeom prst="roundRect">
            <a:avLst>
              <a:gd name="adj" fmla="val 10909"/>
            </a:avLst>
          </a:prstGeom>
          <a:solidFill>
            <a:srgbClr val="EEF2FF"/>
          </a:solidFill>
          <a:ln w="9525">
            <a:solidFill>
              <a:srgbClr val="4F46E5"/>
            </a:solidFill>
            <a:prstDash val="solid"/>
          </a:ln>
        </p:spPr>
      </p:sp>
      <p:sp>
        <p:nvSpPr>
          <p:cNvPr id="33" name="Text 31"/>
          <p:cNvSpPr/>
          <p:nvPr/>
        </p:nvSpPr>
        <p:spPr>
          <a:xfrm>
            <a:off x="8336280" y="5760720"/>
            <a:ext cx="2337816" cy="502920"/>
          </a:xfrm>
          <a:prstGeom prst="rect">
            <a:avLst/>
          </a:prstGeom>
          <a:noFill/>
          <a:ln/>
        </p:spPr>
        <p:txBody>
          <a:bodyPr wrap="square" rtlCol="0" anchor="ctr"/>
          <a:lstStyle/>
          <a:p>
            <a:pPr indent="0" marL="0">
              <a:buNone/>
            </a:pPr>
            <a:r>
              <a:rPr lang="en-US" sz="1050" dirty="0">
                <a:solidFill>
                  <a:srgbClr val="334155"/>
                </a:solidFill>
                <a:latin typeface="DM Sans" pitchFamily="34" charset="0"/>
                <a:ea typeface="DM Sans" pitchFamily="34" charset="-122"/>
                <a:cs typeface="DM Sans" pitchFamily="34" charset="-120"/>
              </a:rPr>
              <a:t>Cohort dashboard</a:t>
            </a:r>
            <a:endParaRPr lang="en-US" sz="1050" dirty="0"/>
          </a:p>
        </p:txBody>
      </p:sp>
      <p:sp>
        <p:nvSpPr>
          <p:cNvPr id="34" name="Text 32"/>
          <p:cNvSpPr/>
          <p:nvPr/>
        </p:nvSpPr>
        <p:spPr>
          <a:xfrm>
            <a:off x="8336280" y="5760720"/>
            <a:ext cx="3048000" cy="502920"/>
          </a:xfrm>
          <a:prstGeom prst="rect">
            <a:avLst/>
          </a:prstGeom>
          <a:noFill/>
          <a:ln/>
        </p:spPr>
        <p:txBody>
          <a:bodyPr wrap="square" rtlCol="0" anchor="ctr"/>
          <a:lstStyle/>
          <a:p>
            <a:pPr algn="r" indent="0" marL="0">
              <a:buNone/>
            </a:pPr>
            <a:r>
              <a:rPr lang="en-US" sz="1500" b="1" dirty="0">
                <a:solidFill>
                  <a:srgbClr val="3730A3"/>
                </a:solidFill>
                <a:latin typeface="DM Sans" pitchFamily="34" charset="0"/>
                <a:ea typeface="DM Sans" pitchFamily="34" charset="-122"/>
                <a:cs typeface="DM Sans" pitchFamily="34" charset="-120"/>
              </a:rPr>
              <a:t>Live</a:t>
            </a:r>
            <a:endParaRPr lang="en-US" sz="1500" dirty="0"/>
          </a:p>
        </p:txBody>
      </p:sp>
      <p:sp>
        <p:nvSpPr>
          <p:cNvPr id="35" name="Text 33"/>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36" name="Text 34"/>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13  ·  REVENUE TRAJECTORY</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MRR month 0-18. Two sprint scenarios.</a:t>
            </a:r>
            <a:endParaRPr lang="en-US" sz="3000" dirty="0"/>
          </a:p>
        </p:txBody>
      </p:sp>
      <p:graphicFrame>
        <p:nvGraphicFramePr>
          <p:cNvPr id="4" name="Chart 0" descr=""/>
          <p:cNvGraphicFramePr/>
          <p:nvPr/>
        </p:nvGraphicFramePr>
        <p:xfrm>
          <a:off x="502920" y="1920240"/>
          <a:ext cx="7132320" cy="4114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18120" y="1920240"/>
            <a:ext cx="3840480" cy="1920240"/>
          </a:xfrm>
          <a:prstGeom prst="roundRect">
            <a:avLst>
              <a:gd name="adj" fmla="val 3810"/>
            </a:avLst>
          </a:prstGeom>
          <a:solidFill>
            <a:srgbClr val="FFFFFF"/>
          </a:solidFill>
          <a:ln w="9525">
            <a:solidFill>
              <a:srgbClr val="E2E8F0"/>
            </a:solidFill>
            <a:prstDash val="solid"/>
          </a:ln>
        </p:spPr>
      </p:sp>
      <p:sp>
        <p:nvSpPr>
          <p:cNvPr id="6" name="Shape 3"/>
          <p:cNvSpPr/>
          <p:nvPr/>
        </p:nvSpPr>
        <p:spPr>
          <a:xfrm>
            <a:off x="7818120" y="1920240"/>
            <a:ext cx="91440" cy="1920240"/>
          </a:xfrm>
          <a:prstGeom prst="rect">
            <a:avLst/>
          </a:prstGeom>
          <a:solidFill>
            <a:srgbClr val="4F46E5"/>
          </a:solidFill>
          <a:ln w="12700">
            <a:solidFill>
              <a:srgbClr val="333333"/>
            </a:solidFill>
            <a:prstDash val="solid"/>
          </a:ln>
        </p:spPr>
      </p:sp>
      <p:sp>
        <p:nvSpPr>
          <p:cNvPr id="7" name="Text 4"/>
          <p:cNvSpPr/>
          <p:nvPr/>
        </p:nvSpPr>
        <p:spPr>
          <a:xfrm>
            <a:off x="8092440" y="2194560"/>
            <a:ext cx="3291840" cy="365760"/>
          </a:xfrm>
          <a:prstGeom prst="rect">
            <a:avLst/>
          </a:prstGeom>
          <a:noFill/>
          <a:ln/>
        </p:spPr>
        <p:txBody>
          <a:bodyPr wrap="square" rtlCol="0" anchor="ctr"/>
          <a:lstStyle/>
          <a:p>
            <a:pPr indent="0" marL="0">
              <a:buNone/>
            </a:pPr>
            <a:r>
              <a:rPr lang="en-US" sz="1800" b="1" dirty="0">
                <a:solidFill>
                  <a:srgbClr val="0F172A"/>
                </a:solidFill>
                <a:latin typeface="DM Sans" pitchFamily="34" charset="0"/>
                <a:ea typeface="DM Sans" pitchFamily="34" charset="-122"/>
                <a:cs typeface="DM Sans" pitchFamily="34" charset="-120"/>
              </a:rPr>
              <a:t>Sprint base</a:t>
            </a:r>
            <a:endParaRPr lang="en-US" sz="1800" dirty="0"/>
          </a:p>
        </p:txBody>
      </p:sp>
      <p:sp>
        <p:nvSpPr>
          <p:cNvPr id="8" name="Text 5"/>
          <p:cNvSpPr/>
          <p:nvPr/>
        </p:nvSpPr>
        <p:spPr>
          <a:xfrm>
            <a:off x="10195560" y="2194560"/>
            <a:ext cx="1188720" cy="228600"/>
          </a:xfrm>
          <a:prstGeom prst="rect">
            <a:avLst/>
          </a:prstGeom>
          <a:noFill/>
          <a:ln/>
        </p:spPr>
        <p:txBody>
          <a:bodyPr wrap="square" rtlCol="0" anchor="ctr"/>
          <a:lstStyle/>
          <a:p>
            <a:pPr algn="r" indent="0" marL="0">
              <a:buNone/>
            </a:pPr>
            <a:r>
              <a:rPr lang="en-US" sz="800" spc="300" kern="0" dirty="0">
                <a:solidFill>
                  <a:srgbClr val="64748B"/>
                </a:solidFill>
                <a:latin typeface="JetBrains Mono" pitchFamily="34" charset="0"/>
                <a:ea typeface="JetBrains Mono" pitchFamily="34" charset="-122"/>
                <a:cs typeface="JetBrains Mono" pitchFamily="34" charset="-120"/>
              </a:rPr>
              <a:t>M18 MRR</a:t>
            </a:r>
            <a:endParaRPr lang="en-US" sz="800" dirty="0"/>
          </a:p>
        </p:txBody>
      </p:sp>
      <p:sp>
        <p:nvSpPr>
          <p:cNvPr id="9" name="Text 6"/>
          <p:cNvSpPr/>
          <p:nvPr/>
        </p:nvSpPr>
        <p:spPr>
          <a:xfrm>
            <a:off x="8092440" y="2560320"/>
            <a:ext cx="3291840" cy="594360"/>
          </a:xfrm>
          <a:prstGeom prst="rect">
            <a:avLst/>
          </a:prstGeom>
          <a:noFill/>
          <a:ln/>
        </p:spPr>
        <p:txBody>
          <a:bodyPr wrap="square" rtlCol="0" anchor="ctr"/>
          <a:lstStyle/>
          <a:p>
            <a:pPr indent="0" marL="0">
              <a:buNone/>
            </a:pPr>
            <a:r>
              <a:rPr lang="en-US" sz="3200" b="1" dirty="0">
                <a:solidFill>
                  <a:srgbClr val="4F46E5"/>
                </a:solidFill>
                <a:latin typeface="DM Sans" pitchFamily="34" charset="0"/>
                <a:ea typeface="DM Sans" pitchFamily="34" charset="-122"/>
                <a:cs typeface="DM Sans" pitchFamily="34" charset="-120"/>
              </a:rPr>
              <a:t>~£135K</a:t>
            </a:r>
            <a:endParaRPr lang="en-US" sz="3200" dirty="0"/>
          </a:p>
        </p:txBody>
      </p:sp>
      <p:sp>
        <p:nvSpPr>
          <p:cNvPr id="10" name="Text 7"/>
          <p:cNvSpPr/>
          <p:nvPr/>
        </p:nvSpPr>
        <p:spPr>
          <a:xfrm>
            <a:off x="8092440" y="3200400"/>
            <a:ext cx="3291840" cy="594360"/>
          </a:xfrm>
          <a:prstGeom prst="rect">
            <a:avLst/>
          </a:prstGeom>
          <a:noFill/>
          <a:ln/>
        </p:spPr>
        <p:txBody>
          <a:bodyPr wrap="square" rtlCol="0" anchor="ctr"/>
          <a:lstStyle/>
          <a:p>
            <a:pPr indent="0" marL="0">
              <a:lnSpc>
                <a:spcPct val="135000"/>
              </a:lnSpc>
              <a:buNone/>
            </a:pPr>
            <a:r>
              <a:rPr lang="en-US" sz="1100" dirty="0">
                <a:solidFill>
                  <a:srgbClr val="334155"/>
                </a:solidFill>
                <a:latin typeface="DM Sans" pitchFamily="34" charset="0"/>
                <a:ea typeface="DM Sans" pitchFamily="34" charset="-122"/>
                <a:cs typeface="DM Sans" pitchFamily="34" charset="-120"/>
              </a:rPr>
              <a:t>Organic + creator sponsorships. Hits £40-80K MRR by month 9, plateaus ~£100-150K by month 18.</a:t>
            </a:r>
            <a:endParaRPr lang="en-US" sz="1100" dirty="0"/>
          </a:p>
        </p:txBody>
      </p:sp>
      <p:sp>
        <p:nvSpPr>
          <p:cNvPr id="11" name="Shape 8"/>
          <p:cNvSpPr/>
          <p:nvPr/>
        </p:nvSpPr>
        <p:spPr>
          <a:xfrm>
            <a:off x="7818120" y="4023360"/>
            <a:ext cx="3840480" cy="1920240"/>
          </a:xfrm>
          <a:prstGeom prst="roundRect">
            <a:avLst>
              <a:gd name="adj" fmla="val 3810"/>
            </a:avLst>
          </a:prstGeom>
          <a:solidFill>
            <a:srgbClr val="FFFFFF"/>
          </a:solidFill>
          <a:ln w="9525">
            <a:solidFill>
              <a:srgbClr val="E2E8F0"/>
            </a:solidFill>
            <a:prstDash val="solid"/>
          </a:ln>
        </p:spPr>
      </p:sp>
      <p:sp>
        <p:nvSpPr>
          <p:cNvPr id="12" name="Shape 9"/>
          <p:cNvSpPr/>
          <p:nvPr/>
        </p:nvSpPr>
        <p:spPr>
          <a:xfrm>
            <a:off x="7818120" y="4023360"/>
            <a:ext cx="91440" cy="1920240"/>
          </a:xfrm>
          <a:prstGeom prst="rect">
            <a:avLst/>
          </a:prstGeom>
          <a:solidFill>
            <a:srgbClr val="F59E0B"/>
          </a:solidFill>
          <a:ln w="12700">
            <a:solidFill>
              <a:srgbClr val="333333"/>
            </a:solidFill>
            <a:prstDash val="solid"/>
          </a:ln>
        </p:spPr>
      </p:sp>
      <p:sp>
        <p:nvSpPr>
          <p:cNvPr id="13" name="Text 10"/>
          <p:cNvSpPr/>
          <p:nvPr/>
        </p:nvSpPr>
        <p:spPr>
          <a:xfrm>
            <a:off x="8092440" y="4297680"/>
            <a:ext cx="3291840" cy="365760"/>
          </a:xfrm>
          <a:prstGeom prst="rect">
            <a:avLst/>
          </a:prstGeom>
          <a:noFill/>
          <a:ln/>
        </p:spPr>
        <p:txBody>
          <a:bodyPr wrap="square" rtlCol="0" anchor="ctr"/>
          <a:lstStyle/>
          <a:p>
            <a:pPr indent="0" marL="0">
              <a:buNone/>
            </a:pPr>
            <a:r>
              <a:rPr lang="en-US" sz="1800" b="1" dirty="0">
                <a:solidFill>
                  <a:srgbClr val="0F172A"/>
                </a:solidFill>
                <a:latin typeface="DM Sans" pitchFamily="34" charset="0"/>
                <a:ea typeface="DM Sans" pitchFamily="34" charset="-122"/>
                <a:cs typeface="DM Sans" pitchFamily="34" charset="-120"/>
              </a:rPr>
              <a:t>Sprint upside</a:t>
            </a:r>
            <a:endParaRPr lang="en-US" sz="1800" dirty="0"/>
          </a:p>
        </p:txBody>
      </p:sp>
      <p:sp>
        <p:nvSpPr>
          <p:cNvPr id="14" name="Text 11"/>
          <p:cNvSpPr/>
          <p:nvPr/>
        </p:nvSpPr>
        <p:spPr>
          <a:xfrm>
            <a:off x="10195560" y="4297680"/>
            <a:ext cx="1188720" cy="228600"/>
          </a:xfrm>
          <a:prstGeom prst="rect">
            <a:avLst/>
          </a:prstGeom>
          <a:noFill/>
          <a:ln/>
        </p:spPr>
        <p:txBody>
          <a:bodyPr wrap="square" rtlCol="0" anchor="ctr"/>
          <a:lstStyle/>
          <a:p>
            <a:pPr algn="r" indent="0" marL="0">
              <a:buNone/>
            </a:pPr>
            <a:r>
              <a:rPr lang="en-US" sz="800" spc="300" kern="0" dirty="0">
                <a:solidFill>
                  <a:srgbClr val="64748B"/>
                </a:solidFill>
                <a:latin typeface="JetBrains Mono" pitchFamily="34" charset="0"/>
                <a:ea typeface="JetBrains Mono" pitchFamily="34" charset="-122"/>
                <a:cs typeface="JetBrains Mono" pitchFamily="34" charset="-120"/>
              </a:rPr>
              <a:t>M18 MRR</a:t>
            </a:r>
            <a:endParaRPr lang="en-US" sz="800" dirty="0"/>
          </a:p>
        </p:txBody>
      </p:sp>
      <p:sp>
        <p:nvSpPr>
          <p:cNvPr id="15" name="Text 12"/>
          <p:cNvSpPr/>
          <p:nvPr/>
        </p:nvSpPr>
        <p:spPr>
          <a:xfrm>
            <a:off x="8092440" y="4663440"/>
            <a:ext cx="3291840" cy="594360"/>
          </a:xfrm>
          <a:prstGeom prst="rect">
            <a:avLst/>
          </a:prstGeom>
          <a:noFill/>
          <a:ln/>
        </p:spPr>
        <p:txBody>
          <a:bodyPr wrap="square" rtlCol="0" anchor="ctr"/>
          <a:lstStyle/>
          <a:p>
            <a:pPr indent="0" marL="0">
              <a:buNone/>
            </a:pPr>
            <a:r>
              <a:rPr lang="en-US" sz="3200" b="1" dirty="0">
                <a:solidFill>
                  <a:srgbClr val="B45309"/>
                </a:solidFill>
                <a:latin typeface="DM Sans" pitchFamily="34" charset="0"/>
                <a:ea typeface="DM Sans" pitchFamily="34" charset="-122"/>
                <a:cs typeface="DM Sans" pitchFamily="34" charset="-120"/>
              </a:rPr>
              <a:t>~£380K</a:t>
            </a:r>
            <a:endParaRPr lang="en-US" sz="3200" dirty="0"/>
          </a:p>
        </p:txBody>
      </p:sp>
      <p:sp>
        <p:nvSpPr>
          <p:cNvPr id="16" name="Text 13"/>
          <p:cNvSpPr/>
          <p:nvPr/>
        </p:nvSpPr>
        <p:spPr>
          <a:xfrm>
            <a:off x="8092440" y="5303520"/>
            <a:ext cx="3291840" cy="594360"/>
          </a:xfrm>
          <a:prstGeom prst="rect">
            <a:avLst/>
          </a:prstGeom>
          <a:noFill/>
          <a:ln/>
        </p:spPr>
        <p:txBody>
          <a:bodyPr wrap="square" rtlCol="0" anchor="ctr"/>
          <a:lstStyle/>
          <a:p>
            <a:pPr indent="0" marL="0">
              <a:lnSpc>
                <a:spcPct val="135000"/>
              </a:lnSpc>
              <a:buNone/>
            </a:pPr>
            <a:r>
              <a:rPr lang="en-US" sz="1100" dirty="0">
                <a:solidFill>
                  <a:srgbClr val="334155"/>
                </a:solidFill>
                <a:latin typeface="DM Sans" pitchFamily="34" charset="0"/>
                <a:ea typeface="DM Sans" pitchFamily="34" charset="-122"/>
                <a:cs typeface="DM Sans" pitchFamily="34" charset="-120"/>
              </a:rPr>
              <a:t>Full sprint executes. Hits £200-400K MRR by month 18. Capitalise window opens at month 9-12.</a:t>
            </a:r>
            <a:endParaRPr lang="en-US" sz="1100" dirty="0"/>
          </a:p>
        </p:txBody>
      </p:sp>
      <p:sp>
        <p:nvSpPr>
          <p:cNvPr id="17" name="Text 14"/>
          <p:cNvSpPr/>
          <p:nvPr/>
        </p:nvSpPr>
        <p:spPr>
          <a:xfrm>
            <a:off x="502920" y="6199632"/>
            <a:ext cx="10972800" cy="274320"/>
          </a:xfrm>
          <a:prstGeom prst="rect">
            <a:avLst/>
          </a:prstGeom>
          <a:noFill/>
          <a:ln/>
        </p:spPr>
        <p:txBody>
          <a:bodyPr wrap="square" rtlCol="0" anchor="ctr"/>
          <a:lstStyle/>
          <a:p>
            <a:pPr indent="0" marL="0">
              <a:buNone/>
            </a:pPr>
            <a:r>
              <a:rPr lang="en-US" sz="900" i="1" dirty="0">
                <a:solidFill>
                  <a:srgbClr val="64748B"/>
                </a:solidFill>
                <a:latin typeface="DM Sans" pitchFamily="34" charset="0"/>
                <a:ea typeface="DM Sans" pitchFamily="34" charset="-122"/>
                <a:cs typeface="DM Sans" pitchFamily="34" charset="-120"/>
              </a:rPr>
              <a:t>Anchored on Cursor / Lovable / Bolt curves at comparable product maturity. Pricing: Launch £14/mo annual or £17/mo monthly; Growth £39/mo (auto at customer 15th end-user signup). Detailed MRR build-up in appendix.</a:t>
            </a:r>
            <a:endParaRPr lang="en-US" sz="900" dirty="0"/>
          </a:p>
        </p:txBody>
      </p:sp>
      <p:sp>
        <p:nvSpPr>
          <p:cNvPr id="18" name="Text 15"/>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19" name="Text 16"/>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14  ·  MARGIN REALITY</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Repriced unit economics × sprint MRR.</a:t>
            </a:r>
            <a:endParaRPr lang="en-US" sz="3000" dirty="0"/>
          </a:p>
        </p:txBody>
      </p:sp>
      <p:sp>
        <p:nvSpPr>
          <p:cNvPr id="4" name="Shape 2"/>
          <p:cNvSpPr/>
          <p:nvPr/>
        </p:nvSpPr>
        <p:spPr>
          <a:xfrm>
            <a:off x="502920" y="2011680"/>
            <a:ext cx="5669280" cy="3474720"/>
          </a:xfrm>
          <a:prstGeom prst="roundRect">
            <a:avLst>
              <a:gd name="adj" fmla="val 2105"/>
            </a:avLst>
          </a:prstGeom>
          <a:solidFill>
            <a:srgbClr val="FFFFFF"/>
          </a:solidFill>
          <a:ln w="9525">
            <a:solidFill>
              <a:srgbClr val="E2E8F0"/>
            </a:solidFill>
            <a:prstDash val="solid"/>
          </a:ln>
        </p:spPr>
      </p:sp>
      <p:sp>
        <p:nvSpPr>
          <p:cNvPr id="5" name="Shape 3"/>
          <p:cNvSpPr/>
          <p:nvPr/>
        </p:nvSpPr>
        <p:spPr>
          <a:xfrm>
            <a:off x="502920" y="2011680"/>
            <a:ext cx="5669280" cy="54864"/>
          </a:xfrm>
          <a:prstGeom prst="rect">
            <a:avLst/>
          </a:prstGeom>
          <a:solidFill>
            <a:srgbClr val="F59E0B"/>
          </a:solidFill>
          <a:ln w="12700">
            <a:solidFill>
              <a:srgbClr val="F59E0B"/>
            </a:solidFill>
            <a:prstDash val="solid"/>
          </a:ln>
        </p:spPr>
      </p:sp>
      <p:sp>
        <p:nvSpPr>
          <p:cNvPr id="6" name="Text 4"/>
          <p:cNvSpPr/>
          <p:nvPr/>
        </p:nvSpPr>
        <p:spPr>
          <a:xfrm>
            <a:off x="777240" y="2240280"/>
            <a:ext cx="5212080" cy="274320"/>
          </a:xfrm>
          <a:prstGeom prst="rect">
            <a:avLst/>
          </a:prstGeom>
          <a:noFill/>
          <a:ln/>
        </p:spPr>
        <p:txBody>
          <a:bodyPr wrap="square" rtlCol="0" anchor="ctr"/>
          <a:lstStyle/>
          <a:p>
            <a:pPr indent="0" marL="0">
              <a:buNone/>
            </a:pPr>
            <a:r>
              <a:rPr lang="en-US" sz="900" b="1" spc="400" kern="0" dirty="0">
                <a:solidFill>
                  <a:srgbClr val="B45309"/>
                </a:solidFill>
                <a:latin typeface="JetBrains Mono" pitchFamily="34" charset="0"/>
                <a:ea typeface="JetBrains Mono" pitchFamily="34" charset="-122"/>
                <a:cs typeface="JetBrains Mono" pitchFamily="34" charset="-120"/>
              </a:rPr>
              <a:t>PER-CUSTOMER MARGIN  ·  BLENDED  ·  FINAL</a:t>
            </a:r>
            <a:endParaRPr lang="en-US" sz="900" dirty="0"/>
          </a:p>
        </p:txBody>
      </p:sp>
      <p:sp>
        <p:nvSpPr>
          <p:cNvPr id="7" name="Text 5"/>
          <p:cNvSpPr/>
          <p:nvPr/>
        </p:nvSpPr>
        <p:spPr>
          <a:xfrm>
            <a:off x="3063240" y="2697480"/>
            <a:ext cx="1463040" cy="274320"/>
          </a:xfrm>
          <a:prstGeom prst="rect">
            <a:avLst/>
          </a:prstGeom>
          <a:noFill/>
          <a:ln/>
        </p:spPr>
        <p:txBody>
          <a:bodyPr wrap="square" rtlCol="0" anchor="ctr"/>
          <a:lstStyle/>
          <a:p>
            <a:pPr indent="0" marL="0">
              <a:buNone/>
            </a:pPr>
            <a:r>
              <a:rPr lang="en-US" sz="1000" b="1" dirty="0">
                <a:solidFill>
                  <a:srgbClr val="1E293B"/>
                </a:solidFill>
                <a:latin typeface="DM Sans" pitchFamily="34" charset="0"/>
                <a:ea typeface="DM Sans" pitchFamily="34" charset="-122"/>
                <a:cs typeface="DM Sans" pitchFamily="34" charset="-120"/>
              </a:rPr>
              <a:t>Repriced sub revenue</a:t>
            </a:r>
            <a:endParaRPr lang="en-US" sz="1000" dirty="0"/>
          </a:p>
        </p:txBody>
      </p:sp>
      <p:sp>
        <p:nvSpPr>
          <p:cNvPr id="8" name="Text 6"/>
          <p:cNvSpPr/>
          <p:nvPr/>
        </p:nvSpPr>
        <p:spPr>
          <a:xfrm>
            <a:off x="4617720" y="2697480"/>
            <a:ext cx="1463040" cy="274320"/>
          </a:xfrm>
          <a:prstGeom prst="rect">
            <a:avLst/>
          </a:prstGeom>
          <a:noFill/>
          <a:ln/>
        </p:spPr>
        <p:txBody>
          <a:bodyPr wrap="square" rtlCol="0" anchor="ctr"/>
          <a:lstStyle/>
          <a:p>
            <a:pPr indent="0" marL="0">
              <a:buNone/>
            </a:pPr>
            <a:r>
              <a:rPr lang="en-US" sz="1000" b="1" dirty="0">
                <a:solidFill>
                  <a:srgbClr val="1E293B"/>
                </a:solidFill>
                <a:latin typeface="DM Sans" pitchFamily="34" charset="0"/>
                <a:ea typeface="DM Sans" pitchFamily="34" charset="-122"/>
                <a:cs typeface="DM Sans" pitchFamily="34" charset="-120"/>
              </a:rPr>
              <a:t>Final mid margin</a:t>
            </a:r>
            <a:endParaRPr lang="en-US" sz="1000" dirty="0"/>
          </a:p>
        </p:txBody>
      </p:sp>
      <p:sp>
        <p:nvSpPr>
          <p:cNvPr id="9" name="Text 7"/>
          <p:cNvSpPr/>
          <p:nvPr/>
        </p:nvSpPr>
        <p:spPr>
          <a:xfrm>
            <a:off x="777240" y="3063240"/>
            <a:ext cx="2286000" cy="365760"/>
          </a:xfrm>
          <a:prstGeom prst="rect">
            <a:avLst/>
          </a:prstGeom>
          <a:noFill/>
          <a:ln/>
        </p:spPr>
        <p:txBody>
          <a:bodyPr wrap="square" rtlCol="0" anchor="ctr"/>
          <a:lstStyle/>
          <a:p>
            <a:pPr indent="0" marL="0">
              <a:buNone/>
            </a:pPr>
            <a:r>
              <a:rPr lang="en-US" sz="1100" dirty="0">
                <a:solidFill>
                  <a:srgbClr val="334155"/>
                </a:solidFill>
                <a:latin typeface="DM Sans" pitchFamily="34" charset="0"/>
                <a:ea typeface="DM Sans" pitchFamily="34" charset="-122"/>
                <a:cs typeface="DM Sans" pitchFamily="34" charset="-120"/>
              </a:rPr>
              <a:t>Launch blended /mo</a:t>
            </a:r>
            <a:endParaRPr lang="en-US" sz="1100" dirty="0"/>
          </a:p>
        </p:txBody>
      </p:sp>
      <p:sp>
        <p:nvSpPr>
          <p:cNvPr id="10" name="Text 8"/>
          <p:cNvSpPr/>
          <p:nvPr/>
        </p:nvSpPr>
        <p:spPr>
          <a:xfrm>
            <a:off x="3063240" y="3063240"/>
            <a:ext cx="1463040" cy="36576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~£15.80</a:t>
            </a:r>
            <a:endParaRPr lang="en-US" sz="1200" dirty="0"/>
          </a:p>
        </p:txBody>
      </p:sp>
      <p:sp>
        <p:nvSpPr>
          <p:cNvPr id="11" name="Shape 9"/>
          <p:cNvSpPr/>
          <p:nvPr/>
        </p:nvSpPr>
        <p:spPr>
          <a:xfrm>
            <a:off x="4526280" y="3063240"/>
            <a:ext cx="1554480" cy="365760"/>
          </a:xfrm>
          <a:prstGeom prst="rect">
            <a:avLst/>
          </a:prstGeom>
          <a:solidFill>
            <a:srgbClr val="EEF2FF"/>
          </a:solidFill>
          <a:ln w="12700">
            <a:solidFill>
              <a:srgbClr val="333333"/>
            </a:solidFill>
            <a:prstDash val="solid"/>
          </a:ln>
        </p:spPr>
      </p:sp>
      <p:sp>
        <p:nvSpPr>
          <p:cNvPr id="12" name="Text 10"/>
          <p:cNvSpPr/>
          <p:nvPr/>
        </p:nvSpPr>
        <p:spPr>
          <a:xfrm>
            <a:off x="4572000" y="3063240"/>
            <a:ext cx="1463040" cy="365760"/>
          </a:xfrm>
          <a:prstGeom prst="rect">
            <a:avLst/>
          </a:prstGeom>
          <a:noFill/>
          <a:ln/>
        </p:spPr>
        <p:txBody>
          <a:bodyPr wrap="square" rtlCol="0" anchor="ctr"/>
          <a:lstStyle/>
          <a:p>
            <a:pPr indent="0" marL="0">
              <a:buNone/>
            </a:pPr>
            <a:r>
              <a:rPr lang="en-US" sz="1200" b="1" dirty="0">
                <a:solidFill>
                  <a:srgbClr val="3730A3"/>
                </a:solidFill>
                <a:latin typeface="DM Sans" pitchFamily="34" charset="0"/>
                <a:ea typeface="DM Sans" pitchFamily="34" charset="-122"/>
                <a:cs typeface="DM Sans" pitchFamily="34" charset="-120"/>
              </a:rPr>
              <a:t>~£11.55</a:t>
            </a:r>
            <a:endParaRPr lang="en-US" sz="1200" dirty="0"/>
          </a:p>
        </p:txBody>
      </p:sp>
      <p:sp>
        <p:nvSpPr>
          <p:cNvPr id="13" name="Shape 11"/>
          <p:cNvSpPr/>
          <p:nvPr/>
        </p:nvSpPr>
        <p:spPr>
          <a:xfrm>
            <a:off x="777240" y="3447288"/>
            <a:ext cx="5120640" cy="9144"/>
          </a:xfrm>
          <a:prstGeom prst="rect">
            <a:avLst/>
          </a:prstGeom>
          <a:solidFill>
            <a:srgbClr val="F1F5F9"/>
          </a:solidFill>
          <a:ln w="12700">
            <a:solidFill>
              <a:srgbClr val="333333"/>
            </a:solidFill>
            <a:prstDash val="solid"/>
          </a:ln>
        </p:spPr>
      </p:sp>
      <p:sp>
        <p:nvSpPr>
          <p:cNvPr id="14" name="Text 12"/>
          <p:cNvSpPr/>
          <p:nvPr/>
        </p:nvSpPr>
        <p:spPr>
          <a:xfrm>
            <a:off x="777240" y="3566160"/>
            <a:ext cx="2286000" cy="365760"/>
          </a:xfrm>
          <a:prstGeom prst="rect">
            <a:avLst/>
          </a:prstGeom>
          <a:noFill/>
          <a:ln/>
        </p:spPr>
        <p:txBody>
          <a:bodyPr wrap="square" rtlCol="0" anchor="ctr"/>
          <a:lstStyle/>
          <a:p>
            <a:pPr indent="0" marL="0">
              <a:buNone/>
            </a:pPr>
            <a:r>
              <a:rPr lang="en-US" sz="1100" dirty="0">
                <a:solidFill>
                  <a:srgbClr val="334155"/>
                </a:solidFill>
                <a:latin typeface="DM Sans" pitchFamily="34" charset="0"/>
                <a:ea typeface="DM Sans" pitchFamily="34" charset="-122"/>
                <a:cs typeface="DM Sans" pitchFamily="34" charset="-120"/>
              </a:rPr>
              <a:t>Launch Y1 net / customer</a:t>
            </a:r>
            <a:endParaRPr lang="en-US" sz="1100" dirty="0"/>
          </a:p>
        </p:txBody>
      </p:sp>
      <p:sp>
        <p:nvSpPr>
          <p:cNvPr id="15" name="Text 13"/>
          <p:cNvSpPr/>
          <p:nvPr/>
        </p:nvSpPr>
        <p:spPr>
          <a:xfrm>
            <a:off x="3063240" y="3566160"/>
            <a:ext cx="1463040" cy="36576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~£190</a:t>
            </a:r>
            <a:endParaRPr lang="en-US" sz="1200" dirty="0"/>
          </a:p>
        </p:txBody>
      </p:sp>
      <p:sp>
        <p:nvSpPr>
          <p:cNvPr id="16" name="Shape 14"/>
          <p:cNvSpPr/>
          <p:nvPr/>
        </p:nvSpPr>
        <p:spPr>
          <a:xfrm>
            <a:off x="4526280" y="3566160"/>
            <a:ext cx="1554480" cy="365760"/>
          </a:xfrm>
          <a:prstGeom prst="rect">
            <a:avLst/>
          </a:prstGeom>
          <a:solidFill>
            <a:srgbClr val="EEF2FF"/>
          </a:solidFill>
          <a:ln w="12700">
            <a:solidFill>
              <a:srgbClr val="333333"/>
            </a:solidFill>
            <a:prstDash val="solid"/>
          </a:ln>
        </p:spPr>
      </p:sp>
      <p:sp>
        <p:nvSpPr>
          <p:cNvPr id="17" name="Text 15"/>
          <p:cNvSpPr/>
          <p:nvPr/>
        </p:nvSpPr>
        <p:spPr>
          <a:xfrm>
            <a:off x="4572000" y="3566160"/>
            <a:ext cx="1463040" cy="365760"/>
          </a:xfrm>
          <a:prstGeom prst="rect">
            <a:avLst/>
          </a:prstGeom>
          <a:noFill/>
          <a:ln/>
        </p:spPr>
        <p:txBody>
          <a:bodyPr wrap="square" rtlCol="0" anchor="ctr"/>
          <a:lstStyle/>
          <a:p>
            <a:pPr indent="0" marL="0">
              <a:buNone/>
            </a:pPr>
            <a:r>
              <a:rPr lang="en-US" sz="1200" b="1" dirty="0">
                <a:solidFill>
                  <a:srgbClr val="3730A3"/>
                </a:solidFill>
                <a:latin typeface="DM Sans" pitchFamily="34" charset="0"/>
                <a:ea typeface="DM Sans" pitchFamily="34" charset="-122"/>
                <a:cs typeface="DM Sans" pitchFamily="34" charset="-120"/>
              </a:rPr>
              <a:t>~£211</a:t>
            </a:r>
            <a:endParaRPr lang="en-US" sz="1200" dirty="0"/>
          </a:p>
        </p:txBody>
      </p:sp>
      <p:sp>
        <p:nvSpPr>
          <p:cNvPr id="18" name="Shape 16"/>
          <p:cNvSpPr/>
          <p:nvPr/>
        </p:nvSpPr>
        <p:spPr>
          <a:xfrm>
            <a:off x="777240" y="3950208"/>
            <a:ext cx="5120640" cy="9144"/>
          </a:xfrm>
          <a:prstGeom prst="rect">
            <a:avLst/>
          </a:prstGeom>
          <a:solidFill>
            <a:srgbClr val="F1F5F9"/>
          </a:solidFill>
          <a:ln w="12700">
            <a:solidFill>
              <a:srgbClr val="333333"/>
            </a:solidFill>
            <a:prstDash val="solid"/>
          </a:ln>
        </p:spPr>
      </p:sp>
      <p:sp>
        <p:nvSpPr>
          <p:cNvPr id="19" name="Text 17"/>
          <p:cNvSpPr/>
          <p:nvPr/>
        </p:nvSpPr>
        <p:spPr>
          <a:xfrm>
            <a:off x="777240" y="4069080"/>
            <a:ext cx="2286000" cy="365760"/>
          </a:xfrm>
          <a:prstGeom prst="rect">
            <a:avLst/>
          </a:prstGeom>
          <a:noFill/>
          <a:ln/>
        </p:spPr>
        <p:txBody>
          <a:bodyPr wrap="square" rtlCol="0" anchor="ctr"/>
          <a:lstStyle/>
          <a:p>
            <a:pPr indent="0" marL="0">
              <a:buNone/>
            </a:pPr>
            <a:r>
              <a:rPr lang="en-US" sz="1100" dirty="0">
                <a:solidFill>
                  <a:srgbClr val="334155"/>
                </a:solidFill>
                <a:latin typeface="DM Sans" pitchFamily="34" charset="0"/>
                <a:ea typeface="DM Sans" pitchFamily="34" charset="-122"/>
                <a:cs typeface="DM Sans" pitchFamily="34" charset="-120"/>
              </a:rPr>
              <a:t>Growth Y1 net / customer</a:t>
            </a:r>
            <a:endParaRPr lang="en-US" sz="1100" dirty="0"/>
          </a:p>
        </p:txBody>
      </p:sp>
      <p:sp>
        <p:nvSpPr>
          <p:cNvPr id="20" name="Text 18"/>
          <p:cNvSpPr/>
          <p:nvPr/>
        </p:nvSpPr>
        <p:spPr>
          <a:xfrm>
            <a:off x="3063240" y="4069080"/>
            <a:ext cx="1463040" cy="36576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~£468</a:t>
            </a:r>
            <a:endParaRPr lang="en-US" sz="1200" dirty="0"/>
          </a:p>
        </p:txBody>
      </p:sp>
      <p:sp>
        <p:nvSpPr>
          <p:cNvPr id="21" name="Shape 19"/>
          <p:cNvSpPr/>
          <p:nvPr/>
        </p:nvSpPr>
        <p:spPr>
          <a:xfrm>
            <a:off x="4526280" y="4069080"/>
            <a:ext cx="1554480" cy="365760"/>
          </a:xfrm>
          <a:prstGeom prst="rect">
            <a:avLst/>
          </a:prstGeom>
          <a:solidFill>
            <a:srgbClr val="EEF2FF"/>
          </a:solidFill>
          <a:ln w="12700">
            <a:solidFill>
              <a:srgbClr val="333333"/>
            </a:solidFill>
            <a:prstDash val="solid"/>
          </a:ln>
        </p:spPr>
      </p:sp>
      <p:sp>
        <p:nvSpPr>
          <p:cNvPr id="22" name="Text 20"/>
          <p:cNvSpPr/>
          <p:nvPr/>
        </p:nvSpPr>
        <p:spPr>
          <a:xfrm>
            <a:off x="4572000" y="4069080"/>
            <a:ext cx="1463040" cy="365760"/>
          </a:xfrm>
          <a:prstGeom prst="rect">
            <a:avLst/>
          </a:prstGeom>
          <a:noFill/>
          <a:ln/>
        </p:spPr>
        <p:txBody>
          <a:bodyPr wrap="square" rtlCol="0" anchor="ctr"/>
          <a:lstStyle/>
          <a:p>
            <a:pPr indent="0" marL="0">
              <a:buNone/>
            </a:pPr>
            <a:r>
              <a:rPr lang="en-US" sz="1200" b="1" dirty="0">
                <a:solidFill>
                  <a:srgbClr val="3730A3"/>
                </a:solidFill>
                <a:latin typeface="DM Sans" pitchFamily="34" charset="0"/>
                <a:ea typeface="DM Sans" pitchFamily="34" charset="-122"/>
                <a:cs typeface="DM Sans" pitchFamily="34" charset="-120"/>
              </a:rPr>
              <a:t>~£381</a:t>
            </a:r>
            <a:endParaRPr lang="en-US" sz="1200" dirty="0"/>
          </a:p>
        </p:txBody>
      </p:sp>
      <p:sp>
        <p:nvSpPr>
          <p:cNvPr id="23" name="Shape 21"/>
          <p:cNvSpPr/>
          <p:nvPr/>
        </p:nvSpPr>
        <p:spPr>
          <a:xfrm>
            <a:off x="6355080" y="2011680"/>
            <a:ext cx="5303520" cy="3474720"/>
          </a:xfrm>
          <a:prstGeom prst="roundRect">
            <a:avLst>
              <a:gd name="adj" fmla="val 2105"/>
            </a:avLst>
          </a:prstGeom>
          <a:solidFill>
            <a:srgbClr val="FFFFFF"/>
          </a:solidFill>
          <a:ln w="9525">
            <a:solidFill>
              <a:srgbClr val="E2E8F0"/>
            </a:solidFill>
            <a:prstDash val="solid"/>
          </a:ln>
        </p:spPr>
      </p:sp>
      <p:sp>
        <p:nvSpPr>
          <p:cNvPr id="24" name="Shape 22"/>
          <p:cNvSpPr/>
          <p:nvPr/>
        </p:nvSpPr>
        <p:spPr>
          <a:xfrm>
            <a:off x="6355080" y="2011680"/>
            <a:ext cx="5303520" cy="54864"/>
          </a:xfrm>
          <a:prstGeom prst="rect">
            <a:avLst/>
          </a:prstGeom>
          <a:solidFill>
            <a:srgbClr val="4F46E5"/>
          </a:solidFill>
          <a:ln w="12700">
            <a:solidFill>
              <a:srgbClr val="4F46E5"/>
            </a:solidFill>
            <a:prstDash val="solid"/>
          </a:ln>
        </p:spPr>
      </p:sp>
      <p:sp>
        <p:nvSpPr>
          <p:cNvPr id="25" name="Text 23"/>
          <p:cNvSpPr/>
          <p:nvPr/>
        </p:nvSpPr>
        <p:spPr>
          <a:xfrm>
            <a:off x="6629400" y="2240280"/>
            <a:ext cx="4846320" cy="274320"/>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WHAT THIS MEANS AT MONTH 18</a:t>
            </a:r>
            <a:endParaRPr lang="en-US" sz="900" dirty="0"/>
          </a:p>
        </p:txBody>
      </p:sp>
      <p:sp>
        <p:nvSpPr>
          <p:cNvPr id="26" name="Text 24"/>
          <p:cNvSpPr/>
          <p:nvPr/>
        </p:nvSpPr>
        <p:spPr>
          <a:xfrm>
            <a:off x="6629400" y="2788920"/>
            <a:ext cx="4846320" cy="365760"/>
          </a:xfrm>
          <a:prstGeom prst="rect">
            <a:avLst/>
          </a:prstGeom>
          <a:noFill/>
          <a:ln/>
        </p:spPr>
        <p:txBody>
          <a:bodyPr wrap="square" rtlCol="0" anchor="ctr"/>
          <a:lstStyle/>
          <a:p>
            <a:pPr indent="0" marL="0">
              <a:buNone/>
            </a:pPr>
            <a:r>
              <a:rPr lang="en-US" sz="1400" b="1" dirty="0">
                <a:solidFill>
                  <a:srgbClr val="0F172A"/>
                </a:solidFill>
                <a:latin typeface="DM Sans" pitchFamily="34" charset="0"/>
                <a:ea typeface="DM Sans" pitchFamily="34" charset="-122"/>
                <a:cs typeface="DM Sans" pitchFamily="34" charset="-120"/>
              </a:rPr>
              <a:t>Sprint base  ·  ~£135K MRR  ·  ~£1.6M ARR</a:t>
            </a:r>
            <a:endParaRPr lang="en-US" sz="1400" dirty="0"/>
          </a:p>
        </p:txBody>
      </p:sp>
      <p:sp>
        <p:nvSpPr>
          <p:cNvPr id="27" name="Text 25"/>
          <p:cNvSpPr/>
          <p:nvPr/>
        </p:nvSpPr>
        <p:spPr>
          <a:xfrm>
            <a:off x="6629400" y="3200400"/>
            <a:ext cx="4846320" cy="50292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Real business at solo-founder scale. Profitable from ~month 6.</a:t>
            </a:r>
            <a:endParaRPr lang="en-US" sz="1100" dirty="0"/>
          </a:p>
        </p:txBody>
      </p:sp>
      <p:sp>
        <p:nvSpPr>
          <p:cNvPr id="28" name="Text 26"/>
          <p:cNvSpPr/>
          <p:nvPr/>
        </p:nvSpPr>
        <p:spPr>
          <a:xfrm>
            <a:off x="6629400" y="3931920"/>
            <a:ext cx="4846320" cy="365760"/>
          </a:xfrm>
          <a:prstGeom prst="rect">
            <a:avLst/>
          </a:prstGeom>
          <a:noFill/>
          <a:ln/>
        </p:spPr>
        <p:txBody>
          <a:bodyPr wrap="square" rtlCol="0" anchor="ctr"/>
          <a:lstStyle/>
          <a:p>
            <a:pPr indent="0" marL="0">
              <a:buNone/>
            </a:pPr>
            <a:r>
              <a:rPr lang="en-US" sz="1400" b="1" dirty="0">
                <a:solidFill>
                  <a:srgbClr val="B45309"/>
                </a:solidFill>
                <a:latin typeface="DM Sans" pitchFamily="34" charset="0"/>
                <a:ea typeface="DM Sans" pitchFamily="34" charset="-122"/>
                <a:cs typeface="DM Sans" pitchFamily="34" charset="-120"/>
              </a:rPr>
              <a:t>Sprint upside  ·  ~£380K MRR  ·  ~£4.5M ARR</a:t>
            </a:r>
            <a:endParaRPr lang="en-US" sz="1400" dirty="0"/>
          </a:p>
        </p:txBody>
      </p:sp>
      <p:sp>
        <p:nvSpPr>
          <p:cNvPr id="29" name="Text 27"/>
          <p:cNvSpPr/>
          <p:nvPr/>
        </p:nvSpPr>
        <p:spPr>
          <a:xfrm>
            <a:off x="6629400" y="4343400"/>
            <a:ext cx="4846320" cy="50292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Acquirable or fundable. The capitalise window from slide 15.</a:t>
            </a:r>
            <a:endParaRPr lang="en-US" sz="1100" dirty="0"/>
          </a:p>
        </p:txBody>
      </p:sp>
      <p:sp>
        <p:nvSpPr>
          <p:cNvPr id="30" name="Shape 28"/>
          <p:cNvSpPr/>
          <p:nvPr/>
        </p:nvSpPr>
        <p:spPr>
          <a:xfrm>
            <a:off x="502920" y="5577840"/>
            <a:ext cx="11155680" cy="777240"/>
          </a:xfrm>
          <a:prstGeom prst="roundRect">
            <a:avLst>
              <a:gd name="adj" fmla="val 9412"/>
            </a:avLst>
          </a:prstGeom>
          <a:solidFill>
            <a:srgbClr val="0F172A"/>
          </a:solidFill>
          <a:ln w="12700">
            <a:solidFill>
              <a:srgbClr val="0F172A"/>
            </a:solidFill>
            <a:prstDash val="solid"/>
          </a:ln>
        </p:spPr>
      </p:sp>
      <p:sp>
        <p:nvSpPr>
          <p:cNvPr id="31" name="Text 29"/>
          <p:cNvSpPr/>
          <p:nvPr/>
        </p:nvSpPr>
        <p:spPr>
          <a:xfrm>
            <a:off x="868680" y="5623560"/>
            <a:ext cx="10424160" cy="228600"/>
          </a:xfrm>
          <a:prstGeom prst="rect">
            <a:avLst/>
          </a:prstGeom>
          <a:noFill/>
          <a:ln/>
        </p:spPr>
        <p:txBody>
          <a:bodyPr wrap="square" rtlCol="0" anchor="ctr"/>
          <a:lstStyle/>
          <a:p>
            <a:pPr indent="0" marL="0">
              <a:buNone/>
            </a:pPr>
            <a:r>
              <a:rPr lang="en-US" sz="900" b="1" spc="400" kern="0" dirty="0">
                <a:solidFill>
                  <a:srgbClr val="F59E0B"/>
                </a:solidFill>
                <a:latin typeface="JetBrains Mono" pitchFamily="34" charset="0"/>
                <a:ea typeface="JetBrains Mono" pitchFamily="34" charset="-122"/>
                <a:cs typeface="JetBrains Mono" pitchFamily="34" charset="-120"/>
              </a:rPr>
              <a:t>HONEST FRAMING</a:t>
            </a:r>
            <a:endParaRPr lang="en-US" sz="900" dirty="0"/>
          </a:p>
        </p:txBody>
      </p:sp>
      <p:sp>
        <p:nvSpPr>
          <p:cNvPr id="32" name="Text 30"/>
          <p:cNvSpPr/>
          <p:nvPr/>
        </p:nvSpPr>
        <p:spPr>
          <a:xfrm>
            <a:off x="868680" y="5870448"/>
            <a:ext cx="10424160" cy="502920"/>
          </a:xfrm>
          <a:prstGeom prst="rect">
            <a:avLst/>
          </a:prstGeom>
          <a:noFill/>
          <a:ln/>
        </p:spPr>
        <p:txBody>
          <a:bodyPr wrap="square" rtlCol="0" anchor="ctr"/>
          <a:lstStyle/>
          <a:p>
            <a:pPr indent="0" marL="0">
              <a:lnSpc>
                <a:spcPct val="135000"/>
              </a:lnSpc>
              <a:buNone/>
            </a:pPr>
            <a:r>
              <a:rPr lang="en-US" sz="900" dirty="0">
                <a:solidFill>
                  <a:srgbClr val="EEF2FF"/>
                </a:solidFill>
                <a:latin typeface="DM Sans" pitchFamily="34" charset="0"/>
                <a:ea typeface="DM Sans" pitchFamily="34" charset="-122"/>
                <a:cs typeface="DM Sans" pitchFamily="34" charset="-120"/>
              </a:rPr>
              <a:t>Dual sub (£14 annual / £17 monthly, 40/60 blend), pass-through overage at cost × 1.60, shared multi-tenant Launch host (CAX41), 3 mailboxes, dedicated VPS at Growth tier. Mid-range Launch £11.55/mo (£9.08 → £12.17); Growth £31.74/mo (£24.12 → £34.24). Y1 OPEX ≈£90K (founder draw not included). Full sensitivity: AI_COGS_SENSITIVITY.xlsx · MRR build-up in appendix.</a:t>
            </a:r>
            <a:endParaRPr lang="en-US" sz="900" dirty="0"/>
          </a:p>
        </p:txBody>
      </p:sp>
      <p:sp>
        <p:nvSpPr>
          <p:cNvPr id="33" name="Text 31"/>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34" name="Text 32"/>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15  ·  THREE LANDING ZONES</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Where this lands at month 12-18.</a:t>
            </a:r>
            <a:endParaRPr lang="en-US" sz="3000" dirty="0"/>
          </a:p>
        </p:txBody>
      </p:sp>
      <p:sp>
        <p:nvSpPr>
          <p:cNvPr id="4" name="Shape 2"/>
          <p:cNvSpPr/>
          <p:nvPr/>
        </p:nvSpPr>
        <p:spPr>
          <a:xfrm>
            <a:off x="502920" y="2011680"/>
            <a:ext cx="3611880" cy="3931920"/>
          </a:xfrm>
          <a:prstGeom prst="roundRect">
            <a:avLst>
              <a:gd name="adj" fmla="val 2532"/>
            </a:avLst>
          </a:prstGeom>
          <a:solidFill>
            <a:srgbClr val="0F172A"/>
          </a:solidFill>
          <a:ln w="25400">
            <a:solidFill>
              <a:srgbClr val="F59E0B"/>
            </a:solidFill>
            <a:prstDash val="solid"/>
          </a:ln>
        </p:spPr>
      </p:sp>
      <p:sp>
        <p:nvSpPr>
          <p:cNvPr id="5" name="Text 3"/>
          <p:cNvSpPr/>
          <p:nvPr/>
        </p:nvSpPr>
        <p:spPr>
          <a:xfrm>
            <a:off x="777240" y="2286000"/>
            <a:ext cx="3154680" cy="274320"/>
          </a:xfrm>
          <a:prstGeom prst="rect">
            <a:avLst/>
          </a:prstGeom>
          <a:noFill/>
          <a:ln/>
        </p:spPr>
        <p:txBody>
          <a:bodyPr wrap="square" rtlCol="0" anchor="ctr"/>
          <a:lstStyle/>
          <a:p>
            <a:pPr indent="0" marL="0">
              <a:buNone/>
            </a:pPr>
            <a:r>
              <a:rPr lang="en-US" sz="900" b="1" spc="400" kern="0" dirty="0">
                <a:solidFill>
                  <a:srgbClr val="F59E0B"/>
                </a:solidFill>
                <a:latin typeface="JetBrains Mono" pitchFamily="34" charset="0"/>
                <a:ea typeface="JetBrains Mono" pitchFamily="34" charset="-122"/>
                <a:cs typeface="JetBrains Mono" pitchFamily="34" charset="-120"/>
              </a:rPr>
              <a:t>PRIMARY UPSIDE</a:t>
            </a:r>
            <a:endParaRPr lang="en-US" sz="900" dirty="0"/>
          </a:p>
        </p:txBody>
      </p:sp>
      <p:sp>
        <p:nvSpPr>
          <p:cNvPr id="6" name="Text 4"/>
          <p:cNvSpPr/>
          <p:nvPr/>
        </p:nvSpPr>
        <p:spPr>
          <a:xfrm>
            <a:off x="777240" y="2606040"/>
            <a:ext cx="3154680" cy="502920"/>
          </a:xfrm>
          <a:prstGeom prst="rect">
            <a:avLst/>
          </a:prstGeom>
          <a:noFill/>
          <a:ln/>
        </p:spPr>
        <p:txBody>
          <a:bodyPr wrap="square" rtlCol="0" anchor="ctr"/>
          <a:lstStyle/>
          <a:p>
            <a:pPr indent="0" marL="0">
              <a:lnSpc>
                <a:spcPct val="115000"/>
              </a:lnSpc>
              <a:buNone/>
            </a:pPr>
            <a:r>
              <a:rPr lang="en-US" sz="1700" b="1" dirty="0">
                <a:solidFill>
                  <a:srgbClr val="FFFFFF"/>
                </a:solidFill>
                <a:latin typeface="DM Sans" pitchFamily="34" charset="0"/>
                <a:ea typeface="DM Sans" pitchFamily="34" charset="-122"/>
                <a:cs typeface="DM Sans" pitchFamily="34" charset="-120"/>
              </a:rPr>
              <a:t>Strategic acquisition</a:t>
            </a:r>
            <a:endParaRPr lang="en-US" sz="1700" dirty="0"/>
          </a:p>
        </p:txBody>
      </p:sp>
      <p:sp>
        <p:nvSpPr>
          <p:cNvPr id="7" name="Text 5"/>
          <p:cNvSpPr/>
          <p:nvPr/>
        </p:nvSpPr>
        <p:spPr>
          <a:xfrm>
            <a:off x="777240" y="3200400"/>
            <a:ext cx="3154680" cy="960120"/>
          </a:xfrm>
          <a:prstGeom prst="rect">
            <a:avLst/>
          </a:prstGeom>
          <a:noFill/>
          <a:ln/>
        </p:spPr>
        <p:txBody>
          <a:bodyPr wrap="square" rtlCol="0" anchor="ctr"/>
          <a:lstStyle/>
          <a:p>
            <a:pPr indent="0" marL="0">
              <a:buNone/>
            </a:pPr>
            <a:r>
              <a:rPr lang="en-US" sz="3800" b="1" dirty="0">
                <a:solidFill>
                  <a:srgbClr val="F59E0B"/>
                </a:solidFill>
                <a:latin typeface="DM Sans" pitchFamily="34" charset="0"/>
                <a:ea typeface="DM Sans" pitchFamily="34" charset="-122"/>
                <a:cs typeface="DM Sans" pitchFamily="34" charset="-120"/>
              </a:rPr>
              <a:t>$20-100M</a:t>
            </a:r>
            <a:endParaRPr lang="en-US" sz="3800" dirty="0"/>
          </a:p>
        </p:txBody>
      </p:sp>
      <p:sp>
        <p:nvSpPr>
          <p:cNvPr id="8" name="Text 6"/>
          <p:cNvSpPr/>
          <p:nvPr/>
        </p:nvSpPr>
        <p:spPr>
          <a:xfrm>
            <a:off x="777240" y="4114800"/>
            <a:ext cx="3154680" cy="274320"/>
          </a:xfrm>
          <a:prstGeom prst="rect">
            <a:avLst/>
          </a:prstGeom>
          <a:noFill/>
          <a:ln/>
        </p:spPr>
        <p:txBody>
          <a:bodyPr wrap="square" rtlCol="0" anchor="ctr"/>
          <a:lstStyle/>
          <a:p>
            <a:pPr indent="0" marL="0">
              <a:buNone/>
            </a:pPr>
            <a:r>
              <a:rPr lang="en-US" sz="1000" i="1" dirty="0">
                <a:solidFill>
                  <a:srgbClr val="EEF2FF"/>
                </a:solidFill>
                <a:latin typeface="DM Sans" pitchFamily="34" charset="0"/>
                <a:ea typeface="DM Sans" pitchFamily="34" charset="-122"/>
                <a:cs typeface="DM Sans" pitchFamily="34" charset="-120"/>
              </a:rPr>
              <a:t>category precedents</a:t>
            </a:r>
            <a:endParaRPr lang="en-US" sz="1000" dirty="0"/>
          </a:p>
        </p:txBody>
      </p:sp>
      <p:sp>
        <p:nvSpPr>
          <p:cNvPr id="9" name="Text 7"/>
          <p:cNvSpPr/>
          <p:nvPr/>
        </p:nvSpPr>
        <p:spPr>
          <a:xfrm>
            <a:off x="777240" y="4480560"/>
            <a:ext cx="3154680" cy="868680"/>
          </a:xfrm>
          <a:prstGeom prst="rect">
            <a:avLst/>
          </a:prstGeom>
          <a:noFill/>
          <a:ln/>
        </p:spPr>
        <p:txBody>
          <a:bodyPr wrap="square" rtlCol="0" anchor="ctr"/>
          <a:lstStyle/>
          <a:p>
            <a:pPr indent="0" marL="0">
              <a:lnSpc>
                <a:spcPct val="140000"/>
              </a:lnSpc>
              <a:buNone/>
            </a:pPr>
            <a:r>
              <a:rPr lang="en-US" sz="1100" dirty="0">
                <a:solidFill>
                  <a:srgbClr val="EEF2FF"/>
                </a:solidFill>
                <a:latin typeface="DM Sans" pitchFamily="34" charset="0"/>
                <a:ea typeface="DM Sans" pitchFamily="34" charset="-122"/>
                <a:cs typeface="DM Sans" pitchFamily="34" charset="-120"/>
              </a:rPr>
              <a:t>5-15K active users, clean positioning, strategic alignment with a major AI tool vendor at month 12-18.</a:t>
            </a:r>
            <a:endParaRPr lang="en-US" sz="1100" dirty="0"/>
          </a:p>
        </p:txBody>
      </p:sp>
      <p:sp>
        <p:nvSpPr>
          <p:cNvPr id="10" name="Shape 8"/>
          <p:cNvSpPr/>
          <p:nvPr/>
        </p:nvSpPr>
        <p:spPr>
          <a:xfrm>
            <a:off x="777240" y="5349240"/>
            <a:ext cx="3063240" cy="9144"/>
          </a:xfrm>
          <a:prstGeom prst="rect">
            <a:avLst/>
          </a:prstGeom>
          <a:solidFill>
            <a:srgbClr val="334155"/>
          </a:solidFill>
          <a:ln w="12700">
            <a:solidFill>
              <a:srgbClr val="333333"/>
            </a:solidFill>
            <a:prstDash val="solid"/>
          </a:ln>
        </p:spPr>
      </p:sp>
      <p:sp>
        <p:nvSpPr>
          <p:cNvPr id="11" name="Text 9"/>
          <p:cNvSpPr/>
          <p:nvPr/>
        </p:nvSpPr>
        <p:spPr>
          <a:xfrm>
            <a:off x="777240" y="5440680"/>
            <a:ext cx="3154680" cy="502920"/>
          </a:xfrm>
          <a:prstGeom prst="rect">
            <a:avLst/>
          </a:prstGeom>
          <a:noFill/>
          <a:ln/>
        </p:spPr>
        <p:txBody>
          <a:bodyPr wrap="square" rtlCol="0" anchor="ctr"/>
          <a:lstStyle/>
          <a:p>
            <a:pPr indent="0" marL="0">
              <a:lnSpc>
                <a:spcPct val="135000"/>
              </a:lnSpc>
              <a:buNone/>
            </a:pPr>
            <a:r>
              <a:rPr lang="en-US" sz="950" i="1" dirty="0">
                <a:solidFill>
                  <a:srgbClr val="F59E0B"/>
                </a:solidFill>
                <a:latin typeface="DM Sans" pitchFamily="34" charset="0"/>
                <a:ea typeface="DM Sans" pitchFamily="34" charset="-122"/>
                <a:cs typeface="DM Sans" pitchFamily="34" charset="-120"/>
              </a:rPr>
              <a:t>Plausible acquirers: Anthropic, Cursor, Windsurf, Vercel, Supabase, Stripe.</a:t>
            </a:r>
            <a:endParaRPr lang="en-US" sz="950" dirty="0"/>
          </a:p>
        </p:txBody>
      </p:sp>
      <p:sp>
        <p:nvSpPr>
          <p:cNvPr id="12" name="Shape 10"/>
          <p:cNvSpPr/>
          <p:nvPr/>
        </p:nvSpPr>
        <p:spPr>
          <a:xfrm>
            <a:off x="4297680" y="2011680"/>
            <a:ext cx="3611880" cy="3931920"/>
          </a:xfrm>
          <a:prstGeom prst="roundRect">
            <a:avLst>
              <a:gd name="adj" fmla="val 2532"/>
            </a:avLst>
          </a:prstGeom>
          <a:solidFill>
            <a:srgbClr val="FFFFFF"/>
          </a:solidFill>
          <a:ln w="9525">
            <a:solidFill>
              <a:srgbClr val="E2E8F0"/>
            </a:solidFill>
            <a:prstDash val="solid"/>
          </a:ln>
        </p:spPr>
      </p:sp>
      <p:sp>
        <p:nvSpPr>
          <p:cNvPr id="13" name="Text 11"/>
          <p:cNvSpPr/>
          <p:nvPr/>
        </p:nvSpPr>
        <p:spPr>
          <a:xfrm>
            <a:off x="4572000" y="2286000"/>
            <a:ext cx="315468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HYPERGROWTH</a:t>
            </a:r>
            <a:endParaRPr lang="en-US" sz="900" dirty="0"/>
          </a:p>
        </p:txBody>
      </p:sp>
      <p:sp>
        <p:nvSpPr>
          <p:cNvPr id="14" name="Text 12"/>
          <p:cNvSpPr/>
          <p:nvPr/>
        </p:nvSpPr>
        <p:spPr>
          <a:xfrm>
            <a:off x="4572000" y="2606040"/>
            <a:ext cx="3154680" cy="502920"/>
          </a:xfrm>
          <a:prstGeom prst="rect">
            <a:avLst/>
          </a:prstGeom>
          <a:noFill/>
          <a:ln/>
        </p:spPr>
        <p:txBody>
          <a:bodyPr wrap="square" rtlCol="0" anchor="ctr"/>
          <a:lstStyle/>
          <a:p>
            <a:pPr indent="0" marL="0">
              <a:lnSpc>
                <a:spcPct val="115000"/>
              </a:lnSpc>
              <a:buNone/>
            </a:pPr>
            <a:r>
              <a:rPr lang="en-US" sz="1700" b="1" dirty="0">
                <a:solidFill>
                  <a:srgbClr val="0F172A"/>
                </a:solidFill>
                <a:latin typeface="DM Sans" pitchFamily="34" charset="0"/>
                <a:ea typeface="DM Sans" pitchFamily="34" charset="-122"/>
                <a:cs typeface="DM Sans" pitchFamily="34" charset="-120"/>
              </a:rPr>
              <a:t>Pre-seed → seed raise</a:t>
            </a:r>
            <a:endParaRPr lang="en-US" sz="1700" dirty="0"/>
          </a:p>
        </p:txBody>
      </p:sp>
      <p:sp>
        <p:nvSpPr>
          <p:cNvPr id="15" name="Text 13"/>
          <p:cNvSpPr/>
          <p:nvPr/>
        </p:nvSpPr>
        <p:spPr>
          <a:xfrm>
            <a:off x="4572000" y="3200400"/>
            <a:ext cx="3154680" cy="960120"/>
          </a:xfrm>
          <a:prstGeom prst="rect">
            <a:avLst/>
          </a:prstGeom>
          <a:noFill/>
          <a:ln/>
        </p:spPr>
        <p:txBody>
          <a:bodyPr wrap="square" rtlCol="0" anchor="ctr"/>
          <a:lstStyle/>
          <a:p>
            <a:pPr indent="0" marL="0">
              <a:buNone/>
            </a:pPr>
            <a:r>
              <a:rPr lang="en-US" sz="3800" b="1" dirty="0">
                <a:solidFill>
                  <a:srgbClr val="4F46E5"/>
                </a:solidFill>
                <a:latin typeface="DM Sans" pitchFamily="34" charset="0"/>
                <a:ea typeface="DM Sans" pitchFamily="34" charset="-122"/>
                <a:cs typeface="DM Sans" pitchFamily="34" charset="-120"/>
              </a:rPr>
              <a:t>£20-50M</a:t>
            </a:r>
            <a:endParaRPr lang="en-US" sz="3800" dirty="0"/>
          </a:p>
        </p:txBody>
      </p:sp>
      <p:sp>
        <p:nvSpPr>
          <p:cNvPr id="16" name="Text 14"/>
          <p:cNvSpPr/>
          <p:nvPr/>
        </p:nvSpPr>
        <p:spPr>
          <a:xfrm>
            <a:off x="4572000" y="4114800"/>
            <a:ext cx="3154680" cy="274320"/>
          </a:xfrm>
          <a:prstGeom prst="rect">
            <a:avLst/>
          </a:prstGeom>
          <a:noFill/>
          <a:ln/>
        </p:spPr>
        <p:txBody>
          <a:bodyPr wrap="square" rtlCol="0" anchor="ctr"/>
          <a:lstStyle/>
          <a:p>
            <a:pPr indent="0" marL="0">
              <a:buNone/>
            </a:pPr>
            <a:r>
              <a:rPr lang="en-US" sz="1000" i="1" dirty="0">
                <a:solidFill>
                  <a:srgbClr val="64748B"/>
                </a:solidFill>
                <a:latin typeface="DM Sans" pitchFamily="34" charset="0"/>
                <a:ea typeface="DM Sans" pitchFamily="34" charset="-122"/>
                <a:cs typeface="DM Sans" pitchFamily="34" charset="-120"/>
              </a:rPr>
              <a:t>valuation band</a:t>
            </a:r>
            <a:endParaRPr lang="en-US" sz="1000" dirty="0"/>
          </a:p>
        </p:txBody>
      </p:sp>
      <p:sp>
        <p:nvSpPr>
          <p:cNvPr id="17" name="Text 15"/>
          <p:cNvSpPr/>
          <p:nvPr/>
        </p:nvSpPr>
        <p:spPr>
          <a:xfrm>
            <a:off x="4572000" y="4480560"/>
            <a:ext cx="3154680" cy="86868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£100-300K MRR. 30%+ MoM growth still compounding at month 12-15. Targets: Earlybird AI, Index, Seedcamp, EF, Antler.</a:t>
            </a:r>
            <a:endParaRPr lang="en-US" sz="1100" dirty="0"/>
          </a:p>
        </p:txBody>
      </p:sp>
      <p:sp>
        <p:nvSpPr>
          <p:cNvPr id="18" name="Shape 16"/>
          <p:cNvSpPr/>
          <p:nvPr/>
        </p:nvSpPr>
        <p:spPr>
          <a:xfrm>
            <a:off x="4572000" y="5349240"/>
            <a:ext cx="3063240" cy="9144"/>
          </a:xfrm>
          <a:prstGeom prst="rect">
            <a:avLst/>
          </a:prstGeom>
          <a:solidFill>
            <a:srgbClr val="F1F5F9"/>
          </a:solidFill>
          <a:ln w="12700">
            <a:solidFill>
              <a:srgbClr val="333333"/>
            </a:solidFill>
            <a:prstDash val="solid"/>
          </a:ln>
        </p:spPr>
      </p:sp>
      <p:sp>
        <p:nvSpPr>
          <p:cNvPr id="19" name="Text 17"/>
          <p:cNvSpPr/>
          <p:nvPr/>
        </p:nvSpPr>
        <p:spPr>
          <a:xfrm>
            <a:off x="4572000" y="5440680"/>
            <a:ext cx="3154680" cy="502920"/>
          </a:xfrm>
          <a:prstGeom prst="rect">
            <a:avLst/>
          </a:prstGeom>
          <a:noFill/>
          <a:ln/>
        </p:spPr>
        <p:txBody>
          <a:bodyPr wrap="square" rtlCol="0" anchor="ctr"/>
          <a:lstStyle/>
          <a:p>
            <a:pPr indent="0" marL="0">
              <a:lnSpc>
                <a:spcPct val="135000"/>
              </a:lnSpc>
              <a:buNone/>
            </a:pPr>
            <a:r>
              <a:rPr lang="en-US" sz="950" i="1" dirty="0">
                <a:solidFill>
                  <a:srgbClr val="64748B"/>
                </a:solidFill>
                <a:latin typeface="DM Sans" pitchFamily="34" charset="0"/>
                <a:ea typeface="DM Sans" pitchFamily="34" charset="-122"/>
                <a:cs typeface="DM Sans" pitchFamily="34" charset="-120"/>
              </a:rPr>
              <a:t>Funds team expansion (5-8 hires), full paid acquisition engine, product expansion.</a:t>
            </a:r>
            <a:endParaRPr lang="en-US" sz="950" dirty="0"/>
          </a:p>
        </p:txBody>
      </p:sp>
      <p:sp>
        <p:nvSpPr>
          <p:cNvPr id="20" name="Shape 18"/>
          <p:cNvSpPr/>
          <p:nvPr/>
        </p:nvSpPr>
        <p:spPr>
          <a:xfrm>
            <a:off x="8092440" y="2011680"/>
            <a:ext cx="3611880" cy="3931920"/>
          </a:xfrm>
          <a:prstGeom prst="roundRect">
            <a:avLst>
              <a:gd name="adj" fmla="val 2532"/>
            </a:avLst>
          </a:prstGeom>
          <a:solidFill>
            <a:srgbClr val="FFFFFF"/>
          </a:solidFill>
          <a:ln w="9525">
            <a:solidFill>
              <a:srgbClr val="E2E8F0"/>
            </a:solidFill>
            <a:prstDash val="solid"/>
          </a:ln>
        </p:spPr>
      </p:sp>
      <p:sp>
        <p:nvSpPr>
          <p:cNvPr id="21" name="Text 19"/>
          <p:cNvSpPr/>
          <p:nvPr/>
        </p:nvSpPr>
        <p:spPr>
          <a:xfrm>
            <a:off x="8366760" y="2286000"/>
            <a:ext cx="315468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CONSOLATION</a:t>
            </a:r>
            <a:endParaRPr lang="en-US" sz="900" dirty="0"/>
          </a:p>
        </p:txBody>
      </p:sp>
      <p:sp>
        <p:nvSpPr>
          <p:cNvPr id="22" name="Text 20"/>
          <p:cNvSpPr/>
          <p:nvPr/>
        </p:nvSpPr>
        <p:spPr>
          <a:xfrm>
            <a:off x="8366760" y="2606040"/>
            <a:ext cx="3154680" cy="502920"/>
          </a:xfrm>
          <a:prstGeom prst="rect">
            <a:avLst/>
          </a:prstGeom>
          <a:noFill/>
          <a:ln/>
        </p:spPr>
        <p:txBody>
          <a:bodyPr wrap="square" rtlCol="0" anchor="ctr"/>
          <a:lstStyle/>
          <a:p>
            <a:pPr indent="0" marL="0">
              <a:lnSpc>
                <a:spcPct val="115000"/>
              </a:lnSpc>
              <a:buNone/>
            </a:pPr>
            <a:r>
              <a:rPr lang="en-US" sz="1700" b="1" dirty="0">
                <a:solidFill>
                  <a:srgbClr val="0F172A"/>
                </a:solidFill>
                <a:latin typeface="DM Sans" pitchFamily="34" charset="0"/>
                <a:ea typeface="DM Sans" pitchFamily="34" charset="-122"/>
                <a:cs typeface="DM Sans" pitchFamily="34" charset="-120"/>
              </a:rPr>
              <a:t>Lifestyle landing zone</a:t>
            </a:r>
            <a:endParaRPr lang="en-US" sz="1700" dirty="0"/>
          </a:p>
        </p:txBody>
      </p:sp>
      <p:sp>
        <p:nvSpPr>
          <p:cNvPr id="23" name="Text 21"/>
          <p:cNvSpPr/>
          <p:nvPr/>
        </p:nvSpPr>
        <p:spPr>
          <a:xfrm>
            <a:off x="8366760" y="3200400"/>
            <a:ext cx="3154680" cy="960120"/>
          </a:xfrm>
          <a:prstGeom prst="rect">
            <a:avLst/>
          </a:prstGeom>
          <a:noFill/>
          <a:ln/>
        </p:spPr>
        <p:txBody>
          <a:bodyPr wrap="square" rtlCol="0" anchor="ctr"/>
          <a:lstStyle/>
          <a:p>
            <a:pPr indent="0" marL="0">
              <a:buNone/>
            </a:pPr>
            <a:r>
              <a:rPr lang="en-US" sz="3800" b="1" dirty="0">
                <a:solidFill>
                  <a:srgbClr val="4F46E5"/>
                </a:solidFill>
                <a:latin typeface="DM Sans" pitchFamily="34" charset="0"/>
                <a:ea typeface="DM Sans" pitchFamily="34" charset="-122"/>
                <a:cs typeface="DM Sans" pitchFamily="34" charset="-120"/>
              </a:rPr>
              <a:t>£25-65K</a:t>
            </a:r>
            <a:endParaRPr lang="en-US" sz="3800" dirty="0"/>
          </a:p>
        </p:txBody>
      </p:sp>
      <p:sp>
        <p:nvSpPr>
          <p:cNvPr id="24" name="Text 22"/>
          <p:cNvSpPr/>
          <p:nvPr/>
        </p:nvSpPr>
        <p:spPr>
          <a:xfrm>
            <a:off x="8366760" y="4114800"/>
            <a:ext cx="3154680" cy="274320"/>
          </a:xfrm>
          <a:prstGeom prst="rect">
            <a:avLst/>
          </a:prstGeom>
          <a:noFill/>
          <a:ln/>
        </p:spPr>
        <p:txBody>
          <a:bodyPr wrap="square" rtlCol="0" anchor="ctr"/>
          <a:lstStyle/>
          <a:p>
            <a:pPr indent="0" marL="0">
              <a:buNone/>
            </a:pPr>
            <a:r>
              <a:rPr lang="en-US" sz="1000" i="1" dirty="0">
                <a:solidFill>
                  <a:srgbClr val="64748B"/>
                </a:solidFill>
                <a:latin typeface="DM Sans" pitchFamily="34" charset="0"/>
                <a:ea typeface="DM Sans" pitchFamily="34" charset="-122"/>
                <a:cs typeface="DM Sans" pitchFamily="34" charset="-120"/>
              </a:rPr>
              <a:t>solo income / month</a:t>
            </a:r>
            <a:endParaRPr lang="en-US" sz="1000" dirty="0"/>
          </a:p>
        </p:txBody>
      </p:sp>
      <p:sp>
        <p:nvSpPr>
          <p:cNvPr id="25" name="Text 23"/>
          <p:cNvSpPr/>
          <p:nvPr/>
        </p:nvSpPr>
        <p:spPr>
          <a:xfrm>
            <a:off x="8366760" y="4480560"/>
            <a:ext cx="3154680" cy="86868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£30-80K MRR plateaued at month 12-18. Sprint base outcome. No external capital, no team.</a:t>
            </a:r>
            <a:endParaRPr lang="en-US" sz="1100" dirty="0"/>
          </a:p>
        </p:txBody>
      </p:sp>
      <p:sp>
        <p:nvSpPr>
          <p:cNvPr id="26" name="Shape 24"/>
          <p:cNvSpPr/>
          <p:nvPr/>
        </p:nvSpPr>
        <p:spPr>
          <a:xfrm>
            <a:off x="8366760" y="5349240"/>
            <a:ext cx="3063240" cy="9144"/>
          </a:xfrm>
          <a:prstGeom prst="rect">
            <a:avLst/>
          </a:prstGeom>
          <a:solidFill>
            <a:srgbClr val="F1F5F9"/>
          </a:solidFill>
          <a:ln w="12700">
            <a:solidFill>
              <a:srgbClr val="333333"/>
            </a:solidFill>
            <a:prstDash val="solid"/>
          </a:ln>
        </p:spPr>
      </p:sp>
      <p:sp>
        <p:nvSpPr>
          <p:cNvPr id="27" name="Text 25"/>
          <p:cNvSpPr/>
          <p:nvPr/>
        </p:nvSpPr>
        <p:spPr>
          <a:xfrm>
            <a:off x="8366760" y="5440680"/>
            <a:ext cx="3154680" cy="502920"/>
          </a:xfrm>
          <a:prstGeom prst="rect">
            <a:avLst/>
          </a:prstGeom>
          <a:noFill/>
          <a:ln/>
        </p:spPr>
        <p:txBody>
          <a:bodyPr wrap="square" rtlCol="0" anchor="ctr"/>
          <a:lstStyle/>
          <a:p>
            <a:pPr indent="0" marL="0">
              <a:lnSpc>
                <a:spcPct val="135000"/>
              </a:lnSpc>
              <a:buNone/>
            </a:pPr>
            <a:r>
              <a:rPr lang="en-US" sz="950" i="1" dirty="0">
                <a:solidFill>
                  <a:srgbClr val="64748B"/>
                </a:solidFill>
                <a:latin typeface="DM Sans" pitchFamily="34" charset="0"/>
                <a:ea typeface="DM Sans" pitchFamily="34" charset="-122"/>
                <a:cs typeface="DM Sans" pitchFamily="34" charset="-120"/>
              </a:rPr>
              <a:t>Floor if both acquisition window and hypergrowth raise miss. Founder continues solo or winds down.</a:t>
            </a:r>
            <a:endParaRPr lang="en-US" sz="950" dirty="0"/>
          </a:p>
        </p:txBody>
      </p:sp>
      <p:sp>
        <p:nvSpPr>
          <p:cNvPr id="28" name="Text 26"/>
          <p:cNvSpPr/>
          <p:nvPr/>
        </p:nvSpPr>
        <p:spPr>
          <a:xfrm>
            <a:off x="502920" y="6126480"/>
            <a:ext cx="10972800" cy="274320"/>
          </a:xfrm>
          <a:prstGeom prst="rect">
            <a:avLst/>
          </a:prstGeom>
          <a:noFill/>
          <a:ln/>
        </p:spPr>
        <p:txBody>
          <a:bodyPr wrap="square" rtlCol="0" anchor="ctr"/>
          <a:lstStyle/>
          <a:p>
            <a:pPr algn="ctr" indent="0" marL="0">
              <a:buNone/>
            </a:pPr>
            <a:r>
              <a:rPr lang="en-US" sz="900" i="1" dirty="0">
                <a:solidFill>
                  <a:srgbClr val="64748B"/>
                </a:solidFill>
                <a:latin typeface="DM Sans" pitchFamily="34" charset="0"/>
                <a:ea typeface="DM Sans" pitchFamily="34" charset="-122"/>
                <a:cs typeface="DM Sans" pitchFamily="34" charset="-120"/>
              </a:rPr>
              <a:t>Acquisition framing is a credible upside scenario with category precedents (Vercel ⊃ Nuxt Labs / Splitbee). Not a guarantee, not a forecast.</a:t>
            </a:r>
            <a:endParaRPr lang="en-US" sz="900" dirty="0"/>
          </a:p>
        </p:txBody>
      </p:sp>
      <p:sp>
        <p:nvSpPr>
          <p:cNvPr id="29" name="Text 27"/>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30" name="Text 28"/>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16  ·  WHAT’S ALREADY BUILT</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Not a pitch for a slide. A pitch for a working product.</a:t>
            </a:r>
            <a:endParaRPr lang="en-US" sz="3000" dirty="0"/>
          </a:p>
        </p:txBody>
      </p:sp>
      <p:sp>
        <p:nvSpPr>
          <p:cNvPr id="4" name="Shape 2"/>
          <p:cNvSpPr/>
          <p:nvPr/>
        </p:nvSpPr>
        <p:spPr>
          <a:xfrm>
            <a:off x="594360" y="2011680"/>
            <a:ext cx="274320" cy="274320"/>
          </a:xfrm>
          <a:prstGeom prst="ellipse">
            <a:avLst/>
          </a:prstGeom>
          <a:solidFill>
            <a:srgbClr val="EEF2FF"/>
          </a:solidFill>
          <a:ln w="12700">
            <a:solidFill>
              <a:srgbClr val="4F46E5"/>
            </a:solidFill>
            <a:prstDash val="solid"/>
          </a:ln>
        </p:spPr>
      </p:sp>
      <p:sp>
        <p:nvSpPr>
          <p:cNvPr id="5" name="Text 3"/>
          <p:cNvSpPr/>
          <p:nvPr/>
        </p:nvSpPr>
        <p:spPr>
          <a:xfrm>
            <a:off x="594360" y="201168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6" name="Text 4"/>
          <p:cNvSpPr/>
          <p:nvPr/>
        </p:nvSpPr>
        <p:spPr>
          <a:xfrm>
            <a:off x="1005840" y="196596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End-to-end automated Sandbox provisioning (~60s)</a:t>
            </a:r>
            <a:endParaRPr lang="en-US" sz="1200" dirty="0"/>
          </a:p>
        </p:txBody>
      </p:sp>
      <p:sp>
        <p:nvSpPr>
          <p:cNvPr id="7" name="Shape 5"/>
          <p:cNvSpPr/>
          <p:nvPr/>
        </p:nvSpPr>
        <p:spPr>
          <a:xfrm>
            <a:off x="6263640" y="2011680"/>
            <a:ext cx="274320" cy="274320"/>
          </a:xfrm>
          <a:prstGeom prst="ellipse">
            <a:avLst/>
          </a:prstGeom>
          <a:solidFill>
            <a:srgbClr val="EEF2FF"/>
          </a:solidFill>
          <a:ln w="12700">
            <a:solidFill>
              <a:srgbClr val="4F46E5"/>
            </a:solidFill>
            <a:prstDash val="solid"/>
          </a:ln>
        </p:spPr>
      </p:sp>
      <p:sp>
        <p:nvSpPr>
          <p:cNvPr id="8" name="Text 6"/>
          <p:cNvSpPr/>
          <p:nvPr/>
        </p:nvSpPr>
        <p:spPr>
          <a:xfrm>
            <a:off x="6263640" y="201168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9" name="Text 7"/>
          <p:cNvSpPr/>
          <p:nvPr/>
        </p:nvSpPr>
        <p:spPr>
          <a:xfrm>
            <a:off x="6675120" y="196596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Magic-link + verification-code Hatchik account</a:t>
            </a:r>
            <a:endParaRPr lang="en-US" sz="1200" dirty="0"/>
          </a:p>
        </p:txBody>
      </p:sp>
      <p:sp>
        <p:nvSpPr>
          <p:cNvPr id="10" name="Shape 8"/>
          <p:cNvSpPr/>
          <p:nvPr/>
        </p:nvSpPr>
        <p:spPr>
          <a:xfrm>
            <a:off x="594360" y="2514600"/>
            <a:ext cx="274320" cy="274320"/>
          </a:xfrm>
          <a:prstGeom prst="ellipse">
            <a:avLst/>
          </a:prstGeom>
          <a:solidFill>
            <a:srgbClr val="EEF2FF"/>
          </a:solidFill>
          <a:ln w="12700">
            <a:solidFill>
              <a:srgbClr val="4F46E5"/>
            </a:solidFill>
            <a:prstDash val="solid"/>
          </a:ln>
        </p:spPr>
      </p:sp>
      <p:sp>
        <p:nvSpPr>
          <p:cNvPr id="11" name="Text 9"/>
          <p:cNvSpPr/>
          <p:nvPr/>
        </p:nvSpPr>
        <p:spPr>
          <a:xfrm>
            <a:off x="594360" y="251460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12" name="Text 10"/>
          <p:cNvSpPr/>
          <p:nvPr/>
        </p:nvSpPr>
        <p:spPr>
          <a:xfrm>
            <a:off x="1005840" y="246888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Self-serve sandbox deletion + admin lifecycle (30-day archive)</a:t>
            </a:r>
            <a:endParaRPr lang="en-US" sz="1200" dirty="0"/>
          </a:p>
        </p:txBody>
      </p:sp>
      <p:sp>
        <p:nvSpPr>
          <p:cNvPr id="13" name="Shape 11"/>
          <p:cNvSpPr/>
          <p:nvPr/>
        </p:nvSpPr>
        <p:spPr>
          <a:xfrm>
            <a:off x="6263640" y="2514600"/>
            <a:ext cx="274320" cy="274320"/>
          </a:xfrm>
          <a:prstGeom prst="ellipse">
            <a:avLst/>
          </a:prstGeom>
          <a:solidFill>
            <a:srgbClr val="EEF2FF"/>
          </a:solidFill>
          <a:ln w="12700">
            <a:solidFill>
              <a:srgbClr val="4F46E5"/>
            </a:solidFill>
            <a:prstDash val="solid"/>
          </a:ln>
        </p:spPr>
      </p:sp>
      <p:sp>
        <p:nvSpPr>
          <p:cNvPr id="14" name="Text 12"/>
          <p:cNvSpPr/>
          <p:nvPr/>
        </p:nvSpPr>
        <p:spPr>
          <a:xfrm>
            <a:off x="6263640" y="251460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15" name="Text 13"/>
          <p:cNvSpPr/>
          <p:nvPr/>
        </p:nvSpPr>
        <p:spPr>
          <a:xfrm>
            <a:off x="6675120" y="246888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Per-tenant private GitHub repo + push-to-deploy webhook</a:t>
            </a:r>
            <a:endParaRPr lang="en-US" sz="1200" dirty="0"/>
          </a:p>
        </p:txBody>
      </p:sp>
      <p:sp>
        <p:nvSpPr>
          <p:cNvPr id="16" name="Shape 14"/>
          <p:cNvSpPr/>
          <p:nvPr/>
        </p:nvSpPr>
        <p:spPr>
          <a:xfrm>
            <a:off x="594360" y="3017520"/>
            <a:ext cx="274320" cy="274320"/>
          </a:xfrm>
          <a:prstGeom prst="ellipse">
            <a:avLst/>
          </a:prstGeom>
          <a:solidFill>
            <a:srgbClr val="EEF2FF"/>
          </a:solidFill>
          <a:ln w="12700">
            <a:solidFill>
              <a:srgbClr val="4F46E5"/>
            </a:solidFill>
            <a:prstDash val="solid"/>
          </a:ln>
        </p:spPr>
      </p:sp>
      <p:sp>
        <p:nvSpPr>
          <p:cNvPr id="17" name="Text 15"/>
          <p:cNvSpPr/>
          <p:nvPr/>
        </p:nvSpPr>
        <p:spPr>
          <a:xfrm>
            <a:off x="594360" y="301752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18" name="Text 16"/>
          <p:cNvSpPr/>
          <p:nvPr/>
        </p:nvSpPr>
        <p:spPr>
          <a:xfrm>
            <a:off x="1005840" y="297180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AI deploy token — Claude / Cursor / Windsurf can ship directly</a:t>
            </a:r>
            <a:endParaRPr lang="en-US" sz="1200" dirty="0"/>
          </a:p>
        </p:txBody>
      </p:sp>
      <p:sp>
        <p:nvSpPr>
          <p:cNvPr id="19" name="Shape 17"/>
          <p:cNvSpPr/>
          <p:nvPr/>
        </p:nvSpPr>
        <p:spPr>
          <a:xfrm>
            <a:off x="6263640" y="3017520"/>
            <a:ext cx="274320" cy="274320"/>
          </a:xfrm>
          <a:prstGeom prst="ellipse">
            <a:avLst/>
          </a:prstGeom>
          <a:solidFill>
            <a:srgbClr val="EEF2FF"/>
          </a:solidFill>
          <a:ln w="12700">
            <a:solidFill>
              <a:srgbClr val="4F46E5"/>
            </a:solidFill>
            <a:prstDash val="solid"/>
          </a:ln>
        </p:spPr>
      </p:sp>
      <p:sp>
        <p:nvSpPr>
          <p:cNvPr id="20" name="Text 18"/>
          <p:cNvSpPr/>
          <p:nvPr/>
        </p:nvSpPr>
        <p:spPr>
          <a:xfrm>
            <a:off x="6263640" y="301752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21" name="Text 19"/>
          <p:cNvSpPr/>
          <p:nvPr/>
        </p:nvSpPr>
        <p:spPr>
          <a:xfrm>
            <a:off x="6675120" y="297180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Mobile build pipeline (GitHub Actions, unsigned IPA + APK)</a:t>
            </a:r>
            <a:endParaRPr lang="en-US" sz="1200" dirty="0"/>
          </a:p>
        </p:txBody>
      </p:sp>
      <p:sp>
        <p:nvSpPr>
          <p:cNvPr id="22" name="Shape 20"/>
          <p:cNvSpPr/>
          <p:nvPr/>
        </p:nvSpPr>
        <p:spPr>
          <a:xfrm>
            <a:off x="594360" y="3520440"/>
            <a:ext cx="274320" cy="274320"/>
          </a:xfrm>
          <a:prstGeom prst="ellipse">
            <a:avLst/>
          </a:prstGeom>
          <a:solidFill>
            <a:srgbClr val="EEF2FF"/>
          </a:solidFill>
          <a:ln w="12700">
            <a:solidFill>
              <a:srgbClr val="4F46E5"/>
            </a:solidFill>
            <a:prstDash val="solid"/>
          </a:ln>
        </p:spPr>
      </p:sp>
      <p:sp>
        <p:nvSpPr>
          <p:cNvPr id="23" name="Text 21"/>
          <p:cNvSpPr/>
          <p:nvPr/>
        </p:nvSpPr>
        <p:spPr>
          <a:xfrm>
            <a:off x="594360" y="352044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24" name="Text 22"/>
          <p:cNvSpPr/>
          <p:nvPr/>
        </p:nvSpPr>
        <p:spPr>
          <a:xfrm>
            <a:off x="1005840" y="347472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Status page (status.hatchik.com)</a:t>
            </a:r>
            <a:endParaRPr lang="en-US" sz="1200" dirty="0"/>
          </a:p>
        </p:txBody>
      </p:sp>
      <p:sp>
        <p:nvSpPr>
          <p:cNvPr id="25" name="Shape 23"/>
          <p:cNvSpPr/>
          <p:nvPr/>
        </p:nvSpPr>
        <p:spPr>
          <a:xfrm>
            <a:off x="6263640" y="3520440"/>
            <a:ext cx="274320" cy="274320"/>
          </a:xfrm>
          <a:prstGeom prst="ellipse">
            <a:avLst/>
          </a:prstGeom>
          <a:solidFill>
            <a:srgbClr val="EEF2FF"/>
          </a:solidFill>
          <a:ln w="12700">
            <a:solidFill>
              <a:srgbClr val="4F46E5"/>
            </a:solidFill>
            <a:prstDash val="solid"/>
          </a:ln>
        </p:spPr>
      </p:sp>
      <p:sp>
        <p:nvSpPr>
          <p:cNvPr id="26" name="Text 24"/>
          <p:cNvSpPr/>
          <p:nvPr/>
        </p:nvSpPr>
        <p:spPr>
          <a:xfrm>
            <a:off x="6263640" y="352044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27" name="Text 25"/>
          <p:cNvSpPr/>
          <p:nvPr/>
        </p:nvSpPr>
        <p:spPr>
          <a:xfrm>
            <a:off x="6675120" y="347472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Docs site (docs.hatchik.com)</a:t>
            </a:r>
            <a:endParaRPr lang="en-US" sz="1200" dirty="0"/>
          </a:p>
        </p:txBody>
      </p:sp>
      <p:sp>
        <p:nvSpPr>
          <p:cNvPr id="28" name="Shape 26"/>
          <p:cNvSpPr/>
          <p:nvPr/>
        </p:nvSpPr>
        <p:spPr>
          <a:xfrm>
            <a:off x="594360" y="4023360"/>
            <a:ext cx="274320" cy="274320"/>
          </a:xfrm>
          <a:prstGeom prst="ellipse">
            <a:avLst/>
          </a:prstGeom>
          <a:solidFill>
            <a:srgbClr val="EEF2FF"/>
          </a:solidFill>
          <a:ln w="12700">
            <a:solidFill>
              <a:srgbClr val="4F46E5"/>
            </a:solidFill>
            <a:prstDash val="solid"/>
          </a:ln>
        </p:spPr>
      </p:sp>
      <p:sp>
        <p:nvSpPr>
          <p:cNvPr id="29" name="Text 27"/>
          <p:cNvSpPr/>
          <p:nvPr/>
        </p:nvSpPr>
        <p:spPr>
          <a:xfrm>
            <a:off x="594360" y="402336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30" name="Text 28"/>
          <p:cNvSpPr/>
          <p:nvPr/>
        </p:nvSpPr>
        <p:spPr>
          <a:xfrm>
            <a:off x="1005840" y="397764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Cohort analytics dashboard (admin)</a:t>
            </a:r>
            <a:endParaRPr lang="en-US" sz="1200" dirty="0"/>
          </a:p>
        </p:txBody>
      </p:sp>
      <p:sp>
        <p:nvSpPr>
          <p:cNvPr id="31" name="Shape 29"/>
          <p:cNvSpPr/>
          <p:nvPr/>
        </p:nvSpPr>
        <p:spPr>
          <a:xfrm>
            <a:off x="6263640" y="4023360"/>
            <a:ext cx="274320" cy="274320"/>
          </a:xfrm>
          <a:prstGeom prst="ellipse">
            <a:avLst/>
          </a:prstGeom>
          <a:solidFill>
            <a:srgbClr val="EEF2FF"/>
          </a:solidFill>
          <a:ln w="12700">
            <a:solidFill>
              <a:srgbClr val="4F46E5"/>
            </a:solidFill>
            <a:prstDash val="solid"/>
          </a:ln>
        </p:spPr>
      </p:sp>
      <p:sp>
        <p:nvSpPr>
          <p:cNvPr id="32" name="Text 30"/>
          <p:cNvSpPr/>
          <p:nvPr/>
        </p:nvSpPr>
        <p:spPr>
          <a:xfrm>
            <a:off x="6263640" y="402336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33" name="Text 31"/>
          <p:cNvSpPr/>
          <p:nvPr/>
        </p:nvSpPr>
        <p:spPr>
          <a:xfrm>
            <a:off x="6675120" y="397764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Abuse protection (Turnstile, geo-IP, disposable-email block, throttle)</a:t>
            </a:r>
            <a:endParaRPr lang="en-US" sz="1200" dirty="0"/>
          </a:p>
        </p:txBody>
      </p:sp>
      <p:sp>
        <p:nvSpPr>
          <p:cNvPr id="34" name="Shape 32"/>
          <p:cNvSpPr/>
          <p:nvPr/>
        </p:nvSpPr>
        <p:spPr>
          <a:xfrm>
            <a:off x="594360" y="4526280"/>
            <a:ext cx="274320" cy="274320"/>
          </a:xfrm>
          <a:prstGeom prst="ellipse">
            <a:avLst/>
          </a:prstGeom>
          <a:solidFill>
            <a:srgbClr val="EEF2FF"/>
          </a:solidFill>
          <a:ln w="12700">
            <a:solidFill>
              <a:srgbClr val="4F46E5"/>
            </a:solidFill>
            <a:prstDash val="solid"/>
          </a:ln>
        </p:spPr>
      </p:sp>
      <p:sp>
        <p:nvSpPr>
          <p:cNvPr id="35" name="Text 33"/>
          <p:cNvSpPr/>
          <p:nvPr/>
        </p:nvSpPr>
        <p:spPr>
          <a:xfrm>
            <a:off x="594360" y="452628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36" name="Text 34"/>
          <p:cNvSpPr/>
          <p:nvPr/>
        </p:nvSpPr>
        <p:spPr>
          <a:xfrm>
            <a:off x="1005840" y="448056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Stripe customer-portal endpoint (test/live mode aware)</a:t>
            </a:r>
            <a:endParaRPr lang="en-US" sz="1200" dirty="0"/>
          </a:p>
        </p:txBody>
      </p:sp>
      <p:sp>
        <p:nvSpPr>
          <p:cNvPr id="37" name="Shape 35"/>
          <p:cNvSpPr/>
          <p:nvPr/>
        </p:nvSpPr>
        <p:spPr>
          <a:xfrm>
            <a:off x="6263640" y="4526280"/>
            <a:ext cx="274320" cy="274320"/>
          </a:xfrm>
          <a:prstGeom prst="ellipse">
            <a:avLst/>
          </a:prstGeom>
          <a:solidFill>
            <a:srgbClr val="EEF2FF"/>
          </a:solidFill>
          <a:ln w="12700">
            <a:solidFill>
              <a:srgbClr val="4F46E5"/>
            </a:solidFill>
            <a:prstDash val="solid"/>
          </a:ln>
        </p:spPr>
      </p:sp>
      <p:sp>
        <p:nvSpPr>
          <p:cNvPr id="38" name="Text 36"/>
          <p:cNvSpPr/>
          <p:nvPr/>
        </p:nvSpPr>
        <p:spPr>
          <a:xfrm>
            <a:off x="6263640" y="4526280"/>
            <a:ext cx="274320" cy="274320"/>
          </a:xfrm>
          <a:prstGeom prst="rect">
            <a:avLst/>
          </a:prstGeom>
          <a:noFill/>
          <a:ln/>
        </p:spPr>
        <p:txBody>
          <a:bodyPr wrap="square" rtlCol="0" anchor="ctr"/>
          <a:lstStyle/>
          <a:p>
            <a:pPr algn="ctr" indent="0" marL="0">
              <a:buNone/>
            </a:pPr>
            <a:r>
              <a:rPr lang="en-US" sz="1200" b="1" dirty="0">
                <a:solidFill>
                  <a:srgbClr val="4F46E5"/>
                </a:solidFill>
                <a:latin typeface="DM Sans" pitchFamily="34" charset="0"/>
                <a:ea typeface="DM Sans" pitchFamily="34" charset="-122"/>
                <a:cs typeface="DM Sans" pitchFamily="34" charset="-120"/>
              </a:rPr>
              <a:t>✓</a:t>
            </a:r>
            <a:endParaRPr lang="en-US" sz="1200" dirty="0"/>
          </a:p>
        </p:txBody>
      </p:sp>
      <p:sp>
        <p:nvSpPr>
          <p:cNvPr id="39" name="Text 37"/>
          <p:cNvSpPr/>
          <p:nvPr/>
        </p:nvSpPr>
        <p:spPr>
          <a:xfrm>
            <a:off x="6675120" y="4480560"/>
            <a:ext cx="4892040" cy="411480"/>
          </a:xfrm>
          <a:prstGeom prst="rect">
            <a:avLst/>
          </a:prstGeom>
          <a:noFill/>
          <a:ln/>
        </p:spPr>
        <p:txBody>
          <a:bodyPr wrap="square" rtlCol="0" anchor="ctr"/>
          <a:lstStyle/>
          <a:p>
            <a:pPr indent="0" marL="0">
              <a:buNone/>
            </a:pPr>
            <a:r>
              <a:rPr lang="en-US" sz="1200" dirty="0">
                <a:solidFill>
                  <a:srgbClr val="1E293B"/>
                </a:solidFill>
                <a:latin typeface="DM Sans" pitchFamily="34" charset="0"/>
                <a:ea typeface="DM Sans" pitchFamily="34" charset="-122"/>
                <a:cs typeface="DM Sans" pitchFamily="34" charset="-120"/>
              </a:rPr>
              <a:t>Idle-archive + restore lifecycle (snapshot + 7-day grace)</a:t>
            </a:r>
            <a:endParaRPr lang="en-US" sz="1200" dirty="0"/>
          </a:p>
        </p:txBody>
      </p:sp>
      <p:sp>
        <p:nvSpPr>
          <p:cNvPr id="40" name="Text 38"/>
          <p:cNvSpPr/>
          <p:nvPr/>
        </p:nvSpPr>
        <p:spPr>
          <a:xfrm>
            <a:off x="502920" y="6080760"/>
            <a:ext cx="10972800" cy="274320"/>
          </a:xfrm>
          <a:prstGeom prst="rect">
            <a:avLst/>
          </a:prstGeom>
          <a:noFill/>
          <a:ln/>
        </p:spPr>
        <p:txBody>
          <a:bodyPr wrap="square" rtlCol="0" anchor="ctr"/>
          <a:lstStyle/>
          <a:p>
            <a:pPr algn="ctr" indent="0" marL="0">
              <a:buNone/>
            </a:pPr>
            <a:r>
              <a:rPr lang="en-US" sz="1100" i="1" dirty="0">
                <a:solidFill>
                  <a:srgbClr val="64748B"/>
                </a:solidFill>
                <a:latin typeface="DM Sans" pitchFamily="34" charset="0"/>
                <a:ea typeface="DM Sans" pitchFamily="34" charset="-122"/>
                <a:cs typeface="DM Sans" pitchFamily="34" charset="-120"/>
              </a:rPr>
              <a:t>Built solo + AI-augmented in ~3 weeks. Every item above is in production today.</a:t>
            </a:r>
            <a:endParaRPr lang="en-US" sz="1100" dirty="0"/>
          </a:p>
        </p:txBody>
      </p:sp>
      <p:sp>
        <p:nvSpPr>
          <p:cNvPr id="41" name="Text 39"/>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42" name="Text 40"/>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17  ·  RISKS  ·  TOP 3</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We are not pretending these don’t exist.</a:t>
            </a:r>
            <a:endParaRPr lang="en-US" sz="3000" dirty="0"/>
          </a:p>
        </p:txBody>
      </p:sp>
      <p:sp>
        <p:nvSpPr>
          <p:cNvPr id="4" name="Shape 2"/>
          <p:cNvSpPr/>
          <p:nvPr/>
        </p:nvSpPr>
        <p:spPr>
          <a:xfrm>
            <a:off x="502920" y="1965960"/>
            <a:ext cx="3611880" cy="4023360"/>
          </a:xfrm>
          <a:prstGeom prst="roundRect">
            <a:avLst>
              <a:gd name="adj" fmla="val 2025"/>
            </a:avLst>
          </a:prstGeom>
          <a:solidFill>
            <a:srgbClr val="FFFFFF"/>
          </a:solidFill>
          <a:ln w="9525">
            <a:solidFill>
              <a:srgbClr val="E2E8F0"/>
            </a:solidFill>
            <a:prstDash val="solid"/>
          </a:ln>
        </p:spPr>
      </p:sp>
      <p:sp>
        <p:nvSpPr>
          <p:cNvPr id="5" name="Shape 3"/>
          <p:cNvSpPr/>
          <p:nvPr/>
        </p:nvSpPr>
        <p:spPr>
          <a:xfrm>
            <a:off x="502920" y="1965960"/>
            <a:ext cx="3611880" cy="54864"/>
          </a:xfrm>
          <a:prstGeom prst="rect">
            <a:avLst/>
          </a:prstGeom>
          <a:solidFill>
            <a:srgbClr val="F59E0B"/>
          </a:solidFill>
          <a:ln w="12700">
            <a:solidFill>
              <a:srgbClr val="F59E0B"/>
            </a:solidFill>
            <a:prstDash val="solid"/>
          </a:ln>
        </p:spPr>
      </p:sp>
      <p:sp>
        <p:nvSpPr>
          <p:cNvPr id="6" name="Text 4"/>
          <p:cNvSpPr/>
          <p:nvPr/>
        </p:nvSpPr>
        <p:spPr>
          <a:xfrm>
            <a:off x="777240" y="2194560"/>
            <a:ext cx="3154680" cy="320040"/>
          </a:xfrm>
          <a:prstGeom prst="rect">
            <a:avLst/>
          </a:prstGeom>
          <a:noFill/>
          <a:ln/>
        </p:spPr>
        <p:txBody>
          <a:bodyPr wrap="square" rtlCol="0" anchor="ctr"/>
          <a:lstStyle/>
          <a:p>
            <a:pPr indent="0" marL="0">
              <a:buNone/>
            </a:pPr>
            <a:r>
              <a:rPr lang="en-US" sz="1400" b="1" spc="200" kern="0" dirty="0">
                <a:solidFill>
                  <a:srgbClr val="B45309"/>
                </a:solidFill>
                <a:latin typeface="JetBrains Mono" pitchFamily="34" charset="0"/>
                <a:ea typeface="JetBrains Mono" pitchFamily="34" charset="-122"/>
                <a:cs typeface="JetBrains Mono" pitchFamily="34" charset="-120"/>
              </a:rPr>
              <a:t>01</a:t>
            </a:r>
            <a:endParaRPr lang="en-US" sz="1400" dirty="0"/>
          </a:p>
        </p:txBody>
      </p:sp>
      <p:sp>
        <p:nvSpPr>
          <p:cNvPr id="7" name="Text 5"/>
          <p:cNvSpPr/>
          <p:nvPr/>
        </p:nvSpPr>
        <p:spPr>
          <a:xfrm>
            <a:off x="777240" y="2560320"/>
            <a:ext cx="3154680" cy="960120"/>
          </a:xfrm>
          <a:prstGeom prst="rect">
            <a:avLst/>
          </a:prstGeom>
          <a:noFill/>
          <a:ln/>
        </p:spPr>
        <p:txBody>
          <a:bodyPr wrap="square" rtlCol="0" anchor="ctr"/>
          <a:lstStyle/>
          <a:p>
            <a:pPr indent="0" marL="0">
              <a:lnSpc>
                <a:spcPct val="120000"/>
              </a:lnSpc>
              <a:buNone/>
            </a:pPr>
            <a:r>
              <a:rPr lang="en-US" sz="1500" b="1" dirty="0">
                <a:solidFill>
                  <a:srgbClr val="0F172A"/>
                </a:solidFill>
                <a:latin typeface="DM Sans" pitchFamily="34" charset="0"/>
                <a:ea typeface="DM Sans" pitchFamily="34" charset="-122"/>
                <a:cs typeface="DM Sans" pitchFamily="34" charset="-120"/>
              </a:rPr>
              <a:t>Big AI lab launches its own deployment layer</a:t>
            </a:r>
            <a:endParaRPr lang="en-US" sz="1500" dirty="0"/>
          </a:p>
        </p:txBody>
      </p:sp>
      <p:sp>
        <p:nvSpPr>
          <p:cNvPr id="8" name="Shape 6"/>
          <p:cNvSpPr/>
          <p:nvPr/>
        </p:nvSpPr>
        <p:spPr>
          <a:xfrm>
            <a:off x="777240" y="3657600"/>
            <a:ext cx="3063240" cy="9144"/>
          </a:xfrm>
          <a:prstGeom prst="rect">
            <a:avLst/>
          </a:prstGeom>
          <a:solidFill>
            <a:srgbClr val="E2E8F0"/>
          </a:solidFill>
          <a:ln w="12700">
            <a:solidFill>
              <a:srgbClr val="333333"/>
            </a:solidFill>
            <a:prstDash val="solid"/>
          </a:ln>
        </p:spPr>
      </p:sp>
      <p:sp>
        <p:nvSpPr>
          <p:cNvPr id="9" name="Text 7"/>
          <p:cNvSpPr/>
          <p:nvPr/>
        </p:nvSpPr>
        <p:spPr>
          <a:xfrm>
            <a:off x="777240" y="3749040"/>
            <a:ext cx="3154680" cy="100584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Anthropic / Cursor / OpenAI shipping a "Claude Code Cloud" or similar in the next 6-12 months closes the wedge.</a:t>
            </a:r>
            <a:endParaRPr lang="en-US" sz="1100" dirty="0"/>
          </a:p>
        </p:txBody>
      </p:sp>
      <p:sp>
        <p:nvSpPr>
          <p:cNvPr id="10" name="Text 8"/>
          <p:cNvSpPr/>
          <p:nvPr/>
        </p:nvSpPr>
        <p:spPr>
          <a:xfrm>
            <a:off x="777240" y="4846320"/>
            <a:ext cx="3154680" cy="228600"/>
          </a:xfrm>
          <a:prstGeom prst="rect">
            <a:avLst/>
          </a:prstGeom>
          <a:noFill/>
          <a:ln/>
        </p:spPr>
        <p:txBody>
          <a:bodyPr wrap="square" rtlCol="0" anchor="ctr"/>
          <a:lstStyle/>
          <a:p>
            <a:pPr indent="0" marL="0">
              <a:buNone/>
            </a:pPr>
            <a:r>
              <a:rPr lang="en-US" sz="800" b="1" spc="400" kern="0" dirty="0">
                <a:solidFill>
                  <a:srgbClr val="3730A3"/>
                </a:solidFill>
                <a:latin typeface="JetBrains Mono" pitchFamily="34" charset="0"/>
                <a:ea typeface="JetBrains Mono" pitchFamily="34" charset="-122"/>
                <a:cs typeface="JetBrains Mono" pitchFamily="34" charset="-120"/>
              </a:rPr>
              <a:t>MITIGATION</a:t>
            </a:r>
            <a:endParaRPr lang="en-US" sz="800" dirty="0"/>
          </a:p>
        </p:txBody>
      </p:sp>
      <p:sp>
        <p:nvSpPr>
          <p:cNvPr id="11" name="Text 9"/>
          <p:cNvSpPr/>
          <p:nvPr/>
        </p:nvSpPr>
        <p:spPr>
          <a:xfrm>
            <a:off x="777240" y="5120640"/>
            <a:ext cx="3154680" cy="777240"/>
          </a:xfrm>
          <a:prstGeom prst="rect">
            <a:avLst/>
          </a:prstGeom>
          <a:noFill/>
          <a:ln/>
        </p:spPr>
        <p:txBody>
          <a:bodyPr wrap="square" rtlCol="0" anchor="ctr"/>
          <a:lstStyle/>
          <a:p>
            <a:pPr indent="0" marL="0">
              <a:lnSpc>
                <a:spcPct val="140000"/>
              </a:lnSpc>
              <a:buNone/>
            </a:pPr>
            <a:r>
              <a:rPr lang="en-US" sz="1050" i="1" dirty="0">
                <a:solidFill>
                  <a:srgbClr val="1E293B"/>
                </a:solidFill>
                <a:latin typeface="DM Sans" pitchFamily="34" charset="0"/>
                <a:ea typeface="DM Sans" pitchFamily="34" charset="-122"/>
                <a:cs typeface="DM Sans" pitchFamily="34" charset="-120"/>
              </a:rPr>
              <a:t>Aggressive partnership outreach months 0-4. Position as their deployment surface, not competitor. Make Hatchik acquirable, not buildable.</a:t>
            </a:r>
            <a:endParaRPr lang="en-US" sz="1050" dirty="0"/>
          </a:p>
        </p:txBody>
      </p:sp>
      <p:sp>
        <p:nvSpPr>
          <p:cNvPr id="12" name="Shape 10"/>
          <p:cNvSpPr/>
          <p:nvPr/>
        </p:nvSpPr>
        <p:spPr>
          <a:xfrm>
            <a:off x="4297680" y="1965960"/>
            <a:ext cx="3611880" cy="4023360"/>
          </a:xfrm>
          <a:prstGeom prst="roundRect">
            <a:avLst>
              <a:gd name="adj" fmla="val 2025"/>
            </a:avLst>
          </a:prstGeom>
          <a:solidFill>
            <a:srgbClr val="FFFFFF"/>
          </a:solidFill>
          <a:ln w="9525">
            <a:solidFill>
              <a:srgbClr val="E2E8F0"/>
            </a:solidFill>
            <a:prstDash val="solid"/>
          </a:ln>
        </p:spPr>
      </p:sp>
      <p:sp>
        <p:nvSpPr>
          <p:cNvPr id="13" name="Shape 11"/>
          <p:cNvSpPr/>
          <p:nvPr/>
        </p:nvSpPr>
        <p:spPr>
          <a:xfrm>
            <a:off x="4297680" y="1965960"/>
            <a:ext cx="3611880" cy="54864"/>
          </a:xfrm>
          <a:prstGeom prst="rect">
            <a:avLst/>
          </a:prstGeom>
          <a:solidFill>
            <a:srgbClr val="F59E0B"/>
          </a:solidFill>
          <a:ln w="12700">
            <a:solidFill>
              <a:srgbClr val="F59E0B"/>
            </a:solidFill>
            <a:prstDash val="solid"/>
          </a:ln>
        </p:spPr>
      </p:sp>
      <p:sp>
        <p:nvSpPr>
          <p:cNvPr id="14" name="Text 12"/>
          <p:cNvSpPr/>
          <p:nvPr/>
        </p:nvSpPr>
        <p:spPr>
          <a:xfrm>
            <a:off x="4572000" y="2194560"/>
            <a:ext cx="3154680" cy="320040"/>
          </a:xfrm>
          <a:prstGeom prst="rect">
            <a:avLst/>
          </a:prstGeom>
          <a:noFill/>
          <a:ln/>
        </p:spPr>
        <p:txBody>
          <a:bodyPr wrap="square" rtlCol="0" anchor="ctr"/>
          <a:lstStyle/>
          <a:p>
            <a:pPr indent="0" marL="0">
              <a:buNone/>
            </a:pPr>
            <a:r>
              <a:rPr lang="en-US" sz="1400" b="1" spc="200" kern="0" dirty="0">
                <a:solidFill>
                  <a:srgbClr val="B45309"/>
                </a:solidFill>
                <a:latin typeface="JetBrains Mono" pitchFamily="34" charset="0"/>
                <a:ea typeface="JetBrains Mono" pitchFamily="34" charset="-122"/>
                <a:cs typeface="JetBrains Mono" pitchFamily="34" charset="-120"/>
              </a:rPr>
              <a:t>02</a:t>
            </a:r>
            <a:endParaRPr lang="en-US" sz="1400" dirty="0"/>
          </a:p>
        </p:txBody>
      </p:sp>
      <p:sp>
        <p:nvSpPr>
          <p:cNvPr id="15" name="Text 13"/>
          <p:cNvSpPr/>
          <p:nvPr/>
        </p:nvSpPr>
        <p:spPr>
          <a:xfrm>
            <a:off x="4572000" y="2560320"/>
            <a:ext cx="3154680" cy="960120"/>
          </a:xfrm>
          <a:prstGeom prst="rect">
            <a:avLst/>
          </a:prstGeom>
          <a:noFill/>
          <a:ln/>
        </p:spPr>
        <p:txBody>
          <a:bodyPr wrap="square" rtlCol="0" anchor="ctr"/>
          <a:lstStyle/>
          <a:p>
            <a:pPr indent="0" marL="0">
              <a:lnSpc>
                <a:spcPct val="120000"/>
              </a:lnSpc>
              <a:buNone/>
            </a:pPr>
            <a:r>
              <a:rPr lang="en-US" sz="1500" b="1" dirty="0">
                <a:solidFill>
                  <a:srgbClr val="0F172A"/>
                </a:solidFill>
                <a:latin typeface="DM Sans" pitchFamily="34" charset="0"/>
                <a:ea typeface="DM Sans" pitchFamily="34" charset="-122"/>
                <a:cs typeface="DM Sans" pitchFamily="34" charset="-120"/>
              </a:rPr>
              <a:t>Peak coincidence on shared sandbox host</a:t>
            </a:r>
            <a:endParaRPr lang="en-US" sz="1500" dirty="0"/>
          </a:p>
        </p:txBody>
      </p:sp>
      <p:sp>
        <p:nvSpPr>
          <p:cNvPr id="16" name="Shape 14"/>
          <p:cNvSpPr/>
          <p:nvPr/>
        </p:nvSpPr>
        <p:spPr>
          <a:xfrm>
            <a:off x="4572000" y="3657600"/>
            <a:ext cx="3063240" cy="9144"/>
          </a:xfrm>
          <a:prstGeom prst="rect">
            <a:avLst/>
          </a:prstGeom>
          <a:solidFill>
            <a:srgbClr val="E2E8F0"/>
          </a:solidFill>
          <a:ln w="12700">
            <a:solidFill>
              <a:srgbClr val="333333"/>
            </a:solidFill>
            <a:prstDash val="solid"/>
          </a:ln>
        </p:spPr>
      </p:sp>
      <p:sp>
        <p:nvSpPr>
          <p:cNvPr id="17" name="Text 15"/>
          <p:cNvSpPr/>
          <p:nvPr/>
        </p:nvSpPr>
        <p:spPr>
          <a:xfrm>
            <a:off x="4572000" y="3749040"/>
            <a:ext cx="3154680" cy="100584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If &gt;30% of sandboxes go warm simultaneously, CAX31 RAM/CPU contention bites users.</a:t>
            </a:r>
            <a:endParaRPr lang="en-US" sz="1100" dirty="0"/>
          </a:p>
        </p:txBody>
      </p:sp>
      <p:sp>
        <p:nvSpPr>
          <p:cNvPr id="18" name="Text 16"/>
          <p:cNvSpPr/>
          <p:nvPr/>
        </p:nvSpPr>
        <p:spPr>
          <a:xfrm>
            <a:off x="4572000" y="4846320"/>
            <a:ext cx="3154680" cy="228600"/>
          </a:xfrm>
          <a:prstGeom prst="rect">
            <a:avLst/>
          </a:prstGeom>
          <a:noFill/>
          <a:ln/>
        </p:spPr>
        <p:txBody>
          <a:bodyPr wrap="square" rtlCol="0" anchor="ctr"/>
          <a:lstStyle/>
          <a:p>
            <a:pPr indent="0" marL="0">
              <a:buNone/>
            </a:pPr>
            <a:r>
              <a:rPr lang="en-US" sz="800" b="1" spc="400" kern="0" dirty="0">
                <a:solidFill>
                  <a:srgbClr val="3730A3"/>
                </a:solidFill>
                <a:latin typeface="JetBrains Mono" pitchFamily="34" charset="0"/>
                <a:ea typeface="JetBrains Mono" pitchFamily="34" charset="-122"/>
                <a:cs typeface="JetBrains Mono" pitchFamily="34" charset="-120"/>
              </a:rPr>
              <a:t>MITIGATION</a:t>
            </a:r>
            <a:endParaRPr lang="en-US" sz="800" dirty="0"/>
          </a:p>
        </p:txBody>
      </p:sp>
      <p:sp>
        <p:nvSpPr>
          <p:cNvPr id="19" name="Text 17"/>
          <p:cNvSpPr/>
          <p:nvPr/>
        </p:nvSpPr>
        <p:spPr>
          <a:xfrm>
            <a:off x="4572000" y="5120640"/>
            <a:ext cx="3154680" cy="777240"/>
          </a:xfrm>
          <a:prstGeom prst="rect">
            <a:avLst/>
          </a:prstGeom>
          <a:noFill/>
          <a:ln/>
        </p:spPr>
        <p:txBody>
          <a:bodyPr wrap="square" rtlCol="0" anchor="ctr"/>
          <a:lstStyle/>
          <a:p>
            <a:pPr indent="0" marL="0">
              <a:lnSpc>
                <a:spcPct val="140000"/>
              </a:lnSpc>
              <a:buNone/>
            </a:pPr>
            <a:r>
              <a:rPr lang="en-US" sz="1050" i="1" dirty="0">
                <a:solidFill>
                  <a:srgbClr val="1E293B"/>
                </a:solidFill>
                <a:latin typeface="DM Sans" pitchFamily="34" charset="0"/>
                <a:ea typeface="DM Sans" pitchFamily="34" charset="-122"/>
                <a:cs typeface="DM Sans" pitchFamily="34" charset="-120"/>
              </a:rPr>
              <a:t>Watermark alert at 35-sandbox-warm-concurrent → auto-provision a second CAX31. Cost-per-sandbox stays in band (+£11.30/mo).</a:t>
            </a:r>
            <a:endParaRPr lang="en-US" sz="1050" dirty="0"/>
          </a:p>
        </p:txBody>
      </p:sp>
      <p:sp>
        <p:nvSpPr>
          <p:cNvPr id="20" name="Shape 18"/>
          <p:cNvSpPr/>
          <p:nvPr/>
        </p:nvSpPr>
        <p:spPr>
          <a:xfrm>
            <a:off x="8092440" y="1965960"/>
            <a:ext cx="3611880" cy="4023360"/>
          </a:xfrm>
          <a:prstGeom prst="roundRect">
            <a:avLst>
              <a:gd name="adj" fmla="val 2025"/>
            </a:avLst>
          </a:prstGeom>
          <a:solidFill>
            <a:srgbClr val="FFFFFF"/>
          </a:solidFill>
          <a:ln w="9525">
            <a:solidFill>
              <a:srgbClr val="E2E8F0"/>
            </a:solidFill>
            <a:prstDash val="solid"/>
          </a:ln>
        </p:spPr>
      </p:sp>
      <p:sp>
        <p:nvSpPr>
          <p:cNvPr id="21" name="Shape 19"/>
          <p:cNvSpPr/>
          <p:nvPr/>
        </p:nvSpPr>
        <p:spPr>
          <a:xfrm>
            <a:off x="8092440" y="1965960"/>
            <a:ext cx="3611880" cy="54864"/>
          </a:xfrm>
          <a:prstGeom prst="rect">
            <a:avLst/>
          </a:prstGeom>
          <a:solidFill>
            <a:srgbClr val="F59E0B"/>
          </a:solidFill>
          <a:ln w="12700">
            <a:solidFill>
              <a:srgbClr val="F59E0B"/>
            </a:solidFill>
            <a:prstDash val="solid"/>
          </a:ln>
        </p:spPr>
      </p:sp>
      <p:sp>
        <p:nvSpPr>
          <p:cNvPr id="22" name="Text 20"/>
          <p:cNvSpPr/>
          <p:nvPr/>
        </p:nvSpPr>
        <p:spPr>
          <a:xfrm>
            <a:off x="8366760" y="2194560"/>
            <a:ext cx="3154680" cy="320040"/>
          </a:xfrm>
          <a:prstGeom prst="rect">
            <a:avLst/>
          </a:prstGeom>
          <a:noFill/>
          <a:ln/>
        </p:spPr>
        <p:txBody>
          <a:bodyPr wrap="square" rtlCol="0" anchor="ctr"/>
          <a:lstStyle/>
          <a:p>
            <a:pPr indent="0" marL="0">
              <a:buNone/>
            </a:pPr>
            <a:r>
              <a:rPr lang="en-US" sz="1400" b="1" spc="200" kern="0" dirty="0">
                <a:solidFill>
                  <a:srgbClr val="B45309"/>
                </a:solidFill>
                <a:latin typeface="JetBrains Mono" pitchFamily="34" charset="0"/>
                <a:ea typeface="JetBrains Mono" pitchFamily="34" charset="-122"/>
                <a:cs typeface="JetBrains Mono" pitchFamily="34" charset="-120"/>
              </a:rPr>
              <a:t>03</a:t>
            </a:r>
            <a:endParaRPr lang="en-US" sz="1400" dirty="0"/>
          </a:p>
        </p:txBody>
      </p:sp>
      <p:sp>
        <p:nvSpPr>
          <p:cNvPr id="23" name="Text 21"/>
          <p:cNvSpPr/>
          <p:nvPr/>
        </p:nvSpPr>
        <p:spPr>
          <a:xfrm>
            <a:off x="8366760" y="2560320"/>
            <a:ext cx="3154680" cy="960120"/>
          </a:xfrm>
          <a:prstGeom prst="rect">
            <a:avLst/>
          </a:prstGeom>
          <a:noFill/>
          <a:ln/>
        </p:spPr>
        <p:txBody>
          <a:bodyPr wrap="square" rtlCol="0" anchor="ctr"/>
          <a:lstStyle/>
          <a:p>
            <a:pPr indent="0" marL="0">
              <a:lnSpc>
                <a:spcPct val="120000"/>
              </a:lnSpc>
              <a:buNone/>
            </a:pPr>
            <a:r>
              <a:rPr lang="en-US" sz="1500" b="1" dirty="0">
                <a:solidFill>
                  <a:srgbClr val="0F172A"/>
                </a:solidFill>
                <a:latin typeface="DM Sans" pitchFamily="34" charset="0"/>
                <a:ea typeface="DM Sans" pitchFamily="34" charset="-122"/>
                <a:cs typeface="DM Sans" pitchFamily="34" charset="-120"/>
              </a:rPr>
              <a:t>Wake latency on idle-suspended sandboxes</a:t>
            </a:r>
            <a:endParaRPr lang="en-US" sz="1500" dirty="0"/>
          </a:p>
        </p:txBody>
      </p:sp>
      <p:sp>
        <p:nvSpPr>
          <p:cNvPr id="24" name="Shape 22"/>
          <p:cNvSpPr/>
          <p:nvPr/>
        </p:nvSpPr>
        <p:spPr>
          <a:xfrm>
            <a:off x="8366760" y="3657600"/>
            <a:ext cx="3063240" cy="9144"/>
          </a:xfrm>
          <a:prstGeom prst="rect">
            <a:avLst/>
          </a:prstGeom>
          <a:solidFill>
            <a:srgbClr val="E2E8F0"/>
          </a:solidFill>
          <a:ln w="12700">
            <a:solidFill>
              <a:srgbClr val="333333"/>
            </a:solidFill>
            <a:prstDash val="solid"/>
          </a:ln>
        </p:spPr>
      </p:sp>
      <p:sp>
        <p:nvSpPr>
          <p:cNvPr id="25" name="Text 23"/>
          <p:cNvSpPr/>
          <p:nvPr/>
        </p:nvSpPr>
        <p:spPr>
          <a:xfrm>
            <a:off x="8366760" y="3749040"/>
            <a:ext cx="3154680" cy="1005840"/>
          </a:xfrm>
          <a:prstGeom prst="rect">
            <a:avLst/>
          </a:prstGeom>
          <a:noFill/>
          <a:ln/>
        </p:spPr>
        <p:txBody>
          <a:bodyPr wrap="square" rtlCol="0" anchor="ctr"/>
          <a:lstStyle/>
          <a:p>
            <a:pPr indent="0" marL="0">
              <a:lnSpc>
                <a:spcPct val="140000"/>
              </a:lnSpc>
              <a:buNone/>
            </a:pPr>
            <a:r>
              <a:rPr lang="en-US" sz="1100" dirty="0">
                <a:solidFill>
                  <a:srgbClr val="334155"/>
                </a:solidFill>
                <a:latin typeface="DM Sans" pitchFamily="34" charset="0"/>
                <a:ea typeface="DM Sans" pitchFamily="34" charset="-122"/>
                <a:cs typeface="DM Sans" pitchFamily="34" charset="-120"/>
              </a:rPr>
              <a:t>10-15s cold start after 2h+ idle could feel broken to first-time users.</a:t>
            </a:r>
            <a:endParaRPr lang="en-US" sz="1100" dirty="0"/>
          </a:p>
        </p:txBody>
      </p:sp>
      <p:sp>
        <p:nvSpPr>
          <p:cNvPr id="26" name="Text 24"/>
          <p:cNvSpPr/>
          <p:nvPr/>
        </p:nvSpPr>
        <p:spPr>
          <a:xfrm>
            <a:off x="8366760" y="4846320"/>
            <a:ext cx="3154680" cy="228600"/>
          </a:xfrm>
          <a:prstGeom prst="rect">
            <a:avLst/>
          </a:prstGeom>
          <a:noFill/>
          <a:ln/>
        </p:spPr>
        <p:txBody>
          <a:bodyPr wrap="square" rtlCol="0" anchor="ctr"/>
          <a:lstStyle/>
          <a:p>
            <a:pPr indent="0" marL="0">
              <a:buNone/>
            </a:pPr>
            <a:r>
              <a:rPr lang="en-US" sz="800" b="1" spc="400" kern="0" dirty="0">
                <a:solidFill>
                  <a:srgbClr val="3730A3"/>
                </a:solidFill>
                <a:latin typeface="JetBrains Mono" pitchFamily="34" charset="0"/>
                <a:ea typeface="JetBrains Mono" pitchFamily="34" charset="-122"/>
                <a:cs typeface="JetBrains Mono" pitchFamily="34" charset="-120"/>
              </a:rPr>
              <a:t>MITIGATION</a:t>
            </a:r>
            <a:endParaRPr lang="en-US" sz="800" dirty="0"/>
          </a:p>
        </p:txBody>
      </p:sp>
      <p:sp>
        <p:nvSpPr>
          <p:cNvPr id="27" name="Text 25"/>
          <p:cNvSpPr/>
          <p:nvPr/>
        </p:nvSpPr>
        <p:spPr>
          <a:xfrm>
            <a:off x="8366760" y="5120640"/>
            <a:ext cx="3154680" cy="777240"/>
          </a:xfrm>
          <a:prstGeom prst="rect">
            <a:avLst/>
          </a:prstGeom>
          <a:noFill/>
          <a:ln/>
        </p:spPr>
        <p:txBody>
          <a:bodyPr wrap="square" rtlCol="0" anchor="ctr"/>
          <a:lstStyle/>
          <a:p>
            <a:pPr indent="0" marL="0">
              <a:lnSpc>
                <a:spcPct val="140000"/>
              </a:lnSpc>
              <a:buNone/>
            </a:pPr>
            <a:r>
              <a:rPr lang="en-US" sz="1050" i="1" dirty="0">
                <a:solidFill>
                  <a:srgbClr val="1E293B"/>
                </a:solidFill>
                <a:latin typeface="DM Sans" pitchFamily="34" charset="0"/>
                <a:ea typeface="DM Sans" pitchFamily="34" charset="-122"/>
                <a:cs typeface="DM Sans" pitchFamily="34" charset="-120"/>
              </a:rPr>
              <a:t>"Your sandbox is warming up…" splash in the AI tool’s deploy-status callback. Acceptable for dev-env framing.</a:t>
            </a:r>
            <a:endParaRPr lang="en-US" sz="1050" dirty="0"/>
          </a:p>
        </p:txBody>
      </p:sp>
      <p:sp>
        <p:nvSpPr>
          <p:cNvPr id="28" name="Text 26"/>
          <p:cNvSpPr/>
          <p:nvPr/>
        </p:nvSpPr>
        <p:spPr>
          <a:xfrm>
            <a:off x="502920" y="6172200"/>
            <a:ext cx="10972800" cy="228600"/>
          </a:xfrm>
          <a:prstGeom prst="rect">
            <a:avLst/>
          </a:prstGeom>
          <a:noFill/>
          <a:ln/>
        </p:spPr>
        <p:txBody>
          <a:bodyPr wrap="square" rtlCol="0" anchor="ctr"/>
          <a:lstStyle/>
          <a:p>
            <a:pPr algn="ctr" indent="0" marL="0">
              <a:buNone/>
            </a:pPr>
            <a:r>
              <a:rPr lang="en-US" sz="950" i="1" dirty="0">
                <a:solidFill>
                  <a:srgbClr val="64748B"/>
                </a:solidFill>
                <a:latin typeface="DM Sans" pitchFamily="34" charset="0"/>
                <a:ea typeface="DM Sans" pitchFamily="34" charset="-122"/>
                <a:cs typeface="DM Sans" pitchFamily="34" charset="-120"/>
              </a:rPr>
              <a:t>Full risks register in appendix · AI-lab disruption risk + mitigation strategy in appendix.</a:t>
            </a:r>
            <a:endParaRPr lang="en-US" sz="950" dirty="0"/>
          </a:p>
        </p:txBody>
      </p:sp>
      <p:sp>
        <p:nvSpPr>
          <p:cNvPr id="29" name="Text 27"/>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30" name="Text 28"/>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18  ·  THE ASK</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12-month sprint capital. Decide raise-or-exit at month 6.</a:t>
            </a:r>
            <a:endParaRPr lang="en-US" sz="3000" dirty="0"/>
          </a:p>
        </p:txBody>
      </p:sp>
      <p:sp>
        <p:nvSpPr>
          <p:cNvPr id="4" name="Shape 2"/>
          <p:cNvSpPr/>
          <p:nvPr/>
        </p:nvSpPr>
        <p:spPr>
          <a:xfrm>
            <a:off x="502920" y="1965960"/>
            <a:ext cx="5486400" cy="1508760"/>
          </a:xfrm>
          <a:prstGeom prst="roundRect">
            <a:avLst>
              <a:gd name="adj" fmla="val 4848"/>
            </a:avLst>
          </a:prstGeom>
          <a:solidFill>
            <a:srgbClr val="0F172A"/>
          </a:solidFill>
          <a:ln w="9525">
            <a:solidFill>
              <a:srgbClr val="0F172A"/>
            </a:solidFill>
            <a:prstDash val="solid"/>
          </a:ln>
        </p:spPr>
      </p:sp>
      <p:sp>
        <p:nvSpPr>
          <p:cNvPr id="5" name="Text 3"/>
          <p:cNvSpPr/>
          <p:nvPr/>
        </p:nvSpPr>
        <p:spPr>
          <a:xfrm>
            <a:off x="777240" y="2057400"/>
            <a:ext cx="3657600" cy="274320"/>
          </a:xfrm>
          <a:prstGeom prst="rect">
            <a:avLst/>
          </a:prstGeom>
          <a:noFill/>
          <a:ln/>
        </p:spPr>
        <p:txBody>
          <a:bodyPr wrap="square" rtlCol="0" anchor="ctr"/>
          <a:lstStyle/>
          <a:p>
            <a:pPr indent="0" marL="0">
              <a:buNone/>
            </a:pPr>
            <a:r>
              <a:rPr lang="en-US" sz="900" b="1" spc="400" kern="0" dirty="0">
                <a:solidFill>
                  <a:srgbClr val="F59E0B"/>
                </a:solidFill>
                <a:latin typeface="JetBrains Mono" pitchFamily="34" charset="0"/>
                <a:ea typeface="JetBrains Mono" pitchFamily="34" charset="-122"/>
                <a:cs typeface="JetBrains Mono" pitchFamily="34" charset="-120"/>
              </a:rPr>
              <a:t>RAISING</a:t>
            </a:r>
            <a:endParaRPr lang="en-US" sz="900" dirty="0"/>
          </a:p>
        </p:txBody>
      </p:sp>
      <p:sp>
        <p:nvSpPr>
          <p:cNvPr id="6" name="Text 4"/>
          <p:cNvSpPr/>
          <p:nvPr/>
        </p:nvSpPr>
        <p:spPr>
          <a:xfrm>
            <a:off x="777240" y="2331720"/>
            <a:ext cx="5029200" cy="1005840"/>
          </a:xfrm>
          <a:prstGeom prst="rect">
            <a:avLst/>
          </a:prstGeom>
          <a:noFill/>
          <a:ln/>
        </p:spPr>
        <p:txBody>
          <a:bodyPr wrap="square" rtlCol="0" anchor="ctr"/>
          <a:lstStyle/>
          <a:p>
            <a:pPr indent="0" marL="0">
              <a:buNone/>
            </a:pPr>
            <a:r>
              <a:rPr lang="en-US" sz="4400" b="1" dirty="0">
                <a:solidFill>
                  <a:srgbClr val="FFFFFF"/>
                </a:solidFill>
                <a:latin typeface="DM Sans" pitchFamily="34" charset="0"/>
                <a:ea typeface="DM Sans" pitchFamily="34" charset="-122"/>
                <a:cs typeface="DM Sans" pitchFamily="34" charset="-120"/>
              </a:rPr>
              <a:t>£500K – £1M</a:t>
            </a:r>
            <a:endParaRPr lang="en-US" sz="4400" dirty="0"/>
          </a:p>
        </p:txBody>
      </p:sp>
      <p:sp>
        <p:nvSpPr>
          <p:cNvPr id="7" name="Shape 5"/>
          <p:cNvSpPr/>
          <p:nvPr/>
        </p:nvSpPr>
        <p:spPr>
          <a:xfrm>
            <a:off x="6172200" y="1965960"/>
            <a:ext cx="5486400" cy="1508760"/>
          </a:xfrm>
          <a:prstGeom prst="roundRect">
            <a:avLst>
              <a:gd name="adj" fmla="val 4848"/>
            </a:avLst>
          </a:prstGeom>
          <a:solidFill>
            <a:srgbClr val="FFFFFF"/>
          </a:solidFill>
          <a:ln w="9525">
            <a:solidFill>
              <a:srgbClr val="4F46E5"/>
            </a:solidFill>
            <a:prstDash val="solid"/>
          </a:ln>
        </p:spPr>
      </p:sp>
      <p:sp>
        <p:nvSpPr>
          <p:cNvPr id="8" name="Text 6"/>
          <p:cNvSpPr/>
          <p:nvPr/>
        </p:nvSpPr>
        <p:spPr>
          <a:xfrm>
            <a:off x="6446520" y="2057400"/>
            <a:ext cx="3657600" cy="274320"/>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HORIZON</a:t>
            </a:r>
            <a:endParaRPr lang="en-US" sz="900" dirty="0"/>
          </a:p>
        </p:txBody>
      </p:sp>
      <p:sp>
        <p:nvSpPr>
          <p:cNvPr id="9" name="Text 7"/>
          <p:cNvSpPr/>
          <p:nvPr/>
        </p:nvSpPr>
        <p:spPr>
          <a:xfrm>
            <a:off x="6446520" y="2331720"/>
            <a:ext cx="5029200" cy="1005840"/>
          </a:xfrm>
          <a:prstGeom prst="rect">
            <a:avLst/>
          </a:prstGeom>
          <a:noFill/>
          <a:ln/>
        </p:spPr>
        <p:txBody>
          <a:bodyPr wrap="square" rtlCol="0" anchor="ctr"/>
          <a:lstStyle/>
          <a:p>
            <a:pPr indent="0" marL="0">
              <a:lnSpc>
                <a:spcPct val="115000"/>
              </a:lnSpc>
              <a:buNone/>
            </a:pPr>
            <a:r>
              <a:rPr lang="en-US" sz="2200" b="1" dirty="0">
                <a:solidFill>
                  <a:srgbClr val="0F172A"/>
                </a:solidFill>
                <a:latin typeface="DM Sans" pitchFamily="34" charset="0"/>
                <a:ea typeface="DM Sans" pitchFamily="34" charset="-122"/>
                <a:cs typeface="DM Sans" pitchFamily="34" charset="-120"/>
              </a:rPr>
              <a:t>12 months to decision point</a:t>
            </a:r>
            <a:endParaRPr lang="en-US" sz="2200" dirty="0"/>
          </a:p>
        </p:txBody>
      </p:sp>
      <p:sp>
        <p:nvSpPr>
          <p:cNvPr id="10" name="Text 8"/>
          <p:cNvSpPr/>
          <p:nvPr/>
        </p:nvSpPr>
        <p:spPr>
          <a:xfrm>
            <a:off x="6446520" y="3017520"/>
            <a:ext cx="5029200" cy="274320"/>
          </a:xfrm>
          <a:prstGeom prst="rect">
            <a:avLst/>
          </a:prstGeom>
          <a:noFill/>
          <a:ln/>
        </p:spPr>
        <p:txBody>
          <a:bodyPr wrap="square" rtlCol="0" anchor="ctr"/>
          <a:lstStyle/>
          <a:p>
            <a:pPr indent="0" marL="0">
              <a:buNone/>
            </a:pPr>
            <a:r>
              <a:rPr lang="en-US" sz="1100" i="1" dirty="0">
                <a:solidFill>
                  <a:srgbClr val="64748B"/>
                </a:solidFill>
                <a:latin typeface="DM Sans" pitchFamily="34" charset="0"/>
                <a:ea typeface="DM Sans" pitchFamily="34" charset="-122"/>
                <a:cs typeface="DM Sans" pitchFamily="34" charset="-120"/>
              </a:rPr>
              <a:t>Pre-seed  ·  SAFE or convertible  ·  founder fills final number</a:t>
            </a:r>
            <a:endParaRPr lang="en-US" sz="1100" dirty="0"/>
          </a:p>
        </p:txBody>
      </p:sp>
      <p:sp>
        <p:nvSpPr>
          <p:cNvPr id="11" name="Text 9"/>
          <p:cNvSpPr/>
          <p:nvPr/>
        </p:nvSpPr>
        <p:spPr>
          <a:xfrm>
            <a:off x="502920" y="3657600"/>
            <a:ext cx="10972800" cy="274320"/>
          </a:xfrm>
          <a:prstGeom prst="rect">
            <a:avLst/>
          </a:prstGeom>
          <a:noFill/>
          <a:ln/>
        </p:spPr>
        <p:txBody>
          <a:bodyPr wrap="square" rtlCol="0" anchor="ctr"/>
          <a:lstStyle/>
          <a:p>
            <a:pPr indent="0" marL="0">
              <a:buNone/>
            </a:pPr>
            <a:r>
              <a:rPr lang="en-US" sz="900" b="1" spc="400" kern="0" dirty="0">
                <a:solidFill>
                  <a:srgbClr val="B45309"/>
                </a:solidFill>
                <a:latin typeface="JetBrains Mono" pitchFamily="34" charset="0"/>
                <a:ea typeface="JetBrains Mono" pitchFamily="34" charset="-122"/>
                <a:cs typeface="JetBrains Mono" pitchFamily="34" charset="-120"/>
              </a:rPr>
              <a:t>USE OF FUNDS  ·  SUMMARY (DETAIL IN APPENDIX)</a:t>
            </a:r>
            <a:endParaRPr lang="en-US" sz="900" dirty="0"/>
          </a:p>
        </p:txBody>
      </p:sp>
      <p:sp>
        <p:nvSpPr>
          <p:cNvPr id="12" name="Shape 10"/>
          <p:cNvSpPr/>
          <p:nvPr/>
        </p:nvSpPr>
        <p:spPr>
          <a:xfrm>
            <a:off x="502920" y="3977640"/>
            <a:ext cx="3611880" cy="1920240"/>
          </a:xfrm>
          <a:prstGeom prst="roundRect">
            <a:avLst>
              <a:gd name="adj" fmla="val 3810"/>
            </a:avLst>
          </a:prstGeom>
          <a:solidFill>
            <a:srgbClr val="FFFFFF"/>
          </a:solidFill>
          <a:ln w="9525">
            <a:solidFill>
              <a:srgbClr val="E2E8F0"/>
            </a:solidFill>
            <a:prstDash val="solid"/>
          </a:ln>
        </p:spPr>
      </p:sp>
      <p:sp>
        <p:nvSpPr>
          <p:cNvPr id="13" name="Text 11"/>
          <p:cNvSpPr/>
          <p:nvPr/>
        </p:nvSpPr>
        <p:spPr>
          <a:xfrm>
            <a:off x="777240" y="4160520"/>
            <a:ext cx="1645920" cy="731520"/>
          </a:xfrm>
          <a:prstGeom prst="rect">
            <a:avLst/>
          </a:prstGeom>
          <a:noFill/>
          <a:ln/>
        </p:spPr>
        <p:txBody>
          <a:bodyPr wrap="square" rtlCol="0" anchor="ctr"/>
          <a:lstStyle/>
          <a:p>
            <a:pPr indent="0" marL="0">
              <a:buNone/>
            </a:pPr>
            <a:r>
              <a:rPr lang="en-US" sz="3600" b="1" dirty="0">
                <a:solidFill>
                  <a:srgbClr val="4F46E5"/>
                </a:solidFill>
                <a:latin typeface="DM Sans" pitchFamily="34" charset="0"/>
                <a:ea typeface="DM Sans" pitchFamily="34" charset="-122"/>
                <a:cs typeface="DM Sans" pitchFamily="34" charset="-120"/>
              </a:rPr>
              <a:t>60%</a:t>
            </a:r>
            <a:endParaRPr lang="en-US" sz="3600" dirty="0"/>
          </a:p>
        </p:txBody>
      </p:sp>
      <p:sp>
        <p:nvSpPr>
          <p:cNvPr id="14" name="Text 12"/>
          <p:cNvSpPr/>
          <p:nvPr/>
        </p:nvSpPr>
        <p:spPr>
          <a:xfrm>
            <a:off x="777240" y="4937760"/>
            <a:ext cx="3154680" cy="29260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Paid acquisition</a:t>
            </a:r>
            <a:endParaRPr lang="en-US" sz="1300" dirty="0"/>
          </a:p>
        </p:txBody>
      </p:sp>
      <p:sp>
        <p:nvSpPr>
          <p:cNvPr id="15" name="Text 13"/>
          <p:cNvSpPr/>
          <p:nvPr/>
        </p:nvSpPr>
        <p:spPr>
          <a:xfrm>
            <a:off x="777240" y="5257800"/>
            <a:ext cx="3154680" cy="640080"/>
          </a:xfrm>
          <a:prstGeom prst="rect">
            <a:avLst/>
          </a:prstGeom>
          <a:noFill/>
          <a:ln/>
        </p:spPr>
        <p:txBody>
          <a:bodyPr wrap="square" rtlCol="0" anchor="ctr"/>
          <a:lstStyle/>
          <a:p>
            <a:pPr indent="0" marL="0">
              <a:lnSpc>
                <a:spcPct val="135000"/>
              </a:lnSpc>
              <a:buNone/>
            </a:pPr>
            <a:r>
              <a:rPr lang="en-US" sz="1000" dirty="0">
                <a:solidFill>
                  <a:srgbClr val="334155"/>
                </a:solidFill>
                <a:latin typeface="DM Sans" pitchFamily="34" charset="0"/>
                <a:ea typeface="DM Sans" pitchFamily="34" charset="-122"/>
                <a:cs typeface="DM Sans" pitchFamily="34" charset="-120"/>
              </a:rPr>
              <a:t>Creator sponsorships + retargeting months 2-9. At LTV £520, CAC ceiling £175 — paid becomes viable.</a:t>
            </a:r>
            <a:endParaRPr lang="en-US" sz="1000" dirty="0"/>
          </a:p>
        </p:txBody>
      </p:sp>
      <p:sp>
        <p:nvSpPr>
          <p:cNvPr id="16" name="Shape 14"/>
          <p:cNvSpPr/>
          <p:nvPr/>
        </p:nvSpPr>
        <p:spPr>
          <a:xfrm>
            <a:off x="4297680" y="3977640"/>
            <a:ext cx="3611880" cy="1920240"/>
          </a:xfrm>
          <a:prstGeom prst="roundRect">
            <a:avLst>
              <a:gd name="adj" fmla="val 3810"/>
            </a:avLst>
          </a:prstGeom>
          <a:solidFill>
            <a:srgbClr val="FFFFFF"/>
          </a:solidFill>
          <a:ln w="9525">
            <a:solidFill>
              <a:srgbClr val="E2E8F0"/>
            </a:solidFill>
            <a:prstDash val="solid"/>
          </a:ln>
        </p:spPr>
      </p:sp>
      <p:sp>
        <p:nvSpPr>
          <p:cNvPr id="17" name="Text 15"/>
          <p:cNvSpPr/>
          <p:nvPr/>
        </p:nvSpPr>
        <p:spPr>
          <a:xfrm>
            <a:off x="4572000" y="4160520"/>
            <a:ext cx="1645920" cy="731520"/>
          </a:xfrm>
          <a:prstGeom prst="rect">
            <a:avLst/>
          </a:prstGeom>
          <a:noFill/>
          <a:ln/>
        </p:spPr>
        <p:txBody>
          <a:bodyPr wrap="square" rtlCol="0" anchor="ctr"/>
          <a:lstStyle/>
          <a:p>
            <a:pPr indent="0" marL="0">
              <a:buNone/>
            </a:pPr>
            <a:r>
              <a:rPr lang="en-US" sz="3600" b="1" dirty="0">
                <a:solidFill>
                  <a:srgbClr val="4F46E5"/>
                </a:solidFill>
                <a:latin typeface="DM Sans" pitchFamily="34" charset="0"/>
                <a:ea typeface="DM Sans" pitchFamily="34" charset="-122"/>
                <a:cs typeface="DM Sans" pitchFamily="34" charset="-120"/>
              </a:rPr>
              <a:t>25%</a:t>
            </a:r>
            <a:endParaRPr lang="en-US" sz="3600" dirty="0"/>
          </a:p>
        </p:txBody>
      </p:sp>
      <p:sp>
        <p:nvSpPr>
          <p:cNvPr id="18" name="Text 16"/>
          <p:cNvSpPr/>
          <p:nvPr/>
        </p:nvSpPr>
        <p:spPr>
          <a:xfrm>
            <a:off x="4572000" y="4937760"/>
            <a:ext cx="3154680" cy="29260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First hires</a:t>
            </a:r>
            <a:endParaRPr lang="en-US" sz="1300" dirty="0"/>
          </a:p>
        </p:txBody>
      </p:sp>
      <p:sp>
        <p:nvSpPr>
          <p:cNvPr id="19" name="Text 17"/>
          <p:cNvSpPr/>
          <p:nvPr/>
        </p:nvSpPr>
        <p:spPr>
          <a:xfrm>
            <a:off x="4572000" y="5257800"/>
            <a:ext cx="3154680" cy="640080"/>
          </a:xfrm>
          <a:prstGeom prst="rect">
            <a:avLst/>
          </a:prstGeom>
          <a:noFill/>
          <a:ln/>
        </p:spPr>
        <p:txBody>
          <a:bodyPr wrap="square" rtlCol="0" anchor="ctr"/>
          <a:lstStyle/>
          <a:p>
            <a:pPr indent="0" marL="0">
              <a:lnSpc>
                <a:spcPct val="135000"/>
              </a:lnSpc>
              <a:buNone/>
            </a:pPr>
            <a:r>
              <a:rPr lang="en-US" sz="1000" dirty="0">
                <a:solidFill>
                  <a:srgbClr val="334155"/>
                </a:solidFill>
                <a:latin typeface="DM Sans" pitchFamily="34" charset="0"/>
                <a:ea typeface="DM Sans" pitchFamily="34" charset="-122"/>
                <a:cs typeface="DM Sans" pitchFamily="34" charset="-120"/>
              </a:rPr>
              <a:t>One engineer (substrate hardening, second region, signed mobile pipeline) + one marketer (content engine).</a:t>
            </a:r>
            <a:endParaRPr lang="en-US" sz="1000" dirty="0"/>
          </a:p>
        </p:txBody>
      </p:sp>
      <p:sp>
        <p:nvSpPr>
          <p:cNvPr id="20" name="Shape 18"/>
          <p:cNvSpPr/>
          <p:nvPr/>
        </p:nvSpPr>
        <p:spPr>
          <a:xfrm>
            <a:off x="8092440" y="3977640"/>
            <a:ext cx="3611880" cy="1920240"/>
          </a:xfrm>
          <a:prstGeom prst="roundRect">
            <a:avLst>
              <a:gd name="adj" fmla="val 3810"/>
            </a:avLst>
          </a:prstGeom>
          <a:solidFill>
            <a:srgbClr val="FFFFFF"/>
          </a:solidFill>
          <a:ln w="9525">
            <a:solidFill>
              <a:srgbClr val="E2E8F0"/>
            </a:solidFill>
            <a:prstDash val="solid"/>
          </a:ln>
        </p:spPr>
      </p:sp>
      <p:sp>
        <p:nvSpPr>
          <p:cNvPr id="21" name="Text 19"/>
          <p:cNvSpPr/>
          <p:nvPr/>
        </p:nvSpPr>
        <p:spPr>
          <a:xfrm>
            <a:off x="8366760" y="4160520"/>
            <a:ext cx="1645920" cy="731520"/>
          </a:xfrm>
          <a:prstGeom prst="rect">
            <a:avLst/>
          </a:prstGeom>
          <a:noFill/>
          <a:ln/>
        </p:spPr>
        <p:txBody>
          <a:bodyPr wrap="square" rtlCol="0" anchor="ctr"/>
          <a:lstStyle/>
          <a:p>
            <a:pPr indent="0" marL="0">
              <a:buNone/>
            </a:pPr>
            <a:r>
              <a:rPr lang="en-US" sz="3600" b="1" dirty="0">
                <a:solidFill>
                  <a:srgbClr val="4F46E5"/>
                </a:solidFill>
                <a:latin typeface="DM Sans" pitchFamily="34" charset="0"/>
                <a:ea typeface="DM Sans" pitchFamily="34" charset="-122"/>
                <a:cs typeface="DM Sans" pitchFamily="34" charset="-120"/>
              </a:rPr>
              <a:t>15%</a:t>
            </a:r>
            <a:endParaRPr lang="en-US" sz="3600" dirty="0"/>
          </a:p>
        </p:txBody>
      </p:sp>
      <p:sp>
        <p:nvSpPr>
          <p:cNvPr id="22" name="Text 20"/>
          <p:cNvSpPr/>
          <p:nvPr/>
        </p:nvSpPr>
        <p:spPr>
          <a:xfrm>
            <a:off x="8366760" y="4937760"/>
            <a:ext cx="3154680" cy="292608"/>
          </a:xfrm>
          <a:prstGeom prst="rect">
            <a:avLst/>
          </a:prstGeom>
          <a:noFill/>
          <a:ln/>
        </p:spPr>
        <p:txBody>
          <a:bodyPr wrap="square" rtlCol="0" anchor="ctr"/>
          <a:lstStyle/>
          <a:p>
            <a:pPr indent="0" marL="0">
              <a:buNone/>
            </a:pPr>
            <a:r>
              <a:rPr lang="en-US" sz="1300" b="1" dirty="0">
                <a:solidFill>
                  <a:srgbClr val="0F172A"/>
                </a:solidFill>
                <a:latin typeface="DM Sans" pitchFamily="34" charset="0"/>
                <a:ea typeface="DM Sans" pitchFamily="34" charset="-122"/>
                <a:cs typeface="DM Sans" pitchFamily="34" charset="-120"/>
              </a:rPr>
              <a:t>Infrastructure</a:t>
            </a:r>
            <a:endParaRPr lang="en-US" sz="1300" dirty="0"/>
          </a:p>
        </p:txBody>
      </p:sp>
      <p:sp>
        <p:nvSpPr>
          <p:cNvPr id="23" name="Text 21"/>
          <p:cNvSpPr/>
          <p:nvPr/>
        </p:nvSpPr>
        <p:spPr>
          <a:xfrm>
            <a:off x="8366760" y="5257800"/>
            <a:ext cx="3154680" cy="640080"/>
          </a:xfrm>
          <a:prstGeom prst="rect">
            <a:avLst/>
          </a:prstGeom>
          <a:noFill/>
          <a:ln/>
        </p:spPr>
        <p:txBody>
          <a:bodyPr wrap="square" rtlCol="0" anchor="ctr"/>
          <a:lstStyle/>
          <a:p>
            <a:pPr indent="0" marL="0">
              <a:lnSpc>
                <a:spcPct val="135000"/>
              </a:lnSpc>
              <a:buNone/>
            </a:pPr>
            <a:r>
              <a:rPr lang="en-US" sz="1000" dirty="0">
                <a:solidFill>
                  <a:srgbClr val="334155"/>
                </a:solidFill>
                <a:latin typeface="DM Sans" pitchFamily="34" charset="0"/>
                <a:ea typeface="DM Sans" pitchFamily="34" charset="-122"/>
                <a:cs typeface="DM Sans" pitchFamily="34" charset="-120"/>
              </a:rPr>
              <a:t>Multi-region rollout, abuse/scaling headroom, partnership-integration build for Anthropic / Cursor / Windsurf.</a:t>
            </a:r>
            <a:endParaRPr lang="en-US" sz="1000" dirty="0"/>
          </a:p>
        </p:txBody>
      </p:sp>
      <p:sp>
        <p:nvSpPr>
          <p:cNvPr id="24" name="Shape 22"/>
          <p:cNvSpPr/>
          <p:nvPr/>
        </p:nvSpPr>
        <p:spPr>
          <a:xfrm>
            <a:off x="502920" y="6035040"/>
            <a:ext cx="11155680" cy="411480"/>
          </a:xfrm>
          <a:prstGeom prst="roundRect">
            <a:avLst>
              <a:gd name="adj" fmla="val 13333"/>
            </a:avLst>
          </a:prstGeom>
          <a:solidFill>
            <a:srgbClr val="EEF2FF"/>
          </a:solidFill>
          <a:ln w="9525">
            <a:solidFill>
              <a:srgbClr val="4F46E5"/>
            </a:solidFill>
            <a:prstDash val="solid"/>
          </a:ln>
        </p:spPr>
      </p:sp>
      <p:sp>
        <p:nvSpPr>
          <p:cNvPr id="25" name="Text 23"/>
          <p:cNvSpPr/>
          <p:nvPr/>
        </p:nvSpPr>
        <p:spPr>
          <a:xfrm>
            <a:off x="502920" y="6035040"/>
            <a:ext cx="11155680" cy="411480"/>
          </a:xfrm>
          <a:prstGeom prst="rect">
            <a:avLst/>
          </a:prstGeom>
          <a:noFill/>
          <a:ln/>
        </p:spPr>
        <p:txBody>
          <a:bodyPr wrap="square" rtlCol="0" anchor="ctr"/>
          <a:lstStyle/>
          <a:p>
            <a:pPr algn="ctr" indent="0" marL="0">
              <a:buNone/>
            </a:pPr>
            <a:r>
              <a:rPr lang="en-US" sz="850" b="1" spc="300" kern="0" dirty="0">
                <a:solidFill>
                  <a:srgbClr val="3730A3"/>
                </a:solidFill>
                <a:latin typeface="JetBrains Mono" pitchFamily="34" charset="0"/>
                <a:ea typeface="JetBrains Mono" pitchFamily="34" charset="-122"/>
                <a:cs typeface="JetBrains Mono" pitchFamily="34" charset="-120"/>
              </a:rPr>
              <a:t>TARGET AT MONTH 12  ·  [ fill ] paying  ·  £[ fill ]K MRR  ·  validated funnel  ·  acquirer + raise conversations live</a:t>
            </a:r>
            <a:endParaRPr lang="en-US" sz="850" dirty="0"/>
          </a:p>
        </p:txBody>
      </p:sp>
      <p:sp>
        <p:nvSpPr>
          <p:cNvPr id="26" name="Text 24"/>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27" name="Text 25"/>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4F46E5"/>
          </a:solidFill>
          <a:ln w="12700">
            <a:solidFill>
              <a:srgbClr val="333333"/>
            </a:solidFill>
            <a:prstDash val="solid"/>
          </a:ln>
        </p:spPr>
      </p:sp>
      <p:sp>
        <p:nvSpPr>
          <p:cNvPr id="3" name="Shape 1"/>
          <p:cNvSpPr/>
          <p:nvPr/>
        </p:nvSpPr>
        <p:spPr>
          <a:xfrm>
            <a:off x="0" y="91440"/>
            <a:ext cx="12191695" cy="36576"/>
          </a:xfrm>
          <a:prstGeom prst="rect">
            <a:avLst/>
          </a:prstGeom>
          <a:solidFill>
            <a:srgbClr val="F59E0B"/>
          </a:solidFill>
          <a:ln w="12700">
            <a:solidFill>
              <a:srgbClr val="333333"/>
            </a:solidFill>
            <a:prstDash val="solid"/>
          </a:ln>
        </p:spPr>
      </p:sp>
      <p:sp>
        <p:nvSpPr>
          <p:cNvPr id="4" name="Text 2"/>
          <p:cNvSpPr/>
          <p:nvPr/>
        </p:nvSpPr>
        <p:spPr>
          <a:xfrm>
            <a:off x="502920" y="1097280"/>
            <a:ext cx="10972800" cy="1280160"/>
          </a:xfrm>
          <a:prstGeom prst="rect">
            <a:avLst/>
          </a:prstGeom>
          <a:noFill/>
          <a:ln/>
        </p:spPr>
        <p:txBody>
          <a:bodyPr wrap="square" rtlCol="0" anchor="ctr"/>
          <a:lstStyle/>
          <a:p>
            <a:pPr indent="0" marL="0">
              <a:buNone/>
            </a:pPr>
            <a:r>
              <a:rPr lang="en-US" sz="8800" b="1" spc="-200" kern="0" dirty="0">
                <a:solidFill>
                  <a:srgbClr val="FFFFFF"/>
                </a:solidFill>
                <a:latin typeface="DM Sans" pitchFamily="34" charset="0"/>
                <a:ea typeface="DM Sans" pitchFamily="34" charset="-122"/>
                <a:cs typeface="DM Sans" pitchFamily="34" charset="-120"/>
              </a:rPr>
              <a:t>Hatchik</a:t>
            </a:r>
            <a:endParaRPr lang="en-US" sz="8800" dirty="0"/>
          </a:p>
        </p:txBody>
      </p:sp>
      <p:sp>
        <p:nvSpPr>
          <p:cNvPr id="5" name="Text 3"/>
          <p:cNvSpPr/>
          <p:nvPr/>
        </p:nvSpPr>
        <p:spPr>
          <a:xfrm>
            <a:off x="502920" y="2468880"/>
            <a:ext cx="10972800" cy="731520"/>
          </a:xfrm>
          <a:prstGeom prst="rect">
            <a:avLst/>
          </a:prstGeom>
          <a:noFill/>
          <a:ln/>
        </p:spPr>
        <p:txBody>
          <a:bodyPr wrap="square" rtlCol="0" anchor="ctr"/>
          <a:lstStyle/>
          <a:p>
            <a:pPr indent="0" marL="0">
              <a:buNone/>
            </a:pPr>
            <a:r>
              <a:rPr lang="en-US" sz="2600" i="1" dirty="0">
                <a:solidFill>
                  <a:srgbClr val="FFFFFF"/>
                </a:solidFill>
                <a:latin typeface="DM Sans" pitchFamily="34" charset="0"/>
                <a:ea typeface="DM Sans" pitchFamily="34" charset="-122"/>
                <a:cs typeface="DM Sans" pitchFamily="34" charset="-120"/>
              </a:rPr>
              <a:t>The production substrate your AI coder builds on.</a:t>
            </a:r>
            <a:endParaRPr lang="en-US" sz="2600" dirty="0"/>
          </a:p>
        </p:txBody>
      </p:sp>
      <p:sp>
        <p:nvSpPr>
          <p:cNvPr id="6" name="Text 4"/>
          <p:cNvSpPr/>
          <p:nvPr/>
        </p:nvSpPr>
        <p:spPr>
          <a:xfrm>
            <a:off x="502920" y="3337560"/>
            <a:ext cx="10972800" cy="457200"/>
          </a:xfrm>
          <a:prstGeom prst="rect">
            <a:avLst/>
          </a:prstGeom>
          <a:noFill/>
          <a:ln/>
        </p:spPr>
        <p:txBody>
          <a:bodyPr wrap="square" rtlCol="0" anchor="ctr"/>
          <a:lstStyle/>
          <a:p>
            <a:pPr indent="0" marL="0">
              <a:buNone/>
            </a:pPr>
            <a:r>
              <a:rPr lang="en-US" sz="1800" dirty="0">
                <a:solidFill>
                  <a:srgbClr val="F59E0B"/>
                </a:solidFill>
                <a:latin typeface="DM Sans" pitchFamily="34" charset="0"/>
                <a:ea typeface="DM Sans" pitchFamily="34" charset="-122"/>
                <a:cs typeface="DM Sans" pitchFamily="34" charset="-120"/>
              </a:rPr>
              <a:t>No platform. No lock-in. No demos.</a:t>
            </a:r>
            <a:endParaRPr lang="en-US" sz="1800" dirty="0"/>
          </a:p>
        </p:txBody>
      </p:sp>
      <p:sp>
        <p:nvSpPr>
          <p:cNvPr id="7" name="Shape 5"/>
          <p:cNvSpPr/>
          <p:nvPr/>
        </p:nvSpPr>
        <p:spPr>
          <a:xfrm>
            <a:off x="502920" y="4663440"/>
            <a:ext cx="5455768" cy="868680"/>
          </a:xfrm>
          <a:prstGeom prst="roundRect">
            <a:avLst>
              <a:gd name="adj" fmla="val 8421"/>
            </a:avLst>
          </a:prstGeom>
          <a:solidFill>
            <a:srgbClr val="1E293B"/>
          </a:solidFill>
          <a:ln w="6350">
            <a:solidFill>
              <a:srgbClr val="334155"/>
            </a:solidFill>
            <a:prstDash val="solid"/>
          </a:ln>
        </p:spPr>
      </p:sp>
      <p:sp>
        <p:nvSpPr>
          <p:cNvPr id="8" name="Text 6"/>
          <p:cNvSpPr/>
          <p:nvPr/>
        </p:nvSpPr>
        <p:spPr>
          <a:xfrm>
            <a:off x="777240" y="4800600"/>
            <a:ext cx="4998568" cy="274320"/>
          </a:xfrm>
          <a:prstGeom prst="rect">
            <a:avLst/>
          </a:prstGeom>
          <a:noFill/>
          <a:ln/>
        </p:spPr>
        <p:txBody>
          <a:bodyPr wrap="square" rtlCol="0" anchor="ctr"/>
          <a:lstStyle/>
          <a:p>
            <a:pPr indent="0" marL="0">
              <a:buNone/>
            </a:pPr>
            <a:r>
              <a:rPr lang="en-US" sz="900" b="1" spc="400" kern="0" dirty="0">
                <a:solidFill>
                  <a:srgbClr val="F59E0B"/>
                </a:solidFill>
                <a:latin typeface="JetBrains Mono" pitchFamily="34" charset="0"/>
                <a:ea typeface="JetBrains Mono" pitchFamily="34" charset="-122"/>
                <a:cs typeface="JetBrains Mono" pitchFamily="34" charset="-120"/>
              </a:rPr>
              <a:t>GENERAL</a:t>
            </a:r>
            <a:endParaRPr lang="en-US" sz="900" dirty="0"/>
          </a:p>
        </p:txBody>
      </p:sp>
      <p:sp>
        <p:nvSpPr>
          <p:cNvPr id="9" name="Text 7"/>
          <p:cNvSpPr/>
          <p:nvPr/>
        </p:nvSpPr>
        <p:spPr>
          <a:xfrm>
            <a:off x="777240" y="5074920"/>
            <a:ext cx="4998568" cy="411480"/>
          </a:xfrm>
          <a:prstGeom prst="rect">
            <a:avLst/>
          </a:prstGeom>
          <a:noFill/>
          <a:ln/>
        </p:spPr>
        <p:txBody>
          <a:bodyPr wrap="square" rtlCol="0" anchor="ctr"/>
          <a:lstStyle/>
          <a:p>
            <a:pPr indent="0" marL="0">
              <a:buNone/>
            </a:pPr>
            <a:r>
              <a:rPr lang="en-US" sz="1400" dirty="0">
                <a:solidFill>
                  <a:srgbClr val="FFFFFF"/>
                </a:solidFill>
                <a:latin typeface="DM Sans" pitchFamily="34" charset="0"/>
                <a:ea typeface="DM Sans" pitchFamily="34" charset="-122"/>
                <a:cs typeface="DM Sans" pitchFamily="34" charset="-120"/>
              </a:rPr>
              <a:t>hello@hatchik.com</a:t>
            </a:r>
            <a:endParaRPr lang="en-US" sz="1400" dirty="0"/>
          </a:p>
        </p:txBody>
      </p:sp>
      <p:sp>
        <p:nvSpPr>
          <p:cNvPr id="10" name="Shape 8"/>
          <p:cNvSpPr/>
          <p:nvPr/>
        </p:nvSpPr>
        <p:spPr>
          <a:xfrm>
            <a:off x="6233008" y="4663440"/>
            <a:ext cx="5455768" cy="868680"/>
          </a:xfrm>
          <a:prstGeom prst="roundRect">
            <a:avLst>
              <a:gd name="adj" fmla="val 8421"/>
            </a:avLst>
          </a:prstGeom>
          <a:solidFill>
            <a:srgbClr val="1E293B"/>
          </a:solidFill>
          <a:ln w="6350">
            <a:solidFill>
              <a:srgbClr val="334155"/>
            </a:solidFill>
            <a:prstDash val="solid"/>
          </a:ln>
        </p:spPr>
      </p:sp>
      <p:sp>
        <p:nvSpPr>
          <p:cNvPr id="11" name="Text 9"/>
          <p:cNvSpPr/>
          <p:nvPr/>
        </p:nvSpPr>
        <p:spPr>
          <a:xfrm>
            <a:off x="6507328" y="4800600"/>
            <a:ext cx="4998568" cy="274320"/>
          </a:xfrm>
          <a:prstGeom prst="rect">
            <a:avLst/>
          </a:prstGeom>
          <a:noFill/>
          <a:ln/>
        </p:spPr>
        <p:txBody>
          <a:bodyPr wrap="square" rtlCol="0" anchor="ctr"/>
          <a:lstStyle/>
          <a:p>
            <a:pPr indent="0" marL="0">
              <a:buNone/>
            </a:pPr>
            <a:r>
              <a:rPr lang="en-US" sz="900" b="1" spc="400" kern="0" dirty="0">
                <a:solidFill>
                  <a:srgbClr val="F59E0B"/>
                </a:solidFill>
                <a:latin typeface="JetBrains Mono" pitchFamily="34" charset="0"/>
                <a:ea typeface="JetBrains Mono" pitchFamily="34" charset="-122"/>
                <a:cs typeface="JetBrains Mono" pitchFamily="34" charset="-120"/>
              </a:rPr>
              <a:t>WEB</a:t>
            </a:r>
            <a:endParaRPr lang="en-US" sz="900" dirty="0"/>
          </a:p>
        </p:txBody>
      </p:sp>
      <p:sp>
        <p:nvSpPr>
          <p:cNvPr id="12" name="Text 10"/>
          <p:cNvSpPr/>
          <p:nvPr/>
        </p:nvSpPr>
        <p:spPr>
          <a:xfrm>
            <a:off x="6507328" y="5074920"/>
            <a:ext cx="4998568" cy="411480"/>
          </a:xfrm>
          <a:prstGeom prst="rect">
            <a:avLst/>
          </a:prstGeom>
          <a:noFill/>
          <a:ln/>
        </p:spPr>
        <p:txBody>
          <a:bodyPr wrap="square" rtlCol="0" anchor="ctr"/>
          <a:lstStyle/>
          <a:p>
            <a:pPr indent="0" marL="0">
              <a:buNone/>
            </a:pPr>
            <a:r>
              <a:rPr lang="en-US" sz="1400" dirty="0">
                <a:solidFill>
                  <a:srgbClr val="FFFFFF"/>
                </a:solidFill>
                <a:latin typeface="DM Sans" pitchFamily="34" charset="0"/>
                <a:ea typeface="DM Sans" pitchFamily="34" charset="-122"/>
                <a:cs typeface="DM Sans" pitchFamily="34" charset="-120"/>
              </a:rPr>
              <a:t>hatchik.com</a:t>
            </a:r>
            <a:endParaRPr lang="en-US" sz="1400" dirty="0"/>
          </a:p>
        </p:txBody>
      </p:sp>
      <p:sp>
        <p:nvSpPr>
          <p:cNvPr id="13" name="Shape 11"/>
          <p:cNvSpPr/>
          <p:nvPr/>
        </p:nvSpPr>
        <p:spPr>
          <a:xfrm>
            <a:off x="502920" y="5715000"/>
            <a:ext cx="5455768" cy="868680"/>
          </a:xfrm>
          <a:prstGeom prst="roundRect">
            <a:avLst>
              <a:gd name="adj" fmla="val 8421"/>
            </a:avLst>
          </a:prstGeom>
          <a:solidFill>
            <a:srgbClr val="1E293B"/>
          </a:solidFill>
          <a:ln w="6350">
            <a:solidFill>
              <a:srgbClr val="334155"/>
            </a:solidFill>
            <a:prstDash val="solid"/>
          </a:ln>
        </p:spPr>
      </p:sp>
      <p:sp>
        <p:nvSpPr>
          <p:cNvPr id="14" name="Text 12"/>
          <p:cNvSpPr/>
          <p:nvPr/>
        </p:nvSpPr>
        <p:spPr>
          <a:xfrm>
            <a:off x="777240" y="5852160"/>
            <a:ext cx="4998568" cy="274320"/>
          </a:xfrm>
          <a:prstGeom prst="rect">
            <a:avLst/>
          </a:prstGeom>
          <a:noFill/>
          <a:ln/>
        </p:spPr>
        <p:txBody>
          <a:bodyPr wrap="square" rtlCol="0" anchor="ctr"/>
          <a:lstStyle/>
          <a:p>
            <a:pPr indent="0" marL="0">
              <a:buNone/>
            </a:pPr>
            <a:r>
              <a:rPr lang="en-US" sz="900" b="1" spc="400" kern="0" dirty="0">
                <a:solidFill>
                  <a:srgbClr val="F59E0B"/>
                </a:solidFill>
                <a:latin typeface="JetBrains Mono" pitchFamily="34" charset="0"/>
                <a:ea typeface="JetBrains Mono" pitchFamily="34" charset="-122"/>
                <a:cs typeface="JetBrains Mono" pitchFamily="34" charset="-120"/>
              </a:rPr>
              <a:t>FOUNDER EMAIL</a:t>
            </a:r>
            <a:endParaRPr lang="en-US" sz="900" dirty="0"/>
          </a:p>
        </p:txBody>
      </p:sp>
      <p:sp>
        <p:nvSpPr>
          <p:cNvPr id="15" name="Text 13"/>
          <p:cNvSpPr/>
          <p:nvPr/>
        </p:nvSpPr>
        <p:spPr>
          <a:xfrm>
            <a:off x="777240" y="6126480"/>
            <a:ext cx="4998568" cy="411480"/>
          </a:xfrm>
          <a:prstGeom prst="rect">
            <a:avLst/>
          </a:prstGeom>
          <a:noFill/>
          <a:ln/>
        </p:spPr>
        <p:txBody>
          <a:bodyPr wrap="square" rtlCol="0" anchor="ctr"/>
          <a:lstStyle/>
          <a:p>
            <a:pPr indent="0" marL="0">
              <a:buNone/>
            </a:pPr>
            <a:r>
              <a:rPr lang="en-US" sz="1400" dirty="0">
                <a:solidFill>
                  <a:srgbClr val="FFFFFF"/>
                </a:solidFill>
                <a:latin typeface="DM Sans" pitchFamily="34" charset="0"/>
                <a:ea typeface="DM Sans" pitchFamily="34" charset="-122"/>
                <a:cs typeface="DM Sans" pitchFamily="34" charset="-120"/>
              </a:rPr>
              <a:t>[ founder fills ]</a:t>
            </a:r>
            <a:endParaRPr lang="en-US" sz="1400" dirty="0"/>
          </a:p>
        </p:txBody>
      </p:sp>
      <p:sp>
        <p:nvSpPr>
          <p:cNvPr id="16" name="Shape 14"/>
          <p:cNvSpPr/>
          <p:nvPr/>
        </p:nvSpPr>
        <p:spPr>
          <a:xfrm>
            <a:off x="6233008" y="5715000"/>
            <a:ext cx="5455768" cy="868680"/>
          </a:xfrm>
          <a:prstGeom prst="roundRect">
            <a:avLst>
              <a:gd name="adj" fmla="val 8421"/>
            </a:avLst>
          </a:prstGeom>
          <a:solidFill>
            <a:srgbClr val="1E293B"/>
          </a:solidFill>
          <a:ln w="6350">
            <a:solidFill>
              <a:srgbClr val="334155"/>
            </a:solidFill>
            <a:prstDash val="solid"/>
          </a:ln>
        </p:spPr>
      </p:sp>
      <p:sp>
        <p:nvSpPr>
          <p:cNvPr id="17" name="Text 15"/>
          <p:cNvSpPr/>
          <p:nvPr/>
        </p:nvSpPr>
        <p:spPr>
          <a:xfrm>
            <a:off x="6507328" y="5852160"/>
            <a:ext cx="4998568" cy="274320"/>
          </a:xfrm>
          <a:prstGeom prst="rect">
            <a:avLst/>
          </a:prstGeom>
          <a:noFill/>
          <a:ln/>
        </p:spPr>
        <p:txBody>
          <a:bodyPr wrap="square" rtlCol="0" anchor="ctr"/>
          <a:lstStyle/>
          <a:p>
            <a:pPr indent="0" marL="0">
              <a:buNone/>
            </a:pPr>
            <a:r>
              <a:rPr lang="en-US" sz="900" b="1" spc="400" kern="0" dirty="0">
                <a:solidFill>
                  <a:srgbClr val="F59E0B"/>
                </a:solidFill>
                <a:latin typeface="JetBrains Mono" pitchFamily="34" charset="0"/>
                <a:ea typeface="JetBrains Mono" pitchFamily="34" charset="-122"/>
                <a:cs typeface="JetBrains Mono" pitchFamily="34" charset="-120"/>
              </a:rPr>
              <a:t>LINKEDIN</a:t>
            </a:r>
            <a:endParaRPr lang="en-US" sz="900" dirty="0"/>
          </a:p>
        </p:txBody>
      </p:sp>
      <p:sp>
        <p:nvSpPr>
          <p:cNvPr id="18" name="Text 16"/>
          <p:cNvSpPr/>
          <p:nvPr/>
        </p:nvSpPr>
        <p:spPr>
          <a:xfrm>
            <a:off x="6507328" y="6126480"/>
            <a:ext cx="4998568" cy="411480"/>
          </a:xfrm>
          <a:prstGeom prst="rect">
            <a:avLst/>
          </a:prstGeom>
          <a:noFill/>
          <a:ln/>
        </p:spPr>
        <p:txBody>
          <a:bodyPr wrap="square" rtlCol="0" anchor="ctr"/>
          <a:lstStyle/>
          <a:p>
            <a:pPr indent="0" marL="0">
              <a:buNone/>
            </a:pPr>
            <a:r>
              <a:rPr lang="en-US" sz="1400" dirty="0">
                <a:solidFill>
                  <a:srgbClr val="FFFFFF"/>
                </a:solidFill>
                <a:latin typeface="DM Sans" pitchFamily="34" charset="0"/>
                <a:ea typeface="DM Sans" pitchFamily="34" charset="-122"/>
                <a:cs typeface="DM Sans" pitchFamily="34" charset="-120"/>
              </a:rPr>
              <a:t>[ founder fills ]</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F59E0B"/>
          </a:solidFill>
          <a:ln w="12700">
            <a:solidFill>
              <a:srgbClr val="333333"/>
            </a:solidFill>
            <a:prstDash val="solid"/>
          </a:ln>
        </p:spPr>
      </p:sp>
      <p:sp>
        <p:nvSpPr>
          <p:cNvPr id="3" name="Shape 1"/>
          <p:cNvSpPr/>
          <p:nvPr/>
        </p:nvSpPr>
        <p:spPr>
          <a:xfrm>
            <a:off x="0" y="91440"/>
            <a:ext cx="12191695" cy="36576"/>
          </a:xfrm>
          <a:prstGeom prst="rect">
            <a:avLst/>
          </a:prstGeom>
          <a:solidFill>
            <a:srgbClr val="4F46E5"/>
          </a:solidFill>
          <a:ln w="12700">
            <a:solidFill>
              <a:srgbClr val="333333"/>
            </a:solidFill>
            <a:prstDash val="solid"/>
          </a:ln>
        </p:spPr>
      </p:sp>
      <p:sp>
        <p:nvSpPr>
          <p:cNvPr id="4" name="Text 2"/>
          <p:cNvSpPr/>
          <p:nvPr/>
        </p:nvSpPr>
        <p:spPr>
          <a:xfrm>
            <a:off x="502920" y="914400"/>
            <a:ext cx="10972800" cy="457200"/>
          </a:xfrm>
          <a:prstGeom prst="rect">
            <a:avLst/>
          </a:prstGeom>
          <a:noFill/>
          <a:ln/>
        </p:spPr>
        <p:txBody>
          <a:bodyPr wrap="square" rtlCol="0" anchor="ctr"/>
          <a:lstStyle/>
          <a:p>
            <a:pPr indent="0" marL="0">
              <a:buNone/>
            </a:pPr>
            <a:r>
              <a:rPr lang="en-US" sz="1400" b="1" spc="800" kern="0" dirty="0">
                <a:solidFill>
                  <a:srgbClr val="F59E0B"/>
                </a:solidFill>
                <a:latin typeface="JetBrains Mono" pitchFamily="34" charset="0"/>
                <a:ea typeface="JetBrains Mono" pitchFamily="34" charset="-122"/>
                <a:cs typeface="JetBrains Mono" pitchFamily="34" charset="-120"/>
              </a:rPr>
              <a:t>APPENDIX</a:t>
            </a:r>
            <a:endParaRPr lang="en-US" sz="1400" dirty="0"/>
          </a:p>
        </p:txBody>
      </p:sp>
      <p:sp>
        <p:nvSpPr>
          <p:cNvPr id="5" name="Text 3"/>
          <p:cNvSpPr/>
          <p:nvPr/>
        </p:nvSpPr>
        <p:spPr>
          <a:xfrm>
            <a:off x="502920" y="1600200"/>
            <a:ext cx="10972800" cy="1097280"/>
          </a:xfrm>
          <a:prstGeom prst="rect">
            <a:avLst/>
          </a:prstGeom>
          <a:noFill/>
          <a:ln/>
        </p:spPr>
        <p:txBody>
          <a:bodyPr wrap="square" rtlCol="0" anchor="ctr"/>
          <a:lstStyle/>
          <a:p>
            <a:pPr indent="0" marL="0">
              <a:lnSpc>
                <a:spcPct val="110000"/>
              </a:lnSpc>
              <a:buNone/>
            </a:pPr>
            <a:r>
              <a:rPr lang="en-US" sz="4800" b="1" dirty="0">
                <a:solidFill>
                  <a:srgbClr val="FFFFFF"/>
                </a:solidFill>
                <a:latin typeface="DM Sans" pitchFamily="34" charset="0"/>
                <a:ea typeface="DM Sans" pitchFamily="34" charset="-122"/>
                <a:cs typeface="DM Sans" pitchFamily="34" charset="-120"/>
              </a:rPr>
              <a:t>Detail, behind the headline.</a:t>
            </a:r>
            <a:endParaRPr lang="en-US" sz="4800" dirty="0"/>
          </a:p>
        </p:txBody>
      </p:sp>
      <p:sp>
        <p:nvSpPr>
          <p:cNvPr id="6" name="Text 4"/>
          <p:cNvSpPr/>
          <p:nvPr/>
        </p:nvSpPr>
        <p:spPr>
          <a:xfrm>
            <a:off x="502920" y="3337560"/>
            <a:ext cx="640080" cy="320040"/>
          </a:xfrm>
          <a:prstGeom prst="rect">
            <a:avLst/>
          </a:prstGeom>
          <a:noFill/>
          <a:ln/>
        </p:spPr>
        <p:txBody>
          <a:bodyPr wrap="square" rtlCol="0" anchor="ctr"/>
          <a:lstStyle/>
          <a:p>
            <a:pPr indent="0" marL="0">
              <a:buNone/>
            </a:pPr>
            <a:r>
              <a:rPr lang="en-US" sz="1400" b="1" dirty="0">
                <a:solidFill>
                  <a:srgbClr val="4F46E5"/>
                </a:solidFill>
                <a:latin typeface="JetBrains Mono" pitchFamily="34" charset="0"/>
                <a:ea typeface="JetBrains Mono" pitchFamily="34" charset="-122"/>
                <a:cs typeface="JetBrains Mono" pitchFamily="34" charset="-120"/>
              </a:rPr>
              <a:t>21</a:t>
            </a:r>
            <a:endParaRPr lang="en-US" sz="1400" dirty="0"/>
          </a:p>
        </p:txBody>
      </p:sp>
      <p:sp>
        <p:nvSpPr>
          <p:cNvPr id="7" name="Text 5"/>
          <p:cNvSpPr/>
          <p:nvPr/>
        </p:nvSpPr>
        <p:spPr>
          <a:xfrm>
            <a:off x="1234440" y="3337560"/>
            <a:ext cx="9144000" cy="320040"/>
          </a:xfrm>
          <a:prstGeom prst="rect">
            <a:avLst/>
          </a:prstGeom>
          <a:noFill/>
          <a:ln/>
        </p:spPr>
        <p:txBody>
          <a:bodyPr wrap="square" rtlCol="0" anchor="ctr"/>
          <a:lstStyle/>
          <a:p>
            <a:pPr indent="0" marL="0">
              <a:buNone/>
            </a:pPr>
            <a:r>
              <a:rPr lang="en-US" sz="1600" dirty="0">
                <a:solidFill>
                  <a:srgbClr val="FFFFFF"/>
                </a:solidFill>
                <a:latin typeface="DM Sans" pitchFamily="34" charset="0"/>
                <a:ea typeface="DM Sans" pitchFamily="34" charset="-122"/>
                <a:cs typeface="DM Sans" pitchFamily="34" charset="-120"/>
              </a:rPr>
              <a:t>Competitor deep-dive — AI builders vs infra players</a:t>
            </a:r>
            <a:endParaRPr lang="en-US" sz="1600" dirty="0"/>
          </a:p>
        </p:txBody>
      </p:sp>
      <p:sp>
        <p:nvSpPr>
          <p:cNvPr id="8" name="Text 6"/>
          <p:cNvSpPr/>
          <p:nvPr/>
        </p:nvSpPr>
        <p:spPr>
          <a:xfrm>
            <a:off x="502920" y="3749040"/>
            <a:ext cx="640080" cy="320040"/>
          </a:xfrm>
          <a:prstGeom prst="rect">
            <a:avLst/>
          </a:prstGeom>
          <a:noFill/>
          <a:ln/>
        </p:spPr>
        <p:txBody>
          <a:bodyPr wrap="square" rtlCol="0" anchor="ctr"/>
          <a:lstStyle/>
          <a:p>
            <a:pPr indent="0" marL="0">
              <a:buNone/>
            </a:pPr>
            <a:r>
              <a:rPr lang="en-US" sz="1400" b="1" dirty="0">
                <a:solidFill>
                  <a:srgbClr val="4F46E5"/>
                </a:solidFill>
                <a:latin typeface="JetBrains Mono" pitchFamily="34" charset="0"/>
                <a:ea typeface="JetBrains Mono" pitchFamily="34" charset="-122"/>
                <a:cs typeface="JetBrains Mono" pitchFamily="34" charset="-120"/>
              </a:rPr>
              <a:t>22</a:t>
            </a:r>
            <a:endParaRPr lang="en-US" sz="1400" dirty="0"/>
          </a:p>
        </p:txBody>
      </p:sp>
      <p:sp>
        <p:nvSpPr>
          <p:cNvPr id="9" name="Text 7"/>
          <p:cNvSpPr/>
          <p:nvPr/>
        </p:nvSpPr>
        <p:spPr>
          <a:xfrm>
            <a:off x="1234440" y="3749040"/>
            <a:ext cx="9144000" cy="320040"/>
          </a:xfrm>
          <a:prstGeom prst="rect">
            <a:avLst/>
          </a:prstGeom>
          <a:noFill/>
          <a:ln/>
        </p:spPr>
        <p:txBody>
          <a:bodyPr wrap="square" rtlCol="0" anchor="ctr"/>
          <a:lstStyle/>
          <a:p>
            <a:pPr indent="0" marL="0">
              <a:buNone/>
            </a:pPr>
            <a:r>
              <a:rPr lang="en-US" sz="1600" dirty="0">
                <a:solidFill>
                  <a:srgbClr val="FFFFFF"/>
                </a:solidFill>
                <a:latin typeface="DM Sans" pitchFamily="34" charset="0"/>
                <a:ea typeface="DM Sans" pitchFamily="34" charset="-122"/>
                <a:cs typeface="DM Sans" pitchFamily="34" charset="-120"/>
              </a:rPr>
              <a:t>AI-lab disruption risk + mitigation strategy</a:t>
            </a:r>
            <a:endParaRPr lang="en-US" sz="1600" dirty="0"/>
          </a:p>
        </p:txBody>
      </p:sp>
      <p:sp>
        <p:nvSpPr>
          <p:cNvPr id="10" name="Text 8"/>
          <p:cNvSpPr/>
          <p:nvPr/>
        </p:nvSpPr>
        <p:spPr>
          <a:xfrm>
            <a:off x="502920" y="4160520"/>
            <a:ext cx="640080" cy="320040"/>
          </a:xfrm>
          <a:prstGeom prst="rect">
            <a:avLst/>
          </a:prstGeom>
          <a:noFill/>
          <a:ln/>
        </p:spPr>
        <p:txBody>
          <a:bodyPr wrap="square" rtlCol="0" anchor="ctr"/>
          <a:lstStyle/>
          <a:p>
            <a:pPr indent="0" marL="0">
              <a:buNone/>
            </a:pPr>
            <a:r>
              <a:rPr lang="en-US" sz="1400" b="1" dirty="0">
                <a:solidFill>
                  <a:srgbClr val="4F46E5"/>
                </a:solidFill>
                <a:latin typeface="JetBrains Mono" pitchFamily="34" charset="0"/>
                <a:ea typeface="JetBrains Mono" pitchFamily="34" charset="-122"/>
                <a:cs typeface="JetBrains Mono" pitchFamily="34" charset="-120"/>
              </a:rPr>
              <a:t>23</a:t>
            </a:r>
            <a:endParaRPr lang="en-US" sz="1400" dirty="0"/>
          </a:p>
        </p:txBody>
      </p:sp>
      <p:sp>
        <p:nvSpPr>
          <p:cNvPr id="11" name="Text 9"/>
          <p:cNvSpPr/>
          <p:nvPr/>
        </p:nvSpPr>
        <p:spPr>
          <a:xfrm>
            <a:off x="1234440" y="4160520"/>
            <a:ext cx="9144000" cy="320040"/>
          </a:xfrm>
          <a:prstGeom prst="rect">
            <a:avLst/>
          </a:prstGeom>
          <a:noFill/>
          <a:ln/>
        </p:spPr>
        <p:txBody>
          <a:bodyPr wrap="square" rtlCol="0" anchor="ctr"/>
          <a:lstStyle/>
          <a:p>
            <a:pPr indent="0" marL="0">
              <a:buNone/>
            </a:pPr>
            <a:r>
              <a:rPr lang="en-US" sz="1600" dirty="0">
                <a:solidFill>
                  <a:srgbClr val="FFFFFF"/>
                </a:solidFill>
                <a:latin typeface="DM Sans" pitchFamily="34" charset="0"/>
                <a:ea typeface="DM Sans" pitchFamily="34" charset="-122"/>
                <a:cs typeface="DM Sans" pitchFamily="34" charset="-120"/>
              </a:rPr>
              <a:t>Full risks register</a:t>
            </a:r>
            <a:endParaRPr lang="en-US" sz="1600" dirty="0"/>
          </a:p>
        </p:txBody>
      </p:sp>
      <p:sp>
        <p:nvSpPr>
          <p:cNvPr id="12" name="Text 10"/>
          <p:cNvSpPr/>
          <p:nvPr/>
        </p:nvSpPr>
        <p:spPr>
          <a:xfrm>
            <a:off x="502920" y="4572000"/>
            <a:ext cx="640080" cy="320040"/>
          </a:xfrm>
          <a:prstGeom prst="rect">
            <a:avLst/>
          </a:prstGeom>
          <a:noFill/>
          <a:ln/>
        </p:spPr>
        <p:txBody>
          <a:bodyPr wrap="square" rtlCol="0" anchor="ctr"/>
          <a:lstStyle/>
          <a:p>
            <a:pPr indent="0" marL="0">
              <a:buNone/>
            </a:pPr>
            <a:r>
              <a:rPr lang="en-US" sz="1400" b="1" dirty="0">
                <a:solidFill>
                  <a:srgbClr val="4F46E5"/>
                </a:solidFill>
                <a:latin typeface="JetBrains Mono" pitchFamily="34" charset="0"/>
                <a:ea typeface="JetBrains Mono" pitchFamily="34" charset="-122"/>
                <a:cs typeface="JetBrains Mono" pitchFamily="34" charset="-120"/>
              </a:rPr>
              <a:t>24</a:t>
            </a:r>
            <a:endParaRPr lang="en-US" sz="1400" dirty="0"/>
          </a:p>
        </p:txBody>
      </p:sp>
      <p:sp>
        <p:nvSpPr>
          <p:cNvPr id="13" name="Text 11"/>
          <p:cNvSpPr/>
          <p:nvPr/>
        </p:nvSpPr>
        <p:spPr>
          <a:xfrm>
            <a:off x="1234440" y="4572000"/>
            <a:ext cx="9144000" cy="320040"/>
          </a:xfrm>
          <a:prstGeom prst="rect">
            <a:avLst/>
          </a:prstGeom>
          <a:noFill/>
          <a:ln/>
        </p:spPr>
        <p:txBody>
          <a:bodyPr wrap="square" rtlCol="0" anchor="ctr"/>
          <a:lstStyle/>
          <a:p>
            <a:pPr indent="0" marL="0">
              <a:buNone/>
            </a:pPr>
            <a:r>
              <a:rPr lang="en-US" sz="1600" dirty="0">
                <a:solidFill>
                  <a:srgbClr val="FFFFFF"/>
                </a:solidFill>
                <a:latin typeface="DM Sans" pitchFamily="34" charset="0"/>
                <a:ea typeface="DM Sans" pitchFamily="34" charset="-122"/>
                <a:cs typeface="DM Sans" pitchFamily="34" charset="-120"/>
              </a:rPr>
              <a:t>MRR build-up — cohort × ARPU × churn</a:t>
            </a:r>
            <a:endParaRPr lang="en-US" sz="1600" dirty="0"/>
          </a:p>
        </p:txBody>
      </p:sp>
      <p:sp>
        <p:nvSpPr>
          <p:cNvPr id="14" name="Text 12"/>
          <p:cNvSpPr/>
          <p:nvPr/>
        </p:nvSpPr>
        <p:spPr>
          <a:xfrm>
            <a:off x="502920" y="4983480"/>
            <a:ext cx="640080" cy="320040"/>
          </a:xfrm>
          <a:prstGeom prst="rect">
            <a:avLst/>
          </a:prstGeom>
          <a:noFill/>
          <a:ln/>
        </p:spPr>
        <p:txBody>
          <a:bodyPr wrap="square" rtlCol="0" anchor="ctr"/>
          <a:lstStyle/>
          <a:p>
            <a:pPr indent="0" marL="0">
              <a:buNone/>
            </a:pPr>
            <a:r>
              <a:rPr lang="en-US" sz="1400" b="1" dirty="0">
                <a:solidFill>
                  <a:srgbClr val="4F46E5"/>
                </a:solidFill>
                <a:latin typeface="JetBrains Mono" pitchFamily="34" charset="0"/>
                <a:ea typeface="JetBrains Mono" pitchFamily="34" charset="-122"/>
                <a:cs typeface="JetBrains Mono" pitchFamily="34" charset="-120"/>
              </a:rPr>
              <a:t>25</a:t>
            </a:r>
            <a:endParaRPr lang="en-US" sz="1400" dirty="0"/>
          </a:p>
        </p:txBody>
      </p:sp>
      <p:sp>
        <p:nvSpPr>
          <p:cNvPr id="15" name="Text 13"/>
          <p:cNvSpPr/>
          <p:nvPr/>
        </p:nvSpPr>
        <p:spPr>
          <a:xfrm>
            <a:off x="1234440" y="4983480"/>
            <a:ext cx="9144000" cy="320040"/>
          </a:xfrm>
          <a:prstGeom prst="rect">
            <a:avLst/>
          </a:prstGeom>
          <a:noFill/>
          <a:ln/>
        </p:spPr>
        <p:txBody>
          <a:bodyPr wrap="square" rtlCol="0" anchor="ctr"/>
          <a:lstStyle/>
          <a:p>
            <a:pPr indent="0" marL="0">
              <a:buNone/>
            </a:pPr>
            <a:r>
              <a:rPr lang="en-US" sz="1600" dirty="0">
                <a:solidFill>
                  <a:srgbClr val="FFFFFF"/>
                </a:solidFill>
                <a:latin typeface="DM Sans" pitchFamily="34" charset="0"/>
                <a:ea typeface="DM Sans" pitchFamily="34" charset="-122"/>
                <a:cs typeface="DM Sans" pitchFamily="34" charset="-120"/>
              </a:rPr>
              <a:t>Use of funds — detailed allocation</a:t>
            </a:r>
            <a:endParaRPr lang="en-US" sz="1600" dirty="0"/>
          </a:p>
        </p:txBody>
      </p:sp>
      <p:sp>
        <p:nvSpPr>
          <p:cNvPr id="16" name="Text 14"/>
          <p:cNvSpPr/>
          <p:nvPr/>
        </p:nvSpPr>
        <p:spPr>
          <a:xfrm>
            <a:off x="502920" y="5394960"/>
            <a:ext cx="640080" cy="320040"/>
          </a:xfrm>
          <a:prstGeom prst="rect">
            <a:avLst/>
          </a:prstGeom>
          <a:noFill/>
          <a:ln/>
        </p:spPr>
        <p:txBody>
          <a:bodyPr wrap="square" rtlCol="0" anchor="ctr"/>
          <a:lstStyle/>
          <a:p>
            <a:pPr indent="0" marL="0">
              <a:buNone/>
            </a:pPr>
            <a:r>
              <a:rPr lang="en-US" sz="1400" b="1" dirty="0">
                <a:solidFill>
                  <a:srgbClr val="4F46E5"/>
                </a:solidFill>
                <a:latin typeface="JetBrains Mono" pitchFamily="34" charset="0"/>
                <a:ea typeface="JetBrains Mono" pitchFamily="34" charset="-122"/>
                <a:cs typeface="JetBrains Mono" pitchFamily="34" charset="-120"/>
              </a:rPr>
              <a:t>26</a:t>
            </a:r>
            <a:endParaRPr lang="en-US" sz="1400" dirty="0"/>
          </a:p>
        </p:txBody>
      </p:sp>
      <p:sp>
        <p:nvSpPr>
          <p:cNvPr id="17" name="Text 15"/>
          <p:cNvSpPr/>
          <p:nvPr/>
        </p:nvSpPr>
        <p:spPr>
          <a:xfrm>
            <a:off x="1234440" y="5394960"/>
            <a:ext cx="9144000" cy="320040"/>
          </a:xfrm>
          <a:prstGeom prst="rect">
            <a:avLst/>
          </a:prstGeom>
          <a:noFill/>
          <a:ln/>
        </p:spPr>
        <p:txBody>
          <a:bodyPr wrap="square" rtlCol="0" anchor="ctr"/>
          <a:lstStyle/>
          <a:p>
            <a:pPr indent="0" marL="0">
              <a:buNone/>
            </a:pPr>
            <a:r>
              <a:rPr lang="en-US" sz="1600" dirty="0">
                <a:solidFill>
                  <a:srgbClr val="FFFFFF"/>
                </a:solidFill>
                <a:latin typeface="DM Sans" pitchFamily="34" charset="0"/>
                <a:ea typeface="DM Sans" pitchFamily="34" charset="-122"/>
                <a:cs typeface="DM Sans" pitchFamily="34" charset="-120"/>
              </a:rPr>
              <a:t>Organic growth model + moats</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21  ·  APPENDIX  ·  COMPETITOR DEEP-DIVE</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Two-layer landscape. Nobody owns the seam Hatchik sits on.</a:t>
            </a:r>
            <a:endParaRPr lang="en-US" sz="3000" dirty="0"/>
          </a:p>
        </p:txBody>
      </p:sp>
      <p:sp>
        <p:nvSpPr>
          <p:cNvPr id="4" name="Shape 2"/>
          <p:cNvSpPr/>
          <p:nvPr/>
        </p:nvSpPr>
        <p:spPr>
          <a:xfrm>
            <a:off x="502920" y="1737360"/>
            <a:ext cx="10241280" cy="347472"/>
          </a:xfrm>
          <a:prstGeom prst="rect">
            <a:avLst/>
          </a:prstGeom>
          <a:solidFill>
            <a:srgbClr val="0F172A"/>
          </a:solidFill>
          <a:ln w="12700">
            <a:solidFill>
              <a:srgbClr val="333333"/>
            </a:solidFill>
            <a:prstDash val="solid"/>
          </a:ln>
        </p:spPr>
      </p:sp>
      <p:sp>
        <p:nvSpPr>
          <p:cNvPr id="5" name="Text 3"/>
          <p:cNvSpPr/>
          <p:nvPr/>
        </p:nvSpPr>
        <p:spPr>
          <a:xfrm>
            <a:off x="557784" y="1773936"/>
            <a:ext cx="2496312" cy="274320"/>
          </a:xfrm>
          <a:prstGeom prst="rect">
            <a:avLst/>
          </a:prstGeom>
          <a:noFill/>
          <a:ln/>
        </p:spPr>
        <p:txBody>
          <a:bodyPr wrap="square" rtlCol="0" anchor="ctr"/>
          <a:lstStyle/>
          <a:p>
            <a:pPr algn="l" indent="0" marL="0">
              <a:buNone/>
            </a:pPr>
            <a:endParaRPr lang="en-US" sz="800" dirty="0"/>
          </a:p>
        </p:txBody>
      </p:sp>
      <p:sp>
        <p:nvSpPr>
          <p:cNvPr id="6" name="Text 4"/>
          <p:cNvSpPr/>
          <p:nvPr/>
        </p:nvSpPr>
        <p:spPr>
          <a:xfrm>
            <a:off x="3163824" y="1773936"/>
            <a:ext cx="713232" cy="274320"/>
          </a:xfrm>
          <a:prstGeom prst="rect">
            <a:avLst/>
          </a:prstGeom>
          <a:noFill/>
          <a:ln/>
        </p:spPr>
        <p:txBody>
          <a:bodyPr wrap="square" rtlCol="0" anchor="ctr"/>
          <a:lstStyle/>
          <a:p>
            <a:pPr algn="ctr" indent="0" marL="0">
              <a:buNone/>
            </a:pPr>
            <a:r>
              <a:rPr lang="en-US" sz="800" b="1" spc="200" kern="0" dirty="0">
                <a:solidFill>
                  <a:srgbClr val="F59E0B"/>
                </a:solidFill>
                <a:latin typeface="JetBrains Mono" pitchFamily="34" charset="0"/>
                <a:ea typeface="JetBrains Mono" pitchFamily="34" charset="-122"/>
                <a:cs typeface="JetBrains Mono" pitchFamily="34" charset="-120"/>
              </a:rPr>
              <a:t>BYO AI</a:t>
            </a:r>
            <a:endParaRPr lang="en-US" sz="800" dirty="0"/>
          </a:p>
        </p:txBody>
      </p:sp>
      <p:sp>
        <p:nvSpPr>
          <p:cNvPr id="7" name="Text 5"/>
          <p:cNvSpPr/>
          <p:nvPr/>
        </p:nvSpPr>
        <p:spPr>
          <a:xfrm>
            <a:off x="3986784" y="1773936"/>
            <a:ext cx="850392" cy="274320"/>
          </a:xfrm>
          <a:prstGeom prst="rect">
            <a:avLst/>
          </a:prstGeom>
          <a:noFill/>
          <a:ln/>
        </p:spPr>
        <p:txBody>
          <a:bodyPr wrap="square" rtlCol="0" anchor="ctr"/>
          <a:lstStyle/>
          <a:p>
            <a:pPr algn="ctr" indent="0" marL="0">
              <a:buNone/>
            </a:pPr>
            <a:r>
              <a:rPr lang="en-US" sz="800" b="1" spc="200" kern="0" dirty="0">
                <a:solidFill>
                  <a:srgbClr val="F59E0B"/>
                </a:solidFill>
                <a:latin typeface="JetBrains Mono" pitchFamily="34" charset="0"/>
                <a:ea typeface="JetBrains Mono" pitchFamily="34" charset="-122"/>
                <a:cs typeface="JetBrains Mono" pitchFamily="34" charset="-120"/>
              </a:rPr>
              <a:t>Plumbing</a:t>
            </a:r>
            <a:endParaRPr lang="en-US" sz="800" dirty="0"/>
          </a:p>
        </p:txBody>
      </p:sp>
      <p:sp>
        <p:nvSpPr>
          <p:cNvPr id="8" name="Text 6"/>
          <p:cNvSpPr/>
          <p:nvPr/>
        </p:nvSpPr>
        <p:spPr>
          <a:xfrm>
            <a:off x="4946904" y="1773936"/>
            <a:ext cx="850392" cy="274320"/>
          </a:xfrm>
          <a:prstGeom prst="rect">
            <a:avLst/>
          </a:prstGeom>
          <a:noFill/>
          <a:ln/>
        </p:spPr>
        <p:txBody>
          <a:bodyPr wrap="square" rtlCol="0" anchor="ctr"/>
          <a:lstStyle/>
          <a:p>
            <a:pPr algn="ctr" indent="0" marL="0">
              <a:buNone/>
            </a:pPr>
            <a:r>
              <a:rPr lang="en-US" sz="800" b="1" spc="200" kern="0" dirty="0">
                <a:solidFill>
                  <a:srgbClr val="F59E0B"/>
                </a:solidFill>
                <a:latin typeface="JetBrains Mono" pitchFamily="34" charset="0"/>
                <a:ea typeface="JetBrains Mono" pitchFamily="34" charset="-122"/>
                <a:cs typeface="JetBrains Mono" pitchFamily="34" charset="-120"/>
              </a:rPr>
              <a:t>Own code</a:t>
            </a:r>
            <a:endParaRPr lang="en-US" sz="800" dirty="0"/>
          </a:p>
        </p:txBody>
      </p:sp>
      <p:sp>
        <p:nvSpPr>
          <p:cNvPr id="9" name="Text 7"/>
          <p:cNvSpPr/>
          <p:nvPr/>
        </p:nvSpPr>
        <p:spPr>
          <a:xfrm>
            <a:off x="5907024" y="1773936"/>
            <a:ext cx="758952" cy="274320"/>
          </a:xfrm>
          <a:prstGeom prst="rect">
            <a:avLst/>
          </a:prstGeom>
          <a:noFill/>
          <a:ln/>
        </p:spPr>
        <p:txBody>
          <a:bodyPr wrap="square" rtlCol="0" anchor="ctr"/>
          <a:lstStyle/>
          <a:p>
            <a:pPr algn="ctr" indent="0" marL="0">
              <a:buNone/>
            </a:pPr>
            <a:r>
              <a:rPr lang="en-US" sz="800" b="1" spc="200" kern="0" dirty="0">
                <a:solidFill>
                  <a:srgbClr val="F59E0B"/>
                </a:solidFill>
                <a:latin typeface="JetBrains Mono" pitchFamily="34" charset="0"/>
                <a:ea typeface="JetBrains Mono" pitchFamily="34" charset="-122"/>
                <a:cs typeface="JetBrains Mono" pitchFamily="34" charset="-120"/>
              </a:rPr>
              <a:t>Exit cost</a:t>
            </a:r>
            <a:endParaRPr lang="en-US" sz="800" dirty="0"/>
          </a:p>
        </p:txBody>
      </p:sp>
      <p:sp>
        <p:nvSpPr>
          <p:cNvPr id="10" name="Text 8"/>
          <p:cNvSpPr/>
          <p:nvPr/>
        </p:nvSpPr>
        <p:spPr>
          <a:xfrm>
            <a:off x="6775704" y="1773936"/>
            <a:ext cx="987552" cy="274320"/>
          </a:xfrm>
          <a:prstGeom prst="rect">
            <a:avLst/>
          </a:prstGeom>
          <a:noFill/>
          <a:ln/>
        </p:spPr>
        <p:txBody>
          <a:bodyPr wrap="square" rtlCol="0" anchor="ctr"/>
          <a:lstStyle/>
          <a:p>
            <a:pPr algn="ctr" indent="0" marL="0">
              <a:buNone/>
            </a:pPr>
            <a:r>
              <a:rPr lang="en-US" sz="800" b="1" spc="200" kern="0" dirty="0">
                <a:solidFill>
                  <a:srgbClr val="F59E0B"/>
                </a:solidFill>
                <a:latin typeface="JetBrains Mono" pitchFamily="34" charset="0"/>
                <a:ea typeface="JetBrains Mono" pitchFamily="34" charset="-122"/>
                <a:cs typeface="JetBrains Mono" pitchFamily="34" charset="-120"/>
              </a:rPr>
              <a:t>Provisioned</a:t>
            </a:r>
            <a:endParaRPr lang="en-US" sz="800" dirty="0"/>
          </a:p>
        </p:txBody>
      </p:sp>
      <p:sp>
        <p:nvSpPr>
          <p:cNvPr id="11" name="Text 9"/>
          <p:cNvSpPr/>
          <p:nvPr/>
        </p:nvSpPr>
        <p:spPr>
          <a:xfrm>
            <a:off x="7872984" y="1773936"/>
            <a:ext cx="804672" cy="274320"/>
          </a:xfrm>
          <a:prstGeom prst="rect">
            <a:avLst/>
          </a:prstGeom>
          <a:noFill/>
          <a:ln/>
        </p:spPr>
        <p:txBody>
          <a:bodyPr wrap="square" rtlCol="0" anchor="ctr"/>
          <a:lstStyle/>
          <a:p>
            <a:pPr algn="ctr" indent="0" marL="0">
              <a:buNone/>
            </a:pPr>
            <a:r>
              <a:rPr lang="en-US" sz="800" b="1" spc="200" kern="0" dirty="0">
                <a:solidFill>
                  <a:srgbClr val="F59E0B"/>
                </a:solidFill>
                <a:latin typeface="JetBrains Mono" pitchFamily="34" charset="0"/>
                <a:ea typeface="JetBrains Mono" pitchFamily="34" charset="-122"/>
                <a:cs typeface="JetBrains Mono" pitchFamily="34" charset="-120"/>
              </a:rPr>
              <a:t>Mobile</a:t>
            </a:r>
            <a:endParaRPr lang="en-US" sz="800" dirty="0"/>
          </a:p>
        </p:txBody>
      </p:sp>
      <p:sp>
        <p:nvSpPr>
          <p:cNvPr id="12" name="Text 10"/>
          <p:cNvSpPr/>
          <p:nvPr/>
        </p:nvSpPr>
        <p:spPr>
          <a:xfrm>
            <a:off x="8787384" y="1773936"/>
            <a:ext cx="987552" cy="274320"/>
          </a:xfrm>
          <a:prstGeom prst="rect">
            <a:avLst/>
          </a:prstGeom>
          <a:noFill/>
          <a:ln/>
        </p:spPr>
        <p:txBody>
          <a:bodyPr wrap="square" rtlCol="0" anchor="ctr"/>
          <a:lstStyle/>
          <a:p>
            <a:pPr algn="ctr" indent="0" marL="0">
              <a:buNone/>
            </a:pPr>
            <a:r>
              <a:rPr lang="en-US" sz="800" b="1" spc="200" kern="0" dirty="0">
                <a:solidFill>
                  <a:srgbClr val="F59E0B"/>
                </a:solidFill>
                <a:latin typeface="JetBrains Mono" pitchFamily="34" charset="0"/>
                <a:ea typeface="JetBrains Mono" pitchFamily="34" charset="-122"/>
                <a:cs typeface="JetBrains Mono" pitchFamily="34" charset="-120"/>
              </a:rPr>
              <a:t>MoR billing</a:t>
            </a:r>
            <a:endParaRPr lang="en-US" sz="800" dirty="0"/>
          </a:p>
        </p:txBody>
      </p:sp>
      <p:sp>
        <p:nvSpPr>
          <p:cNvPr id="13" name="Text 11"/>
          <p:cNvSpPr/>
          <p:nvPr/>
        </p:nvSpPr>
        <p:spPr>
          <a:xfrm>
            <a:off x="9884664" y="1773936"/>
            <a:ext cx="804672" cy="274320"/>
          </a:xfrm>
          <a:prstGeom prst="rect">
            <a:avLst/>
          </a:prstGeom>
          <a:noFill/>
          <a:ln/>
        </p:spPr>
        <p:txBody>
          <a:bodyPr wrap="square" rtlCol="0" anchor="ctr"/>
          <a:lstStyle/>
          <a:p>
            <a:pPr algn="ctr" indent="0" marL="0">
              <a:buNone/>
            </a:pPr>
            <a:r>
              <a:rPr lang="en-US" sz="800" b="1" spc="200" kern="0" dirty="0">
                <a:solidFill>
                  <a:srgbClr val="F59E0B"/>
                </a:solidFill>
                <a:latin typeface="JetBrains Mono" pitchFamily="34" charset="0"/>
                <a:ea typeface="JetBrains Mono" pitchFamily="34" charset="-122"/>
                <a:cs typeface="JetBrains Mono" pitchFamily="34" charset="-120"/>
              </a:rPr>
              <a:t>Start £/mo</a:t>
            </a:r>
            <a:endParaRPr lang="en-US" sz="800" dirty="0"/>
          </a:p>
        </p:txBody>
      </p:sp>
      <p:sp>
        <p:nvSpPr>
          <p:cNvPr id="14" name="Shape 12"/>
          <p:cNvSpPr/>
          <p:nvPr/>
        </p:nvSpPr>
        <p:spPr>
          <a:xfrm>
            <a:off x="502920" y="2084832"/>
            <a:ext cx="10241280" cy="292608"/>
          </a:xfrm>
          <a:prstGeom prst="rect">
            <a:avLst/>
          </a:prstGeom>
          <a:solidFill>
            <a:srgbClr val="EEF2FF"/>
          </a:solidFill>
          <a:ln w="12700">
            <a:solidFill>
              <a:srgbClr val="4F46E5"/>
            </a:solidFill>
            <a:prstDash val="solid"/>
          </a:ln>
        </p:spPr>
      </p:sp>
      <p:sp>
        <p:nvSpPr>
          <p:cNvPr id="15" name="Text 13"/>
          <p:cNvSpPr/>
          <p:nvPr/>
        </p:nvSpPr>
        <p:spPr>
          <a:xfrm>
            <a:off x="594360" y="2112264"/>
            <a:ext cx="2423160" cy="237744"/>
          </a:xfrm>
          <a:prstGeom prst="rect">
            <a:avLst/>
          </a:prstGeom>
          <a:noFill/>
          <a:ln/>
        </p:spPr>
        <p:txBody>
          <a:bodyPr wrap="square" rtlCol="0" anchor="ctr"/>
          <a:lstStyle/>
          <a:p>
            <a:pPr indent="0" marL="0">
              <a:buNone/>
            </a:pPr>
            <a:r>
              <a:rPr lang="en-US" sz="950" b="1" dirty="0">
                <a:solidFill>
                  <a:srgbClr val="3730A3"/>
                </a:solidFill>
                <a:latin typeface="DM Sans" pitchFamily="34" charset="0"/>
                <a:ea typeface="DM Sans" pitchFamily="34" charset="-122"/>
                <a:cs typeface="DM Sans" pitchFamily="34" charset="-120"/>
              </a:rPr>
              <a:t>Hatchik</a:t>
            </a:r>
            <a:endParaRPr lang="en-US" sz="950" dirty="0"/>
          </a:p>
        </p:txBody>
      </p:sp>
      <p:sp>
        <p:nvSpPr>
          <p:cNvPr id="16" name="Text 14"/>
          <p:cNvSpPr/>
          <p:nvPr/>
        </p:nvSpPr>
        <p:spPr>
          <a:xfrm>
            <a:off x="3163824" y="2112264"/>
            <a:ext cx="71323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17" name="Text 15"/>
          <p:cNvSpPr/>
          <p:nvPr/>
        </p:nvSpPr>
        <p:spPr>
          <a:xfrm>
            <a:off x="3986784" y="2112264"/>
            <a:ext cx="85039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18" name="Text 16"/>
          <p:cNvSpPr/>
          <p:nvPr/>
        </p:nvSpPr>
        <p:spPr>
          <a:xfrm>
            <a:off x="4946904" y="2112264"/>
            <a:ext cx="85039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19" name="Text 17"/>
          <p:cNvSpPr/>
          <p:nvPr/>
        </p:nvSpPr>
        <p:spPr>
          <a:xfrm>
            <a:off x="5907024" y="2112264"/>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£0</a:t>
            </a:r>
            <a:endParaRPr lang="en-US" sz="950" dirty="0"/>
          </a:p>
        </p:txBody>
      </p:sp>
      <p:sp>
        <p:nvSpPr>
          <p:cNvPr id="20" name="Text 18"/>
          <p:cNvSpPr/>
          <p:nvPr/>
        </p:nvSpPr>
        <p:spPr>
          <a:xfrm>
            <a:off x="6775704" y="2112264"/>
            <a:ext cx="98755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21" name="Text 19"/>
          <p:cNvSpPr/>
          <p:nvPr/>
        </p:nvSpPr>
        <p:spPr>
          <a:xfrm>
            <a:off x="7872984" y="2112264"/>
            <a:ext cx="80467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22" name="Text 20"/>
          <p:cNvSpPr/>
          <p:nvPr/>
        </p:nvSpPr>
        <p:spPr>
          <a:xfrm>
            <a:off x="8787384" y="2112264"/>
            <a:ext cx="98755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23" name="Text 21"/>
          <p:cNvSpPr/>
          <p:nvPr/>
        </p:nvSpPr>
        <p:spPr>
          <a:xfrm>
            <a:off x="9884664" y="2112264"/>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£14</a:t>
            </a:r>
            <a:endParaRPr lang="en-US" sz="950" dirty="0"/>
          </a:p>
        </p:txBody>
      </p:sp>
      <p:sp>
        <p:nvSpPr>
          <p:cNvPr id="24" name="Shape 22"/>
          <p:cNvSpPr/>
          <p:nvPr/>
        </p:nvSpPr>
        <p:spPr>
          <a:xfrm>
            <a:off x="502920" y="2377440"/>
            <a:ext cx="10241280" cy="292608"/>
          </a:xfrm>
          <a:prstGeom prst="rect">
            <a:avLst/>
          </a:prstGeom>
          <a:solidFill>
            <a:srgbClr val="F6F5F1"/>
          </a:solidFill>
          <a:ln w="3175">
            <a:solidFill>
              <a:srgbClr val="F1F5F9"/>
            </a:solidFill>
            <a:prstDash val="solid"/>
          </a:ln>
        </p:spPr>
      </p:sp>
      <p:sp>
        <p:nvSpPr>
          <p:cNvPr id="25" name="Text 23"/>
          <p:cNvSpPr/>
          <p:nvPr/>
        </p:nvSpPr>
        <p:spPr>
          <a:xfrm>
            <a:off x="594360" y="2404872"/>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Lovable</a:t>
            </a:r>
            <a:endParaRPr lang="en-US" sz="950" dirty="0"/>
          </a:p>
        </p:txBody>
      </p:sp>
      <p:sp>
        <p:nvSpPr>
          <p:cNvPr id="26" name="Text 24"/>
          <p:cNvSpPr/>
          <p:nvPr/>
        </p:nvSpPr>
        <p:spPr>
          <a:xfrm>
            <a:off x="3163824" y="2404872"/>
            <a:ext cx="71323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27" name="Text 25"/>
          <p:cNvSpPr/>
          <p:nvPr/>
        </p:nvSpPr>
        <p:spPr>
          <a:xfrm>
            <a:off x="3986784" y="2404872"/>
            <a:ext cx="85039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28" name="Text 26"/>
          <p:cNvSpPr/>
          <p:nvPr/>
        </p:nvSpPr>
        <p:spPr>
          <a:xfrm>
            <a:off x="4946904" y="2404872"/>
            <a:ext cx="85039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29" name="Text 27"/>
          <p:cNvSpPr/>
          <p:nvPr/>
        </p:nvSpPr>
        <p:spPr>
          <a:xfrm>
            <a:off x="5907024" y="2404872"/>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High</a:t>
            </a:r>
            <a:endParaRPr lang="en-US" sz="950" dirty="0"/>
          </a:p>
        </p:txBody>
      </p:sp>
      <p:sp>
        <p:nvSpPr>
          <p:cNvPr id="30" name="Text 28"/>
          <p:cNvSpPr/>
          <p:nvPr/>
        </p:nvSpPr>
        <p:spPr>
          <a:xfrm>
            <a:off x="6775704" y="2404872"/>
            <a:ext cx="98755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31" name="Text 29"/>
          <p:cNvSpPr/>
          <p:nvPr/>
        </p:nvSpPr>
        <p:spPr>
          <a:xfrm>
            <a:off x="7872984" y="2404872"/>
            <a:ext cx="80467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32" name="Text 30"/>
          <p:cNvSpPr/>
          <p:nvPr/>
        </p:nvSpPr>
        <p:spPr>
          <a:xfrm>
            <a:off x="8787384" y="2404872"/>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33" name="Text 31"/>
          <p:cNvSpPr/>
          <p:nvPr/>
        </p:nvSpPr>
        <p:spPr>
          <a:xfrm>
            <a:off x="9884664" y="2404872"/>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$25+</a:t>
            </a:r>
            <a:endParaRPr lang="en-US" sz="950" dirty="0"/>
          </a:p>
        </p:txBody>
      </p:sp>
      <p:sp>
        <p:nvSpPr>
          <p:cNvPr id="34" name="Shape 32"/>
          <p:cNvSpPr/>
          <p:nvPr/>
        </p:nvSpPr>
        <p:spPr>
          <a:xfrm>
            <a:off x="502920" y="2670048"/>
            <a:ext cx="10241280" cy="292608"/>
          </a:xfrm>
          <a:prstGeom prst="rect">
            <a:avLst/>
          </a:prstGeom>
          <a:solidFill>
            <a:srgbClr val="FFFFFF"/>
          </a:solidFill>
          <a:ln w="3175">
            <a:solidFill>
              <a:srgbClr val="F1F5F9"/>
            </a:solidFill>
            <a:prstDash val="solid"/>
          </a:ln>
        </p:spPr>
      </p:sp>
      <p:sp>
        <p:nvSpPr>
          <p:cNvPr id="35" name="Text 33"/>
          <p:cNvSpPr/>
          <p:nvPr/>
        </p:nvSpPr>
        <p:spPr>
          <a:xfrm>
            <a:off x="594360" y="2697480"/>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Bolt.new</a:t>
            </a:r>
            <a:endParaRPr lang="en-US" sz="950" dirty="0"/>
          </a:p>
        </p:txBody>
      </p:sp>
      <p:sp>
        <p:nvSpPr>
          <p:cNvPr id="36" name="Text 34"/>
          <p:cNvSpPr/>
          <p:nvPr/>
        </p:nvSpPr>
        <p:spPr>
          <a:xfrm>
            <a:off x="3163824" y="2697480"/>
            <a:ext cx="71323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37" name="Text 35"/>
          <p:cNvSpPr/>
          <p:nvPr/>
        </p:nvSpPr>
        <p:spPr>
          <a:xfrm>
            <a:off x="3986784" y="2697480"/>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38" name="Text 36"/>
          <p:cNvSpPr/>
          <p:nvPr/>
        </p:nvSpPr>
        <p:spPr>
          <a:xfrm>
            <a:off x="4946904" y="2697480"/>
            <a:ext cx="85039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39" name="Text 37"/>
          <p:cNvSpPr/>
          <p:nvPr/>
        </p:nvSpPr>
        <p:spPr>
          <a:xfrm>
            <a:off x="5907024" y="2697480"/>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Med</a:t>
            </a:r>
            <a:endParaRPr lang="en-US" sz="950" dirty="0"/>
          </a:p>
        </p:txBody>
      </p:sp>
      <p:sp>
        <p:nvSpPr>
          <p:cNvPr id="40" name="Text 38"/>
          <p:cNvSpPr/>
          <p:nvPr/>
        </p:nvSpPr>
        <p:spPr>
          <a:xfrm>
            <a:off x="6775704" y="2697480"/>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41" name="Text 39"/>
          <p:cNvSpPr/>
          <p:nvPr/>
        </p:nvSpPr>
        <p:spPr>
          <a:xfrm>
            <a:off x="7872984" y="2697480"/>
            <a:ext cx="80467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42" name="Text 40"/>
          <p:cNvSpPr/>
          <p:nvPr/>
        </p:nvSpPr>
        <p:spPr>
          <a:xfrm>
            <a:off x="8787384" y="2697480"/>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43" name="Text 41"/>
          <p:cNvSpPr/>
          <p:nvPr/>
        </p:nvSpPr>
        <p:spPr>
          <a:xfrm>
            <a:off x="9884664" y="2697480"/>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$20+</a:t>
            </a:r>
            <a:endParaRPr lang="en-US" sz="950" dirty="0"/>
          </a:p>
        </p:txBody>
      </p:sp>
      <p:sp>
        <p:nvSpPr>
          <p:cNvPr id="44" name="Shape 42"/>
          <p:cNvSpPr/>
          <p:nvPr/>
        </p:nvSpPr>
        <p:spPr>
          <a:xfrm>
            <a:off x="502920" y="2962656"/>
            <a:ext cx="10241280" cy="292608"/>
          </a:xfrm>
          <a:prstGeom prst="rect">
            <a:avLst/>
          </a:prstGeom>
          <a:solidFill>
            <a:srgbClr val="F6F5F1"/>
          </a:solidFill>
          <a:ln w="3175">
            <a:solidFill>
              <a:srgbClr val="F1F5F9"/>
            </a:solidFill>
            <a:prstDash val="solid"/>
          </a:ln>
        </p:spPr>
      </p:sp>
      <p:sp>
        <p:nvSpPr>
          <p:cNvPr id="45" name="Text 43"/>
          <p:cNvSpPr/>
          <p:nvPr/>
        </p:nvSpPr>
        <p:spPr>
          <a:xfrm>
            <a:off x="594360" y="2990088"/>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v0 (Vercel)</a:t>
            </a:r>
            <a:endParaRPr lang="en-US" sz="950" dirty="0"/>
          </a:p>
        </p:txBody>
      </p:sp>
      <p:sp>
        <p:nvSpPr>
          <p:cNvPr id="46" name="Text 44"/>
          <p:cNvSpPr/>
          <p:nvPr/>
        </p:nvSpPr>
        <p:spPr>
          <a:xfrm>
            <a:off x="3163824" y="2990088"/>
            <a:ext cx="71323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47" name="Text 45"/>
          <p:cNvSpPr/>
          <p:nvPr/>
        </p:nvSpPr>
        <p:spPr>
          <a:xfrm>
            <a:off x="3986784" y="2990088"/>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48" name="Text 46"/>
          <p:cNvSpPr/>
          <p:nvPr/>
        </p:nvSpPr>
        <p:spPr>
          <a:xfrm>
            <a:off x="4946904" y="2990088"/>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49" name="Text 47"/>
          <p:cNvSpPr/>
          <p:nvPr/>
        </p:nvSpPr>
        <p:spPr>
          <a:xfrm>
            <a:off x="5907024" y="2990088"/>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Med</a:t>
            </a:r>
            <a:endParaRPr lang="en-US" sz="950" dirty="0"/>
          </a:p>
        </p:txBody>
      </p:sp>
      <p:sp>
        <p:nvSpPr>
          <p:cNvPr id="50" name="Text 48"/>
          <p:cNvSpPr/>
          <p:nvPr/>
        </p:nvSpPr>
        <p:spPr>
          <a:xfrm>
            <a:off x="6775704" y="2990088"/>
            <a:ext cx="98755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51" name="Text 49"/>
          <p:cNvSpPr/>
          <p:nvPr/>
        </p:nvSpPr>
        <p:spPr>
          <a:xfrm>
            <a:off x="7872984" y="2990088"/>
            <a:ext cx="80467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52" name="Text 50"/>
          <p:cNvSpPr/>
          <p:nvPr/>
        </p:nvSpPr>
        <p:spPr>
          <a:xfrm>
            <a:off x="8787384" y="2990088"/>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53" name="Text 51"/>
          <p:cNvSpPr/>
          <p:nvPr/>
        </p:nvSpPr>
        <p:spPr>
          <a:xfrm>
            <a:off x="9884664" y="2990088"/>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$20</a:t>
            </a:r>
            <a:endParaRPr lang="en-US" sz="950" dirty="0"/>
          </a:p>
        </p:txBody>
      </p:sp>
      <p:sp>
        <p:nvSpPr>
          <p:cNvPr id="54" name="Shape 52"/>
          <p:cNvSpPr/>
          <p:nvPr/>
        </p:nvSpPr>
        <p:spPr>
          <a:xfrm>
            <a:off x="502920" y="3255264"/>
            <a:ext cx="10241280" cy="292608"/>
          </a:xfrm>
          <a:prstGeom prst="rect">
            <a:avLst/>
          </a:prstGeom>
          <a:solidFill>
            <a:srgbClr val="FFFFFF"/>
          </a:solidFill>
          <a:ln w="3175">
            <a:solidFill>
              <a:srgbClr val="F1F5F9"/>
            </a:solidFill>
            <a:prstDash val="solid"/>
          </a:ln>
        </p:spPr>
      </p:sp>
      <p:sp>
        <p:nvSpPr>
          <p:cNvPr id="55" name="Text 53"/>
          <p:cNvSpPr/>
          <p:nvPr/>
        </p:nvSpPr>
        <p:spPr>
          <a:xfrm>
            <a:off x="594360" y="3282696"/>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Replit Agent</a:t>
            </a:r>
            <a:endParaRPr lang="en-US" sz="950" dirty="0"/>
          </a:p>
        </p:txBody>
      </p:sp>
      <p:sp>
        <p:nvSpPr>
          <p:cNvPr id="56" name="Text 54"/>
          <p:cNvSpPr/>
          <p:nvPr/>
        </p:nvSpPr>
        <p:spPr>
          <a:xfrm>
            <a:off x="3163824" y="3282696"/>
            <a:ext cx="71323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57" name="Text 55"/>
          <p:cNvSpPr/>
          <p:nvPr/>
        </p:nvSpPr>
        <p:spPr>
          <a:xfrm>
            <a:off x="3986784" y="3282696"/>
            <a:ext cx="85039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58" name="Text 56"/>
          <p:cNvSpPr/>
          <p:nvPr/>
        </p:nvSpPr>
        <p:spPr>
          <a:xfrm>
            <a:off x="4946904" y="3282696"/>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59" name="Text 57"/>
          <p:cNvSpPr/>
          <p:nvPr/>
        </p:nvSpPr>
        <p:spPr>
          <a:xfrm>
            <a:off x="5907024" y="3282696"/>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Med</a:t>
            </a:r>
            <a:endParaRPr lang="en-US" sz="950" dirty="0"/>
          </a:p>
        </p:txBody>
      </p:sp>
      <p:sp>
        <p:nvSpPr>
          <p:cNvPr id="60" name="Text 58"/>
          <p:cNvSpPr/>
          <p:nvPr/>
        </p:nvSpPr>
        <p:spPr>
          <a:xfrm>
            <a:off x="6775704" y="3282696"/>
            <a:ext cx="98755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61" name="Text 59"/>
          <p:cNvSpPr/>
          <p:nvPr/>
        </p:nvSpPr>
        <p:spPr>
          <a:xfrm>
            <a:off x="7872984" y="3282696"/>
            <a:ext cx="80467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62" name="Text 60"/>
          <p:cNvSpPr/>
          <p:nvPr/>
        </p:nvSpPr>
        <p:spPr>
          <a:xfrm>
            <a:off x="8787384" y="3282696"/>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63" name="Text 61"/>
          <p:cNvSpPr/>
          <p:nvPr/>
        </p:nvSpPr>
        <p:spPr>
          <a:xfrm>
            <a:off x="9884664" y="3282696"/>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$25+</a:t>
            </a:r>
            <a:endParaRPr lang="en-US" sz="950" dirty="0"/>
          </a:p>
        </p:txBody>
      </p:sp>
      <p:sp>
        <p:nvSpPr>
          <p:cNvPr id="64" name="Shape 62"/>
          <p:cNvSpPr/>
          <p:nvPr/>
        </p:nvSpPr>
        <p:spPr>
          <a:xfrm>
            <a:off x="502920" y="3547872"/>
            <a:ext cx="10241280" cy="292608"/>
          </a:xfrm>
          <a:prstGeom prst="rect">
            <a:avLst/>
          </a:prstGeom>
          <a:solidFill>
            <a:srgbClr val="F6F5F1"/>
          </a:solidFill>
          <a:ln w="3175">
            <a:solidFill>
              <a:srgbClr val="F1F5F9"/>
            </a:solidFill>
            <a:prstDash val="solid"/>
          </a:ln>
        </p:spPr>
      </p:sp>
      <p:sp>
        <p:nvSpPr>
          <p:cNvPr id="65" name="Text 63"/>
          <p:cNvSpPr/>
          <p:nvPr/>
        </p:nvSpPr>
        <p:spPr>
          <a:xfrm>
            <a:off x="594360" y="3575304"/>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Pi App Studio</a:t>
            </a:r>
            <a:endParaRPr lang="en-US" sz="950" dirty="0"/>
          </a:p>
        </p:txBody>
      </p:sp>
      <p:sp>
        <p:nvSpPr>
          <p:cNvPr id="66" name="Text 64"/>
          <p:cNvSpPr/>
          <p:nvPr/>
        </p:nvSpPr>
        <p:spPr>
          <a:xfrm>
            <a:off x="3163824" y="3575304"/>
            <a:ext cx="71323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67" name="Text 65"/>
          <p:cNvSpPr/>
          <p:nvPr/>
        </p:nvSpPr>
        <p:spPr>
          <a:xfrm>
            <a:off x="3986784" y="3575304"/>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68" name="Text 66"/>
          <p:cNvSpPr/>
          <p:nvPr/>
        </p:nvSpPr>
        <p:spPr>
          <a:xfrm>
            <a:off x="4946904" y="3575304"/>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69" name="Text 67"/>
          <p:cNvSpPr/>
          <p:nvPr/>
        </p:nvSpPr>
        <p:spPr>
          <a:xfrm>
            <a:off x="5907024" y="3575304"/>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Med</a:t>
            </a:r>
            <a:endParaRPr lang="en-US" sz="950" dirty="0"/>
          </a:p>
        </p:txBody>
      </p:sp>
      <p:sp>
        <p:nvSpPr>
          <p:cNvPr id="70" name="Text 68"/>
          <p:cNvSpPr/>
          <p:nvPr/>
        </p:nvSpPr>
        <p:spPr>
          <a:xfrm>
            <a:off x="6775704" y="3575304"/>
            <a:ext cx="98755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71" name="Text 69"/>
          <p:cNvSpPr/>
          <p:nvPr/>
        </p:nvSpPr>
        <p:spPr>
          <a:xfrm>
            <a:off x="7872984" y="3575304"/>
            <a:ext cx="80467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72" name="Text 70"/>
          <p:cNvSpPr/>
          <p:nvPr/>
        </p:nvSpPr>
        <p:spPr>
          <a:xfrm>
            <a:off x="8787384" y="3575304"/>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73" name="Text 71"/>
          <p:cNvSpPr/>
          <p:nvPr/>
        </p:nvSpPr>
        <p:spPr>
          <a:xfrm>
            <a:off x="9884664" y="3575304"/>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$0+</a:t>
            </a:r>
            <a:endParaRPr lang="en-US" sz="950" dirty="0"/>
          </a:p>
        </p:txBody>
      </p:sp>
      <p:sp>
        <p:nvSpPr>
          <p:cNvPr id="74" name="Shape 72"/>
          <p:cNvSpPr/>
          <p:nvPr/>
        </p:nvSpPr>
        <p:spPr>
          <a:xfrm>
            <a:off x="502920" y="3840480"/>
            <a:ext cx="10241280" cy="292608"/>
          </a:xfrm>
          <a:prstGeom prst="rect">
            <a:avLst/>
          </a:prstGeom>
          <a:solidFill>
            <a:srgbClr val="FFFFFF"/>
          </a:solidFill>
          <a:ln w="3175">
            <a:solidFill>
              <a:srgbClr val="F1F5F9"/>
            </a:solidFill>
            <a:prstDash val="solid"/>
          </a:ln>
        </p:spPr>
      </p:sp>
      <p:sp>
        <p:nvSpPr>
          <p:cNvPr id="75" name="Text 73"/>
          <p:cNvSpPr/>
          <p:nvPr/>
        </p:nvSpPr>
        <p:spPr>
          <a:xfrm>
            <a:off x="594360" y="3867912"/>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Bubble</a:t>
            </a:r>
            <a:endParaRPr lang="en-US" sz="950" dirty="0"/>
          </a:p>
        </p:txBody>
      </p:sp>
      <p:sp>
        <p:nvSpPr>
          <p:cNvPr id="76" name="Text 74"/>
          <p:cNvSpPr/>
          <p:nvPr/>
        </p:nvSpPr>
        <p:spPr>
          <a:xfrm>
            <a:off x="3163824" y="3867912"/>
            <a:ext cx="71323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77" name="Text 75"/>
          <p:cNvSpPr/>
          <p:nvPr/>
        </p:nvSpPr>
        <p:spPr>
          <a:xfrm>
            <a:off x="3986784" y="3867912"/>
            <a:ext cx="85039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78" name="Text 76"/>
          <p:cNvSpPr/>
          <p:nvPr/>
        </p:nvSpPr>
        <p:spPr>
          <a:xfrm>
            <a:off x="4946904" y="3867912"/>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79" name="Text 77"/>
          <p:cNvSpPr/>
          <p:nvPr/>
        </p:nvSpPr>
        <p:spPr>
          <a:xfrm>
            <a:off x="5907024" y="3867912"/>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High</a:t>
            </a:r>
            <a:endParaRPr lang="en-US" sz="950" dirty="0"/>
          </a:p>
        </p:txBody>
      </p:sp>
      <p:sp>
        <p:nvSpPr>
          <p:cNvPr id="80" name="Text 78"/>
          <p:cNvSpPr/>
          <p:nvPr/>
        </p:nvSpPr>
        <p:spPr>
          <a:xfrm>
            <a:off x="6775704" y="3867912"/>
            <a:ext cx="98755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81" name="Text 79"/>
          <p:cNvSpPr/>
          <p:nvPr/>
        </p:nvSpPr>
        <p:spPr>
          <a:xfrm>
            <a:off x="7872984" y="3867912"/>
            <a:ext cx="80467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82" name="Text 80"/>
          <p:cNvSpPr/>
          <p:nvPr/>
        </p:nvSpPr>
        <p:spPr>
          <a:xfrm>
            <a:off x="8787384" y="3867912"/>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83" name="Text 81"/>
          <p:cNvSpPr/>
          <p:nvPr/>
        </p:nvSpPr>
        <p:spPr>
          <a:xfrm>
            <a:off x="9884664" y="3867912"/>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$39+</a:t>
            </a:r>
            <a:endParaRPr lang="en-US" sz="950" dirty="0"/>
          </a:p>
        </p:txBody>
      </p:sp>
      <p:sp>
        <p:nvSpPr>
          <p:cNvPr id="84" name="Shape 82"/>
          <p:cNvSpPr/>
          <p:nvPr/>
        </p:nvSpPr>
        <p:spPr>
          <a:xfrm>
            <a:off x="502920" y="4133088"/>
            <a:ext cx="10241280" cy="292608"/>
          </a:xfrm>
          <a:prstGeom prst="rect">
            <a:avLst/>
          </a:prstGeom>
          <a:solidFill>
            <a:srgbClr val="F6F5F1"/>
          </a:solidFill>
          <a:ln w="3175">
            <a:solidFill>
              <a:srgbClr val="F1F5F9"/>
            </a:solidFill>
            <a:prstDash val="solid"/>
          </a:ln>
        </p:spPr>
      </p:sp>
      <p:sp>
        <p:nvSpPr>
          <p:cNvPr id="85" name="Text 83"/>
          <p:cNvSpPr/>
          <p:nvPr/>
        </p:nvSpPr>
        <p:spPr>
          <a:xfrm>
            <a:off x="594360" y="4160520"/>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Vercel</a:t>
            </a:r>
            <a:endParaRPr lang="en-US" sz="950" dirty="0"/>
          </a:p>
        </p:txBody>
      </p:sp>
      <p:sp>
        <p:nvSpPr>
          <p:cNvPr id="86" name="Text 84"/>
          <p:cNvSpPr/>
          <p:nvPr/>
        </p:nvSpPr>
        <p:spPr>
          <a:xfrm>
            <a:off x="3163824" y="4160520"/>
            <a:ext cx="71323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87" name="Text 85"/>
          <p:cNvSpPr/>
          <p:nvPr/>
        </p:nvSpPr>
        <p:spPr>
          <a:xfrm>
            <a:off x="3986784" y="4160520"/>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88" name="Text 86"/>
          <p:cNvSpPr/>
          <p:nvPr/>
        </p:nvSpPr>
        <p:spPr>
          <a:xfrm>
            <a:off x="4946904" y="4160520"/>
            <a:ext cx="85039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89" name="Text 87"/>
          <p:cNvSpPr/>
          <p:nvPr/>
        </p:nvSpPr>
        <p:spPr>
          <a:xfrm>
            <a:off x="5907024" y="4160520"/>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£0</a:t>
            </a:r>
            <a:endParaRPr lang="en-US" sz="950" dirty="0"/>
          </a:p>
        </p:txBody>
      </p:sp>
      <p:sp>
        <p:nvSpPr>
          <p:cNvPr id="90" name="Text 88"/>
          <p:cNvSpPr/>
          <p:nvPr/>
        </p:nvSpPr>
        <p:spPr>
          <a:xfrm>
            <a:off x="6775704" y="4160520"/>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91" name="Text 89"/>
          <p:cNvSpPr/>
          <p:nvPr/>
        </p:nvSpPr>
        <p:spPr>
          <a:xfrm>
            <a:off x="7872984" y="4160520"/>
            <a:ext cx="80467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92" name="Text 90"/>
          <p:cNvSpPr/>
          <p:nvPr/>
        </p:nvSpPr>
        <p:spPr>
          <a:xfrm>
            <a:off x="8787384" y="4160520"/>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93" name="Text 91"/>
          <p:cNvSpPr/>
          <p:nvPr/>
        </p:nvSpPr>
        <p:spPr>
          <a:xfrm>
            <a:off x="9884664" y="4160520"/>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£0+</a:t>
            </a:r>
            <a:endParaRPr lang="en-US" sz="950" dirty="0"/>
          </a:p>
        </p:txBody>
      </p:sp>
      <p:sp>
        <p:nvSpPr>
          <p:cNvPr id="94" name="Shape 92"/>
          <p:cNvSpPr/>
          <p:nvPr/>
        </p:nvSpPr>
        <p:spPr>
          <a:xfrm>
            <a:off x="502920" y="4425696"/>
            <a:ext cx="10241280" cy="292608"/>
          </a:xfrm>
          <a:prstGeom prst="rect">
            <a:avLst/>
          </a:prstGeom>
          <a:solidFill>
            <a:srgbClr val="FFFFFF"/>
          </a:solidFill>
          <a:ln w="3175">
            <a:solidFill>
              <a:srgbClr val="F1F5F9"/>
            </a:solidFill>
            <a:prstDash val="solid"/>
          </a:ln>
        </p:spPr>
      </p:sp>
      <p:sp>
        <p:nvSpPr>
          <p:cNvPr id="95" name="Text 93"/>
          <p:cNvSpPr/>
          <p:nvPr/>
        </p:nvSpPr>
        <p:spPr>
          <a:xfrm>
            <a:off x="594360" y="4453128"/>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Render / Railway</a:t>
            </a:r>
            <a:endParaRPr lang="en-US" sz="950" dirty="0"/>
          </a:p>
        </p:txBody>
      </p:sp>
      <p:sp>
        <p:nvSpPr>
          <p:cNvPr id="96" name="Text 94"/>
          <p:cNvSpPr/>
          <p:nvPr/>
        </p:nvSpPr>
        <p:spPr>
          <a:xfrm>
            <a:off x="3163824" y="4453128"/>
            <a:ext cx="71323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97" name="Text 95"/>
          <p:cNvSpPr/>
          <p:nvPr/>
        </p:nvSpPr>
        <p:spPr>
          <a:xfrm>
            <a:off x="3986784" y="4453128"/>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98" name="Text 96"/>
          <p:cNvSpPr/>
          <p:nvPr/>
        </p:nvSpPr>
        <p:spPr>
          <a:xfrm>
            <a:off x="4946904" y="4453128"/>
            <a:ext cx="85039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99" name="Text 97"/>
          <p:cNvSpPr/>
          <p:nvPr/>
        </p:nvSpPr>
        <p:spPr>
          <a:xfrm>
            <a:off x="5907024" y="4453128"/>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£0</a:t>
            </a:r>
            <a:endParaRPr lang="en-US" sz="950" dirty="0"/>
          </a:p>
        </p:txBody>
      </p:sp>
      <p:sp>
        <p:nvSpPr>
          <p:cNvPr id="100" name="Text 98"/>
          <p:cNvSpPr/>
          <p:nvPr/>
        </p:nvSpPr>
        <p:spPr>
          <a:xfrm>
            <a:off x="6775704" y="4453128"/>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01" name="Text 99"/>
          <p:cNvSpPr/>
          <p:nvPr/>
        </p:nvSpPr>
        <p:spPr>
          <a:xfrm>
            <a:off x="7872984" y="4453128"/>
            <a:ext cx="80467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02" name="Text 100"/>
          <p:cNvSpPr/>
          <p:nvPr/>
        </p:nvSpPr>
        <p:spPr>
          <a:xfrm>
            <a:off x="8787384" y="4453128"/>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03" name="Text 101"/>
          <p:cNvSpPr/>
          <p:nvPr/>
        </p:nvSpPr>
        <p:spPr>
          <a:xfrm>
            <a:off x="9884664" y="4453128"/>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£5+</a:t>
            </a:r>
            <a:endParaRPr lang="en-US" sz="950" dirty="0"/>
          </a:p>
        </p:txBody>
      </p:sp>
      <p:sp>
        <p:nvSpPr>
          <p:cNvPr id="104" name="Shape 102"/>
          <p:cNvSpPr/>
          <p:nvPr/>
        </p:nvSpPr>
        <p:spPr>
          <a:xfrm>
            <a:off x="502920" y="4718304"/>
            <a:ext cx="10241280" cy="292608"/>
          </a:xfrm>
          <a:prstGeom prst="rect">
            <a:avLst/>
          </a:prstGeom>
          <a:solidFill>
            <a:srgbClr val="F6F5F1"/>
          </a:solidFill>
          <a:ln w="3175">
            <a:solidFill>
              <a:srgbClr val="F1F5F9"/>
            </a:solidFill>
            <a:prstDash val="solid"/>
          </a:ln>
        </p:spPr>
      </p:sp>
      <p:sp>
        <p:nvSpPr>
          <p:cNvPr id="105" name="Text 103"/>
          <p:cNvSpPr/>
          <p:nvPr/>
        </p:nvSpPr>
        <p:spPr>
          <a:xfrm>
            <a:off x="594360" y="4745736"/>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Fly.io</a:t>
            </a:r>
            <a:endParaRPr lang="en-US" sz="950" dirty="0"/>
          </a:p>
        </p:txBody>
      </p:sp>
      <p:sp>
        <p:nvSpPr>
          <p:cNvPr id="106" name="Text 104"/>
          <p:cNvSpPr/>
          <p:nvPr/>
        </p:nvSpPr>
        <p:spPr>
          <a:xfrm>
            <a:off x="3163824" y="4745736"/>
            <a:ext cx="71323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107" name="Text 105"/>
          <p:cNvSpPr/>
          <p:nvPr/>
        </p:nvSpPr>
        <p:spPr>
          <a:xfrm>
            <a:off x="3986784" y="4745736"/>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08" name="Text 106"/>
          <p:cNvSpPr/>
          <p:nvPr/>
        </p:nvSpPr>
        <p:spPr>
          <a:xfrm>
            <a:off x="4946904" y="4745736"/>
            <a:ext cx="85039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109" name="Text 107"/>
          <p:cNvSpPr/>
          <p:nvPr/>
        </p:nvSpPr>
        <p:spPr>
          <a:xfrm>
            <a:off x="5907024" y="4745736"/>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£0</a:t>
            </a:r>
            <a:endParaRPr lang="en-US" sz="950" dirty="0"/>
          </a:p>
        </p:txBody>
      </p:sp>
      <p:sp>
        <p:nvSpPr>
          <p:cNvPr id="110" name="Text 108"/>
          <p:cNvSpPr/>
          <p:nvPr/>
        </p:nvSpPr>
        <p:spPr>
          <a:xfrm>
            <a:off x="6775704" y="4745736"/>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11" name="Text 109"/>
          <p:cNvSpPr/>
          <p:nvPr/>
        </p:nvSpPr>
        <p:spPr>
          <a:xfrm>
            <a:off x="7872984" y="4745736"/>
            <a:ext cx="80467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12" name="Text 110"/>
          <p:cNvSpPr/>
          <p:nvPr/>
        </p:nvSpPr>
        <p:spPr>
          <a:xfrm>
            <a:off x="8787384" y="4745736"/>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13" name="Text 111"/>
          <p:cNvSpPr/>
          <p:nvPr/>
        </p:nvSpPr>
        <p:spPr>
          <a:xfrm>
            <a:off x="9884664" y="4745736"/>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£0+</a:t>
            </a:r>
            <a:endParaRPr lang="en-US" sz="950" dirty="0"/>
          </a:p>
        </p:txBody>
      </p:sp>
      <p:sp>
        <p:nvSpPr>
          <p:cNvPr id="114" name="Shape 112"/>
          <p:cNvSpPr/>
          <p:nvPr/>
        </p:nvSpPr>
        <p:spPr>
          <a:xfrm>
            <a:off x="502920" y="5010912"/>
            <a:ext cx="10241280" cy="292608"/>
          </a:xfrm>
          <a:prstGeom prst="rect">
            <a:avLst/>
          </a:prstGeom>
          <a:solidFill>
            <a:srgbClr val="FFFFFF"/>
          </a:solidFill>
          <a:ln w="3175">
            <a:solidFill>
              <a:srgbClr val="F1F5F9"/>
            </a:solidFill>
            <a:prstDash val="solid"/>
          </a:ln>
        </p:spPr>
      </p:sp>
      <p:sp>
        <p:nvSpPr>
          <p:cNvPr id="115" name="Text 113"/>
          <p:cNvSpPr/>
          <p:nvPr/>
        </p:nvSpPr>
        <p:spPr>
          <a:xfrm>
            <a:off x="594360" y="5038344"/>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Heroku</a:t>
            </a:r>
            <a:endParaRPr lang="en-US" sz="950" dirty="0"/>
          </a:p>
        </p:txBody>
      </p:sp>
      <p:sp>
        <p:nvSpPr>
          <p:cNvPr id="116" name="Text 114"/>
          <p:cNvSpPr/>
          <p:nvPr/>
        </p:nvSpPr>
        <p:spPr>
          <a:xfrm>
            <a:off x="3163824" y="5038344"/>
            <a:ext cx="71323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117" name="Text 115"/>
          <p:cNvSpPr/>
          <p:nvPr/>
        </p:nvSpPr>
        <p:spPr>
          <a:xfrm>
            <a:off x="3986784" y="5038344"/>
            <a:ext cx="85039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18" name="Text 116"/>
          <p:cNvSpPr/>
          <p:nvPr/>
        </p:nvSpPr>
        <p:spPr>
          <a:xfrm>
            <a:off x="4946904" y="5038344"/>
            <a:ext cx="85039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119" name="Text 117"/>
          <p:cNvSpPr/>
          <p:nvPr/>
        </p:nvSpPr>
        <p:spPr>
          <a:xfrm>
            <a:off x="5907024" y="5038344"/>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£0</a:t>
            </a:r>
            <a:endParaRPr lang="en-US" sz="950" dirty="0"/>
          </a:p>
        </p:txBody>
      </p:sp>
      <p:sp>
        <p:nvSpPr>
          <p:cNvPr id="120" name="Text 118"/>
          <p:cNvSpPr/>
          <p:nvPr/>
        </p:nvSpPr>
        <p:spPr>
          <a:xfrm>
            <a:off x="6775704" y="5038344"/>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21" name="Text 119"/>
          <p:cNvSpPr/>
          <p:nvPr/>
        </p:nvSpPr>
        <p:spPr>
          <a:xfrm>
            <a:off x="7872984" y="5038344"/>
            <a:ext cx="80467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22" name="Text 120"/>
          <p:cNvSpPr/>
          <p:nvPr/>
        </p:nvSpPr>
        <p:spPr>
          <a:xfrm>
            <a:off x="8787384" y="5038344"/>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23" name="Text 121"/>
          <p:cNvSpPr/>
          <p:nvPr/>
        </p:nvSpPr>
        <p:spPr>
          <a:xfrm>
            <a:off x="9884664" y="5038344"/>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$5+</a:t>
            </a:r>
            <a:endParaRPr lang="en-US" sz="950" dirty="0"/>
          </a:p>
        </p:txBody>
      </p:sp>
      <p:sp>
        <p:nvSpPr>
          <p:cNvPr id="124" name="Shape 122"/>
          <p:cNvSpPr/>
          <p:nvPr/>
        </p:nvSpPr>
        <p:spPr>
          <a:xfrm>
            <a:off x="502920" y="5303520"/>
            <a:ext cx="10241280" cy="292608"/>
          </a:xfrm>
          <a:prstGeom prst="rect">
            <a:avLst/>
          </a:prstGeom>
          <a:solidFill>
            <a:srgbClr val="F6F5F1"/>
          </a:solidFill>
          <a:ln w="3175">
            <a:solidFill>
              <a:srgbClr val="F1F5F9"/>
            </a:solidFill>
            <a:prstDash val="solid"/>
          </a:ln>
        </p:spPr>
      </p:sp>
      <p:sp>
        <p:nvSpPr>
          <p:cNvPr id="125" name="Text 123"/>
          <p:cNvSpPr/>
          <p:nvPr/>
        </p:nvSpPr>
        <p:spPr>
          <a:xfrm>
            <a:off x="594360" y="5330952"/>
            <a:ext cx="2423160" cy="237744"/>
          </a:xfrm>
          <a:prstGeom prst="rect">
            <a:avLst/>
          </a:prstGeom>
          <a:noFill/>
          <a:ln/>
        </p:spPr>
        <p:txBody>
          <a:bodyPr wrap="square" rtlCol="0" anchor="ctr"/>
          <a:lstStyle/>
          <a:p>
            <a:pPr indent="0" marL="0">
              <a:buNone/>
            </a:pPr>
            <a:r>
              <a:rPr lang="en-US" sz="950" dirty="0">
                <a:solidFill>
                  <a:srgbClr val="0F172A"/>
                </a:solidFill>
                <a:latin typeface="DM Sans" pitchFamily="34" charset="0"/>
                <a:ea typeface="DM Sans" pitchFamily="34" charset="-122"/>
                <a:cs typeface="DM Sans" pitchFamily="34" charset="-120"/>
              </a:rPr>
              <a:t>Supabase (self-host)</a:t>
            </a:r>
            <a:endParaRPr lang="en-US" sz="950" dirty="0"/>
          </a:p>
        </p:txBody>
      </p:sp>
      <p:sp>
        <p:nvSpPr>
          <p:cNvPr id="126" name="Text 124"/>
          <p:cNvSpPr/>
          <p:nvPr/>
        </p:nvSpPr>
        <p:spPr>
          <a:xfrm>
            <a:off x="3163824" y="5330952"/>
            <a:ext cx="71323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127" name="Text 125"/>
          <p:cNvSpPr/>
          <p:nvPr/>
        </p:nvSpPr>
        <p:spPr>
          <a:xfrm>
            <a:off x="3986784" y="5330952"/>
            <a:ext cx="850392" cy="237744"/>
          </a:xfrm>
          <a:prstGeom prst="rect">
            <a:avLst/>
          </a:prstGeom>
          <a:noFill/>
          <a:ln/>
        </p:spPr>
        <p:txBody>
          <a:bodyPr wrap="square" rtlCol="0" anchor="ctr"/>
          <a:lstStyle/>
          <a:p>
            <a:pPr algn="ctr" indent="0" marL="0">
              <a:buNone/>
            </a:pPr>
            <a:r>
              <a:rPr lang="en-US" sz="950" dirty="0">
                <a:solidFill>
                  <a:srgbClr val="B45309"/>
                </a:solidFill>
                <a:latin typeface="DM Sans" pitchFamily="34" charset="0"/>
                <a:ea typeface="DM Sans" pitchFamily="34" charset="-122"/>
                <a:cs typeface="DM Sans" pitchFamily="34" charset="-120"/>
              </a:rPr>
              <a:t>~</a:t>
            </a:r>
            <a:endParaRPr lang="en-US" sz="950" dirty="0"/>
          </a:p>
        </p:txBody>
      </p:sp>
      <p:sp>
        <p:nvSpPr>
          <p:cNvPr id="128" name="Text 126"/>
          <p:cNvSpPr/>
          <p:nvPr/>
        </p:nvSpPr>
        <p:spPr>
          <a:xfrm>
            <a:off x="4946904" y="5330952"/>
            <a:ext cx="850392" cy="237744"/>
          </a:xfrm>
          <a:prstGeom prst="rect">
            <a:avLst/>
          </a:prstGeom>
          <a:noFill/>
          <a:ln/>
        </p:spPr>
        <p:txBody>
          <a:bodyPr wrap="square" rtlCol="0" anchor="ctr"/>
          <a:lstStyle/>
          <a:p>
            <a:pPr algn="ctr" indent="0" marL="0">
              <a:buNone/>
            </a:pPr>
            <a:r>
              <a:rPr lang="en-US" sz="950" b="1" dirty="0">
                <a:solidFill>
                  <a:srgbClr val="3730A3"/>
                </a:solidFill>
                <a:latin typeface="DM Sans" pitchFamily="34" charset="0"/>
                <a:ea typeface="DM Sans" pitchFamily="34" charset="-122"/>
                <a:cs typeface="DM Sans" pitchFamily="34" charset="-120"/>
              </a:rPr>
              <a:t>✓</a:t>
            </a:r>
            <a:endParaRPr lang="en-US" sz="950" dirty="0"/>
          </a:p>
        </p:txBody>
      </p:sp>
      <p:sp>
        <p:nvSpPr>
          <p:cNvPr id="129" name="Text 127"/>
          <p:cNvSpPr/>
          <p:nvPr/>
        </p:nvSpPr>
        <p:spPr>
          <a:xfrm>
            <a:off x="5907024" y="5330952"/>
            <a:ext cx="75895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£0</a:t>
            </a:r>
            <a:endParaRPr lang="en-US" sz="950" dirty="0"/>
          </a:p>
        </p:txBody>
      </p:sp>
      <p:sp>
        <p:nvSpPr>
          <p:cNvPr id="130" name="Text 128"/>
          <p:cNvSpPr/>
          <p:nvPr/>
        </p:nvSpPr>
        <p:spPr>
          <a:xfrm>
            <a:off x="6775704" y="5330952"/>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31" name="Text 129"/>
          <p:cNvSpPr/>
          <p:nvPr/>
        </p:nvSpPr>
        <p:spPr>
          <a:xfrm>
            <a:off x="7872984" y="5330952"/>
            <a:ext cx="80467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32" name="Text 130"/>
          <p:cNvSpPr/>
          <p:nvPr/>
        </p:nvSpPr>
        <p:spPr>
          <a:xfrm>
            <a:off x="8787384" y="5330952"/>
            <a:ext cx="987552" cy="237744"/>
          </a:xfrm>
          <a:prstGeom prst="rect">
            <a:avLst/>
          </a:prstGeom>
          <a:noFill/>
          <a:ln/>
        </p:spPr>
        <p:txBody>
          <a:bodyPr wrap="square" rtlCol="0" anchor="ctr"/>
          <a:lstStyle/>
          <a:p>
            <a:pPr algn="ctr" indent="0" marL="0">
              <a:buNone/>
            </a:pPr>
            <a:r>
              <a:rPr lang="en-US" sz="950" b="1" dirty="0">
                <a:solidFill>
                  <a:srgbClr val="94A3B8"/>
                </a:solidFill>
                <a:latin typeface="DM Sans" pitchFamily="34" charset="0"/>
                <a:ea typeface="DM Sans" pitchFamily="34" charset="-122"/>
                <a:cs typeface="DM Sans" pitchFamily="34" charset="-120"/>
              </a:rPr>
              <a:t>—</a:t>
            </a:r>
            <a:endParaRPr lang="en-US" sz="950" dirty="0"/>
          </a:p>
        </p:txBody>
      </p:sp>
      <p:sp>
        <p:nvSpPr>
          <p:cNvPr id="133" name="Text 131"/>
          <p:cNvSpPr/>
          <p:nvPr/>
        </p:nvSpPr>
        <p:spPr>
          <a:xfrm>
            <a:off x="9884664" y="5330952"/>
            <a:ext cx="804672" cy="237744"/>
          </a:xfrm>
          <a:prstGeom prst="rect">
            <a:avLst/>
          </a:prstGeom>
          <a:noFill/>
          <a:ln/>
        </p:spPr>
        <p:txBody>
          <a:bodyPr wrap="square" rtlCol="0" anchor="ctr"/>
          <a:lstStyle/>
          <a:p>
            <a:pPr algn="ctr" indent="0" marL="0">
              <a:buNone/>
            </a:pPr>
            <a:r>
              <a:rPr lang="en-US" sz="950" dirty="0">
                <a:solidFill>
                  <a:srgbClr val="334155"/>
                </a:solidFill>
                <a:latin typeface="DM Sans" pitchFamily="34" charset="0"/>
                <a:ea typeface="DM Sans" pitchFamily="34" charset="-122"/>
                <a:cs typeface="DM Sans" pitchFamily="34" charset="-120"/>
              </a:rPr>
              <a:t>$25+</a:t>
            </a:r>
            <a:endParaRPr lang="en-US" sz="950" dirty="0"/>
          </a:p>
        </p:txBody>
      </p:sp>
      <p:sp>
        <p:nvSpPr>
          <p:cNvPr id="134" name="Text 132"/>
          <p:cNvSpPr/>
          <p:nvPr/>
        </p:nvSpPr>
        <p:spPr>
          <a:xfrm>
            <a:off x="502920" y="5705856"/>
            <a:ext cx="10972800" cy="201168"/>
          </a:xfrm>
          <a:prstGeom prst="rect">
            <a:avLst/>
          </a:prstGeom>
          <a:noFill/>
          <a:ln/>
        </p:spPr>
        <p:txBody>
          <a:bodyPr wrap="square" rtlCol="0" anchor="ctr"/>
          <a:lstStyle/>
          <a:p>
            <a:pPr indent="0" marL="0">
              <a:buNone/>
            </a:pPr>
            <a:r>
              <a:rPr lang="en-US" sz="900" b="1" dirty="0">
                <a:solidFill>
                  <a:srgbClr val="3730A3"/>
                </a:solidFill>
                <a:latin typeface="DM Sans" pitchFamily="34" charset="0"/>
                <a:ea typeface="DM Sans" pitchFamily="34" charset="-122"/>
                <a:cs typeface="DM Sans" pitchFamily="34" charset="-120"/>
              </a:rPr>
              <a:t>✓ </a:t>
            </a:r>
            <a:pPr indent="0" marL="0">
              <a:buNone/>
            </a:pPr>
            <a:r>
              <a:rPr lang="en-US" sz="900" dirty="0">
                <a:solidFill>
                  <a:srgbClr val="64748B"/>
                </a:solidFill>
                <a:latin typeface="DM Sans" pitchFamily="34" charset="0"/>
                <a:ea typeface="DM Sans" pitchFamily="34" charset="-122"/>
                <a:cs typeface="DM Sans" pitchFamily="34" charset="-120"/>
              </a:rPr>
              <a:t>full      </a:t>
            </a:r>
            <a:pPr indent="0" marL="0">
              <a:buNone/>
            </a:pPr>
            <a:r>
              <a:rPr lang="en-US" sz="900" b="1" dirty="0">
                <a:solidFill>
                  <a:srgbClr val="B45309"/>
                </a:solidFill>
                <a:latin typeface="DM Sans" pitchFamily="34" charset="0"/>
                <a:ea typeface="DM Sans" pitchFamily="34" charset="-122"/>
                <a:cs typeface="DM Sans" pitchFamily="34" charset="-120"/>
              </a:rPr>
              <a:t>~ </a:t>
            </a:r>
            <a:pPr indent="0" marL="0">
              <a:buNone/>
            </a:pPr>
            <a:r>
              <a:rPr lang="en-US" sz="900" dirty="0">
                <a:solidFill>
                  <a:srgbClr val="64748B"/>
                </a:solidFill>
                <a:latin typeface="DM Sans" pitchFamily="34" charset="0"/>
                <a:ea typeface="DM Sans" pitchFamily="34" charset="-122"/>
                <a:cs typeface="DM Sans" pitchFamily="34" charset="-120"/>
              </a:rPr>
              <a:t>partial      </a:t>
            </a:r>
            <a:pPr indent="0" marL="0">
              <a:buNone/>
            </a:pPr>
            <a:r>
              <a:rPr lang="en-US" sz="900" b="1" dirty="0">
                <a:solidFill>
                  <a:srgbClr val="94A3B8"/>
                </a:solidFill>
                <a:latin typeface="DM Sans" pitchFamily="34" charset="0"/>
                <a:ea typeface="DM Sans" pitchFamily="34" charset="-122"/>
                <a:cs typeface="DM Sans" pitchFamily="34" charset="-120"/>
              </a:rPr>
              <a:t>— </a:t>
            </a:r>
            <a:pPr indent="0" marL="0">
              <a:buNone/>
            </a:pPr>
            <a:r>
              <a:rPr lang="en-US" sz="900" dirty="0">
                <a:solidFill>
                  <a:srgbClr val="64748B"/>
                </a:solidFill>
                <a:latin typeface="DM Sans" pitchFamily="34" charset="0"/>
                <a:ea typeface="DM Sans" pitchFamily="34" charset="-122"/>
                <a:cs typeface="DM Sans" pitchFamily="34" charset="-120"/>
              </a:rPr>
              <a:t>not supported</a:t>
            </a:r>
            <a:endParaRPr lang="en-US" sz="900" dirty="0"/>
          </a:p>
        </p:txBody>
      </p:sp>
      <p:sp>
        <p:nvSpPr>
          <p:cNvPr id="135" name="Text 133"/>
          <p:cNvSpPr/>
          <p:nvPr/>
        </p:nvSpPr>
        <p:spPr>
          <a:xfrm>
            <a:off x="502920" y="5961888"/>
            <a:ext cx="11155680" cy="384048"/>
          </a:xfrm>
          <a:prstGeom prst="rect">
            <a:avLst/>
          </a:prstGeom>
          <a:noFill/>
          <a:ln/>
        </p:spPr>
        <p:txBody>
          <a:bodyPr wrap="square" rtlCol="0" anchor="ctr"/>
          <a:lstStyle/>
          <a:p>
            <a:pPr indent="0" marL="0">
              <a:lnSpc>
                <a:spcPct val="130000"/>
              </a:lnSpc>
              <a:buNone/>
            </a:pPr>
            <a:r>
              <a:rPr lang="en-US" sz="950" i="1" dirty="0">
                <a:solidFill>
                  <a:srgbClr val="334155"/>
                </a:solidFill>
                <a:latin typeface="DM Sans" pitchFamily="34" charset="0"/>
                <a:ea typeface="DM Sans" pitchFamily="34" charset="-122"/>
                <a:cs typeface="DM Sans" pitchFamily="34" charset="-120"/>
              </a:rPr>
              <a:t>Headline: AI builders (top half) own chat-to-prototype but lock you into their runtime. Infra players (bottom half) deploy code but leave plumbing for you. Hatchik sits where both groups stop.</a:t>
            </a:r>
            <a:endParaRPr lang="en-US" sz="950" dirty="0"/>
          </a:p>
        </p:txBody>
      </p:sp>
      <p:sp>
        <p:nvSpPr>
          <p:cNvPr id="136" name="Text 134"/>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137" name="Text 135"/>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22  ·  APPENDIX  ·  AI-LAB DISRUPTION RISK</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What if Anthropic / OpenAI / Cursor ship their own stack?</a:t>
            </a:r>
            <a:endParaRPr lang="en-US" sz="3000" dirty="0"/>
          </a:p>
        </p:txBody>
      </p:sp>
      <p:sp>
        <p:nvSpPr>
          <p:cNvPr id="4" name="Text 2"/>
          <p:cNvSpPr/>
          <p:nvPr/>
        </p:nvSpPr>
        <p:spPr>
          <a:xfrm>
            <a:off x="502920" y="1417320"/>
            <a:ext cx="11155680" cy="640080"/>
          </a:xfrm>
          <a:prstGeom prst="rect">
            <a:avLst/>
          </a:prstGeom>
          <a:noFill/>
          <a:ln/>
        </p:spPr>
        <p:txBody>
          <a:bodyPr wrap="square" rtlCol="0" anchor="ctr"/>
          <a:lstStyle/>
          <a:p>
            <a:pPr indent="0" marL="0">
              <a:buNone/>
            </a:pPr>
            <a:r>
              <a:rPr lang="en-US" sz="1400" dirty="0">
                <a:solidFill>
                  <a:srgbClr val="334155"/>
                </a:solidFill>
                <a:latin typeface="DM Sans" pitchFamily="34" charset="0"/>
                <a:ea typeface="DM Sans" pitchFamily="34" charset="-122"/>
                <a:cs typeface="DM Sans" pitchFamily="34" charset="-120"/>
              </a:rPr>
              <a:t>The biggest single risk to Hatchik. Mapped honestly: who could ship it, when, what we lose, and how we defend.</a:t>
            </a:r>
            <a:endParaRPr lang="en-US" sz="1400" dirty="0"/>
          </a:p>
        </p:txBody>
      </p:sp>
      <p:sp>
        <p:nvSpPr>
          <p:cNvPr id="5" name="Shape 3"/>
          <p:cNvSpPr/>
          <p:nvPr/>
        </p:nvSpPr>
        <p:spPr>
          <a:xfrm>
            <a:off x="502920" y="2194560"/>
            <a:ext cx="3611880" cy="2011680"/>
          </a:xfrm>
          <a:prstGeom prst="roundRect">
            <a:avLst>
              <a:gd name="adj" fmla="val 3636"/>
            </a:avLst>
          </a:prstGeom>
          <a:solidFill>
            <a:srgbClr val="FEF2F2"/>
          </a:solidFill>
          <a:ln w="9525">
            <a:solidFill>
              <a:srgbClr val="FCA5A5"/>
            </a:solidFill>
            <a:prstDash val="solid"/>
          </a:ln>
        </p:spPr>
      </p:sp>
      <p:sp>
        <p:nvSpPr>
          <p:cNvPr id="6" name="Text 4"/>
          <p:cNvSpPr/>
          <p:nvPr/>
        </p:nvSpPr>
        <p:spPr>
          <a:xfrm>
            <a:off x="777240" y="2377440"/>
            <a:ext cx="3154680" cy="320040"/>
          </a:xfrm>
          <a:prstGeom prst="rect">
            <a:avLst/>
          </a:prstGeom>
          <a:noFill/>
          <a:ln/>
        </p:spPr>
        <p:txBody>
          <a:bodyPr wrap="square" rtlCol="0" anchor="ctr"/>
          <a:lstStyle/>
          <a:p>
            <a:pPr indent="0" marL="0">
              <a:buNone/>
            </a:pPr>
            <a:r>
              <a:rPr lang="en-US" sz="1400" b="1" dirty="0">
                <a:solidFill>
                  <a:srgbClr val="991B1B"/>
                </a:solidFill>
                <a:latin typeface="DM Sans" pitchFamily="34" charset="0"/>
                <a:ea typeface="DM Sans" pitchFamily="34" charset="-122"/>
                <a:cs typeface="DM Sans" pitchFamily="34" charset="-120"/>
              </a:rPr>
              <a:t>Anthropic</a:t>
            </a:r>
            <a:endParaRPr lang="en-US" sz="1400" dirty="0"/>
          </a:p>
        </p:txBody>
      </p:sp>
      <p:sp>
        <p:nvSpPr>
          <p:cNvPr id="7" name="Text 5"/>
          <p:cNvSpPr/>
          <p:nvPr/>
        </p:nvSpPr>
        <p:spPr>
          <a:xfrm>
            <a:off x="777240" y="2743200"/>
            <a:ext cx="3246120" cy="228600"/>
          </a:xfrm>
          <a:prstGeom prst="rect">
            <a:avLst/>
          </a:prstGeom>
          <a:noFill/>
          <a:ln/>
        </p:spPr>
        <p:txBody>
          <a:bodyPr wrap="square" rtlCol="0" anchor="ctr"/>
          <a:lstStyle/>
          <a:p>
            <a:pPr indent="0" marL="0">
              <a:buNone/>
            </a:pPr>
            <a:r>
              <a:rPr lang="en-US" sz="800" spc="100" kern="0" dirty="0">
                <a:solidFill>
                  <a:srgbClr val="64748B"/>
                </a:solidFill>
                <a:latin typeface="JetBrains Mono" pitchFamily="34" charset="0"/>
                <a:ea typeface="JetBrains Mono" pitchFamily="34" charset="-122"/>
                <a:cs typeface="JetBrains Mono" pitchFamily="34" charset="-120"/>
              </a:rPr>
              <a:t>Likelihood </a:t>
            </a:r>
            <a:pPr indent="0" marL="0">
              <a:buNone/>
            </a:pPr>
            <a:r>
              <a:rPr lang="en-US" sz="800" b="1" spc="100" kern="0" dirty="0">
                <a:solidFill>
                  <a:srgbClr val="991B1B"/>
                </a:solidFill>
                <a:latin typeface="JetBrains Mono" pitchFamily="34" charset="0"/>
                <a:ea typeface="JetBrains Mono" pitchFamily="34" charset="-122"/>
                <a:cs typeface="JetBrains Mono" pitchFamily="34" charset="-120"/>
              </a:rPr>
              <a:t>Medium</a:t>
            </a:r>
            <a:pPr indent="0" marL="0">
              <a:buNone/>
            </a:pPr>
            <a:r>
              <a:rPr lang="en-US" sz="800" spc="100" kern="0" dirty="0">
                <a:solidFill>
                  <a:srgbClr val="64748B"/>
                </a:solidFill>
                <a:latin typeface="JetBrains Mono" pitchFamily="34" charset="0"/>
                <a:ea typeface="JetBrains Mono" pitchFamily="34" charset="-122"/>
                <a:cs typeface="JetBrains Mono" pitchFamily="34" charset="-120"/>
              </a:rPr>
              <a:t>   Timing </a:t>
            </a:r>
            <a:pPr indent="0" marL="0">
              <a:buNone/>
            </a:pPr>
            <a:r>
              <a:rPr lang="en-US" sz="800" b="1" spc="100" kern="0" dirty="0">
                <a:solidFill>
                  <a:srgbClr val="991B1B"/>
                </a:solidFill>
                <a:latin typeface="JetBrains Mono" pitchFamily="34" charset="0"/>
                <a:ea typeface="JetBrains Mono" pitchFamily="34" charset="-122"/>
                <a:cs typeface="JetBrains Mono" pitchFamily="34" charset="-120"/>
              </a:rPr>
              <a:t>6-18 months</a:t>
            </a:r>
            <a:endParaRPr lang="en-US" sz="800" dirty="0"/>
          </a:p>
        </p:txBody>
      </p:sp>
      <p:sp>
        <p:nvSpPr>
          <p:cNvPr id="8" name="Text 6"/>
          <p:cNvSpPr/>
          <p:nvPr/>
        </p:nvSpPr>
        <p:spPr>
          <a:xfrm>
            <a:off x="777240" y="3017520"/>
            <a:ext cx="3154680" cy="594360"/>
          </a:xfrm>
          <a:prstGeom prst="rect">
            <a:avLst/>
          </a:prstGeom>
          <a:noFill/>
          <a:ln/>
        </p:spPr>
        <p:txBody>
          <a:bodyPr wrap="square" rtlCol="0" anchor="ctr"/>
          <a:lstStyle/>
          <a:p>
            <a:pPr indent="0" marL="0">
              <a:lnSpc>
                <a:spcPct val="135000"/>
              </a:lnSpc>
              <a:buNone/>
            </a:pPr>
            <a:r>
              <a:rPr lang="en-US" sz="1100" b="1" dirty="0">
                <a:solidFill>
                  <a:srgbClr val="0F172A"/>
                </a:solidFill>
                <a:latin typeface="DM Sans" pitchFamily="34" charset="0"/>
                <a:ea typeface="DM Sans" pitchFamily="34" charset="-122"/>
                <a:cs typeface="DM Sans" pitchFamily="34" charset="-120"/>
              </a:rPr>
              <a:t>"Claude Code Cloud" — managed deployment for Claude Code projects</a:t>
            </a:r>
            <a:endParaRPr lang="en-US" sz="1100" dirty="0"/>
          </a:p>
        </p:txBody>
      </p:sp>
      <p:sp>
        <p:nvSpPr>
          <p:cNvPr id="9" name="Text 7"/>
          <p:cNvSpPr/>
          <p:nvPr/>
        </p:nvSpPr>
        <p:spPr>
          <a:xfrm>
            <a:off x="777240" y="3611880"/>
            <a:ext cx="3154680" cy="502920"/>
          </a:xfrm>
          <a:prstGeom prst="rect">
            <a:avLst/>
          </a:prstGeom>
          <a:noFill/>
          <a:ln/>
        </p:spPr>
        <p:txBody>
          <a:bodyPr wrap="square" rtlCol="0" anchor="ctr"/>
          <a:lstStyle/>
          <a:p>
            <a:pPr indent="0" marL="0">
              <a:lnSpc>
                <a:spcPct val="135000"/>
              </a:lnSpc>
              <a:buNone/>
            </a:pPr>
            <a:r>
              <a:rPr lang="en-US" sz="1000" i="1" dirty="0">
                <a:solidFill>
                  <a:srgbClr val="334155"/>
                </a:solidFill>
                <a:latin typeface="DM Sans" pitchFamily="34" charset="0"/>
                <a:ea typeface="DM Sans" pitchFamily="34" charset="-122"/>
                <a:cs typeface="DM Sans" pitchFamily="34" charset="-120"/>
              </a:rPr>
              <a:t>Claude Code already deploys via MCP; one container layer away from owning the runtime.</a:t>
            </a:r>
            <a:endParaRPr lang="en-US" sz="1000" dirty="0"/>
          </a:p>
        </p:txBody>
      </p:sp>
      <p:sp>
        <p:nvSpPr>
          <p:cNvPr id="10" name="Shape 8"/>
          <p:cNvSpPr/>
          <p:nvPr/>
        </p:nvSpPr>
        <p:spPr>
          <a:xfrm>
            <a:off x="4297680" y="2194560"/>
            <a:ext cx="3611880" cy="2011680"/>
          </a:xfrm>
          <a:prstGeom prst="roundRect">
            <a:avLst>
              <a:gd name="adj" fmla="val 3636"/>
            </a:avLst>
          </a:prstGeom>
          <a:solidFill>
            <a:srgbClr val="FEF2F2"/>
          </a:solidFill>
          <a:ln w="9525">
            <a:solidFill>
              <a:srgbClr val="FCA5A5"/>
            </a:solidFill>
            <a:prstDash val="solid"/>
          </a:ln>
        </p:spPr>
      </p:sp>
      <p:sp>
        <p:nvSpPr>
          <p:cNvPr id="11" name="Text 9"/>
          <p:cNvSpPr/>
          <p:nvPr/>
        </p:nvSpPr>
        <p:spPr>
          <a:xfrm>
            <a:off x="4572000" y="2377440"/>
            <a:ext cx="3154680" cy="320040"/>
          </a:xfrm>
          <a:prstGeom prst="rect">
            <a:avLst/>
          </a:prstGeom>
          <a:noFill/>
          <a:ln/>
        </p:spPr>
        <p:txBody>
          <a:bodyPr wrap="square" rtlCol="0" anchor="ctr"/>
          <a:lstStyle/>
          <a:p>
            <a:pPr indent="0" marL="0">
              <a:buNone/>
            </a:pPr>
            <a:r>
              <a:rPr lang="en-US" sz="1400" b="1" dirty="0">
                <a:solidFill>
                  <a:srgbClr val="991B1B"/>
                </a:solidFill>
                <a:latin typeface="DM Sans" pitchFamily="34" charset="0"/>
                <a:ea typeface="DM Sans" pitchFamily="34" charset="-122"/>
                <a:cs typeface="DM Sans" pitchFamily="34" charset="-120"/>
              </a:rPr>
              <a:t>OpenAI / Codex</a:t>
            </a:r>
            <a:endParaRPr lang="en-US" sz="1400" dirty="0"/>
          </a:p>
        </p:txBody>
      </p:sp>
      <p:sp>
        <p:nvSpPr>
          <p:cNvPr id="12" name="Text 10"/>
          <p:cNvSpPr/>
          <p:nvPr/>
        </p:nvSpPr>
        <p:spPr>
          <a:xfrm>
            <a:off x="4572000" y="2743200"/>
            <a:ext cx="3246120" cy="228600"/>
          </a:xfrm>
          <a:prstGeom prst="rect">
            <a:avLst/>
          </a:prstGeom>
          <a:noFill/>
          <a:ln/>
        </p:spPr>
        <p:txBody>
          <a:bodyPr wrap="square" rtlCol="0" anchor="ctr"/>
          <a:lstStyle/>
          <a:p>
            <a:pPr indent="0" marL="0">
              <a:buNone/>
            </a:pPr>
            <a:r>
              <a:rPr lang="en-US" sz="800" spc="100" kern="0" dirty="0">
                <a:solidFill>
                  <a:srgbClr val="64748B"/>
                </a:solidFill>
                <a:latin typeface="JetBrains Mono" pitchFamily="34" charset="0"/>
                <a:ea typeface="JetBrains Mono" pitchFamily="34" charset="-122"/>
                <a:cs typeface="JetBrains Mono" pitchFamily="34" charset="-120"/>
              </a:rPr>
              <a:t>Likelihood </a:t>
            </a:r>
            <a:pPr indent="0" marL="0">
              <a:buNone/>
            </a:pPr>
            <a:r>
              <a:rPr lang="en-US" sz="800" b="1" spc="100" kern="0" dirty="0">
                <a:solidFill>
                  <a:srgbClr val="991B1B"/>
                </a:solidFill>
                <a:latin typeface="JetBrains Mono" pitchFamily="34" charset="0"/>
                <a:ea typeface="JetBrains Mono" pitchFamily="34" charset="-122"/>
                <a:cs typeface="JetBrains Mono" pitchFamily="34" charset="-120"/>
              </a:rPr>
              <a:t>Medium-Low</a:t>
            </a:r>
            <a:pPr indent="0" marL="0">
              <a:buNone/>
            </a:pPr>
            <a:r>
              <a:rPr lang="en-US" sz="800" spc="100" kern="0" dirty="0">
                <a:solidFill>
                  <a:srgbClr val="64748B"/>
                </a:solidFill>
                <a:latin typeface="JetBrains Mono" pitchFamily="34" charset="0"/>
                <a:ea typeface="JetBrains Mono" pitchFamily="34" charset="-122"/>
                <a:cs typeface="JetBrains Mono" pitchFamily="34" charset="-120"/>
              </a:rPr>
              <a:t>   Timing </a:t>
            </a:r>
            <a:pPr indent="0" marL="0">
              <a:buNone/>
            </a:pPr>
            <a:r>
              <a:rPr lang="en-US" sz="800" b="1" spc="100" kern="0" dirty="0">
                <a:solidFill>
                  <a:srgbClr val="991B1B"/>
                </a:solidFill>
                <a:latin typeface="JetBrains Mono" pitchFamily="34" charset="0"/>
                <a:ea typeface="JetBrains Mono" pitchFamily="34" charset="-122"/>
                <a:cs typeface="JetBrains Mono" pitchFamily="34" charset="-120"/>
              </a:rPr>
              <a:t>12-24 months</a:t>
            </a:r>
            <a:endParaRPr lang="en-US" sz="800" dirty="0"/>
          </a:p>
        </p:txBody>
      </p:sp>
      <p:sp>
        <p:nvSpPr>
          <p:cNvPr id="13" name="Text 11"/>
          <p:cNvSpPr/>
          <p:nvPr/>
        </p:nvSpPr>
        <p:spPr>
          <a:xfrm>
            <a:off x="4572000" y="3017520"/>
            <a:ext cx="3154680" cy="594360"/>
          </a:xfrm>
          <a:prstGeom prst="rect">
            <a:avLst/>
          </a:prstGeom>
          <a:noFill/>
          <a:ln/>
        </p:spPr>
        <p:txBody>
          <a:bodyPr wrap="square" rtlCol="0" anchor="ctr"/>
          <a:lstStyle/>
          <a:p>
            <a:pPr indent="0" marL="0">
              <a:lnSpc>
                <a:spcPct val="135000"/>
              </a:lnSpc>
              <a:buNone/>
            </a:pPr>
            <a:r>
              <a:rPr lang="en-US" sz="1100" b="1" dirty="0">
                <a:solidFill>
                  <a:srgbClr val="0F172A"/>
                </a:solidFill>
                <a:latin typeface="DM Sans" pitchFamily="34" charset="0"/>
                <a:ea typeface="DM Sans" pitchFamily="34" charset="-122"/>
                <a:cs typeface="DM Sans" pitchFamily="34" charset="-120"/>
              </a:rPr>
              <a:t>OpenAI hosted runtime tied to ChatGPT Pro/Team</a:t>
            </a:r>
            <a:endParaRPr lang="en-US" sz="1100" dirty="0"/>
          </a:p>
        </p:txBody>
      </p:sp>
      <p:sp>
        <p:nvSpPr>
          <p:cNvPr id="14" name="Text 12"/>
          <p:cNvSpPr/>
          <p:nvPr/>
        </p:nvSpPr>
        <p:spPr>
          <a:xfrm>
            <a:off x="4572000" y="3611880"/>
            <a:ext cx="3154680" cy="502920"/>
          </a:xfrm>
          <a:prstGeom prst="rect">
            <a:avLst/>
          </a:prstGeom>
          <a:noFill/>
          <a:ln/>
        </p:spPr>
        <p:txBody>
          <a:bodyPr wrap="square" rtlCol="0" anchor="ctr"/>
          <a:lstStyle/>
          <a:p>
            <a:pPr indent="0" marL="0">
              <a:lnSpc>
                <a:spcPct val="135000"/>
              </a:lnSpc>
              <a:buNone/>
            </a:pPr>
            <a:r>
              <a:rPr lang="en-US" sz="1000" i="1" dirty="0">
                <a:solidFill>
                  <a:srgbClr val="334155"/>
                </a:solidFill>
                <a:latin typeface="DM Sans" pitchFamily="34" charset="0"/>
                <a:ea typeface="DM Sans" pitchFamily="34" charset="-122"/>
                <a:cs typeface="DM Sans" pitchFamily="34" charset="-120"/>
              </a:rPr>
              <a:t>OpenAI shifted away from infra towards model-API focus; less likely but possible via partnership.</a:t>
            </a:r>
            <a:endParaRPr lang="en-US" sz="1000" dirty="0"/>
          </a:p>
        </p:txBody>
      </p:sp>
      <p:sp>
        <p:nvSpPr>
          <p:cNvPr id="15" name="Shape 13"/>
          <p:cNvSpPr/>
          <p:nvPr/>
        </p:nvSpPr>
        <p:spPr>
          <a:xfrm>
            <a:off x="8092440" y="2194560"/>
            <a:ext cx="3611880" cy="2011680"/>
          </a:xfrm>
          <a:prstGeom prst="roundRect">
            <a:avLst>
              <a:gd name="adj" fmla="val 3636"/>
            </a:avLst>
          </a:prstGeom>
          <a:solidFill>
            <a:srgbClr val="FEF2F2"/>
          </a:solidFill>
          <a:ln w="9525">
            <a:solidFill>
              <a:srgbClr val="FCA5A5"/>
            </a:solidFill>
            <a:prstDash val="solid"/>
          </a:ln>
        </p:spPr>
      </p:sp>
      <p:sp>
        <p:nvSpPr>
          <p:cNvPr id="16" name="Text 14"/>
          <p:cNvSpPr/>
          <p:nvPr/>
        </p:nvSpPr>
        <p:spPr>
          <a:xfrm>
            <a:off x="8366760" y="2377440"/>
            <a:ext cx="3154680" cy="320040"/>
          </a:xfrm>
          <a:prstGeom prst="rect">
            <a:avLst/>
          </a:prstGeom>
          <a:noFill/>
          <a:ln/>
        </p:spPr>
        <p:txBody>
          <a:bodyPr wrap="square" rtlCol="0" anchor="ctr"/>
          <a:lstStyle/>
          <a:p>
            <a:pPr indent="0" marL="0">
              <a:buNone/>
            </a:pPr>
            <a:r>
              <a:rPr lang="en-US" sz="1400" b="1" dirty="0">
                <a:solidFill>
                  <a:srgbClr val="991B1B"/>
                </a:solidFill>
                <a:latin typeface="DM Sans" pitchFamily="34" charset="0"/>
                <a:ea typeface="DM Sans" pitchFamily="34" charset="-122"/>
                <a:cs typeface="DM Sans" pitchFamily="34" charset="-120"/>
              </a:rPr>
              <a:t>Cursor / Windsurf</a:t>
            </a:r>
            <a:endParaRPr lang="en-US" sz="1400" dirty="0"/>
          </a:p>
        </p:txBody>
      </p:sp>
      <p:sp>
        <p:nvSpPr>
          <p:cNvPr id="17" name="Text 15"/>
          <p:cNvSpPr/>
          <p:nvPr/>
        </p:nvSpPr>
        <p:spPr>
          <a:xfrm>
            <a:off x="8366760" y="2743200"/>
            <a:ext cx="3246120" cy="228600"/>
          </a:xfrm>
          <a:prstGeom prst="rect">
            <a:avLst/>
          </a:prstGeom>
          <a:noFill/>
          <a:ln/>
        </p:spPr>
        <p:txBody>
          <a:bodyPr wrap="square" rtlCol="0" anchor="ctr"/>
          <a:lstStyle/>
          <a:p>
            <a:pPr indent="0" marL="0">
              <a:buNone/>
            </a:pPr>
            <a:r>
              <a:rPr lang="en-US" sz="800" spc="100" kern="0" dirty="0">
                <a:solidFill>
                  <a:srgbClr val="64748B"/>
                </a:solidFill>
                <a:latin typeface="JetBrains Mono" pitchFamily="34" charset="0"/>
                <a:ea typeface="JetBrains Mono" pitchFamily="34" charset="-122"/>
                <a:cs typeface="JetBrains Mono" pitchFamily="34" charset="-120"/>
              </a:rPr>
              <a:t>Likelihood </a:t>
            </a:r>
            <a:pPr indent="0" marL="0">
              <a:buNone/>
            </a:pPr>
            <a:r>
              <a:rPr lang="en-US" sz="800" b="1" spc="100" kern="0" dirty="0">
                <a:solidFill>
                  <a:srgbClr val="991B1B"/>
                </a:solidFill>
                <a:latin typeface="JetBrains Mono" pitchFamily="34" charset="0"/>
                <a:ea typeface="JetBrains Mono" pitchFamily="34" charset="-122"/>
                <a:cs typeface="JetBrains Mono" pitchFamily="34" charset="-120"/>
              </a:rPr>
              <a:t>High</a:t>
            </a:r>
            <a:pPr indent="0" marL="0">
              <a:buNone/>
            </a:pPr>
            <a:r>
              <a:rPr lang="en-US" sz="800" spc="100" kern="0" dirty="0">
                <a:solidFill>
                  <a:srgbClr val="64748B"/>
                </a:solidFill>
                <a:latin typeface="JetBrains Mono" pitchFamily="34" charset="0"/>
                <a:ea typeface="JetBrains Mono" pitchFamily="34" charset="-122"/>
                <a:cs typeface="JetBrains Mono" pitchFamily="34" charset="-120"/>
              </a:rPr>
              <a:t>   Timing </a:t>
            </a:r>
            <a:pPr indent="0" marL="0">
              <a:buNone/>
            </a:pPr>
            <a:r>
              <a:rPr lang="en-US" sz="800" b="1" spc="100" kern="0" dirty="0">
                <a:solidFill>
                  <a:srgbClr val="991B1B"/>
                </a:solidFill>
                <a:latin typeface="JetBrains Mono" pitchFamily="34" charset="0"/>
                <a:ea typeface="JetBrains Mono" pitchFamily="34" charset="-122"/>
                <a:cs typeface="JetBrains Mono" pitchFamily="34" charset="-120"/>
              </a:rPr>
              <a:t>6-12 months</a:t>
            </a:r>
            <a:endParaRPr lang="en-US" sz="800" dirty="0"/>
          </a:p>
        </p:txBody>
      </p:sp>
      <p:sp>
        <p:nvSpPr>
          <p:cNvPr id="18" name="Text 16"/>
          <p:cNvSpPr/>
          <p:nvPr/>
        </p:nvSpPr>
        <p:spPr>
          <a:xfrm>
            <a:off x="8366760" y="3017520"/>
            <a:ext cx="3154680" cy="594360"/>
          </a:xfrm>
          <a:prstGeom prst="rect">
            <a:avLst/>
          </a:prstGeom>
          <a:noFill/>
          <a:ln/>
        </p:spPr>
        <p:txBody>
          <a:bodyPr wrap="square" rtlCol="0" anchor="ctr"/>
          <a:lstStyle/>
          <a:p>
            <a:pPr indent="0" marL="0">
              <a:lnSpc>
                <a:spcPct val="135000"/>
              </a:lnSpc>
              <a:buNone/>
            </a:pPr>
            <a:r>
              <a:rPr lang="en-US" sz="1100" b="1" dirty="0">
                <a:solidFill>
                  <a:srgbClr val="0F172A"/>
                </a:solidFill>
                <a:latin typeface="DM Sans" pitchFamily="34" charset="0"/>
                <a:ea typeface="DM Sans" pitchFamily="34" charset="-122"/>
                <a:cs typeface="DM Sans" pitchFamily="34" charset="-120"/>
              </a:rPr>
              <a:t>Cloud preview deploys (already exists for static); extend to full SaaS</a:t>
            </a:r>
            <a:endParaRPr lang="en-US" sz="1100" dirty="0"/>
          </a:p>
        </p:txBody>
      </p:sp>
      <p:sp>
        <p:nvSpPr>
          <p:cNvPr id="19" name="Text 17"/>
          <p:cNvSpPr/>
          <p:nvPr/>
        </p:nvSpPr>
        <p:spPr>
          <a:xfrm>
            <a:off x="8366760" y="3611880"/>
            <a:ext cx="3154680" cy="502920"/>
          </a:xfrm>
          <a:prstGeom prst="rect">
            <a:avLst/>
          </a:prstGeom>
          <a:noFill/>
          <a:ln/>
        </p:spPr>
        <p:txBody>
          <a:bodyPr wrap="square" rtlCol="0" anchor="ctr"/>
          <a:lstStyle/>
          <a:p>
            <a:pPr indent="0" marL="0">
              <a:lnSpc>
                <a:spcPct val="135000"/>
              </a:lnSpc>
              <a:buNone/>
            </a:pPr>
            <a:r>
              <a:rPr lang="en-US" sz="1000" i="1" dirty="0">
                <a:solidFill>
                  <a:srgbClr val="334155"/>
                </a:solidFill>
                <a:latin typeface="DM Sans" pitchFamily="34" charset="0"/>
                <a:ea typeface="DM Sans" pitchFamily="34" charset="-122"/>
                <a:cs typeface="DM Sans" pitchFamily="34" charset="-120"/>
              </a:rPr>
              <a:t>Both IDEs already have lightweight cloud preview. Substrate-grade is the next step.</a:t>
            </a:r>
            <a:endParaRPr lang="en-US" sz="1000" dirty="0"/>
          </a:p>
        </p:txBody>
      </p:sp>
      <p:sp>
        <p:nvSpPr>
          <p:cNvPr id="20" name="Shape 18"/>
          <p:cNvSpPr/>
          <p:nvPr/>
        </p:nvSpPr>
        <p:spPr>
          <a:xfrm>
            <a:off x="502920" y="4434840"/>
            <a:ext cx="11155680" cy="1828800"/>
          </a:xfrm>
          <a:prstGeom prst="roundRect">
            <a:avLst>
              <a:gd name="adj" fmla="val 5000"/>
            </a:avLst>
          </a:prstGeom>
          <a:solidFill>
            <a:srgbClr val="0F172A"/>
          </a:solidFill>
          <a:ln w="12700">
            <a:solidFill>
              <a:srgbClr val="0F172A"/>
            </a:solidFill>
            <a:prstDash val="solid"/>
          </a:ln>
        </p:spPr>
      </p:sp>
      <p:sp>
        <p:nvSpPr>
          <p:cNvPr id="21" name="Text 19"/>
          <p:cNvSpPr/>
          <p:nvPr/>
        </p:nvSpPr>
        <p:spPr>
          <a:xfrm>
            <a:off x="868680" y="4617720"/>
            <a:ext cx="10424160" cy="274320"/>
          </a:xfrm>
          <a:prstGeom prst="rect">
            <a:avLst/>
          </a:prstGeom>
          <a:noFill/>
          <a:ln/>
        </p:spPr>
        <p:txBody>
          <a:bodyPr wrap="square" rtlCol="0" anchor="ctr"/>
          <a:lstStyle/>
          <a:p>
            <a:pPr indent="0" marL="0">
              <a:buNone/>
            </a:pPr>
            <a:r>
              <a:rPr lang="en-US" sz="900" b="1" spc="400" kern="0" dirty="0">
                <a:solidFill>
                  <a:srgbClr val="F59E0B"/>
                </a:solidFill>
                <a:latin typeface="JetBrains Mono" pitchFamily="34" charset="0"/>
                <a:ea typeface="JetBrains Mono" pitchFamily="34" charset="-122"/>
                <a:cs typeface="JetBrains Mono" pitchFamily="34" charset="-120"/>
              </a:rPr>
              <a:t>FOUR-PART MITIGATION STRATEGY</a:t>
            </a:r>
            <a:endParaRPr lang="en-US" sz="900" dirty="0"/>
          </a:p>
        </p:txBody>
      </p:sp>
      <p:sp>
        <p:nvSpPr>
          <p:cNvPr id="22" name="Text 20"/>
          <p:cNvSpPr/>
          <p:nvPr/>
        </p:nvSpPr>
        <p:spPr>
          <a:xfrm>
            <a:off x="868680" y="4937760"/>
            <a:ext cx="2468880" cy="274320"/>
          </a:xfrm>
          <a:prstGeom prst="rect">
            <a:avLst/>
          </a:prstGeom>
          <a:noFill/>
          <a:ln/>
        </p:spPr>
        <p:txBody>
          <a:bodyPr wrap="square" rtlCol="0" anchor="ctr"/>
          <a:lstStyle/>
          <a:p>
            <a:pPr indent="0" marL="0">
              <a:buNone/>
            </a:pPr>
            <a:r>
              <a:rPr lang="en-US" sz="850" b="1" spc="300" kern="0" dirty="0">
                <a:solidFill>
                  <a:srgbClr val="F59E0B"/>
                </a:solidFill>
                <a:latin typeface="JetBrains Mono" pitchFamily="34" charset="0"/>
                <a:ea typeface="JetBrains Mono" pitchFamily="34" charset="-122"/>
                <a:cs typeface="JetBrains Mono" pitchFamily="34" charset="-120"/>
              </a:rPr>
              <a:t>EARLY MARKET-SHARE</a:t>
            </a:r>
            <a:endParaRPr lang="en-US" sz="850" dirty="0"/>
          </a:p>
        </p:txBody>
      </p:sp>
      <p:sp>
        <p:nvSpPr>
          <p:cNvPr id="23" name="Text 21"/>
          <p:cNvSpPr/>
          <p:nvPr/>
        </p:nvSpPr>
        <p:spPr>
          <a:xfrm>
            <a:off x="868680" y="5212080"/>
            <a:ext cx="2468880" cy="1005840"/>
          </a:xfrm>
          <a:prstGeom prst="rect">
            <a:avLst/>
          </a:prstGeom>
          <a:noFill/>
          <a:ln/>
        </p:spPr>
        <p:txBody>
          <a:bodyPr wrap="square" rtlCol="0" anchor="ctr"/>
          <a:lstStyle/>
          <a:p>
            <a:pPr indent="0" marL="0">
              <a:lnSpc>
                <a:spcPct val="140000"/>
              </a:lnSpc>
              <a:buNone/>
            </a:pPr>
            <a:r>
              <a:rPr lang="en-US" sz="950" dirty="0">
                <a:solidFill>
                  <a:srgbClr val="EEF2FF"/>
                </a:solidFill>
                <a:latin typeface="DM Sans" pitchFamily="34" charset="0"/>
                <a:ea typeface="DM Sans" pitchFamily="34" charset="-122"/>
                <a:cs typeface="DM Sans" pitchFamily="34" charset="-120"/>
              </a:rPr>
              <a:t>Sprint cadence captures the first 5-15K customers before any lab ships. First-mover compounds: BYO-AI brand recognition, content moat, distribution.</a:t>
            </a:r>
            <a:endParaRPr lang="en-US" sz="950" dirty="0"/>
          </a:p>
        </p:txBody>
      </p:sp>
      <p:sp>
        <p:nvSpPr>
          <p:cNvPr id="24" name="Text 22"/>
          <p:cNvSpPr/>
          <p:nvPr/>
        </p:nvSpPr>
        <p:spPr>
          <a:xfrm>
            <a:off x="3520440" y="4937760"/>
            <a:ext cx="2468880" cy="274320"/>
          </a:xfrm>
          <a:prstGeom prst="rect">
            <a:avLst/>
          </a:prstGeom>
          <a:noFill/>
          <a:ln/>
        </p:spPr>
        <p:txBody>
          <a:bodyPr wrap="square" rtlCol="0" anchor="ctr"/>
          <a:lstStyle/>
          <a:p>
            <a:pPr indent="0" marL="0">
              <a:buNone/>
            </a:pPr>
            <a:r>
              <a:rPr lang="en-US" sz="850" b="1" spc="300" kern="0" dirty="0">
                <a:solidFill>
                  <a:srgbClr val="F59E0B"/>
                </a:solidFill>
                <a:latin typeface="JetBrains Mono" pitchFamily="34" charset="0"/>
                <a:ea typeface="JetBrains Mono" pitchFamily="34" charset="-122"/>
                <a:cs typeface="JetBrains Mono" pitchFamily="34" charset="-120"/>
              </a:rPr>
              <a:t>SEAMLESS PRODUCT</a:t>
            </a:r>
            <a:endParaRPr lang="en-US" sz="850" dirty="0"/>
          </a:p>
        </p:txBody>
      </p:sp>
      <p:sp>
        <p:nvSpPr>
          <p:cNvPr id="25" name="Text 23"/>
          <p:cNvSpPr/>
          <p:nvPr/>
        </p:nvSpPr>
        <p:spPr>
          <a:xfrm>
            <a:off x="3520440" y="5212080"/>
            <a:ext cx="2468880" cy="1005840"/>
          </a:xfrm>
          <a:prstGeom prst="rect">
            <a:avLst/>
          </a:prstGeom>
          <a:noFill/>
          <a:ln/>
        </p:spPr>
        <p:txBody>
          <a:bodyPr wrap="square" rtlCol="0" anchor="ctr"/>
          <a:lstStyle/>
          <a:p>
            <a:pPr indent="0" marL="0">
              <a:lnSpc>
                <a:spcPct val="140000"/>
              </a:lnSpc>
              <a:buNone/>
            </a:pPr>
            <a:r>
              <a:rPr lang="en-US" sz="950" dirty="0">
                <a:solidFill>
                  <a:srgbClr val="EEF2FF"/>
                </a:solidFill>
                <a:latin typeface="DM Sans" pitchFamily="34" charset="0"/>
                <a:ea typeface="DM Sans" pitchFamily="34" charset="-122"/>
                <a:cs typeface="DM Sans" pitchFamily="34" charset="-120"/>
              </a:rPr>
              <a:t>~60s sandbox, AI_CONTEXT.md handoff, push-to-deploy. The product itself is sticky — labs would have to match UX, not just ship features.</a:t>
            </a:r>
            <a:endParaRPr lang="en-US" sz="950" dirty="0"/>
          </a:p>
        </p:txBody>
      </p:sp>
      <p:sp>
        <p:nvSpPr>
          <p:cNvPr id="26" name="Text 24"/>
          <p:cNvSpPr/>
          <p:nvPr/>
        </p:nvSpPr>
        <p:spPr>
          <a:xfrm>
            <a:off x="6172200" y="4937760"/>
            <a:ext cx="2468880" cy="274320"/>
          </a:xfrm>
          <a:prstGeom prst="rect">
            <a:avLst/>
          </a:prstGeom>
          <a:noFill/>
          <a:ln/>
        </p:spPr>
        <p:txBody>
          <a:bodyPr wrap="square" rtlCol="0" anchor="ctr"/>
          <a:lstStyle/>
          <a:p>
            <a:pPr indent="0" marL="0">
              <a:buNone/>
            </a:pPr>
            <a:r>
              <a:rPr lang="en-US" sz="850" b="1" spc="300" kern="0" dirty="0">
                <a:solidFill>
                  <a:srgbClr val="F59E0B"/>
                </a:solidFill>
                <a:latin typeface="JetBrains Mono" pitchFamily="34" charset="0"/>
                <a:ea typeface="JetBrains Mono" pitchFamily="34" charset="-122"/>
                <a:cs typeface="JetBrains Mono" pitchFamily="34" charset="-120"/>
              </a:rPr>
              <a:t>BRAND AWARENESS</a:t>
            </a:r>
            <a:endParaRPr lang="en-US" sz="850" dirty="0"/>
          </a:p>
        </p:txBody>
      </p:sp>
      <p:sp>
        <p:nvSpPr>
          <p:cNvPr id="27" name="Text 25"/>
          <p:cNvSpPr/>
          <p:nvPr/>
        </p:nvSpPr>
        <p:spPr>
          <a:xfrm>
            <a:off x="6172200" y="5212080"/>
            <a:ext cx="2468880" cy="1005840"/>
          </a:xfrm>
          <a:prstGeom prst="rect">
            <a:avLst/>
          </a:prstGeom>
          <a:noFill/>
          <a:ln/>
        </p:spPr>
        <p:txBody>
          <a:bodyPr wrap="square" rtlCol="0" anchor="ctr"/>
          <a:lstStyle/>
          <a:p>
            <a:pPr indent="0" marL="0">
              <a:lnSpc>
                <a:spcPct val="140000"/>
              </a:lnSpc>
              <a:buNone/>
            </a:pPr>
            <a:r>
              <a:rPr lang="en-US" sz="950" dirty="0">
                <a:solidFill>
                  <a:srgbClr val="EEF2FF"/>
                </a:solidFill>
                <a:latin typeface="DM Sans" pitchFamily="34" charset="0"/>
                <a:ea typeface="DM Sans" pitchFamily="34" charset="-122"/>
                <a:cs typeface="DM Sans" pitchFamily="34" charset="-120"/>
              </a:rPr>
              <a:t>Build "the production substrate" into the AI-tool community vocabulary in months 0-6. When labs decide to enter, they consider acquiring rather than building.</a:t>
            </a:r>
            <a:endParaRPr lang="en-US" sz="950" dirty="0"/>
          </a:p>
        </p:txBody>
      </p:sp>
      <p:sp>
        <p:nvSpPr>
          <p:cNvPr id="28" name="Text 26"/>
          <p:cNvSpPr/>
          <p:nvPr/>
        </p:nvSpPr>
        <p:spPr>
          <a:xfrm>
            <a:off x="8823960" y="4937760"/>
            <a:ext cx="2468880" cy="274320"/>
          </a:xfrm>
          <a:prstGeom prst="rect">
            <a:avLst/>
          </a:prstGeom>
          <a:noFill/>
          <a:ln/>
        </p:spPr>
        <p:txBody>
          <a:bodyPr wrap="square" rtlCol="0" anchor="ctr"/>
          <a:lstStyle/>
          <a:p>
            <a:pPr indent="0" marL="0">
              <a:buNone/>
            </a:pPr>
            <a:r>
              <a:rPr lang="en-US" sz="850" b="1" spc="300" kern="0" dirty="0">
                <a:solidFill>
                  <a:srgbClr val="F59E0B"/>
                </a:solidFill>
                <a:latin typeface="JetBrains Mono" pitchFamily="34" charset="0"/>
                <a:ea typeface="JetBrains Mono" pitchFamily="34" charset="-122"/>
                <a:cs typeface="JetBrains Mono" pitchFamily="34" charset="-120"/>
              </a:rPr>
              <a:t>BUILT TO ACQUIRE</a:t>
            </a:r>
            <a:endParaRPr lang="en-US" sz="850" dirty="0"/>
          </a:p>
        </p:txBody>
      </p:sp>
      <p:sp>
        <p:nvSpPr>
          <p:cNvPr id="29" name="Text 27"/>
          <p:cNvSpPr/>
          <p:nvPr/>
        </p:nvSpPr>
        <p:spPr>
          <a:xfrm>
            <a:off x="8823960" y="5212080"/>
            <a:ext cx="2468880" cy="1005840"/>
          </a:xfrm>
          <a:prstGeom prst="rect">
            <a:avLst/>
          </a:prstGeom>
          <a:noFill/>
          <a:ln/>
        </p:spPr>
        <p:txBody>
          <a:bodyPr wrap="square" rtlCol="0" anchor="ctr"/>
          <a:lstStyle/>
          <a:p>
            <a:pPr indent="0" marL="0">
              <a:lnSpc>
                <a:spcPct val="140000"/>
              </a:lnSpc>
              <a:buNone/>
            </a:pPr>
            <a:r>
              <a:rPr lang="en-US" sz="950" dirty="0">
                <a:solidFill>
                  <a:srgbClr val="EEF2FF"/>
                </a:solidFill>
                <a:latin typeface="DM Sans" pitchFamily="34" charset="0"/>
                <a:ea typeface="DM Sans" pitchFamily="34" charset="-122"/>
                <a:cs typeface="DM Sans" pitchFamily="34" charset="-120"/>
              </a:rPr>
              <a:t>Clean architecture, no platform lock-in, owns no customer-AI relationship. Drop-in for any lab who wants the deployment layer without years of substrate engineering.</a:t>
            </a:r>
            <a:endParaRPr lang="en-US" sz="950" dirty="0"/>
          </a:p>
        </p:txBody>
      </p:sp>
      <p:sp>
        <p:nvSpPr>
          <p:cNvPr id="30" name="Text 28"/>
          <p:cNvSpPr/>
          <p:nvPr/>
        </p:nvSpPr>
        <p:spPr>
          <a:xfrm>
            <a:off x="502920" y="6355080"/>
            <a:ext cx="11155680" cy="228600"/>
          </a:xfrm>
          <a:prstGeom prst="rect">
            <a:avLst/>
          </a:prstGeom>
          <a:noFill/>
          <a:ln/>
        </p:spPr>
        <p:txBody>
          <a:bodyPr wrap="square" rtlCol="0" anchor="ctr"/>
          <a:lstStyle/>
          <a:p>
            <a:pPr algn="ctr" indent="0" marL="0">
              <a:buNone/>
            </a:pPr>
            <a:r>
              <a:rPr lang="en-US" sz="1000" b="1" i="1" dirty="0">
                <a:solidFill>
                  <a:srgbClr val="B45309"/>
                </a:solidFill>
                <a:latin typeface="DM Sans" pitchFamily="34" charset="0"/>
                <a:ea typeface="DM Sans" pitchFamily="34" charset="-122"/>
                <a:cs typeface="DM Sans" pitchFamily="34" charset="-120"/>
              </a:rPr>
              <a:t>Bottom line: if a lab enters in months 6-12, the most likely outcome is an acquisition conversation, not extinction.</a:t>
            </a:r>
            <a:endParaRPr lang="en-US" sz="1000" dirty="0"/>
          </a:p>
        </p:txBody>
      </p:sp>
      <p:sp>
        <p:nvSpPr>
          <p:cNvPr id="31" name="Text 29"/>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32" name="Text 30"/>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23  ·  APPENDIX  ·  FULL RISKS REGISTER</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Six risks. Stated honestly. Mitigations ready.</a:t>
            </a:r>
            <a:endParaRPr lang="en-US" sz="3000" dirty="0"/>
          </a:p>
        </p:txBody>
      </p:sp>
      <p:sp>
        <p:nvSpPr>
          <p:cNvPr id="4" name="Shape 2"/>
          <p:cNvSpPr/>
          <p:nvPr/>
        </p:nvSpPr>
        <p:spPr>
          <a:xfrm>
            <a:off x="502920" y="1874520"/>
            <a:ext cx="11155680" cy="676656"/>
          </a:xfrm>
          <a:prstGeom prst="roundRect">
            <a:avLst>
              <a:gd name="adj" fmla="val 10811"/>
            </a:avLst>
          </a:prstGeom>
          <a:solidFill>
            <a:srgbClr val="FFFFFF"/>
          </a:solidFill>
          <a:ln w="9525">
            <a:solidFill>
              <a:srgbClr val="E2E8F0"/>
            </a:solidFill>
            <a:prstDash val="solid"/>
          </a:ln>
        </p:spPr>
      </p:sp>
      <p:sp>
        <p:nvSpPr>
          <p:cNvPr id="5" name="Shape 3"/>
          <p:cNvSpPr/>
          <p:nvPr/>
        </p:nvSpPr>
        <p:spPr>
          <a:xfrm>
            <a:off x="685800" y="1993392"/>
            <a:ext cx="548640" cy="438912"/>
          </a:xfrm>
          <a:prstGeom prst="roundRect">
            <a:avLst>
              <a:gd name="adj" fmla="val 8333"/>
            </a:avLst>
          </a:prstGeom>
          <a:solidFill>
            <a:srgbClr val="FEF2F2"/>
          </a:solidFill>
          <a:ln w="6350">
            <a:solidFill>
              <a:srgbClr val="991B1B"/>
            </a:solidFill>
            <a:prstDash val="solid"/>
          </a:ln>
        </p:spPr>
      </p:sp>
      <p:sp>
        <p:nvSpPr>
          <p:cNvPr id="6" name="Text 4"/>
          <p:cNvSpPr/>
          <p:nvPr/>
        </p:nvSpPr>
        <p:spPr>
          <a:xfrm>
            <a:off x="685800" y="1993392"/>
            <a:ext cx="548640" cy="438912"/>
          </a:xfrm>
          <a:prstGeom prst="rect">
            <a:avLst/>
          </a:prstGeom>
          <a:noFill/>
          <a:ln/>
        </p:spPr>
        <p:txBody>
          <a:bodyPr wrap="square" rtlCol="0" anchor="ctr"/>
          <a:lstStyle/>
          <a:p>
            <a:pPr algn="ctr" indent="0" marL="0">
              <a:buNone/>
            </a:pPr>
            <a:r>
              <a:rPr lang="en-US" sz="800" b="1" spc="200" kern="0" dirty="0">
                <a:solidFill>
                  <a:srgbClr val="991B1B"/>
                </a:solidFill>
                <a:latin typeface="JetBrains Mono" pitchFamily="34" charset="0"/>
                <a:ea typeface="JetBrains Mono" pitchFamily="34" charset="-122"/>
                <a:cs typeface="JetBrains Mono" pitchFamily="34" charset="-120"/>
              </a:rPr>
              <a:t>HIGH</a:t>
            </a:r>
            <a:endParaRPr lang="en-US" sz="800" dirty="0"/>
          </a:p>
        </p:txBody>
      </p:sp>
      <p:sp>
        <p:nvSpPr>
          <p:cNvPr id="7" name="Text 5"/>
          <p:cNvSpPr/>
          <p:nvPr/>
        </p:nvSpPr>
        <p:spPr>
          <a:xfrm>
            <a:off x="1371600" y="1965960"/>
            <a:ext cx="320040" cy="502920"/>
          </a:xfrm>
          <a:prstGeom prst="rect">
            <a:avLst/>
          </a:prstGeom>
          <a:noFill/>
          <a:ln/>
        </p:spPr>
        <p:txBody>
          <a:bodyPr wrap="square" rtlCol="0" anchor="ctr"/>
          <a:lstStyle/>
          <a:p>
            <a:pPr indent="0" marL="0">
              <a:buNone/>
            </a:pPr>
            <a:r>
              <a:rPr lang="en-US" sz="1400" b="1" dirty="0">
                <a:solidFill>
                  <a:srgbClr val="94A3B8"/>
                </a:solidFill>
                <a:latin typeface="JetBrains Mono" pitchFamily="34" charset="0"/>
                <a:ea typeface="JetBrains Mono" pitchFamily="34" charset="-122"/>
                <a:cs typeface="JetBrains Mono" pitchFamily="34" charset="-120"/>
              </a:rPr>
              <a:t>01</a:t>
            </a:r>
            <a:endParaRPr lang="en-US" sz="1400" dirty="0"/>
          </a:p>
        </p:txBody>
      </p:sp>
      <p:sp>
        <p:nvSpPr>
          <p:cNvPr id="8" name="Text 6"/>
          <p:cNvSpPr/>
          <p:nvPr/>
        </p:nvSpPr>
        <p:spPr>
          <a:xfrm>
            <a:off x="1783080" y="1929384"/>
            <a:ext cx="4754880" cy="274320"/>
          </a:xfrm>
          <a:prstGeom prst="rect">
            <a:avLst/>
          </a:prstGeom>
          <a:noFill/>
          <a:ln/>
        </p:spPr>
        <p:txBody>
          <a:bodyPr wrap="square" rtlCol="0" anchor="ctr"/>
          <a:lstStyle/>
          <a:p>
            <a:pPr indent="0" marL="0">
              <a:buNone/>
            </a:pPr>
            <a:r>
              <a:rPr lang="en-US" sz="1150" b="1" dirty="0">
                <a:solidFill>
                  <a:srgbClr val="0F172A"/>
                </a:solidFill>
                <a:latin typeface="DM Sans" pitchFamily="34" charset="0"/>
                <a:ea typeface="DM Sans" pitchFamily="34" charset="-122"/>
                <a:cs typeface="DM Sans" pitchFamily="34" charset="-120"/>
              </a:rPr>
              <a:t>Big-lab disruption (Anthropic / Cursor / OpenAI)</a:t>
            </a:r>
            <a:endParaRPr lang="en-US" sz="1150" dirty="0"/>
          </a:p>
        </p:txBody>
      </p:sp>
      <p:sp>
        <p:nvSpPr>
          <p:cNvPr id="9" name="Text 7"/>
          <p:cNvSpPr/>
          <p:nvPr/>
        </p:nvSpPr>
        <p:spPr>
          <a:xfrm>
            <a:off x="1783080" y="2221992"/>
            <a:ext cx="4754880" cy="292608"/>
          </a:xfrm>
          <a:prstGeom prst="rect">
            <a:avLst/>
          </a:prstGeom>
          <a:noFill/>
          <a:ln/>
        </p:spPr>
        <p:txBody>
          <a:bodyPr wrap="square" rtlCol="0" anchor="ctr"/>
          <a:lstStyle/>
          <a:p>
            <a:pPr indent="0" marL="0">
              <a:buNone/>
            </a:pPr>
            <a:r>
              <a:rPr lang="en-US" sz="950" i="1" dirty="0">
                <a:solidFill>
                  <a:srgbClr val="334155"/>
                </a:solidFill>
                <a:latin typeface="DM Sans" pitchFamily="34" charset="0"/>
                <a:ea typeface="DM Sans" pitchFamily="34" charset="-122"/>
                <a:cs typeface="DM Sans" pitchFamily="34" charset="-120"/>
              </a:rPr>
              <a:t>Major AI lab launches managed deployment in 6-18 months — wedge closes.</a:t>
            </a:r>
            <a:endParaRPr lang="en-US" sz="950" dirty="0"/>
          </a:p>
        </p:txBody>
      </p:sp>
      <p:sp>
        <p:nvSpPr>
          <p:cNvPr id="10" name="Shape 8"/>
          <p:cNvSpPr/>
          <p:nvPr/>
        </p:nvSpPr>
        <p:spPr>
          <a:xfrm>
            <a:off x="6720840" y="1965960"/>
            <a:ext cx="9144" cy="493776"/>
          </a:xfrm>
          <a:prstGeom prst="rect">
            <a:avLst/>
          </a:prstGeom>
          <a:solidFill>
            <a:srgbClr val="E2E8F0"/>
          </a:solidFill>
          <a:ln w="12700">
            <a:solidFill>
              <a:srgbClr val="333333"/>
            </a:solidFill>
            <a:prstDash val="solid"/>
          </a:ln>
        </p:spPr>
      </p:sp>
      <p:sp>
        <p:nvSpPr>
          <p:cNvPr id="11" name="Text 9"/>
          <p:cNvSpPr/>
          <p:nvPr/>
        </p:nvSpPr>
        <p:spPr>
          <a:xfrm>
            <a:off x="6858000" y="1965960"/>
            <a:ext cx="1371600" cy="182880"/>
          </a:xfrm>
          <a:prstGeom prst="rect">
            <a:avLst/>
          </a:prstGeom>
          <a:noFill/>
          <a:ln/>
        </p:spPr>
        <p:txBody>
          <a:bodyPr wrap="square" rtlCol="0" anchor="ctr"/>
          <a:lstStyle/>
          <a:p>
            <a:pPr indent="0" marL="0">
              <a:buNone/>
            </a:pPr>
            <a:r>
              <a:rPr lang="en-US" sz="750" b="1" spc="300" kern="0" dirty="0">
                <a:solidFill>
                  <a:srgbClr val="3730A3"/>
                </a:solidFill>
                <a:latin typeface="JetBrains Mono" pitchFamily="34" charset="0"/>
                <a:ea typeface="JetBrains Mono" pitchFamily="34" charset="-122"/>
                <a:cs typeface="JetBrains Mono" pitchFamily="34" charset="-120"/>
              </a:rPr>
              <a:t>MITIGATION</a:t>
            </a:r>
            <a:endParaRPr lang="en-US" sz="750" dirty="0"/>
          </a:p>
        </p:txBody>
      </p:sp>
      <p:sp>
        <p:nvSpPr>
          <p:cNvPr id="12" name="Text 10"/>
          <p:cNvSpPr/>
          <p:nvPr/>
        </p:nvSpPr>
        <p:spPr>
          <a:xfrm>
            <a:off x="6858000" y="2148840"/>
            <a:ext cx="4663440" cy="384048"/>
          </a:xfrm>
          <a:prstGeom prst="rect">
            <a:avLst/>
          </a:prstGeom>
          <a:noFill/>
          <a:ln/>
        </p:spPr>
        <p:txBody>
          <a:bodyPr wrap="square" rtlCol="0" anchor="ctr"/>
          <a:lstStyle/>
          <a:p>
            <a:pPr indent="0" marL="0">
              <a:lnSpc>
                <a:spcPct val="130000"/>
              </a:lnSpc>
              <a:buNone/>
            </a:pPr>
            <a:r>
              <a:rPr lang="en-US" sz="950" dirty="0">
                <a:solidFill>
                  <a:srgbClr val="1E293B"/>
                </a:solidFill>
                <a:latin typeface="DM Sans" pitchFamily="34" charset="0"/>
                <a:ea typeface="DM Sans" pitchFamily="34" charset="-122"/>
                <a:cs typeface="DM Sans" pitchFamily="34" charset="-120"/>
              </a:rPr>
              <a:t>Early share capture, brand vocabulary, acquirable architecture (see appendix 22). Partnership outreach months 0-4.</a:t>
            </a:r>
            <a:endParaRPr lang="en-US" sz="950" dirty="0"/>
          </a:p>
        </p:txBody>
      </p:sp>
      <p:sp>
        <p:nvSpPr>
          <p:cNvPr id="13" name="Shape 11"/>
          <p:cNvSpPr/>
          <p:nvPr/>
        </p:nvSpPr>
        <p:spPr>
          <a:xfrm>
            <a:off x="502920" y="2596896"/>
            <a:ext cx="11155680" cy="676656"/>
          </a:xfrm>
          <a:prstGeom prst="roundRect">
            <a:avLst>
              <a:gd name="adj" fmla="val 10811"/>
            </a:avLst>
          </a:prstGeom>
          <a:solidFill>
            <a:srgbClr val="FFFFFF"/>
          </a:solidFill>
          <a:ln w="9525">
            <a:solidFill>
              <a:srgbClr val="E2E8F0"/>
            </a:solidFill>
            <a:prstDash val="solid"/>
          </a:ln>
        </p:spPr>
      </p:sp>
      <p:sp>
        <p:nvSpPr>
          <p:cNvPr id="14" name="Shape 12"/>
          <p:cNvSpPr/>
          <p:nvPr/>
        </p:nvSpPr>
        <p:spPr>
          <a:xfrm>
            <a:off x="685800" y="2715768"/>
            <a:ext cx="548640" cy="438912"/>
          </a:xfrm>
          <a:prstGeom prst="roundRect">
            <a:avLst>
              <a:gd name="adj" fmla="val 8333"/>
            </a:avLst>
          </a:prstGeom>
          <a:solidFill>
            <a:srgbClr val="FEF3C7"/>
          </a:solidFill>
          <a:ln w="6350">
            <a:solidFill>
              <a:srgbClr val="B45309"/>
            </a:solidFill>
            <a:prstDash val="solid"/>
          </a:ln>
        </p:spPr>
      </p:sp>
      <p:sp>
        <p:nvSpPr>
          <p:cNvPr id="15" name="Text 13"/>
          <p:cNvSpPr/>
          <p:nvPr/>
        </p:nvSpPr>
        <p:spPr>
          <a:xfrm>
            <a:off x="685800" y="2715768"/>
            <a:ext cx="548640" cy="438912"/>
          </a:xfrm>
          <a:prstGeom prst="rect">
            <a:avLst/>
          </a:prstGeom>
          <a:noFill/>
          <a:ln/>
        </p:spPr>
        <p:txBody>
          <a:bodyPr wrap="square" rtlCol="0" anchor="ctr"/>
          <a:lstStyle/>
          <a:p>
            <a:pPr algn="ctr" indent="0" marL="0">
              <a:buNone/>
            </a:pPr>
            <a:r>
              <a:rPr lang="en-US" sz="800" b="1" spc="200" kern="0" dirty="0">
                <a:solidFill>
                  <a:srgbClr val="B45309"/>
                </a:solidFill>
                <a:latin typeface="JetBrains Mono" pitchFamily="34" charset="0"/>
                <a:ea typeface="JetBrains Mono" pitchFamily="34" charset="-122"/>
                <a:cs typeface="JetBrains Mono" pitchFamily="34" charset="-120"/>
              </a:rPr>
              <a:t>MED</a:t>
            </a:r>
            <a:endParaRPr lang="en-US" sz="800" dirty="0"/>
          </a:p>
        </p:txBody>
      </p:sp>
      <p:sp>
        <p:nvSpPr>
          <p:cNvPr id="16" name="Text 14"/>
          <p:cNvSpPr/>
          <p:nvPr/>
        </p:nvSpPr>
        <p:spPr>
          <a:xfrm>
            <a:off x="1371600" y="2688336"/>
            <a:ext cx="320040" cy="502920"/>
          </a:xfrm>
          <a:prstGeom prst="rect">
            <a:avLst/>
          </a:prstGeom>
          <a:noFill/>
          <a:ln/>
        </p:spPr>
        <p:txBody>
          <a:bodyPr wrap="square" rtlCol="0" anchor="ctr"/>
          <a:lstStyle/>
          <a:p>
            <a:pPr indent="0" marL="0">
              <a:buNone/>
            </a:pPr>
            <a:r>
              <a:rPr lang="en-US" sz="1400" b="1" dirty="0">
                <a:solidFill>
                  <a:srgbClr val="94A3B8"/>
                </a:solidFill>
                <a:latin typeface="JetBrains Mono" pitchFamily="34" charset="0"/>
                <a:ea typeface="JetBrains Mono" pitchFamily="34" charset="-122"/>
                <a:cs typeface="JetBrains Mono" pitchFamily="34" charset="-120"/>
              </a:rPr>
              <a:t>02</a:t>
            </a:r>
            <a:endParaRPr lang="en-US" sz="1400" dirty="0"/>
          </a:p>
        </p:txBody>
      </p:sp>
      <p:sp>
        <p:nvSpPr>
          <p:cNvPr id="17" name="Text 15"/>
          <p:cNvSpPr/>
          <p:nvPr/>
        </p:nvSpPr>
        <p:spPr>
          <a:xfrm>
            <a:off x="1783080" y="2651760"/>
            <a:ext cx="4754880" cy="274320"/>
          </a:xfrm>
          <a:prstGeom prst="rect">
            <a:avLst/>
          </a:prstGeom>
          <a:noFill/>
          <a:ln/>
        </p:spPr>
        <p:txBody>
          <a:bodyPr wrap="square" rtlCol="0" anchor="ctr"/>
          <a:lstStyle/>
          <a:p>
            <a:pPr indent="0" marL="0">
              <a:buNone/>
            </a:pPr>
            <a:r>
              <a:rPr lang="en-US" sz="1150" b="1" dirty="0">
                <a:solidFill>
                  <a:srgbClr val="0F172A"/>
                </a:solidFill>
                <a:latin typeface="DM Sans" pitchFamily="34" charset="0"/>
                <a:ea typeface="DM Sans" pitchFamily="34" charset="-122"/>
                <a:cs typeface="DM Sans" pitchFamily="34" charset="-120"/>
              </a:rPr>
              <a:t>Peak coincidence on shared sandbox host</a:t>
            </a:r>
            <a:endParaRPr lang="en-US" sz="1150" dirty="0"/>
          </a:p>
        </p:txBody>
      </p:sp>
      <p:sp>
        <p:nvSpPr>
          <p:cNvPr id="18" name="Text 16"/>
          <p:cNvSpPr/>
          <p:nvPr/>
        </p:nvSpPr>
        <p:spPr>
          <a:xfrm>
            <a:off x="1783080" y="2944368"/>
            <a:ext cx="4754880" cy="292608"/>
          </a:xfrm>
          <a:prstGeom prst="rect">
            <a:avLst/>
          </a:prstGeom>
          <a:noFill/>
          <a:ln/>
        </p:spPr>
        <p:txBody>
          <a:bodyPr wrap="square" rtlCol="0" anchor="ctr"/>
          <a:lstStyle/>
          <a:p>
            <a:pPr indent="0" marL="0">
              <a:buNone/>
            </a:pPr>
            <a:r>
              <a:rPr lang="en-US" sz="950" i="1" dirty="0">
                <a:solidFill>
                  <a:srgbClr val="334155"/>
                </a:solidFill>
                <a:latin typeface="DM Sans" pitchFamily="34" charset="0"/>
                <a:ea typeface="DM Sans" pitchFamily="34" charset="-122"/>
                <a:cs typeface="DM Sans" pitchFamily="34" charset="-120"/>
              </a:rPr>
              <a:t>&gt;30% of sandboxes warm simultaneously creates RAM/CPU contention on CAX31.</a:t>
            </a:r>
            <a:endParaRPr lang="en-US" sz="950" dirty="0"/>
          </a:p>
        </p:txBody>
      </p:sp>
      <p:sp>
        <p:nvSpPr>
          <p:cNvPr id="19" name="Shape 17"/>
          <p:cNvSpPr/>
          <p:nvPr/>
        </p:nvSpPr>
        <p:spPr>
          <a:xfrm>
            <a:off x="6720840" y="2688336"/>
            <a:ext cx="9144" cy="493776"/>
          </a:xfrm>
          <a:prstGeom prst="rect">
            <a:avLst/>
          </a:prstGeom>
          <a:solidFill>
            <a:srgbClr val="E2E8F0"/>
          </a:solidFill>
          <a:ln w="12700">
            <a:solidFill>
              <a:srgbClr val="333333"/>
            </a:solidFill>
            <a:prstDash val="solid"/>
          </a:ln>
        </p:spPr>
      </p:sp>
      <p:sp>
        <p:nvSpPr>
          <p:cNvPr id="20" name="Text 18"/>
          <p:cNvSpPr/>
          <p:nvPr/>
        </p:nvSpPr>
        <p:spPr>
          <a:xfrm>
            <a:off x="6858000" y="2688336"/>
            <a:ext cx="1371600" cy="182880"/>
          </a:xfrm>
          <a:prstGeom prst="rect">
            <a:avLst/>
          </a:prstGeom>
          <a:noFill/>
          <a:ln/>
        </p:spPr>
        <p:txBody>
          <a:bodyPr wrap="square" rtlCol="0" anchor="ctr"/>
          <a:lstStyle/>
          <a:p>
            <a:pPr indent="0" marL="0">
              <a:buNone/>
            </a:pPr>
            <a:r>
              <a:rPr lang="en-US" sz="750" b="1" spc="300" kern="0" dirty="0">
                <a:solidFill>
                  <a:srgbClr val="3730A3"/>
                </a:solidFill>
                <a:latin typeface="JetBrains Mono" pitchFamily="34" charset="0"/>
                <a:ea typeface="JetBrains Mono" pitchFamily="34" charset="-122"/>
                <a:cs typeface="JetBrains Mono" pitchFamily="34" charset="-120"/>
              </a:rPr>
              <a:t>MITIGATION</a:t>
            </a:r>
            <a:endParaRPr lang="en-US" sz="750" dirty="0"/>
          </a:p>
        </p:txBody>
      </p:sp>
      <p:sp>
        <p:nvSpPr>
          <p:cNvPr id="21" name="Text 19"/>
          <p:cNvSpPr/>
          <p:nvPr/>
        </p:nvSpPr>
        <p:spPr>
          <a:xfrm>
            <a:off x="6858000" y="2871216"/>
            <a:ext cx="4663440" cy="384048"/>
          </a:xfrm>
          <a:prstGeom prst="rect">
            <a:avLst/>
          </a:prstGeom>
          <a:noFill/>
          <a:ln/>
        </p:spPr>
        <p:txBody>
          <a:bodyPr wrap="square" rtlCol="0" anchor="ctr"/>
          <a:lstStyle/>
          <a:p>
            <a:pPr indent="0" marL="0">
              <a:lnSpc>
                <a:spcPct val="130000"/>
              </a:lnSpc>
              <a:buNone/>
            </a:pPr>
            <a:r>
              <a:rPr lang="en-US" sz="950" dirty="0">
                <a:solidFill>
                  <a:srgbClr val="1E293B"/>
                </a:solidFill>
                <a:latin typeface="DM Sans" pitchFamily="34" charset="0"/>
                <a:ea typeface="DM Sans" pitchFamily="34" charset="-122"/>
                <a:cs typeface="DM Sans" pitchFamily="34" charset="-120"/>
              </a:rPr>
              <a:t>Watermark at 35-sandbox-warm-concurrent → auto-provision second CAX31. Cost stays in band (+£11.30/mo).</a:t>
            </a:r>
            <a:endParaRPr lang="en-US" sz="950" dirty="0"/>
          </a:p>
        </p:txBody>
      </p:sp>
      <p:sp>
        <p:nvSpPr>
          <p:cNvPr id="22" name="Shape 20"/>
          <p:cNvSpPr/>
          <p:nvPr/>
        </p:nvSpPr>
        <p:spPr>
          <a:xfrm>
            <a:off x="502920" y="3319272"/>
            <a:ext cx="11155680" cy="676656"/>
          </a:xfrm>
          <a:prstGeom prst="roundRect">
            <a:avLst>
              <a:gd name="adj" fmla="val 10811"/>
            </a:avLst>
          </a:prstGeom>
          <a:solidFill>
            <a:srgbClr val="FFFFFF"/>
          </a:solidFill>
          <a:ln w="9525">
            <a:solidFill>
              <a:srgbClr val="E2E8F0"/>
            </a:solidFill>
            <a:prstDash val="solid"/>
          </a:ln>
        </p:spPr>
      </p:sp>
      <p:sp>
        <p:nvSpPr>
          <p:cNvPr id="23" name="Shape 21"/>
          <p:cNvSpPr/>
          <p:nvPr/>
        </p:nvSpPr>
        <p:spPr>
          <a:xfrm>
            <a:off x="685800" y="3438144"/>
            <a:ext cx="548640" cy="438912"/>
          </a:xfrm>
          <a:prstGeom prst="roundRect">
            <a:avLst>
              <a:gd name="adj" fmla="val 8333"/>
            </a:avLst>
          </a:prstGeom>
          <a:solidFill>
            <a:srgbClr val="EEF2FF"/>
          </a:solidFill>
          <a:ln w="6350">
            <a:solidFill>
              <a:srgbClr val="3730A3"/>
            </a:solidFill>
            <a:prstDash val="solid"/>
          </a:ln>
        </p:spPr>
      </p:sp>
      <p:sp>
        <p:nvSpPr>
          <p:cNvPr id="24" name="Text 22"/>
          <p:cNvSpPr/>
          <p:nvPr/>
        </p:nvSpPr>
        <p:spPr>
          <a:xfrm>
            <a:off x="685800" y="3438144"/>
            <a:ext cx="548640" cy="438912"/>
          </a:xfrm>
          <a:prstGeom prst="rect">
            <a:avLst/>
          </a:prstGeom>
          <a:noFill/>
          <a:ln/>
        </p:spPr>
        <p:txBody>
          <a:bodyPr wrap="square" rtlCol="0" anchor="ctr"/>
          <a:lstStyle/>
          <a:p>
            <a:pPr algn="ctr" indent="0" marL="0">
              <a:buNone/>
            </a:pPr>
            <a:r>
              <a:rPr lang="en-US" sz="800" b="1" spc="200" kern="0" dirty="0">
                <a:solidFill>
                  <a:srgbClr val="3730A3"/>
                </a:solidFill>
                <a:latin typeface="JetBrains Mono" pitchFamily="34" charset="0"/>
                <a:ea typeface="JetBrains Mono" pitchFamily="34" charset="-122"/>
                <a:cs typeface="JetBrains Mono" pitchFamily="34" charset="-120"/>
              </a:rPr>
              <a:t>LOW</a:t>
            </a:r>
            <a:endParaRPr lang="en-US" sz="800" dirty="0"/>
          </a:p>
        </p:txBody>
      </p:sp>
      <p:sp>
        <p:nvSpPr>
          <p:cNvPr id="25" name="Text 23"/>
          <p:cNvSpPr/>
          <p:nvPr/>
        </p:nvSpPr>
        <p:spPr>
          <a:xfrm>
            <a:off x="1371600" y="3410712"/>
            <a:ext cx="320040" cy="502920"/>
          </a:xfrm>
          <a:prstGeom prst="rect">
            <a:avLst/>
          </a:prstGeom>
          <a:noFill/>
          <a:ln/>
        </p:spPr>
        <p:txBody>
          <a:bodyPr wrap="square" rtlCol="0" anchor="ctr"/>
          <a:lstStyle/>
          <a:p>
            <a:pPr indent="0" marL="0">
              <a:buNone/>
            </a:pPr>
            <a:r>
              <a:rPr lang="en-US" sz="1400" b="1" dirty="0">
                <a:solidFill>
                  <a:srgbClr val="94A3B8"/>
                </a:solidFill>
                <a:latin typeface="JetBrains Mono" pitchFamily="34" charset="0"/>
                <a:ea typeface="JetBrains Mono" pitchFamily="34" charset="-122"/>
                <a:cs typeface="JetBrains Mono" pitchFamily="34" charset="-120"/>
              </a:rPr>
              <a:t>03</a:t>
            </a:r>
            <a:endParaRPr lang="en-US" sz="1400" dirty="0"/>
          </a:p>
        </p:txBody>
      </p:sp>
      <p:sp>
        <p:nvSpPr>
          <p:cNvPr id="26" name="Text 24"/>
          <p:cNvSpPr/>
          <p:nvPr/>
        </p:nvSpPr>
        <p:spPr>
          <a:xfrm>
            <a:off x="1783080" y="3374136"/>
            <a:ext cx="4754880" cy="274320"/>
          </a:xfrm>
          <a:prstGeom prst="rect">
            <a:avLst/>
          </a:prstGeom>
          <a:noFill/>
          <a:ln/>
        </p:spPr>
        <p:txBody>
          <a:bodyPr wrap="square" rtlCol="0" anchor="ctr"/>
          <a:lstStyle/>
          <a:p>
            <a:pPr indent="0" marL="0">
              <a:buNone/>
            </a:pPr>
            <a:r>
              <a:rPr lang="en-US" sz="1150" b="1" dirty="0">
                <a:solidFill>
                  <a:srgbClr val="0F172A"/>
                </a:solidFill>
                <a:latin typeface="DM Sans" pitchFamily="34" charset="0"/>
                <a:ea typeface="DM Sans" pitchFamily="34" charset="-122"/>
                <a:cs typeface="DM Sans" pitchFamily="34" charset="-120"/>
              </a:rPr>
              <a:t>Wake latency on idle-suspended sandboxes</a:t>
            </a:r>
            <a:endParaRPr lang="en-US" sz="1150" dirty="0"/>
          </a:p>
        </p:txBody>
      </p:sp>
      <p:sp>
        <p:nvSpPr>
          <p:cNvPr id="27" name="Text 25"/>
          <p:cNvSpPr/>
          <p:nvPr/>
        </p:nvSpPr>
        <p:spPr>
          <a:xfrm>
            <a:off x="1783080" y="3666744"/>
            <a:ext cx="4754880" cy="292608"/>
          </a:xfrm>
          <a:prstGeom prst="rect">
            <a:avLst/>
          </a:prstGeom>
          <a:noFill/>
          <a:ln/>
        </p:spPr>
        <p:txBody>
          <a:bodyPr wrap="square" rtlCol="0" anchor="ctr"/>
          <a:lstStyle/>
          <a:p>
            <a:pPr indent="0" marL="0">
              <a:buNone/>
            </a:pPr>
            <a:r>
              <a:rPr lang="en-US" sz="950" i="1" dirty="0">
                <a:solidFill>
                  <a:srgbClr val="334155"/>
                </a:solidFill>
                <a:latin typeface="DM Sans" pitchFamily="34" charset="0"/>
                <a:ea typeface="DM Sans" pitchFamily="34" charset="-122"/>
                <a:cs typeface="DM Sans" pitchFamily="34" charset="-120"/>
              </a:rPr>
              <a:t>10-15s cold start after 2h+ idle could feel broken to first-time users.</a:t>
            </a:r>
            <a:endParaRPr lang="en-US" sz="950" dirty="0"/>
          </a:p>
        </p:txBody>
      </p:sp>
      <p:sp>
        <p:nvSpPr>
          <p:cNvPr id="28" name="Shape 26"/>
          <p:cNvSpPr/>
          <p:nvPr/>
        </p:nvSpPr>
        <p:spPr>
          <a:xfrm>
            <a:off x="6720840" y="3410712"/>
            <a:ext cx="9144" cy="493776"/>
          </a:xfrm>
          <a:prstGeom prst="rect">
            <a:avLst/>
          </a:prstGeom>
          <a:solidFill>
            <a:srgbClr val="E2E8F0"/>
          </a:solidFill>
          <a:ln w="12700">
            <a:solidFill>
              <a:srgbClr val="333333"/>
            </a:solidFill>
            <a:prstDash val="solid"/>
          </a:ln>
        </p:spPr>
      </p:sp>
      <p:sp>
        <p:nvSpPr>
          <p:cNvPr id="29" name="Text 27"/>
          <p:cNvSpPr/>
          <p:nvPr/>
        </p:nvSpPr>
        <p:spPr>
          <a:xfrm>
            <a:off x="6858000" y="3410712"/>
            <a:ext cx="1371600" cy="182880"/>
          </a:xfrm>
          <a:prstGeom prst="rect">
            <a:avLst/>
          </a:prstGeom>
          <a:noFill/>
          <a:ln/>
        </p:spPr>
        <p:txBody>
          <a:bodyPr wrap="square" rtlCol="0" anchor="ctr"/>
          <a:lstStyle/>
          <a:p>
            <a:pPr indent="0" marL="0">
              <a:buNone/>
            </a:pPr>
            <a:r>
              <a:rPr lang="en-US" sz="750" b="1" spc="300" kern="0" dirty="0">
                <a:solidFill>
                  <a:srgbClr val="3730A3"/>
                </a:solidFill>
                <a:latin typeface="JetBrains Mono" pitchFamily="34" charset="0"/>
                <a:ea typeface="JetBrains Mono" pitchFamily="34" charset="-122"/>
                <a:cs typeface="JetBrains Mono" pitchFamily="34" charset="-120"/>
              </a:rPr>
              <a:t>MITIGATION</a:t>
            </a:r>
            <a:endParaRPr lang="en-US" sz="750" dirty="0"/>
          </a:p>
        </p:txBody>
      </p:sp>
      <p:sp>
        <p:nvSpPr>
          <p:cNvPr id="30" name="Text 28"/>
          <p:cNvSpPr/>
          <p:nvPr/>
        </p:nvSpPr>
        <p:spPr>
          <a:xfrm>
            <a:off x="6858000" y="3593592"/>
            <a:ext cx="4663440" cy="384048"/>
          </a:xfrm>
          <a:prstGeom prst="rect">
            <a:avLst/>
          </a:prstGeom>
          <a:noFill/>
          <a:ln/>
        </p:spPr>
        <p:txBody>
          <a:bodyPr wrap="square" rtlCol="0" anchor="ctr"/>
          <a:lstStyle/>
          <a:p>
            <a:pPr indent="0" marL="0">
              <a:lnSpc>
                <a:spcPct val="130000"/>
              </a:lnSpc>
              <a:buNone/>
            </a:pPr>
            <a:r>
              <a:rPr lang="en-US" sz="950" dirty="0">
                <a:solidFill>
                  <a:srgbClr val="1E293B"/>
                </a:solidFill>
                <a:latin typeface="DM Sans" pitchFamily="34" charset="0"/>
                <a:ea typeface="DM Sans" pitchFamily="34" charset="-122"/>
                <a:cs typeface="DM Sans" pitchFamily="34" charset="-120"/>
              </a:rPr>
              <a:t>"Your sandbox is warming up…" splash in AI tool deploy-status callback. Acceptable for dev-env framing.</a:t>
            </a:r>
            <a:endParaRPr lang="en-US" sz="950" dirty="0"/>
          </a:p>
        </p:txBody>
      </p:sp>
      <p:sp>
        <p:nvSpPr>
          <p:cNvPr id="31" name="Shape 29"/>
          <p:cNvSpPr/>
          <p:nvPr/>
        </p:nvSpPr>
        <p:spPr>
          <a:xfrm>
            <a:off x="502920" y="4041648"/>
            <a:ext cx="11155680" cy="676656"/>
          </a:xfrm>
          <a:prstGeom prst="roundRect">
            <a:avLst>
              <a:gd name="adj" fmla="val 10811"/>
            </a:avLst>
          </a:prstGeom>
          <a:solidFill>
            <a:srgbClr val="FFFFFF"/>
          </a:solidFill>
          <a:ln w="9525">
            <a:solidFill>
              <a:srgbClr val="E2E8F0"/>
            </a:solidFill>
            <a:prstDash val="solid"/>
          </a:ln>
        </p:spPr>
      </p:sp>
      <p:sp>
        <p:nvSpPr>
          <p:cNvPr id="32" name="Shape 30"/>
          <p:cNvSpPr/>
          <p:nvPr/>
        </p:nvSpPr>
        <p:spPr>
          <a:xfrm>
            <a:off x="685800" y="4160520"/>
            <a:ext cx="548640" cy="438912"/>
          </a:xfrm>
          <a:prstGeom prst="roundRect">
            <a:avLst>
              <a:gd name="adj" fmla="val 8333"/>
            </a:avLst>
          </a:prstGeom>
          <a:solidFill>
            <a:srgbClr val="EEF2FF"/>
          </a:solidFill>
          <a:ln w="6350">
            <a:solidFill>
              <a:srgbClr val="3730A3"/>
            </a:solidFill>
            <a:prstDash val="solid"/>
          </a:ln>
        </p:spPr>
      </p:sp>
      <p:sp>
        <p:nvSpPr>
          <p:cNvPr id="33" name="Text 31"/>
          <p:cNvSpPr/>
          <p:nvPr/>
        </p:nvSpPr>
        <p:spPr>
          <a:xfrm>
            <a:off x="685800" y="4160520"/>
            <a:ext cx="548640" cy="438912"/>
          </a:xfrm>
          <a:prstGeom prst="rect">
            <a:avLst/>
          </a:prstGeom>
          <a:noFill/>
          <a:ln/>
        </p:spPr>
        <p:txBody>
          <a:bodyPr wrap="square" rtlCol="0" anchor="ctr"/>
          <a:lstStyle/>
          <a:p>
            <a:pPr algn="ctr" indent="0" marL="0">
              <a:buNone/>
            </a:pPr>
            <a:r>
              <a:rPr lang="en-US" sz="800" b="1" spc="200" kern="0" dirty="0">
                <a:solidFill>
                  <a:srgbClr val="3730A3"/>
                </a:solidFill>
                <a:latin typeface="JetBrains Mono" pitchFamily="34" charset="0"/>
                <a:ea typeface="JetBrains Mono" pitchFamily="34" charset="-122"/>
                <a:cs typeface="JetBrains Mono" pitchFamily="34" charset="-120"/>
              </a:rPr>
              <a:t>LOW</a:t>
            </a:r>
            <a:endParaRPr lang="en-US" sz="800" dirty="0"/>
          </a:p>
        </p:txBody>
      </p:sp>
      <p:sp>
        <p:nvSpPr>
          <p:cNvPr id="34" name="Text 32"/>
          <p:cNvSpPr/>
          <p:nvPr/>
        </p:nvSpPr>
        <p:spPr>
          <a:xfrm>
            <a:off x="1371600" y="4133088"/>
            <a:ext cx="320040" cy="502920"/>
          </a:xfrm>
          <a:prstGeom prst="rect">
            <a:avLst/>
          </a:prstGeom>
          <a:noFill/>
          <a:ln/>
        </p:spPr>
        <p:txBody>
          <a:bodyPr wrap="square" rtlCol="0" anchor="ctr"/>
          <a:lstStyle/>
          <a:p>
            <a:pPr indent="0" marL="0">
              <a:buNone/>
            </a:pPr>
            <a:r>
              <a:rPr lang="en-US" sz="1400" b="1" dirty="0">
                <a:solidFill>
                  <a:srgbClr val="94A3B8"/>
                </a:solidFill>
                <a:latin typeface="JetBrains Mono" pitchFamily="34" charset="0"/>
                <a:ea typeface="JetBrains Mono" pitchFamily="34" charset="-122"/>
                <a:cs typeface="JetBrains Mono" pitchFamily="34" charset="-120"/>
              </a:rPr>
              <a:t>04</a:t>
            </a:r>
            <a:endParaRPr lang="en-US" sz="1400" dirty="0"/>
          </a:p>
        </p:txBody>
      </p:sp>
      <p:sp>
        <p:nvSpPr>
          <p:cNvPr id="35" name="Text 33"/>
          <p:cNvSpPr/>
          <p:nvPr/>
        </p:nvSpPr>
        <p:spPr>
          <a:xfrm>
            <a:off x="1783080" y="4096512"/>
            <a:ext cx="4754880" cy="274320"/>
          </a:xfrm>
          <a:prstGeom prst="rect">
            <a:avLst/>
          </a:prstGeom>
          <a:noFill/>
          <a:ln/>
        </p:spPr>
        <p:txBody>
          <a:bodyPr wrap="square" rtlCol="0" anchor="ctr"/>
          <a:lstStyle/>
          <a:p>
            <a:pPr indent="0" marL="0">
              <a:buNone/>
            </a:pPr>
            <a:r>
              <a:rPr lang="en-US" sz="1150" b="1" dirty="0">
                <a:solidFill>
                  <a:srgbClr val="0F172A"/>
                </a:solidFill>
                <a:latin typeface="DM Sans" pitchFamily="34" charset="0"/>
                <a:ea typeface="DM Sans" pitchFamily="34" charset="-122"/>
                <a:cs typeface="DM Sans" pitchFamily="34" charset="-120"/>
              </a:rPr>
              <a:t>Marketing change-surface from Studio drop</a:t>
            </a:r>
            <a:endParaRPr lang="en-US" sz="1150" dirty="0"/>
          </a:p>
        </p:txBody>
      </p:sp>
      <p:sp>
        <p:nvSpPr>
          <p:cNvPr id="36" name="Text 34"/>
          <p:cNvSpPr/>
          <p:nvPr/>
        </p:nvSpPr>
        <p:spPr>
          <a:xfrm>
            <a:off x="1783080" y="4389120"/>
            <a:ext cx="4754880" cy="292608"/>
          </a:xfrm>
          <a:prstGeom prst="rect">
            <a:avLst/>
          </a:prstGeom>
          <a:noFill/>
          <a:ln/>
        </p:spPr>
        <p:txBody>
          <a:bodyPr wrap="square" rtlCol="0" anchor="ctr"/>
          <a:lstStyle/>
          <a:p>
            <a:pPr indent="0" marL="0">
              <a:buNone/>
            </a:pPr>
            <a:r>
              <a:rPr lang="en-US" sz="950" i="1" dirty="0">
                <a:solidFill>
                  <a:srgbClr val="334155"/>
                </a:solidFill>
                <a:latin typeface="DM Sans" pitchFamily="34" charset="0"/>
                <a:ea typeface="DM Sans" pitchFamily="34" charset="-122"/>
                <a:cs typeface="DM Sans" pitchFamily="34" charset="-120"/>
              </a:rPr>
              <a:t>Comparison rails on "Supabase Studio in your sandbox" / "take a snapshot any time" need to come off sandbox copy.</a:t>
            </a:r>
            <a:endParaRPr lang="en-US" sz="950" dirty="0"/>
          </a:p>
        </p:txBody>
      </p:sp>
      <p:sp>
        <p:nvSpPr>
          <p:cNvPr id="37" name="Shape 35"/>
          <p:cNvSpPr/>
          <p:nvPr/>
        </p:nvSpPr>
        <p:spPr>
          <a:xfrm>
            <a:off x="6720840" y="4133088"/>
            <a:ext cx="9144" cy="493776"/>
          </a:xfrm>
          <a:prstGeom prst="rect">
            <a:avLst/>
          </a:prstGeom>
          <a:solidFill>
            <a:srgbClr val="E2E8F0"/>
          </a:solidFill>
          <a:ln w="12700">
            <a:solidFill>
              <a:srgbClr val="333333"/>
            </a:solidFill>
            <a:prstDash val="solid"/>
          </a:ln>
        </p:spPr>
      </p:sp>
      <p:sp>
        <p:nvSpPr>
          <p:cNvPr id="38" name="Text 36"/>
          <p:cNvSpPr/>
          <p:nvPr/>
        </p:nvSpPr>
        <p:spPr>
          <a:xfrm>
            <a:off x="6858000" y="4133088"/>
            <a:ext cx="1371600" cy="182880"/>
          </a:xfrm>
          <a:prstGeom prst="rect">
            <a:avLst/>
          </a:prstGeom>
          <a:noFill/>
          <a:ln/>
        </p:spPr>
        <p:txBody>
          <a:bodyPr wrap="square" rtlCol="0" anchor="ctr"/>
          <a:lstStyle/>
          <a:p>
            <a:pPr indent="0" marL="0">
              <a:buNone/>
            </a:pPr>
            <a:r>
              <a:rPr lang="en-US" sz="750" b="1" spc="300" kern="0" dirty="0">
                <a:solidFill>
                  <a:srgbClr val="3730A3"/>
                </a:solidFill>
                <a:latin typeface="JetBrains Mono" pitchFamily="34" charset="0"/>
                <a:ea typeface="JetBrains Mono" pitchFamily="34" charset="-122"/>
                <a:cs typeface="JetBrains Mono" pitchFamily="34" charset="-120"/>
              </a:rPr>
              <a:t>MITIGATION</a:t>
            </a:r>
            <a:endParaRPr lang="en-US" sz="750" dirty="0"/>
          </a:p>
        </p:txBody>
      </p:sp>
      <p:sp>
        <p:nvSpPr>
          <p:cNvPr id="39" name="Text 37"/>
          <p:cNvSpPr/>
          <p:nvPr/>
        </p:nvSpPr>
        <p:spPr>
          <a:xfrm>
            <a:off x="6858000" y="4315968"/>
            <a:ext cx="4663440" cy="384048"/>
          </a:xfrm>
          <a:prstGeom prst="rect">
            <a:avLst/>
          </a:prstGeom>
          <a:noFill/>
          <a:ln/>
        </p:spPr>
        <p:txBody>
          <a:bodyPr wrap="square" rtlCol="0" anchor="ctr"/>
          <a:lstStyle/>
          <a:p>
            <a:pPr indent="0" marL="0">
              <a:lnSpc>
                <a:spcPct val="130000"/>
              </a:lnSpc>
              <a:buNone/>
            </a:pPr>
            <a:r>
              <a:rPr lang="en-US" sz="950" dirty="0">
                <a:solidFill>
                  <a:srgbClr val="1E293B"/>
                </a:solidFill>
                <a:latin typeface="DM Sans" pitchFamily="34" charset="0"/>
                <a:ea typeface="DM Sans" pitchFamily="34" charset="-122"/>
                <a:cs typeface="DM Sans" pitchFamily="34" charset="-120"/>
              </a:rPr>
              <a:t>Already actioned across index.html, docs, install.html, account.html. Studio link in sandbox /account page removed.</a:t>
            </a:r>
            <a:endParaRPr lang="en-US" sz="950" dirty="0"/>
          </a:p>
        </p:txBody>
      </p:sp>
      <p:sp>
        <p:nvSpPr>
          <p:cNvPr id="40" name="Shape 38"/>
          <p:cNvSpPr/>
          <p:nvPr/>
        </p:nvSpPr>
        <p:spPr>
          <a:xfrm>
            <a:off x="502920" y="4764024"/>
            <a:ext cx="11155680" cy="676656"/>
          </a:xfrm>
          <a:prstGeom prst="roundRect">
            <a:avLst>
              <a:gd name="adj" fmla="val 10811"/>
            </a:avLst>
          </a:prstGeom>
          <a:solidFill>
            <a:srgbClr val="FFFFFF"/>
          </a:solidFill>
          <a:ln w="9525">
            <a:solidFill>
              <a:srgbClr val="E2E8F0"/>
            </a:solidFill>
            <a:prstDash val="solid"/>
          </a:ln>
        </p:spPr>
      </p:sp>
      <p:sp>
        <p:nvSpPr>
          <p:cNvPr id="41" name="Shape 39"/>
          <p:cNvSpPr/>
          <p:nvPr/>
        </p:nvSpPr>
        <p:spPr>
          <a:xfrm>
            <a:off x="685800" y="4882896"/>
            <a:ext cx="548640" cy="438912"/>
          </a:xfrm>
          <a:prstGeom prst="roundRect">
            <a:avLst>
              <a:gd name="adj" fmla="val 8333"/>
            </a:avLst>
          </a:prstGeom>
          <a:solidFill>
            <a:srgbClr val="EEF2FF"/>
          </a:solidFill>
          <a:ln w="6350">
            <a:solidFill>
              <a:srgbClr val="3730A3"/>
            </a:solidFill>
            <a:prstDash val="solid"/>
          </a:ln>
        </p:spPr>
      </p:sp>
      <p:sp>
        <p:nvSpPr>
          <p:cNvPr id="42" name="Text 40"/>
          <p:cNvSpPr/>
          <p:nvPr/>
        </p:nvSpPr>
        <p:spPr>
          <a:xfrm>
            <a:off x="685800" y="4882896"/>
            <a:ext cx="548640" cy="438912"/>
          </a:xfrm>
          <a:prstGeom prst="rect">
            <a:avLst/>
          </a:prstGeom>
          <a:noFill/>
          <a:ln/>
        </p:spPr>
        <p:txBody>
          <a:bodyPr wrap="square" rtlCol="0" anchor="ctr"/>
          <a:lstStyle/>
          <a:p>
            <a:pPr algn="ctr" indent="0" marL="0">
              <a:buNone/>
            </a:pPr>
            <a:r>
              <a:rPr lang="en-US" sz="800" b="1" spc="200" kern="0" dirty="0">
                <a:solidFill>
                  <a:srgbClr val="3730A3"/>
                </a:solidFill>
                <a:latin typeface="JetBrains Mono" pitchFamily="34" charset="0"/>
                <a:ea typeface="JetBrains Mono" pitchFamily="34" charset="-122"/>
                <a:cs typeface="JetBrains Mono" pitchFamily="34" charset="-120"/>
              </a:rPr>
              <a:t>LOW</a:t>
            </a:r>
            <a:endParaRPr lang="en-US" sz="800" dirty="0"/>
          </a:p>
        </p:txBody>
      </p:sp>
      <p:sp>
        <p:nvSpPr>
          <p:cNvPr id="43" name="Text 41"/>
          <p:cNvSpPr/>
          <p:nvPr/>
        </p:nvSpPr>
        <p:spPr>
          <a:xfrm>
            <a:off x="1371600" y="4855464"/>
            <a:ext cx="320040" cy="502920"/>
          </a:xfrm>
          <a:prstGeom prst="rect">
            <a:avLst/>
          </a:prstGeom>
          <a:noFill/>
          <a:ln/>
        </p:spPr>
        <p:txBody>
          <a:bodyPr wrap="square" rtlCol="0" anchor="ctr"/>
          <a:lstStyle/>
          <a:p>
            <a:pPr indent="0" marL="0">
              <a:buNone/>
            </a:pPr>
            <a:r>
              <a:rPr lang="en-US" sz="1400" b="1" dirty="0">
                <a:solidFill>
                  <a:srgbClr val="94A3B8"/>
                </a:solidFill>
                <a:latin typeface="JetBrains Mono" pitchFamily="34" charset="0"/>
                <a:ea typeface="JetBrains Mono" pitchFamily="34" charset="-122"/>
                <a:cs typeface="JetBrains Mono" pitchFamily="34" charset="-120"/>
              </a:rPr>
              <a:t>05</a:t>
            </a:r>
            <a:endParaRPr lang="en-US" sz="1400" dirty="0"/>
          </a:p>
        </p:txBody>
      </p:sp>
      <p:sp>
        <p:nvSpPr>
          <p:cNvPr id="44" name="Text 42"/>
          <p:cNvSpPr/>
          <p:nvPr/>
        </p:nvSpPr>
        <p:spPr>
          <a:xfrm>
            <a:off x="1783080" y="4818888"/>
            <a:ext cx="4754880" cy="274320"/>
          </a:xfrm>
          <a:prstGeom prst="rect">
            <a:avLst/>
          </a:prstGeom>
          <a:noFill/>
          <a:ln/>
        </p:spPr>
        <p:txBody>
          <a:bodyPr wrap="square" rtlCol="0" anchor="ctr"/>
          <a:lstStyle/>
          <a:p>
            <a:pPr indent="0" marL="0">
              <a:buNone/>
            </a:pPr>
            <a:r>
              <a:rPr lang="en-US" sz="1150" b="1" dirty="0">
                <a:solidFill>
                  <a:srgbClr val="0F172A"/>
                </a:solidFill>
                <a:latin typeface="DM Sans" pitchFamily="34" charset="0"/>
                <a:ea typeface="DM Sans" pitchFamily="34" charset="-122"/>
                <a:cs typeface="DM Sans" pitchFamily="34" charset="-120"/>
              </a:rPr>
              <a:t>Existing sandbox tenants still on old density</a:t>
            </a:r>
            <a:endParaRPr lang="en-US" sz="1150" dirty="0"/>
          </a:p>
        </p:txBody>
      </p:sp>
      <p:sp>
        <p:nvSpPr>
          <p:cNvPr id="45" name="Text 43"/>
          <p:cNvSpPr/>
          <p:nvPr/>
        </p:nvSpPr>
        <p:spPr>
          <a:xfrm>
            <a:off x="1783080" y="5111496"/>
            <a:ext cx="4754880" cy="292608"/>
          </a:xfrm>
          <a:prstGeom prst="rect">
            <a:avLst/>
          </a:prstGeom>
          <a:noFill/>
          <a:ln/>
        </p:spPr>
        <p:txBody>
          <a:bodyPr wrap="square" rtlCol="0" anchor="ctr"/>
          <a:lstStyle/>
          <a:p>
            <a:pPr indent="0" marL="0">
              <a:buNone/>
            </a:pPr>
            <a:r>
              <a:rPr lang="en-US" sz="950" i="1" dirty="0">
                <a:solidFill>
                  <a:srgbClr val="334155"/>
                </a:solidFill>
                <a:latin typeface="DM Sans" pitchFamily="34" charset="0"/>
                <a:ea typeface="DM Sans" pitchFamily="34" charset="-122"/>
                <a:cs typeface="DM Sans" pitchFamily="34" charset="-120"/>
              </a:rPr>
              <a:t>~13 existing sandboxes already on CAX21 with Studio. Density gains apply only to new provisions.</a:t>
            </a:r>
            <a:endParaRPr lang="en-US" sz="950" dirty="0"/>
          </a:p>
        </p:txBody>
      </p:sp>
      <p:sp>
        <p:nvSpPr>
          <p:cNvPr id="46" name="Shape 44"/>
          <p:cNvSpPr/>
          <p:nvPr/>
        </p:nvSpPr>
        <p:spPr>
          <a:xfrm>
            <a:off x="6720840" y="4855464"/>
            <a:ext cx="9144" cy="493776"/>
          </a:xfrm>
          <a:prstGeom prst="rect">
            <a:avLst/>
          </a:prstGeom>
          <a:solidFill>
            <a:srgbClr val="E2E8F0"/>
          </a:solidFill>
          <a:ln w="12700">
            <a:solidFill>
              <a:srgbClr val="333333"/>
            </a:solidFill>
            <a:prstDash val="solid"/>
          </a:ln>
        </p:spPr>
      </p:sp>
      <p:sp>
        <p:nvSpPr>
          <p:cNvPr id="47" name="Text 45"/>
          <p:cNvSpPr/>
          <p:nvPr/>
        </p:nvSpPr>
        <p:spPr>
          <a:xfrm>
            <a:off x="6858000" y="4855464"/>
            <a:ext cx="1371600" cy="182880"/>
          </a:xfrm>
          <a:prstGeom prst="rect">
            <a:avLst/>
          </a:prstGeom>
          <a:noFill/>
          <a:ln/>
        </p:spPr>
        <p:txBody>
          <a:bodyPr wrap="square" rtlCol="0" anchor="ctr"/>
          <a:lstStyle/>
          <a:p>
            <a:pPr indent="0" marL="0">
              <a:buNone/>
            </a:pPr>
            <a:r>
              <a:rPr lang="en-US" sz="750" b="1" spc="300" kern="0" dirty="0">
                <a:solidFill>
                  <a:srgbClr val="3730A3"/>
                </a:solidFill>
                <a:latin typeface="JetBrains Mono" pitchFamily="34" charset="0"/>
                <a:ea typeface="JetBrains Mono" pitchFamily="34" charset="-122"/>
                <a:cs typeface="JetBrains Mono" pitchFamily="34" charset="-120"/>
              </a:rPr>
              <a:t>MITIGATION</a:t>
            </a:r>
            <a:endParaRPr lang="en-US" sz="750" dirty="0"/>
          </a:p>
        </p:txBody>
      </p:sp>
      <p:sp>
        <p:nvSpPr>
          <p:cNvPr id="48" name="Text 46"/>
          <p:cNvSpPr/>
          <p:nvPr/>
        </p:nvSpPr>
        <p:spPr>
          <a:xfrm>
            <a:off x="6858000" y="5038344"/>
            <a:ext cx="4663440" cy="384048"/>
          </a:xfrm>
          <a:prstGeom prst="rect">
            <a:avLst/>
          </a:prstGeom>
          <a:noFill/>
          <a:ln/>
        </p:spPr>
        <p:txBody>
          <a:bodyPr wrap="square" rtlCol="0" anchor="ctr"/>
          <a:lstStyle/>
          <a:p>
            <a:pPr indent="0" marL="0">
              <a:lnSpc>
                <a:spcPct val="130000"/>
              </a:lnSpc>
              <a:buNone/>
            </a:pPr>
            <a:r>
              <a:rPr lang="en-US" sz="950" dirty="0">
                <a:solidFill>
                  <a:srgbClr val="1E293B"/>
                </a:solidFill>
                <a:latin typeface="DM Sans" pitchFamily="34" charset="0"/>
                <a:ea typeface="DM Sans" pitchFamily="34" charset="-122"/>
                <a:cs typeface="DM Sans" pitchFamily="34" charset="-120"/>
              </a:rPr>
              <a:t>No churn-by-migration — leave existing tenants in place. Future one-off "migrate fleet to CAX31" op when time allows.</a:t>
            </a:r>
            <a:endParaRPr lang="en-US" sz="950" dirty="0"/>
          </a:p>
        </p:txBody>
      </p:sp>
      <p:sp>
        <p:nvSpPr>
          <p:cNvPr id="49" name="Shape 47"/>
          <p:cNvSpPr/>
          <p:nvPr/>
        </p:nvSpPr>
        <p:spPr>
          <a:xfrm>
            <a:off x="502920" y="5486400"/>
            <a:ext cx="11155680" cy="676656"/>
          </a:xfrm>
          <a:prstGeom prst="roundRect">
            <a:avLst>
              <a:gd name="adj" fmla="val 10811"/>
            </a:avLst>
          </a:prstGeom>
          <a:solidFill>
            <a:srgbClr val="FFFFFF"/>
          </a:solidFill>
          <a:ln w="9525">
            <a:solidFill>
              <a:srgbClr val="E2E8F0"/>
            </a:solidFill>
            <a:prstDash val="solid"/>
          </a:ln>
        </p:spPr>
      </p:sp>
      <p:sp>
        <p:nvSpPr>
          <p:cNvPr id="50" name="Shape 48"/>
          <p:cNvSpPr/>
          <p:nvPr/>
        </p:nvSpPr>
        <p:spPr>
          <a:xfrm>
            <a:off x="685800" y="5605272"/>
            <a:ext cx="548640" cy="438912"/>
          </a:xfrm>
          <a:prstGeom prst="roundRect">
            <a:avLst>
              <a:gd name="adj" fmla="val 8333"/>
            </a:avLst>
          </a:prstGeom>
          <a:solidFill>
            <a:srgbClr val="EEF2FF"/>
          </a:solidFill>
          <a:ln w="6350">
            <a:solidFill>
              <a:srgbClr val="3730A3"/>
            </a:solidFill>
            <a:prstDash val="solid"/>
          </a:ln>
        </p:spPr>
      </p:sp>
      <p:sp>
        <p:nvSpPr>
          <p:cNvPr id="51" name="Text 49"/>
          <p:cNvSpPr/>
          <p:nvPr/>
        </p:nvSpPr>
        <p:spPr>
          <a:xfrm>
            <a:off x="685800" y="5605272"/>
            <a:ext cx="548640" cy="438912"/>
          </a:xfrm>
          <a:prstGeom prst="rect">
            <a:avLst/>
          </a:prstGeom>
          <a:noFill/>
          <a:ln/>
        </p:spPr>
        <p:txBody>
          <a:bodyPr wrap="square" rtlCol="0" anchor="ctr"/>
          <a:lstStyle/>
          <a:p>
            <a:pPr algn="ctr" indent="0" marL="0">
              <a:buNone/>
            </a:pPr>
            <a:r>
              <a:rPr lang="en-US" sz="800" b="1" spc="200" kern="0" dirty="0">
                <a:solidFill>
                  <a:srgbClr val="3730A3"/>
                </a:solidFill>
                <a:latin typeface="JetBrains Mono" pitchFamily="34" charset="0"/>
                <a:ea typeface="JetBrains Mono" pitchFamily="34" charset="-122"/>
                <a:cs typeface="JetBrains Mono" pitchFamily="34" charset="-120"/>
              </a:rPr>
              <a:t>LOW</a:t>
            </a:r>
            <a:endParaRPr lang="en-US" sz="800" dirty="0"/>
          </a:p>
        </p:txBody>
      </p:sp>
      <p:sp>
        <p:nvSpPr>
          <p:cNvPr id="52" name="Text 50"/>
          <p:cNvSpPr/>
          <p:nvPr/>
        </p:nvSpPr>
        <p:spPr>
          <a:xfrm>
            <a:off x="1371600" y="5577840"/>
            <a:ext cx="320040" cy="502920"/>
          </a:xfrm>
          <a:prstGeom prst="rect">
            <a:avLst/>
          </a:prstGeom>
          <a:noFill/>
          <a:ln/>
        </p:spPr>
        <p:txBody>
          <a:bodyPr wrap="square" rtlCol="0" anchor="ctr"/>
          <a:lstStyle/>
          <a:p>
            <a:pPr indent="0" marL="0">
              <a:buNone/>
            </a:pPr>
            <a:r>
              <a:rPr lang="en-US" sz="1400" b="1" dirty="0">
                <a:solidFill>
                  <a:srgbClr val="94A3B8"/>
                </a:solidFill>
                <a:latin typeface="JetBrains Mono" pitchFamily="34" charset="0"/>
                <a:ea typeface="JetBrains Mono" pitchFamily="34" charset="-122"/>
                <a:cs typeface="JetBrains Mono" pitchFamily="34" charset="-120"/>
              </a:rPr>
              <a:t>06</a:t>
            </a:r>
            <a:endParaRPr lang="en-US" sz="1400" dirty="0"/>
          </a:p>
        </p:txBody>
      </p:sp>
      <p:sp>
        <p:nvSpPr>
          <p:cNvPr id="53" name="Text 51"/>
          <p:cNvSpPr/>
          <p:nvPr/>
        </p:nvSpPr>
        <p:spPr>
          <a:xfrm>
            <a:off x="1783080" y="5541264"/>
            <a:ext cx="4754880" cy="274320"/>
          </a:xfrm>
          <a:prstGeom prst="rect">
            <a:avLst/>
          </a:prstGeom>
          <a:noFill/>
          <a:ln/>
        </p:spPr>
        <p:txBody>
          <a:bodyPr wrap="square" rtlCol="0" anchor="ctr"/>
          <a:lstStyle/>
          <a:p>
            <a:pPr indent="0" marL="0">
              <a:buNone/>
            </a:pPr>
            <a:r>
              <a:rPr lang="en-US" sz="1150" b="1" dirty="0">
                <a:solidFill>
                  <a:srgbClr val="0F172A"/>
                </a:solidFill>
                <a:latin typeface="DM Sans" pitchFamily="34" charset="0"/>
                <a:ea typeface="DM Sans" pitchFamily="34" charset="-122"/>
                <a:cs typeface="DM Sans" pitchFamily="34" charset="-120"/>
              </a:rPr>
              <a:t>Snapshot rail loss for sandbox (one-click)</a:t>
            </a:r>
            <a:endParaRPr lang="en-US" sz="1150" dirty="0"/>
          </a:p>
        </p:txBody>
      </p:sp>
      <p:sp>
        <p:nvSpPr>
          <p:cNvPr id="54" name="Text 52"/>
          <p:cNvSpPr/>
          <p:nvPr/>
        </p:nvSpPr>
        <p:spPr>
          <a:xfrm>
            <a:off x="1783080" y="5833872"/>
            <a:ext cx="4754880" cy="292608"/>
          </a:xfrm>
          <a:prstGeom prst="rect">
            <a:avLst/>
          </a:prstGeom>
          <a:noFill/>
          <a:ln/>
        </p:spPr>
        <p:txBody>
          <a:bodyPr wrap="square" rtlCol="0" anchor="ctr"/>
          <a:lstStyle/>
          <a:p>
            <a:pPr indent="0" marL="0">
              <a:buNone/>
            </a:pPr>
            <a:r>
              <a:rPr lang="en-US" sz="950" i="1" dirty="0">
                <a:solidFill>
                  <a:srgbClr val="334155"/>
                </a:solidFill>
                <a:latin typeface="DM Sans" pitchFamily="34" charset="0"/>
                <a:ea typeface="DM Sans" pitchFamily="34" charset="-122"/>
                <a:cs typeface="DM Sans" pitchFamily="34" charset="-120"/>
              </a:rPr>
              <a:t>Sandbox customers can’t click-to-snapshot via Studio anymore.</a:t>
            </a:r>
            <a:endParaRPr lang="en-US" sz="950" dirty="0"/>
          </a:p>
        </p:txBody>
      </p:sp>
      <p:sp>
        <p:nvSpPr>
          <p:cNvPr id="55" name="Shape 53"/>
          <p:cNvSpPr/>
          <p:nvPr/>
        </p:nvSpPr>
        <p:spPr>
          <a:xfrm>
            <a:off x="6720840" y="5577840"/>
            <a:ext cx="9144" cy="493776"/>
          </a:xfrm>
          <a:prstGeom prst="rect">
            <a:avLst/>
          </a:prstGeom>
          <a:solidFill>
            <a:srgbClr val="E2E8F0"/>
          </a:solidFill>
          <a:ln w="12700">
            <a:solidFill>
              <a:srgbClr val="333333"/>
            </a:solidFill>
            <a:prstDash val="solid"/>
          </a:ln>
        </p:spPr>
      </p:sp>
      <p:sp>
        <p:nvSpPr>
          <p:cNvPr id="56" name="Text 54"/>
          <p:cNvSpPr/>
          <p:nvPr/>
        </p:nvSpPr>
        <p:spPr>
          <a:xfrm>
            <a:off x="6858000" y="5577840"/>
            <a:ext cx="1371600" cy="182880"/>
          </a:xfrm>
          <a:prstGeom prst="rect">
            <a:avLst/>
          </a:prstGeom>
          <a:noFill/>
          <a:ln/>
        </p:spPr>
        <p:txBody>
          <a:bodyPr wrap="square" rtlCol="0" anchor="ctr"/>
          <a:lstStyle/>
          <a:p>
            <a:pPr indent="0" marL="0">
              <a:buNone/>
            </a:pPr>
            <a:r>
              <a:rPr lang="en-US" sz="750" b="1" spc="300" kern="0" dirty="0">
                <a:solidFill>
                  <a:srgbClr val="3730A3"/>
                </a:solidFill>
                <a:latin typeface="JetBrains Mono" pitchFamily="34" charset="0"/>
                <a:ea typeface="JetBrains Mono" pitchFamily="34" charset="-122"/>
                <a:cs typeface="JetBrains Mono" pitchFamily="34" charset="-120"/>
              </a:rPr>
              <a:t>MITIGATION</a:t>
            </a:r>
            <a:endParaRPr lang="en-US" sz="750" dirty="0"/>
          </a:p>
        </p:txBody>
      </p:sp>
      <p:sp>
        <p:nvSpPr>
          <p:cNvPr id="57" name="Text 55"/>
          <p:cNvSpPr/>
          <p:nvPr/>
        </p:nvSpPr>
        <p:spPr>
          <a:xfrm>
            <a:off x="6858000" y="5760720"/>
            <a:ext cx="4663440" cy="384048"/>
          </a:xfrm>
          <a:prstGeom prst="rect">
            <a:avLst/>
          </a:prstGeom>
          <a:noFill/>
          <a:ln/>
        </p:spPr>
        <p:txBody>
          <a:bodyPr wrap="square" rtlCol="0" anchor="ctr"/>
          <a:lstStyle/>
          <a:p>
            <a:pPr indent="0" marL="0">
              <a:lnSpc>
                <a:spcPct val="130000"/>
              </a:lnSpc>
              <a:buNone/>
            </a:pPr>
            <a:r>
              <a:rPr lang="en-US" sz="950" dirty="0">
                <a:solidFill>
                  <a:srgbClr val="1E293B"/>
                </a:solidFill>
                <a:latin typeface="DM Sans" pitchFamily="34" charset="0"/>
                <a:ea typeface="DM Sans" pitchFamily="34" charset="-122"/>
                <a:cs typeface="DM Sans" pitchFamily="34" charset="-120"/>
              </a:rPr>
              <a:t>AI tool can trigger pg_dump via redeploy webhook run-command path OR new /api/tenants/&lt;slug&gt;/snapshot endpoint. 4-line marketing callout.</a:t>
            </a:r>
            <a:endParaRPr lang="en-US" sz="950" dirty="0"/>
          </a:p>
        </p:txBody>
      </p:sp>
      <p:sp>
        <p:nvSpPr>
          <p:cNvPr id="58" name="Text 56"/>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59" name="Text 57"/>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24  ·  APPENDIX  ·  MRR BUILD-UP</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How we get to £135K base / £380K upside at M18.</a:t>
            </a:r>
            <a:endParaRPr lang="en-US" sz="3000" dirty="0"/>
          </a:p>
        </p:txBody>
      </p:sp>
      <p:sp>
        <p:nvSpPr>
          <p:cNvPr id="4" name="Text 2"/>
          <p:cNvSpPr/>
          <p:nvPr/>
        </p:nvSpPr>
        <p:spPr>
          <a:xfrm>
            <a:off x="502920" y="1417320"/>
            <a:ext cx="11155680" cy="548640"/>
          </a:xfrm>
          <a:prstGeom prst="rect">
            <a:avLst/>
          </a:prstGeom>
          <a:noFill/>
          <a:ln/>
        </p:spPr>
        <p:txBody>
          <a:bodyPr wrap="square" rtlCol="0" anchor="ctr"/>
          <a:lstStyle/>
          <a:p>
            <a:pPr indent="0" marL="0">
              <a:buNone/>
            </a:pPr>
            <a:r>
              <a:rPr lang="en-US" sz="1400" dirty="0">
                <a:solidFill>
                  <a:srgbClr val="334155"/>
                </a:solidFill>
                <a:latin typeface="DM Sans" pitchFamily="34" charset="0"/>
                <a:ea typeface="DM Sans" pitchFamily="34" charset="-122"/>
                <a:cs typeface="DM Sans" pitchFamily="34" charset="-120"/>
              </a:rPr>
              <a:t>Cohort × paid-conversion × ARPU × retention. Pessimistic / mid / sprint scenarios all anchored on AI_COGS_SENSITIVITY.xlsx unit economics.</a:t>
            </a:r>
            <a:endParaRPr lang="en-US" sz="1400" dirty="0"/>
          </a:p>
        </p:txBody>
      </p:sp>
      <p:sp>
        <p:nvSpPr>
          <p:cNvPr id="5" name="Shape 3"/>
          <p:cNvSpPr/>
          <p:nvPr/>
        </p:nvSpPr>
        <p:spPr>
          <a:xfrm>
            <a:off x="502920" y="2103120"/>
            <a:ext cx="5577840" cy="3794760"/>
          </a:xfrm>
          <a:prstGeom prst="roundRect">
            <a:avLst>
              <a:gd name="adj" fmla="val 1928"/>
            </a:avLst>
          </a:prstGeom>
          <a:solidFill>
            <a:srgbClr val="FFFFFF"/>
          </a:solidFill>
          <a:ln w="9525">
            <a:solidFill>
              <a:srgbClr val="E2E8F0"/>
            </a:solidFill>
            <a:prstDash val="solid"/>
          </a:ln>
        </p:spPr>
      </p:sp>
      <p:sp>
        <p:nvSpPr>
          <p:cNvPr id="6" name="Shape 4"/>
          <p:cNvSpPr/>
          <p:nvPr/>
        </p:nvSpPr>
        <p:spPr>
          <a:xfrm>
            <a:off x="502920" y="2103120"/>
            <a:ext cx="5577840" cy="54864"/>
          </a:xfrm>
          <a:prstGeom prst="rect">
            <a:avLst/>
          </a:prstGeom>
          <a:solidFill>
            <a:srgbClr val="4F46E5"/>
          </a:solidFill>
          <a:ln w="12700">
            <a:solidFill>
              <a:srgbClr val="4F46E5"/>
            </a:solidFill>
            <a:prstDash val="solid"/>
          </a:ln>
        </p:spPr>
      </p:sp>
      <p:sp>
        <p:nvSpPr>
          <p:cNvPr id="7" name="Text 5"/>
          <p:cNvSpPr/>
          <p:nvPr/>
        </p:nvSpPr>
        <p:spPr>
          <a:xfrm>
            <a:off x="777240" y="2331720"/>
            <a:ext cx="5120640" cy="274320"/>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SPRINT BASE BUILD-UP  ·  MONTH 18</a:t>
            </a:r>
            <a:endParaRPr lang="en-US" sz="900" dirty="0"/>
          </a:p>
        </p:txBody>
      </p:sp>
      <p:sp>
        <p:nvSpPr>
          <p:cNvPr id="8" name="Text 6"/>
          <p:cNvSpPr/>
          <p:nvPr/>
        </p:nvSpPr>
        <p:spPr>
          <a:xfrm>
            <a:off x="777240" y="2788920"/>
            <a:ext cx="374904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Sandbox signups by M18 (cumulative)</a:t>
            </a:r>
            <a:endParaRPr lang="en-US" sz="1050" dirty="0"/>
          </a:p>
        </p:txBody>
      </p:sp>
      <p:sp>
        <p:nvSpPr>
          <p:cNvPr id="9" name="Text 7"/>
          <p:cNvSpPr/>
          <p:nvPr/>
        </p:nvSpPr>
        <p:spPr>
          <a:xfrm>
            <a:off x="4160520" y="2788920"/>
            <a:ext cx="182880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~30K</a:t>
            </a:r>
            <a:endParaRPr lang="en-US" sz="1050" dirty="0"/>
          </a:p>
        </p:txBody>
      </p:sp>
      <p:sp>
        <p:nvSpPr>
          <p:cNvPr id="10" name="Text 8"/>
          <p:cNvSpPr/>
          <p:nvPr/>
        </p:nvSpPr>
        <p:spPr>
          <a:xfrm>
            <a:off x="777240" y="3063240"/>
            <a:ext cx="374904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Sandbox → Launch (5% conversion)</a:t>
            </a:r>
            <a:endParaRPr lang="en-US" sz="1050" dirty="0"/>
          </a:p>
        </p:txBody>
      </p:sp>
      <p:sp>
        <p:nvSpPr>
          <p:cNvPr id="11" name="Text 9"/>
          <p:cNvSpPr/>
          <p:nvPr/>
        </p:nvSpPr>
        <p:spPr>
          <a:xfrm>
            <a:off x="4160520" y="3063240"/>
            <a:ext cx="182880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~1,500 Launch</a:t>
            </a:r>
            <a:endParaRPr lang="en-US" sz="1050" dirty="0"/>
          </a:p>
        </p:txBody>
      </p:sp>
      <p:sp>
        <p:nvSpPr>
          <p:cNvPr id="12" name="Text 10"/>
          <p:cNvSpPr/>
          <p:nvPr/>
        </p:nvSpPr>
        <p:spPr>
          <a:xfrm>
            <a:off x="777240" y="3337560"/>
            <a:ext cx="374904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Launch → Growth (~12% over 6 mo)</a:t>
            </a:r>
            <a:endParaRPr lang="en-US" sz="1050" dirty="0"/>
          </a:p>
        </p:txBody>
      </p:sp>
      <p:sp>
        <p:nvSpPr>
          <p:cNvPr id="13" name="Text 11"/>
          <p:cNvSpPr/>
          <p:nvPr/>
        </p:nvSpPr>
        <p:spPr>
          <a:xfrm>
            <a:off x="4160520" y="3337560"/>
            <a:ext cx="182880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~180 Growth</a:t>
            </a:r>
            <a:endParaRPr lang="en-US" sz="1050" dirty="0"/>
          </a:p>
        </p:txBody>
      </p:sp>
      <p:sp>
        <p:nvSpPr>
          <p:cNvPr id="14" name="Text 12"/>
          <p:cNvSpPr/>
          <p:nvPr/>
        </p:nvSpPr>
        <p:spPr>
          <a:xfrm>
            <a:off x="777240" y="3611880"/>
            <a:ext cx="374904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Active after ~3%/mo churn at M18</a:t>
            </a:r>
            <a:endParaRPr lang="en-US" sz="1050" dirty="0"/>
          </a:p>
        </p:txBody>
      </p:sp>
      <p:sp>
        <p:nvSpPr>
          <p:cNvPr id="15" name="Text 13"/>
          <p:cNvSpPr/>
          <p:nvPr/>
        </p:nvSpPr>
        <p:spPr>
          <a:xfrm>
            <a:off x="4160520" y="3611880"/>
            <a:ext cx="182880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~620 L · ~130 G</a:t>
            </a:r>
            <a:endParaRPr lang="en-US" sz="1050" dirty="0"/>
          </a:p>
        </p:txBody>
      </p:sp>
      <p:sp>
        <p:nvSpPr>
          <p:cNvPr id="16" name="Text 14"/>
          <p:cNvSpPr/>
          <p:nvPr/>
        </p:nvSpPr>
        <p:spPr>
          <a:xfrm>
            <a:off x="777240" y="3886200"/>
            <a:ext cx="374904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Launch sub revenue × £15.80</a:t>
            </a:r>
            <a:endParaRPr lang="en-US" sz="1050" dirty="0"/>
          </a:p>
        </p:txBody>
      </p:sp>
      <p:sp>
        <p:nvSpPr>
          <p:cNvPr id="17" name="Text 15"/>
          <p:cNvSpPr/>
          <p:nvPr/>
        </p:nvSpPr>
        <p:spPr>
          <a:xfrm>
            <a:off x="4160520" y="3886200"/>
            <a:ext cx="182880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£9.8K/mo</a:t>
            </a:r>
            <a:endParaRPr lang="en-US" sz="1050" dirty="0"/>
          </a:p>
        </p:txBody>
      </p:sp>
      <p:sp>
        <p:nvSpPr>
          <p:cNvPr id="18" name="Text 16"/>
          <p:cNvSpPr/>
          <p:nvPr/>
        </p:nvSpPr>
        <p:spPr>
          <a:xfrm>
            <a:off x="777240" y="4160520"/>
            <a:ext cx="374904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Growth sub revenue × £39</a:t>
            </a:r>
            <a:endParaRPr lang="en-US" sz="1050" dirty="0"/>
          </a:p>
        </p:txBody>
      </p:sp>
      <p:sp>
        <p:nvSpPr>
          <p:cNvPr id="19" name="Text 17"/>
          <p:cNvSpPr/>
          <p:nvPr/>
        </p:nvSpPr>
        <p:spPr>
          <a:xfrm>
            <a:off x="4160520" y="4160520"/>
            <a:ext cx="182880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£5.1K/mo</a:t>
            </a:r>
            <a:endParaRPr lang="en-US" sz="1050" dirty="0"/>
          </a:p>
        </p:txBody>
      </p:sp>
      <p:sp>
        <p:nvSpPr>
          <p:cNvPr id="20" name="Text 18"/>
          <p:cNvSpPr/>
          <p:nvPr/>
        </p:nvSpPr>
        <p:spPr>
          <a:xfrm>
            <a:off x="777240" y="4434840"/>
            <a:ext cx="374904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Setup fee amortised (new Launch / mo)</a:t>
            </a:r>
            <a:endParaRPr lang="en-US" sz="1050" dirty="0"/>
          </a:p>
        </p:txBody>
      </p:sp>
      <p:sp>
        <p:nvSpPr>
          <p:cNvPr id="21" name="Text 19"/>
          <p:cNvSpPr/>
          <p:nvPr/>
        </p:nvSpPr>
        <p:spPr>
          <a:xfrm>
            <a:off x="4160520" y="4434840"/>
            <a:ext cx="182880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~£3K/mo</a:t>
            </a:r>
            <a:endParaRPr lang="en-US" sz="1050" dirty="0"/>
          </a:p>
        </p:txBody>
      </p:sp>
      <p:sp>
        <p:nvSpPr>
          <p:cNvPr id="22" name="Text 20"/>
          <p:cNvSpPr/>
          <p:nvPr/>
        </p:nvSpPr>
        <p:spPr>
          <a:xfrm>
            <a:off x="777240" y="4709160"/>
            <a:ext cx="374904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Token overage realised at scale</a:t>
            </a:r>
            <a:endParaRPr lang="en-US" sz="1050" dirty="0"/>
          </a:p>
        </p:txBody>
      </p:sp>
      <p:sp>
        <p:nvSpPr>
          <p:cNvPr id="23" name="Text 21"/>
          <p:cNvSpPr/>
          <p:nvPr/>
        </p:nvSpPr>
        <p:spPr>
          <a:xfrm>
            <a:off x="4160520" y="4709160"/>
            <a:ext cx="182880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~£0.4K/mo</a:t>
            </a:r>
            <a:endParaRPr lang="en-US" sz="1050" dirty="0"/>
          </a:p>
        </p:txBody>
      </p:sp>
      <p:sp>
        <p:nvSpPr>
          <p:cNvPr id="24" name="Text 22"/>
          <p:cNvSpPr/>
          <p:nvPr/>
        </p:nvSpPr>
        <p:spPr>
          <a:xfrm>
            <a:off x="777240" y="4983480"/>
            <a:ext cx="374904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AI-tool affiliate at 5% take</a:t>
            </a:r>
            <a:endParaRPr lang="en-US" sz="1050" dirty="0"/>
          </a:p>
        </p:txBody>
      </p:sp>
      <p:sp>
        <p:nvSpPr>
          <p:cNvPr id="25" name="Text 23"/>
          <p:cNvSpPr/>
          <p:nvPr/>
        </p:nvSpPr>
        <p:spPr>
          <a:xfrm>
            <a:off x="4160520" y="4983480"/>
            <a:ext cx="182880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~£0.08K/mo</a:t>
            </a:r>
            <a:endParaRPr lang="en-US" sz="1050" dirty="0"/>
          </a:p>
        </p:txBody>
      </p:sp>
      <p:sp>
        <p:nvSpPr>
          <p:cNvPr id="26" name="Shape 24"/>
          <p:cNvSpPr/>
          <p:nvPr/>
        </p:nvSpPr>
        <p:spPr>
          <a:xfrm>
            <a:off x="685800" y="5239512"/>
            <a:ext cx="5212080" cy="310896"/>
          </a:xfrm>
          <a:prstGeom prst="rect">
            <a:avLst/>
          </a:prstGeom>
          <a:solidFill>
            <a:srgbClr val="EEF2FF"/>
          </a:solidFill>
          <a:ln w="12700">
            <a:solidFill>
              <a:srgbClr val="333333"/>
            </a:solidFill>
            <a:prstDash val="solid"/>
          </a:ln>
        </p:spPr>
      </p:sp>
      <p:sp>
        <p:nvSpPr>
          <p:cNvPr id="27" name="Text 25"/>
          <p:cNvSpPr/>
          <p:nvPr/>
        </p:nvSpPr>
        <p:spPr>
          <a:xfrm>
            <a:off x="777240" y="5257800"/>
            <a:ext cx="3749040" cy="274320"/>
          </a:xfrm>
          <a:prstGeom prst="rect">
            <a:avLst/>
          </a:prstGeom>
          <a:noFill/>
          <a:ln/>
        </p:spPr>
        <p:txBody>
          <a:bodyPr wrap="square" rtlCol="0" anchor="ctr"/>
          <a:lstStyle/>
          <a:p>
            <a:pPr indent="0" marL="0">
              <a:buNone/>
            </a:pPr>
            <a:r>
              <a:rPr lang="en-US" sz="1050" b="1" dirty="0">
                <a:solidFill>
                  <a:srgbClr val="3730A3"/>
                </a:solidFill>
                <a:latin typeface="DM Sans" pitchFamily="34" charset="0"/>
                <a:ea typeface="DM Sans" pitchFamily="34" charset="-122"/>
                <a:cs typeface="DM Sans" pitchFamily="34" charset="-120"/>
              </a:rPr>
              <a:t>M18 base case rounded</a:t>
            </a:r>
            <a:endParaRPr lang="en-US" sz="1050" dirty="0"/>
          </a:p>
        </p:txBody>
      </p:sp>
      <p:sp>
        <p:nvSpPr>
          <p:cNvPr id="28" name="Text 26"/>
          <p:cNvSpPr/>
          <p:nvPr/>
        </p:nvSpPr>
        <p:spPr>
          <a:xfrm>
            <a:off x="4160520" y="5257800"/>
            <a:ext cx="1828800" cy="274320"/>
          </a:xfrm>
          <a:prstGeom prst="rect">
            <a:avLst/>
          </a:prstGeom>
          <a:noFill/>
          <a:ln/>
        </p:spPr>
        <p:txBody>
          <a:bodyPr wrap="square" rtlCol="0" anchor="ctr"/>
          <a:lstStyle/>
          <a:p>
            <a:pPr algn="r" indent="0" marL="0">
              <a:buNone/>
            </a:pPr>
            <a:r>
              <a:rPr lang="en-US" sz="1050" b="1" dirty="0">
                <a:solidFill>
                  <a:srgbClr val="3730A3"/>
                </a:solidFill>
                <a:latin typeface="JetBrains Mono" pitchFamily="34" charset="0"/>
                <a:ea typeface="JetBrains Mono" pitchFamily="34" charset="-122"/>
                <a:cs typeface="JetBrains Mono" pitchFamily="34" charset="-120"/>
              </a:rPr>
              <a:t>~£135K</a:t>
            </a:r>
            <a:endParaRPr lang="en-US" sz="1050" dirty="0"/>
          </a:p>
        </p:txBody>
      </p:sp>
      <p:sp>
        <p:nvSpPr>
          <p:cNvPr id="29" name="Shape 27"/>
          <p:cNvSpPr/>
          <p:nvPr/>
        </p:nvSpPr>
        <p:spPr>
          <a:xfrm>
            <a:off x="6263640" y="2103120"/>
            <a:ext cx="5394960" cy="3794760"/>
          </a:xfrm>
          <a:prstGeom prst="roundRect">
            <a:avLst>
              <a:gd name="adj" fmla="val 1928"/>
            </a:avLst>
          </a:prstGeom>
          <a:solidFill>
            <a:srgbClr val="FFFFFF"/>
          </a:solidFill>
          <a:ln w="9525">
            <a:solidFill>
              <a:srgbClr val="E2E8F0"/>
            </a:solidFill>
            <a:prstDash val="solid"/>
          </a:ln>
        </p:spPr>
      </p:sp>
      <p:sp>
        <p:nvSpPr>
          <p:cNvPr id="30" name="Shape 28"/>
          <p:cNvSpPr/>
          <p:nvPr/>
        </p:nvSpPr>
        <p:spPr>
          <a:xfrm>
            <a:off x="6263640" y="2103120"/>
            <a:ext cx="5394960" cy="54864"/>
          </a:xfrm>
          <a:prstGeom prst="rect">
            <a:avLst/>
          </a:prstGeom>
          <a:solidFill>
            <a:srgbClr val="F59E0B"/>
          </a:solidFill>
          <a:ln w="12700">
            <a:solidFill>
              <a:srgbClr val="F59E0B"/>
            </a:solidFill>
            <a:prstDash val="solid"/>
          </a:ln>
        </p:spPr>
      </p:sp>
      <p:sp>
        <p:nvSpPr>
          <p:cNvPr id="31" name="Text 29"/>
          <p:cNvSpPr/>
          <p:nvPr/>
        </p:nvSpPr>
        <p:spPr>
          <a:xfrm>
            <a:off x="6537960" y="2331720"/>
            <a:ext cx="4937760" cy="274320"/>
          </a:xfrm>
          <a:prstGeom prst="rect">
            <a:avLst/>
          </a:prstGeom>
          <a:noFill/>
          <a:ln/>
        </p:spPr>
        <p:txBody>
          <a:bodyPr wrap="square" rtlCol="0" anchor="ctr"/>
          <a:lstStyle/>
          <a:p>
            <a:pPr indent="0" marL="0">
              <a:buNone/>
            </a:pPr>
            <a:r>
              <a:rPr lang="en-US" sz="900" b="1" spc="400" kern="0" dirty="0">
                <a:solidFill>
                  <a:srgbClr val="B45309"/>
                </a:solidFill>
                <a:latin typeface="JetBrains Mono" pitchFamily="34" charset="0"/>
                <a:ea typeface="JetBrains Mono" pitchFamily="34" charset="-122"/>
                <a:cs typeface="JetBrains Mono" pitchFamily="34" charset="-120"/>
              </a:rPr>
              <a:t>SPRINT UPSIDE  ·  WHAT CHANGES</a:t>
            </a:r>
            <a:endParaRPr lang="en-US" sz="900" dirty="0"/>
          </a:p>
        </p:txBody>
      </p:sp>
      <p:sp>
        <p:nvSpPr>
          <p:cNvPr id="32" name="Text 30"/>
          <p:cNvSpPr/>
          <p:nvPr/>
        </p:nvSpPr>
        <p:spPr>
          <a:xfrm>
            <a:off x="6537960" y="2788920"/>
            <a:ext cx="370332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Sandbox signups (paid acquisition lit)</a:t>
            </a:r>
            <a:endParaRPr lang="en-US" sz="1050" dirty="0"/>
          </a:p>
        </p:txBody>
      </p:sp>
      <p:sp>
        <p:nvSpPr>
          <p:cNvPr id="33" name="Text 31"/>
          <p:cNvSpPr/>
          <p:nvPr/>
        </p:nvSpPr>
        <p:spPr>
          <a:xfrm>
            <a:off x="9784080" y="2788920"/>
            <a:ext cx="169164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~80K</a:t>
            </a:r>
            <a:endParaRPr lang="en-US" sz="1050" dirty="0"/>
          </a:p>
        </p:txBody>
      </p:sp>
      <p:sp>
        <p:nvSpPr>
          <p:cNvPr id="34" name="Text 32"/>
          <p:cNvSpPr/>
          <p:nvPr/>
        </p:nvSpPr>
        <p:spPr>
          <a:xfrm>
            <a:off x="6537960" y="3063240"/>
            <a:ext cx="370332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Conversion holds at 5%</a:t>
            </a:r>
            <a:endParaRPr lang="en-US" sz="1050" dirty="0"/>
          </a:p>
        </p:txBody>
      </p:sp>
      <p:sp>
        <p:nvSpPr>
          <p:cNvPr id="35" name="Text 33"/>
          <p:cNvSpPr/>
          <p:nvPr/>
        </p:nvSpPr>
        <p:spPr>
          <a:xfrm>
            <a:off x="9784080" y="3063240"/>
            <a:ext cx="169164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~4,000 Launch</a:t>
            </a:r>
            <a:endParaRPr lang="en-US" sz="1050" dirty="0"/>
          </a:p>
        </p:txBody>
      </p:sp>
      <p:sp>
        <p:nvSpPr>
          <p:cNvPr id="36" name="Text 34"/>
          <p:cNvSpPr/>
          <p:nvPr/>
        </p:nvSpPr>
        <p:spPr>
          <a:xfrm>
            <a:off x="6537960" y="3337560"/>
            <a:ext cx="370332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Growth conversion lifts to 15%</a:t>
            </a:r>
            <a:endParaRPr lang="en-US" sz="1050" dirty="0"/>
          </a:p>
        </p:txBody>
      </p:sp>
      <p:sp>
        <p:nvSpPr>
          <p:cNvPr id="37" name="Text 35"/>
          <p:cNvSpPr/>
          <p:nvPr/>
        </p:nvSpPr>
        <p:spPr>
          <a:xfrm>
            <a:off x="9784080" y="3337560"/>
            <a:ext cx="169164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~600 Growth</a:t>
            </a:r>
            <a:endParaRPr lang="en-US" sz="1050" dirty="0"/>
          </a:p>
        </p:txBody>
      </p:sp>
      <p:sp>
        <p:nvSpPr>
          <p:cNvPr id="38" name="Text 36"/>
          <p:cNvSpPr/>
          <p:nvPr/>
        </p:nvSpPr>
        <p:spPr>
          <a:xfrm>
            <a:off x="6537960" y="3611880"/>
            <a:ext cx="370332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Active after churn</a:t>
            </a:r>
            <a:endParaRPr lang="en-US" sz="1050" dirty="0"/>
          </a:p>
        </p:txBody>
      </p:sp>
      <p:sp>
        <p:nvSpPr>
          <p:cNvPr id="39" name="Text 37"/>
          <p:cNvSpPr/>
          <p:nvPr/>
        </p:nvSpPr>
        <p:spPr>
          <a:xfrm>
            <a:off x="9784080" y="3611880"/>
            <a:ext cx="169164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~1,700 L · ~430 G</a:t>
            </a:r>
            <a:endParaRPr lang="en-US" sz="1050" dirty="0"/>
          </a:p>
        </p:txBody>
      </p:sp>
      <p:sp>
        <p:nvSpPr>
          <p:cNvPr id="40" name="Text 38"/>
          <p:cNvSpPr/>
          <p:nvPr/>
        </p:nvSpPr>
        <p:spPr>
          <a:xfrm>
            <a:off x="6537960" y="3886200"/>
            <a:ext cx="370332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Launch sub MRR × £15.80</a:t>
            </a:r>
            <a:endParaRPr lang="en-US" sz="1050" dirty="0"/>
          </a:p>
        </p:txBody>
      </p:sp>
      <p:sp>
        <p:nvSpPr>
          <p:cNvPr id="41" name="Text 39"/>
          <p:cNvSpPr/>
          <p:nvPr/>
        </p:nvSpPr>
        <p:spPr>
          <a:xfrm>
            <a:off x="9784080" y="3886200"/>
            <a:ext cx="169164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£27K/mo</a:t>
            </a:r>
            <a:endParaRPr lang="en-US" sz="1050" dirty="0"/>
          </a:p>
        </p:txBody>
      </p:sp>
      <p:sp>
        <p:nvSpPr>
          <p:cNvPr id="42" name="Text 40"/>
          <p:cNvSpPr/>
          <p:nvPr/>
        </p:nvSpPr>
        <p:spPr>
          <a:xfrm>
            <a:off x="6537960" y="4160520"/>
            <a:ext cx="370332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Growth sub MRR × £39</a:t>
            </a:r>
            <a:endParaRPr lang="en-US" sz="1050" dirty="0"/>
          </a:p>
        </p:txBody>
      </p:sp>
      <p:sp>
        <p:nvSpPr>
          <p:cNvPr id="43" name="Text 41"/>
          <p:cNvSpPr/>
          <p:nvPr/>
        </p:nvSpPr>
        <p:spPr>
          <a:xfrm>
            <a:off x="9784080" y="4160520"/>
            <a:ext cx="169164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£16.8K/mo</a:t>
            </a:r>
            <a:endParaRPr lang="en-US" sz="1050" dirty="0"/>
          </a:p>
        </p:txBody>
      </p:sp>
      <p:sp>
        <p:nvSpPr>
          <p:cNvPr id="44" name="Text 42"/>
          <p:cNvSpPr/>
          <p:nvPr/>
        </p:nvSpPr>
        <p:spPr>
          <a:xfrm>
            <a:off x="6537960" y="4434840"/>
            <a:ext cx="370332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Setup amortised</a:t>
            </a:r>
            <a:endParaRPr lang="en-US" sz="1050" dirty="0"/>
          </a:p>
        </p:txBody>
      </p:sp>
      <p:sp>
        <p:nvSpPr>
          <p:cNvPr id="45" name="Text 43"/>
          <p:cNvSpPr/>
          <p:nvPr/>
        </p:nvSpPr>
        <p:spPr>
          <a:xfrm>
            <a:off x="9784080" y="4434840"/>
            <a:ext cx="169164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~£20K/mo</a:t>
            </a:r>
            <a:endParaRPr lang="en-US" sz="1050" dirty="0"/>
          </a:p>
        </p:txBody>
      </p:sp>
      <p:sp>
        <p:nvSpPr>
          <p:cNvPr id="46" name="Text 44"/>
          <p:cNvSpPr/>
          <p:nvPr/>
        </p:nvSpPr>
        <p:spPr>
          <a:xfrm>
            <a:off x="6537960" y="4709160"/>
            <a:ext cx="370332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Overage + affiliate</a:t>
            </a:r>
            <a:endParaRPr lang="en-US" sz="1050" dirty="0"/>
          </a:p>
        </p:txBody>
      </p:sp>
      <p:sp>
        <p:nvSpPr>
          <p:cNvPr id="47" name="Text 45"/>
          <p:cNvSpPr/>
          <p:nvPr/>
        </p:nvSpPr>
        <p:spPr>
          <a:xfrm>
            <a:off x="9784080" y="4709160"/>
            <a:ext cx="169164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~£2K/mo</a:t>
            </a:r>
            <a:endParaRPr lang="en-US" sz="1050" dirty="0"/>
          </a:p>
        </p:txBody>
      </p:sp>
      <p:sp>
        <p:nvSpPr>
          <p:cNvPr id="48" name="Text 46"/>
          <p:cNvSpPr/>
          <p:nvPr/>
        </p:nvSpPr>
        <p:spPr>
          <a:xfrm>
            <a:off x="6537960" y="4983480"/>
            <a:ext cx="3703320" cy="274320"/>
          </a:xfrm>
          <a:prstGeom prst="rect">
            <a:avLst/>
          </a:prstGeom>
          <a:noFill/>
          <a:ln/>
        </p:spPr>
        <p:txBody>
          <a:bodyPr wrap="square" rtlCol="0" anchor="ctr"/>
          <a:lstStyle/>
          <a:p>
            <a:pPr indent="0" marL="0">
              <a:buNone/>
            </a:pPr>
            <a:r>
              <a:rPr lang="en-US" sz="1050" dirty="0">
                <a:solidFill>
                  <a:srgbClr val="1E293B"/>
                </a:solidFill>
                <a:latin typeface="DM Sans" pitchFamily="34" charset="0"/>
                <a:ea typeface="DM Sans" pitchFamily="34" charset="-122"/>
                <a:cs typeface="DM Sans" pitchFamily="34" charset="-120"/>
              </a:rPr>
              <a:t>Multi-region / cohort effects</a:t>
            </a:r>
            <a:endParaRPr lang="en-US" sz="1050" dirty="0"/>
          </a:p>
        </p:txBody>
      </p:sp>
      <p:sp>
        <p:nvSpPr>
          <p:cNvPr id="49" name="Text 47"/>
          <p:cNvSpPr/>
          <p:nvPr/>
        </p:nvSpPr>
        <p:spPr>
          <a:xfrm>
            <a:off x="9784080" y="4983480"/>
            <a:ext cx="1691640" cy="274320"/>
          </a:xfrm>
          <a:prstGeom prst="rect">
            <a:avLst/>
          </a:prstGeom>
          <a:noFill/>
          <a:ln/>
        </p:spPr>
        <p:txBody>
          <a:bodyPr wrap="square" rtlCol="0" anchor="ctr"/>
          <a:lstStyle/>
          <a:p>
            <a:pPr algn="r" indent="0" marL="0">
              <a:buNone/>
            </a:pPr>
            <a:r>
              <a:rPr lang="en-US" sz="1050" dirty="0">
                <a:solidFill>
                  <a:srgbClr val="64748B"/>
                </a:solidFill>
                <a:latin typeface="JetBrains Mono" pitchFamily="34" charset="0"/>
                <a:ea typeface="JetBrains Mono" pitchFamily="34" charset="-122"/>
                <a:cs typeface="JetBrains Mono" pitchFamily="34" charset="-120"/>
              </a:rPr>
              <a:t>~£4K headroom</a:t>
            </a:r>
            <a:endParaRPr lang="en-US" sz="1050" dirty="0"/>
          </a:p>
        </p:txBody>
      </p:sp>
      <p:sp>
        <p:nvSpPr>
          <p:cNvPr id="50" name="Shape 48"/>
          <p:cNvSpPr/>
          <p:nvPr/>
        </p:nvSpPr>
        <p:spPr>
          <a:xfrm>
            <a:off x="6446520" y="5239512"/>
            <a:ext cx="5029200" cy="310896"/>
          </a:xfrm>
          <a:prstGeom prst="rect">
            <a:avLst/>
          </a:prstGeom>
          <a:solidFill>
            <a:srgbClr val="FEF3C7"/>
          </a:solidFill>
          <a:ln w="12700">
            <a:solidFill>
              <a:srgbClr val="333333"/>
            </a:solidFill>
            <a:prstDash val="solid"/>
          </a:ln>
        </p:spPr>
      </p:sp>
      <p:sp>
        <p:nvSpPr>
          <p:cNvPr id="51" name="Text 49"/>
          <p:cNvSpPr/>
          <p:nvPr/>
        </p:nvSpPr>
        <p:spPr>
          <a:xfrm>
            <a:off x="6537960" y="5257800"/>
            <a:ext cx="3703320" cy="274320"/>
          </a:xfrm>
          <a:prstGeom prst="rect">
            <a:avLst/>
          </a:prstGeom>
          <a:noFill/>
          <a:ln/>
        </p:spPr>
        <p:txBody>
          <a:bodyPr wrap="square" rtlCol="0" anchor="ctr"/>
          <a:lstStyle/>
          <a:p>
            <a:pPr indent="0" marL="0">
              <a:buNone/>
            </a:pPr>
            <a:r>
              <a:rPr lang="en-US" sz="1050" b="1" dirty="0">
                <a:solidFill>
                  <a:srgbClr val="B45309"/>
                </a:solidFill>
                <a:latin typeface="DM Sans" pitchFamily="34" charset="0"/>
                <a:ea typeface="DM Sans" pitchFamily="34" charset="-122"/>
                <a:cs typeface="DM Sans" pitchFamily="34" charset="-120"/>
              </a:rPr>
              <a:t>M18 upside case rounded</a:t>
            </a:r>
            <a:endParaRPr lang="en-US" sz="1050" dirty="0"/>
          </a:p>
        </p:txBody>
      </p:sp>
      <p:sp>
        <p:nvSpPr>
          <p:cNvPr id="52" name="Text 50"/>
          <p:cNvSpPr/>
          <p:nvPr/>
        </p:nvSpPr>
        <p:spPr>
          <a:xfrm>
            <a:off x="9784080" y="5257800"/>
            <a:ext cx="1691640" cy="274320"/>
          </a:xfrm>
          <a:prstGeom prst="rect">
            <a:avLst/>
          </a:prstGeom>
          <a:noFill/>
          <a:ln/>
        </p:spPr>
        <p:txBody>
          <a:bodyPr wrap="square" rtlCol="0" anchor="ctr"/>
          <a:lstStyle/>
          <a:p>
            <a:pPr algn="r" indent="0" marL="0">
              <a:buNone/>
            </a:pPr>
            <a:r>
              <a:rPr lang="en-US" sz="1050" b="1" dirty="0">
                <a:solidFill>
                  <a:srgbClr val="B45309"/>
                </a:solidFill>
                <a:latin typeface="JetBrains Mono" pitchFamily="34" charset="0"/>
                <a:ea typeface="JetBrains Mono" pitchFamily="34" charset="-122"/>
                <a:cs typeface="JetBrains Mono" pitchFamily="34" charset="-120"/>
              </a:rPr>
              <a:t>~£380K</a:t>
            </a:r>
            <a:endParaRPr lang="en-US" sz="1050" dirty="0"/>
          </a:p>
        </p:txBody>
      </p:sp>
      <p:sp>
        <p:nvSpPr>
          <p:cNvPr id="53" name="Text 51"/>
          <p:cNvSpPr/>
          <p:nvPr/>
        </p:nvSpPr>
        <p:spPr>
          <a:xfrm>
            <a:off x="502920" y="6080760"/>
            <a:ext cx="11155680" cy="274320"/>
          </a:xfrm>
          <a:prstGeom prst="rect">
            <a:avLst/>
          </a:prstGeom>
          <a:noFill/>
          <a:ln/>
        </p:spPr>
        <p:txBody>
          <a:bodyPr wrap="square" rtlCol="0" anchor="ctr"/>
          <a:lstStyle/>
          <a:p>
            <a:pPr indent="0" marL="0">
              <a:buNone/>
            </a:pPr>
            <a:r>
              <a:rPr lang="en-US" sz="900" i="1" dirty="0">
                <a:solidFill>
                  <a:srgbClr val="64748B"/>
                </a:solidFill>
                <a:latin typeface="DM Sans" pitchFamily="34" charset="0"/>
                <a:ea typeface="DM Sans" pitchFamily="34" charset="-122"/>
                <a:cs typeface="DM Sans" pitchFamily="34" charset="-120"/>
              </a:rPr>
              <a:t>Conversion + churn + ARPU mid-range from AI_COGS_SENSITIVITY.xlsx. Pessimistic case (3% conversion, 5% churn) lands ~£60K M18; sprint base = 5% conversion / 3% churn; sprint upside adds paid-acquisition lift on top.</a:t>
            </a:r>
            <a:endParaRPr lang="en-US" sz="900" dirty="0"/>
          </a:p>
        </p:txBody>
      </p:sp>
      <p:sp>
        <p:nvSpPr>
          <p:cNvPr id="54" name="Text 52"/>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55" name="Text 53"/>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25  ·  APPENDIX  ·  USE OF FUNDS</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How the raise is spent. By month, by line item.</a:t>
            </a:r>
            <a:endParaRPr lang="en-US" sz="3000" dirty="0"/>
          </a:p>
        </p:txBody>
      </p:sp>
      <p:sp>
        <p:nvSpPr>
          <p:cNvPr id="4" name="Text 2"/>
          <p:cNvSpPr/>
          <p:nvPr/>
        </p:nvSpPr>
        <p:spPr>
          <a:xfrm>
            <a:off x="502920" y="1417320"/>
            <a:ext cx="11155680" cy="502920"/>
          </a:xfrm>
          <a:prstGeom prst="rect">
            <a:avLst/>
          </a:prstGeom>
          <a:noFill/>
          <a:ln/>
        </p:spPr>
        <p:txBody>
          <a:bodyPr wrap="square" rtlCol="0" anchor="ctr"/>
          <a:lstStyle/>
          <a:p>
            <a:pPr indent="0" marL="0">
              <a:buNone/>
            </a:pPr>
            <a:r>
              <a:rPr lang="en-US" sz="1400" dirty="0">
                <a:solidFill>
                  <a:srgbClr val="334155"/>
                </a:solidFill>
                <a:latin typeface="DM Sans" pitchFamily="34" charset="0"/>
                <a:ea typeface="DM Sans" pitchFamily="34" charset="-122"/>
                <a:cs typeface="DM Sans" pitchFamily="34" charset="-120"/>
              </a:rPr>
              <a:t>Modelled at the £700K midpoint of the £500K–£1M range. Scales linearly above/below.</a:t>
            </a:r>
            <a:endParaRPr lang="en-US" sz="1400" dirty="0"/>
          </a:p>
        </p:txBody>
      </p:sp>
      <p:sp>
        <p:nvSpPr>
          <p:cNvPr id="5" name="Shape 3"/>
          <p:cNvSpPr/>
          <p:nvPr/>
        </p:nvSpPr>
        <p:spPr>
          <a:xfrm>
            <a:off x="502920" y="2103120"/>
            <a:ext cx="3596640" cy="4114800"/>
          </a:xfrm>
          <a:prstGeom prst="roundRect">
            <a:avLst>
              <a:gd name="adj" fmla="val 2034"/>
            </a:avLst>
          </a:prstGeom>
          <a:solidFill>
            <a:srgbClr val="FFFFFF"/>
          </a:solidFill>
          <a:ln w="9525">
            <a:solidFill>
              <a:srgbClr val="E2E8F0"/>
            </a:solidFill>
            <a:prstDash val="solid"/>
          </a:ln>
        </p:spPr>
      </p:sp>
      <p:sp>
        <p:nvSpPr>
          <p:cNvPr id="6" name="Shape 4"/>
          <p:cNvSpPr/>
          <p:nvPr/>
        </p:nvSpPr>
        <p:spPr>
          <a:xfrm>
            <a:off x="502920" y="2103120"/>
            <a:ext cx="3596640" cy="54864"/>
          </a:xfrm>
          <a:prstGeom prst="rect">
            <a:avLst/>
          </a:prstGeom>
          <a:solidFill>
            <a:srgbClr val="4F46E5"/>
          </a:solidFill>
          <a:ln w="12700">
            <a:solidFill>
              <a:srgbClr val="4F46E5"/>
            </a:solidFill>
            <a:prstDash val="solid"/>
          </a:ln>
        </p:spPr>
      </p:sp>
      <p:sp>
        <p:nvSpPr>
          <p:cNvPr id="7" name="Text 5"/>
          <p:cNvSpPr/>
          <p:nvPr/>
        </p:nvSpPr>
        <p:spPr>
          <a:xfrm>
            <a:off x="777240" y="2331720"/>
            <a:ext cx="3139440" cy="320040"/>
          </a:xfrm>
          <a:prstGeom prst="rect">
            <a:avLst/>
          </a:prstGeom>
          <a:noFill/>
          <a:ln/>
        </p:spPr>
        <p:txBody>
          <a:bodyPr wrap="square" rtlCol="0" anchor="ctr"/>
          <a:lstStyle/>
          <a:p>
            <a:pPr indent="0" marL="0">
              <a:buNone/>
            </a:pPr>
            <a:r>
              <a:rPr lang="en-US" sz="1100" b="1" spc="300" kern="0" dirty="0">
                <a:solidFill>
                  <a:srgbClr val="4F46E5"/>
                </a:solidFill>
                <a:latin typeface="JetBrains Mono" pitchFamily="34" charset="0"/>
                <a:ea typeface="JetBrains Mono" pitchFamily="34" charset="-122"/>
                <a:cs typeface="JetBrains Mono" pitchFamily="34" charset="-120"/>
              </a:rPr>
              <a:t>60%  ·  £420K</a:t>
            </a:r>
            <a:endParaRPr lang="en-US" sz="1100" dirty="0"/>
          </a:p>
        </p:txBody>
      </p:sp>
      <p:sp>
        <p:nvSpPr>
          <p:cNvPr id="8" name="Text 6"/>
          <p:cNvSpPr/>
          <p:nvPr/>
        </p:nvSpPr>
        <p:spPr>
          <a:xfrm>
            <a:off x="777240" y="2697480"/>
            <a:ext cx="3139440" cy="411480"/>
          </a:xfrm>
          <a:prstGeom prst="rect">
            <a:avLst/>
          </a:prstGeom>
          <a:noFill/>
          <a:ln/>
        </p:spPr>
        <p:txBody>
          <a:bodyPr wrap="square" rtlCol="0" anchor="ctr"/>
          <a:lstStyle/>
          <a:p>
            <a:pPr indent="0" marL="0">
              <a:lnSpc>
                <a:spcPct val="120000"/>
              </a:lnSpc>
              <a:buNone/>
            </a:pPr>
            <a:r>
              <a:rPr lang="en-US" sz="1300" b="1" dirty="0">
                <a:solidFill>
                  <a:srgbClr val="0F172A"/>
                </a:solidFill>
                <a:latin typeface="DM Sans" pitchFamily="34" charset="0"/>
                <a:ea typeface="DM Sans" pitchFamily="34" charset="-122"/>
                <a:cs typeface="DM Sans" pitchFamily="34" charset="-120"/>
              </a:rPr>
              <a:t>PAID ACQUISITION</a:t>
            </a:r>
            <a:endParaRPr lang="en-US" sz="1300" dirty="0"/>
          </a:p>
        </p:txBody>
      </p:sp>
      <p:sp>
        <p:nvSpPr>
          <p:cNvPr id="9" name="Text 7"/>
          <p:cNvSpPr/>
          <p:nvPr/>
        </p:nvSpPr>
        <p:spPr>
          <a:xfrm>
            <a:off x="777240" y="3291840"/>
            <a:ext cx="182880" cy="274320"/>
          </a:xfrm>
          <a:prstGeom prst="rect">
            <a:avLst/>
          </a:prstGeom>
          <a:noFill/>
          <a:ln/>
        </p:spPr>
        <p:txBody>
          <a:bodyPr wrap="square" rtlCol="0" anchor="ctr"/>
          <a:lstStyle/>
          <a:p>
            <a:pPr indent="0" marL="0">
              <a:buNone/>
            </a:pPr>
            <a:r>
              <a:rPr lang="en-US" sz="1200" dirty="0">
                <a:solidFill>
                  <a:srgbClr val="4F46E5"/>
                </a:solidFill>
                <a:latin typeface="DM Sans" pitchFamily="34" charset="0"/>
                <a:ea typeface="DM Sans" pitchFamily="34" charset="-122"/>
                <a:cs typeface="DM Sans" pitchFamily="34" charset="-120"/>
              </a:rPr>
              <a:t>•</a:t>
            </a:r>
            <a:endParaRPr lang="en-US" sz="1200" dirty="0"/>
          </a:p>
        </p:txBody>
      </p:sp>
      <p:sp>
        <p:nvSpPr>
          <p:cNvPr id="10" name="Text 8"/>
          <p:cNvSpPr/>
          <p:nvPr/>
        </p:nvSpPr>
        <p:spPr>
          <a:xfrm>
            <a:off x="960120" y="329184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Creator sponsorships (Theo, Fireship-adjacent, indie creators)</a:t>
            </a:r>
            <a:endParaRPr lang="en-US" sz="950" dirty="0"/>
          </a:p>
        </p:txBody>
      </p:sp>
      <p:sp>
        <p:nvSpPr>
          <p:cNvPr id="11" name="Text 9"/>
          <p:cNvSpPr/>
          <p:nvPr/>
        </p:nvSpPr>
        <p:spPr>
          <a:xfrm>
            <a:off x="3139440" y="333756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£180K</a:t>
            </a:r>
            <a:endParaRPr lang="en-US" sz="950" dirty="0"/>
          </a:p>
        </p:txBody>
      </p:sp>
      <p:sp>
        <p:nvSpPr>
          <p:cNvPr id="12" name="Text 10"/>
          <p:cNvSpPr/>
          <p:nvPr/>
        </p:nvSpPr>
        <p:spPr>
          <a:xfrm>
            <a:off x="777240" y="3886200"/>
            <a:ext cx="182880" cy="274320"/>
          </a:xfrm>
          <a:prstGeom prst="rect">
            <a:avLst/>
          </a:prstGeom>
          <a:noFill/>
          <a:ln/>
        </p:spPr>
        <p:txBody>
          <a:bodyPr wrap="square" rtlCol="0" anchor="ctr"/>
          <a:lstStyle/>
          <a:p>
            <a:pPr indent="0" marL="0">
              <a:buNone/>
            </a:pPr>
            <a:r>
              <a:rPr lang="en-US" sz="1200" dirty="0">
                <a:solidFill>
                  <a:srgbClr val="4F46E5"/>
                </a:solidFill>
                <a:latin typeface="DM Sans" pitchFamily="34" charset="0"/>
                <a:ea typeface="DM Sans" pitchFamily="34" charset="-122"/>
                <a:cs typeface="DM Sans" pitchFamily="34" charset="-120"/>
              </a:rPr>
              <a:t>•</a:t>
            </a:r>
            <a:endParaRPr lang="en-US" sz="1200" dirty="0"/>
          </a:p>
        </p:txBody>
      </p:sp>
      <p:sp>
        <p:nvSpPr>
          <p:cNvPr id="13" name="Text 11"/>
          <p:cNvSpPr/>
          <p:nvPr/>
        </p:nvSpPr>
        <p:spPr>
          <a:xfrm>
            <a:off x="960120" y="388620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Retargeted paid (Meta, X, YouTube pre-roll)</a:t>
            </a:r>
            <a:endParaRPr lang="en-US" sz="950" dirty="0"/>
          </a:p>
        </p:txBody>
      </p:sp>
      <p:sp>
        <p:nvSpPr>
          <p:cNvPr id="14" name="Text 12"/>
          <p:cNvSpPr/>
          <p:nvPr/>
        </p:nvSpPr>
        <p:spPr>
          <a:xfrm>
            <a:off x="3139440" y="393192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£140K</a:t>
            </a:r>
            <a:endParaRPr lang="en-US" sz="950" dirty="0"/>
          </a:p>
        </p:txBody>
      </p:sp>
      <p:sp>
        <p:nvSpPr>
          <p:cNvPr id="15" name="Text 13"/>
          <p:cNvSpPr/>
          <p:nvPr/>
        </p:nvSpPr>
        <p:spPr>
          <a:xfrm>
            <a:off x="777240" y="4480560"/>
            <a:ext cx="182880" cy="274320"/>
          </a:xfrm>
          <a:prstGeom prst="rect">
            <a:avLst/>
          </a:prstGeom>
          <a:noFill/>
          <a:ln/>
        </p:spPr>
        <p:txBody>
          <a:bodyPr wrap="square" rtlCol="0" anchor="ctr"/>
          <a:lstStyle/>
          <a:p>
            <a:pPr indent="0" marL="0">
              <a:buNone/>
            </a:pPr>
            <a:r>
              <a:rPr lang="en-US" sz="1200" dirty="0">
                <a:solidFill>
                  <a:srgbClr val="4F46E5"/>
                </a:solidFill>
                <a:latin typeface="DM Sans" pitchFamily="34" charset="0"/>
                <a:ea typeface="DM Sans" pitchFamily="34" charset="-122"/>
                <a:cs typeface="DM Sans" pitchFamily="34" charset="-120"/>
              </a:rPr>
              <a:t>•</a:t>
            </a:r>
            <a:endParaRPr lang="en-US" sz="1200" dirty="0"/>
          </a:p>
        </p:txBody>
      </p:sp>
      <p:sp>
        <p:nvSpPr>
          <p:cNvPr id="16" name="Text 14"/>
          <p:cNvSpPr/>
          <p:nvPr/>
        </p:nvSpPr>
        <p:spPr>
          <a:xfrm>
            <a:off x="960120" y="448056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Newsletter sponsorships (TLDR, Hacker Newsletter)</a:t>
            </a:r>
            <a:endParaRPr lang="en-US" sz="950" dirty="0"/>
          </a:p>
        </p:txBody>
      </p:sp>
      <p:sp>
        <p:nvSpPr>
          <p:cNvPr id="17" name="Text 15"/>
          <p:cNvSpPr/>
          <p:nvPr/>
        </p:nvSpPr>
        <p:spPr>
          <a:xfrm>
            <a:off x="3139440" y="452628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£50K</a:t>
            </a:r>
            <a:endParaRPr lang="en-US" sz="950" dirty="0"/>
          </a:p>
        </p:txBody>
      </p:sp>
      <p:sp>
        <p:nvSpPr>
          <p:cNvPr id="18" name="Text 16"/>
          <p:cNvSpPr/>
          <p:nvPr/>
        </p:nvSpPr>
        <p:spPr>
          <a:xfrm>
            <a:off x="777240" y="5074920"/>
            <a:ext cx="182880" cy="274320"/>
          </a:xfrm>
          <a:prstGeom prst="rect">
            <a:avLst/>
          </a:prstGeom>
          <a:noFill/>
          <a:ln/>
        </p:spPr>
        <p:txBody>
          <a:bodyPr wrap="square" rtlCol="0" anchor="ctr"/>
          <a:lstStyle/>
          <a:p>
            <a:pPr indent="0" marL="0">
              <a:buNone/>
            </a:pPr>
            <a:r>
              <a:rPr lang="en-US" sz="1200" dirty="0">
                <a:solidFill>
                  <a:srgbClr val="4F46E5"/>
                </a:solidFill>
                <a:latin typeface="DM Sans" pitchFamily="34" charset="0"/>
                <a:ea typeface="DM Sans" pitchFamily="34" charset="-122"/>
                <a:cs typeface="DM Sans" pitchFamily="34" charset="-120"/>
              </a:rPr>
              <a:t>•</a:t>
            </a:r>
            <a:endParaRPr lang="en-US" sz="1200" dirty="0"/>
          </a:p>
        </p:txBody>
      </p:sp>
      <p:sp>
        <p:nvSpPr>
          <p:cNvPr id="19" name="Text 17"/>
          <p:cNvSpPr/>
          <p:nvPr/>
        </p:nvSpPr>
        <p:spPr>
          <a:xfrm>
            <a:off x="960120" y="507492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Conference + indie-hacker community events</a:t>
            </a:r>
            <a:endParaRPr lang="en-US" sz="950" dirty="0"/>
          </a:p>
        </p:txBody>
      </p:sp>
      <p:sp>
        <p:nvSpPr>
          <p:cNvPr id="20" name="Text 18"/>
          <p:cNvSpPr/>
          <p:nvPr/>
        </p:nvSpPr>
        <p:spPr>
          <a:xfrm>
            <a:off x="3139440" y="512064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£30K</a:t>
            </a:r>
            <a:endParaRPr lang="en-US" sz="950" dirty="0"/>
          </a:p>
        </p:txBody>
      </p:sp>
      <p:sp>
        <p:nvSpPr>
          <p:cNvPr id="21" name="Text 19"/>
          <p:cNvSpPr/>
          <p:nvPr/>
        </p:nvSpPr>
        <p:spPr>
          <a:xfrm>
            <a:off x="777240" y="5669280"/>
            <a:ext cx="182880" cy="274320"/>
          </a:xfrm>
          <a:prstGeom prst="rect">
            <a:avLst/>
          </a:prstGeom>
          <a:noFill/>
          <a:ln/>
        </p:spPr>
        <p:txBody>
          <a:bodyPr wrap="square" rtlCol="0" anchor="ctr"/>
          <a:lstStyle/>
          <a:p>
            <a:pPr indent="0" marL="0">
              <a:buNone/>
            </a:pPr>
            <a:r>
              <a:rPr lang="en-US" sz="1200" dirty="0">
                <a:solidFill>
                  <a:srgbClr val="4F46E5"/>
                </a:solidFill>
                <a:latin typeface="DM Sans" pitchFamily="34" charset="0"/>
                <a:ea typeface="DM Sans" pitchFamily="34" charset="-122"/>
                <a:cs typeface="DM Sans" pitchFamily="34" charset="-120"/>
              </a:rPr>
              <a:t>•</a:t>
            </a:r>
            <a:endParaRPr lang="en-US" sz="1200" dirty="0"/>
          </a:p>
        </p:txBody>
      </p:sp>
      <p:sp>
        <p:nvSpPr>
          <p:cNvPr id="22" name="Text 20"/>
          <p:cNvSpPr/>
          <p:nvPr/>
        </p:nvSpPr>
        <p:spPr>
          <a:xfrm>
            <a:off x="960120" y="566928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Affiliate / referral programme bootstrap</a:t>
            </a:r>
            <a:endParaRPr lang="en-US" sz="950" dirty="0"/>
          </a:p>
        </p:txBody>
      </p:sp>
      <p:sp>
        <p:nvSpPr>
          <p:cNvPr id="23" name="Text 21"/>
          <p:cNvSpPr/>
          <p:nvPr/>
        </p:nvSpPr>
        <p:spPr>
          <a:xfrm>
            <a:off x="3139440" y="571500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£20K</a:t>
            </a:r>
            <a:endParaRPr lang="en-US" sz="950" dirty="0"/>
          </a:p>
        </p:txBody>
      </p:sp>
      <p:sp>
        <p:nvSpPr>
          <p:cNvPr id="24" name="Shape 22"/>
          <p:cNvSpPr/>
          <p:nvPr/>
        </p:nvSpPr>
        <p:spPr>
          <a:xfrm>
            <a:off x="4282440" y="2103120"/>
            <a:ext cx="3596640" cy="4114800"/>
          </a:xfrm>
          <a:prstGeom prst="roundRect">
            <a:avLst>
              <a:gd name="adj" fmla="val 2034"/>
            </a:avLst>
          </a:prstGeom>
          <a:solidFill>
            <a:srgbClr val="FFFFFF"/>
          </a:solidFill>
          <a:ln w="9525">
            <a:solidFill>
              <a:srgbClr val="E2E8F0"/>
            </a:solidFill>
            <a:prstDash val="solid"/>
          </a:ln>
        </p:spPr>
      </p:sp>
      <p:sp>
        <p:nvSpPr>
          <p:cNvPr id="25" name="Shape 23"/>
          <p:cNvSpPr/>
          <p:nvPr/>
        </p:nvSpPr>
        <p:spPr>
          <a:xfrm>
            <a:off x="4282440" y="2103120"/>
            <a:ext cx="3596640" cy="54864"/>
          </a:xfrm>
          <a:prstGeom prst="rect">
            <a:avLst/>
          </a:prstGeom>
          <a:solidFill>
            <a:srgbClr val="F59E0B"/>
          </a:solidFill>
          <a:ln w="12700">
            <a:solidFill>
              <a:srgbClr val="F59E0B"/>
            </a:solidFill>
            <a:prstDash val="solid"/>
          </a:ln>
        </p:spPr>
      </p:sp>
      <p:sp>
        <p:nvSpPr>
          <p:cNvPr id="26" name="Text 24"/>
          <p:cNvSpPr/>
          <p:nvPr/>
        </p:nvSpPr>
        <p:spPr>
          <a:xfrm>
            <a:off x="4556760" y="2331720"/>
            <a:ext cx="3139440" cy="320040"/>
          </a:xfrm>
          <a:prstGeom prst="rect">
            <a:avLst/>
          </a:prstGeom>
          <a:noFill/>
          <a:ln/>
        </p:spPr>
        <p:txBody>
          <a:bodyPr wrap="square" rtlCol="0" anchor="ctr"/>
          <a:lstStyle/>
          <a:p>
            <a:pPr indent="0" marL="0">
              <a:buNone/>
            </a:pPr>
            <a:r>
              <a:rPr lang="en-US" sz="1100" b="1" spc="300" kern="0" dirty="0">
                <a:solidFill>
                  <a:srgbClr val="F59E0B"/>
                </a:solidFill>
                <a:latin typeface="JetBrains Mono" pitchFamily="34" charset="0"/>
                <a:ea typeface="JetBrains Mono" pitchFamily="34" charset="-122"/>
                <a:cs typeface="JetBrains Mono" pitchFamily="34" charset="-120"/>
              </a:rPr>
              <a:t>25%  ·  £175K</a:t>
            </a:r>
            <a:endParaRPr lang="en-US" sz="1100" dirty="0"/>
          </a:p>
        </p:txBody>
      </p:sp>
      <p:sp>
        <p:nvSpPr>
          <p:cNvPr id="27" name="Text 25"/>
          <p:cNvSpPr/>
          <p:nvPr/>
        </p:nvSpPr>
        <p:spPr>
          <a:xfrm>
            <a:off x="4556760" y="2697480"/>
            <a:ext cx="3139440" cy="411480"/>
          </a:xfrm>
          <a:prstGeom prst="rect">
            <a:avLst/>
          </a:prstGeom>
          <a:noFill/>
          <a:ln/>
        </p:spPr>
        <p:txBody>
          <a:bodyPr wrap="square" rtlCol="0" anchor="ctr"/>
          <a:lstStyle/>
          <a:p>
            <a:pPr indent="0" marL="0">
              <a:lnSpc>
                <a:spcPct val="120000"/>
              </a:lnSpc>
              <a:buNone/>
            </a:pPr>
            <a:r>
              <a:rPr lang="en-US" sz="1300" b="1" dirty="0">
                <a:solidFill>
                  <a:srgbClr val="0F172A"/>
                </a:solidFill>
                <a:latin typeface="DM Sans" pitchFamily="34" charset="0"/>
                <a:ea typeface="DM Sans" pitchFamily="34" charset="-122"/>
                <a:cs typeface="DM Sans" pitchFamily="34" charset="-120"/>
              </a:rPr>
              <a:t>FIRST HIRES (12-MONTH BURN)</a:t>
            </a:r>
            <a:endParaRPr lang="en-US" sz="1300" dirty="0"/>
          </a:p>
        </p:txBody>
      </p:sp>
      <p:sp>
        <p:nvSpPr>
          <p:cNvPr id="28" name="Text 26"/>
          <p:cNvSpPr/>
          <p:nvPr/>
        </p:nvSpPr>
        <p:spPr>
          <a:xfrm>
            <a:off x="4556760" y="3291840"/>
            <a:ext cx="182880" cy="274320"/>
          </a:xfrm>
          <a:prstGeom prst="rect">
            <a:avLst/>
          </a:prstGeom>
          <a:noFill/>
          <a:ln/>
        </p:spPr>
        <p:txBody>
          <a:bodyPr wrap="square" rtlCol="0" anchor="ctr"/>
          <a:lstStyle/>
          <a:p>
            <a:pPr indent="0" marL="0">
              <a:buNone/>
            </a:pPr>
            <a:r>
              <a:rPr lang="en-US" sz="1200" dirty="0">
                <a:solidFill>
                  <a:srgbClr val="F59E0B"/>
                </a:solidFill>
                <a:latin typeface="DM Sans" pitchFamily="34" charset="0"/>
                <a:ea typeface="DM Sans" pitchFamily="34" charset="-122"/>
                <a:cs typeface="DM Sans" pitchFamily="34" charset="-120"/>
              </a:rPr>
              <a:t>•</a:t>
            </a:r>
            <a:endParaRPr lang="en-US" sz="1200" dirty="0"/>
          </a:p>
        </p:txBody>
      </p:sp>
      <p:sp>
        <p:nvSpPr>
          <p:cNvPr id="29" name="Text 27"/>
          <p:cNvSpPr/>
          <p:nvPr/>
        </p:nvSpPr>
        <p:spPr>
          <a:xfrm>
            <a:off x="4739640" y="329184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Engineer #1 — substrate hardening, multi-region, signed mobile pipeline</a:t>
            </a:r>
            <a:endParaRPr lang="en-US" sz="950" dirty="0"/>
          </a:p>
        </p:txBody>
      </p:sp>
      <p:sp>
        <p:nvSpPr>
          <p:cNvPr id="30" name="Text 28"/>
          <p:cNvSpPr/>
          <p:nvPr/>
        </p:nvSpPr>
        <p:spPr>
          <a:xfrm>
            <a:off x="6918960" y="333756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£95K</a:t>
            </a:r>
            <a:endParaRPr lang="en-US" sz="950" dirty="0"/>
          </a:p>
        </p:txBody>
      </p:sp>
      <p:sp>
        <p:nvSpPr>
          <p:cNvPr id="31" name="Text 29"/>
          <p:cNvSpPr/>
          <p:nvPr/>
        </p:nvSpPr>
        <p:spPr>
          <a:xfrm>
            <a:off x="4556760" y="3886200"/>
            <a:ext cx="182880" cy="274320"/>
          </a:xfrm>
          <a:prstGeom prst="rect">
            <a:avLst/>
          </a:prstGeom>
          <a:noFill/>
          <a:ln/>
        </p:spPr>
        <p:txBody>
          <a:bodyPr wrap="square" rtlCol="0" anchor="ctr"/>
          <a:lstStyle/>
          <a:p>
            <a:pPr indent="0" marL="0">
              <a:buNone/>
            </a:pPr>
            <a:r>
              <a:rPr lang="en-US" sz="1200" dirty="0">
                <a:solidFill>
                  <a:srgbClr val="F59E0B"/>
                </a:solidFill>
                <a:latin typeface="DM Sans" pitchFamily="34" charset="0"/>
                <a:ea typeface="DM Sans" pitchFamily="34" charset="-122"/>
                <a:cs typeface="DM Sans" pitchFamily="34" charset="-120"/>
              </a:rPr>
              <a:t>•</a:t>
            </a:r>
            <a:endParaRPr lang="en-US" sz="1200" dirty="0"/>
          </a:p>
        </p:txBody>
      </p:sp>
      <p:sp>
        <p:nvSpPr>
          <p:cNvPr id="32" name="Text 30"/>
          <p:cNvSpPr/>
          <p:nvPr/>
        </p:nvSpPr>
        <p:spPr>
          <a:xfrm>
            <a:off x="4739640" y="388620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Marketer #1 — content engine + creator relationships + comms</a:t>
            </a:r>
            <a:endParaRPr lang="en-US" sz="950" dirty="0"/>
          </a:p>
        </p:txBody>
      </p:sp>
      <p:sp>
        <p:nvSpPr>
          <p:cNvPr id="33" name="Text 31"/>
          <p:cNvSpPr/>
          <p:nvPr/>
        </p:nvSpPr>
        <p:spPr>
          <a:xfrm>
            <a:off x="6918960" y="393192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£65K</a:t>
            </a:r>
            <a:endParaRPr lang="en-US" sz="950" dirty="0"/>
          </a:p>
        </p:txBody>
      </p:sp>
      <p:sp>
        <p:nvSpPr>
          <p:cNvPr id="34" name="Text 32"/>
          <p:cNvSpPr/>
          <p:nvPr/>
        </p:nvSpPr>
        <p:spPr>
          <a:xfrm>
            <a:off x="4556760" y="4480560"/>
            <a:ext cx="182880" cy="274320"/>
          </a:xfrm>
          <a:prstGeom prst="rect">
            <a:avLst/>
          </a:prstGeom>
          <a:noFill/>
          <a:ln/>
        </p:spPr>
        <p:txBody>
          <a:bodyPr wrap="square" rtlCol="0" anchor="ctr"/>
          <a:lstStyle/>
          <a:p>
            <a:pPr indent="0" marL="0">
              <a:buNone/>
            </a:pPr>
            <a:r>
              <a:rPr lang="en-US" sz="1200" dirty="0">
                <a:solidFill>
                  <a:srgbClr val="F59E0B"/>
                </a:solidFill>
                <a:latin typeface="DM Sans" pitchFamily="34" charset="0"/>
                <a:ea typeface="DM Sans" pitchFamily="34" charset="-122"/>
                <a:cs typeface="DM Sans" pitchFamily="34" charset="-120"/>
              </a:rPr>
              <a:t>•</a:t>
            </a:r>
            <a:endParaRPr lang="en-US" sz="1200" dirty="0"/>
          </a:p>
        </p:txBody>
      </p:sp>
      <p:sp>
        <p:nvSpPr>
          <p:cNvPr id="35" name="Text 33"/>
          <p:cNvSpPr/>
          <p:nvPr/>
        </p:nvSpPr>
        <p:spPr>
          <a:xfrm>
            <a:off x="4739640" y="448056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Contractor budget (design, devops, legal)</a:t>
            </a:r>
            <a:endParaRPr lang="en-US" sz="950" dirty="0"/>
          </a:p>
        </p:txBody>
      </p:sp>
      <p:sp>
        <p:nvSpPr>
          <p:cNvPr id="36" name="Text 34"/>
          <p:cNvSpPr/>
          <p:nvPr/>
        </p:nvSpPr>
        <p:spPr>
          <a:xfrm>
            <a:off x="6918960" y="452628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£15K</a:t>
            </a:r>
            <a:endParaRPr lang="en-US" sz="950" dirty="0"/>
          </a:p>
        </p:txBody>
      </p:sp>
      <p:sp>
        <p:nvSpPr>
          <p:cNvPr id="37" name="Shape 35"/>
          <p:cNvSpPr/>
          <p:nvPr/>
        </p:nvSpPr>
        <p:spPr>
          <a:xfrm>
            <a:off x="8061960" y="2103120"/>
            <a:ext cx="3596640" cy="4114800"/>
          </a:xfrm>
          <a:prstGeom prst="roundRect">
            <a:avLst>
              <a:gd name="adj" fmla="val 2034"/>
            </a:avLst>
          </a:prstGeom>
          <a:solidFill>
            <a:srgbClr val="FFFFFF"/>
          </a:solidFill>
          <a:ln w="9525">
            <a:solidFill>
              <a:srgbClr val="E2E8F0"/>
            </a:solidFill>
            <a:prstDash val="solid"/>
          </a:ln>
        </p:spPr>
      </p:sp>
      <p:sp>
        <p:nvSpPr>
          <p:cNvPr id="38" name="Shape 36"/>
          <p:cNvSpPr/>
          <p:nvPr/>
        </p:nvSpPr>
        <p:spPr>
          <a:xfrm>
            <a:off x="8061960" y="2103120"/>
            <a:ext cx="3596640" cy="54864"/>
          </a:xfrm>
          <a:prstGeom prst="rect">
            <a:avLst/>
          </a:prstGeom>
          <a:solidFill>
            <a:srgbClr val="10B981"/>
          </a:solidFill>
          <a:ln w="12700">
            <a:solidFill>
              <a:srgbClr val="10B981"/>
            </a:solidFill>
            <a:prstDash val="solid"/>
          </a:ln>
        </p:spPr>
      </p:sp>
      <p:sp>
        <p:nvSpPr>
          <p:cNvPr id="39" name="Text 37"/>
          <p:cNvSpPr/>
          <p:nvPr/>
        </p:nvSpPr>
        <p:spPr>
          <a:xfrm>
            <a:off x="8336280" y="2331720"/>
            <a:ext cx="3139440" cy="320040"/>
          </a:xfrm>
          <a:prstGeom prst="rect">
            <a:avLst/>
          </a:prstGeom>
          <a:noFill/>
          <a:ln/>
        </p:spPr>
        <p:txBody>
          <a:bodyPr wrap="square" rtlCol="0" anchor="ctr"/>
          <a:lstStyle/>
          <a:p>
            <a:pPr indent="0" marL="0">
              <a:buNone/>
            </a:pPr>
            <a:r>
              <a:rPr lang="en-US" sz="1100" b="1" spc="300" kern="0" dirty="0">
                <a:solidFill>
                  <a:srgbClr val="10B981"/>
                </a:solidFill>
                <a:latin typeface="JetBrains Mono" pitchFamily="34" charset="0"/>
                <a:ea typeface="JetBrains Mono" pitchFamily="34" charset="-122"/>
                <a:cs typeface="JetBrains Mono" pitchFamily="34" charset="-120"/>
              </a:rPr>
              <a:t>15%  ·  £105K</a:t>
            </a:r>
            <a:endParaRPr lang="en-US" sz="1100" dirty="0"/>
          </a:p>
        </p:txBody>
      </p:sp>
      <p:sp>
        <p:nvSpPr>
          <p:cNvPr id="40" name="Text 38"/>
          <p:cNvSpPr/>
          <p:nvPr/>
        </p:nvSpPr>
        <p:spPr>
          <a:xfrm>
            <a:off x="8336280" y="2697480"/>
            <a:ext cx="3139440" cy="411480"/>
          </a:xfrm>
          <a:prstGeom prst="rect">
            <a:avLst/>
          </a:prstGeom>
          <a:noFill/>
          <a:ln/>
        </p:spPr>
        <p:txBody>
          <a:bodyPr wrap="square" rtlCol="0" anchor="ctr"/>
          <a:lstStyle/>
          <a:p>
            <a:pPr indent="0" marL="0">
              <a:lnSpc>
                <a:spcPct val="120000"/>
              </a:lnSpc>
              <a:buNone/>
            </a:pPr>
            <a:r>
              <a:rPr lang="en-US" sz="1300" b="1" dirty="0">
                <a:solidFill>
                  <a:srgbClr val="0F172A"/>
                </a:solidFill>
                <a:latin typeface="DM Sans" pitchFamily="34" charset="0"/>
                <a:ea typeface="DM Sans" pitchFamily="34" charset="-122"/>
                <a:cs typeface="DM Sans" pitchFamily="34" charset="-120"/>
              </a:rPr>
              <a:t>INFRASTRUCTURE + PARTNERSHIPS</a:t>
            </a:r>
            <a:endParaRPr lang="en-US" sz="1300" dirty="0"/>
          </a:p>
        </p:txBody>
      </p:sp>
      <p:sp>
        <p:nvSpPr>
          <p:cNvPr id="41" name="Text 39"/>
          <p:cNvSpPr/>
          <p:nvPr/>
        </p:nvSpPr>
        <p:spPr>
          <a:xfrm>
            <a:off x="8336280" y="3291840"/>
            <a:ext cx="182880" cy="274320"/>
          </a:xfrm>
          <a:prstGeom prst="rect">
            <a:avLst/>
          </a:prstGeom>
          <a:noFill/>
          <a:ln/>
        </p:spPr>
        <p:txBody>
          <a:bodyPr wrap="square" rtlCol="0" anchor="ctr"/>
          <a:lstStyle/>
          <a:p>
            <a:pPr indent="0" marL="0">
              <a:buNone/>
            </a:pPr>
            <a:r>
              <a:rPr lang="en-US" sz="1200" dirty="0">
                <a:solidFill>
                  <a:srgbClr val="10B981"/>
                </a:solidFill>
                <a:latin typeface="DM Sans" pitchFamily="34" charset="0"/>
                <a:ea typeface="DM Sans" pitchFamily="34" charset="-122"/>
                <a:cs typeface="DM Sans" pitchFamily="34" charset="-120"/>
              </a:rPr>
              <a:t>•</a:t>
            </a:r>
            <a:endParaRPr lang="en-US" sz="1200" dirty="0"/>
          </a:p>
        </p:txBody>
      </p:sp>
      <p:sp>
        <p:nvSpPr>
          <p:cNvPr id="42" name="Text 40"/>
          <p:cNvSpPr/>
          <p:nvPr/>
        </p:nvSpPr>
        <p:spPr>
          <a:xfrm>
            <a:off x="8519160" y="329184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Second region (Hetzner Singapore / AWS Sydney)</a:t>
            </a:r>
            <a:endParaRPr lang="en-US" sz="950" dirty="0"/>
          </a:p>
        </p:txBody>
      </p:sp>
      <p:sp>
        <p:nvSpPr>
          <p:cNvPr id="43" name="Text 41"/>
          <p:cNvSpPr/>
          <p:nvPr/>
        </p:nvSpPr>
        <p:spPr>
          <a:xfrm>
            <a:off x="10698480" y="333756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£25K</a:t>
            </a:r>
            <a:endParaRPr lang="en-US" sz="950" dirty="0"/>
          </a:p>
        </p:txBody>
      </p:sp>
      <p:sp>
        <p:nvSpPr>
          <p:cNvPr id="44" name="Text 42"/>
          <p:cNvSpPr/>
          <p:nvPr/>
        </p:nvSpPr>
        <p:spPr>
          <a:xfrm>
            <a:off x="8336280" y="3886200"/>
            <a:ext cx="182880" cy="274320"/>
          </a:xfrm>
          <a:prstGeom prst="rect">
            <a:avLst/>
          </a:prstGeom>
          <a:noFill/>
          <a:ln/>
        </p:spPr>
        <p:txBody>
          <a:bodyPr wrap="square" rtlCol="0" anchor="ctr"/>
          <a:lstStyle/>
          <a:p>
            <a:pPr indent="0" marL="0">
              <a:buNone/>
            </a:pPr>
            <a:r>
              <a:rPr lang="en-US" sz="1200" dirty="0">
                <a:solidFill>
                  <a:srgbClr val="10B981"/>
                </a:solidFill>
                <a:latin typeface="DM Sans" pitchFamily="34" charset="0"/>
                <a:ea typeface="DM Sans" pitchFamily="34" charset="-122"/>
                <a:cs typeface="DM Sans" pitchFamily="34" charset="-120"/>
              </a:rPr>
              <a:t>•</a:t>
            </a:r>
            <a:endParaRPr lang="en-US" sz="1200" dirty="0"/>
          </a:p>
        </p:txBody>
      </p:sp>
      <p:sp>
        <p:nvSpPr>
          <p:cNvPr id="45" name="Text 43"/>
          <p:cNvSpPr/>
          <p:nvPr/>
        </p:nvSpPr>
        <p:spPr>
          <a:xfrm>
            <a:off x="8519160" y="388620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Abuse + scaling headroom (DDoS mitigation, WAF, monitoring)</a:t>
            </a:r>
            <a:endParaRPr lang="en-US" sz="950" dirty="0"/>
          </a:p>
        </p:txBody>
      </p:sp>
      <p:sp>
        <p:nvSpPr>
          <p:cNvPr id="46" name="Text 44"/>
          <p:cNvSpPr/>
          <p:nvPr/>
        </p:nvSpPr>
        <p:spPr>
          <a:xfrm>
            <a:off x="10698480" y="393192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£20K</a:t>
            </a:r>
            <a:endParaRPr lang="en-US" sz="950" dirty="0"/>
          </a:p>
        </p:txBody>
      </p:sp>
      <p:sp>
        <p:nvSpPr>
          <p:cNvPr id="47" name="Text 45"/>
          <p:cNvSpPr/>
          <p:nvPr/>
        </p:nvSpPr>
        <p:spPr>
          <a:xfrm>
            <a:off x="8336280" y="4480560"/>
            <a:ext cx="182880" cy="274320"/>
          </a:xfrm>
          <a:prstGeom prst="rect">
            <a:avLst/>
          </a:prstGeom>
          <a:noFill/>
          <a:ln/>
        </p:spPr>
        <p:txBody>
          <a:bodyPr wrap="square" rtlCol="0" anchor="ctr"/>
          <a:lstStyle/>
          <a:p>
            <a:pPr indent="0" marL="0">
              <a:buNone/>
            </a:pPr>
            <a:r>
              <a:rPr lang="en-US" sz="1200" dirty="0">
                <a:solidFill>
                  <a:srgbClr val="10B981"/>
                </a:solidFill>
                <a:latin typeface="DM Sans" pitchFamily="34" charset="0"/>
                <a:ea typeface="DM Sans" pitchFamily="34" charset="-122"/>
                <a:cs typeface="DM Sans" pitchFamily="34" charset="-120"/>
              </a:rPr>
              <a:t>•</a:t>
            </a:r>
            <a:endParaRPr lang="en-US" sz="1200" dirty="0"/>
          </a:p>
        </p:txBody>
      </p:sp>
      <p:sp>
        <p:nvSpPr>
          <p:cNvPr id="48" name="Text 46"/>
          <p:cNvSpPr/>
          <p:nvPr/>
        </p:nvSpPr>
        <p:spPr>
          <a:xfrm>
            <a:off x="8519160" y="448056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Partnership integration build (Anthropic / Cursor / Windsurf)</a:t>
            </a:r>
            <a:endParaRPr lang="en-US" sz="950" dirty="0"/>
          </a:p>
        </p:txBody>
      </p:sp>
      <p:sp>
        <p:nvSpPr>
          <p:cNvPr id="49" name="Text 47"/>
          <p:cNvSpPr/>
          <p:nvPr/>
        </p:nvSpPr>
        <p:spPr>
          <a:xfrm>
            <a:off x="10698480" y="452628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£25K</a:t>
            </a:r>
            <a:endParaRPr lang="en-US" sz="950" dirty="0"/>
          </a:p>
        </p:txBody>
      </p:sp>
      <p:sp>
        <p:nvSpPr>
          <p:cNvPr id="50" name="Text 48"/>
          <p:cNvSpPr/>
          <p:nvPr/>
        </p:nvSpPr>
        <p:spPr>
          <a:xfrm>
            <a:off x="8336280" y="5074920"/>
            <a:ext cx="182880" cy="274320"/>
          </a:xfrm>
          <a:prstGeom prst="rect">
            <a:avLst/>
          </a:prstGeom>
          <a:noFill/>
          <a:ln/>
        </p:spPr>
        <p:txBody>
          <a:bodyPr wrap="square" rtlCol="0" anchor="ctr"/>
          <a:lstStyle/>
          <a:p>
            <a:pPr indent="0" marL="0">
              <a:buNone/>
            </a:pPr>
            <a:r>
              <a:rPr lang="en-US" sz="1200" dirty="0">
                <a:solidFill>
                  <a:srgbClr val="10B981"/>
                </a:solidFill>
                <a:latin typeface="DM Sans" pitchFamily="34" charset="0"/>
                <a:ea typeface="DM Sans" pitchFamily="34" charset="-122"/>
                <a:cs typeface="DM Sans" pitchFamily="34" charset="-120"/>
              </a:rPr>
              <a:t>•</a:t>
            </a:r>
            <a:endParaRPr lang="en-US" sz="1200" dirty="0"/>
          </a:p>
        </p:txBody>
      </p:sp>
      <p:sp>
        <p:nvSpPr>
          <p:cNvPr id="51" name="Text 49"/>
          <p:cNvSpPr/>
          <p:nvPr/>
        </p:nvSpPr>
        <p:spPr>
          <a:xfrm>
            <a:off x="8519160" y="507492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Wholesale negotiations: AI provider, VPS, mailbox bulk</a:t>
            </a:r>
            <a:endParaRPr lang="en-US" sz="950" dirty="0"/>
          </a:p>
        </p:txBody>
      </p:sp>
      <p:sp>
        <p:nvSpPr>
          <p:cNvPr id="52" name="Text 50"/>
          <p:cNvSpPr/>
          <p:nvPr/>
        </p:nvSpPr>
        <p:spPr>
          <a:xfrm>
            <a:off x="10698480" y="512064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£15K</a:t>
            </a:r>
            <a:endParaRPr lang="en-US" sz="950" dirty="0"/>
          </a:p>
        </p:txBody>
      </p:sp>
      <p:sp>
        <p:nvSpPr>
          <p:cNvPr id="53" name="Text 51"/>
          <p:cNvSpPr/>
          <p:nvPr/>
        </p:nvSpPr>
        <p:spPr>
          <a:xfrm>
            <a:off x="8336280" y="5669280"/>
            <a:ext cx="182880" cy="274320"/>
          </a:xfrm>
          <a:prstGeom prst="rect">
            <a:avLst/>
          </a:prstGeom>
          <a:noFill/>
          <a:ln/>
        </p:spPr>
        <p:txBody>
          <a:bodyPr wrap="square" rtlCol="0" anchor="ctr"/>
          <a:lstStyle/>
          <a:p>
            <a:pPr indent="0" marL="0">
              <a:buNone/>
            </a:pPr>
            <a:r>
              <a:rPr lang="en-US" sz="1200" dirty="0">
                <a:solidFill>
                  <a:srgbClr val="10B981"/>
                </a:solidFill>
                <a:latin typeface="DM Sans" pitchFamily="34" charset="0"/>
                <a:ea typeface="DM Sans" pitchFamily="34" charset="-122"/>
                <a:cs typeface="DM Sans" pitchFamily="34" charset="-120"/>
              </a:rPr>
              <a:t>•</a:t>
            </a:r>
            <a:endParaRPr lang="en-US" sz="1200" dirty="0"/>
          </a:p>
        </p:txBody>
      </p:sp>
      <p:sp>
        <p:nvSpPr>
          <p:cNvPr id="54" name="Text 52"/>
          <p:cNvSpPr/>
          <p:nvPr/>
        </p:nvSpPr>
        <p:spPr>
          <a:xfrm>
            <a:off x="8519160" y="5669280"/>
            <a:ext cx="2453640" cy="502920"/>
          </a:xfrm>
          <a:prstGeom prst="rect">
            <a:avLst/>
          </a:prstGeom>
          <a:noFill/>
          <a:ln/>
        </p:spPr>
        <p:txBody>
          <a:bodyPr wrap="square" rtlCol="0" anchor="ctr"/>
          <a:lstStyle/>
          <a:p>
            <a:pPr indent="0" marL="0">
              <a:lnSpc>
                <a:spcPct val="130000"/>
              </a:lnSpc>
              <a:buNone/>
            </a:pPr>
            <a:r>
              <a:rPr lang="en-US" sz="950" dirty="0">
                <a:solidFill>
                  <a:srgbClr val="334155"/>
                </a:solidFill>
                <a:latin typeface="DM Sans" pitchFamily="34" charset="0"/>
                <a:ea typeface="DM Sans" pitchFamily="34" charset="-122"/>
                <a:cs typeface="DM Sans" pitchFamily="34" charset="-120"/>
              </a:rPr>
              <a:t>Compliance / SOC 2 prep + legal (data residency, MSAs)</a:t>
            </a:r>
            <a:endParaRPr lang="en-US" sz="950" dirty="0"/>
          </a:p>
        </p:txBody>
      </p:sp>
      <p:sp>
        <p:nvSpPr>
          <p:cNvPr id="55" name="Text 53"/>
          <p:cNvSpPr/>
          <p:nvPr/>
        </p:nvSpPr>
        <p:spPr>
          <a:xfrm>
            <a:off x="10698480" y="5715000"/>
            <a:ext cx="868680" cy="274320"/>
          </a:xfrm>
          <a:prstGeom prst="rect">
            <a:avLst/>
          </a:prstGeom>
          <a:noFill/>
          <a:ln/>
        </p:spPr>
        <p:txBody>
          <a:bodyPr wrap="square" rtlCol="0" anchor="ctr"/>
          <a:lstStyle/>
          <a:p>
            <a:pPr algn="r" indent="0" marL="0">
              <a:buNone/>
            </a:pPr>
            <a:r>
              <a:rPr lang="en-US" sz="950" b="1" dirty="0">
                <a:solidFill>
                  <a:srgbClr val="0F172A"/>
                </a:solidFill>
                <a:latin typeface="JetBrains Mono" pitchFamily="34" charset="0"/>
                <a:ea typeface="JetBrains Mono" pitchFamily="34" charset="-122"/>
                <a:cs typeface="JetBrains Mono" pitchFamily="34" charset="-120"/>
              </a:rPr>
              <a:t>£20K</a:t>
            </a:r>
            <a:endParaRPr lang="en-US" sz="950" dirty="0"/>
          </a:p>
        </p:txBody>
      </p:sp>
      <p:sp>
        <p:nvSpPr>
          <p:cNvPr id="56" name="Text 54"/>
          <p:cNvSpPr/>
          <p:nvPr/>
        </p:nvSpPr>
        <p:spPr>
          <a:xfrm>
            <a:off x="502920" y="6355080"/>
            <a:ext cx="11155680" cy="274320"/>
          </a:xfrm>
          <a:prstGeom prst="rect">
            <a:avLst/>
          </a:prstGeom>
          <a:noFill/>
          <a:ln/>
        </p:spPr>
        <p:txBody>
          <a:bodyPr wrap="square" rtlCol="0" anchor="ctr"/>
          <a:lstStyle/>
          <a:p>
            <a:pPr algn="ctr" indent="0" marL="0">
              <a:buNone/>
            </a:pPr>
            <a:r>
              <a:rPr lang="en-US" sz="950" i="1" dirty="0">
                <a:solidFill>
                  <a:srgbClr val="64748B"/>
                </a:solidFill>
                <a:latin typeface="DM Sans" pitchFamily="34" charset="0"/>
                <a:ea typeface="DM Sans" pitchFamily="34" charset="-122"/>
                <a:cs typeface="DM Sans" pitchFamily="34" charset="-120"/>
              </a:rPr>
              <a:t>Discipline: month-by-month spend gate. If conversion + churn miss the validation thresholds (slide 12) by signup #100, paid spend pauses pending repricing.</a:t>
            </a:r>
            <a:endParaRPr lang="en-US" sz="950" dirty="0"/>
          </a:p>
        </p:txBody>
      </p:sp>
      <p:sp>
        <p:nvSpPr>
          <p:cNvPr id="57" name="Text 55"/>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58" name="Text 56"/>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02920" y="292608"/>
            <a:ext cx="7315200" cy="274320"/>
          </a:xfrm>
          <a:prstGeom prst="rect">
            <a:avLst/>
          </a:prstGeom>
          <a:noFill/>
          <a:ln/>
        </p:spPr>
        <p:txBody>
          <a:bodyPr wrap="square" rtlCol="0" anchor="ctr"/>
          <a:lstStyle/>
          <a:p>
            <a:pPr indent="0" marL="0">
              <a:buNone/>
            </a:pPr>
            <a:r>
              <a:rPr lang="en-US" sz="900" b="1" spc="400" kern="0" dirty="0">
                <a:solidFill>
                  <a:srgbClr val="4F46E5"/>
                </a:solidFill>
                <a:latin typeface="JetBrains Mono" pitchFamily="34" charset="0"/>
                <a:ea typeface="JetBrains Mono" pitchFamily="34" charset="-122"/>
                <a:cs typeface="JetBrains Mono" pitchFamily="34" charset="-120"/>
              </a:rPr>
              <a:t>26  ·  APPENDIX  ·  ORGANIC GROWTH + MOATS</a:t>
            </a:r>
            <a:endParaRPr lang="en-US" sz="900" dirty="0"/>
          </a:p>
        </p:txBody>
      </p:sp>
      <p:sp>
        <p:nvSpPr>
          <p:cNvPr id="3" name="Text 1"/>
          <p:cNvSpPr/>
          <p:nvPr/>
        </p:nvSpPr>
        <p:spPr>
          <a:xfrm>
            <a:off x="502920" y="640080"/>
            <a:ext cx="11155680" cy="960120"/>
          </a:xfrm>
          <a:prstGeom prst="rect">
            <a:avLst/>
          </a:prstGeom>
          <a:noFill/>
          <a:ln/>
        </p:spPr>
        <p:txBody>
          <a:bodyPr wrap="square" rtlCol="0" anchor="ctr"/>
          <a:lstStyle/>
          <a:p>
            <a:pPr indent="0" marL="0">
              <a:lnSpc>
                <a:spcPct val="105000"/>
              </a:lnSpc>
              <a:buNone/>
            </a:pPr>
            <a:r>
              <a:rPr lang="en-US" sz="3000" b="1" dirty="0">
                <a:solidFill>
                  <a:srgbClr val="0F172A"/>
                </a:solidFill>
                <a:latin typeface="DM Sans" pitchFamily="34" charset="0"/>
                <a:ea typeface="DM Sans" pitchFamily="34" charset="-122"/>
                <a:cs typeface="DM Sans" pitchFamily="34" charset="-120"/>
              </a:rPr>
              <a:t>How we grow without paid. How we hold ground after.</a:t>
            </a:r>
            <a:endParaRPr lang="en-US" sz="3000" dirty="0"/>
          </a:p>
        </p:txBody>
      </p:sp>
      <p:sp>
        <p:nvSpPr>
          <p:cNvPr id="4" name="Text 2"/>
          <p:cNvSpPr/>
          <p:nvPr/>
        </p:nvSpPr>
        <p:spPr>
          <a:xfrm>
            <a:off x="502920" y="1417320"/>
            <a:ext cx="11155680" cy="640080"/>
          </a:xfrm>
          <a:prstGeom prst="rect">
            <a:avLst/>
          </a:prstGeom>
          <a:noFill/>
          <a:ln/>
        </p:spPr>
        <p:txBody>
          <a:bodyPr wrap="square" rtlCol="0" anchor="ctr"/>
          <a:lstStyle/>
          <a:p>
            <a:pPr indent="0" marL="0">
              <a:buNone/>
            </a:pPr>
            <a:r>
              <a:rPr lang="en-US" sz="1400" dirty="0">
                <a:solidFill>
                  <a:srgbClr val="334155"/>
                </a:solidFill>
                <a:latin typeface="DM Sans" pitchFamily="34" charset="0"/>
                <a:ea typeface="DM Sans" pitchFamily="34" charset="-122"/>
                <a:cs typeface="DM Sans" pitchFamily="34" charset="-120"/>
              </a:rPr>
              <a:t>If the raise doesn’t happen, the lifestyle landing zone still works — and we’d still spend creatively. If it does, the moats compound on top.</a:t>
            </a:r>
            <a:endParaRPr lang="en-US" sz="1400" dirty="0"/>
          </a:p>
        </p:txBody>
      </p:sp>
      <p:sp>
        <p:nvSpPr>
          <p:cNvPr id="5" name="Shape 3"/>
          <p:cNvSpPr/>
          <p:nvPr/>
        </p:nvSpPr>
        <p:spPr>
          <a:xfrm>
            <a:off x="502920" y="2286000"/>
            <a:ext cx="5577840" cy="3840480"/>
          </a:xfrm>
          <a:prstGeom prst="roundRect">
            <a:avLst>
              <a:gd name="adj" fmla="val 1905"/>
            </a:avLst>
          </a:prstGeom>
          <a:solidFill>
            <a:srgbClr val="FFFFFF"/>
          </a:solidFill>
          <a:ln w="9525">
            <a:solidFill>
              <a:srgbClr val="E2E8F0"/>
            </a:solidFill>
            <a:prstDash val="solid"/>
          </a:ln>
        </p:spPr>
      </p:sp>
      <p:sp>
        <p:nvSpPr>
          <p:cNvPr id="6" name="Shape 4"/>
          <p:cNvSpPr/>
          <p:nvPr/>
        </p:nvSpPr>
        <p:spPr>
          <a:xfrm>
            <a:off x="502920" y="2286000"/>
            <a:ext cx="5577840" cy="54864"/>
          </a:xfrm>
          <a:prstGeom prst="rect">
            <a:avLst/>
          </a:prstGeom>
          <a:solidFill>
            <a:srgbClr val="4F46E5"/>
          </a:solidFill>
          <a:ln w="12700">
            <a:solidFill>
              <a:srgbClr val="4F46E5"/>
            </a:solidFill>
            <a:prstDash val="solid"/>
          </a:ln>
        </p:spPr>
      </p:sp>
      <p:sp>
        <p:nvSpPr>
          <p:cNvPr id="7" name="Text 5"/>
          <p:cNvSpPr/>
          <p:nvPr/>
        </p:nvSpPr>
        <p:spPr>
          <a:xfrm>
            <a:off x="777240" y="2514600"/>
            <a:ext cx="5120640" cy="274320"/>
          </a:xfrm>
          <a:prstGeom prst="rect">
            <a:avLst/>
          </a:prstGeom>
          <a:noFill/>
          <a:ln/>
        </p:spPr>
        <p:txBody>
          <a:bodyPr wrap="square" rtlCol="0" anchor="ctr"/>
          <a:lstStyle/>
          <a:p>
            <a:pPr indent="0" marL="0">
              <a:buNone/>
            </a:pPr>
            <a:r>
              <a:rPr lang="en-US" sz="900" b="1" spc="400" kern="0" dirty="0">
                <a:solidFill>
                  <a:srgbClr val="3730A3"/>
                </a:solidFill>
                <a:latin typeface="JetBrains Mono" pitchFamily="34" charset="0"/>
                <a:ea typeface="JetBrains Mono" pitchFamily="34" charset="-122"/>
                <a:cs typeface="JetBrains Mono" pitchFamily="34" charset="-120"/>
              </a:rPr>
              <a:t>ORGANIC GROWTH MODEL  ·  £0 PAID</a:t>
            </a:r>
            <a:endParaRPr lang="en-US" sz="900" dirty="0"/>
          </a:p>
        </p:txBody>
      </p:sp>
      <p:sp>
        <p:nvSpPr>
          <p:cNvPr id="8" name="Text 6"/>
          <p:cNvSpPr/>
          <p:nvPr/>
        </p:nvSpPr>
        <p:spPr>
          <a:xfrm>
            <a:off x="777240" y="3017520"/>
            <a:ext cx="868680" cy="502920"/>
          </a:xfrm>
          <a:prstGeom prst="rect">
            <a:avLst/>
          </a:prstGeom>
          <a:noFill/>
          <a:ln/>
        </p:spPr>
        <p:txBody>
          <a:bodyPr wrap="square" rtlCol="0" anchor="ctr"/>
          <a:lstStyle/>
          <a:p>
            <a:pPr indent="0" marL="0">
              <a:buNone/>
            </a:pPr>
            <a:r>
              <a:rPr lang="en-US" sz="900" b="1" dirty="0">
                <a:solidFill>
                  <a:srgbClr val="4F46E5"/>
                </a:solidFill>
                <a:latin typeface="JetBrains Mono" pitchFamily="34" charset="0"/>
                <a:ea typeface="JetBrains Mono" pitchFamily="34" charset="-122"/>
                <a:cs typeface="JetBrains Mono" pitchFamily="34" charset="-120"/>
              </a:rPr>
              <a:t>M 0-3</a:t>
            </a:r>
            <a:endParaRPr lang="en-US" sz="900" dirty="0"/>
          </a:p>
        </p:txBody>
      </p:sp>
      <p:sp>
        <p:nvSpPr>
          <p:cNvPr id="9" name="Text 7"/>
          <p:cNvSpPr/>
          <p:nvPr/>
        </p:nvSpPr>
        <p:spPr>
          <a:xfrm>
            <a:off x="1737360" y="3017520"/>
            <a:ext cx="4069080" cy="274320"/>
          </a:xfrm>
          <a:prstGeom prst="rect">
            <a:avLst/>
          </a:prstGeom>
          <a:noFill/>
          <a:ln/>
        </p:spPr>
        <p:txBody>
          <a:bodyPr wrap="square" rtlCol="0" anchor="ctr"/>
          <a:lstStyle/>
          <a:p>
            <a:pPr indent="0" marL="0">
              <a:buNone/>
            </a:pPr>
            <a:r>
              <a:rPr lang="en-US" sz="1100" b="1" dirty="0">
                <a:solidFill>
                  <a:srgbClr val="0F172A"/>
                </a:solidFill>
                <a:latin typeface="DM Sans" pitchFamily="34" charset="0"/>
                <a:ea typeface="DM Sans" pitchFamily="34" charset="-122"/>
                <a:cs typeface="DM Sans" pitchFamily="34" charset="-120"/>
              </a:rPr>
              <a:t>Build in public on X + indie-hacker forums</a:t>
            </a:r>
            <a:endParaRPr lang="en-US" sz="1100" dirty="0"/>
          </a:p>
        </p:txBody>
      </p:sp>
      <p:sp>
        <p:nvSpPr>
          <p:cNvPr id="10" name="Text 8"/>
          <p:cNvSpPr/>
          <p:nvPr/>
        </p:nvSpPr>
        <p:spPr>
          <a:xfrm>
            <a:off x="1737360" y="3291840"/>
            <a:ext cx="4069080" cy="274320"/>
          </a:xfrm>
          <a:prstGeom prst="rect">
            <a:avLst/>
          </a:prstGeom>
          <a:noFill/>
          <a:ln/>
        </p:spPr>
        <p:txBody>
          <a:bodyPr wrap="square" rtlCol="0" anchor="ctr"/>
          <a:lstStyle/>
          <a:p>
            <a:pPr indent="0" marL="0">
              <a:buNone/>
            </a:pPr>
            <a:r>
              <a:rPr lang="en-US" sz="950" i="1" dirty="0">
                <a:solidFill>
                  <a:srgbClr val="64748B"/>
                </a:solidFill>
                <a:latin typeface="DM Sans" pitchFamily="34" charset="0"/>
                <a:ea typeface="DM Sans" pitchFamily="34" charset="-122"/>
                <a:cs typeface="DM Sans" pitchFamily="34" charset="-120"/>
              </a:rPr>
              <a:t>Compounding signal, free distribution. Free.</a:t>
            </a:r>
            <a:endParaRPr lang="en-US" sz="950" dirty="0"/>
          </a:p>
        </p:txBody>
      </p:sp>
      <p:sp>
        <p:nvSpPr>
          <p:cNvPr id="11" name="Text 9"/>
          <p:cNvSpPr/>
          <p:nvPr/>
        </p:nvSpPr>
        <p:spPr>
          <a:xfrm>
            <a:off x="777240" y="3621024"/>
            <a:ext cx="868680" cy="502920"/>
          </a:xfrm>
          <a:prstGeom prst="rect">
            <a:avLst/>
          </a:prstGeom>
          <a:noFill/>
          <a:ln/>
        </p:spPr>
        <p:txBody>
          <a:bodyPr wrap="square" rtlCol="0" anchor="ctr"/>
          <a:lstStyle/>
          <a:p>
            <a:pPr indent="0" marL="0">
              <a:buNone/>
            </a:pPr>
            <a:r>
              <a:rPr lang="en-US" sz="900" b="1" dirty="0">
                <a:solidFill>
                  <a:srgbClr val="4F46E5"/>
                </a:solidFill>
                <a:latin typeface="JetBrains Mono" pitchFamily="34" charset="0"/>
                <a:ea typeface="JetBrains Mono" pitchFamily="34" charset="-122"/>
                <a:cs typeface="JetBrains Mono" pitchFamily="34" charset="-120"/>
              </a:rPr>
              <a:t>M 3-6</a:t>
            </a:r>
            <a:endParaRPr lang="en-US" sz="900" dirty="0"/>
          </a:p>
        </p:txBody>
      </p:sp>
      <p:sp>
        <p:nvSpPr>
          <p:cNvPr id="12" name="Text 10"/>
          <p:cNvSpPr/>
          <p:nvPr/>
        </p:nvSpPr>
        <p:spPr>
          <a:xfrm>
            <a:off x="1737360" y="3621024"/>
            <a:ext cx="4069080" cy="274320"/>
          </a:xfrm>
          <a:prstGeom prst="rect">
            <a:avLst/>
          </a:prstGeom>
          <a:noFill/>
          <a:ln/>
        </p:spPr>
        <p:txBody>
          <a:bodyPr wrap="square" rtlCol="0" anchor="ctr"/>
          <a:lstStyle/>
          <a:p>
            <a:pPr indent="0" marL="0">
              <a:buNone/>
            </a:pPr>
            <a:r>
              <a:rPr lang="en-US" sz="1100" b="1" dirty="0">
                <a:solidFill>
                  <a:srgbClr val="0F172A"/>
                </a:solidFill>
                <a:latin typeface="DM Sans" pitchFamily="34" charset="0"/>
                <a:ea typeface="DM Sans" pitchFamily="34" charset="-122"/>
                <a:cs typeface="DM Sans" pitchFamily="34" charset="-120"/>
              </a:rPr>
              <a:t>Long-form: docs, YouTube how-tos, integration deep-dives</a:t>
            </a:r>
            <a:endParaRPr lang="en-US" sz="1100" dirty="0"/>
          </a:p>
        </p:txBody>
      </p:sp>
      <p:sp>
        <p:nvSpPr>
          <p:cNvPr id="13" name="Text 11"/>
          <p:cNvSpPr/>
          <p:nvPr/>
        </p:nvSpPr>
        <p:spPr>
          <a:xfrm>
            <a:off x="1737360" y="3895344"/>
            <a:ext cx="4069080" cy="274320"/>
          </a:xfrm>
          <a:prstGeom prst="rect">
            <a:avLst/>
          </a:prstGeom>
          <a:noFill/>
          <a:ln/>
        </p:spPr>
        <p:txBody>
          <a:bodyPr wrap="square" rtlCol="0" anchor="ctr"/>
          <a:lstStyle/>
          <a:p>
            <a:pPr indent="0" marL="0">
              <a:buNone/>
            </a:pPr>
            <a:r>
              <a:rPr lang="en-US" sz="950" i="1" dirty="0">
                <a:solidFill>
                  <a:srgbClr val="64748B"/>
                </a:solidFill>
                <a:latin typeface="DM Sans" pitchFamily="34" charset="0"/>
                <a:ea typeface="DM Sans" pitchFamily="34" charset="-122"/>
                <a:cs typeface="DM Sans" pitchFamily="34" charset="-120"/>
              </a:rPr>
              <a:t>SEO + creator inbound. Founder-time + £200/mo tools.</a:t>
            </a:r>
            <a:endParaRPr lang="en-US" sz="950" dirty="0"/>
          </a:p>
        </p:txBody>
      </p:sp>
      <p:sp>
        <p:nvSpPr>
          <p:cNvPr id="14" name="Text 12"/>
          <p:cNvSpPr/>
          <p:nvPr/>
        </p:nvSpPr>
        <p:spPr>
          <a:xfrm>
            <a:off x="777240" y="4224528"/>
            <a:ext cx="868680" cy="502920"/>
          </a:xfrm>
          <a:prstGeom prst="rect">
            <a:avLst/>
          </a:prstGeom>
          <a:noFill/>
          <a:ln/>
        </p:spPr>
        <p:txBody>
          <a:bodyPr wrap="square" rtlCol="0" anchor="ctr"/>
          <a:lstStyle/>
          <a:p>
            <a:pPr indent="0" marL="0">
              <a:buNone/>
            </a:pPr>
            <a:r>
              <a:rPr lang="en-US" sz="900" b="1" dirty="0">
                <a:solidFill>
                  <a:srgbClr val="4F46E5"/>
                </a:solidFill>
                <a:latin typeface="JetBrains Mono" pitchFamily="34" charset="0"/>
                <a:ea typeface="JetBrains Mono" pitchFamily="34" charset="-122"/>
                <a:cs typeface="JetBrains Mono" pitchFamily="34" charset="-120"/>
              </a:rPr>
              <a:t>M 6-9</a:t>
            </a:r>
            <a:endParaRPr lang="en-US" sz="900" dirty="0"/>
          </a:p>
        </p:txBody>
      </p:sp>
      <p:sp>
        <p:nvSpPr>
          <p:cNvPr id="15" name="Text 13"/>
          <p:cNvSpPr/>
          <p:nvPr/>
        </p:nvSpPr>
        <p:spPr>
          <a:xfrm>
            <a:off x="1737360" y="4224528"/>
            <a:ext cx="4069080" cy="274320"/>
          </a:xfrm>
          <a:prstGeom prst="rect">
            <a:avLst/>
          </a:prstGeom>
          <a:noFill/>
          <a:ln/>
        </p:spPr>
        <p:txBody>
          <a:bodyPr wrap="square" rtlCol="0" anchor="ctr"/>
          <a:lstStyle/>
          <a:p>
            <a:pPr indent="0" marL="0">
              <a:buNone/>
            </a:pPr>
            <a:r>
              <a:rPr lang="en-US" sz="1100" b="1" dirty="0">
                <a:solidFill>
                  <a:srgbClr val="0F172A"/>
                </a:solidFill>
                <a:latin typeface="DM Sans" pitchFamily="34" charset="0"/>
                <a:ea typeface="DM Sans" pitchFamily="34" charset="-122"/>
                <a:cs typeface="DM Sans" pitchFamily="34" charset="-120"/>
              </a:rPr>
              <a:t>Open-source first integration template</a:t>
            </a:r>
            <a:endParaRPr lang="en-US" sz="1100" dirty="0"/>
          </a:p>
        </p:txBody>
      </p:sp>
      <p:sp>
        <p:nvSpPr>
          <p:cNvPr id="16" name="Text 14"/>
          <p:cNvSpPr/>
          <p:nvPr/>
        </p:nvSpPr>
        <p:spPr>
          <a:xfrm>
            <a:off x="1737360" y="4498848"/>
            <a:ext cx="4069080" cy="274320"/>
          </a:xfrm>
          <a:prstGeom prst="rect">
            <a:avLst/>
          </a:prstGeom>
          <a:noFill/>
          <a:ln/>
        </p:spPr>
        <p:txBody>
          <a:bodyPr wrap="square" rtlCol="0" anchor="ctr"/>
          <a:lstStyle/>
          <a:p>
            <a:pPr indent="0" marL="0">
              <a:buNone/>
            </a:pPr>
            <a:r>
              <a:rPr lang="en-US" sz="950" i="1" dirty="0">
                <a:solidFill>
                  <a:srgbClr val="64748B"/>
                </a:solidFill>
                <a:latin typeface="DM Sans" pitchFamily="34" charset="0"/>
                <a:ea typeface="DM Sans" pitchFamily="34" charset="-122"/>
                <a:cs typeface="DM Sans" pitchFamily="34" charset="-120"/>
              </a:rPr>
              <a:t>GitHub stars = trust + indexable backlinks. £0 cash.</a:t>
            </a:r>
            <a:endParaRPr lang="en-US" sz="950" dirty="0"/>
          </a:p>
        </p:txBody>
      </p:sp>
      <p:sp>
        <p:nvSpPr>
          <p:cNvPr id="17" name="Text 15"/>
          <p:cNvSpPr/>
          <p:nvPr/>
        </p:nvSpPr>
        <p:spPr>
          <a:xfrm>
            <a:off x="777240" y="4828032"/>
            <a:ext cx="868680" cy="502920"/>
          </a:xfrm>
          <a:prstGeom prst="rect">
            <a:avLst/>
          </a:prstGeom>
          <a:noFill/>
          <a:ln/>
        </p:spPr>
        <p:txBody>
          <a:bodyPr wrap="square" rtlCol="0" anchor="ctr"/>
          <a:lstStyle/>
          <a:p>
            <a:pPr indent="0" marL="0">
              <a:buNone/>
            </a:pPr>
            <a:r>
              <a:rPr lang="en-US" sz="900" b="1" dirty="0">
                <a:solidFill>
                  <a:srgbClr val="4F46E5"/>
                </a:solidFill>
                <a:latin typeface="JetBrains Mono" pitchFamily="34" charset="0"/>
                <a:ea typeface="JetBrains Mono" pitchFamily="34" charset="-122"/>
                <a:cs typeface="JetBrains Mono" pitchFamily="34" charset="-120"/>
              </a:rPr>
              <a:t>M 9-12</a:t>
            </a:r>
            <a:endParaRPr lang="en-US" sz="900" dirty="0"/>
          </a:p>
        </p:txBody>
      </p:sp>
      <p:sp>
        <p:nvSpPr>
          <p:cNvPr id="18" name="Text 16"/>
          <p:cNvSpPr/>
          <p:nvPr/>
        </p:nvSpPr>
        <p:spPr>
          <a:xfrm>
            <a:off x="1737360" y="4828032"/>
            <a:ext cx="4069080" cy="274320"/>
          </a:xfrm>
          <a:prstGeom prst="rect">
            <a:avLst/>
          </a:prstGeom>
          <a:noFill/>
          <a:ln/>
        </p:spPr>
        <p:txBody>
          <a:bodyPr wrap="square" rtlCol="0" anchor="ctr"/>
          <a:lstStyle/>
          <a:p>
            <a:pPr indent="0" marL="0">
              <a:buNone/>
            </a:pPr>
            <a:r>
              <a:rPr lang="en-US" sz="1100" b="1" dirty="0">
                <a:solidFill>
                  <a:srgbClr val="0F172A"/>
                </a:solidFill>
                <a:latin typeface="DM Sans" pitchFamily="34" charset="0"/>
                <a:ea typeface="DM Sans" pitchFamily="34" charset="-122"/>
                <a:cs typeface="DM Sans" pitchFamily="34" charset="-120"/>
              </a:rPr>
              <a:t>Reddit value content + Discord community</a:t>
            </a:r>
            <a:endParaRPr lang="en-US" sz="1100" dirty="0"/>
          </a:p>
        </p:txBody>
      </p:sp>
      <p:sp>
        <p:nvSpPr>
          <p:cNvPr id="19" name="Text 17"/>
          <p:cNvSpPr/>
          <p:nvPr/>
        </p:nvSpPr>
        <p:spPr>
          <a:xfrm>
            <a:off x="1737360" y="5102352"/>
            <a:ext cx="4069080" cy="274320"/>
          </a:xfrm>
          <a:prstGeom prst="rect">
            <a:avLst/>
          </a:prstGeom>
          <a:noFill/>
          <a:ln/>
        </p:spPr>
        <p:txBody>
          <a:bodyPr wrap="square" rtlCol="0" anchor="ctr"/>
          <a:lstStyle/>
          <a:p>
            <a:pPr indent="0" marL="0">
              <a:buNone/>
            </a:pPr>
            <a:r>
              <a:rPr lang="en-US" sz="950" i="1" dirty="0">
                <a:solidFill>
                  <a:srgbClr val="64748B"/>
                </a:solidFill>
                <a:latin typeface="DM Sans" pitchFamily="34" charset="0"/>
                <a:ea typeface="DM Sans" pitchFamily="34" charset="-122"/>
                <a:cs typeface="DM Sans" pitchFamily="34" charset="-120"/>
              </a:rPr>
              <a:t>r/cursor, r/ClaudeAI, r/lovable. £0 cash + 4 hrs/week.</a:t>
            </a:r>
            <a:endParaRPr lang="en-US" sz="950" dirty="0"/>
          </a:p>
        </p:txBody>
      </p:sp>
      <p:sp>
        <p:nvSpPr>
          <p:cNvPr id="20" name="Text 18"/>
          <p:cNvSpPr/>
          <p:nvPr/>
        </p:nvSpPr>
        <p:spPr>
          <a:xfrm>
            <a:off x="777240" y="5431536"/>
            <a:ext cx="868680" cy="502920"/>
          </a:xfrm>
          <a:prstGeom prst="rect">
            <a:avLst/>
          </a:prstGeom>
          <a:noFill/>
          <a:ln/>
        </p:spPr>
        <p:txBody>
          <a:bodyPr wrap="square" rtlCol="0" anchor="ctr"/>
          <a:lstStyle/>
          <a:p>
            <a:pPr indent="0" marL="0">
              <a:buNone/>
            </a:pPr>
            <a:r>
              <a:rPr lang="en-US" sz="900" b="1" dirty="0">
                <a:solidFill>
                  <a:srgbClr val="4F46E5"/>
                </a:solidFill>
                <a:latin typeface="JetBrains Mono" pitchFamily="34" charset="0"/>
                <a:ea typeface="JetBrains Mono" pitchFamily="34" charset="-122"/>
                <a:cs typeface="JetBrains Mono" pitchFamily="34" charset="-120"/>
              </a:rPr>
              <a:t>M 12+</a:t>
            </a:r>
            <a:endParaRPr lang="en-US" sz="900" dirty="0"/>
          </a:p>
        </p:txBody>
      </p:sp>
      <p:sp>
        <p:nvSpPr>
          <p:cNvPr id="21" name="Text 19"/>
          <p:cNvSpPr/>
          <p:nvPr/>
        </p:nvSpPr>
        <p:spPr>
          <a:xfrm>
            <a:off x="1737360" y="5431536"/>
            <a:ext cx="4069080" cy="274320"/>
          </a:xfrm>
          <a:prstGeom prst="rect">
            <a:avLst/>
          </a:prstGeom>
          <a:noFill/>
          <a:ln/>
        </p:spPr>
        <p:txBody>
          <a:bodyPr wrap="square" rtlCol="0" anchor="ctr"/>
          <a:lstStyle/>
          <a:p>
            <a:pPr indent="0" marL="0">
              <a:buNone/>
            </a:pPr>
            <a:r>
              <a:rPr lang="en-US" sz="1100" b="1" dirty="0">
                <a:solidFill>
                  <a:srgbClr val="0F172A"/>
                </a:solidFill>
                <a:latin typeface="DM Sans" pitchFamily="34" charset="0"/>
                <a:ea typeface="DM Sans" pitchFamily="34" charset="-122"/>
                <a:cs typeface="DM Sans" pitchFamily="34" charset="-120"/>
              </a:rPr>
              <a:t>Customer-led case studies + revenue posts</a:t>
            </a:r>
            <a:endParaRPr lang="en-US" sz="1100" dirty="0"/>
          </a:p>
        </p:txBody>
      </p:sp>
      <p:sp>
        <p:nvSpPr>
          <p:cNvPr id="22" name="Text 20"/>
          <p:cNvSpPr/>
          <p:nvPr/>
        </p:nvSpPr>
        <p:spPr>
          <a:xfrm>
            <a:off x="1737360" y="5705856"/>
            <a:ext cx="4069080" cy="274320"/>
          </a:xfrm>
          <a:prstGeom prst="rect">
            <a:avLst/>
          </a:prstGeom>
          <a:noFill/>
          <a:ln/>
        </p:spPr>
        <p:txBody>
          <a:bodyPr wrap="square" rtlCol="0" anchor="ctr"/>
          <a:lstStyle/>
          <a:p>
            <a:pPr indent="0" marL="0">
              <a:buNone/>
            </a:pPr>
            <a:r>
              <a:rPr lang="en-US" sz="950" i="1" dirty="0">
                <a:solidFill>
                  <a:srgbClr val="64748B"/>
                </a:solidFill>
                <a:latin typeface="DM Sans" pitchFamily="34" charset="0"/>
                <a:ea typeface="DM Sans" pitchFamily="34" charset="-122"/>
                <a:cs typeface="DM Sans" pitchFamily="34" charset="-120"/>
              </a:rPr>
              <a:t>"How I shipped X with Hatchik in a weekend." Free.</a:t>
            </a:r>
            <a:endParaRPr lang="en-US" sz="950" dirty="0"/>
          </a:p>
        </p:txBody>
      </p:sp>
      <p:sp>
        <p:nvSpPr>
          <p:cNvPr id="23" name="Shape 21"/>
          <p:cNvSpPr/>
          <p:nvPr/>
        </p:nvSpPr>
        <p:spPr>
          <a:xfrm>
            <a:off x="6263640" y="2286000"/>
            <a:ext cx="5394960" cy="3840480"/>
          </a:xfrm>
          <a:prstGeom prst="roundRect">
            <a:avLst>
              <a:gd name="adj" fmla="val 1905"/>
            </a:avLst>
          </a:prstGeom>
          <a:solidFill>
            <a:srgbClr val="FFFFFF"/>
          </a:solidFill>
          <a:ln w="9525">
            <a:solidFill>
              <a:srgbClr val="E2E8F0"/>
            </a:solidFill>
            <a:prstDash val="solid"/>
          </a:ln>
        </p:spPr>
      </p:sp>
      <p:sp>
        <p:nvSpPr>
          <p:cNvPr id="24" name="Shape 22"/>
          <p:cNvSpPr/>
          <p:nvPr/>
        </p:nvSpPr>
        <p:spPr>
          <a:xfrm>
            <a:off x="6263640" y="2286000"/>
            <a:ext cx="5394960" cy="54864"/>
          </a:xfrm>
          <a:prstGeom prst="rect">
            <a:avLst/>
          </a:prstGeom>
          <a:solidFill>
            <a:srgbClr val="F59E0B"/>
          </a:solidFill>
          <a:ln w="12700">
            <a:solidFill>
              <a:srgbClr val="F59E0B"/>
            </a:solidFill>
            <a:prstDash val="solid"/>
          </a:ln>
        </p:spPr>
      </p:sp>
      <p:sp>
        <p:nvSpPr>
          <p:cNvPr id="25" name="Text 23"/>
          <p:cNvSpPr/>
          <p:nvPr/>
        </p:nvSpPr>
        <p:spPr>
          <a:xfrm>
            <a:off x="6537960" y="2514600"/>
            <a:ext cx="4937760" cy="274320"/>
          </a:xfrm>
          <a:prstGeom prst="rect">
            <a:avLst/>
          </a:prstGeom>
          <a:noFill/>
          <a:ln/>
        </p:spPr>
        <p:txBody>
          <a:bodyPr wrap="square" rtlCol="0" anchor="ctr"/>
          <a:lstStyle/>
          <a:p>
            <a:pPr indent="0" marL="0">
              <a:buNone/>
            </a:pPr>
            <a:r>
              <a:rPr lang="en-US" sz="900" b="1" spc="300" kern="0" dirty="0">
                <a:solidFill>
                  <a:srgbClr val="B45309"/>
                </a:solidFill>
                <a:latin typeface="JetBrains Mono" pitchFamily="34" charset="0"/>
                <a:ea typeface="JetBrains Mono" pitchFamily="34" charset="-122"/>
                <a:cs typeface="JetBrains Mono" pitchFamily="34" charset="-120"/>
              </a:rPr>
              <a:t>MOATS  ·  COMPOUNDING DEFENCES</a:t>
            </a:r>
            <a:endParaRPr lang="en-US" sz="900" dirty="0"/>
          </a:p>
        </p:txBody>
      </p:sp>
      <p:sp>
        <p:nvSpPr>
          <p:cNvPr id="26" name="Shape 24"/>
          <p:cNvSpPr/>
          <p:nvPr/>
        </p:nvSpPr>
        <p:spPr>
          <a:xfrm>
            <a:off x="6537960" y="3044952"/>
            <a:ext cx="128016" cy="128016"/>
          </a:xfrm>
          <a:prstGeom prst="ellipse">
            <a:avLst/>
          </a:prstGeom>
          <a:solidFill>
            <a:srgbClr val="F59E0B"/>
          </a:solidFill>
          <a:ln w="12700">
            <a:solidFill>
              <a:srgbClr val="333333"/>
            </a:solidFill>
            <a:prstDash val="solid"/>
          </a:ln>
        </p:spPr>
      </p:sp>
      <p:sp>
        <p:nvSpPr>
          <p:cNvPr id="27" name="Text 25"/>
          <p:cNvSpPr/>
          <p:nvPr/>
        </p:nvSpPr>
        <p:spPr>
          <a:xfrm>
            <a:off x="6739128" y="2953512"/>
            <a:ext cx="4663440" cy="201168"/>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Wholesale AI provider contracts</a:t>
            </a:r>
            <a:endParaRPr lang="en-US" sz="1000" dirty="0"/>
          </a:p>
        </p:txBody>
      </p:sp>
      <p:sp>
        <p:nvSpPr>
          <p:cNvPr id="28" name="Text 26"/>
          <p:cNvSpPr/>
          <p:nvPr/>
        </p:nvSpPr>
        <p:spPr>
          <a:xfrm>
            <a:off x="6739128" y="3172968"/>
            <a:ext cx="4663440" cy="274320"/>
          </a:xfrm>
          <a:prstGeom prst="rect">
            <a:avLst/>
          </a:prstGeom>
          <a:noFill/>
          <a:ln/>
        </p:spPr>
        <p:txBody>
          <a:bodyPr wrap="square" rtlCol="0" anchor="ctr"/>
          <a:lstStyle/>
          <a:p>
            <a:pPr indent="0" marL="0">
              <a:lnSpc>
                <a:spcPct val="125000"/>
              </a:lnSpc>
              <a:buNone/>
            </a:pPr>
            <a:r>
              <a:rPr lang="en-US" sz="800" i="1" dirty="0">
                <a:solidFill>
                  <a:srgbClr val="334155"/>
                </a:solidFill>
                <a:latin typeface="DM Sans" pitchFamily="34" charset="0"/>
                <a:ea typeface="DM Sans" pitchFamily="34" charset="-122"/>
                <a:cs typeface="DM Sans" pitchFamily="34" charset="-120"/>
              </a:rPr>
              <a:t>Negotiate enterprise rates with Anthropic / OpenAI at the 5K-customer mark. 10-20% off list = direct margin uplift competitors can’t match.</a:t>
            </a:r>
            <a:endParaRPr lang="en-US" sz="800" dirty="0"/>
          </a:p>
        </p:txBody>
      </p:sp>
      <p:sp>
        <p:nvSpPr>
          <p:cNvPr id="29" name="Shape 27"/>
          <p:cNvSpPr/>
          <p:nvPr/>
        </p:nvSpPr>
        <p:spPr>
          <a:xfrm>
            <a:off x="6537960" y="3557016"/>
            <a:ext cx="128016" cy="128016"/>
          </a:xfrm>
          <a:prstGeom prst="ellipse">
            <a:avLst/>
          </a:prstGeom>
          <a:solidFill>
            <a:srgbClr val="F59E0B"/>
          </a:solidFill>
          <a:ln w="12700">
            <a:solidFill>
              <a:srgbClr val="333333"/>
            </a:solidFill>
            <a:prstDash val="solid"/>
          </a:ln>
        </p:spPr>
      </p:sp>
      <p:sp>
        <p:nvSpPr>
          <p:cNvPr id="30" name="Text 28"/>
          <p:cNvSpPr/>
          <p:nvPr/>
        </p:nvSpPr>
        <p:spPr>
          <a:xfrm>
            <a:off x="6739128" y="3465576"/>
            <a:ext cx="4663440" cy="201168"/>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Wholesale VPS + mailbox contracts</a:t>
            </a:r>
            <a:endParaRPr lang="en-US" sz="1000" dirty="0"/>
          </a:p>
        </p:txBody>
      </p:sp>
      <p:sp>
        <p:nvSpPr>
          <p:cNvPr id="31" name="Text 29"/>
          <p:cNvSpPr/>
          <p:nvPr/>
        </p:nvSpPr>
        <p:spPr>
          <a:xfrm>
            <a:off x="6739128" y="3685032"/>
            <a:ext cx="4663440" cy="274320"/>
          </a:xfrm>
          <a:prstGeom prst="rect">
            <a:avLst/>
          </a:prstGeom>
          <a:noFill/>
          <a:ln/>
        </p:spPr>
        <p:txBody>
          <a:bodyPr wrap="square" rtlCol="0" anchor="ctr"/>
          <a:lstStyle/>
          <a:p>
            <a:pPr indent="0" marL="0">
              <a:lnSpc>
                <a:spcPct val="125000"/>
              </a:lnSpc>
              <a:buNone/>
            </a:pPr>
            <a:r>
              <a:rPr lang="en-US" sz="800" i="1" dirty="0">
                <a:solidFill>
                  <a:srgbClr val="334155"/>
                </a:solidFill>
                <a:latin typeface="DM Sans" pitchFamily="34" charset="0"/>
                <a:ea typeface="DM Sans" pitchFamily="34" charset="-122"/>
                <a:cs typeface="DM Sans" pitchFamily="34" charset="-120"/>
              </a:rPr>
              <a:t>Hetzner / Infomaniak account-manager pricing at scale. £1-2/customer/mo savings competitors don’t see.</a:t>
            </a:r>
            <a:endParaRPr lang="en-US" sz="800" dirty="0"/>
          </a:p>
        </p:txBody>
      </p:sp>
      <p:sp>
        <p:nvSpPr>
          <p:cNvPr id="32" name="Shape 30"/>
          <p:cNvSpPr/>
          <p:nvPr/>
        </p:nvSpPr>
        <p:spPr>
          <a:xfrm>
            <a:off x="6537960" y="4069080"/>
            <a:ext cx="128016" cy="128016"/>
          </a:xfrm>
          <a:prstGeom prst="ellipse">
            <a:avLst/>
          </a:prstGeom>
          <a:solidFill>
            <a:srgbClr val="F59E0B"/>
          </a:solidFill>
          <a:ln w="12700">
            <a:solidFill>
              <a:srgbClr val="333333"/>
            </a:solidFill>
            <a:prstDash val="solid"/>
          </a:ln>
        </p:spPr>
      </p:sp>
      <p:sp>
        <p:nvSpPr>
          <p:cNvPr id="33" name="Text 31"/>
          <p:cNvSpPr/>
          <p:nvPr/>
        </p:nvSpPr>
        <p:spPr>
          <a:xfrm>
            <a:off x="6739128" y="3977640"/>
            <a:ext cx="4663440" cy="201168"/>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Substrate template library</a:t>
            </a:r>
            <a:endParaRPr lang="en-US" sz="1000" dirty="0"/>
          </a:p>
        </p:txBody>
      </p:sp>
      <p:sp>
        <p:nvSpPr>
          <p:cNvPr id="34" name="Text 32"/>
          <p:cNvSpPr/>
          <p:nvPr/>
        </p:nvSpPr>
        <p:spPr>
          <a:xfrm>
            <a:off x="6739128" y="4197096"/>
            <a:ext cx="4663440" cy="274320"/>
          </a:xfrm>
          <a:prstGeom prst="rect">
            <a:avLst/>
          </a:prstGeom>
          <a:noFill/>
          <a:ln/>
        </p:spPr>
        <p:txBody>
          <a:bodyPr wrap="square" rtlCol="0" anchor="ctr"/>
          <a:lstStyle/>
          <a:p>
            <a:pPr indent="0" marL="0">
              <a:lnSpc>
                <a:spcPct val="125000"/>
              </a:lnSpc>
              <a:buNone/>
            </a:pPr>
            <a:r>
              <a:rPr lang="en-US" sz="800" i="1" dirty="0">
                <a:solidFill>
                  <a:srgbClr val="334155"/>
                </a:solidFill>
                <a:latin typeface="DM Sans" pitchFamily="34" charset="0"/>
                <a:ea typeface="DM Sans" pitchFamily="34" charset="-122"/>
                <a:cs typeface="DM Sans" pitchFamily="34" charset="-120"/>
              </a:rPr>
              <a:t>Build 20+ "ready-to-run" templates (POS, booking, course platform). Every template a tutorial + an SEO page + a switching cost.</a:t>
            </a:r>
            <a:endParaRPr lang="en-US" sz="800" dirty="0"/>
          </a:p>
        </p:txBody>
      </p:sp>
      <p:sp>
        <p:nvSpPr>
          <p:cNvPr id="35" name="Shape 33"/>
          <p:cNvSpPr/>
          <p:nvPr/>
        </p:nvSpPr>
        <p:spPr>
          <a:xfrm>
            <a:off x="6537960" y="4581144"/>
            <a:ext cx="128016" cy="128016"/>
          </a:xfrm>
          <a:prstGeom prst="ellipse">
            <a:avLst/>
          </a:prstGeom>
          <a:solidFill>
            <a:srgbClr val="F59E0B"/>
          </a:solidFill>
          <a:ln w="12700">
            <a:solidFill>
              <a:srgbClr val="333333"/>
            </a:solidFill>
            <a:prstDash val="solid"/>
          </a:ln>
        </p:spPr>
      </p:sp>
      <p:sp>
        <p:nvSpPr>
          <p:cNvPr id="36" name="Text 34"/>
          <p:cNvSpPr/>
          <p:nvPr/>
        </p:nvSpPr>
        <p:spPr>
          <a:xfrm>
            <a:off x="6739128" y="4489704"/>
            <a:ext cx="4663440" cy="201168"/>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BYO-AI brand identity</a:t>
            </a:r>
            <a:endParaRPr lang="en-US" sz="1000" dirty="0"/>
          </a:p>
        </p:txBody>
      </p:sp>
      <p:sp>
        <p:nvSpPr>
          <p:cNvPr id="37" name="Text 35"/>
          <p:cNvSpPr/>
          <p:nvPr/>
        </p:nvSpPr>
        <p:spPr>
          <a:xfrm>
            <a:off x="6739128" y="4709160"/>
            <a:ext cx="4663440" cy="274320"/>
          </a:xfrm>
          <a:prstGeom prst="rect">
            <a:avLst/>
          </a:prstGeom>
          <a:noFill/>
          <a:ln/>
        </p:spPr>
        <p:txBody>
          <a:bodyPr wrap="square" rtlCol="0" anchor="ctr"/>
          <a:lstStyle/>
          <a:p>
            <a:pPr indent="0" marL="0">
              <a:lnSpc>
                <a:spcPct val="125000"/>
              </a:lnSpc>
              <a:buNone/>
            </a:pPr>
            <a:r>
              <a:rPr lang="en-US" sz="800" i="1" dirty="0">
                <a:solidFill>
                  <a:srgbClr val="334155"/>
                </a:solidFill>
                <a:latin typeface="DM Sans" pitchFamily="34" charset="0"/>
                <a:ea typeface="DM Sans" pitchFamily="34" charset="-122"/>
                <a:cs typeface="DM Sans" pitchFamily="34" charset="-120"/>
              </a:rPr>
              <a:t>Hatchik = "production substrate for AI-built SaaS" in the AI-tool community lexicon. Hard for a lab to claim without re-training every user.</a:t>
            </a:r>
            <a:endParaRPr lang="en-US" sz="800" dirty="0"/>
          </a:p>
        </p:txBody>
      </p:sp>
      <p:sp>
        <p:nvSpPr>
          <p:cNvPr id="38" name="Shape 36"/>
          <p:cNvSpPr/>
          <p:nvPr/>
        </p:nvSpPr>
        <p:spPr>
          <a:xfrm>
            <a:off x="6537960" y="5093208"/>
            <a:ext cx="128016" cy="128016"/>
          </a:xfrm>
          <a:prstGeom prst="ellipse">
            <a:avLst/>
          </a:prstGeom>
          <a:solidFill>
            <a:srgbClr val="F59E0B"/>
          </a:solidFill>
          <a:ln w="12700">
            <a:solidFill>
              <a:srgbClr val="333333"/>
            </a:solidFill>
            <a:prstDash val="solid"/>
          </a:ln>
        </p:spPr>
      </p:sp>
      <p:sp>
        <p:nvSpPr>
          <p:cNvPr id="39" name="Text 37"/>
          <p:cNvSpPr/>
          <p:nvPr/>
        </p:nvSpPr>
        <p:spPr>
          <a:xfrm>
            <a:off x="6739128" y="5001768"/>
            <a:ext cx="4663440" cy="201168"/>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Open-source self-host edition</a:t>
            </a:r>
            <a:endParaRPr lang="en-US" sz="1000" dirty="0"/>
          </a:p>
        </p:txBody>
      </p:sp>
      <p:sp>
        <p:nvSpPr>
          <p:cNvPr id="40" name="Text 38"/>
          <p:cNvSpPr/>
          <p:nvPr/>
        </p:nvSpPr>
        <p:spPr>
          <a:xfrm>
            <a:off x="6739128" y="5221224"/>
            <a:ext cx="4663440" cy="274320"/>
          </a:xfrm>
          <a:prstGeom prst="rect">
            <a:avLst/>
          </a:prstGeom>
          <a:noFill/>
          <a:ln/>
        </p:spPr>
        <p:txBody>
          <a:bodyPr wrap="square" rtlCol="0" anchor="ctr"/>
          <a:lstStyle/>
          <a:p>
            <a:pPr indent="0" marL="0">
              <a:lnSpc>
                <a:spcPct val="125000"/>
              </a:lnSpc>
              <a:buNone/>
            </a:pPr>
            <a:r>
              <a:rPr lang="en-US" sz="800" i="1" dirty="0">
                <a:solidFill>
                  <a:srgbClr val="334155"/>
                </a:solidFill>
                <a:latin typeface="DM Sans" pitchFamily="34" charset="0"/>
                <a:ea typeface="DM Sans" pitchFamily="34" charset="-122"/>
                <a:cs typeface="DM Sans" pitchFamily="34" charset="-120"/>
              </a:rPr>
              <a:t>OSS sandbox of the substrate (BSL → Apache). Strips switching-cost concerns; we sell managed + support on top.</a:t>
            </a:r>
            <a:endParaRPr lang="en-US" sz="800" dirty="0"/>
          </a:p>
        </p:txBody>
      </p:sp>
      <p:sp>
        <p:nvSpPr>
          <p:cNvPr id="41" name="Shape 39"/>
          <p:cNvSpPr/>
          <p:nvPr/>
        </p:nvSpPr>
        <p:spPr>
          <a:xfrm>
            <a:off x="6537960" y="5605272"/>
            <a:ext cx="128016" cy="128016"/>
          </a:xfrm>
          <a:prstGeom prst="ellipse">
            <a:avLst/>
          </a:prstGeom>
          <a:solidFill>
            <a:srgbClr val="F59E0B"/>
          </a:solidFill>
          <a:ln w="12700">
            <a:solidFill>
              <a:srgbClr val="333333"/>
            </a:solidFill>
            <a:prstDash val="solid"/>
          </a:ln>
        </p:spPr>
      </p:sp>
      <p:sp>
        <p:nvSpPr>
          <p:cNvPr id="42" name="Text 40"/>
          <p:cNvSpPr/>
          <p:nvPr/>
        </p:nvSpPr>
        <p:spPr>
          <a:xfrm>
            <a:off x="6739128" y="5513832"/>
            <a:ext cx="4663440" cy="201168"/>
          </a:xfrm>
          <a:prstGeom prst="rect">
            <a:avLst/>
          </a:prstGeom>
          <a:noFill/>
          <a:ln/>
        </p:spPr>
        <p:txBody>
          <a:bodyPr wrap="square" rtlCol="0" anchor="ctr"/>
          <a:lstStyle/>
          <a:p>
            <a:pPr indent="0" marL="0">
              <a:buNone/>
            </a:pPr>
            <a:r>
              <a:rPr lang="en-US" sz="1000" b="1" dirty="0">
                <a:solidFill>
                  <a:srgbClr val="0F172A"/>
                </a:solidFill>
                <a:latin typeface="DM Sans" pitchFamily="34" charset="0"/>
                <a:ea typeface="DM Sans" pitchFamily="34" charset="-122"/>
                <a:cs typeface="DM Sans" pitchFamily="34" charset="-120"/>
              </a:rPr>
              <a:t>Founder-led retention</a:t>
            </a:r>
            <a:endParaRPr lang="en-US" sz="1000" dirty="0"/>
          </a:p>
        </p:txBody>
      </p:sp>
      <p:sp>
        <p:nvSpPr>
          <p:cNvPr id="43" name="Text 41"/>
          <p:cNvSpPr/>
          <p:nvPr/>
        </p:nvSpPr>
        <p:spPr>
          <a:xfrm>
            <a:off x="6739128" y="5733288"/>
            <a:ext cx="4663440" cy="274320"/>
          </a:xfrm>
          <a:prstGeom prst="rect">
            <a:avLst/>
          </a:prstGeom>
          <a:noFill/>
          <a:ln/>
        </p:spPr>
        <p:txBody>
          <a:bodyPr wrap="square" rtlCol="0" anchor="ctr"/>
          <a:lstStyle/>
          <a:p>
            <a:pPr indent="0" marL="0">
              <a:lnSpc>
                <a:spcPct val="125000"/>
              </a:lnSpc>
              <a:buNone/>
            </a:pPr>
            <a:r>
              <a:rPr lang="en-US" sz="800" i="1" dirty="0">
                <a:solidFill>
                  <a:srgbClr val="334155"/>
                </a:solidFill>
                <a:latin typeface="DM Sans" pitchFamily="34" charset="0"/>
                <a:ea typeface="DM Sans" pitchFamily="34" charset="-122"/>
                <a:cs typeface="DM Sans" pitchFamily="34" charset="-120"/>
              </a:rPr>
              <a:t>First 500 customers know the founder personally. Cannot be replicated by a corporate product team. Drives word-of-mouth.</a:t>
            </a:r>
            <a:endParaRPr lang="en-US" sz="800" dirty="0"/>
          </a:p>
        </p:txBody>
      </p:sp>
      <p:sp>
        <p:nvSpPr>
          <p:cNvPr id="44" name="Text 42"/>
          <p:cNvSpPr/>
          <p:nvPr/>
        </p:nvSpPr>
        <p:spPr>
          <a:xfrm>
            <a:off x="502920" y="6309360"/>
            <a:ext cx="11155680" cy="274320"/>
          </a:xfrm>
          <a:prstGeom prst="rect">
            <a:avLst/>
          </a:prstGeom>
          <a:noFill/>
          <a:ln/>
        </p:spPr>
        <p:txBody>
          <a:bodyPr wrap="square" rtlCol="0" anchor="ctr"/>
          <a:lstStyle/>
          <a:p>
            <a:pPr algn="ctr" indent="0" marL="0">
              <a:buNone/>
            </a:pPr>
            <a:r>
              <a:rPr lang="en-US" sz="950" i="1" dirty="0">
                <a:solidFill>
                  <a:srgbClr val="64748B"/>
                </a:solidFill>
                <a:latin typeface="DM Sans" pitchFamily="34" charset="0"/>
                <a:ea typeface="DM Sans" pitchFamily="34" charset="-122"/>
                <a:cs typeface="DM Sans" pitchFamily="34" charset="-120"/>
              </a:rPr>
              <a:t>Team-growth plan: Engineer + Marketer in Y1 (raise path). Y2 + 2-3 hires only if MRR clears £200K. Default = founder-led indefinitely.</a:t>
            </a:r>
            <a:endParaRPr lang="en-US" sz="950" dirty="0"/>
          </a:p>
        </p:txBody>
      </p:sp>
      <p:sp>
        <p:nvSpPr>
          <p:cNvPr id="45" name="Text 43"/>
          <p:cNvSpPr/>
          <p:nvPr/>
        </p:nvSpPr>
        <p:spPr>
          <a:xfrm>
            <a:off x="502920" y="6510528"/>
            <a:ext cx="7315200" cy="228600"/>
          </a:xfrm>
          <a:prstGeom prst="rect">
            <a:avLst/>
          </a:prstGeom>
          <a:noFill/>
          <a:ln/>
        </p:spPr>
        <p:txBody>
          <a:bodyPr wrap="square" rtlCol="0" anchor="ctr"/>
          <a:lstStyle/>
          <a:p>
            <a:pPr indent="0" marL="0">
              <a:buNone/>
            </a:pPr>
            <a:r>
              <a:rPr lang="en-US" sz="900" dirty="0">
                <a:solidFill>
                  <a:srgbClr val="94A3B8"/>
                </a:solidFill>
                <a:latin typeface="DM Sans" pitchFamily="34" charset="0"/>
                <a:ea typeface="DM Sans" pitchFamily="34" charset="-122"/>
                <a:cs typeface="DM Sans" pitchFamily="34" charset="-120"/>
              </a:rPr>
              <a:t>Hatchik  ·  Investor + partner deck  ·  May 2026</a:t>
            </a:r>
            <a:endParaRPr lang="en-US" sz="900" dirty="0"/>
          </a:p>
        </p:txBody>
      </p:sp>
      <p:sp>
        <p:nvSpPr>
          <p:cNvPr id="46" name="Text 44"/>
          <p:cNvSpPr/>
          <p:nvPr/>
        </p:nvSpPr>
        <p:spPr>
          <a:xfrm>
            <a:off x="11231575" y="6510528"/>
            <a:ext cx="457200" cy="228600"/>
          </a:xfrm>
          <a:prstGeom prst="rect">
            <a:avLst/>
          </a:prstGeom>
          <a:noFill/>
          <a:ln/>
        </p:spPr>
        <p:txBody>
          <a:bodyPr wrap="square" rtlCol="0" anchor="ctr"/>
          <a:lstStyle/>
          <a:p>
            <a:pPr algn="r" indent="0" marL="0">
              <a:buNone/>
            </a:pPr>
            <a:r>
              <a:rPr lang="en-US" sz="900" dirty="0">
                <a:solidFill>
                  <a:srgbClr val="94A3B8"/>
                </a:solidFill>
                <a:latin typeface="DM Sans" pitchFamily="34" charset="0"/>
                <a:ea typeface="DM Sans" pitchFamily="34" charset="-122"/>
                <a:cs typeface="DM Sans" pitchFamily="34" charset="-120"/>
              </a:rPr>
              <a:t>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Hatchik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Hatchik — Investor + partner deck — May 2026</dc:title>
  <dc:subject>PptxGenJS Presentation</dc:subject>
  <dc:creator>Hatchik</dc:creator>
  <cp:lastModifiedBy>Hatchik</cp:lastModifiedBy>
  <cp:revision>1</cp:revision>
  <dcterms:created xsi:type="dcterms:W3CDTF">2026-05-14T23:40:51Z</dcterms:created>
  <dcterms:modified xsi:type="dcterms:W3CDTF">2026-05-14T23:40:51Z</dcterms:modified>
</cp:coreProperties>
</file>